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1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033AC-988D-44D4-8D45-1F2E0F0E217D}" type="datetimeFigureOut">
              <a:rPr lang="en-US" smtClean="0"/>
              <a:t>1/11/2018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48B8A-527F-4F43-A67B-4A08BF5BB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62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38E74-B9F6-447F-BA9B-58820CD4D562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175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C3ADB-8A3A-4E11-907C-8FC5DB4BFE1E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7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Components</a:t>
                </a:r>
                <a:r>
                  <a:rPr lang="en-US" baseline="0" dirty="0" smtClean="0"/>
                  <a:t> of </a:t>
                </a:r>
                <a:r>
                  <a:rPr lang="en-US" b="1" baseline="0" dirty="0" smtClean="0"/>
                  <a:t>A </a:t>
                </a:r>
                <a:r>
                  <a:rPr lang="en-US" b="0" baseline="0" dirty="0" smtClean="0"/>
                  <a:t>in (x-y-z) frame of reference changes, not in an arbitrary manner but under a specific transformation law, when you change the co-ordinate axes 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baseline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baseline="0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b="1" i="0" baseline="0" smtClean="0">
                        <a:latin typeface="Cambria Math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b="0" i="1" baseline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baseline="0" smtClean="0">
                            <a:latin typeface="Cambria Math"/>
                          </a:rPr>
                          <m:t>𝑦</m:t>
                        </m:r>
                      </m:e>
                    </m:acc>
                    <m:r>
                      <a:rPr lang="en-US" b="0" i="1" baseline="0" smtClean="0">
                        <a:latin typeface="Cambria Math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b="0" i="1" baseline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baseline="0" smtClean="0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Components</a:t>
                </a:r>
                <a:r>
                  <a:rPr lang="en-US" baseline="0" dirty="0" smtClean="0"/>
                  <a:t> of </a:t>
                </a:r>
                <a:r>
                  <a:rPr lang="en-US" b="1" baseline="0" dirty="0" smtClean="0"/>
                  <a:t>A </a:t>
                </a:r>
                <a:r>
                  <a:rPr lang="en-US" b="0" baseline="0" dirty="0" smtClean="0"/>
                  <a:t>in (x-y-z) frame of reference changes, not in an arbitrary manner but under a specific transformation law, when you change the co-ordinate axes to </a:t>
                </a:r>
                <a:r>
                  <a:rPr lang="en-US" b="0" i="0" baseline="0" smtClean="0">
                    <a:latin typeface="Cambria Math"/>
                  </a:rPr>
                  <a:t>𝑥 ̅</a:t>
                </a:r>
                <a:r>
                  <a:rPr lang="en-US" b="1" i="0" baseline="0" smtClean="0">
                    <a:latin typeface="Cambria Math"/>
                  </a:rPr>
                  <a:t>,</a:t>
                </a:r>
                <a:r>
                  <a:rPr lang="en-US" b="0" i="0" baseline="0" smtClean="0">
                    <a:latin typeface="Cambria Math"/>
                  </a:rPr>
                  <a:t>𝑦 ̅,𝑧 ̅</a:t>
                </a:r>
                <a:endParaRPr lang="en-US" b="1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C0D6-8232-4D09-9AE4-FD8965580651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704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1406020"/>
            <a:ext cx="6172199" cy="2251579"/>
          </a:xfrm>
        </p:spPr>
        <p:txBody>
          <a:bodyPr lIns="0" rIns="0" anchor="t">
            <a:noAutofit/>
          </a:bodyPr>
          <a:lstStyle>
            <a:lvl1pPr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905864"/>
            <a:ext cx="6172200" cy="112333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E72-8759-4BC4-A075-069E4DA7384F}" type="datetimeFigureOut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1/11/2018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77FE-4355-4821-965A-3DED21EF8F2E}" type="slidenum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9984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456432" y="1545336"/>
            <a:ext cx="4224528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DCCBE72-8759-4BC4-A075-069E4DA7384F}" type="datetimeFigureOut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1/11/2018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47077FE-4355-4821-965A-3DED21EF8F2E}" type="slidenum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1699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1472184"/>
            <a:ext cx="6172200" cy="2130552"/>
          </a:xfrm>
        </p:spPr>
        <p:txBody>
          <a:bodyPr anchor="t">
            <a:noAutofit/>
          </a:bodyPr>
          <a:lstStyle>
            <a:lvl1pPr algn="l">
              <a:defRPr sz="48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3886200"/>
            <a:ext cx="6172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E72-8759-4BC4-A075-069E4DA7384F}" type="datetimeFigureOut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1/11/2018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77FE-4355-4821-965A-3DED21EF8F2E}" type="slidenum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165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09600"/>
            <a:ext cx="3616325" cy="1066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86998" y="1915859"/>
            <a:ext cx="3646966" cy="288142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754" y="1915881"/>
            <a:ext cx="3639311" cy="288139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E72-8759-4BC4-A075-069E4DA7384F}" type="datetimeFigureOut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1/11/2018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77FE-4355-4821-965A-3DED21EF8F2E}" type="slidenum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493776" y="6356350"/>
            <a:ext cx="5102352" cy="365125"/>
          </a:xfrm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1201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09600"/>
            <a:ext cx="3615734" cy="1066799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1" y="1916113"/>
            <a:ext cx="3638550" cy="646112"/>
          </a:xfrm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860676"/>
            <a:ext cx="3638550" cy="288289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5" y="1916113"/>
            <a:ext cx="3660775" cy="646112"/>
          </a:xfrm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2860676"/>
            <a:ext cx="3651250" cy="28829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E72-8759-4BC4-A075-069E4DA7384F}" type="datetimeFigureOut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1/11/2018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77FE-4355-4821-965A-3DED21EF8F2E}" type="slidenum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493776" y="6356350"/>
            <a:ext cx="5102352" cy="365125"/>
          </a:xfrm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346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162800" y="1551543"/>
            <a:ext cx="1828800" cy="365125"/>
          </a:xfrm>
        </p:spPr>
        <p:txBody>
          <a:bodyPr/>
          <a:lstStyle/>
          <a:p>
            <a:fld id="{FDCCBE72-8759-4BC4-A075-069E4DA7384F}" type="datetimeFigureOut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1/11/2018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77FE-4355-4821-965A-3DED21EF8F2E}" type="slidenum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1518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E72-8759-4BC4-A075-069E4DA7384F}" type="datetimeFigureOut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1/11/2018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77FE-4355-4821-965A-3DED21EF8F2E}" type="slidenum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1654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450" y="1920876"/>
            <a:ext cx="3654425" cy="288924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06425"/>
            <a:ext cx="3629025" cy="1041400"/>
          </a:xfrm>
        </p:spPr>
        <p:txBody>
          <a:bodyPr anchor="t">
            <a:normAutofit/>
          </a:bodyPr>
          <a:lstStyle>
            <a:lvl1pPr algn="l"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920875"/>
            <a:ext cx="3629025" cy="18129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E72-8759-4BC4-A075-069E4DA7384F}" type="datetimeFigureOut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1/11/2018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77FE-4355-4821-965A-3DED21EF8F2E}" type="slidenum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493776" y="6356350"/>
            <a:ext cx="5102352" cy="365125"/>
          </a:xfrm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0875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00074"/>
            <a:ext cx="2074862" cy="1981201"/>
          </a:xfrm>
          <a:ln>
            <a:noFill/>
          </a:ln>
        </p:spPr>
        <p:txBody>
          <a:bodyPr anchor="t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63862" y="1650999"/>
            <a:ext cx="5627687" cy="42207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63862" y="614363"/>
            <a:ext cx="3741738" cy="90963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E72-8759-4BC4-A075-069E4DA7384F}" type="datetimeFigureOut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1/11/2018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7077FE-4355-4821-965A-3DED21EF8F2E}" type="slidenum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493776" y="6356350"/>
            <a:ext cx="5102352" cy="365125"/>
          </a:xfrm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150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4400" y="1554480"/>
            <a:ext cx="4222308" cy="388620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E72-8759-4BC4-A075-069E4DA7384F}" type="datetimeFigureOut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1/11/2018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77FE-4355-4821-965A-3DED21EF8F2E}" type="slidenum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3790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9848" y="1554480"/>
            <a:ext cx="2075688" cy="3886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6432" y="1554480"/>
            <a:ext cx="4224528" cy="3886200"/>
          </a:xfrm>
        </p:spPr>
        <p:txBody>
          <a:bodyPr vert="eaVer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E72-8759-4BC4-A075-069E4DA7384F}" type="datetimeFigureOut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1/11/2018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77FE-4355-4821-965A-3DED21EF8F2E}" type="slidenum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7500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F11C-5580-46E6-A5BD-BF3B0C0A95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E311-A980-457E-8EAF-85B2CB8C44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893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F11C-5580-46E6-A5BD-BF3B0C0A95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E311-A980-457E-8EAF-85B2CB8C44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548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F11C-5580-46E6-A5BD-BF3B0C0A95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E311-A980-457E-8EAF-85B2CB8C44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972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F11C-5580-46E6-A5BD-BF3B0C0A95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E311-A980-457E-8EAF-85B2CB8C44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627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F11C-5580-46E6-A5BD-BF3B0C0A95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E311-A980-457E-8EAF-85B2CB8C44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779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F11C-5580-46E6-A5BD-BF3B0C0A95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E311-A980-457E-8EAF-85B2CB8C44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035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F11C-5580-46E6-A5BD-BF3B0C0A95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E311-A980-457E-8EAF-85B2CB8C44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649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F11C-5580-46E6-A5BD-BF3B0C0A95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E311-A980-457E-8EAF-85B2CB8C44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8645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F11C-5580-46E6-A5BD-BF3B0C0A95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E311-A980-457E-8EAF-85B2CB8C44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3781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F11C-5580-46E6-A5BD-BF3B0C0A95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E311-A980-457E-8EAF-85B2CB8C44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4925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F11C-5580-46E6-A5BD-BF3B0C0A95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E311-A980-457E-8EAF-85B2CB8C44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04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1554480"/>
            <a:ext cx="2073348" cy="19794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4400" y="1547036"/>
            <a:ext cx="4222308" cy="38862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62800" y="18946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BE72-8759-4BC4-A075-069E4DA7384F}" type="datetimeFigureOut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1/11/2018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9848" y="6356350"/>
            <a:ext cx="51023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59752" y="6356350"/>
            <a:ext cx="113768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077FE-4355-4821-965A-3DED21EF8F2E}" type="slidenum">
              <a:rPr lang="en-US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8560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1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9F11C-5580-46E6-A5BD-BF3B0C0A95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8E311-A980-457E-8EAF-85B2CB8C44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009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774412"/>
            <a:ext cx="7391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</a:rPr>
              <a:t>Introduction </a:t>
            </a:r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</a:rPr>
              <a:t>to Physics </a:t>
            </a:r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</a:rPr>
              <a:t>II</a:t>
            </a:r>
            <a:endParaRPr lang="en-US" sz="40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94163" y="4648200"/>
            <a:ext cx="5943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00FF"/>
                </a:solidFill>
              </a:rPr>
              <a:t>Department of Physics</a:t>
            </a:r>
          </a:p>
          <a:p>
            <a:r>
              <a:rPr lang="en-US" sz="4000" b="1" dirty="0">
                <a:solidFill>
                  <a:srgbClr val="0000FF"/>
                </a:solidFill>
              </a:rPr>
              <a:t>Shiv </a:t>
            </a:r>
            <a:r>
              <a:rPr lang="en-US" sz="4000" b="1" dirty="0" err="1">
                <a:solidFill>
                  <a:srgbClr val="0000FF"/>
                </a:solidFill>
              </a:rPr>
              <a:t>Nadar</a:t>
            </a:r>
            <a:r>
              <a:rPr lang="en-US" sz="4000" b="1" dirty="0">
                <a:solidFill>
                  <a:srgbClr val="0000FF"/>
                </a:solidFill>
              </a:rPr>
              <a:t>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6249" y="3035585"/>
            <a:ext cx="44743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Course Information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68589" y="1536412"/>
            <a:ext cx="52457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(Spring Semester 2018)</a:t>
            </a:r>
            <a:endParaRPr lang="en-US" sz="4000" b="1" dirty="0">
              <a:solidFill>
                <a:srgbClr val="C00000"/>
              </a:solidFill>
            </a:endParaRPr>
          </a:p>
        </p:txBody>
      </p:sp>
      <p:pic>
        <p:nvPicPr>
          <p:cNvPr id="1026" name="Picture 2" descr="C:\Users\bk402\Desktop\snu-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0054" y="5652984"/>
            <a:ext cx="1191491" cy="1191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6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9220200" cy="3366195"/>
            <a:chOff x="-76200" y="0"/>
            <a:chExt cx="9220200" cy="3366195"/>
          </a:xfrm>
        </p:grpSpPr>
        <p:sp>
          <p:nvSpPr>
            <p:cNvPr id="2" name="TextBox 1"/>
            <p:cNvSpPr txBox="1"/>
            <p:nvPr/>
          </p:nvSpPr>
          <p:spPr>
            <a:xfrm>
              <a:off x="-76200" y="609600"/>
              <a:ext cx="457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rgbClr val="3F3F3F"/>
                  </a:solidFill>
                </a:rPr>
                <a:t>Course Code: PHY</a:t>
              </a:r>
              <a:r>
                <a:rPr lang="en-US" sz="3600" b="1" dirty="0">
                  <a:solidFill>
                    <a:srgbClr val="3F3F3F"/>
                  </a:solidFill>
                  <a:latin typeface="Calibri" panose="020F0502020204030204" pitchFamily="34" charset="0"/>
                </a:rPr>
                <a:t>102</a:t>
              </a:r>
              <a:endParaRPr lang="en-US" sz="3600" b="1" dirty="0">
                <a:solidFill>
                  <a:srgbClr val="3F3F3F"/>
                </a:solidFill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-76200" y="0"/>
              <a:ext cx="8001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rgbClr val="3F3F3F"/>
                  </a:solidFill>
                </a:rPr>
                <a:t>Course Title: Introduction to Physics-II</a:t>
              </a:r>
              <a:endParaRPr lang="en-US" sz="3600" b="1" dirty="0">
                <a:solidFill>
                  <a:srgbClr val="3F3F3F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-76199" y="1981200"/>
              <a:ext cx="922019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800" b="1" u="sng" dirty="0">
                  <a:solidFill>
                    <a:srgbClr val="3F3F3F"/>
                  </a:solidFill>
                </a:rPr>
                <a:t>Lectures</a:t>
              </a:r>
              <a:r>
                <a:rPr lang="en-US" sz="2800" b="1" dirty="0">
                  <a:solidFill>
                    <a:srgbClr val="3F3F3F"/>
                  </a:solidFill>
                </a:rPr>
                <a:t>: </a:t>
              </a:r>
              <a:r>
                <a:rPr lang="en-US" sz="2800" b="1" u="sng" dirty="0">
                  <a:solidFill>
                    <a:srgbClr val="3F3F3F"/>
                  </a:solidFill>
                </a:rPr>
                <a:t>Tuesdays and Thursdays</a:t>
              </a:r>
              <a:r>
                <a:rPr lang="en-US" sz="2800" b="1" dirty="0">
                  <a:solidFill>
                    <a:srgbClr val="3F3F3F"/>
                  </a:solidFill>
                </a:rPr>
                <a:t> (10:30 – 11:55 PM)</a:t>
              </a:r>
            </a:p>
            <a:p>
              <a:pPr algn="just"/>
              <a:r>
                <a:rPr lang="en-US" sz="2800" b="1" u="sng" dirty="0">
                  <a:solidFill>
                    <a:srgbClr val="3F3F3F"/>
                  </a:solidFill>
                </a:rPr>
                <a:t>Venue</a:t>
              </a:r>
              <a:r>
                <a:rPr lang="en-US" sz="2800" b="1" dirty="0">
                  <a:solidFill>
                    <a:srgbClr val="3F3F3F"/>
                  </a:solidFill>
                </a:rPr>
                <a:t> for lectures: D217</a:t>
              </a:r>
              <a:r>
                <a:rPr lang="en-US" sz="2800" b="1" dirty="0">
                  <a:solidFill>
                    <a:srgbClr val="3F3F3F"/>
                  </a:solidFill>
                  <a:latin typeface="Calibri" panose="020F0502020204030204" pitchFamily="34" charset="0"/>
                </a:rPr>
                <a:t> </a:t>
              </a:r>
              <a:endParaRPr lang="en-US" sz="2800" b="1" dirty="0">
                <a:solidFill>
                  <a:srgbClr val="3F3F3F"/>
                </a:solidFill>
              </a:endParaRPr>
            </a:p>
            <a:p>
              <a:pPr algn="just"/>
              <a:r>
                <a:rPr lang="en-US" sz="2800" b="1" dirty="0">
                  <a:solidFill>
                    <a:srgbClr val="3F3F3F"/>
                  </a:solidFill>
                </a:rPr>
                <a:t> </a:t>
              </a:r>
              <a:r>
                <a:rPr lang="en-US" sz="2800" b="1" dirty="0">
                  <a:solidFill>
                    <a:srgbClr val="3F3F3F"/>
                  </a:solidFill>
                </a:rPr>
                <a:t>                                     </a:t>
              </a:r>
              <a:endParaRPr lang="en-US" sz="2800" b="1" dirty="0">
                <a:solidFill>
                  <a:srgbClr val="3F3F3F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0" y="2895600"/>
            <a:ext cx="8887691" cy="1792307"/>
            <a:chOff x="83127" y="3352800"/>
            <a:chExt cx="9171710" cy="1792307"/>
          </a:xfrm>
        </p:grpSpPr>
        <p:sp>
          <p:nvSpPr>
            <p:cNvPr id="12" name="TextBox 11"/>
            <p:cNvSpPr txBox="1"/>
            <p:nvPr/>
          </p:nvSpPr>
          <p:spPr>
            <a:xfrm>
              <a:off x="83127" y="3352800"/>
              <a:ext cx="903316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800" b="1" u="sng" dirty="0">
                  <a:solidFill>
                    <a:srgbClr val="3F3F3F"/>
                  </a:solidFill>
                </a:rPr>
                <a:t>Tutorials</a:t>
              </a:r>
              <a:r>
                <a:rPr lang="en-US" sz="2800" b="1" dirty="0">
                  <a:solidFill>
                    <a:srgbClr val="3F3F3F"/>
                  </a:solidFill>
                </a:rPr>
                <a:t>: Tuesdays (</a:t>
              </a:r>
              <a:r>
                <a:rPr lang="en-US" sz="2800" b="1" dirty="0">
                  <a:solidFill>
                    <a:srgbClr val="3F3F3F"/>
                  </a:solidFill>
                </a:rPr>
                <a:t>5</a:t>
              </a:r>
              <a:r>
                <a:rPr lang="en-US" sz="2800" b="1" dirty="0">
                  <a:solidFill>
                    <a:srgbClr val="3F3F3F"/>
                  </a:solidFill>
                </a:rPr>
                <a:t>:00 – 6:00 PM), Thursdays (5:00 – 6:00 PM)</a:t>
              </a:r>
              <a:endParaRPr lang="en-US" sz="2800" b="1" dirty="0">
                <a:solidFill>
                  <a:srgbClr val="3F3F3F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0837" y="4191000"/>
              <a:ext cx="9144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800" u="sng" dirty="0">
                  <a:solidFill>
                    <a:srgbClr val="3F3F3F"/>
                  </a:solidFill>
                </a:rPr>
                <a:t>Check time-tables for various groups at each </a:t>
              </a:r>
              <a:r>
                <a:rPr lang="en-US" sz="2800" b="1" u="sng" dirty="0">
                  <a:solidFill>
                    <a:srgbClr val="3F3F3F"/>
                  </a:solidFill>
                </a:rPr>
                <a:t>time slots </a:t>
              </a:r>
              <a:r>
                <a:rPr lang="en-US" sz="2800" u="sng" dirty="0">
                  <a:solidFill>
                    <a:srgbClr val="3F3F3F"/>
                  </a:solidFill>
                </a:rPr>
                <a:t>and their </a:t>
              </a:r>
              <a:r>
                <a:rPr lang="en-US" sz="2800" b="1" u="sng" dirty="0">
                  <a:solidFill>
                    <a:srgbClr val="3F3F3F"/>
                  </a:solidFill>
                </a:rPr>
                <a:t>venues</a:t>
              </a:r>
              <a:endParaRPr lang="en-US" sz="2800" b="1" u="sng" dirty="0">
                <a:solidFill>
                  <a:srgbClr val="3F3F3F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3128" y="4572000"/>
            <a:ext cx="9060872" cy="2677656"/>
            <a:chOff x="83128" y="5105400"/>
            <a:chExt cx="9033162" cy="2677656"/>
          </a:xfrm>
        </p:grpSpPr>
        <p:sp>
          <p:nvSpPr>
            <p:cNvPr id="14" name="TextBox 13"/>
            <p:cNvSpPr txBox="1"/>
            <p:nvPr/>
          </p:nvSpPr>
          <p:spPr>
            <a:xfrm>
              <a:off x="83128" y="5105400"/>
              <a:ext cx="8887690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b="1" u="sng" dirty="0">
                <a:solidFill>
                  <a:srgbClr val="3F3F3F"/>
                </a:solidFill>
              </a:endParaRPr>
            </a:p>
            <a:p>
              <a:r>
                <a:rPr lang="en-US" sz="2800" b="1" u="sng" dirty="0">
                  <a:solidFill>
                    <a:srgbClr val="3F3F3F"/>
                  </a:solidFill>
                </a:rPr>
                <a:t>Labs</a:t>
              </a:r>
              <a:r>
                <a:rPr lang="en-US" sz="2800" b="1" dirty="0">
                  <a:solidFill>
                    <a:srgbClr val="3F3F3F"/>
                  </a:solidFill>
                </a:rPr>
                <a:t>: Monday (2:00-5:00 PM), Wednesday (2:00 – 5:00 PM), Friday (2:00 – 5:00 PM)</a:t>
              </a:r>
            </a:p>
            <a:p>
              <a:endParaRPr lang="en-US" sz="2800" b="1" dirty="0">
                <a:solidFill>
                  <a:srgbClr val="3F3F3F"/>
                </a:solidFill>
              </a:endParaRPr>
            </a:p>
            <a:p>
              <a:endParaRPr lang="en-US" sz="2800" b="1" dirty="0">
                <a:solidFill>
                  <a:srgbClr val="3F3F3F"/>
                </a:solidFill>
              </a:endParaRPr>
            </a:p>
            <a:p>
              <a:endParaRPr lang="en-US" sz="2800" b="1" dirty="0">
                <a:solidFill>
                  <a:srgbClr val="3F3F3F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3128" y="6563380"/>
              <a:ext cx="90331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u="sng" dirty="0">
                  <a:solidFill>
                    <a:srgbClr val="3F3F3F"/>
                  </a:solidFill>
                </a:rPr>
                <a:t>Venue: A-wing (A101), First floor, Physics lab</a:t>
              </a:r>
              <a:endParaRPr lang="en-US" sz="2800" b="1" u="sng" dirty="0">
                <a:solidFill>
                  <a:srgbClr val="3F3F3F"/>
                </a:solidFill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0" y="1182469"/>
            <a:ext cx="4121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rgbClr val="3F3F3F"/>
                </a:solidFill>
              </a:rPr>
              <a:t>Course schedule</a:t>
            </a:r>
            <a:endParaRPr lang="en-US" sz="3600" b="1" u="sng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40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76200" y="533400"/>
            <a:ext cx="9144000" cy="2469598"/>
            <a:chOff x="76200" y="1447800"/>
            <a:chExt cx="9144000" cy="2469598"/>
          </a:xfrm>
        </p:grpSpPr>
        <p:sp>
          <p:nvSpPr>
            <p:cNvPr id="2" name="TextBox 1"/>
            <p:cNvSpPr txBox="1"/>
            <p:nvPr/>
          </p:nvSpPr>
          <p:spPr>
            <a:xfrm>
              <a:off x="76200" y="1447800"/>
              <a:ext cx="91440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rgbClr val="3F3F3F"/>
                  </a:solidFill>
                </a:rPr>
                <a:t>Instructor Details: </a:t>
              </a:r>
            </a:p>
            <a:p>
              <a:r>
                <a:rPr lang="en-US" sz="3600" b="1" u="sng" dirty="0">
                  <a:solidFill>
                    <a:srgbClr val="3F3F3F"/>
                  </a:solidFill>
                </a:rPr>
                <a:t>Dr. Bhaskar Kaviraj</a:t>
              </a:r>
              <a:endParaRPr lang="en-US" sz="3600" b="1" u="sng" dirty="0">
                <a:solidFill>
                  <a:srgbClr val="3F3F3F"/>
                </a:solidFill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17765" y="2840180"/>
              <a:ext cx="644236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3F3F3F"/>
                  </a:solidFill>
                </a:rPr>
                <a:t>Office: </a:t>
              </a:r>
              <a:r>
                <a:rPr lang="en-US" sz="3200" b="1" dirty="0">
                  <a:solidFill>
                    <a:srgbClr val="3F3F3F"/>
                  </a:solidFill>
                </a:rPr>
                <a:t>A017C</a:t>
              </a:r>
              <a:r>
                <a:rPr lang="en-US" sz="3200" b="1" dirty="0">
                  <a:solidFill>
                    <a:srgbClr val="3F3F3F"/>
                  </a:solidFill>
                  <a:latin typeface="Calibri" panose="020F0502020204030204" pitchFamily="34" charset="0"/>
                </a:rPr>
                <a:t> </a:t>
              </a:r>
              <a:r>
                <a:rPr lang="en-US" sz="3200" b="1" dirty="0">
                  <a:solidFill>
                    <a:srgbClr val="3F3F3F"/>
                  </a:solidFill>
                </a:rPr>
                <a:t>(A-wing</a:t>
              </a:r>
              <a:r>
                <a:rPr lang="en-US" sz="3200" b="1" dirty="0">
                  <a:solidFill>
                    <a:srgbClr val="3F3F3F"/>
                  </a:solidFill>
                </a:rPr>
                <a:t>, First floor)</a:t>
              </a:r>
            </a:p>
            <a:p>
              <a:endParaRPr lang="en-US" sz="3200" b="1" dirty="0">
                <a:solidFill>
                  <a:srgbClr val="3F3F3F"/>
                </a:solidFill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17765" y="2667000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F3F3F"/>
                </a:solidFill>
              </a:rPr>
              <a:t>Email Address: bhaskar.kaviraj@snu.edu.in</a:t>
            </a:r>
            <a:endParaRPr lang="en-US" sz="3200" b="1" dirty="0">
              <a:solidFill>
                <a:srgbClr val="3F3F3F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10837" y="4056495"/>
            <a:ext cx="8880763" cy="1887105"/>
            <a:chOff x="110837" y="3810000"/>
            <a:chExt cx="8880763" cy="1887105"/>
          </a:xfrm>
        </p:grpSpPr>
        <p:sp>
          <p:nvSpPr>
            <p:cNvPr id="6" name="TextBox 5"/>
            <p:cNvSpPr txBox="1"/>
            <p:nvPr/>
          </p:nvSpPr>
          <p:spPr>
            <a:xfrm>
              <a:off x="117765" y="3810000"/>
              <a:ext cx="887383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u="sng" dirty="0">
                  <a:solidFill>
                    <a:srgbClr val="3F3F3F"/>
                  </a:solidFill>
                </a:rPr>
                <a:t>Dr. </a:t>
              </a:r>
              <a:r>
                <a:rPr lang="en-US" sz="3600" b="1" u="sng" dirty="0">
                  <a:solidFill>
                    <a:srgbClr val="3F3F3F"/>
                  </a:solidFill>
                </a:rPr>
                <a:t>Syed </a:t>
              </a:r>
              <a:r>
                <a:rPr lang="en-US" sz="3600" b="1" u="sng" dirty="0">
                  <a:solidFill>
                    <a:srgbClr val="3F3F3F"/>
                  </a:solidFill>
                </a:rPr>
                <a:t>Kamil</a:t>
              </a:r>
              <a:endParaRPr lang="en-US" sz="3600" b="1" u="sng" dirty="0">
                <a:solidFill>
                  <a:srgbClr val="3F3F3F"/>
                </a:solidFill>
              </a:endParaRPr>
            </a:p>
            <a:p>
              <a:endParaRPr lang="en-US" sz="3600" b="1" u="sng" dirty="0">
                <a:solidFill>
                  <a:srgbClr val="3F3F3F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4690" y="4495800"/>
              <a:ext cx="86106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3F3F3F"/>
                  </a:solidFill>
                </a:rPr>
                <a:t>Office:  A023 (A-wing, First floor)</a:t>
              </a:r>
              <a:endParaRPr lang="en-US" sz="3200" b="1" dirty="0">
                <a:solidFill>
                  <a:srgbClr val="3F3F3F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0837" y="5112330"/>
              <a:ext cx="7924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3F3F3F"/>
                  </a:solidFill>
                </a:rPr>
                <a:t>Email Address: syed.kamil@snu.edu.in</a:t>
              </a:r>
              <a:endParaRPr lang="en-US" sz="3200" b="1" dirty="0">
                <a:solidFill>
                  <a:srgbClr val="3F3F3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606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228600"/>
            <a:ext cx="1600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Aims: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29019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3F3F3F"/>
                </a:solidFill>
              </a:rPr>
              <a:t>To bridge the gap between (10+2) level </a:t>
            </a:r>
            <a:r>
              <a:rPr lang="en-US" sz="3600" b="1" dirty="0">
                <a:solidFill>
                  <a:srgbClr val="3F3F3F"/>
                </a:solidFill>
              </a:rPr>
              <a:t>and </a:t>
            </a:r>
            <a:r>
              <a:rPr lang="en-US" sz="3600" b="1" i="1" u="sng" dirty="0">
                <a:solidFill>
                  <a:srgbClr val="3F3F3F"/>
                </a:solidFill>
              </a:rPr>
              <a:t>undergraduate</a:t>
            </a:r>
            <a:r>
              <a:rPr lang="en-US" sz="3600" b="1" dirty="0">
                <a:solidFill>
                  <a:srgbClr val="3F3F3F"/>
                </a:solidFill>
              </a:rPr>
              <a:t> </a:t>
            </a:r>
            <a:r>
              <a:rPr lang="en-US" sz="3600" b="1" dirty="0">
                <a:solidFill>
                  <a:srgbClr val="3F3F3F"/>
                </a:solidFill>
              </a:rPr>
              <a:t>level.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04800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3F3F3F"/>
                </a:solidFill>
              </a:rPr>
              <a:t>To develop an understanding of </a:t>
            </a:r>
            <a:r>
              <a:rPr lang="en-US" sz="3600" b="1" i="1" u="sng" dirty="0">
                <a:solidFill>
                  <a:srgbClr val="3F3F3F"/>
                </a:solidFill>
              </a:rPr>
              <a:t>basic </a:t>
            </a:r>
            <a:r>
              <a:rPr lang="en-US" sz="3600" b="1" i="1" u="sng" dirty="0">
                <a:solidFill>
                  <a:srgbClr val="3F3F3F"/>
                </a:solidFill>
              </a:rPr>
              <a:t>physical laws</a:t>
            </a:r>
            <a:r>
              <a:rPr lang="en-US" sz="3600" b="1" dirty="0">
                <a:solidFill>
                  <a:srgbClr val="3F3F3F"/>
                </a:solidFill>
              </a:rPr>
              <a:t> and </a:t>
            </a:r>
            <a:r>
              <a:rPr lang="en-US" sz="3600" b="1" i="1" u="sng" dirty="0">
                <a:solidFill>
                  <a:srgbClr val="3F3F3F"/>
                </a:solidFill>
              </a:rPr>
              <a:t>skills</a:t>
            </a:r>
            <a:r>
              <a:rPr lang="en-US" sz="3600" b="1" dirty="0">
                <a:solidFill>
                  <a:srgbClr val="3F3F3F"/>
                </a:solidFill>
              </a:rPr>
              <a:t> </a:t>
            </a:r>
            <a:r>
              <a:rPr lang="en-US" sz="3600" b="1" dirty="0">
                <a:solidFill>
                  <a:srgbClr val="3F3F3F"/>
                </a:solidFill>
              </a:rPr>
              <a:t>to apply various </a:t>
            </a:r>
            <a:r>
              <a:rPr lang="en-US" sz="3600" b="1" dirty="0">
                <a:solidFill>
                  <a:srgbClr val="3F3F3F"/>
                </a:solidFill>
              </a:rPr>
              <a:t>physical concepts </a:t>
            </a:r>
            <a:r>
              <a:rPr lang="en-US" sz="3600" b="1" dirty="0">
                <a:solidFill>
                  <a:srgbClr val="3F3F3F"/>
                </a:solidFill>
              </a:rPr>
              <a:t>to natural and engineering </a:t>
            </a:r>
            <a:r>
              <a:rPr lang="en-US" sz="3600" b="1" dirty="0">
                <a:solidFill>
                  <a:srgbClr val="3F3F3F"/>
                </a:solidFill>
              </a:rPr>
              <a:t>systems through </a:t>
            </a:r>
            <a:r>
              <a:rPr lang="en-US" sz="3600" b="1" dirty="0">
                <a:solidFill>
                  <a:srgbClr val="3F3F3F"/>
                </a:solidFill>
              </a:rPr>
              <a:t>problem solving.</a:t>
            </a:r>
          </a:p>
        </p:txBody>
      </p:sp>
    </p:spTree>
    <p:extLst>
      <p:ext uri="{BB962C8B-B14F-4D97-AF65-F5344CB8AC3E}">
        <p14:creationId xmlns:p14="http://schemas.microsoft.com/office/powerpoint/2010/main" val="47747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99655" y="0"/>
            <a:ext cx="717459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Course outline and syllabus</a:t>
            </a:r>
            <a:endParaRPr lang="en-US" sz="4800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" y="685800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3F3F3F"/>
                </a:solidFill>
              </a:rPr>
              <a:t>Vector Calculus:</a:t>
            </a:r>
            <a:endParaRPr lang="en-US" sz="2400" b="1" u="sng" dirty="0">
              <a:solidFill>
                <a:srgbClr val="3F3F3F"/>
              </a:solidFill>
            </a:endParaRPr>
          </a:p>
          <a:p>
            <a:pPr algn="just"/>
            <a:r>
              <a:rPr lang="en-US" sz="2400" dirty="0">
                <a:solidFill>
                  <a:srgbClr val="3F3F3F"/>
                </a:solidFill>
              </a:rPr>
              <a:t>Fundamental vector operations, Vector </a:t>
            </a:r>
            <a:r>
              <a:rPr lang="en-US" sz="2400" dirty="0">
                <a:solidFill>
                  <a:srgbClr val="3F3F3F"/>
                </a:solidFill>
              </a:rPr>
              <a:t>calculus: Gradient, Divergence, Curl and </a:t>
            </a:r>
            <a:r>
              <a:rPr lang="en-US" sz="2400" dirty="0">
                <a:solidFill>
                  <a:srgbClr val="3F3F3F"/>
                </a:solidFill>
              </a:rPr>
              <a:t>related fundamental </a:t>
            </a:r>
            <a:r>
              <a:rPr lang="en-US" sz="2400" dirty="0">
                <a:solidFill>
                  <a:srgbClr val="3F3F3F"/>
                </a:solidFill>
              </a:rPr>
              <a:t>theorems </a:t>
            </a:r>
            <a:r>
              <a:rPr lang="en-US" sz="2400" dirty="0">
                <a:solidFill>
                  <a:srgbClr val="3F3F3F"/>
                </a:solidFill>
              </a:rPr>
              <a:t>of vector calculus, Vector integration (line, surface and volume integrals), Divergence theorem and </a:t>
            </a:r>
            <a:r>
              <a:rPr lang="en-US" sz="2400" dirty="0" err="1">
                <a:solidFill>
                  <a:srgbClr val="3F3F3F"/>
                </a:solidFill>
              </a:rPr>
              <a:t>Stoke’s</a:t>
            </a:r>
            <a:r>
              <a:rPr lang="en-US" sz="2400" dirty="0">
                <a:solidFill>
                  <a:srgbClr val="3F3F3F"/>
                </a:solidFill>
              </a:rPr>
              <a:t> theorem, Coordinate systems (Polar (2D), Spherical and Cylindrical (3D)). </a:t>
            </a:r>
          </a:p>
          <a:p>
            <a:pPr algn="just"/>
            <a:endParaRPr lang="en-US" sz="2400" dirty="0">
              <a:solidFill>
                <a:srgbClr val="3F3F3F"/>
              </a:solidFill>
            </a:endParaRPr>
          </a:p>
          <a:p>
            <a:pPr algn="just"/>
            <a:endParaRPr lang="en-US" sz="2400" dirty="0">
              <a:solidFill>
                <a:srgbClr val="3F3F3F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" y="3124200"/>
            <a:ext cx="9144000" cy="3484782"/>
            <a:chOff x="27709" y="3008769"/>
            <a:chExt cx="9116291" cy="3484782"/>
          </a:xfrm>
        </p:grpSpPr>
        <p:sp>
          <p:nvSpPr>
            <p:cNvPr id="2" name="TextBox 1"/>
            <p:cNvSpPr txBox="1"/>
            <p:nvPr/>
          </p:nvSpPr>
          <p:spPr>
            <a:xfrm>
              <a:off x="27709" y="3008769"/>
              <a:ext cx="2743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rgbClr val="3F3F3F"/>
                  </a:solidFill>
                </a:rPr>
                <a:t>Electrostatics</a:t>
              </a:r>
              <a:endParaRPr lang="en-US" sz="2400" b="1" u="sng" dirty="0">
                <a:solidFill>
                  <a:srgbClr val="3F3F3F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710" y="3446563"/>
              <a:ext cx="9116290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400" dirty="0">
                  <a:solidFill>
                    <a:srgbClr val="3F3F3F"/>
                  </a:solidFill>
                </a:rPr>
                <a:t>Electric field, divergence and curl of electric fields, electric potential, Work and Energy in electrostatics, conductors and capacitors, Laplace’s equation of electrostatic potential in 1, 2 and 3 dimensions, Multipole expansion of electrostatic potential, monopole and dipole terms, field due to electric dipole, polarization in dielectrics, field of a polarized object, bound charges and its physical interpretation, electric displacement vector and Gauss’s law in dielectrics, definitions of permittivity, </a:t>
              </a:r>
              <a:r>
                <a:rPr lang="en-US" sz="2400" dirty="0">
                  <a:solidFill>
                    <a:srgbClr val="3F3F3F"/>
                  </a:solidFill>
                </a:rPr>
                <a:t>susceptibility</a:t>
              </a:r>
              <a:r>
                <a:rPr lang="en-US" sz="2400" dirty="0">
                  <a:solidFill>
                    <a:srgbClr val="3F3F3F"/>
                  </a:solidFill>
                </a:rPr>
                <a:t> and dielectric constant</a:t>
              </a:r>
              <a:endParaRPr lang="en-US" sz="2400" dirty="0">
                <a:solidFill>
                  <a:srgbClr val="3F3F3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596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418" y="-76200"/>
            <a:ext cx="2459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err="1">
                <a:solidFill>
                  <a:srgbClr val="3F3F3F"/>
                </a:solidFill>
              </a:rPr>
              <a:t>Magnetostatics</a:t>
            </a:r>
            <a:endParaRPr lang="en-US" sz="2400" b="1" u="sng" dirty="0">
              <a:solidFill>
                <a:srgbClr val="3F3F3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26" y="228600"/>
            <a:ext cx="91370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3F3F3F"/>
                </a:solidFill>
              </a:rPr>
              <a:t>Magnetic forces and Lorentz force law, charged particle in an electromagnetic field, magnetic field due to steady current (</a:t>
            </a:r>
            <a:r>
              <a:rPr lang="en-US" sz="2400" dirty="0" err="1">
                <a:solidFill>
                  <a:srgbClr val="3F3F3F"/>
                </a:solidFill>
              </a:rPr>
              <a:t>Biot</a:t>
            </a:r>
            <a:r>
              <a:rPr lang="en-US" sz="2400" dirty="0">
                <a:solidFill>
                  <a:srgbClr val="3F3F3F"/>
                </a:solidFill>
              </a:rPr>
              <a:t>-Savart law), Divergence and Curl of </a:t>
            </a:r>
            <a:r>
              <a:rPr lang="en-US" sz="2400" b="1" dirty="0">
                <a:solidFill>
                  <a:srgbClr val="3F3F3F"/>
                </a:solidFill>
              </a:rPr>
              <a:t>B</a:t>
            </a:r>
            <a:r>
              <a:rPr lang="en-US" sz="2400" dirty="0">
                <a:solidFill>
                  <a:srgbClr val="3F3F3F"/>
                </a:solidFill>
              </a:rPr>
              <a:t>, Ampere’s law (differential and integral form), magnetic dipole, forces and torque on a current carrying loop, magnetic field due to a magnetic dipole, magnetic vector potential, </a:t>
            </a:r>
            <a:r>
              <a:rPr lang="en-US" sz="2400" dirty="0">
                <a:solidFill>
                  <a:srgbClr val="3F3F3F"/>
                </a:solidFill>
              </a:rPr>
              <a:t>effect of magnetic field on atomic orbits</a:t>
            </a:r>
            <a:r>
              <a:rPr lang="en-US" sz="2400" dirty="0">
                <a:solidFill>
                  <a:srgbClr val="3F3F3F"/>
                </a:solidFill>
              </a:rPr>
              <a:t>, </a:t>
            </a:r>
            <a:r>
              <a:rPr lang="en-US" sz="2400" dirty="0" err="1">
                <a:solidFill>
                  <a:srgbClr val="3F3F3F"/>
                </a:solidFill>
              </a:rPr>
              <a:t>magnetzation</a:t>
            </a:r>
            <a:r>
              <a:rPr lang="en-US" sz="2400" dirty="0">
                <a:solidFill>
                  <a:srgbClr val="3F3F3F"/>
                </a:solidFill>
              </a:rPr>
              <a:t>, field of a magnetized object, bound currents and their physical interpretation, auxiliary field </a:t>
            </a:r>
            <a:r>
              <a:rPr lang="en-US" sz="2400" b="1" dirty="0">
                <a:solidFill>
                  <a:srgbClr val="3F3F3F"/>
                </a:solidFill>
              </a:rPr>
              <a:t>H</a:t>
            </a:r>
            <a:r>
              <a:rPr lang="en-US" sz="2400" dirty="0">
                <a:solidFill>
                  <a:srgbClr val="3F3F3F"/>
                </a:solidFill>
              </a:rPr>
              <a:t>, Ampere’s law in magnetized materials</a:t>
            </a:r>
            <a:endParaRPr lang="en-US" sz="2400" dirty="0">
              <a:solidFill>
                <a:srgbClr val="3F3F3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3505200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3F3F3F"/>
                </a:solidFill>
              </a:rPr>
              <a:t>Electrodynamics</a:t>
            </a:r>
            <a:endParaRPr lang="en-US" sz="2400" b="1" u="sng" dirty="0">
              <a:solidFill>
                <a:srgbClr val="3F3F3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1" y="3886200"/>
            <a:ext cx="90677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3F3F3F"/>
                </a:solidFill>
              </a:rPr>
              <a:t>Electromotive force, Ohm’s law, motional </a:t>
            </a:r>
            <a:r>
              <a:rPr lang="en-US" sz="2400" dirty="0" err="1">
                <a:solidFill>
                  <a:srgbClr val="3F3F3F"/>
                </a:solidFill>
              </a:rPr>
              <a:t>emf</a:t>
            </a:r>
            <a:r>
              <a:rPr lang="en-US" sz="2400" dirty="0">
                <a:solidFill>
                  <a:srgbClr val="3F3F3F"/>
                </a:solidFill>
              </a:rPr>
              <a:t>, Faraday’s law of electromagnetic induction and induced electric field, self and mutual inductance, energy in magnetic fields, Maxwell’s equations before and after Maxwell, displacement currents, work-energy theorem (</a:t>
            </a:r>
            <a:r>
              <a:rPr lang="en-US" sz="2400" dirty="0" err="1">
                <a:solidFill>
                  <a:srgbClr val="3F3F3F"/>
                </a:solidFill>
              </a:rPr>
              <a:t>Poynting’s</a:t>
            </a:r>
            <a:r>
              <a:rPr lang="en-US" sz="2400" dirty="0">
                <a:solidFill>
                  <a:srgbClr val="3F3F3F"/>
                </a:solidFill>
              </a:rPr>
              <a:t> theorem) in electrodynamics, </a:t>
            </a:r>
            <a:r>
              <a:rPr lang="en-US" sz="2400" dirty="0" err="1">
                <a:solidFill>
                  <a:srgbClr val="3F3F3F"/>
                </a:solidFill>
              </a:rPr>
              <a:t>Poynting’s</a:t>
            </a:r>
            <a:r>
              <a:rPr lang="en-US" sz="2400" dirty="0">
                <a:solidFill>
                  <a:srgbClr val="3F3F3F"/>
                </a:solidFill>
              </a:rPr>
              <a:t> vector, continuity equation, electromagnetic waves in vacuum, monochromatic plane electromagnetic waves and their representation</a:t>
            </a:r>
            <a:endParaRPr lang="en-US" sz="2400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69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838200"/>
            <a:ext cx="8991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u="sng" dirty="0">
                <a:solidFill>
                  <a:srgbClr val="3F3F3F"/>
                </a:solidFill>
              </a:rPr>
              <a:t>Wave Optics:</a:t>
            </a:r>
          </a:p>
          <a:p>
            <a:pPr algn="just"/>
            <a:r>
              <a:rPr lang="en-US" sz="2800" b="1" dirty="0">
                <a:solidFill>
                  <a:srgbClr val="3F3F3F"/>
                </a:solidFill>
              </a:rPr>
              <a:t>Interference of light waves: </a:t>
            </a:r>
            <a:r>
              <a:rPr lang="en-US" sz="2800" dirty="0">
                <a:solidFill>
                  <a:srgbClr val="3F3F3F"/>
                </a:solidFill>
              </a:rPr>
              <a:t>Young’s double slit experiment, displacement </a:t>
            </a:r>
            <a:r>
              <a:rPr lang="en-US" sz="2800" dirty="0">
                <a:solidFill>
                  <a:srgbClr val="3F3F3F"/>
                </a:solidFill>
              </a:rPr>
              <a:t>of fringes</a:t>
            </a:r>
            <a:r>
              <a:rPr lang="en-US" sz="2800" dirty="0">
                <a:solidFill>
                  <a:srgbClr val="3F3F3F"/>
                </a:solidFill>
              </a:rPr>
              <a:t>, Interference in thin </a:t>
            </a:r>
            <a:r>
              <a:rPr lang="en-US" sz="2800" dirty="0">
                <a:solidFill>
                  <a:srgbClr val="3F3F3F"/>
                </a:solidFill>
              </a:rPr>
              <a:t>films.</a:t>
            </a:r>
          </a:p>
          <a:p>
            <a:pPr algn="just"/>
            <a:endParaRPr lang="en-US" sz="2800" dirty="0">
              <a:solidFill>
                <a:srgbClr val="3F3F3F"/>
              </a:solidFill>
            </a:endParaRPr>
          </a:p>
          <a:p>
            <a:pPr algn="just"/>
            <a:r>
              <a:rPr lang="en-US" sz="2800" b="1" dirty="0">
                <a:solidFill>
                  <a:srgbClr val="3F3F3F"/>
                </a:solidFill>
              </a:rPr>
              <a:t>Diffraction: </a:t>
            </a:r>
            <a:r>
              <a:rPr lang="en-US" sz="2800" dirty="0">
                <a:solidFill>
                  <a:srgbClr val="3F3F3F"/>
                </a:solidFill>
              </a:rPr>
              <a:t>Fresnel’s and Fraunhofer’s class of diffraction, diffraction </a:t>
            </a:r>
            <a:r>
              <a:rPr lang="en-US" sz="2800" dirty="0">
                <a:solidFill>
                  <a:srgbClr val="3F3F3F"/>
                </a:solidFill>
              </a:rPr>
              <a:t>from single</a:t>
            </a:r>
            <a:r>
              <a:rPr lang="en-US" sz="2800" dirty="0">
                <a:solidFill>
                  <a:srgbClr val="3F3F3F"/>
                </a:solidFill>
              </a:rPr>
              <a:t>, double &amp; N- </a:t>
            </a:r>
            <a:r>
              <a:rPr lang="en-US" sz="2800" dirty="0">
                <a:solidFill>
                  <a:srgbClr val="3F3F3F"/>
                </a:solidFill>
              </a:rPr>
              <a:t>Slits.</a:t>
            </a:r>
          </a:p>
          <a:p>
            <a:pPr algn="just"/>
            <a:endParaRPr lang="en-US" sz="2800" dirty="0">
              <a:solidFill>
                <a:srgbClr val="3F3F3F"/>
              </a:solidFill>
            </a:endParaRPr>
          </a:p>
          <a:p>
            <a:pPr algn="just"/>
            <a:endParaRPr lang="en-US" sz="2800" b="1" dirty="0">
              <a:solidFill>
                <a:srgbClr val="3F3F3F"/>
              </a:solidFill>
            </a:endParaRPr>
          </a:p>
          <a:p>
            <a:pPr algn="just"/>
            <a:r>
              <a:rPr lang="en-US" sz="2800" b="1" dirty="0">
                <a:solidFill>
                  <a:srgbClr val="3F3F3F"/>
                </a:solidFill>
              </a:rPr>
              <a:t>Polarization</a:t>
            </a:r>
            <a:r>
              <a:rPr lang="en-US" sz="2800" b="1" dirty="0">
                <a:solidFill>
                  <a:srgbClr val="3F3F3F"/>
                </a:solidFill>
              </a:rPr>
              <a:t>: </a:t>
            </a:r>
            <a:r>
              <a:rPr lang="en-US" sz="2800" dirty="0">
                <a:solidFill>
                  <a:srgbClr val="3F3F3F"/>
                </a:solidFill>
              </a:rPr>
              <a:t>Concept of Polarization in electromagnetic waves, types </a:t>
            </a:r>
            <a:r>
              <a:rPr lang="en-US" sz="2800" dirty="0">
                <a:solidFill>
                  <a:srgbClr val="3F3F3F"/>
                </a:solidFill>
              </a:rPr>
              <a:t>of polarized </a:t>
            </a:r>
            <a:r>
              <a:rPr lang="en-US" sz="2800" dirty="0">
                <a:solidFill>
                  <a:srgbClr val="3F3F3F"/>
                </a:solidFill>
              </a:rPr>
              <a:t>waves, Production and analysis of polarized light, Phenomena </a:t>
            </a:r>
            <a:r>
              <a:rPr lang="en-US" sz="2800" dirty="0">
                <a:solidFill>
                  <a:srgbClr val="3F3F3F"/>
                </a:solidFill>
              </a:rPr>
              <a:t>of double </a:t>
            </a:r>
            <a:r>
              <a:rPr lang="en-US" sz="2800" dirty="0">
                <a:solidFill>
                  <a:srgbClr val="3F3F3F"/>
                </a:solidFill>
              </a:rPr>
              <a:t>refraction.</a:t>
            </a:r>
          </a:p>
        </p:txBody>
      </p:sp>
    </p:spTree>
    <p:extLst>
      <p:ext uri="{BB962C8B-B14F-4D97-AF65-F5344CB8AC3E}">
        <p14:creationId xmlns:p14="http://schemas.microsoft.com/office/powerpoint/2010/main" val="216576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690" y="152400"/>
            <a:ext cx="34446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Further </a:t>
            </a:r>
            <a:r>
              <a:rPr lang="en-US" sz="4000" b="1" dirty="0">
                <a:solidFill>
                  <a:srgbClr val="C00000"/>
                </a:solidFill>
              </a:rPr>
              <a:t>details: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3910" y="838200"/>
            <a:ext cx="67818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3F3F3F"/>
                </a:solidFill>
              </a:rPr>
              <a:t>Attendance requirements:</a:t>
            </a:r>
          </a:p>
          <a:p>
            <a:r>
              <a:rPr lang="en-US" sz="2800" u="sng" dirty="0">
                <a:solidFill>
                  <a:srgbClr val="3F3F3F"/>
                </a:solidFill>
              </a:rPr>
              <a:t>75% (minimum as per SNU’s policy</a:t>
            </a:r>
            <a:r>
              <a:rPr lang="en-US" sz="2800" u="sng" dirty="0">
                <a:solidFill>
                  <a:srgbClr val="3F3F3F"/>
                </a:solidFill>
              </a:rPr>
              <a:t>)</a:t>
            </a:r>
            <a:endParaRPr lang="en-US" sz="2800" u="sng" dirty="0">
              <a:solidFill>
                <a:srgbClr val="3F3F3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" y="1946565"/>
            <a:ext cx="88738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3F3F3F"/>
                </a:solidFill>
              </a:rPr>
              <a:t>Course pre-requisite (flexible):</a:t>
            </a:r>
          </a:p>
          <a:p>
            <a:r>
              <a:rPr lang="en-US" sz="2400" dirty="0">
                <a:solidFill>
                  <a:srgbClr val="3F3F3F"/>
                </a:solidFill>
              </a:rPr>
              <a:t>Reasonably good Mathematical background (calculus, differential </a:t>
            </a:r>
            <a:r>
              <a:rPr lang="en-US" sz="2400" dirty="0">
                <a:solidFill>
                  <a:srgbClr val="3F3F3F"/>
                </a:solidFill>
              </a:rPr>
              <a:t>equations, algebra</a:t>
            </a:r>
            <a:r>
              <a:rPr lang="en-US" sz="2400" dirty="0">
                <a:solidFill>
                  <a:srgbClr val="3F3F3F"/>
                </a:solidFill>
              </a:rPr>
              <a:t>, geometry, graphical analysis, co-ordinate system, transformation </a:t>
            </a:r>
            <a:r>
              <a:rPr lang="en-US" sz="2400" dirty="0">
                <a:solidFill>
                  <a:srgbClr val="3F3F3F"/>
                </a:solidFill>
              </a:rPr>
              <a:t>of coordinate </a:t>
            </a:r>
            <a:r>
              <a:rPr lang="en-US" sz="2400" dirty="0">
                <a:solidFill>
                  <a:srgbClr val="3F3F3F"/>
                </a:solidFill>
              </a:rPr>
              <a:t>systems, vectors, vector calculus).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" y="4152543"/>
            <a:ext cx="90678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3F3F3F"/>
                </a:solidFill>
              </a:rPr>
              <a:t>Text /reference books</a:t>
            </a:r>
            <a:r>
              <a:rPr lang="en-US" sz="3000" b="1" dirty="0">
                <a:solidFill>
                  <a:srgbClr val="3F3F3F"/>
                </a:solidFill>
              </a:rPr>
              <a:t>:</a:t>
            </a:r>
          </a:p>
          <a:p>
            <a:r>
              <a:rPr lang="en-US" sz="2400" i="1" dirty="0">
                <a:solidFill>
                  <a:srgbClr val="3F3F3F"/>
                </a:solidFill>
              </a:rPr>
              <a:t>1. </a:t>
            </a:r>
            <a:r>
              <a:rPr lang="en-US" sz="2400" b="1" u="sng" dirty="0">
                <a:solidFill>
                  <a:srgbClr val="3F3F3F"/>
                </a:solidFill>
              </a:rPr>
              <a:t>Introduction to Electrodynamics, </a:t>
            </a:r>
            <a:r>
              <a:rPr lang="en-US" sz="2400" b="1" i="1" u="sng" dirty="0">
                <a:solidFill>
                  <a:srgbClr val="3F3F3F"/>
                </a:solidFill>
              </a:rPr>
              <a:t>D. J. Griffith</a:t>
            </a:r>
          </a:p>
          <a:p>
            <a:r>
              <a:rPr lang="en-US" sz="2400" dirty="0">
                <a:solidFill>
                  <a:srgbClr val="3F3F3F"/>
                </a:solidFill>
              </a:rPr>
              <a:t>2. </a:t>
            </a:r>
            <a:r>
              <a:rPr lang="en-US" sz="2400" dirty="0">
                <a:solidFill>
                  <a:srgbClr val="3F3F3F"/>
                </a:solidFill>
              </a:rPr>
              <a:t>Physics for Scientists and Engineers with Modern Physics, </a:t>
            </a:r>
            <a:r>
              <a:rPr lang="en-US" sz="2400" i="1" dirty="0">
                <a:solidFill>
                  <a:srgbClr val="3F3F3F"/>
                </a:solidFill>
              </a:rPr>
              <a:t>J. W. </a:t>
            </a:r>
            <a:r>
              <a:rPr lang="en-US" sz="2400" i="1" dirty="0">
                <a:solidFill>
                  <a:srgbClr val="3F3F3F"/>
                </a:solidFill>
              </a:rPr>
              <a:t>Jewett and </a:t>
            </a:r>
            <a:r>
              <a:rPr lang="en-US" sz="2400" i="1" dirty="0">
                <a:solidFill>
                  <a:srgbClr val="3F3F3F"/>
                </a:solidFill>
              </a:rPr>
              <a:t>R. A. </a:t>
            </a:r>
            <a:r>
              <a:rPr lang="en-US" sz="2400" i="1" dirty="0" err="1">
                <a:solidFill>
                  <a:srgbClr val="3F3F3F"/>
                </a:solidFill>
              </a:rPr>
              <a:t>Serway</a:t>
            </a:r>
            <a:endParaRPr lang="en-US" sz="2400" i="1" dirty="0">
              <a:solidFill>
                <a:srgbClr val="3F3F3F"/>
              </a:solidFill>
            </a:endParaRPr>
          </a:p>
          <a:p>
            <a:r>
              <a:rPr lang="en-US" sz="2400" i="1" dirty="0">
                <a:solidFill>
                  <a:srgbClr val="3F3F3F"/>
                </a:solidFill>
              </a:rPr>
              <a:t>3</a:t>
            </a:r>
            <a:r>
              <a:rPr lang="en-US" sz="2400" i="1" dirty="0">
                <a:solidFill>
                  <a:srgbClr val="3F3F3F"/>
                </a:solidFill>
              </a:rPr>
              <a:t>. </a:t>
            </a:r>
            <a:r>
              <a:rPr lang="en-US" sz="2400" dirty="0">
                <a:solidFill>
                  <a:srgbClr val="3F3F3F"/>
                </a:solidFill>
              </a:rPr>
              <a:t>Feynman Lecture series</a:t>
            </a:r>
            <a:r>
              <a:rPr lang="en-US" sz="2400" i="1" dirty="0">
                <a:solidFill>
                  <a:srgbClr val="3F3F3F"/>
                </a:solidFill>
              </a:rPr>
              <a:t>, Vol. 2.</a:t>
            </a:r>
          </a:p>
          <a:p>
            <a:r>
              <a:rPr lang="en-US" sz="2400" dirty="0">
                <a:solidFill>
                  <a:srgbClr val="3F3F3F"/>
                </a:solidFill>
              </a:rPr>
              <a:t>4. Classical electrodynamics, </a:t>
            </a:r>
            <a:r>
              <a:rPr lang="en-US" sz="2400" i="1" dirty="0">
                <a:solidFill>
                  <a:srgbClr val="3F3F3F"/>
                </a:solidFill>
              </a:rPr>
              <a:t>J. D. Jackson</a:t>
            </a:r>
            <a:endParaRPr lang="en-US" sz="2400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58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04800"/>
            <a:ext cx="55293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Course evaluation scheme</a:t>
            </a:r>
            <a:r>
              <a:rPr lang="en-US" sz="3600" b="1" dirty="0">
                <a:solidFill>
                  <a:srgbClr val="C00000"/>
                </a:solidFill>
              </a:rPr>
              <a:t>: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599" y="995342"/>
            <a:ext cx="8153401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3F3F3F"/>
                </a:solidFill>
              </a:rPr>
              <a:t>- </a:t>
            </a:r>
            <a:r>
              <a:rPr lang="en-US" sz="2600" b="1" dirty="0">
                <a:solidFill>
                  <a:srgbClr val="3F3F3F"/>
                </a:solidFill>
              </a:rPr>
              <a:t>One mid semester exam: 20%</a:t>
            </a:r>
          </a:p>
          <a:p>
            <a:r>
              <a:rPr lang="en-US" sz="2600" dirty="0">
                <a:solidFill>
                  <a:srgbClr val="3F3F3F"/>
                </a:solidFill>
              </a:rPr>
              <a:t>- </a:t>
            </a:r>
            <a:r>
              <a:rPr lang="en-US" sz="2600" b="1" dirty="0">
                <a:solidFill>
                  <a:srgbClr val="3F3F3F"/>
                </a:solidFill>
              </a:rPr>
              <a:t>Two </a:t>
            </a:r>
            <a:r>
              <a:rPr lang="en-US" sz="2600" b="1" dirty="0">
                <a:solidFill>
                  <a:srgbClr val="3F3F3F"/>
                </a:solidFill>
              </a:rPr>
              <a:t>quizzes + Surprise quizzes</a:t>
            </a:r>
            <a:r>
              <a:rPr lang="en-US" sz="2600" dirty="0">
                <a:solidFill>
                  <a:srgbClr val="3F3F3F"/>
                </a:solidFill>
              </a:rPr>
              <a:t>: (</a:t>
            </a:r>
            <a:r>
              <a:rPr lang="en-US" sz="2600" b="1" dirty="0">
                <a:solidFill>
                  <a:srgbClr val="3F3F3F"/>
                </a:solidFill>
              </a:rPr>
              <a:t>total, 20</a:t>
            </a:r>
            <a:r>
              <a:rPr lang="en-US" sz="2600" b="1" dirty="0">
                <a:solidFill>
                  <a:srgbClr val="3F3F3F"/>
                </a:solidFill>
              </a:rPr>
              <a:t>%</a:t>
            </a:r>
            <a:r>
              <a:rPr lang="en-US" sz="2600" dirty="0">
                <a:solidFill>
                  <a:srgbClr val="3F3F3F"/>
                </a:solidFill>
              </a:rPr>
              <a:t>) </a:t>
            </a:r>
          </a:p>
          <a:p>
            <a:r>
              <a:rPr lang="en-US" sz="2600" dirty="0">
                <a:solidFill>
                  <a:srgbClr val="3F3F3F"/>
                </a:solidFill>
              </a:rPr>
              <a:t>- Lab: 15% (Lab classes) + 10% (Lab Exam.) </a:t>
            </a:r>
            <a:r>
              <a:rPr lang="en-US" sz="2600" b="1" dirty="0">
                <a:solidFill>
                  <a:srgbClr val="3F3F3F"/>
                </a:solidFill>
              </a:rPr>
              <a:t>(Total 25</a:t>
            </a:r>
            <a:r>
              <a:rPr lang="en-US" sz="2600" b="1" dirty="0">
                <a:solidFill>
                  <a:srgbClr val="3F3F3F"/>
                </a:solidFill>
              </a:rPr>
              <a:t>%)</a:t>
            </a:r>
          </a:p>
          <a:p>
            <a:r>
              <a:rPr lang="en-US" sz="2600" dirty="0">
                <a:solidFill>
                  <a:srgbClr val="3F3F3F"/>
                </a:solidFill>
              </a:rPr>
              <a:t>- </a:t>
            </a:r>
            <a:r>
              <a:rPr lang="en-US" sz="2600" b="1" dirty="0">
                <a:solidFill>
                  <a:srgbClr val="3F3F3F"/>
                </a:solidFill>
              </a:rPr>
              <a:t>End-semester examination: 35%</a:t>
            </a:r>
          </a:p>
          <a:p>
            <a:r>
              <a:rPr lang="en-US" sz="2600" dirty="0">
                <a:solidFill>
                  <a:srgbClr val="3F3F3F"/>
                </a:solidFill>
              </a:rPr>
              <a:t>- Minimum passing marks (Abs. scale): 40%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27" y="3088223"/>
            <a:ext cx="385317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Syllabus for </a:t>
            </a:r>
            <a:r>
              <a:rPr lang="en-US" sz="3600" b="1" dirty="0">
                <a:solidFill>
                  <a:srgbClr val="C00000"/>
                </a:solidFill>
              </a:rPr>
              <a:t>exams: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0944" y="3810000"/>
            <a:ext cx="870065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 u="sng" dirty="0">
                <a:solidFill>
                  <a:srgbClr val="3F3F3F"/>
                </a:solidFill>
              </a:rPr>
              <a:t>For mid sems</a:t>
            </a:r>
            <a:r>
              <a:rPr lang="en-US" sz="2200" dirty="0">
                <a:solidFill>
                  <a:srgbClr val="3F3F3F"/>
                </a:solidFill>
              </a:rPr>
              <a:t>.: Topics covered </a:t>
            </a:r>
            <a:r>
              <a:rPr lang="en-US" sz="2200" b="1" i="1" u="sng" dirty="0">
                <a:solidFill>
                  <a:srgbClr val="3F3F3F"/>
                </a:solidFill>
              </a:rPr>
              <a:t>upto </a:t>
            </a:r>
            <a:r>
              <a:rPr lang="en-US" sz="2200" b="1" u="sng" dirty="0">
                <a:solidFill>
                  <a:srgbClr val="3F3F3F"/>
                </a:solidFill>
              </a:rPr>
              <a:t>one </a:t>
            </a:r>
            <a:r>
              <a:rPr lang="en-US" sz="2200" b="1" u="sng" dirty="0">
                <a:solidFill>
                  <a:srgbClr val="3F3F3F"/>
                </a:solidFill>
              </a:rPr>
              <a:t>week before</a:t>
            </a:r>
            <a:r>
              <a:rPr lang="en-US" sz="2200" dirty="0">
                <a:solidFill>
                  <a:srgbClr val="3F3F3F"/>
                </a:solidFill>
              </a:rPr>
              <a:t> </a:t>
            </a:r>
            <a:r>
              <a:rPr lang="en-US" sz="2200" dirty="0">
                <a:solidFill>
                  <a:srgbClr val="3F3F3F"/>
                </a:solidFill>
              </a:rPr>
              <a:t>the scheduled </a:t>
            </a:r>
            <a:r>
              <a:rPr lang="en-US" sz="2200" dirty="0">
                <a:solidFill>
                  <a:srgbClr val="3F3F3F"/>
                </a:solidFill>
              </a:rPr>
              <a:t>examinations.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87500" y="4716959"/>
            <a:ext cx="80010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 u="sng" dirty="0">
                <a:solidFill>
                  <a:srgbClr val="3F3F3F"/>
                </a:solidFill>
              </a:rPr>
              <a:t>End sem (Final)</a:t>
            </a:r>
            <a:r>
              <a:rPr lang="en-US" sz="2200" dirty="0">
                <a:solidFill>
                  <a:srgbClr val="3F3F3F"/>
                </a:solidFill>
              </a:rPr>
              <a:t>: </a:t>
            </a:r>
            <a:r>
              <a:rPr lang="en-US" sz="2200" i="1" u="sng" dirty="0">
                <a:solidFill>
                  <a:srgbClr val="3F3F3F"/>
                </a:solidFill>
              </a:rPr>
              <a:t>Remaining topics</a:t>
            </a:r>
            <a:r>
              <a:rPr lang="en-US" sz="2200" u="sng" dirty="0">
                <a:solidFill>
                  <a:srgbClr val="3F3F3F"/>
                </a:solidFill>
              </a:rPr>
              <a:t> </a:t>
            </a:r>
            <a:r>
              <a:rPr lang="en-US" sz="2200" dirty="0">
                <a:solidFill>
                  <a:srgbClr val="3F3F3F"/>
                </a:solidFill>
              </a:rPr>
              <a:t>(60-70% questions can be expected)+ </a:t>
            </a:r>
            <a:r>
              <a:rPr lang="en-US" sz="2200" i="1" u="sng" dirty="0">
                <a:solidFill>
                  <a:srgbClr val="3F3F3F"/>
                </a:solidFill>
              </a:rPr>
              <a:t>Mid-sem syllabus (30-40%)</a:t>
            </a:r>
            <a:endParaRPr lang="en-US" sz="2200" i="1" u="sng" dirty="0">
              <a:solidFill>
                <a:srgbClr val="3F3F3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0572" y="5597604"/>
            <a:ext cx="886342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 u="sng" dirty="0">
                <a:solidFill>
                  <a:srgbClr val="3F3F3F"/>
                </a:solidFill>
              </a:rPr>
              <a:t>All quizzes </a:t>
            </a:r>
            <a:r>
              <a:rPr lang="en-US" sz="2200" dirty="0">
                <a:solidFill>
                  <a:srgbClr val="3F3F3F"/>
                </a:solidFill>
              </a:rPr>
              <a:t>(30 </a:t>
            </a:r>
            <a:r>
              <a:rPr lang="en-US" sz="2200" dirty="0">
                <a:solidFill>
                  <a:srgbClr val="3F3F3F"/>
                </a:solidFill>
              </a:rPr>
              <a:t>minutes </a:t>
            </a:r>
            <a:r>
              <a:rPr lang="en-US" sz="2200" dirty="0">
                <a:solidFill>
                  <a:srgbClr val="3F3F3F"/>
                </a:solidFill>
              </a:rPr>
              <a:t>quiz): One/two questions based </a:t>
            </a:r>
            <a:r>
              <a:rPr lang="en-US" sz="2200" dirty="0">
                <a:solidFill>
                  <a:srgbClr val="3F3F3F"/>
                </a:solidFill>
              </a:rPr>
              <a:t>on </a:t>
            </a:r>
            <a:r>
              <a:rPr lang="en-US" sz="2200" b="1" i="1" dirty="0">
                <a:solidFill>
                  <a:srgbClr val="3F3F3F"/>
                </a:solidFill>
              </a:rPr>
              <a:t>selected topics/chapters </a:t>
            </a:r>
            <a:r>
              <a:rPr lang="en-US" sz="2200" dirty="0">
                <a:solidFill>
                  <a:srgbClr val="3F3F3F"/>
                </a:solidFill>
              </a:rPr>
              <a:t>would </a:t>
            </a:r>
            <a:r>
              <a:rPr lang="en-US" sz="2200" dirty="0">
                <a:solidFill>
                  <a:srgbClr val="3F3F3F"/>
                </a:solidFill>
              </a:rPr>
              <a:t>be asked</a:t>
            </a:r>
            <a:r>
              <a:rPr lang="en-US" sz="2200" dirty="0">
                <a:solidFill>
                  <a:srgbClr val="3F3F3F"/>
                </a:solidFill>
              </a:rPr>
              <a:t>. Syllabus would be notified in advance.</a:t>
            </a:r>
            <a:endParaRPr lang="en-US" sz="2200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76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76200"/>
            <a:ext cx="6340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Schedule for exams and </a:t>
            </a:r>
            <a:r>
              <a:rPr lang="en-US" sz="3600" b="1" dirty="0">
                <a:solidFill>
                  <a:srgbClr val="C00000"/>
                </a:solidFill>
              </a:rPr>
              <a:t>quizzes: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914400"/>
            <a:ext cx="80772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3F3F3F"/>
                </a:solidFill>
              </a:rPr>
              <a:t>• Quiz 1: </a:t>
            </a:r>
            <a:r>
              <a:rPr lang="en-US" sz="3600" b="1" u="sng" dirty="0">
                <a:solidFill>
                  <a:srgbClr val="3F3F3F"/>
                </a:solidFill>
              </a:rPr>
              <a:t>2</a:t>
            </a:r>
            <a:r>
              <a:rPr lang="en-US" sz="3600" b="1" u="sng" baseline="30000" dirty="0">
                <a:solidFill>
                  <a:srgbClr val="3F3F3F"/>
                </a:solidFill>
              </a:rPr>
              <a:t>nd</a:t>
            </a:r>
            <a:r>
              <a:rPr lang="en-US" sz="3600" b="1" u="sng" dirty="0">
                <a:solidFill>
                  <a:srgbClr val="3F3F3F"/>
                </a:solidFill>
              </a:rPr>
              <a:t> Feb. 2018 (Friday)</a:t>
            </a:r>
          </a:p>
          <a:p>
            <a:endParaRPr lang="en-US" sz="3600" b="1" dirty="0">
              <a:solidFill>
                <a:srgbClr val="3F3F3F"/>
              </a:solidFill>
            </a:endParaRPr>
          </a:p>
          <a:p>
            <a:r>
              <a:rPr lang="pt-BR" sz="3600" b="1" dirty="0">
                <a:solidFill>
                  <a:srgbClr val="3F3F3F"/>
                </a:solidFill>
              </a:rPr>
              <a:t>• Mid-sem exam</a:t>
            </a:r>
            <a:r>
              <a:rPr lang="pt-BR" sz="3600" b="1" dirty="0">
                <a:solidFill>
                  <a:srgbClr val="3F3F3F"/>
                </a:solidFill>
              </a:rPr>
              <a:t>: </a:t>
            </a:r>
            <a:r>
              <a:rPr lang="pt-BR" sz="3600" b="1" u="sng" dirty="0">
                <a:solidFill>
                  <a:srgbClr val="3F3F3F"/>
                </a:solidFill>
              </a:rPr>
              <a:t>5th-8th Mar </a:t>
            </a:r>
            <a:r>
              <a:rPr lang="pt-BR" sz="3600" b="1" dirty="0">
                <a:solidFill>
                  <a:srgbClr val="3F3F3F"/>
                </a:solidFill>
              </a:rPr>
              <a:t>(specific date to be announced from Dean Office)</a:t>
            </a:r>
          </a:p>
          <a:p>
            <a:endParaRPr lang="pt-BR" sz="3600" b="1" dirty="0">
              <a:solidFill>
                <a:srgbClr val="3F3F3F"/>
              </a:solidFill>
            </a:endParaRPr>
          </a:p>
          <a:p>
            <a:r>
              <a:rPr lang="en-US" sz="3600" b="1" dirty="0">
                <a:solidFill>
                  <a:srgbClr val="3F3F3F"/>
                </a:solidFill>
              </a:rPr>
              <a:t>• Quiz </a:t>
            </a:r>
            <a:r>
              <a:rPr lang="en-US" sz="3600" b="1" dirty="0">
                <a:solidFill>
                  <a:srgbClr val="3F3F3F"/>
                </a:solidFill>
              </a:rPr>
              <a:t>2: </a:t>
            </a:r>
            <a:r>
              <a:rPr lang="en-US" sz="3600" b="1" u="sng" dirty="0">
                <a:solidFill>
                  <a:srgbClr val="3F3F3F"/>
                </a:solidFill>
              </a:rPr>
              <a:t>5</a:t>
            </a:r>
            <a:r>
              <a:rPr lang="en-US" sz="3600" b="1" u="sng" dirty="0">
                <a:solidFill>
                  <a:srgbClr val="3F3F3F"/>
                </a:solidFill>
              </a:rPr>
              <a:t>th Apr 2018 </a:t>
            </a:r>
            <a:r>
              <a:rPr lang="en-US" sz="3600" b="1" dirty="0">
                <a:solidFill>
                  <a:srgbClr val="3F3F3F"/>
                </a:solidFill>
              </a:rPr>
              <a:t>(Thu)</a:t>
            </a:r>
          </a:p>
          <a:p>
            <a:endParaRPr lang="en-US" sz="3600" b="1" dirty="0">
              <a:solidFill>
                <a:srgbClr val="3F3F3F"/>
              </a:solidFill>
            </a:endParaRPr>
          </a:p>
          <a:p>
            <a:r>
              <a:rPr lang="en-US" sz="3600" b="1" dirty="0">
                <a:solidFill>
                  <a:srgbClr val="3F3F3F"/>
                </a:solidFill>
              </a:rPr>
              <a:t>• Lab. exam: </a:t>
            </a:r>
            <a:r>
              <a:rPr lang="en-US" sz="3600" b="1" u="sng" dirty="0">
                <a:solidFill>
                  <a:srgbClr val="3F3F3F"/>
                </a:solidFill>
              </a:rPr>
              <a:t>9</a:t>
            </a:r>
            <a:r>
              <a:rPr lang="en-US" sz="3600" b="1" u="sng" baseline="30000" dirty="0">
                <a:solidFill>
                  <a:srgbClr val="3F3F3F"/>
                </a:solidFill>
              </a:rPr>
              <a:t>th</a:t>
            </a:r>
            <a:r>
              <a:rPr lang="en-US" sz="3600" b="1" u="sng" dirty="0">
                <a:solidFill>
                  <a:srgbClr val="3F3F3F"/>
                </a:solidFill>
              </a:rPr>
              <a:t> – 21</a:t>
            </a:r>
            <a:r>
              <a:rPr lang="en-US" sz="3600" b="1" u="sng" baseline="30000" dirty="0">
                <a:solidFill>
                  <a:srgbClr val="3F3F3F"/>
                </a:solidFill>
              </a:rPr>
              <a:t>st</a:t>
            </a:r>
            <a:r>
              <a:rPr lang="en-US" sz="3600" b="1" u="sng" dirty="0">
                <a:solidFill>
                  <a:srgbClr val="3F3F3F"/>
                </a:solidFill>
              </a:rPr>
              <a:t> April 2018</a:t>
            </a:r>
          </a:p>
          <a:p>
            <a:endParaRPr lang="en-US" sz="3600" b="1" u="sng" dirty="0">
              <a:solidFill>
                <a:srgbClr val="C00000"/>
              </a:solidFill>
            </a:endParaRPr>
          </a:p>
          <a:p>
            <a:r>
              <a:rPr lang="en-US" sz="3600" b="1" dirty="0">
                <a:solidFill>
                  <a:srgbClr val="3F3F3F"/>
                </a:solidFill>
              </a:rPr>
              <a:t>• End sem exam: </a:t>
            </a:r>
            <a:r>
              <a:rPr lang="en-US" sz="3600" b="1" u="sng" dirty="0">
                <a:solidFill>
                  <a:srgbClr val="3F3F3F"/>
                </a:solidFill>
              </a:rPr>
              <a:t>3</a:t>
            </a:r>
            <a:r>
              <a:rPr lang="en-US" sz="3600" b="1" u="sng" baseline="30000" dirty="0">
                <a:solidFill>
                  <a:srgbClr val="3F3F3F"/>
                </a:solidFill>
              </a:rPr>
              <a:t>rd</a:t>
            </a:r>
            <a:r>
              <a:rPr lang="en-US" sz="3600" b="1" u="sng" dirty="0">
                <a:solidFill>
                  <a:srgbClr val="3F3F3F"/>
                </a:solidFill>
              </a:rPr>
              <a:t> May – 12</a:t>
            </a:r>
            <a:r>
              <a:rPr lang="en-US" sz="3600" b="1" u="sng" baseline="30000" dirty="0">
                <a:solidFill>
                  <a:srgbClr val="3F3F3F"/>
                </a:solidFill>
              </a:rPr>
              <a:t>th</a:t>
            </a:r>
            <a:r>
              <a:rPr lang="en-US" sz="3600" b="1" u="sng" dirty="0">
                <a:solidFill>
                  <a:srgbClr val="3F3F3F"/>
                </a:solidFill>
              </a:rPr>
              <a:t> May</a:t>
            </a:r>
            <a:endParaRPr lang="en-US" sz="3600" b="1" u="sng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13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2764" y="152400"/>
            <a:ext cx="403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rgbClr val="FF0000"/>
                </a:solidFill>
              </a:rPr>
              <a:t>What are vectors?</a:t>
            </a:r>
            <a:endParaRPr lang="en-US" sz="4000" b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0" y="914400"/>
                <a:ext cx="9144000" cy="1046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prstClr val="black"/>
                    </a:solidFill>
                  </a:rPr>
                  <a:t>In physics, any </a:t>
                </a:r>
                <a:r>
                  <a:rPr lang="en-US" sz="2800" b="1" i="1" dirty="0">
                    <a:solidFill>
                      <a:prstClr val="black"/>
                    </a:solidFill>
                  </a:rPr>
                  <a:t>measurable</a:t>
                </a:r>
                <a:r>
                  <a:rPr lang="en-US" sz="2800" dirty="0">
                    <a:solidFill>
                      <a:prstClr val="black"/>
                    </a:solidFill>
                  </a:rPr>
                  <a:t> physical quantity having a definite </a:t>
                </a:r>
                <a:r>
                  <a:rPr lang="en-US" sz="2800" b="1" i="1" dirty="0">
                    <a:solidFill>
                      <a:prstClr val="black"/>
                    </a:solidFill>
                  </a:rPr>
                  <a:t>direction</a:t>
                </a:r>
                <a:r>
                  <a:rPr lang="en-US" sz="2800" dirty="0">
                    <a:solidFill>
                      <a:prstClr val="black"/>
                    </a:solidFill>
                  </a:rPr>
                  <a:t> is called a vector – represented by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𝑽</m:t>
                        </m:r>
                      </m:e>
                    </m:acc>
                  </m:oMath>
                </a14:m>
                <a:endParaRPr lang="en-US" sz="28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14400"/>
                <a:ext cx="9144000" cy="1046377"/>
              </a:xfrm>
              <a:prstGeom prst="rect">
                <a:avLst/>
              </a:prstGeom>
              <a:blipFill rotWithShape="1">
                <a:blip r:embed="rId2"/>
                <a:stretch>
                  <a:fillRect l="-1333" t="-5233" r="-1267" b="-12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2514600"/>
                <a:ext cx="9144000" cy="1058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prstClr val="black"/>
                    </a:solidFill>
                  </a:rPr>
                  <a:t>Examples: Displacement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), Force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), Momentum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𝒑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), Electric field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𝑬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), Magnetic field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𝑩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),………. </a:t>
                </a:r>
                <a:endParaRPr 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14600"/>
                <a:ext cx="9144000" cy="1058623"/>
              </a:xfrm>
              <a:prstGeom prst="rect">
                <a:avLst/>
              </a:prstGeom>
              <a:blipFill rotWithShape="1">
                <a:blip r:embed="rId3"/>
                <a:stretch>
                  <a:fillRect l="-1333" r="-1333" b="-15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0" y="3733800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Many algebraic operations can be performed on vectors such as addition, subtraction, multiplication just like mathematical numbers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218093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prstClr val="black"/>
                </a:solidFill>
              </a:rPr>
              <a:t>In physics, there are two interesting operations involving vectors. They are </a:t>
            </a:r>
            <a:r>
              <a:rPr lang="en-US" sz="2800" b="1" dirty="0">
                <a:solidFill>
                  <a:prstClr val="black"/>
                </a:solidFill>
              </a:rPr>
              <a:t>Dot Product </a:t>
            </a:r>
            <a:r>
              <a:rPr lang="en-US" sz="2800" dirty="0">
                <a:solidFill>
                  <a:prstClr val="black"/>
                </a:solidFill>
              </a:rPr>
              <a:t>and </a:t>
            </a:r>
            <a:r>
              <a:rPr lang="en-US" sz="2800" b="1" dirty="0">
                <a:solidFill>
                  <a:prstClr val="black"/>
                </a:solidFill>
              </a:rPr>
              <a:t>Cross Product (already completed in PHY101)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7000" y="1828800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prstClr val="black"/>
                </a:solidFill>
              </a:rPr>
              <a:t>(crude definition)</a:t>
            </a:r>
            <a:endParaRPr lang="en-US" sz="28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75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457200"/>
            <a:ext cx="708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rgbClr val="FF0000"/>
                </a:solidFill>
              </a:rPr>
              <a:t>A physicist’s definition of vector</a:t>
            </a:r>
            <a:endParaRPr lang="en-US" sz="4000" b="1" u="sng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1600200"/>
            <a:ext cx="8610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>
                <a:solidFill>
                  <a:prstClr val="black"/>
                </a:solidFill>
              </a:rPr>
              <a:t>Any set of </a:t>
            </a:r>
            <a:r>
              <a:rPr lang="en-US" sz="3200" i="1" u="sng" dirty="0">
                <a:solidFill>
                  <a:prstClr val="black"/>
                </a:solidFill>
              </a:rPr>
              <a:t>three components</a:t>
            </a:r>
            <a:r>
              <a:rPr lang="en-US" sz="3200" dirty="0">
                <a:solidFill>
                  <a:prstClr val="black"/>
                </a:solidFill>
              </a:rPr>
              <a:t> which combines </a:t>
            </a:r>
            <a:r>
              <a:rPr lang="en-US" sz="3200" i="1" dirty="0">
                <a:solidFill>
                  <a:prstClr val="black"/>
                </a:solidFill>
              </a:rPr>
              <a:t>properly</a:t>
            </a:r>
            <a:r>
              <a:rPr lang="en-US" sz="3200" dirty="0">
                <a:solidFill>
                  <a:prstClr val="black"/>
                </a:solidFill>
              </a:rPr>
              <a:t> on </a:t>
            </a:r>
            <a:r>
              <a:rPr lang="en-US" sz="3200" i="1" dirty="0">
                <a:solidFill>
                  <a:prstClr val="black"/>
                </a:solidFill>
              </a:rPr>
              <a:t>addition</a:t>
            </a:r>
            <a:r>
              <a:rPr lang="en-US" sz="3200" dirty="0">
                <a:solidFill>
                  <a:prstClr val="black"/>
                </a:solidFill>
              </a:rPr>
              <a:t> and transforms according to a </a:t>
            </a:r>
            <a:r>
              <a:rPr lang="en-US" sz="3200" i="1" u="sng" dirty="0">
                <a:solidFill>
                  <a:prstClr val="black"/>
                </a:solidFill>
              </a:rPr>
              <a:t>specific transformation law</a:t>
            </a:r>
            <a:r>
              <a:rPr lang="en-US" sz="3200" dirty="0">
                <a:solidFill>
                  <a:prstClr val="black"/>
                </a:solidFill>
              </a:rPr>
              <a:t> from one </a:t>
            </a:r>
            <a:r>
              <a:rPr lang="en-US" sz="3200" i="1" u="sng" dirty="0">
                <a:solidFill>
                  <a:prstClr val="black"/>
                </a:solidFill>
              </a:rPr>
              <a:t>frame of reference</a:t>
            </a:r>
            <a:r>
              <a:rPr lang="en-US" sz="3200" dirty="0">
                <a:solidFill>
                  <a:prstClr val="black"/>
                </a:solidFill>
              </a:rPr>
              <a:t> (coordinate axes) to another</a:t>
            </a:r>
            <a:endParaRPr lang="en-US" sz="3200" dirty="0">
              <a:solidFill>
                <a:prstClr val="black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153" y="3814703"/>
            <a:ext cx="3135448" cy="290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296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4880" y="76200"/>
            <a:ext cx="6016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rgbClr val="FF0000"/>
                </a:solidFill>
              </a:rPr>
              <a:t>Cross product of two vectors</a:t>
            </a:r>
            <a:endParaRPr lang="en-US" sz="3600" b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638990" y="1701225"/>
                <a:ext cx="344761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>
                          <a:solidFill>
                            <a:prstClr val="black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3200" b="1" i="1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3200" b="1" i="1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𝑩</m:t>
                      </m:r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𝐴𝐵𝑠𝑖𝑛</m:t>
                      </m:r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𝜃</m:t>
                      </m:r>
                      <m:acc>
                        <m:accPr>
                          <m:chr m:val="̂"/>
                          <m:ctrlPr>
                            <a:rPr lang="en-US" sz="3200" b="1" i="1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sz="3200" b="1" i="1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acc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990" y="1701225"/>
                <a:ext cx="3447610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28600" y="990599"/>
            <a:ext cx="861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>
                <a:solidFill>
                  <a:prstClr val="black"/>
                </a:solidFill>
              </a:rPr>
              <a:t>The cross product of two vectors is defined by</a:t>
            </a:r>
            <a:endParaRPr lang="en-US" sz="32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00" y="2580382"/>
                <a:ext cx="84582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3200" b="1" dirty="0">
                    <a:solidFill>
                      <a:prstClr val="black"/>
                    </a:solidFill>
                    <a:ea typeface="Cambria Math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</m:ctrlPr>
                      </m:accPr>
                      <m:e>
                        <m:r>
                          <a:rPr lang="en-US" sz="32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𝒏</m:t>
                        </m:r>
                      </m:e>
                    </m:acc>
                  </m:oMath>
                </a14:m>
                <a:r>
                  <a:rPr lang="en-US" sz="3200" b="1" dirty="0">
                    <a:solidFill>
                      <a:prstClr val="black"/>
                    </a:solidFill>
                  </a:rPr>
                  <a:t> </a:t>
                </a:r>
                <a:r>
                  <a:rPr lang="en-US" sz="3200" dirty="0">
                    <a:solidFill>
                      <a:prstClr val="black"/>
                    </a:solidFill>
                  </a:rPr>
                  <a:t>is a unit vector pointing in the direction </a:t>
                </a:r>
                <a:r>
                  <a:rPr lang="en-US" sz="3200" i="1" u="sng" dirty="0">
                    <a:solidFill>
                      <a:prstClr val="black"/>
                    </a:solidFill>
                  </a:rPr>
                  <a:t>perpendicular to the plane of </a:t>
                </a:r>
                <a:r>
                  <a:rPr lang="en-US" sz="3200" b="1" i="1" u="sng" dirty="0">
                    <a:solidFill>
                      <a:prstClr val="black"/>
                    </a:solidFill>
                  </a:rPr>
                  <a:t>A</a:t>
                </a:r>
                <a:r>
                  <a:rPr lang="en-US" sz="3200" i="1" u="sng" dirty="0">
                    <a:solidFill>
                      <a:prstClr val="black"/>
                    </a:solidFill>
                  </a:rPr>
                  <a:t> and </a:t>
                </a:r>
                <a:r>
                  <a:rPr lang="en-US" sz="3200" b="1" i="1" u="sng" dirty="0">
                    <a:solidFill>
                      <a:prstClr val="black"/>
                    </a:solidFill>
                  </a:rPr>
                  <a:t>B</a:t>
                </a:r>
                <a:r>
                  <a:rPr lang="en-US" sz="3200" b="1" dirty="0">
                    <a:solidFill>
                      <a:prstClr val="black"/>
                    </a:solidFill>
                  </a:rPr>
                  <a:t>)</a:t>
                </a:r>
                <a:endParaRPr lang="en-US" sz="32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580382"/>
                <a:ext cx="8458200" cy="1077218"/>
              </a:xfrm>
              <a:prstGeom prst="rect">
                <a:avLst/>
              </a:prstGeom>
              <a:blipFill rotWithShape="1">
                <a:blip r:embed="rId3"/>
                <a:stretch>
                  <a:fillRect l="-1875" t="-6780" r="-1802" b="-17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25582" y="4221540"/>
            <a:ext cx="8305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u="sng" dirty="0">
                <a:solidFill>
                  <a:prstClr val="black"/>
                </a:solidFill>
              </a:rPr>
              <a:t>Ambiguity</a:t>
            </a:r>
            <a:r>
              <a:rPr lang="en-US" sz="3200" dirty="0">
                <a:solidFill>
                  <a:prstClr val="black"/>
                </a:solidFill>
              </a:rPr>
              <a:t>: There are </a:t>
            </a:r>
            <a:r>
              <a:rPr lang="en-US" sz="3200" i="1" u="sng" dirty="0">
                <a:solidFill>
                  <a:prstClr val="black"/>
                </a:solidFill>
              </a:rPr>
              <a:t>two directions perpendicular to any given plane</a:t>
            </a:r>
            <a:r>
              <a:rPr lang="en-US" sz="3200" dirty="0">
                <a:solidFill>
                  <a:prstClr val="black"/>
                </a:solidFill>
              </a:rPr>
              <a:t> – either pointing ‘in’ the plane or pointing ‘out’ of plane</a:t>
            </a:r>
            <a:endParaRPr 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08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14400"/>
            <a:ext cx="9144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u="sng" dirty="0">
                <a:solidFill>
                  <a:prstClr val="black"/>
                </a:solidFill>
              </a:rPr>
              <a:t>Right hand rule</a:t>
            </a:r>
            <a:r>
              <a:rPr lang="en-US" sz="2800" dirty="0">
                <a:solidFill>
                  <a:prstClr val="black"/>
                </a:solidFill>
              </a:rPr>
              <a:t>: Imagine you are rotating a screw in a direction from the first vector to the second (two vectors having a </a:t>
            </a:r>
            <a:r>
              <a:rPr lang="en-US" sz="2800" b="1" u="sng" dirty="0">
                <a:solidFill>
                  <a:prstClr val="black"/>
                </a:solidFill>
              </a:rPr>
              <a:t>common origin</a:t>
            </a:r>
            <a:r>
              <a:rPr lang="en-US" sz="2800" dirty="0">
                <a:solidFill>
                  <a:prstClr val="black"/>
                </a:solidFill>
              </a:rPr>
              <a:t>) via the </a:t>
            </a:r>
            <a:r>
              <a:rPr lang="en-US" sz="2800" b="1" i="1" u="sng" dirty="0">
                <a:solidFill>
                  <a:prstClr val="black"/>
                </a:solidFill>
              </a:rPr>
              <a:t>smaller angle</a:t>
            </a:r>
            <a:r>
              <a:rPr lang="en-US" sz="2800" dirty="0">
                <a:solidFill>
                  <a:prstClr val="black"/>
                </a:solidFill>
              </a:rPr>
              <a:t>- direction of the screw would give you the direction of the cross product.</a:t>
            </a:r>
            <a:endParaRPr lang="en-US" sz="2800" dirty="0">
              <a:solidFill>
                <a:prstClr val="black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8880" y="3200400"/>
            <a:ext cx="3217720" cy="1878651"/>
            <a:chOff x="460880" y="5029200"/>
            <a:chExt cx="1919288" cy="1133788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880" y="5029200"/>
              <a:ext cx="1919288" cy="11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" name="Straight Arrow Connector 4"/>
            <p:cNvCxnSpPr/>
            <p:nvPr/>
          </p:nvCxnSpPr>
          <p:spPr>
            <a:xfrm>
              <a:off x="671945" y="6017718"/>
              <a:ext cx="1143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05200" y="3530567"/>
                <a:ext cx="5029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prstClr val="black"/>
                    </a:solidFill>
                  </a:rPr>
                  <a:t>What is the direction of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prstClr val="black"/>
                        </a:solidFill>
                        <a:latin typeface="Cambria Math"/>
                      </a:rPr>
                      <m:t>𝑨</m:t>
                    </m:r>
                    <m:r>
                      <a:rPr lang="en-US" sz="2800" b="1" i="1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800" b="1" i="1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𝑩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?</a:t>
                </a:r>
                <a:endParaRPr 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530567"/>
                <a:ext cx="5029200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2424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505200" y="4267200"/>
                <a:ext cx="5029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prstClr val="black"/>
                    </a:solidFill>
                  </a:rPr>
                  <a:t>What is the direction of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𝑩</m:t>
                    </m:r>
                    <m:r>
                      <a:rPr lang="en-US" sz="2800" b="1" i="1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800" b="1" i="1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𝑨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?</a:t>
                </a:r>
                <a:endParaRPr 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4267200"/>
                <a:ext cx="5029200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2424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5486400"/>
                <a:ext cx="91440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prstClr val="black"/>
                    </a:solidFill>
                  </a:rPr>
                  <a:t>Geometrically,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𝑨</m:t>
                        </m:r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𝑩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represents the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area of the parallelogram </a:t>
                </a:r>
                <a:r>
                  <a:rPr lang="en-US" sz="2800" dirty="0">
                    <a:solidFill>
                      <a:prstClr val="black"/>
                    </a:solidFill>
                  </a:rPr>
                  <a:t>generated by </a:t>
                </a:r>
                <a:r>
                  <a:rPr lang="en-US" sz="2800" b="1" i="1" dirty="0">
                    <a:solidFill>
                      <a:prstClr val="black"/>
                    </a:solidFill>
                  </a:rPr>
                  <a:t>A</a:t>
                </a:r>
                <a:r>
                  <a:rPr lang="en-US" sz="2800" dirty="0">
                    <a:solidFill>
                      <a:prstClr val="black"/>
                    </a:solidFill>
                  </a:rPr>
                  <a:t> and </a:t>
                </a:r>
                <a:r>
                  <a:rPr lang="en-US" sz="2800" b="1" i="1" dirty="0">
                    <a:solidFill>
                      <a:prstClr val="black"/>
                    </a:solidFill>
                  </a:rPr>
                  <a:t>B</a:t>
                </a:r>
                <a:endParaRPr lang="en-US" sz="2800" b="1" i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486400"/>
                <a:ext cx="9144000" cy="954107"/>
              </a:xfrm>
              <a:prstGeom prst="rect">
                <a:avLst/>
              </a:prstGeom>
              <a:blipFill rotWithShape="1">
                <a:blip r:embed="rId5"/>
                <a:stretch>
                  <a:fillRect l="-1333" t="-5732" r="-1333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984880" y="76200"/>
            <a:ext cx="5635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rgbClr val="FF0000"/>
                </a:solidFill>
              </a:rPr>
              <a:t>Cross product of two vectors</a:t>
            </a:r>
            <a:endParaRPr lang="en-US" sz="36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63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79799" y="76200"/>
            <a:ext cx="53384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>
                <a:solidFill>
                  <a:srgbClr val="FF0000"/>
                </a:solidFill>
              </a:rPr>
              <a:t>Dot product of two vectors</a:t>
            </a:r>
            <a:endParaRPr lang="en-US" sz="3600" b="1" u="sng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990600"/>
            <a:ext cx="868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The dot product of two vectors is given by </a:t>
            </a:r>
            <a:endParaRPr lang="en-US" sz="28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676400" y="1676400"/>
                <a:ext cx="267502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prstClr val="black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800" b="1" i="1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sz="2800" b="1" i="1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𝑩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𝐴𝐵𝑐𝑜𝑠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𝜃</m:t>
                      </m:r>
                    </m:oMath>
                  </m:oMathPara>
                </a14:m>
                <a:endParaRPr lang="en-US" sz="28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1676400"/>
                <a:ext cx="267502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977" y="990600"/>
            <a:ext cx="2342023" cy="1905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2322493"/>
            <a:ext cx="71627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Dot product is a scalar quantity (hence it is also called a scalar product)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429000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Geometrically, </a:t>
            </a:r>
            <a:r>
              <a:rPr lang="en-US" sz="2800" b="1" dirty="0">
                <a:solidFill>
                  <a:prstClr val="black"/>
                </a:solidFill>
              </a:rPr>
              <a:t>A.B</a:t>
            </a:r>
            <a:r>
              <a:rPr lang="en-US" sz="2800" dirty="0">
                <a:solidFill>
                  <a:prstClr val="black"/>
                </a:solidFill>
              </a:rPr>
              <a:t> is the product of </a:t>
            </a:r>
            <a:r>
              <a:rPr lang="en-US" sz="2800" i="1" dirty="0">
                <a:solidFill>
                  <a:prstClr val="black"/>
                </a:solidFill>
              </a:rPr>
              <a:t>A</a:t>
            </a:r>
            <a:r>
              <a:rPr lang="en-US" sz="2800" dirty="0">
                <a:solidFill>
                  <a:prstClr val="black"/>
                </a:solidFill>
              </a:rPr>
              <a:t> times the projection of </a:t>
            </a:r>
            <a:r>
              <a:rPr lang="en-US" sz="2800" b="1" dirty="0">
                <a:solidFill>
                  <a:prstClr val="black"/>
                </a:solidFill>
              </a:rPr>
              <a:t>B</a:t>
            </a:r>
            <a:r>
              <a:rPr lang="en-US" sz="2800" dirty="0">
                <a:solidFill>
                  <a:prstClr val="black"/>
                </a:solidFill>
              </a:rPr>
              <a:t> along </a:t>
            </a:r>
            <a:r>
              <a:rPr lang="en-US" sz="2800" b="1" dirty="0">
                <a:solidFill>
                  <a:prstClr val="black"/>
                </a:solidFill>
              </a:rPr>
              <a:t>A</a:t>
            </a:r>
            <a:r>
              <a:rPr lang="en-US" sz="2800" dirty="0">
                <a:solidFill>
                  <a:prstClr val="black"/>
                </a:solidFill>
              </a:rPr>
              <a:t> (or the product of </a:t>
            </a:r>
            <a:r>
              <a:rPr lang="en-US" sz="2800" i="1" dirty="0">
                <a:solidFill>
                  <a:prstClr val="black"/>
                </a:solidFill>
              </a:rPr>
              <a:t>B</a:t>
            </a:r>
            <a:r>
              <a:rPr lang="en-US" sz="2800" dirty="0">
                <a:solidFill>
                  <a:prstClr val="black"/>
                </a:solidFill>
              </a:rPr>
              <a:t> times the projection of </a:t>
            </a:r>
            <a:r>
              <a:rPr lang="en-US" sz="2800" b="1" dirty="0">
                <a:solidFill>
                  <a:prstClr val="black"/>
                </a:solidFill>
              </a:rPr>
              <a:t>A</a:t>
            </a:r>
            <a:r>
              <a:rPr lang="en-US" sz="2800" dirty="0">
                <a:solidFill>
                  <a:prstClr val="black"/>
                </a:solidFill>
              </a:rPr>
              <a:t> along </a:t>
            </a:r>
            <a:r>
              <a:rPr lang="en-US" sz="2800" b="1" dirty="0">
                <a:solidFill>
                  <a:prstClr val="black"/>
                </a:solidFill>
              </a:rPr>
              <a:t>B</a:t>
            </a:r>
            <a:r>
              <a:rPr lang="en-US" sz="2800" dirty="0">
                <a:solidFill>
                  <a:prstClr val="black"/>
                </a:solidFill>
              </a:rPr>
              <a:t>)</a:t>
            </a:r>
            <a:endParaRPr lang="en-US" sz="2800" dirty="0">
              <a:solidFill>
                <a:prstClr val="black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52400" y="4977825"/>
            <a:ext cx="8458200" cy="1359605"/>
            <a:chOff x="228600" y="4977825"/>
            <a:chExt cx="8458200" cy="1359605"/>
          </a:xfrm>
        </p:grpSpPr>
        <p:sp>
          <p:nvSpPr>
            <p:cNvPr id="7" name="TextBox 6"/>
            <p:cNvSpPr txBox="1"/>
            <p:nvPr/>
          </p:nvSpPr>
          <p:spPr>
            <a:xfrm>
              <a:off x="228600" y="4977825"/>
              <a:ext cx="8458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prstClr val="black"/>
                  </a:solidFill>
                </a:rPr>
                <a:t>If two vectors are parallel, then </a:t>
              </a:r>
              <a:endParaRPr lang="en-US" sz="3200" dirty="0">
                <a:solidFill>
                  <a:prstClr val="black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6255131" y="5039380"/>
                  <a:ext cx="195117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𝑨</m:t>
                        </m:r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𝑩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=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𝐴𝐵</m:t>
                        </m:r>
                      </m:oMath>
                    </m:oMathPara>
                  </a14:m>
                  <a:endParaRPr lang="en-US" sz="2800" b="1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131" y="5039380"/>
                  <a:ext cx="1951175" cy="52322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/>
            <p:cNvSpPr txBox="1"/>
            <p:nvPr/>
          </p:nvSpPr>
          <p:spPr>
            <a:xfrm>
              <a:off x="263236" y="5791199"/>
              <a:ext cx="59089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</a:rPr>
                <a:t>If two vectors are perpendicular, then </a:t>
              </a:r>
              <a:endParaRPr lang="en-US" sz="2800" dirty="0">
                <a:solidFill>
                  <a:prstClr val="black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6276226" y="5814210"/>
                  <a:ext cx="167706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𝑨</m:t>
                        </m:r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𝑩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=0</m:t>
                        </m:r>
                      </m:oMath>
                    </m:oMathPara>
                  </a14:m>
                  <a:endParaRPr lang="en-US" sz="2800" b="1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6226" y="5814210"/>
                  <a:ext cx="1677062" cy="52322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76017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099" y="1"/>
            <a:ext cx="917619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542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560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66" y="0"/>
            <a:ext cx="9154731" cy="685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438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adeshow">
  <a:themeElements>
    <a:clrScheme name="Tradeshow">
      <a:dk1>
        <a:srgbClr val="3F3F3F"/>
      </a:dk1>
      <a:lt1>
        <a:srgbClr val="FFFFFF"/>
      </a:lt1>
      <a:dk2>
        <a:srgbClr val="7DAFC3"/>
      </a:dk2>
      <a:lt2>
        <a:srgbClr val="E5E4DF"/>
      </a:lt2>
      <a:accent1>
        <a:srgbClr val="7C959A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79A4"/>
      </a:hlink>
      <a:folHlink>
        <a:srgbClr val="595959"/>
      </a:folHlink>
    </a:clrScheme>
    <a:fontScheme name="Tradeshow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宋体"/>
        <a:font script="Hant" typeface="新細明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Ｐゴシック"/>
        <a:font script="Hang" typeface="HY견명조"/>
        <a:font script="Hans" typeface="华文楷体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adeshow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300000"/>
              </a:schemeClr>
            </a:gs>
            <a:gs pos="35000">
              <a:schemeClr val="phClr">
                <a:tint val="45000"/>
                <a:satMod val="300000"/>
              </a:schemeClr>
            </a:gs>
            <a:gs pos="69000">
              <a:schemeClr val="phClr">
                <a:tint val="45000"/>
                <a:satMod val="350000"/>
              </a:schemeClr>
            </a:gs>
            <a:gs pos="100000">
              <a:schemeClr val="phClr">
                <a:tint val="60000"/>
                <a:satMod val="350000"/>
              </a:schemeClr>
            </a:gs>
          </a:gsLst>
          <a:path path="circle">
            <a:fillToRect l="50000" t="50000" r="100000" b="100000"/>
          </a:path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38475" cap="flat" cmpd="sng" algn="ctr">
          <a:solidFill>
            <a:schemeClr val="phClr"/>
          </a:solidFill>
          <a:prstDash val="solid"/>
        </a:ln>
        <a:ln w="548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4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>
              <a:rot lat="0" lon="0" rev="3600000"/>
            </a:lightRig>
          </a:scene3d>
          <a:sp3d contourW="31750" prstMaterial="flat">
            <a:bevelT w="127000" h="254000" prst="angle"/>
            <a:contourClr>
              <a:schemeClr val="phClr">
                <a:shade val="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20000">
              <a:schemeClr val="phClr">
                <a:tint val="80000"/>
                <a:lumMod val="100000"/>
              </a:schemeClr>
            </a:gs>
            <a:gs pos="100000">
              <a:schemeClr val="phClr">
                <a:tint val="100000"/>
                <a:lumMod val="80000"/>
              </a:schemeClr>
            </a:gs>
          </a:gsLst>
          <a:path path="circle">
            <a:fillToRect l="50000" t="20000" r="100000" b="100000"/>
          </a:path>
        </a:gradFill>
        <a:gradFill rotWithShape="1">
          <a:gsLst>
            <a:gs pos="0">
              <a:schemeClr val="phClr">
                <a:tint val="100000"/>
                <a:lumMod val="100000"/>
              </a:schemeClr>
            </a:gs>
            <a:gs pos="100000">
              <a:schemeClr val="phClr">
                <a:shade val="100000"/>
                <a:lumMod val="60000"/>
              </a:schemeClr>
            </a:gs>
          </a:gsLst>
          <a:path path="circle">
            <a:fillToRect l="50000" t="2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1261</Words>
  <Application>Microsoft Office PowerPoint</Application>
  <PresentationFormat>On-screen Show (4:3)</PresentationFormat>
  <Paragraphs>104</Paragraphs>
  <Slides>18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Tradeshow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Bhaskar Kaviraj</dc:creator>
  <cp:lastModifiedBy>Bhaskar Kaviraj</cp:lastModifiedBy>
  <cp:revision>1</cp:revision>
  <dcterms:created xsi:type="dcterms:W3CDTF">2018-01-11T04:46:50Z</dcterms:created>
  <dcterms:modified xsi:type="dcterms:W3CDTF">2018-01-11T04:47:37Z</dcterms:modified>
</cp:coreProperties>
</file>