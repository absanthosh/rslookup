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0"/>
  </p:notesMasterIdLst>
  <p:sldIdLst>
    <p:sldId id="257" r:id="rId3"/>
    <p:sldId id="279" r:id="rId4"/>
    <p:sldId id="258" r:id="rId5"/>
    <p:sldId id="275" r:id="rId6"/>
    <p:sldId id="276" r:id="rId7"/>
    <p:sldId id="259" r:id="rId8"/>
    <p:sldId id="277" r:id="rId9"/>
    <p:sldId id="261" r:id="rId10"/>
    <p:sldId id="262" r:id="rId11"/>
    <p:sldId id="263" r:id="rId12"/>
    <p:sldId id="264" r:id="rId13"/>
    <p:sldId id="265" r:id="rId14"/>
    <p:sldId id="280" r:id="rId15"/>
    <p:sldId id="266" r:id="rId16"/>
    <p:sldId id="281" r:id="rId17"/>
    <p:sldId id="288" r:id="rId18"/>
    <p:sldId id="286" r:id="rId19"/>
    <p:sldId id="287" r:id="rId20"/>
    <p:sldId id="289" r:id="rId21"/>
    <p:sldId id="267" r:id="rId22"/>
    <p:sldId id="268" r:id="rId23"/>
    <p:sldId id="269" r:id="rId24"/>
    <p:sldId id="270" r:id="rId25"/>
    <p:sldId id="271" r:id="rId26"/>
    <p:sldId id="272" r:id="rId27"/>
    <p:sldId id="273" r:id="rId28"/>
    <p:sldId id="27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1033AC-988D-44D4-8D45-1F2E0F0E217D}" type="datetimeFigureOut">
              <a:rPr lang="en-US" smtClean="0"/>
              <a:t>1/2/2019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348B8A-527F-4F43-A67B-4A08BF5BB27E}" type="slidenum">
              <a:rPr lang="en-US" smtClean="0"/>
              <a:t>‹#›</a:t>
            </a:fld>
            <a:endParaRPr lang="en-US"/>
          </a:p>
        </p:txBody>
      </p:sp>
    </p:spTree>
    <p:extLst>
      <p:ext uri="{BB962C8B-B14F-4D97-AF65-F5344CB8AC3E}">
        <p14:creationId xmlns:p14="http://schemas.microsoft.com/office/powerpoint/2010/main" val="591562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738E74-B9F6-447F-BA9B-58820CD4D562}"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984175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9C3ADB-8A3A-4E11-907C-8FC5DB4BFE1E}"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831794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smtClean="0"/>
                  <a:t>Components</a:t>
                </a:r>
                <a:r>
                  <a:rPr lang="en-US" baseline="0" dirty="0" smtClean="0"/>
                  <a:t> of </a:t>
                </a:r>
                <a:r>
                  <a:rPr lang="en-US" b="1" baseline="0" dirty="0" smtClean="0"/>
                  <a:t>A </a:t>
                </a:r>
                <a:r>
                  <a:rPr lang="en-US" b="0" baseline="0" dirty="0" smtClean="0"/>
                  <a:t>in (x-y-z) frame of reference changes, not in an arbitrary manner but under a specific transformation law, when you change the co-ordinate axes to </a:t>
                </a:r>
                <a14:m>
                  <m:oMath xmlns:m="http://schemas.openxmlformats.org/officeDocument/2006/math">
                    <m:acc>
                      <m:accPr>
                        <m:chr m:val="̅"/>
                        <m:ctrlPr>
                          <a:rPr lang="en-US" b="0" i="1" baseline="0" smtClean="0">
                            <a:latin typeface="Cambria Math"/>
                          </a:rPr>
                        </m:ctrlPr>
                      </m:accPr>
                      <m:e>
                        <m:r>
                          <a:rPr lang="en-US" b="0" i="1" baseline="0" smtClean="0">
                            <a:latin typeface="Cambria Math"/>
                          </a:rPr>
                          <m:t>𝑥</m:t>
                        </m:r>
                      </m:e>
                    </m:acc>
                    <m:r>
                      <a:rPr lang="en-US" b="1" i="0" baseline="0" smtClean="0">
                        <a:latin typeface="Cambria Math"/>
                      </a:rPr>
                      <m:t>,</m:t>
                    </m:r>
                    <m:acc>
                      <m:accPr>
                        <m:chr m:val="̅"/>
                        <m:ctrlPr>
                          <a:rPr lang="en-US" b="0" i="1" baseline="0" smtClean="0">
                            <a:latin typeface="Cambria Math"/>
                          </a:rPr>
                        </m:ctrlPr>
                      </m:accPr>
                      <m:e>
                        <m:r>
                          <a:rPr lang="en-US" b="0" i="1" baseline="0" smtClean="0">
                            <a:latin typeface="Cambria Math"/>
                          </a:rPr>
                          <m:t>𝑦</m:t>
                        </m:r>
                      </m:e>
                    </m:acc>
                    <m:r>
                      <a:rPr lang="en-US" b="0" i="1" baseline="0" smtClean="0">
                        <a:latin typeface="Cambria Math"/>
                      </a:rPr>
                      <m:t>,</m:t>
                    </m:r>
                    <m:acc>
                      <m:accPr>
                        <m:chr m:val="̅"/>
                        <m:ctrlPr>
                          <a:rPr lang="en-US" b="0" i="1" baseline="0" smtClean="0">
                            <a:latin typeface="Cambria Math"/>
                          </a:rPr>
                        </m:ctrlPr>
                      </m:accPr>
                      <m:e>
                        <m:r>
                          <a:rPr lang="en-US" b="0" i="1" baseline="0" smtClean="0">
                            <a:latin typeface="Cambria Math"/>
                          </a:rPr>
                          <m:t>𝑧</m:t>
                        </m:r>
                      </m:e>
                    </m:acc>
                  </m:oMath>
                </a14:m>
                <a:endParaRPr lang="en-US" b="1" dirty="0"/>
              </a:p>
            </p:txBody>
          </p:sp>
        </mc:Choice>
        <mc:Fallback xmlns="">
          <p:sp>
            <p:nvSpPr>
              <p:cNvPr id="3" name="Notes Placeholder 2"/>
              <p:cNvSpPr>
                <a:spLocks noGrp="1"/>
              </p:cNvSpPr>
              <p:nvPr>
                <p:ph type="body" idx="1"/>
              </p:nvPr>
            </p:nvSpPr>
            <p:spPr/>
            <p:txBody>
              <a:bodyPr/>
              <a:lstStyle/>
              <a:p>
                <a:r>
                  <a:rPr lang="en-US" dirty="0" smtClean="0"/>
                  <a:t>Components</a:t>
                </a:r>
                <a:r>
                  <a:rPr lang="en-US" baseline="0" dirty="0" smtClean="0"/>
                  <a:t> of </a:t>
                </a:r>
                <a:r>
                  <a:rPr lang="en-US" b="1" baseline="0" dirty="0" smtClean="0"/>
                  <a:t>A </a:t>
                </a:r>
                <a:r>
                  <a:rPr lang="en-US" b="0" baseline="0" dirty="0" smtClean="0"/>
                  <a:t>in (x-y-z) frame of reference changes, not in an arbitrary manner but under a specific transformation law, when you change the co-ordinate axes to </a:t>
                </a:r>
                <a:r>
                  <a:rPr lang="en-US" b="0" i="0" baseline="0" smtClean="0">
                    <a:latin typeface="Cambria Math"/>
                  </a:rPr>
                  <a:t>𝑥 ̅</a:t>
                </a:r>
                <a:r>
                  <a:rPr lang="en-US" b="1" i="0" baseline="0" smtClean="0">
                    <a:latin typeface="Cambria Math"/>
                  </a:rPr>
                  <a:t>,</a:t>
                </a:r>
                <a:r>
                  <a:rPr lang="en-US" b="0" i="0" baseline="0" smtClean="0">
                    <a:latin typeface="Cambria Math"/>
                  </a:rPr>
                  <a:t>𝑦 ̅,𝑧 ̅</a:t>
                </a:r>
                <a:endParaRPr lang="en-US" b="1" dirty="0"/>
              </a:p>
            </p:txBody>
          </p:sp>
        </mc:Fallback>
      </mc:AlternateContent>
      <p:sp>
        <p:nvSpPr>
          <p:cNvPr id="4" name="Slide Number Placeholder 3"/>
          <p:cNvSpPr>
            <a:spLocks noGrp="1"/>
          </p:cNvSpPr>
          <p:nvPr>
            <p:ph type="sldNum" sz="quarter" idx="10"/>
          </p:nvPr>
        </p:nvSpPr>
        <p:spPr/>
        <p:txBody>
          <a:bodyPr/>
          <a:lstStyle/>
          <a:p>
            <a:fld id="{7DA3C0D6-8232-4D09-9AE4-FD8965580651}"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3149704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406020"/>
            <a:ext cx="6172199" cy="2251579"/>
          </a:xfrm>
        </p:spPr>
        <p:txBody>
          <a:bodyPr lIns="0" rIns="0" anchor="t">
            <a:noAutofit/>
          </a:bodyPr>
          <a:lstStyle>
            <a:lvl1pPr>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1066800" y="3905864"/>
            <a:ext cx="6172200" cy="1123336"/>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8" name="Slide Number Placeholder 7"/>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9" name="Footer Placeholder 8"/>
          <p:cNvSpPr>
            <a:spLocks noGrp="1"/>
          </p:cNvSpPr>
          <p:nvPr>
            <p:ph type="ftr" sz="quarter" idx="12"/>
          </p:nvPr>
        </p:nvSpPr>
        <p:spPr/>
        <p:txBody>
          <a:bodyPr/>
          <a:lstStyle/>
          <a:p>
            <a:endParaRPr lang="en-US">
              <a:solidFill>
                <a:srgbClr val="FFFFFF"/>
              </a:solidFill>
            </a:endParaRPr>
          </a:p>
        </p:txBody>
      </p:sp>
    </p:spTree>
    <p:extLst>
      <p:ext uri="{BB962C8B-B14F-4D97-AF65-F5344CB8AC3E}">
        <p14:creationId xmlns:p14="http://schemas.microsoft.com/office/powerpoint/2010/main" val="263999840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3"/>
          </p:nvPr>
        </p:nvSpPr>
        <p:spPr>
          <a:xfrm>
            <a:off x="3456432" y="1545336"/>
            <a:ext cx="4224528"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8"/>
          <p:cNvSpPr>
            <a:spLocks noGrp="1"/>
          </p:cNvSpPr>
          <p:nvPr>
            <p:ph type="dt" sz="half" idx="14"/>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10" name="Slide Number Placeholder 9"/>
          <p:cNvSpPr>
            <a:spLocks noGrp="1"/>
          </p:cNvSpPr>
          <p:nvPr>
            <p:ph type="sldNum" sz="quarter" idx="15"/>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11" name="Footer Placeholder 10"/>
          <p:cNvSpPr>
            <a:spLocks noGrp="1"/>
          </p:cNvSpPr>
          <p:nvPr>
            <p:ph type="ftr" sz="quarter" idx="16"/>
          </p:nvPr>
        </p:nvSpPr>
        <p:spPr/>
        <p:txBody>
          <a:bodyPr/>
          <a:lstStyle/>
          <a:p>
            <a:endParaRPr lang="en-US">
              <a:solidFill>
                <a:srgbClr val="FFFFFF"/>
              </a:solidFill>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276216994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9848" y="1472184"/>
            <a:ext cx="6172200" cy="2130552"/>
          </a:xfrm>
        </p:spPr>
        <p:txBody>
          <a:bodyPr anchor="t">
            <a:noAutofit/>
          </a:bodyPr>
          <a:lstStyle>
            <a:lvl1pPr algn="l">
              <a:defRPr sz="48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1069848" y="3886200"/>
            <a:ext cx="6172200" cy="914400"/>
          </a:xfrm>
        </p:spPr>
        <p:txBody>
          <a:bodyPr anchor="t">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8" name="Slide Number Placeholder 7"/>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9" name="Footer Placeholder 8"/>
          <p:cNvSpPr>
            <a:spLocks noGrp="1"/>
          </p:cNvSpPr>
          <p:nvPr>
            <p:ph type="ftr" sz="quarter" idx="12"/>
          </p:nvPr>
        </p:nvSpPr>
        <p:spPr/>
        <p:txBody>
          <a:bodyPr/>
          <a:lstStyle/>
          <a:p>
            <a:endParaRPr lang="en-US">
              <a:solidFill>
                <a:srgbClr val="FFFFFF"/>
              </a:solidFill>
            </a:endParaRPr>
          </a:p>
        </p:txBody>
      </p:sp>
    </p:spTree>
    <p:extLst>
      <p:ext uri="{BB962C8B-B14F-4D97-AF65-F5344CB8AC3E}">
        <p14:creationId xmlns:p14="http://schemas.microsoft.com/office/powerpoint/2010/main" val="7791655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3776" y="609600"/>
            <a:ext cx="3616325" cy="1066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486998" y="1915859"/>
            <a:ext cx="3646966" cy="2881426"/>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754" y="1915881"/>
            <a:ext cx="3639311" cy="2881398"/>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10" name="Slide Number Placeholder 9"/>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11" name="Footer Placeholder 10"/>
          <p:cNvSpPr>
            <a:spLocks noGrp="1"/>
          </p:cNvSpPr>
          <p:nvPr>
            <p:ph type="ftr" sz="quarter" idx="12"/>
          </p:nvPr>
        </p:nvSpPr>
        <p:spPr>
          <a:xfrm>
            <a:off x="493776" y="6356350"/>
            <a:ext cx="5102352" cy="365125"/>
          </a:xfrm>
        </p:spPr>
        <p:txBody>
          <a:bodyPr/>
          <a:lstStyle/>
          <a:p>
            <a:endParaRPr lang="en-US">
              <a:solidFill>
                <a:srgbClr val="FFFFFF"/>
              </a:solidFill>
            </a:endParaRPr>
          </a:p>
        </p:txBody>
      </p:sp>
    </p:spTree>
    <p:extLst>
      <p:ext uri="{BB962C8B-B14F-4D97-AF65-F5344CB8AC3E}">
        <p14:creationId xmlns:p14="http://schemas.microsoft.com/office/powerpoint/2010/main" val="28421201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3776" y="609600"/>
            <a:ext cx="3615734" cy="1066799"/>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95301" y="1916113"/>
            <a:ext cx="3638550" cy="646112"/>
          </a:xfrm>
        </p:spPr>
        <p:txBody>
          <a:bodyPr anchor="t">
            <a:norm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860676"/>
            <a:ext cx="3638550" cy="2882899"/>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92625" y="1916113"/>
            <a:ext cx="3660775" cy="646112"/>
          </a:xfrm>
        </p:spPr>
        <p:txBody>
          <a:bodyPr anchor="t">
            <a:norm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92626" y="2860676"/>
            <a:ext cx="3651250" cy="2882900"/>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11" name="Slide Number Placeholder 10"/>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12" name="Footer Placeholder 11"/>
          <p:cNvSpPr>
            <a:spLocks noGrp="1"/>
          </p:cNvSpPr>
          <p:nvPr>
            <p:ph type="ftr" sz="quarter" idx="12"/>
          </p:nvPr>
        </p:nvSpPr>
        <p:spPr>
          <a:xfrm>
            <a:off x="493776" y="6356350"/>
            <a:ext cx="5102352" cy="365125"/>
          </a:xfrm>
        </p:spPr>
        <p:txBody>
          <a:bodyPr/>
          <a:lstStyle/>
          <a:p>
            <a:endParaRPr lang="en-US">
              <a:solidFill>
                <a:srgbClr val="FFFFFF"/>
              </a:solidFill>
            </a:endParaRPr>
          </a:p>
        </p:txBody>
      </p:sp>
    </p:spTree>
    <p:extLst>
      <p:ext uri="{BB962C8B-B14F-4D97-AF65-F5344CB8AC3E}">
        <p14:creationId xmlns:p14="http://schemas.microsoft.com/office/powerpoint/2010/main" val="201034690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2800" y="1551543"/>
            <a:ext cx="1828800" cy="365125"/>
          </a:xfrm>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5" name="Title 4"/>
          <p:cNvSpPr>
            <a:spLocks noGrp="1"/>
          </p:cNvSpPr>
          <p:nvPr>
            <p:ph type="title"/>
          </p:nvPr>
        </p:nvSpPr>
        <p:spPr/>
        <p:txBody>
          <a:bodyPr/>
          <a:lstStyle/>
          <a:p>
            <a:r>
              <a:rPr lang="en-US" smtClean="0"/>
              <a:t>Click to edit Master title style</a:t>
            </a:r>
            <a:endParaRPr lang="en-US" dirty="0"/>
          </a:p>
        </p:txBody>
      </p:sp>
      <p:sp>
        <p:nvSpPr>
          <p:cNvPr id="4" name="Slide Number Placeholder 3"/>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6" name="Footer Placeholder 5"/>
          <p:cNvSpPr>
            <a:spLocks noGrp="1"/>
          </p:cNvSpPr>
          <p:nvPr>
            <p:ph type="ftr" sz="quarter" idx="12"/>
          </p:nvPr>
        </p:nvSpPr>
        <p:spPr/>
        <p:txBody>
          <a:bodyPr/>
          <a:lstStyle/>
          <a:p>
            <a:endParaRPr lang="en-US">
              <a:solidFill>
                <a:srgbClr val="FFFFFF"/>
              </a:solidFill>
            </a:endParaRPr>
          </a:p>
        </p:txBody>
      </p:sp>
    </p:spTree>
    <p:extLst>
      <p:ext uri="{BB962C8B-B14F-4D97-AF65-F5344CB8AC3E}">
        <p14:creationId xmlns:p14="http://schemas.microsoft.com/office/powerpoint/2010/main" val="132015180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3" name="Footer Placeholder 2"/>
          <p:cNvSpPr>
            <a:spLocks noGrp="1"/>
          </p:cNvSpPr>
          <p:nvPr>
            <p:ph type="ftr" sz="quarter" idx="11"/>
          </p:nvPr>
        </p:nvSpPr>
        <p:spPr/>
        <p:txBody>
          <a:bodyPr/>
          <a:lstStyle/>
          <a:p>
            <a:endParaRPr lang="en-US">
              <a:solidFill>
                <a:srgbClr val="FFFFFF"/>
              </a:solidFill>
            </a:endParaRPr>
          </a:p>
        </p:txBody>
      </p:sp>
      <p:sp>
        <p:nvSpPr>
          <p:cNvPr id="4" name="Slide Number Placeholder 3"/>
          <p:cNvSpPr>
            <a:spLocks noGrp="1"/>
          </p:cNvSpPr>
          <p:nvPr>
            <p:ph type="sldNum" sz="quarter" idx="12"/>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Tree>
    <p:extLst>
      <p:ext uri="{BB962C8B-B14F-4D97-AF65-F5344CB8AC3E}">
        <p14:creationId xmlns:p14="http://schemas.microsoft.com/office/powerpoint/2010/main" val="391816546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9450" y="1920876"/>
            <a:ext cx="3654425" cy="2889249"/>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493776" y="606425"/>
            <a:ext cx="3629025" cy="1041400"/>
          </a:xfrm>
        </p:spPr>
        <p:txBody>
          <a:bodyPr anchor="t">
            <a:normAutofit/>
          </a:bodyPr>
          <a:lstStyle>
            <a:lvl1pPr algn="l">
              <a:defRPr sz="18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495300" y="1920875"/>
            <a:ext cx="3629025" cy="1812925"/>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9" name="Slide Number Placeholder 8"/>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10" name="Footer Placeholder 9"/>
          <p:cNvSpPr>
            <a:spLocks noGrp="1"/>
          </p:cNvSpPr>
          <p:nvPr>
            <p:ph type="ftr" sz="quarter" idx="12"/>
          </p:nvPr>
        </p:nvSpPr>
        <p:spPr>
          <a:xfrm>
            <a:off x="493776" y="6356350"/>
            <a:ext cx="5102352" cy="365125"/>
          </a:xfrm>
        </p:spPr>
        <p:txBody>
          <a:bodyPr/>
          <a:lstStyle/>
          <a:p>
            <a:endParaRPr lang="en-US">
              <a:solidFill>
                <a:srgbClr val="FFFFFF"/>
              </a:solidFill>
            </a:endParaRPr>
          </a:p>
        </p:txBody>
      </p:sp>
    </p:spTree>
    <p:extLst>
      <p:ext uri="{BB962C8B-B14F-4D97-AF65-F5344CB8AC3E}">
        <p14:creationId xmlns:p14="http://schemas.microsoft.com/office/powerpoint/2010/main" val="26920875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3776" y="600074"/>
            <a:ext cx="2074862" cy="1981201"/>
          </a:xfrm>
          <a:ln>
            <a:noFill/>
          </a:ln>
        </p:spPr>
        <p:txBody>
          <a:bodyPr anchor="t">
            <a:normAutofit/>
          </a:bodyPr>
          <a:lstStyle>
            <a:lvl1pPr algn="l">
              <a:defRPr sz="1800" b="0"/>
            </a:lvl1pPr>
          </a:lstStyle>
          <a:p>
            <a:r>
              <a:rPr lang="en-US" smtClean="0"/>
              <a:t>Click to edit Master title style</a:t>
            </a:r>
            <a:endParaRPr lang="en-US" dirty="0"/>
          </a:p>
        </p:txBody>
      </p:sp>
      <p:sp>
        <p:nvSpPr>
          <p:cNvPr id="3" name="Picture Placeholder 2"/>
          <p:cNvSpPr>
            <a:spLocks noGrp="1"/>
          </p:cNvSpPr>
          <p:nvPr>
            <p:ph type="pic" idx="1"/>
          </p:nvPr>
        </p:nvSpPr>
        <p:spPr>
          <a:xfrm>
            <a:off x="2963862" y="1650999"/>
            <a:ext cx="5627687" cy="42207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2963862" y="614363"/>
            <a:ext cx="3741738" cy="909637"/>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9" name="Slide Number Placeholder 8"/>
          <p:cNvSpPr>
            <a:spLocks noGrp="1"/>
          </p:cNvSpPr>
          <p:nvPr>
            <p:ph type="sldNum" sz="quarter" idx="11"/>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
        <p:nvSpPr>
          <p:cNvPr id="10" name="Footer Placeholder 9"/>
          <p:cNvSpPr>
            <a:spLocks noGrp="1"/>
          </p:cNvSpPr>
          <p:nvPr>
            <p:ph type="ftr" sz="quarter" idx="12"/>
          </p:nvPr>
        </p:nvSpPr>
        <p:spPr>
          <a:xfrm>
            <a:off x="493776" y="6356350"/>
            <a:ext cx="5102352" cy="365125"/>
          </a:xfrm>
        </p:spPr>
        <p:txBody>
          <a:bodyPr/>
          <a:lstStyle/>
          <a:p>
            <a:endParaRPr lang="en-US">
              <a:solidFill>
                <a:srgbClr val="FFFFFF"/>
              </a:solidFill>
            </a:endParaRPr>
          </a:p>
        </p:txBody>
      </p:sp>
    </p:spTree>
    <p:extLst>
      <p:ext uri="{BB962C8B-B14F-4D97-AF65-F5344CB8AC3E}">
        <p14:creationId xmlns:p14="http://schemas.microsoft.com/office/powerpoint/2010/main" val="78915035"/>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454400" y="1554480"/>
            <a:ext cx="4222308" cy="388620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Tree>
    <p:extLst>
      <p:ext uri="{BB962C8B-B14F-4D97-AF65-F5344CB8AC3E}">
        <p14:creationId xmlns:p14="http://schemas.microsoft.com/office/powerpoint/2010/main" val="404037909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848" y="1554480"/>
            <a:ext cx="2075688" cy="3886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456432" y="1554480"/>
            <a:ext cx="4224528" cy="3886200"/>
          </a:xfrm>
        </p:spPr>
        <p:txBody>
          <a:bodyPr vert="eaVert"/>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Tree>
    <p:extLst>
      <p:ext uri="{BB962C8B-B14F-4D97-AF65-F5344CB8AC3E}">
        <p14:creationId xmlns:p14="http://schemas.microsoft.com/office/powerpoint/2010/main" val="67275005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21893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7548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75972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54627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7779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7035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6649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1864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4378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84925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5043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1554480"/>
            <a:ext cx="2073348" cy="197946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454400" y="1547036"/>
            <a:ext cx="4222308" cy="388620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162800" y="189468"/>
            <a:ext cx="1828800" cy="365125"/>
          </a:xfrm>
          <a:prstGeom prst="rect">
            <a:avLst/>
          </a:prstGeom>
        </p:spPr>
        <p:txBody>
          <a:bodyPr vert="horz" lIns="91440" tIns="45720" rIns="91440" bIns="45720" rtlCol="0" anchor="t"/>
          <a:lstStyle>
            <a:lvl1pPr algn="l">
              <a:defRPr sz="1200">
                <a:solidFill>
                  <a:schemeClr val="tx1">
                    <a:tint val="75000"/>
                  </a:schemeClr>
                </a:solidFill>
              </a:defRPr>
            </a:lvl1pPr>
          </a:lstStyle>
          <a:p>
            <a:fld id="{FDCCBE72-8759-4BC4-A075-069E4DA7384F}" type="datetimeFigureOut">
              <a:rPr lang="en-US" smtClean="0">
                <a:solidFill>
                  <a:srgbClr val="FFFFFF">
                    <a:tint val="75000"/>
                  </a:srgbClr>
                </a:solidFill>
              </a:rPr>
              <a:pPr/>
              <a:t>1/2/2019</a:t>
            </a:fld>
            <a:endParaRPr lang="en-US">
              <a:solidFill>
                <a:srgbClr val="FFFFFF">
                  <a:tint val="75000"/>
                </a:srgbClr>
              </a:solidFill>
            </a:endParaRPr>
          </a:p>
        </p:txBody>
      </p:sp>
      <p:sp>
        <p:nvSpPr>
          <p:cNvPr id="5" name="Footer Placeholder 4"/>
          <p:cNvSpPr>
            <a:spLocks noGrp="1"/>
          </p:cNvSpPr>
          <p:nvPr>
            <p:ph type="ftr" sz="quarter" idx="3"/>
          </p:nvPr>
        </p:nvSpPr>
        <p:spPr>
          <a:xfrm>
            <a:off x="1069848" y="6356350"/>
            <a:ext cx="5102352" cy="365125"/>
          </a:xfrm>
          <a:prstGeom prst="rect">
            <a:avLst/>
          </a:prstGeom>
        </p:spPr>
        <p:txBody>
          <a:bodyPr vert="horz" lIns="91440" tIns="45720" rIns="91440" bIns="45720" rtlCol="0" anchor="t"/>
          <a:lstStyle>
            <a:lvl1pPr algn="l">
              <a:defRPr sz="1200">
                <a:solidFill>
                  <a:schemeClr val="tx1"/>
                </a:solidFill>
              </a:defRPr>
            </a:lvl1pPr>
          </a:lstStyle>
          <a:p>
            <a:endParaRPr lang="en-US">
              <a:solidFill>
                <a:srgbClr val="FFFFFF"/>
              </a:solidFill>
            </a:endParaRPr>
          </a:p>
        </p:txBody>
      </p:sp>
      <p:sp>
        <p:nvSpPr>
          <p:cNvPr id="6" name="Slide Number Placeholder 5"/>
          <p:cNvSpPr>
            <a:spLocks noGrp="1"/>
          </p:cNvSpPr>
          <p:nvPr>
            <p:ph type="sldNum" sz="quarter" idx="4"/>
          </p:nvPr>
        </p:nvSpPr>
        <p:spPr>
          <a:xfrm>
            <a:off x="7159752" y="6356350"/>
            <a:ext cx="1137684" cy="365125"/>
          </a:xfrm>
          <a:prstGeom prst="rect">
            <a:avLst/>
          </a:prstGeom>
        </p:spPr>
        <p:txBody>
          <a:bodyPr vert="horz" lIns="91440" tIns="45720" rIns="91440" bIns="45720" rtlCol="0" anchor="t"/>
          <a:lstStyle>
            <a:lvl1pPr algn="l">
              <a:defRPr sz="1200">
                <a:solidFill>
                  <a:schemeClr val="tx1">
                    <a:tint val="75000"/>
                  </a:schemeClr>
                </a:solidFill>
              </a:defRPr>
            </a:lvl1pPr>
          </a:lstStyle>
          <a:p>
            <a:fld id="{847077FE-4355-4821-965A-3DED21EF8F2E}" type="slidenum">
              <a:rPr lang="en-US" smtClean="0">
                <a:solidFill>
                  <a:srgbClr val="FFFFFF">
                    <a:tint val="75000"/>
                  </a:srgbClr>
                </a:solidFill>
              </a:rPr>
              <a:pPr/>
              <a:t>‹#›</a:t>
            </a:fld>
            <a:endParaRPr lang="en-US">
              <a:solidFill>
                <a:srgbClr val="FFFFFF">
                  <a:tint val="75000"/>
                </a:srgbClr>
              </a:solidFill>
            </a:endParaRPr>
          </a:p>
        </p:txBody>
      </p:sp>
    </p:spTree>
    <p:extLst>
      <p:ext uri="{BB962C8B-B14F-4D97-AF65-F5344CB8AC3E}">
        <p14:creationId xmlns:p14="http://schemas.microsoft.com/office/powerpoint/2010/main" val="16938560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spcBef>
          <a:spcPct val="0"/>
        </a:spcBef>
        <a:buNone/>
        <a:defRPr sz="1800" kern="1200" cap="all"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i="1"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9F11C-5580-46E6-A5BD-BF3B0C0A95A2}" type="datetimeFigureOut">
              <a:rPr lang="en-US" smtClean="0">
                <a:solidFill>
                  <a:prstClr val="black">
                    <a:tint val="75000"/>
                  </a:prstClr>
                </a:solidFill>
              </a:rPr>
              <a:pPr/>
              <a:t>1/2/2019</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48E311-A980-457E-8EAF-85B2CB8C440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600098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609600"/>
            <a:ext cx="7391400" cy="923330"/>
          </a:xfrm>
          <a:prstGeom prst="rect">
            <a:avLst/>
          </a:prstGeom>
        </p:spPr>
        <p:txBody>
          <a:bodyPr wrap="square">
            <a:spAutoFit/>
          </a:bodyPr>
          <a:lstStyle/>
          <a:p>
            <a:pPr algn="ctr"/>
            <a:r>
              <a:rPr lang="en-US" sz="5400" b="1" dirty="0">
                <a:solidFill>
                  <a:srgbClr val="C00000"/>
                </a:solidFill>
                <a:latin typeface="Calibri" panose="020F0502020204030204" pitchFamily="34" charset="0"/>
              </a:rPr>
              <a:t>Introduction to Physics II</a:t>
            </a:r>
          </a:p>
        </p:txBody>
      </p:sp>
      <p:sp>
        <p:nvSpPr>
          <p:cNvPr id="5" name="Rectangle 4"/>
          <p:cNvSpPr/>
          <p:nvPr/>
        </p:nvSpPr>
        <p:spPr>
          <a:xfrm>
            <a:off x="228600" y="4648200"/>
            <a:ext cx="8686800" cy="1200329"/>
          </a:xfrm>
          <a:prstGeom prst="rect">
            <a:avLst/>
          </a:prstGeom>
        </p:spPr>
        <p:txBody>
          <a:bodyPr wrap="square">
            <a:spAutoFit/>
          </a:bodyPr>
          <a:lstStyle/>
          <a:p>
            <a:pPr algn="ctr"/>
            <a:r>
              <a:rPr lang="en-US" sz="3600" b="1" dirty="0">
                <a:solidFill>
                  <a:srgbClr val="0000FF"/>
                </a:solidFill>
              </a:rPr>
              <a:t>Department of </a:t>
            </a:r>
            <a:r>
              <a:rPr lang="en-US" sz="3600" b="1" dirty="0" smtClean="0">
                <a:solidFill>
                  <a:srgbClr val="0000FF"/>
                </a:solidFill>
              </a:rPr>
              <a:t>Physics, School of Natural Sciences, </a:t>
            </a:r>
            <a:r>
              <a:rPr lang="en-US" sz="3600" b="1" dirty="0">
                <a:solidFill>
                  <a:srgbClr val="0000FF"/>
                </a:solidFill>
              </a:rPr>
              <a:t> </a:t>
            </a:r>
            <a:r>
              <a:rPr lang="en-US" sz="3600" b="1" dirty="0" smtClean="0">
                <a:solidFill>
                  <a:srgbClr val="0000FF"/>
                </a:solidFill>
              </a:rPr>
              <a:t>Shiv </a:t>
            </a:r>
            <a:r>
              <a:rPr lang="en-US" sz="3600" b="1" dirty="0" err="1">
                <a:solidFill>
                  <a:srgbClr val="0000FF"/>
                </a:solidFill>
              </a:rPr>
              <a:t>Nadar</a:t>
            </a:r>
            <a:r>
              <a:rPr lang="en-US" sz="3600" b="1" dirty="0">
                <a:solidFill>
                  <a:srgbClr val="0000FF"/>
                </a:solidFill>
              </a:rPr>
              <a:t> University</a:t>
            </a:r>
          </a:p>
        </p:txBody>
      </p:sp>
      <p:sp>
        <p:nvSpPr>
          <p:cNvPr id="6" name="Rectangle 5"/>
          <p:cNvSpPr/>
          <p:nvPr/>
        </p:nvSpPr>
        <p:spPr>
          <a:xfrm>
            <a:off x="1889844" y="3035585"/>
            <a:ext cx="4907114" cy="769441"/>
          </a:xfrm>
          <a:prstGeom prst="rect">
            <a:avLst/>
          </a:prstGeom>
        </p:spPr>
        <p:txBody>
          <a:bodyPr wrap="none">
            <a:spAutoFit/>
          </a:bodyPr>
          <a:lstStyle/>
          <a:p>
            <a:pPr algn="ctr"/>
            <a:r>
              <a:rPr lang="en-US" sz="4400" b="1" dirty="0">
                <a:solidFill>
                  <a:srgbClr val="C00000"/>
                </a:solidFill>
              </a:rPr>
              <a:t>Course Information</a:t>
            </a:r>
          </a:p>
        </p:txBody>
      </p:sp>
      <p:sp>
        <p:nvSpPr>
          <p:cNvPr id="7" name="Rectangle 6"/>
          <p:cNvSpPr/>
          <p:nvPr/>
        </p:nvSpPr>
        <p:spPr>
          <a:xfrm>
            <a:off x="1420091" y="1371600"/>
            <a:ext cx="5895109" cy="769441"/>
          </a:xfrm>
          <a:prstGeom prst="rect">
            <a:avLst/>
          </a:prstGeom>
        </p:spPr>
        <p:txBody>
          <a:bodyPr wrap="square">
            <a:spAutoFit/>
          </a:bodyPr>
          <a:lstStyle/>
          <a:p>
            <a:pPr algn="ctr"/>
            <a:r>
              <a:rPr lang="en-US" sz="4400" b="1" dirty="0">
                <a:solidFill>
                  <a:srgbClr val="C00000"/>
                </a:solidFill>
                <a:latin typeface="Calibri" panose="020F0502020204030204" pitchFamily="34" charset="0"/>
              </a:rPr>
              <a:t>(Spring Semester </a:t>
            </a:r>
            <a:r>
              <a:rPr lang="en-US" sz="4400" b="1" dirty="0" smtClean="0">
                <a:solidFill>
                  <a:srgbClr val="C00000"/>
                </a:solidFill>
                <a:latin typeface="Calibri" panose="020F0502020204030204" pitchFamily="34" charset="0"/>
              </a:rPr>
              <a:t>2019)</a:t>
            </a:r>
            <a:endParaRPr lang="en-US" sz="4400" b="1" dirty="0">
              <a:solidFill>
                <a:srgbClr val="C00000"/>
              </a:solidFill>
              <a:latin typeface="Calibri" panose="020F0502020204030204" pitchFamily="34" charset="0"/>
            </a:endParaRPr>
          </a:p>
        </p:txBody>
      </p:sp>
      <p:pic>
        <p:nvPicPr>
          <p:cNvPr id="1026" name="Picture 2" descr="C:\Users\bk402\Desktop\snu-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0054" y="5652984"/>
            <a:ext cx="1191491" cy="1191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673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1" y="0"/>
            <a:ext cx="9116249" cy="1798022"/>
            <a:chOff x="-1" y="0"/>
            <a:chExt cx="9116249" cy="1798022"/>
          </a:xfrm>
        </p:grpSpPr>
        <p:sp>
          <p:nvSpPr>
            <p:cNvPr id="25" name="TextBox 24"/>
            <p:cNvSpPr txBox="1"/>
            <p:nvPr/>
          </p:nvSpPr>
          <p:spPr>
            <a:xfrm>
              <a:off x="0" y="609600"/>
              <a:ext cx="4572000" cy="646331"/>
            </a:xfrm>
            <a:prstGeom prst="rect">
              <a:avLst/>
            </a:prstGeom>
            <a:noFill/>
          </p:spPr>
          <p:txBody>
            <a:bodyPr wrap="square" rtlCol="0">
              <a:spAutoFit/>
            </a:bodyPr>
            <a:lstStyle/>
            <a:p>
              <a:r>
                <a:rPr lang="en-US" sz="3600" b="1" dirty="0">
                  <a:solidFill>
                    <a:srgbClr val="3F3F3F"/>
                  </a:solidFill>
                </a:rPr>
                <a:t>Course Code: PHY</a:t>
              </a:r>
              <a:r>
                <a:rPr lang="en-US" sz="3600" b="1" dirty="0">
                  <a:solidFill>
                    <a:srgbClr val="3F3F3F"/>
                  </a:solidFill>
                  <a:latin typeface="Calibri" panose="020F0502020204030204" pitchFamily="34" charset="0"/>
                </a:rPr>
                <a:t>102</a:t>
              </a:r>
              <a:endParaRPr lang="en-US" sz="3600" b="1" dirty="0">
                <a:solidFill>
                  <a:srgbClr val="3F3F3F"/>
                </a:solidFill>
              </a:endParaRPr>
            </a:p>
          </p:txBody>
        </p:sp>
        <p:sp>
          <p:nvSpPr>
            <p:cNvPr id="26" name="TextBox 25"/>
            <p:cNvSpPr txBox="1"/>
            <p:nvPr/>
          </p:nvSpPr>
          <p:spPr>
            <a:xfrm>
              <a:off x="0" y="0"/>
              <a:ext cx="8001000" cy="646331"/>
            </a:xfrm>
            <a:prstGeom prst="rect">
              <a:avLst/>
            </a:prstGeom>
            <a:noFill/>
          </p:spPr>
          <p:txBody>
            <a:bodyPr wrap="square" rtlCol="0">
              <a:spAutoFit/>
            </a:bodyPr>
            <a:lstStyle/>
            <a:p>
              <a:r>
                <a:rPr lang="en-US" sz="3600" b="1" dirty="0">
                  <a:solidFill>
                    <a:srgbClr val="3F3F3F"/>
                  </a:solidFill>
                </a:rPr>
                <a:t>Course Title: Introduction to Physics-II</a:t>
              </a:r>
            </a:p>
          </p:txBody>
        </p:sp>
        <p:sp>
          <p:nvSpPr>
            <p:cNvPr id="27" name="TextBox 26"/>
            <p:cNvSpPr txBox="1"/>
            <p:nvPr/>
          </p:nvSpPr>
          <p:spPr>
            <a:xfrm>
              <a:off x="-1" y="1182469"/>
              <a:ext cx="9116249" cy="615553"/>
            </a:xfrm>
            <a:prstGeom prst="rect">
              <a:avLst/>
            </a:prstGeom>
            <a:noFill/>
          </p:spPr>
          <p:txBody>
            <a:bodyPr wrap="square" rtlCol="0">
              <a:spAutoFit/>
            </a:bodyPr>
            <a:lstStyle/>
            <a:p>
              <a:r>
                <a:rPr lang="en-US" sz="3400" b="1" u="sng" dirty="0">
                  <a:solidFill>
                    <a:srgbClr val="3F3F3F"/>
                  </a:solidFill>
                </a:rPr>
                <a:t>Course </a:t>
              </a:r>
              <a:r>
                <a:rPr lang="en-US" sz="3400" b="1" u="sng" dirty="0" smtClean="0">
                  <a:solidFill>
                    <a:srgbClr val="3F3F3F"/>
                  </a:solidFill>
                </a:rPr>
                <a:t>credits: 5</a:t>
              </a:r>
              <a:endParaRPr lang="en-US" sz="3400" b="1" u="sng" dirty="0">
                <a:solidFill>
                  <a:srgbClr val="3F3F3F"/>
                </a:solidFill>
              </a:endParaRPr>
            </a:p>
          </p:txBody>
        </p:sp>
      </p:grpSp>
      <p:sp>
        <p:nvSpPr>
          <p:cNvPr id="8" name="TextBox 7"/>
          <p:cNvSpPr txBox="1"/>
          <p:nvPr/>
        </p:nvSpPr>
        <p:spPr>
          <a:xfrm>
            <a:off x="304800" y="1832658"/>
            <a:ext cx="6400800" cy="584775"/>
          </a:xfrm>
          <a:prstGeom prst="rect">
            <a:avLst/>
          </a:prstGeom>
          <a:noFill/>
        </p:spPr>
        <p:txBody>
          <a:bodyPr wrap="square" rtlCol="0">
            <a:spAutoFit/>
          </a:bodyPr>
          <a:lstStyle/>
          <a:p>
            <a:r>
              <a:rPr lang="en-US" sz="3200" b="1" u="sng" dirty="0">
                <a:solidFill>
                  <a:srgbClr val="3F3F3F"/>
                </a:solidFill>
              </a:rPr>
              <a:t>(3 lectures+1 tutorial +3hr lab)</a:t>
            </a:r>
            <a:endParaRPr lang="en-US" sz="3200" dirty="0"/>
          </a:p>
        </p:txBody>
      </p:sp>
      <p:sp>
        <p:nvSpPr>
          <p:cNvPr id="9" name="Rectangle 8"/>
          <p:cNvSpPr/>
          <p:nvPr/>
        </p:nvSpPr>
        <p:spPr>
          <a:xfrm>
            <a:off x="-1" y="2690336"/>
            <a:ext cx="9116249" cy="1569660"/>
          </a:xfrm>
          <a:prstGeom prst="rect">
            <a:avLst/>
          </a:prstGeom>
        </p:spPr>
        <p:txBody>
          <a:bodyPr wrap="square">
            <a:spAutoFit/>
          </a:bodyPr>
          <a:lstStyle/>
          <a:p>
            <a:pPr algn="just"/>
            <a:r>
              <a:rPr lang="en-US" sz="2400" dirty="0" smtClean="0">
                <a:solidFill>
                  <a:schemeClr val="bg1">
                    <a:lumMod val="50000"/>
                  </a:schemeClr>
                </a:solidFill>
              </a:rPr>
              <a:t>“This </a:t>
            </a:r>
            <a:r>
              <a:rPr lang="en-US" sz="2400" dirty="0">
                <a:solidFill>
                  <a:schemeClr val="bg1">
                    <a:lumMod val="50000"/>
                  </a:schemeClr>
                </a:solidFill>
              </a:rPr>
              <a:t>is a continuation of PHY 101 meant for engineers and non-physics majors. The course will introduce students to Electricity and Magnetism, Maxwell’s equations, light as an electromagnetic wave, and wave optics</a:t>
            </a:r>
            <a:r>
              <a:rPr lang="en-US" sz="2400" dirty="0" smtClean="0">
                <a:solidFill>
                  <a:schemeClr val="bg1">
                    <a:lumMod val="50000"/>
                  </a:schemeClr>
                </a:solidFill>
              </a:rPr>
              <a:t>.”     (Physics-UG-Prospectus, SNU)</a:t>
            </a:r>
            <a:endParaRPr lang="en-US" sz="2400" dirty="0">
              <a:solidFill>
                <a:schemeClr val="bg1">
                  <a:lumMod val="50000"/>
                </a:schemeClr>
              </a:solidFill>
            </a:endParaRPr>
          </a:p>
        </p:txBody>
      </p:sp>
      <p:sp>
        <p:nvSpPr>
          <p:cNvPr id="28" name="TextBox 27"/>
          <p:cNvSpPr txBox="1"/>
          <p:nvPr/>
        </p:nvSpPr>
        <p:spPr>
          <a:xfrm>
            <a:off x="-1" y="4800600"/>
            <a:ext cx="8811448" cy="615553"/>
          </a:xfrm>
          <a:prstGeom prst="rect">
            <a:avLst/>
          </a:prstGeom>
          <a:noFill/>
        </p:spPr>
        <p:txBody>
          <a:bodyPr wrap="square" rtlCol="0">
            <a:spAutoFit/>
          </a:bodyPr>
          <a:lstStyle/>
          <a:p>
            <a:r>
              <a:rPr lang="en-US" sz="3400" b="1" dirty="0" smtClean="0">
                <a:solidFill>
                  <a:schemeClr val="bg1">
                    <a:lumMod val="50000"/>
                  </a:schemeClr>
                </a:solidFill>
              </a:rPr>
              <a:t>Prerequisites (a must): MAT</a:t>
            </a:r>
            <a:r>
              <a:rPr lang="en-US" sz="3400" b="1" dirty="0" smtClean="0">
                <a:solidFill>
                  <a:schemeClr val="bg1">
                    <a:lumMod val="50000"/>
                  </a:schemeClr>
                </a:solidFill>
                <a:latin typeface="Calibri" panose="020F0502020204030204" pitchFamily="34" charset="0"/>
              </a:rPr>
              <a:t>101</a:t>
            </a:r>
            <a:r>
              <a:rPr lang="en-US" sz="3400" b="1" dirty="0" smtClean="0">
                <a:solidFill>
                  <a:schemeClr val="bg1">
                    <a:lumMod val="50000"/>
                  </a:schemeClr>
                </a:solidFill>
              </a:rPr>
              <a:t>, </a:t>
            </a:r>
            <a:r>
              <a:rPr lang="en-US" sz="3400" b="1" dirty="0" smtClean="0">
                <a:solidFill>
                  <a:schemeClr val="bg1">
                    <a:lumMod val="50000"/>
                  </a:schemeClr>
                </a:solidFill>
                <a:latin typeface="Calibri" panose="020F0502020204030204" pitchFamily="34" charset="0"/>
              </a:rPr>
              <a:t>PHY101</a:t>
            </a:r>
            <a:endParaRPr lang="en-US" sz="3400" b="1" dirty="0">
              <a:solidFill>
                <a:schemeClr val="bg1">
                  <a:lumMod val="50000"/>
                </a:schemeClr>
              </a:solidFill>
              <a:latin typeface="Calibri" panose="020F0502020204030204" pitchFamily="34" charset="0"/>
            </a:endParaRPr>
          </a:p>
        </p:txBody>
      </p:sp>
    </p:spTree>
    <p:extLst>
      <p:ext uri="{BB962C8B-B14F-4D97-AF65-F5344CB8AC3E}">
        <p14:creationId xmlns:p14="http://schemas.microsoft.com/office/powerpoint/2010/main" val="39269770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 y="1967805"/>
            <a:ext cx="9220199" cy="1384995"/>
          </a:xfrm>
          <a:prstGeom prst="rect">
            <a:avLst/>
          </a:prstGeom>
          <a:noFill/>
        </p:spPr>
        <p:txBody>
          <a:bodyPr wrap="square" rtlCol="0">
            <a:spAutoFit/>
          </a:bodyPr>
          <a:lstStyle/>
          <a:p>
            <a:pPr algn="just"/>
            <a:r>
              <a:rPr lang="en-US" sz="2800" b="1" u="sng" dirty="0">
                <a:solidFill>
                  <a:srgbClr val="3F3F3F"/>
                </a:solidFill>
              </a:rPr>
              <a:t>Lectures</a:t>
            </a:r>
            <a:r>
              <a:rPr lang="en-US" sz="2800" b="1" dirty="0">
                <a:solidFill>
                  <a:srgbClr val="3F3F3F"/>
                </a:solidFill>
              </a:rPr>
              <a:t>: </a:t>
            </a:r>
            <a:r>
              <a:rPr lang="en-US" sz="2800" b="1" u="sng" dirty="0" smtClean="0">
                <a:solidFill>
                  <a:srgbClr val="3F3F3F"/>
                </a:solidFill>
              </a:rPr>
              <a:t>Monday, Wednesday, Friday</a:t>
            </a:r>
            <a:r>
              <a:rPr lang="en-US" sz="2800" b="1" dirty="0" smtClean="0">
                <a:solidFill>
                  <a:srgbClr val="3F3F3F"/>
                </a:solidFill>
              </a:rPr>
              <a:t> </a:t>
            </a:r>
            <a:r>
              <a:rPr lang="en-US" sz="2800" b="1" dirty="0">
                <a:solidFill>
                  <a:srgbClr val="3F3F3F"/>
                </a:solidFill>
              </a:rPr>
              <a:t>(</a:t>
            </a:r>
            <a:r>
              <a:rPr lang="en-US" sz="2800" b="1" dirty="0" smtClean="0">
                <a:solidFill>
                  <a:srgbClr val="3F3F3F"/>
                </a:solidFill>
                <a:latin typeface="Calibri" panose="020F0502020204030204" pitchFamily="34" charset="0"/>
              </a:rPr>
              <a:t>10:00 </a:t>
            </a:r>
            <a:r>
              <a:rPr lang="en-US" sz="2800" b="1" dirty="0">
                <a:solidFill>
                  <a:srgbClr val="3F3F3F"/>
                </a:solidFill>
                <a:latin typeface="Calibri" panose="020F0502020204030204" pitchFamily="34" charset="0"/>
              </a:rPr>
              <a:t>– </a:t>
            </a:r>
            <a:r>
              <a:rPr lang="en-US" sz="2800" b="1" dirty="0" smtClean="0">
                <a:solidFill>
                  <a:srgbClr val="3F3F3F"/>
                </a:solidFill>
                <a:latin typeface="Calibri" panose="020F0502020204030204" pitchFamily="34" charset="0"/>
              </a:rPr>
              <a:t>10:55 </a:t>
            </a:r>
            <a:r>
              <a:rPr lang="en-US" sz="2800" b="1" dirty="0">
                <a:solidFill>
                  <a:srgbClr val="3F3F3F"/>
                </a:solidFill>
                <a:latin typeface="Calibri" panose="020F0502020204030204" pitchFamily="34" charset="0"/>
              </a:rPr>
              <a:t>A</a:t>
            </a:r>
            <a:r>
              <a:rPr lang="en-US" sz="2800" b="1" dirty="0" smtClean="0">
                <a:solidFill>
                  <a:srgbClr val="3F3F3F"/>
                </a:solidFill>
                <a:latin typeface="Calibri" panose="020F0502020204030204" pitchFamily="34" charset="0"/>
              </a:rPr>
              <a:t>M</a:t>
            </a:r>
            <a:r>
              <a:rPr lang="en-US" sz="2800" b="1" dirty="0">
                <a:solidFill>
                  <a:srgbClr val="3F3F3F"/>
                </a:solidFill>
              </a:rPr>
              <a:t>)</a:t>
            </a:r>
          </a:p>
          <a:p>
            <a:pPr algn="just"/>
            <a:r>
              <a:rPr lang="en-US" sz="2800" b="1" u="sng" dirty="0">
                <a:solidFill>
                  <a:srgbClr val="3F3F3F"/>
                </a:solidFill>
              </a:rPr>
              <a:t>Venue</a:t>
            </a:r>
            <a:r>
              <a:rPr lang="en-US" sz="2800" b="1" dirty="0">
                <a:solidFill>
                  <a:srgbClr val="3F3F3F"/>
                </a:solidFill>
              </a:rPr>
              <a:t> for lectures: </a:t>
            </a:r>
            <a:r>
              <a:rPr lang="en-US" sz="2800" b="1" dirty="0" smtClean="0">
                <a:solidFill>
                  <a:srgbClr val="3F3F3F"/>
                </a:solidFill>
              </a:rPr>
              <a:t>B315</a:t>
            </a:r>
            <a:r>
              <a:rPr lang="en-US" sz="2800" b="1" dirty="0" smtClean="0">
                <a:solidFill>
                  <a:srgbClr val="3F3F3F"/>
                </a:solidFill>
                <a:latin typeface="Calibri" panose="020F0502020204030204" pitchFamily="34" charset="0"/>
              </a:rPr>
              <a:t> </a:t>
            </a:r>
            <a:endParaRPr lang="en-US" sz="2800" b="1" dirty="0">
              <a:solidFill>
                <a:srgbClr val="3F3F3F"/>
              </a:solidFill>
            </a:endParaRPr>
          </a:p>
          <a:p>
            <a:pPr algn="just"/>
            <a:r>
              <a:rPr lang="en-US" sz="2800" b="1" dirty="0">
                <a:solidFill>
                  <a:srgbClr val="3F3F3F"/>
                </a:solidFill>
              </a:rPr>
              <a:t>                                      </a:t>
            </a:r>
          </a:p>
        </p:txBody>
      </p:sp>
      <p:grpSp>
        <p:nvGrpSpPr>
          <p:cNvPr id="20" name="Group 19"/>
          <p:cNvGrpSpPr/>
          <p:nvPr/>
        </p:nvGrpSpPr>
        <p:grpSpPr>
          <a:xfrm>
            <a:off x="-1" y="0"/>
            <a:ext cx="9116249" cy="1798022"/>
            <a:chOff x="-1" y="0"/>
            <a:chExt cx="9116249" cy="1798022"/>
          </a:xfrm>
        </p:grpSpPr>
        <p:sp>
          <p:nvSpPr>
            <p:cNvPr id="2" name="TextBox 1"/>
            <p:cNvSpPr txBox="1"/>
            <p:nvPr/>
          </p:nvSpPr>
          <p:spPr>
            <a:xfrm>
              <a:off x="0" y="609600"/>
              <a:ext cx="4572000" cy="646331"/>
            </a:xfrm>
            <a:prstGeom prst="rect">
              <a:avLst/>
            </a:prstGeom>
            <a:noFill/>
          </p:spPr>
          <p:txBody>
            <a:bodyPr wrap="square" rtlCol="0">
              <a:spAutoFit/>
            </a:bodyPr>
            <a:lstStyle/>
            <a:p>
              <a:r>
                <a:rPr lang="en-US" sz="3600" b="1" dirty="0">
                  <a:solidFill>
                    <a:srgbClr val="3F3F3F"/>
                  </a:solidFill>
                </a:rPr>
                <a:t>Course Code: PHY</a:t>
              </a:r>
              <a:r>
                <a:rPr lang="en-US" sz="3600" b="1" dirty="0">
                  <a:solidFill>
                    <a:srgbClr val="3F3F3F"/>
                  </a:solidFill>
                  <a:latin typeface="Calibri" panose="020F0502020204030204" pitchFamily="34" charset="0"/>
                </a:rPr>
                <a:t>102</a:t>
              </a:r>
              <a:endParaRPr lang="en-US" sz="3600" b="1" dirty="0">
                <a:solidFill>
                  <a:srgbClr val="3F3F3F"/>
                </a:solidFill>
              </a:endParaRPr>
            </a:p>
          </p:txBody>
        </p:sp>
        <p:sp>
          <p:nvSpPr>
            <p:cNvPr id="3" name="TextBox 2"/>
            <p:cNvSpPr txBox="1"/>
            <p:nvPr/>
          </p:nvSpPr>
          <p:spPr>
            <a:xfrm>
              <a:off x="0" y="0"/>
              <a:ext cx="8001000" cy="646331"/>
            </a:xfrm>
            <a:prstGeom prst="rect">
              <a:avLst/>
            </a:prstGeom>
            <a:noFill/>
          </p:spPr>
          <p:txBody>
            <a:bodyPr wrap="square" rtlCol="0">
              <a:spAutoFit/>
            </a:bodyPr>
            <a:lstStyle/>
            <a:p>
              <a:r>
                <a:rPr lang="en-US" sz="3600" b="1" dirty="0">
                  <a:solidFill>
                    <a:srgbClr val="3F3F3F"/>
                  </a:solidFill>
                </a:rPr>
                <a:t>Course Title: Introduction to Physics-II</a:t>
              </a:r>
            </a:p>
          </p:txBody>
        </p:sp>
        <p:sp>
          <p:nvSpPr>
            <p:cNvPr id="4" name="TextBox 3"/>
            <p:cNvSpPr txBox="1"/>
            <p:nvPr/>
          </p:nvSpPr>
          <p:spPr>
            <a:xfrm>
              <a:off x="-1" y="1182469"/>
              <a:ext cx="9116249" cy="615553"/>
            </a:xfrm>
            <a:prstGeom prst="rect">
              <a:avLst/>
            </a:prstGeom>
            <a:noFill/>
          </p:spPr>
          <p:txBody>
            <a:bodyPr wrap="square" rtlCol="0">
              <a:spAutoFit/>
            </a:bodyPr>
            <a:lstStyle/>
            <a:p>
              <a:r>
                <a:rPr lang="en-US" sz="3400" b="1" u="sng" dirty="0">
                  <a:solidFill>
                    <a:srgbClr val="3F3F3F"/>
                  </a:solidFill>
                </a:rPr>
                <a:t>Course </a:t>
              </a:r>
              <a:r>
                <a:rPr lang="en-US" sz="3400" b="1" u="sng" dirty="0" smtClean="0">
                  <a:solidFill>
                    <a:srgbClr val="3F3F3F"/>
                  </a:solidFill>
                </a:rPr>
                <a:t>credits: 5 (3 lectures+1 tutorial +3hr lab)</a:t>
              </a:r>
              <a:endParaRPr lang="en-US" sz="3400" b="1" u="sng" dirty="0">
                <a:solidFill>
                  <a:srgbClr val="3F3F3F"/>
                </a:solidFill>
              </a:endParaRPr>
            </a:p>
          </p:txBody>
        </p:sp>
      </p:grpSp>
      <p:grpSp>
        <p:nvGrpSpPr>
          <p:cNvPr id="11" name="Group 10"/>
          <p:cNvGrpSpPr/>
          <p:nvPr/>
        </p:nvGrpSpPr>
        <p:grpSpPr>
          <a:xfrm>
            <a:off x="0" y="3160693"/>
            <a:ext cx="9116374" cy="2097107"/>
            <a:chOff x="0" y="2819400"/>
            <a:chExt cx="9116374" cy="2097107"/>
          </a:xfrm>
        </p:grpSpPr>
        <p:sp>
          <p:nvSpPr>
            <p:cNvPr id="12" name="TextBox 11"/>
            <p:cNvSpPr txBox="1"/>
            <p:nvPr/>
          </p:nvSpPr>
          <p:spPr>
            <a:xfrm>
              <a:off x="0" y="2819400"/>
              <a:ext cx="9005872" cy="523220"/>
            </a:xfrm>
            <a:prstGeom prst="rect">
              <a:avLst/>
            </a:prstGeom>
            <a:noFill/>
          </p:spPr>
          <p:txBody>
            <a:bodyPr wrap="square" rtlCol="0">
              <a:spAutoFit/>
            </a:bodyPr>
            <a:lstStyle/>
            <a:p>
              <a:pPr algn="just"/>
              <a:r>
                <a:rPr lang="en-US" sz="2800" b="1" u="sng" dirty="0">
                  <a:solidFill>
                    <a:srgbClr val="3F3F3F"/>
                  </a:solidFill>
                </a:rPr>
                <a:t>Tutorials</a:t>
              </a:r>
              <a:r>
                <a:rPr lang="en-US" sz="2800" b="1" dirty="0">
                  <a:solidFill>
                    <a:srgbClr val="3F3F3F"/>
                  </a:solidFill>
                </a:rPr>
                <a:t>: </a:t>
              </a:r>
              <a:r>
                <a:rPr lang="en-US" sz="2800" b="1" u="sng" dirty="0" smtClean="0">
                  <a:solidFill>
                    <a:srgbClr val="3F3F3F"/>
                  </a:solidFill>
                </a:rPr>
                <a:t>Tuesdays, </a:t>
              </a:r>
              <a:r>
                <a:rPr lang="en-US" sz="2800" b="1" u="sng" dirty="0">
                  <a:solidFill>
                    <a:srgbClr val="3F3F3F"/>
                  </a:solidFill>
                </a:rPr>
                <a:t>Thursdays </a:t>
              </a:r>
              <a:r>
                <a:rPr lang="en-US" sz="2800" b="1" dirty="0">
                  <a:solidFill>
                    <a:srgbClr val="3F3F3F"/>
                  </a:solidFill>
                </a:rPr>
                <a:t>(</a:t>
              </a:r>
              <a:r>
                <a:rPr lang="en-US" sz="2800" b="1" dirty="0">
                  <a:solidFill>
                    <a:srgbClr val="3F3F3F"/>
                  </a:solidFill>
                  <a:latin typeface="Calibri" panose="020F0502020204030204" pitchFamily="34" charset="0"/>
                </a:rPr>
                <a:t>5:00 – 6:00 PM</a:t>
              </a:r>
              <a:r>
                <a:rPr lang="en-US" sz="2800" b="1" dirty="0">
                  <a:solidFill>
                    <a:srgbClr val="3F3F3F"/>
                  </a:solidFill>
                </a:rPr>
                <a:t>)</a:t>
              </a:r>
            </a:p>
          </p:txBody>
        </p:sp>
        <p:sp>
          <p:nvSpPr>
            <p:cNvPr id="5" name="Rectangle 4"/>
            <p:cNvSpPr/>
            <p:nvPr/>
          </p:nvSpPr>
          <p:spPr>
            <a:xfrm>
              <a:off x="0" y="3435045"/>
              <a:ext cx="6996545" cy="523220"/>
            </a:xfrm>
            <a:prstGeom prst="rect">
              <a:avLst/>
            </a:prstGeom>
          </p:spPr>
          <p:txBody>
            <a:bodyPr wrap="square">
              <a:spAutoFit/>
            </a:bodyPr>
            <a:lstStyle/>
            <a:p>
              <a:r>
                <a:rPr lang="en-US" sz="2800" b="1" u="sng" dirty="0">
                  <a:solidFill>
                    <a:srgbClr val="3F3F3F"/>
                  </a:solidFill>
                </a:rPr>
                <a:t>Venue</a:t>
              </a:r>
              <a:r>
                <a:rPr lang="en-US" sz="2800" b="1" dirty="0">
                  <a:solidFill>
                    <a:srgbClr val="3F3F3F"/>
                  </a:solidFill>
                </a:rPr>
                <a:t> for </a:t>
              </a:r>
              <a:r>
                <a:rPr lang="en-US" sz="2800" b="1" dirty="0" smtClean="0">
                  <a:solidFill>
                    <a:srgbClr val="3F3F3F"/>
                  </a:solidFill>
                </a:rPr>
                <a:t>tutorials: </a:t>
              </a:r>
              <a:r>
                <a:rPr lang="en-US" sz="2800" b="1" dirty="0" smtClean="0">
                  <a:solidFill>
                    <a:srgbClr val="3F3F3F"/>
                  </a:solidFill>
                  <a:latin typeface="Calibri" panose="020F0502020204030204" pitchFamily="34" charset="0"/>
                </a:rPr>
                <a:t>D022, D026, D122 </a:t>
              </a:r>
              <a:endParaRPr lang="en-US" sz="2800" dirty="0">
                <a:latin typeface="Calibri" panose="020F0502020204030204" pitchFamily="34" charset="0"/>
              </a:endParaRPr>
            </a:p>
          </p:txBody>
        </p:sp>
        <p:sp>
          <p:nvSpPr>
            <p:cNvPr id="13" name="TextBox 12"/>
            <p:cNvSpPr txBox="1"/>
            <p:nvPr/>
          </p:nvSpPr>
          <p:spPr>
            <a:xfrm>
              <a:off x="0" y="3962400"/>
              <a:ext cx="9116374" cy="954107"/>
            </a:xfrm>
            <a:prstGeom prst="rect">
              <a:avLst/>
            </a:prstGeom>
            <a:noFill/>
          </p:spPr>
          <p:txBody>
            <a:bodyPr wrap="square" rtlCol="0">
              <a:spAutoFit/>
            </a:bodyPr>
            <a:lstStyle/>
            <a:p>
              <a:pPr algn="just"/>
              <a:r>
                <a:rPr lang="en-US" sz="2800" u="sng" dirty="0">
                  <a:solidFill>
                    <a:srgbClr val="3F3F3F"/>
                  </a:solidFill>
                </a:rPr>
                <a:t>Check time-tables </a:t>
              </a:r>
              <a:r>
                <a:rPr lang="en-US" sz="2800" u="sng" dirty="0" smtClean="0">
                  <a:solidFill>
                    <a:srgbClr val="3F3F3F"/>
                  </a:solidFill>
                </a:rPr>
                <a:t>of tutorial classes for </a:t>
              </a:r>
              <a:r>
                <a:rPr lang="en-US" sz="2800" u="sng" dirty="0">
                  <a:solidFill>
                    <a:srgbClr val="3F3F3F"/>
                  </a:solidFill>
                </a:rPr>
                <a:t>various groups </a:t>
              </a:r>
              <a:r>
                <a:rPr lang="en-US" sz="2800" u="sng" dirty="0" smtClean="0">
                  <a:solidFill>
                    <a:srgbClr val="3F3F3F"/>
                  </a:solidFill>
                </a:rPr>
                <a:t>for </a:t>
              </a:r>
              <a:r>
                <a:rPr lang="en-US" sz="2800" b="1" u="sng" dirty="0" smtClean="0">
                  <a:solidFill>
                    <a:srgbClr val="3F3F3F"/>
                  </a:solidFill>
                </a:rPr>
                <a:t>time slot </a:t>
              </a:r>
              <a:r>
                <a:rPr lang="en-US" sz="2800" u="sng" dirty="0">
                  <a:solidFill>
                    <a:srgbClr val="3F3F3F"/>
                  </a:solidFill>
                </a:rPr>
                <a:t>and </a:t>
              </a:r>
              <a:r>
                <a:rPr lang="en-US" sz="2800" b="1" u="sng" dirty="0" smtClean="0">
                  <a:solidFill>
                    <a:srgbClr val="3F3F3F"/>
                  </a:solidFill>
                </a:rPr>
                <a:t>venue.</a:t>
              </a:r>
              <a:endParaRPr lang="en-US" sz="2800" b="1" u="sng" dirty="0">
                <a:solidFill>
                  <a:srgbClr val="3F3F3F"/>
                </a:solidFill>
              </a:endParaRPr>
            </a:p>
          </p:txBody>
        </p:sp>
      </p:grpSp>
      <p:grpSp>
        <p:nvGrpSpPr>
          <p:cNvPr id="19" name="Group 18"/>
          <p:cNvGrpSpPr/>
          <p:nvPr/>
        </p:nvGrpSpPr>
        <p:grpSpPr>
          <a:xfrm>
            <a:off x="1" y="5522893"/>
            <a:ext cx="9116248" cy="1563707"/>
            <a:chOff x="1" y="5257800"/>
            <a:chExt cx="9116248" cy="1563707"/>
          </a:xfrm>
        </p:grpSpPr>
        <p:sp>
          <p:nvSpPr>
            <p:cNvPr id="6" name="TextBox 5"/>
            <p:cNvSpPr txBox="1"/>
            <p:nvPr/>
          </p:nvSpPr>
          <p:spPr>
            <a:xfrm>
              <a:off x="55377" y="5867400"/>
              <a:ext cx="9060872" cy="954107"/>
            </a:xfrm>
            <a:prstGeom prst="rect">
              <a:avLst/>
            </a:prstGeom>
            <a:noFill/>
          </p:spPr>
          <p:txBody>
            <a:bodyPr wrap="square" rtlCol="0">
              <a:spAutoFit/>
            </a:bodyPr>
            <a:lstStyle/>
            <a:p>
              <a:r>
                <a:rPr lang="en-US" sz="2800" b="1" u="sng" dirty="0">
                  <a:solidFill>
                    <a:srgbClr val="3F3F3F"/>
                  </a:solidFill>
                </a:rPr>
                <a:t>Venue for labs: A-wing (A101), First floor, Physics lab</a:t>
              </a:r>
            </a:p>
            <a:p>
              <a:endParaRPr lang="en-US" sz="2800" dirty="0"/>
            </a:p>
          </p:txBody>
        </p:sp>
        <p:sp>
          <p:nvSpPr>
            <p:cNvPr id="18" name="TextBox 17"/>
            <p:cNvSpPr txBox="1"/>
            <p:nvPr/>
          </p:nvSpPr>
          <p:spPr>
            <a:xfrm>
              <a:off x="1" y="5257800"/>
              <a:ext cx="9060872" cy="1077218"/>
            </a:xfrm>
            <a:prstGeom prst="rect">
              <a:avLst/>
            </a:prstGeom>
            <a:noFill/>
          </p:spPr>
          <p:txBody>
            <a:bodyPr wrap="square" rtlCol="0">
              <a:spAutoFit/>
            </a:bodyPr>
            <a:lstStyle/>
            <a:p>
              <a:r>
                <a:rPr lang="en-US" sz="2800" b="1" u="sng" dirty="0">
                  <a:solidFill>
                    <a:srgbClr val="3F3F3F"/>
                  </a:solidFill>
                </a:rPr>
                <a:t>Labs</a:t>
              </a:r>
              <a:r>
                <a:rPr lang="en-US" sz="2800" b="1" dirty="0">
                  <a:solidFill>
                    <a:srgbClr val="3F3F3F"/>
                  </a:solidFill>
                </a:rPr>
                <a:t>: Monday (2:00-5:00 PM), Wednesday (2:00 – 5:00 PM)</a:t>
              </a:r>
              <a:endParaRPr lang="en-US" b="1" dirty="0">
                <a:solidFill>
                  <a:srgbClr val="3F3F3F"/>
                </a:solidFill>
              </a:endParaRPr>
            </a:p>
            <a:p>
              <a:endParaRPr lang="en-US" b="1" dirty="0">
                <a:solidFill>
                  <a:srgbClr val="3F3F3F"/>
                </a:solidFill>
              </a:endParaRPr>
            </a:p>
            <a:p>
              <a:endParaRPr lang="en-US" dirty="0"/>
            </a:p>
          </p:txBody>
        </p:sp>
      </p:grpSp>
    </p:spTree>
    <p:extLst>
      <p:ext uri="{BB962C8B-B14F-4D97-AF65-F5344CB8AC3E}">
        <p14:creationId xmlns:p14="http://schemas.microsoft.com/office/powerpoint/2010/main" val="2301402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76200"/>
            <a:ext cx="8111836" cy="646331"/>
          </a:xfrm>
          <a:prstGeom prst="rect">
            <a:avLst/>
          </a:prstGeom>
          <a:noFill/>
        </p:spPr>
        <p:txBody>
          <a:bodyPr wrap="square" rtlCol="0">
            <a:spAutoFit/>
          </a:bodyPr>
          <a:lstStyle/>
          <a:p>
            <a:r>
              <a:rPr lang="en-US" sz="3600" b="1" dirty="0" smtClean="0">
                <a:solidFill>
                  <a:schemeClr val="bg1">
                    <a:lumMod val="50000"/>
                  </a:schemeClr>
                </a:solidFill>
              </a:rPr>
              <a:t>Academic aims and learning outcomes</a:t>
            </a:r>
            <a:endParaRPr lang="en-US" sz="3600" b="1" dirty="0">
              <a:solidFill>
                <a:schemeClr val="bg1">
                  <a:lumMod val="50000"/>
                </a:schemeClr>
              </a:solidFill>
            </a:endParaRPr>
          </a:p>
        </p:txBody>
      </p:sp>
      <p:sp>
        <p:nvSpPr>
          <p:cNvPr id="3" name="Rectangle 2"/>
          <p:cNvSpPr/>
          <p:nvPr/>
        </p:nvSpPr>
        <p:spPr>
          <a:xfrm>
            <a:off x="17318" y="990600"/>
            <a:ext cx="9144000" cy="5262979"/>
          </a:xfrm>
          <a:prstGeom prst="rect">
            <a:avLst/>
          </a:prstGeom>
        </p:spPr>
        <p:txBody>
          <a:bodyPr wrap="square">
            <a:spAutoFit/>
          </a:bodyPr>
          <a:lstStyle/>
          <a:p>
            <a:pPr algn="just"/>
            <a:r>
              <a:rPr lang="en-US" sz="2800" dirty="0">
                <a:solidFill>
                  <a:schemeClr val="bg1">
                    <a:lumMod val="50000"/>
                  </a:schemeClr>
                </a:solidFill>
              </a:rPr>
              <a:t>During the </a:t>
            </a:r>
            <a:r>
              <a:rPr lang="en-US" sz="2800" dirty="0" smtClean="0">
                <a:solidFill>
                  <a:schemeClr val="bg1">
                    <a:lumMod val="50000"/>
                  </a:schemeClr>
                </a:solidFill>
              </a:rPr>
              <a:t>semester </a:t>
            </a:r>
            <a:r>
              <a:rPr lang="en-US" sz="2800" dirty="0">
                <a:solidFill>
                  <a:schemeClr val="bg1">
                    <a:lumMod val="50000"/>
                  </a:schemeClr>
                </a:solidFill>
              </a:rPr>
              <a:t>we aim: </a:t>
            </a:r>
            <a:endParaRPr lang="en-US" sz="2800" dirty="0" smtClean="0">
              <a:solidFill>
                <a:schemeClr val="bg1">
                  <a:lumMod val="50000"/>
                </a:schemeClr>
              </a:solidFill>
            </a:endParaRPr>
          </a:p>
          <a:p>
            <a:pPr algn="just"/>
            <a:r>
              <a:rPr lang="en-US" sz="2800" dirty="0" smtClean="0">
                <a:solidFill>
                  <a:schemeClr val="bg1">
                    <a:lumMod val="50000"/>
                  </a:schemeClr>
                </a:solidFill>
              </a:rPr>
              <a:t>• </a:t>
            </a:r>
            <a:r>
              <a:rPr lang="en-US" sz="2800" dirty="0">
                <a:solidFill>
                  <a:schemeClr val="bg1">
                    <a:lumMod val="50000"/>
                  </a:schemeClr>
                </a:solidFill>
              </a:rPr>
              <a:t>to teach a wide range of physics at a basic level, appropriate to the first year of a physics degree. </a:t>
            </a:r>
            <a:endParaRPr lang="en-US" sz="2800" dirty="0" smtClean="0">
              <a:solidFill>
                <a:schemeClr val="bg1">
                  <a:lumMod val="50000"/>
                </a:schemeClr>
              </a:solidFill>
            </a:endParaRPr>
          </a:p>
          <a:p>
            <a:pPr algn="just"/>
            <a:endParaRPr lang="en-US" sz="2800" dirty="0" smtClean="0">
              <a:solidFill>
                <a:schemeClr val="bg1">
                  <a:lumMod val="50000"/>
                </a:schemeClr>
              </a:solidFill>
            </a:endParaRPr>
          </a:p>
          <a:p>
            <a:pPr algn="just"/>
            <a:r>
              <a:rPr lang="en-US" sz="2800" dirty="0" smtClean="0">
                <a:solidFill>
                  <a:schemeClr val="bg1">
                    <a:lumMod val="50000"/>
                  </a:schemeClr>
                </a:solidFill>
              </a:rPr>
              <a:t>• </a:t>
            </a:r>
            <a:r>
              <a:rPr lang="en-US" sz="2800" dirty="0">
                <a:solidFill>
                  <a:schemeClr val="bg1">
                    <a:lumMod val="50000"/>
                  </a:schemeClr>
                </a:solidFill>
              </a:rPr>
              <a:t>to stimulate the interest of students in physics by exposing them to some of the issues at the frontiers of knowledge. </a:t>
            </a:r>
            <a:endParaRPr lang="en-US" sz="2800" dirty="0" smtClean="0">
              <a:solidFill>
                <a:schemeClr val="bg1">
                  <a:lumMod val="50000"/>
                </a:schemeClr>
              </a:solidFill>
            </a:endParaRPr>
          </a:p>
          <a:p>
            <a:pPr algn="just"/>
            <a:endParaRPr lang="en-US" sz="2800" dirty="0" smtClean="0">
              <a:solidFill>
                <a:schemeClr val="bg1">
                  <a:lumMod val="50000"/>
                </a:schemeClr>
              </a:solidFill>
            </a:endParaRPr>
          </a:p>
          <a:p>
            <a:pPr algn="just"/>
            <a:r>
              <a:rPr lang="en-US" sz="2800" dirty="0" smtClean="0">
                <a:solidFill>
                  <a:schemeClr val="bg1">
                    <a:lumMod val="50000"/>
                  </a:schemeClr>
                </a:solidFill>
              </a:rPr>
              <a:t>• </a:t>
            </a:r>
            <a:r>
              <a:rPr lang="en-US" sz="2800" dirty="0">
                <a:solidFill>
                  <a:schemeClr val="bg1">
                    <a:lumMod val="50000"/>
                  </a:schemeClr>
                </a:solidFill>
              </a:rPr>
              <a:t>to allow all students, </a:t>
            </a:r>
            <a:r>
              <a:rPr lang="en-US" sz="2800" dirty="0" smtClean="0">
                <a:solidFill>
                  <a:schemeClr val="bg1">
                    <a:lumMod val="50000"/>
                  </a:schemeClr>
                </a:solidFill>
              </a:rPr>
              <a:t>independent </a:t>
            </a:r>
            <a:r>
              <a:rPr lang="en-US" sz="2800" dirty="0">
                <a:solidFill>
                  <a:schemeClr val="bg1">
                    <a:lumMod val="50000"/>
                  </a:schemeClr>
                </a:solidFill>
              </a:rPr>
              <a:t>of their entry attainments, to reach a similar level of understanding in physics, with the necessary skills in mathematics to solve simple problems in physics. </a:t>
            </a:r>
          </a:p>
        </p:txBody>
      </p:sp>
    </p:spTree>
    <p:extLst>
      <p:ext uri="{BB962C8B-B14F-4D97-AF65-F5344CB8AC3E}">
        <p14:creationId xmlns:p14="http://schemas.microsoft.com/office/powerpoint/2010/main" val="2957635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82" y="304800"/>
            <a:ext cx="9144000" cy="6494085"/>
          </a:xfrm>
          <a:prstGeom prst="rect">
            <a:avLst/>
          </a:prstGeom>
        </p:spPr>
        <p:txBody>
          <a:bodyPr wrap="square">
            <a:spAutoFit/>
          </a:bodyPr>
          <a:lstStyle/>
          <a:p>
            <a:r>
              <a:rPr lang="en-US" sz="3200" dirty="0">
                <a:solidFill>
                  <a:schemeClr val="bg1">
                    <a:lumMod val="50000"/>
                  </a:schemeClr>
                </a:solidFill>
              </a:rPr>
              <a:t>On completion of the course, students should be able to: </a:t>
            </a:r>
            <a:endParaRPr lang="en-US" sz="3200" dirty="0" smtClean="0">
              <a:solidFill>
                <a:schemeClr val="bg1">
                  <a:lumMod val="50000"/>
                </a:schemeClr>
              </a:solidFill>
            </a:endParaRPr>
          </a:p>
          <a:p>
            <a:r>
              <a:rPr lang="en-US" sz="3200" dirty="0" smtClean="0">
                <a:solidFill>
                  <a:schemeClr val="bg1">
                    <a:lumMod val="50000"/>
                  </a:schemeClr>
                </a:solidFill>
              </a:rPr>
              <a:t>• </a:t>
            </a:r>
            <a:r>
              <a:rPr lang="en-US" sz="3200" dirty="0" err="1">
                <a:solidFill>
                  <a:schemeClr val="bg1">
                    <a:lumMod val="50000"/>
                  </a:schemeClr>
                </a:solidFill>
              </a:rPr>
              <a:t>recognise</a:t>
            </a:r>
            <a:r>
              <a:rPr lang="en-US" sz="3200" dirty="0">
                <a:solidFill>
                  <a:schemeClr val="bg1">
                    <a:lumMod val="50000"/>
                  </a:schemeClr>
                </a:solidFill>
              </a:rPr>
              <a:t> the fundamental physics in a wide range of physical processes</a:t>
            </a:r>
            <a:r>
              <a:rPr lang="en-US" sz="3200" dirty="0" smtClean="0">
                <a:solidFill>
                  <a:schemeClr val="bg1">
                    <a:lumMod val="50000"/>
                  </a:schemeClr>
                </a:solidFill>
              </a:rPr>
              <a:t>.</a:t>
            </a:r>
          </a:p>
          <a:p>
            <a:endParaRPr lang="en-US" sz="3200" dirty="0" smtClean="0">
              <a:solidFill>
                <a:schemeClr val="bg1">
                  <a:lumMod val="50000"/>
                </a:schemeClr>
              </a:solidFill>
            </a:endParaRPr>
          </a:p>
          <a:p>
            <a:r>
              <a:rPr lang="en-US" sz="3200" dirty="0" smtClean="0">
                <a:solidFill>
                  <a:schemeClr val="bg1">
                    <a:lumMod val="50000"/>
                  </a:schemeClr>
                </a:solidFill>
              </a:rPr>
              <a:t>• </a:t>
            </a:r>
            <a:r>
              <a:rPr lang="en-US" sz="3200" dirty="0">
                <a:solidFill>
                  <a:schemeClr val="bg1">
                    <a:lumMod val="50000"/>
                  </a:schemeClr>
                </a:solidFill>
              </a:rPr>
              <a:t>explain a wide range of physical processes from underlying basic principles</a:t>
            </a:r>
            <a:r>
              <a:rPr lang="en-US" sz="3200" dirty="0" smtClean="0">
                <a:solidFill>
                  <a:schemeClr val="bg1">
                    <a:lumMod val="50000"/>
                  </a:schemeClr>
                </a:solidFill>
              </a:rPr>
              <a:t>.</a:t>
            </a:r>
          </a:p>
          <a:p>
            <a:endParaRPr lang="en-US" sz="3200" dirty="0" smtClean="0">
              <a:solidFill>
                <a:schemeClr val="bg1">
                  <a:lumMod val="50000"/>
                </a:schemeClr>
              </a:solidFill>
            </a:endParaRPr>
          </a:p>
          <a:p>
            <a:r>
              <a:rPr lang="en-US" sz="3200" dirty="0" smtClean="0">
                <a:solidFill>
                  <a:schemeClr val="bg1">
                    <a:lumMod val="50000"/>
                  </a:schemeClr>
                </a:solidFill>
              </a:rPr>
              <a:t>• </a:t>
            </a:r>
            <a:r>
              <a:rPr lang="en-US" sz="3200" dirty="0">
                <a:solidFill>
                  <a:schemeClr val="bg1">
                    <a:lumMod val="50000"/>
                  </a:schemeClr>
                </a:solidFill>
              </a:rPr>
              <a:t>explain the interrelationship between some physical parameters</a:t>
            </a:r>
            <a:r>
              <a:rPr lang="en-US" sz="3200" dirty="0" smtClean="0">
                <a:solidFill>
                  <a:schemeClr val="bg1">
                    <a:lumMod val="50000"/>
                  </a:schemeClr>
                </a:solidFill>
              </a:rPr>
              <a:t>.</a:t>
            </a:r>
          </a:p>
          <a:p>
            <a:endParaRPr lang="en-US" sz="3200" dirty="0" smtClean="0">
              <a:solidFill>
                <a:schemeClr val="bg1">
                  <a:lumMod val="50000"/>
                </a:schemeClr>
              </a:solidFill>
            </a:endParaRPr>
          </a:p>
          <a:p>
            <a:r>
              <a:rPr lang="en-US" sz="3200" dirty="0" smtClean="0">
                <a:solidFill>
                  <a:schemeClr val="bg1">
                    <a:lumMod val="50000"/>
                  </a:schemeClr>
                </a:solidFill>
              </a:rPr>
              <a:t>• </a:t>
            </a:r>
            <a:r>
              <a:rPr lang="en-US" sz="3200" dirty="0">
                <a:solidFill>
                  <a:schemeClr val="bg1">
                    <a:lumMod val="50000"/>
                  </a:schemeClr>
                </a:solidFill>
              </a:rPr>
              <a:t>calculate or estimate solutions to some simple physical problems. </a:t>
            </a:r>
          </a:p>
        </p:txBody>
      </p:sp>
    </p:spTree>
    <p:extLst>
      <p:ext uri="{BB962C8B-B14F-4D97-AF65-F5344CB8AC3E}">
        <p14:creationId xmlns:p14="http://schemas.microsoft.com/office/powerpoint/2010/main" val="785475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685800"/>
            <a:ext cx="9144000" cy="2261175"/>
            <a:chOff x="76200" y="730802"/>
            <a:chExt cx="9144000" cy="2261175"/>
          </a:xfrm>
        </p:grpSpPr>
        <p:grpSp>
          <p:nvGrpSpPr>
            <p:cNvPr id="5" name="Group 4"/>
            <p:cNvGrpSpPr/>
            <p:nvPr/>
          </p:nvGrpSpPr>
          <p:grpSpPr>
            <a:xfrm>
              <a:off x="76200" y="730802"/>
              <a:ext cx="9144000" cy="2220218"/>
              <a:chOff x="76200" y="1447800"/>
              <a:chExt cx="9144000" cy="2220218"/>
            </a:xfrm>
          </p:grpSpPr>
          <p:sp>
            <p:nvSpPr>
              <p:cNvPr id="2" name="TextBox 1"/>
              <p:cNvSpPr txBox="1"/>
              <p:nvPr/>
            </p:nvSpPr>
            <p:spPr>
              <a:xfrm>
                <a:off x="76200" y="1447800"/>
                <a:ext cx="9144000" cy="1200329"/>
              </a:xfrm>
              <a:prstGeom prst="rect">
                <a:avLst/>
              </a:prstGeom>
              <a:noFill/>
            </p:spPr>
            <p:txBody>
              <a:bodyPr wrap="square" rtlCol="0">
                <a:spAutoFit/>
              </a:bodyPr>
              <a:lstStyle/>
              <a:p>
                <a:r>
                  <a:rPr lang="en-US" sz="3600" b="1" dirty="0" smtClean="0">
                    <a:solidFill>
                      <a:srgbClr val="3F3F3F"/>
                    </a:solidFill>
                  </a:rPr>
                  <a:t>Course Instructor: </a:t>
                </a:r>
                <a:endParaRPr lang="en-US" sz="3600" b="1" dirty="0">
                  <a:solidFill>
                    <a:srgbClr val="3F3F3F"/>
                  </a:solidFill>
                </a:endParaRPr>
              </a:p>
              <a:p>
                <a:r>
                  <a:rPr lang="en-US" sz="3600" b="1" u="sng" dirty="0">
                    <a:solidFill>
                      <a:srgbClr val="3F3F3F"/>
                    </a:solidFill>
                  </a:rPr>
                  <a:t>Dr. Bhaskar Kaviraj</a:t>
                </a:r>
              </a:p>
            </p:txBody>
          </p:sp>
          <p:sp>
            <p:nvSpPr>
              <p:cNvPr id="3" name="TextBox 2"/>
              <p:cNvSpPr txBox="1"/>
              <p:nvPr/>
            </p:nvSpPr>
            <p:spPr>
              <a:xfrm>
                <a:off x="117765" y="2590800"/>
                <a:ext cx="7730835" cy="1077218"/>
              </a:xfrm>
              <a:prstGeom prst="rect">
                <a:avLst/>
              </a:prstGeom>
              <a:noFill/>
            </p:spPr>
            <p:txBody>
              <a:bodyPr wrap="square" rtlCol="0">
                <a:spAutoFit/>
              </a:bodyPr>
              <a:lstStyle/>
              <a:p>
                <a:r>
                  <a:rPr lang="en-US" sz="3200" b="1" dirty="0">
                    <a:solidFill>
                      <a:srgbClr val="3F3F3F"/>
                    </a:solidFill>
                  </a:rPr>
                  <a:t>Office: A</a:t>
                </a:r>
                <a:r>
                  <a:rPr lang="en-US" sz="3200" b="1" dirty="0">
                    <a:solidFill>
                      <a:srgbClr val="3F3F3F"/>
                    </a:solidFill>
                    <a:latin typeface="Calibri" panose="020F0502020204030204" pitchFamily="34" charset="0"/>
                  </a:rPr>
                  <a:t>017C </a:t>
                </a:r>
                <a:r>
                  <a:rPr lang="en-US" sz="3200" b="1" dirty="0">
                    <a:solidFill>
                      <a:srgbClr val="3F3F3F"/>
                    </a:solidFill>
                  </a:rPr>
                  <a:t>(A-wing, </a:t>
                </a:r>
                <a:r>
                  <a:rPr lang="en-US" sz="3200" b="1" dirty="0" smtClean="0">
                    <a:solidFill>
                      <a:srgbClr val="3F3F3F"/>
                    </a:solidFill>
                  </a:rPr>
                  <a:t>Ground </a:t>
                </a:r>
                <a:r>
                  <a:rPr lang="en-US" sz="3200" b="1" dirty="0">
                    <a:solidFill>
                      <a:srgbClr val="3F3F3F"/>
                    </a:solidFill>
                  </a:rPr>
                  <a:t>floor)</a:t>
                </a:r>
              </a:p>
              <a:p>
                <a:endParaRPr lang="en-US" sz="3200" b="1" dirty="0">
                  <a:solidFill>
                    <a:srgbClr val="3F3F3F"/>
                  </a:solidFill>
                </a:endParaRPr>
              </a:p>
            </p:txBody>
          </p:sp>
        </p:grpSp>
        <p:sp>
          <p:nvSpPr>
            <p:cNvPr id="4" name="TextBox 3"/>
            <p:cNvSpPr txBox="1"/>
            <p:nvPr/>
          </p:nvSpPr>
          <p:spPr>
            <a:xfrm>
              <a:off x="117765" y="2407202"/>
              <a:ext cx="7924800" cy="584775"/>
            </a:xfrm>
            <a:prstGeom prst="rect">
              <a:avLst/>
            </a:prstGeom>
            <a:noFill/>
          </p:spPr>
          <p:txBody>
            <a:bodyPr wrap="square" rtlCol="0">
              <a:spAutoFit/>
            </a:bodyPr>
            <a:lstStyle/>
            <a:p>
              <a:r>
                <a:rPr lang="en-US" sz="3200" b="1" dirty="0">
                  <a:solidFill>
                    <a:srgbClr val="3F3F3F"/>
                  </a:solidFill>
                </a:rPr>
                <a:t>Email Address: bhaskar.kaviraj@snu.edu.in</a:t>
              </a:r>
            </a:p>
          </p:txBody>
        </p:sp>
      </p:grpSp>
      <p:sp>
        <p:nvSpPr>
          <p:cNvPr id="11" name="TextBox 10"/>
          <p:cNvSpPr txBox="1"/>
          <p:nvPr/>
        </p:nvSpPr>
        <p:spPr>
          <a:xfrm>
            <a:off x="838200" y="39469"/>
            <a:ext cx="7772400" cy="646331"/>
          </a:xfrm>
          <a:prstGeom prst="rect">
            <a:avLst/>
          </a:prstGeom>
          <a:noFill/>
        </p:spPr>
        <p:txBody>
          <a:bodyPr wrap="square" rtlCol="0">
            <a:spAutoFit/>
          </a:bodyPr>
          <a:lstStyle/>
          <a:p>
            <a:r>
              <a:rPr lang="en-US" sz="3600" b="1" dirty="0" smtClean="0">
                <a:solidFill>
                  <a:schemeClr val="bg1">
                    <a:lumMod val="50000"/>
                  </a:schemeClr>
                </a:solidFill>
              </a:rPr>
              <a:t>Organization and Communication</a:t>
            </a:r>
            <a:endParaRPr lang="en-US" sz="3600" b="1" dirty="0">
              <a:solidFill>
                <a:schemeClr val="bg1">
                  <a:lumMod val="50000"/>
                </a:schemeClr>
              </a:solidFill>
            </a:endParaRPr>
          </a:p>
        </p:txBody>
      </p:sp>
      <p:sp>
        <p:nvSpPr>
          <p:cNvPr id="12" name="TextBox 11"/>
          <p:cNvSpPr txBox="1"/>
          <p:nvPr/>
        </p:nvSpPr>
        <p:spPr>
          <a:xfrm>
            <a:off x="41565" y="3276600"/>
            <a:ext cx="9026235" cy="1384995"/>
          </a:xfrm>
          <a:prstGeom prst="rect">
            <a:avLst/>
          </a:prstGeom>
          <a:noFill/>
        </p:spPr>
        <p:txBody>
          <a:bodyPr wrap="square" rtlCol="0">
            <a:spAutoFit/>
          </a:bodyPr>
          <a:lstStyle/>
          <a:p>
            <a:pPr algn="just"/>
            <a:r>
              <a:rPr lang="en-US" sz="2800" dirty="0" smtClean="0">
                <a:solidFill>
                  <a:schemeClr val="bg1">
                    <a:lumMod val="50000"/>
                  </a:schemeClr>
                </a:solidFill>
              </a:rPr>
              <a:t>There is a committee comprising of the </a:t>
            </a:r>
            <a:r>
              <a:rPr lang="en-US" sz="2800" b="1" i="1" u="sng" dirty="0" smtClean="0">
                <a:solidFill>
                  <a:schemeClr val="bg1">
                    <a:lumMod val="50000"/>
                  </a:schemeClr>
                </a:solidFill>
              </a:rPr>
              <a:t>course instructor</a:t>
            </a:r>
            <a:r>
              <a:rPr lang="en-US" sz="2800" dirty="0" smtClean="0">
                <a:solidFill>
                  <a:schemeClr val="bg1">
                    <a:lumMod val="50000"/>
                  </a:schemeClr>
                </a:solidFill>
              </a:rPr>
              <a:t>, the </a:t>
            </a:r>
            <a:r>
              <a:rPr lang="en-US" sz="2800" u="sng" dirty="0" smtClean="0">
                <a:solidFill>
                  <a:schemeClr val="bg1">
                    <a:lumMod val="50000"/>
                  </a:schemeClr>
                </a:solidFill>
              </a:rPr>
              <a:t>UG </a:t>
            </a:r>
            <a:r>
              <a:rPr lang="en-US" sz="2800" b="1" i="1" u="sng" dirty="0" smtClean="0">
                <a:solidFill>
                  <a:schemeClr val="bg1">
                    <a:lumMod val="50000"/>
                  </a:schemeClr>
                </a:solidFill>
              </a:rPr>
              <a:t>advisor</a:t>
            </a:r>
            <a:r>
              <a:rPr lang="en-US" sz="2800" u="sng" dirty="0" smtClean="0">
                <a:solidFill>
                  <a:schemeClr val="bg1">
                    <a:lumMod val="50000"/>
                  </a:schemeClr>
                </a:solidFill>
              </a:rPr>
              <a:t> </a:t>
            </a:r>
            <a:r>
              <a:rPr lang="en-US" sz="2800" dirty="0" smtClean="0">
                <a:solidFill>
                  <a:schemeClr val="bg1">
                    <a:lumMod val="50000"/>
                  </a:schemeClr>
                </a:solidFill>
              </a:rPr>
              <a:t>(Dr. </a:t>
            </a:r>
            <a:r>
              <a:rPr lang="en-US" sz="2800" dirty="0">
                <a:solidFill>
                  <a:schemeClr val="bg1">
                    <a:lumMod val="50000"/>
                  </a:schemeClr>
                </a:solidFill>
              </a:rPr>
              <a:t>S</a:t>
            </a:r>
            <a:r>
              <a:rPr lang="en-US" sz="2800" dirty="0" smtClean="0">
                <a:solidFill>
                  <a:schemeClr val="bg1">
                    <a:lumMod val="50000"/>
                  </a:schemeClr>
                </a:solidFill>
              </a:rPr>
              <a:t>amarendra </a:t>
            </a:r>
            <a:r>
              <a:rPr lang="en-US" sz="2800" dirty="0" err="1" smtClean="0">
                <a:solidFill>
                  <a:schemeClr val="bg1">
                    <a:lumMod val="50000"/>
                  </a:schemeClr>
                </a:solidFill>
              </a:rPr>
              <a:t>Pratap</a:t>
            </a:r>
            <a:r>
              <a:rPr lang="en-US" sz="2800" dirty="0" smtClean="0">
                <a:solidFill>
                  <a:schemeClr val="bg1">
                    <a:lumMod val="50000"/>
                  </a:schemeClr>
                </a:solidFill>
              </a:rPr>
              <a:t> Singh) and </a:t>
            </a:r>
            <a:r>
              <a:rPr lang="en-US" sz="2800" b="1" i="1" u="sng" dirty="0" smtClean="0">
                <a:solidFill>
                  <a:schemeClr val="bg1">
                    <a:lumMod val="50000"/>
                  </a:schemeClr>
                </a:solidFill>
              </a:rPr>
              <a:t>H.O.D Physics</a:t>
            </a:r>
            <a:r>
              <a:rPr lang="en-US" sz="2800" dirty="0" smtClean="0">
                <a:solidFill>
                  <a:schemeClr val="bg1">
                    <a:lumMod val="50000"/>
                  </a:schemeClr>
                </a:solidFill>
              </a:rPr>
              <a:t> (Dr. Sankar Dhar) that runs the course.</a:t>
            </a:r>
            <a:endParaRPr lang="en-US" sz="2800" dirty="0">
              <a:solidFill>
                <a:schemeClr val="bg1">
                  <a:lumMod val="50000"/>
                </a:schemeClr>
              </a:solidFill>
            </a:endParaRPr>
          </a:p>
        </p:txBody>
      </p:sp>
      <p:sp>
        <p:nvSpPr>
          <p:cNvPr id="13" name="TextBox 12"/>
          <p:cNvSpPr txBox="1"/>
          <p:nvPr/>
        </p:nvSpPr>
        <p:spPr>
          <a:xfrm>
            <a:off x="41565" y="4724400"/>
            <a:ext cx="9026235" cy="2246769"/>
          </a:xfrm>
          <a:prstGeom prst="rect">
            <a:avLst/>
          </a:prstGeom>
          <a:noFill/>
        </p:spPr>
        <p:txBody>
          <a:bodyPr wrap="square" rtlCol="0">
            <a:spAutoFit/>
          </a:bodyPr>
          <a:lstStyle/>
          <a:p>
            <a:pPr algn="just"/>
            <a:r>
              <a:rPr lang="en-US" sz="2800" dirty="0" smtClean="0">
                <a:solidFill>
                  <a:schemeClr val="bg1">
                    <a:lumMod val="50000"/>
                  </a:schemeClr>
                </a:solidFill>
              </a:rPr>
              <a:t>In addition, there would be several </a:t>
            </a:r>
            <a:r>
              <a:rPr lang="en-US" sz="2800" b="1" u="sng" dirty="0" smtClean="0">
                <a:solidFill>
                  <a:schemeClr val="bg1">
                    <a:lumMod val="50000"/>
                  </a:schemeClr>
                </a:solidFill>
              </a:rPr>
              <a:t>group instructors </a:t>
            </a:r>
            <a:r>
              <a:rPr lang="en-US" sz="2800" dirty="0" smtClean="0">
                <a:solidFill>
                  <a:schemeClr val="bg1">
                    <a:lumMod val="50000"/>
                  </a:schemeClr>
                </a:solidFill>
              </a:rPr>
              <a:t>who would be conducting the tutorial classes. You are advised to keep their personal details on hand for consultations regarding tutorial problems, attendance matters in tutorial classes, conduct of examination and evaluations.</a:t>
            </a:r>
            <a:endParaRPr lang="en-US" sz="2800" dirty="0">
              <a:solidFill>
                <a:schemeClr val="bg1">
                  <a:lumMod val="50000"/>
                </a:schemeClr>
              </a:solidFill>
            </a:endParaRPr>
          </a:p>
        </p:txBody>
      </p:sp>
    </p:spTree>
    <p:extLst>
      <p:ext uri="{BB962C8B-B14F-4D97-AF65-F5344CB8AC3E}">
        <p14:creationId xmlns:p14="http://schemas.microsoft.com/office/powerpoint/2010/main" val="19860601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2092881"/>
          </a:xfrm>
          <a:prstGeom prst="rect">
            <a:avLst/>
          </a:prstGeom>
        </p:spPr>
        <p:txBody>
          <a:bodyPr wrap="square">
            <a:spAutoFit/>
          </a:bodyPr>
          <a:lstStyle/>
          <a:p>
            <a:pPr algn="just"/>
            <a:r>
              <a:rPr lang="en-US" sz="2600" dirty="0">
                <a:solidFill>
                  <a:schemeClr val="bg1">
                    <a:lumMod val="50000"/>
                  </a:schemeClr>
                </a:solidFill>
              </a:rPr>
              <a:t>All notices relating to the course will be displayed </a:t>
            </a:r>
            <a:r>
              <a:rPr lang="en-US" sz="2600" dirty="0" smtClean="0">
                <a:solidFill>
                  <a:schemeClr val="bg1">
                    <a:lumMod val="50000"/>
                  </a:schemeClr>
                </a:solidFill>
              </a:rPr>
              <a:t>in Blackboard. </a:t>
            </a:r>
            <a:r>
              <a:rPr lang="en-US" sz="2600" dirty="0">
                <a:solidFill>
                  <a:schemeClr val="bg1">
                    <a:lumMod val="50000"/>
                  </a:schemeClr>
                </a:solidFill>
              </a:rPr>
              <a:t>You should check regularly for details of lectures, examination </a:t>
            </a:r>
            <a:r>
              <a:rPr lang="en-US" sz="2600" dirty="0" smtClean="0">
                <a:solidFill>
                  <a:schemeClr val="bg1">
                    <a:lumMod val="50000"/>
                  </a:schemeClr>
                </a:solidFill>
              </a:rPr>
              <a:t>timetables, </a:t>
            </a:r>
            <a:r>
              <a:rPr lang="en-US" sz="2600" dirty="0">
                <a:solidFill>
                  <a:schemeClr val="bg1">
                    <a:lumMod val="50000"/>
                  </a:schemeClr>
                </a:solidFill>
              </a:rPr>
              <a:t>etc. Information concerning </a:t>
            </a:r>
            <a:r>
              <a:rPr lang="en-US" sz="2600" dirty="0" smtClean="0">
                <a:solidFill>
                  <a:schemeClr val="bg1">
                    <a:lumMod val="50000"/>
                  </a:schemeClr>
                </a:solidFill>
              </a:rPr>
              <a:t>individual lectures would be added under the ‘Content’ section in the respective course in Blackboard.</a:t>
            </a:r>
            <a:endParaRPr lang="en-US" sz="2600" dirty="0">
              <a:solidFill>
                <a:schemeClr val="bg1">
                  <a:lumMod val="50000"/>
                </a:schemeClr>
              </a:solidFill>
            </a:endParaRPr>
          </a:p>
        </p:txBody>
      </p:sp>
      <p:sp>
        <p:nvSpPr>
          <p:cNvPr id="3" name="TextBox 2"/>
          <p:cNvSpPr txBox="1"/>
          <p:nvPr/>
        </p:nvSpPr>
        <p:spPr>
          <a:xfrm>
            <a:off x="0" y="2382322"/>
            <a:ext cx="9144000" cy="2492990"/>
          </a:xfrm>
          <a:prstGeom prst="rect">
            <a:avLst/>
          </a:prstGeom>
          <a:noFill/>
        </p:spPr>
        <p:txBody>
          <a:bodyPr wrap="square" rtlCol="0">
            <a:spAutoFit/>
          </a:bodyPr>
          <a:lstStyle/>
          <a:p>
            <a:pPr algn="just"/>
            <a:r>
              <a:rPr lang="en-US" sz="2600" dirty="0" smtClean="0">
                <a:solidFill>
                  <a:schemeClr val="bg1">
                    <a:lumMod val="50000"/>
                  </a:schemeClr>
                </a:solidFill>
              </a:rPr>
              <a:t>Marks  in term-examinations and quizzes would be uploaded immediately after the evaluated scripts have been shown to you. In case of alterations, proper communication must be established with the </a:t>
            </a:r>
            <a:r>
              <a:rPr lang="en-US" sz="2600" b="1" dirty="0" smtClean="0">
                <a:solidFill>
                  <a:schemeClr val="bg1">
                    <a:lumMod val="50000"/>
                  </a:schemeClr>
                </a:solidFill>
              </a:rPr>
              <a:t>respective tutorial instructor</a:t>
            </a:r>
            <a:r>
              <a:rPr lang="en-US" sz="2600" dirty="0" smtClean="0">
                <a:solidFill>
                  <a:schemeClr val="bg1">
                    <a:lumMod val="50000"/>
                  </a:schemeClr>
                </a:solidFill>
              </a:rPr>
              <a:t>. Requests for alterations by the group instructor would be handled </a:t>
            </a:r>
            <a:r>
              <a:rPr lang="en-US" sz="2600" b="1" dirty="0" smtClean="0">
                <a:solidFill>
                  <a:schemeClr val="bg1">
                    <a:lumMod val="50000"/>
                  </a:schemeClr>
                </a:solidFill>
              </a:rPr>
              <a:t>till 7 days </a:t>
            </a:r>
            <a:r>
              <a:rPr lang="en-US" sz="2600" dirty="0" smtClean="0">
                <a:solidFill>
                  <a:schemeClr val="bg1">
                    <a:lumMod val="50000"/>
                  </a:schemeClr>
                </a:solidFill>
              </a:rPr>
              <a:t>after the upload of marks in Blackboard. </a:t>
            </a:r>
            <a:endParaRPr lang="en-US" sz="2600" dirty="0">
              <a:solidFill>
                <a:schemeClr val="bg1">
                  <a:lumMod val="50000"/>
                </a:schemeClr>
              </a:solidFill>
            </a:endParaRPr>
          </a:p>
        </p:txBody>
      </p:sp>
      <p:sp>
        <p:nvSpPr>
          <p:cNvPr id="4" name="Rectangle 3"/>
          <p:cNvSpPr/>
          <p:nvPr/>
        </p:nvSpPr>
        <p:spPr>
          <a:xfrm>
            <a:off x="0" y="5105400"/>
            <a:ext cx="9144000" cy="1692771"/>
          </a:xfrm>
          <a:prstGeom prst="rect">
            <a:avLst/>
          </a:prstGeom>
        </p:spPr>
        <p:txBody>
          <a:bodyPr wrap="square">
            <a:spAutoFit/>
          </a:bodyPr>
          <a:lstStyle/>
          <a:p>
            <a:pPr algn="just"/>
            <a:r>
              <a:rPr lang="en-US" sz="2600" dirty="0">
                <a:solidFill>
                  <a:schemeClr val="bg1">
                    <a:lumMod val="50000"/>
                  </a:schemeClr>
                </a:solidFill>
              </a:rPr>
              <a:t>If you are unable to view your paper on designated dates, get in touch with group </a:t>
            </a:r>
            <a:r>
              <a:rPr lang="en-US" sz="2600" dirty="0" smtClean="0">
                <a:solidFill>
                  <a:schemeClr val="bg1">
                    <a:lumMod val="50000"/>
                  </a:schemeClr>
                </a:solidFill>
              </a:rPr>
              <a:t>instructor for the next available date. In any case, you forfeit the rights to view/alter the performances in a component </a:t>
            </a:r>
            <a:r>
              <a:rPr lang="en-US" sz="2600" b="1" dirty="0" smtClean="0">
                <a:solidFill>
                  <a:schemeClr val="bg1">
                    <a:lumMod val="50000"/>
                  </a:schemeClr>
                </a:solidFill>
              </a:rPr>
              <a:t>after</a:t>
            </a:r>
            <a:r>
              <a:rPr lang="en-US" sz="2600" dirty="0" smtClean="0">
                <a:solidFill>
                  <a:schemeClr val="bg1">
                    <a:lumMod val="50000"/>
                  </a:schemeClr>
                </a:solidFill>
              </a:rPr>
              <a:t> 7 days of upload of marks.</a:t>
            </a:r>
            <a:endParaRPr lang="en-US" sz="2600" dirty="0">
              <a:solidFill>
                <a:schemeClr val="bg1">
                  <a:lumMod val="50000"/>
                </a:schemeClr>
              </a:solidFill>
            </a:endParaRPr>
          </a:p>
        </p:txBody>
      </p:sp>
    </p:spTree>
    <p:extLst>
      <p:ext uri="{BB962C8B-B14F-4D97-AF65-F5344CB8AC3E}">
        <p14:creationId xmlns:p14="http://schemas.microsoft.com/office/powerpoint/2010/main" val="7068712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9655" y="0"/>
            <a:ext cx="7174593" cy="830997"/>
          </a:xfrm>
          <a:prstGeom prst="rect">
            <a:avLst/>
          </a:prstGeom>
        </p:spPr>
        <p:txBody>
          <a:bodyPr wrap="none">
            <a:spAutoFit/>
          </a:bodyPr>
          <a:lstStyle/>
          <a:p>
            <a:r>
              <a:rPr lang="en-US" sz="4800" b="1" dirty="0">
                <a:solidFill>
                  <a:srgbClr val="C00000"/>
                </a:solidFill>
              </a:rPr>
              <a:t>Course outline and syllabus</a:t>
            </a:r>
            <a:endParaRPr lang="en-US" sz="4800" dirty="0">
              <a:solidFill>
                <a:srgbClr val="C00000"/>
              </a:solidFill>
            </a:endParaRPr>
          </a:p>
        </p:txBody>
      </p:sp>
      <p:sp>
        <p:nvSpPr>
          <p:cNvPr id="4" name="Rectangle 3"/>
          <p:cNvSpPr/>
          <p:nvPr/>
        </p:nvSpPr>
        <p:spPr>
          <a:xfrm>
            <a:off x="2" y="685800"/>
            <a:ext cx="9144000" cy="3046988"/>
          </a:xfrm>
          <a:prstGeom prst="rect">
            <a:avLst/>
          </a:prstGeom>
        </p:spPr>
        <p:txBody>
          <a:bodyPr wrap="square">
            <a:spAutoFit/>
          </a:bodyPr>
          <a:lstStyle/>
          <a:p>
            <a:r>
              <a:rPr lang="en-US" sz="2400" b="1" u="sng" dirty="0">
                <a:solidFill>
                  <a:srgbClr val="3F3F3F"/>
                </a:solidFill>
              </a:rPr>
              <a:t>Vector Calculus:</a:t>
            </a:r>
          </a:p>
          <a:p>
            <a:pPr algn="just"/>
            <a:r>
              <a:rPr lang="en-US" sz="2400" dirty="0">
                <a:solidFill>
                  <a:srgbClr val="3F3F3F"/>
                </a:solidFill>
              </a:rPr>
              <a:t>Fundamental vector operations, Vector calculus: Gradient, Divergence, Curl and related fundamental theorems of vector calculus, Vector integration (line, surface and volume integrals), Divergence theorem and </a:t>
            </a:r>
            <a:r>
              <a:rPr lang="en-US" sz="2400" dirty="0" err="1">
                <a:solidFill>
                  <a:srgbClr val="3F3F3F"/>
                </a:solidFill>
              </a:rPr>
              <a:t>Stoke’s</a:t>
            </a:r>
            <a:r>
              <a:rPr lang="en-US" sz="2400" dirty="0">
                <a:solidFill>
                  <a:srgbClr val="3F3F3F"/>
                </a:solidFill>
              </a:rPr>
              <a:t> theorem, Coordinate systems (Polar (2D), Spherical and Cylindrical (3D)). </a:t>
            </a:r>
          </a:p>
          <a:p>
            <a:pPr algn="just"/>
            <a:endParaRPr lang="en-US" sz="2400" dirty="0">
              <a:solidFill>
                <a:srgbClr val="3F3F3F"/>
              </a:solidFill>
            </a:endParaRPr>
          </a:p>
          <a:p>
            <a:pPr algn="just"/>
            <a:endParaRPr lang="en-US" sz="2400" dirty="0">
              <a:solidFill>
                <a:srgbClr val="3F3F3F"/>
              </a:solidFill>
            </a:endParaRPr>
          </a:p>
        </p:txBody>
      </p:sp>
      <p:grpSp>
        <p:nvGrpSpPr>
          <p:cNvPr id="7" name="Group 6"/>
          <p:cNvGrpSpPr/>
          <p:nvPr/>
        </p:nvGrpSpPr>
        <p:grpSpPr>
          <a:xfrm>
            <a:off x="1" y="3124200"/>
            <a:ext cx="9144000" cy="3484782"/>
            <a:chOff x="27709" y="3008769"/>
            <a:chExt cx="9116291" cy="3484782"/>
          </a:xfrm>
        </p:grpSpPr>
        <p:sp>
          <p:nvSpPr>
            <p:cNvPr id="2" name="TextBox 1"/>
            <p:cNvSpPr txBox="1"/>
            <p:nvPr/>
          </p:nvSpPr>
          <p:spPr>
            <a:xfrm>
              <a:off x="27709" y="3008769"/>
              <a:ext cx="2743200" cy="461665"/>
            </a:xfrm>
            <a:prstGeom prst="rect">
              <a:avLst/>
            </a:prstGeom>
            <a:noFill/>
          </p:spPr>
          <p:txBody>
            <a:bodyPr wrap="square" rtlCol="0">
              <a:spAutoFit/>
            </a:bodyPr>
            <a:lstStyle/>
            <a:p>
              <a:r>
                <a:rPr lang="en-US" sz="2400" b="1" u="sng" dirty="0">
                  <a:solidFill>
                    <a:srgbClr val="3F3F3F"/>
                  </a:solidFill>
                </a:rPr>
                <a:t>Electrostatics</a:t>
              </a:r>
            </a:p>
          </p:txBody>
        </p:sp>
        <p:sp>
          <p:nvSpPr>
            <p:cNvPr id="6" name="TextBox 5"/>
            <p:cNvSpPr txBox="1"/>
            <p:nvPr/>
          </p:nvSpPr>
          <p:spPr>
            <a:xfrm>
              <a:off x="27710" y="3446563"/>
              <a:ext cx="9116290" cy="3046988"/>
            </a:xfrm>
            <a:prstGeom prst="rect">
              <a:avLst/>
            </a:prstGeom>
            <a:noFill/>
          </p:spPr>
          <p:txBody>
            <a:bodyPr wrap="square" rtlCol="0">
              <a:spAutoFit/>
            </a:bodyPr>
            <a:lstStyle/>
            <a:p>
              <a:pPr algn="just"/>
              <a:r>
                <a:rPr lang="en-US" sz="2400" dirty="0">
                  <a:solidFill>
                    <a:srgbClr val="3F3F3F"/>
                  </a:solidFill>
                </a:rPr>
                <a:t>Electric field, divergence and curl of electric fields, electric potential, Work and Energy in electrostatics, conductors and capacitors, Laplace’s equation of electrostatic potential in 1, 2 and 3 dimensions, Multipole expansion of electrostatic potential, monopole and dipole terms, field due to electric dipole, polarization in dielectrics, field of a polarized object, bound charges and its physical interpretation, electric displacement vector and Gauss’s law in dielectrics, definitions of permittivity, susceptibility and dielectric constant</a:t>
              </a:r>
            </a:p>
          </p:txBody>
        </p:sp>
      </p:grpSp>
    </p:spTree>
    <p:extLst>
      <p:ext uri="{BB962C8B-B14F-4D97-AF65-F5344CB8AC3E}">
        <p14:creationId xmlns:p14="http://schemas.microsoft.com/office/powerpoint/2010/main" val="5359620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418" y="-76200"/>
            <a:ext cx="2459182" cy="461665"/>
          </a:xfrm>
          <a:prstGeom prst="rect">
            <a:avLst/>
          </a:prstGeom>
          <a:noFill/>
        </p:spPr>
        <p:txBody>
          <a:bodyPr wrap="square" rtlCol="0">
            <a:spAutoFit/>
          </a:bodyPr>
          <a:lstStyle/>
          <a:p>
            <a:r>
              <a:rPr lang="en-US" sz="2400" b="1" u="sng" dirty="0" err="1">
                <a:solidFill>
                  <a:srgbClr val="3F3F3F"/>
                </a:solidFill>
              </a:rPr>
              <a:t>Magnetostatics</a:t>
            </a:r>
            <a:endParaRPr lang="en-US" sz="2400" b="1" u="sng" dirty="0">
              <a:solidFill>
                <a:srgbClr val="3F3F3F"/>
              </a:solidFill>
            </a:endParaRPr>
          </a:p>
        </p:txBody>
      </p:sp>
      <p:sp>
        <p:nvSpPr>
          <p:cNvPr id="4" name="TextBox 3"/>
          <p:cNvSpPr txBox="1"/>
          <p:nvPr/>
        </p:nvSpPr>
        <p:spPr>
          <a:xfrm>
            <a:off x="6926" y="228600"/>
            <a:ext cx="9137073" cy="3416320"/>
          </a:xfrm>
          <a:prstGeom prst="rect">
            <a:avLst/>
          </a:prstGeom>
          <a:noFill/>
        </p:spPr>
        <p:txBody>
          <a:bodyPr wrap="square" rtlCol="0">
            <a:spAutoFit/>
          </a:bodyPr>
          <a:lstStyle/>
          <a:p>
            <a:pPr algn="just"/>
            <a:r>
              <a:rPr lang="en-US" sz="2400" dirty="0">
                <a:solidFill>
                  <a:srgbClr val="3F3F3F"/>
                </a:solidFill>
              </a:rPr>
              <a:t>Magnetic forces and Lorentz force law, charged particle in an electromagnetic field, magnetic field due to steady current (</a:t>
            </a:r>
            <a:r>
              <a:rPr lang="en-US" sz="2400" dirty="0" err="1">
                <a:solidFill>
                  <a:srgbClr val="3F3F3F"/>
                </a:solidFill>
              </a:rPr>
              <a:t>Biot</a:t>
            </a:r>
            <a:r>
              <a:rPr lang="en-US" sz="2400" dirty="0">
                <a:solidFill>
                  <a:srgbClr val="3F3F3F"/>
                </a:solidFill>
              </a:rPr>
              <a:t>-Savart law), Divergence and Curl of </a:t>
            </a:r>
            <a:r>
              <a:rPr lang="en-US" sz="2400" b="1" dirty="0">
                <a:solidFill>
                  <a:srgbClr val="3F3F3F"/>
                </a:solidFill>
              </a:rPr>
              <a:t>B</a:t>
            </a:r>
            <a:r>
              <a:rPr lang="en-US" sz="2400" dirty="0">
                <a:solidFill>
                  <a:srgbClr val="3F3F3F"/>
                </a:solidFill>
              </a:rPr>
              <a:t>, Ampere’s law (differential and integral form), magnetic dipole, forces and torque on a current carrying loop, magnetic field due to a magnetic dipole, magnetic vector potential, effect of magnetic field on atomic orbits, </a:t>
            </a:r>
            <a:r>
              <a:rPr lang="en-US" sz="2400" dirty="0" err="1">
                <a:solidFill>
                  <a:srgbClr val="3F3F3F"/>
                </a:solidFill>
              </a:rPr>
              <a:t>magnetzation</a:t>
            </a:r>
            <a:r>
              <a:rPr lang="en-US" sz="2400" dirty="0">
                <a:solidFill>
                  <a:srgbClr val="3F3F3F"/>
                </a:solidFill>
              </a:rPr>
              <a:t>, field of a magnetized object, bound currents and their physical interpretation, auxiliary field </a:t>
            </a:r>
            <a:r>
              <a:rPr lang="en-US" sz="2400" b="1" dirty="0">
                <a:solidFill>
                  <a:srgbClr val="3F3F3F"/>
                </a:solidFill>
              </a:rPr>
              <a:t>H</a:t>
            </a:r>
            <a:r>
              <a:rPr lang="en-US" sz="2400" dirty="0">
                <a:solidFill>
                  <a:srgbClr val="3F3F3F"/>
                </a:solidFill>
              </a:rPr>
              <a:t>, Ampere’s law in magnetized materials</a:t>
            </a:r>
          </a:p>
        </p:txBody>
      </p:sp>
      <p:sp>
        <p:nvSpPr>
          <p:cNvPr id="5" name="TextBox 4"/>
          <p:cNvSpPr txBox="1"/>
          <p:nvPr/>
        </p:nvSpPr>
        <p:spPr>
          <a:xfrm>
            <a:off x="76200" y="3505200"/>
            <a:ext cx="2971800" cy="461665"/>
          </a:xfrm>
          <a:prstGeom prst="rect">
            <a:avLst/>
          </a:prstGeom>
          <a:noFill/>
        </p:spPr>
        <p:txBody>
          <a:bodyPr wrap="square" rtlCol="0">
            <a:spAutoFit/>
          </a:bodyPr>
          <a:lstStyle/>
          <a:p>
            <a:r>
              <a:rPr lang="en-US" sz="2400" b="1" u="sng" dirty="0">
                <a:solidFill>
                  <a:srgbClr val="3F3F3F"/>
                </a:solidFill>
              </a:rPr>
              <a:t>Electrodynamics</a:t>
            </a:r>
          </a:p>
        </p:txBody>
      </p:sp>
      <p:sp>
        <p:nvSpPr>
          <p:cNvPr id="6" name="TextBox 5"/>
          <p:cNvSpPr txBox="1"/>
          <p:nvPr/>
        </p:nvSpPr>
        <p:spPr>
          <a:xfrm>
            <a:off x="76201" y="3886200"/>
            <a:ext cx="9067799" cy="3046988"/>
          </a:xfrm>
          <a:prstGeom prst="rect">
            <a:avLst/>
          </a:prstGeom>
          <a:noFill/>
        </p:spPr>
        <p:txBody>
          <a:bodyPr wrap="square" rtlCol="0">
            <a:spAutoFit/>
          </a:bodyPr>
          <a:lstStyle/>
          <a:p>
            <a:pPr algn="just"/>
            <a:r>
              <a:rPr lang="en-US" sz="2400" dirty="0">
                <a:solidFill>
                  <a:srgbClr val="3F3F3F"/>
                </a:solidFill>
              </a:rPr>
              <a:t>Electromotive force, Ohm’s law, motional </a:t>
            </a:r>
            <a:r>
              <a:rPr lang="en-US" sz="2400" dirty="0" err="1">
                <a:solidFill>
                  <a:srgbClr val="3F3F3F"/>
                </a:solidFill>
              </a:rPr>
              <a:t>emf</a:t>
            </a:r>
            <a:r>
              <a:rPr lang="en-US" sz="2400" dirty="0">
                <a:solidFill>
                  <a:srgbClr val="3F3F3F"/>
                </a:solidFill>
              </a:rPr>
              <a:t>, Faraday’s law of electromagnetic induction and induced electric field, self and mutual inductance, energy in magnetic fields, Maxwell’s equations before and after Maxwell, displacement currents, work-energy theorem (</a:t>
            </a:r>
            <a:r>
              <a:rPr lang="en-US" sz="2400" dirty="0" err="1">
                <a:solidFill>
                  <a:srgbClr val="3F3F3F"/>
                </a:solidFill>
              </a:rPr>
              <a:t>Poynting’s</a:t>
            </a:r>
            <a:r>
              <a:rPr lang="en-US" sz="2400" dirty="0">
                <a:solidFill>
                  <a:srgbClr val="3F3F3F"/>
                </a:solidFill>
              </a:rPr>
              <a:t> theorem) in electrodynamics, </a:t>
            </a:r>
            <a:r>
              <a:rPr lang="en-US" sz="2400" dirty="0" err="1">
                <a:solidFill>
                  <a:srgbClr val="3F3F3F"/>
                </a:solidFill>
              </a:rPr>
              <a:t>Poynting’s</a:t>
            </a:r>
            <a:r>
              <a:rPr lang="en-US" sz="2400" dirty="0">
                <a:solidFill>
                  <a:srgbClr val="3F3F3F"/>
                </a:solidFill>
              </a:rPr>
              <a:t> vector, continuity equation, electromagnetic waves in vacuum, monochromatic plane electromagnetic waves and their representation</a:t>
            </a:r>
          </a:p>
        </p:txBody>
      </p:sp>
    </p:spTree>
    <p:extLst>
      <p:ext uri="{BB962C8B-B14F-4D97-AF65-F5344CB8AC3E}">
        <p14:creationId xmlns:p14="http://schemas.microsoft.com/office/powerpoint/2010/main" val="9036908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838200"/>
            <a:ext cx="8991600" cy="4401205"/>
          </a:xfrm>
          <a:prstGeom prst="rect">
            <a:avLst/>
          </a:prstGeom>
        </p:spPr>
        <p:txBody>
          <a:bodyPr wrap="square">
            <a:spAutoFit/>
          </a:bodyPr>
          <a:lstStyle/>
          <a:p>
            <a:pPr algn="just"/>
            <a:r>
              <a:rPr lang="en-US" sz="2800" b="1" u="sng" dirty="0">
                <a:solidFill>
                  <a:srgbClr val="3F3F3F"/>
                </a:solidFill>
              </a:rPr>
              <a:t>Wave Optics:</a:t>
            </a:r>
          </a:p>
          <a:p>
            <a:pPr algn="just"/>
            <a:r>
              <a:rPr lang="en-US" sz="2800" b="1" dirty="0">
                <a:solidFill>
                  <a:srgbClr val="3F3F3F"/>
                </a:solidFill>
              </a:rPr>
              <a:t>Interference of light waves: </a:t>
            </a:r>
            <a:r>
              <a:rPr lang="en-US" sz="2800" dirty="0">
                <a:solidFill>
                  <a:srgbClr val="3F3F3F"/>
                </a:solidFill>
              </a:rPr>
              <a:t>Young’s double slit experiment, displacement of fringes, Interference in thin films.</a:t>
            </a:r>
          </a:p>
          <a:p>
            <a:pPr algn="just"/>
            <a:endParaRPr lang="en-US" sz="2800" dirty="0">
              <a:solidFill>
                <a:srgbClr val="3F3F3F"/>
              </a:solidFill>
            </a:endParaRPr>
          </a:p>
          <a:p>
            <a:pPr algn="just"/>
            <a:r>
              <a:rPr lang="en-US" sz="2800" b="1" dirty="0">
                <a:solidFill>
                  <a:srgbClr val="3F3F3F"/>
                </a:solidFill>
              </a:rPr>
              <a:t>Diffraction: </a:t>
            </a:r>
            <a:r>
              <a:rPr lang="en-US" sz="2800" dirty="0">
                <a:solidFill>
                  <a:srgbClr val="3F3F3F"/>
                </a:solidFill>
              </a:rPr>
              <a:t>Fresnel’s and Fraunhofer’s class of diffraction, diffraction from single, double &amp; N- </a:t>
            </a:r>
            <a:r>
              <a:rPr lang="en-US" sz="2800" dirty="0" smtClean="0">
                <a:solidFill>
                  <a:srgbClr val="3F3F3F"/>
                </a:solidFill>
              </a:rPr>
              <a:t>Slits, theory of diffraction grating.</a:t>
            </a:r>
            <a:endParaRPr lang="en-US" sz="2800" dirty="0">
              <a:solidFill>
                <a:srgbClr val="3F3F3F"/>
              </a:solidFill>
            </a:endParaRPr>
          </a:p>
          <a:p>
            <a:pPr algn="just"/>
            <a:endParaRPr lang="en-US" sz="2800" dirty="0">
              <a:solidFill>
                <a:srgbClr val="3F3F3F"/>
              </a:solidFill>
            </a:endParaRPr>
          </a:p>
          <a:p>
            <a:pPr algn="just"/>
            <a:endParaRPr lang="en-US" sz="2800" b="1" dirty="0">
              <a:solidFill>
                <a:srgbClr val="3F3F3F"/>
              </a:solidFill>
            </a:endParaRPr>
          </a:p>
        </p:txBody>
      </p:sp>
    </p:spTree>
    <p:extLst>
      <p:ext uri="{BB962C8B-B14F-4D97-AF65-F5344CB8AC3E}">
        <p14:creationId xmlns:p14="http://schemas.microsoft.com/office/powerpoint/2010/main" val="21657667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0" y="152400"/>
            <a:ext cx="3444661" cy="707886"/>
          </a:xfrm>
          <a:prstGeom prst="rect">
            <a:avLst/>
          </a:prstGeom>
        </p:spPr>
        <p:txBody>
          <a:bodyPr wrap="none">
            <a:spAutoFit/>
          </a:bodyPr>
          <a:lstStyle/>
          <a:p>
            <a:r>
              <a:rPr lang="en-US" sz="4000" b="1" dirty="0">
                <a:solidFill>
                  <a:srgbClr val="C00000"/>
                </a:solidFill>
              </a:rPr>
              <a:t>Further details:</a:t>
            </a:r>
            <a:endParaRPr lang="en-US" sz="4000" dirty="0">
              <a:solidFill>
                <a:srgbClr val="C00000"/>
              </a:solidFill>
            </a:endParaRPr>
          </a:p>
        </p:txBody>
      </p:sp>
      <p:sp>
        <p:nvSpPr>
          <p:cNvPr id="3" name="Rectangle 2"/>
          <p:cNvSpPr/>
          <p:nvPr/>
        </p:nvSpPr>
        <p:spPr>
          <a:xfrm>
            <a:off x="103910" y="838200"/>
            <a:ext cx="6781800" cy="984885"/>
          </a:xfrm>
          <a:prstGeom prst="rect">
            <a:avLst/>
          </a:prstGeom>
        </p:spPr>
        <p:txBody>
          <a:bodyPr wrap="square">
            <a:spAutoFit/>
          </a:bodyPr>
          <a:lstStyle/>
          <a:p>
            <a:r>
              <a:rPr lang="en-US" sz="3000" b="1" dirty="0">
                <a:solidFill>
                  <a:srgbClr val="3F3F3F"/>
                </a:solidFill>
              </a:rPr>
              <a:t>Attendance requirements:</a:t>
            </a:r>
          </a:p>
          <a:p>
            <a:r>
              <a:rPr lang="en-US" sz="2800" u="sng" dirty="0">
                <a:solidFill>
                  <a:srgbClr val="3F3F3F"/>
                </a:solidFill>
              </a:rPr>
              <a:t>75% (minimum as per SNU’s policy)</a:t>
            </a:r>
          </a:p>
        </p:txBody>
      </p:sp>
      <p:sp>
        <p:nvSpPr>
          <p:cNvPr id="4" name="Rectangle 3"/>
          <p:cNvSpPr/>
          <p:nvPr/>
        </p:nvSpPr>
        <p:spPr>
          <a:xfrm>
            <a:off x="76200" y="1946565"/>
            <a:ext cx="8873836" cy="2031325"/>
          </a:xfrm>
          <a:prstGeom prst="rect">
            <a:avLst/>
          </a:prstGeom>
        </p:spPr>
        <p:txBody>
          <a:bodyPr wrap="square">
            <a:spAutoFit/>
          </a:bodyPr>
          <a:lstStyle/>
          <a:p>
            <a:r>
              <a:rPr lang="en-US" sz="3000" b="1" dirty="0">
                <a:solidFill>
                  <a:srgbClr val="3F3F3F"/>
                </a:solidFill>
              </a:rPr>
              <a:t>Course pre-requisite (flexible</a:t>
            </a:r>
            <a:r>
              <a:rPr lang="en-US" sz="3000" b="1" dirty="0" smtClean="0">
                <a:solidFill>
                  <a:srgbClr val="3F3F3F"/>
                </a:solidFill>
              </a:rPr>
              <a:t>): </a:t>
            </a:r>
            <a:r>
              <a:rPr lang="en-US" sz="3000" b="1" dirty="0" smtClean="0">
                <a:solidFill>
                  <a:srgbClr val="3F3F3F"/>
                </a:solidFill>
                <a:latin typeface="Calibri" panose="020F0502020204030204" pitchFamily="34" charset="0"/>
              </a:rPr>
              <a:t>MAT101, PHY101</a:t>
            </a:r>
            <a:endParaRPr lang="en-US" sz="3000" b="1" dirty="0">
              <a:solidFill>
                <a:srgbClr val="3F3F3F"/>
              </a:solidFill>
              <a:latin typeface="Calibri" panose="020F0502020204030204" pitchFamily="34" charset="0"/>
            </a:endParaRPr>
          </a:p>
          <a:p>
            <a:r>
              <a:rPr lang="en-US" sz="2400" dirty="0">
                <a:solidFill>
                  <a:srgbClr val="3F3F3F"/>
                </a:solidFill>
              </a:rPr>
              <a:t>Reasonably good Mathematical background (calculus, differential equations, algebra, geometry, graphical analysis, co-ordinate system, transformation of coordinate systems, vectors, vector calculus).</a:t>
            </a:r>
          </a:p>
        </p:txBody>
      </p:sp>
      <p:sp>
        <p:nvSpPr>
          <p:cNvPr id="5" name="Rectangle 4"/>
          <p:cNvSpPr/>
          <p:nvPr/>
        </p:nvSpPr>
        <p:spPr>
          <a:xfrm>
            <a:off x="76200" y="4152543"/>
            <a:ext cx="9067800" cy="2400657"/>
          </a:xfrm>
          <a:prstGeom prst="rect">
            <a:avLst/>
          </a:prstGeom>
        </p:spPr>
        <p:txBody>
          <a:bodyPr wrap="square">
            <a:spAutoFit/>
          </a:bodyPr>
          <a:lstStyle/>
          <a:p>
            <a:r>
              <a:rPr lang="en-US" sz="3000" b="1" dirty="0">
                <a:solidFill>
                  <a:srgbClr val="3F3F3F"/>
                </a:solidFill>
              </a:rPr>
              <a:t>Text /reference books:</a:t>
            </a:r>
          </a:p>
          <a:p>
            <a:r>
              <a:rPr lang="en-US" sz="2400" i="1" dirty="0">
                <a:solidFill>
                  <a:srgbClr val="3F3F3F"/>
                </a:solidFill>
              </a:rPr>
              <a:t>1. </a:t>
            </a:r>
            <a:r>
              <a:rPr lang="en-US" sz="2400" b="1" u="sng" dirty="0">
                <a:solidFill>
                  <a:srgbClr val="3F3F3F"/>
                </a:solidFill>
              </a:rPr>
              <a:t>Introduction to Electrodynamics, </a:t>
            </a:r>
            <a:r>
              <a:rPr lang="en-US" sz="2400" b="1" i="1" u="sng" dirty="0">
                <a:solidFill>
                  <a:srgbClr val="3F3F3F"/>
                </a:solidFill>
              </a:rPr>
              <a:t>D. J. Griffith</a:t>
            </a:r>
          </a:p>
          <a:p>
            <a:r>
              <a:rPr lang="en-US" sz="2400" dirty="0">
                <a:solidFill>
                  <a:srgbClr val="3F3F3F"/>
                </a:solidFill>
              </a:rPr>
              <a:t>2. Physics for Scientists and Engineers with Modern Physics, </a:t>
            </a:r>
            <a:r>
              <a:rPr lang="en-US" sz="2400" i="1" dirty="0">
                <a:solidFill>
                  <a:srgbClr val="3F3F3F"/>
                </a:solidFill>
              </a:rPr>
              <a:t>J. W. Jewett and R. A. </a:t>
            </a:r>
            <a:r>
              <a:rPr lang="en-US" sz="2400" i="1" dirty="0" err="1">
                <a:solidFill>
                  <a:srgbClr val="3F3F3F"/>
                </a:solidFill>
              </a:rPr>
              <a:t>Serway</a:t>
            </a:r>
            <a:endParaRPr lang="en-US" sz="2400" i="1" dirty="0">
              <a:solidFill>
                <a:srgbClr val="3F3F3F"/>
              </a:solidFill>
            </a:endParaRPr>
          </a:p>
          <a:p>
            <a:r>
              <a:rPr lang="en-US" sz="2400" i="1" dirty="0">
                <a:solidFill>
                  <a:srgbClr val="3F3F3F"/>
                </a:solidFill>
              </a:rPr>
              <a:t>3. </a:t>
            </a:r>
            <a:r>
              <a:rPr lang="en-US" sz="2400" dirty="0">
                <a:solidFill>
                  <a:srgbClr val="3F3F3F"/>
                </a:solidFill>
              </a:rPr>
              <a:t>Feynman Lecture series</a:t>
            </a:r>
            <a:r>
              <a:rPr lang="en-US" sz="2400" i="1" dirty="0">
                <a:solidFill>
                  <a:srgbClr val="3F3F3F"/>
                </a:solidFill>
              </a:rPr>
              <a:t>, Vol. 2.</a:t>
            </a:r>
          </a:p>
          <a:p>
            <a:r>
              <a:rPr lang="en-US" sz="2400" dirty="0">
                <a:solidFill>
                  <a:srgbClr val="3F3F3F"/>
                </a:solidFill>
              </a:rPr>
              <a:t>4. Classical electrodynamics, </a:t>
            </a:r>
            <a:r>
              <a:rPr lang="en-US" sz="2400" i="1" dirty="0">
                <a:solidFill>
                  <a:srgbClr val="3F3F3F"/>
                </a:solidFill>
              </a:rPr>
              <a:t>J. D. Jackson</a:t>
            </a:r>
            <a:endParaRPr lang="en-US" sz="2400" dirty="0">
              <a:solidFill>
                <a:srgbClr val="3F3F3F"/>
              </a:solidFill>
            </a:endParaRPr>
          </a:p>
        </p:txBody>
      </p:sp>
    </p:spTree>
    <p:extLst>
      <p:ext uri="{BB962C8B-B14F-4D97-AF65-F5344CB8AC3E}">
        <p14:creationId xmlns:p14="http://schemas.microsoft.com/office/powerpoint/2010/main" val="7505896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0"/>
            <a:ext cx="5529399" cy="646331"/>
          </a:xfrm>
          <a:prstGeom prst="rect">
            <a:avLst/>
          </a:prstGeom>
        </p:spPr>
        <p:txBody>
          <a:bodyPr wrap="none">
            <a:spAutoFit/>
          </a:bodyPr>
          <a:lstStyle/>
          <a:p>
            <a:r>
              <a:rPr lang="en-US" sz="3600" b="1" dirty="0">
                <a:solidFill>
                  <a:srgbClr val="C00000"/>
                </a:solidFill>
              </a:rPr>
              <a:t>Course evaluation scheme:</a:t>
            </a:r>
            <a:endParaRPr lang="en-US" sz="3600" dirty="0">
              <a:solidFill>
                <a:srgbClr val="C00000"/>
              </a:solidFill>
            </a:endParaRPr>
          </a:p>
        </p:txBody>
      </p:sp>
      <p:sp>
        <p:nvSpPr>
          <p:cNvPr id="3" name="Rectangle 2"/>
          <p:cNvSpPr/>
          <p:nvPr/>
        </p:nvSpPr>
        <p:spPr>
          <a:xfrm>
            <a:off x="990599" y="457200"/>
            <a:ext cx="8153401" cy="2092881"/>
          </a:xfrm>
          <a:prstGeom prst="rect">
            <a:avLst/>
          </a:prstGeom>
        </p:spPr>
        <p:txBody>
          <a:bodyPr wrap="square">
            <a:spAutoFit/>
          </a:bodyPr>
          <a:lstStyle/>
          <a:p>
            <a:r>
              <a:rPr lang="en-US" sz="2600" dirty="0">
                <a:solidFill>
                  <a:srgbClr val="3F3F3F"/>
                </a:solidFill>
              </a:rPr>
              <a:t>- </a:t>
            </a:r>
            <a:r>
              <a:rPr lang="en-US" sz="2600" b="1" dirty="0">
                <a:solidFill>
                  <a:srgbClr val="3F3F3F"/>
                </a:solidFill>
              </a:rPr>
              <a:t>One mid semester exam: 20%</a:t>
            </a:r>
          </a:p>
          <a:p>
            <a:r>
              <a:rPr lang="en-US" sz="2600" dirty="0">
                <a:solidFill>
                  <a:srgbClr val="3F3F3F"/>
                </a:solidFill>
              </a:rPr>
              <a:t>- </a:t>
            </a:r>
            <a:r>
              <a:rPr lang="en-US" sz="2600" b="1" dirty="0">
                <a:solidFill>
                  <a:srgbClr val="3F3F3F"/>
                </a:solidFill>
              </a:rPr>
              <a:t>Two quizzes + Surprise quizzes</a:t>
            </a:r>
            <a:r>
              <a:rPr lang="en-US" sz="2600" dirty="0">
                <a:solidFill>
                  <a:srgbClr val="3F3F3F"/>
                </a:solidFill>
              </a:rPr>
              <a:t>: (</a:t>
            </a:r>
            <a:r>
              <a:rPr lang="en-US" sz="2600" b="1" dirty="0">
                <a:solidFill>
                  <a:srgbClr val="3F3F3F"/>
                </a:solidFill>
              </a:rPr>
              <a:t>total, 20%</a:t>
            </a:r>
            <a:r>
              <a:rPr lang="en-US" sz="2600" dirty="0">
                <a:solidFill>
                  <a:srgbClr val="3F3F3F"/>
                </a:solidFill>
              </a:rPr>
              <a:t>) </a:t>
            </a:r>
          </a:p>
          <a:p>
            <a:r>
              <a:rPr lang="en-US" sz="2600" dirty="0">
                <a:solidFill>
                  <a:srgbClr val="3F3F3F"/>
                </a:solidFill>
              </a:rPr>
              <a:t>- Lab: 15% (Lab classes) + 10% (Lab Exam.) </a:t>
            </a:r>
            <a:r>
              <a:rPr lang="en-US" sz="2600" b="1" dirty="0">
                <a:solidFill>
                  <a:srgbClr val="3F3F3F"/>
                </a:solidFill>
              </a:rPr>
              <a:t>(Total 25%)</a:t>
            </a:r>
          </a:p>
          <a:p>
            <a:r>
              <a:rPr lang="en-US" sz="2600" dirty="0">
                <a:solidFill>
                  <a:srgbClr val="3F3F3F"/>
                </a:solidFill>
              </a:rPr>
              <a:t>- </a:t>
            </a:r>
            <a:r>
              <a:rPr lang="en-US" sz="2600" b="1" dirty="0">
                <a:solidFill>
                  <a:srgbClr val="3F3F3F"/>
                </a:solidFill>
              </a:rPr>
              <a:t>End-semester examination: 35%</a:t>
            </a:r>
          </a:p>
          <a:p>
            <a:r>
              <a:rPr lang="en-US" sz="2600" dirty="0">
                <a:solidFill>
                  <a:srgbClr val="3F3F3F"/>
                </a:solidFill>
              </a:rPr>
              <a:t>- Minimum passing marks (Abs. scale): </a:t>
            </a:r>
            <a:r>
              <a:rPr lang="en-US" sz="2600" dirty="0" smtClean="0">
                <a:solidFill>
                  <a:srgbClr val="3F3F3F"/>
                </a:solidFill>
              </a:rPr>
              <a:t>35%</a:t>
            </a:r>
            <a:endParaRPr lang="en-US" sz="2600" dirty="0">
              <a:solidFill>
                <a:srgbClr val="3F3F3F"/>
              </a:solidFill>
            </a:endParaRPr>
          </a:p>
        </p:txBody>
      </p:sp>
      <p:sp>
        <p:nvSpPr>
          <p:cNvPr id="4" name="Rectangle 3"/>
          <p:cNvSpPr/>
          <p:nvPr/>
        </p:nvSpPr>
        <p:spPr>
          <a:xfrm>
            <a:off x="311727" y="3088223"/>
            <a:ext cx="3853171" cy="646331"/>
          </a:xfrm>
          <a:prstGeom prst="rect">
            <a:avLst/>
          </a:prstGeom>
        </p:spPr>
        <p:txBody>
          <a:bodyPr wrap="none">
            <a:spAutoFit/>
          </a:bodyPr>
          <a:lstStyle/>
          <a:p>
            <a:r>
              <a:rPr lang="en-US" sz="3600" b="1" dirty="0">
                <a:solidFill>
                  <a:srgbClr val="C00000"/>
                </a:solidFill>
              </a:rPr>
              <a:t>Syllabus for exams:</a:t>
            </a:r>
            <a:endParaRPr lang="en-US" sz="3600" dirty="0">
              <a:solidFill>
                <a:srgbClr val="C00000"/>
              </a:solidFill>
            </a:endParaRPr>
          </a:p>
        </p:txBody>
      </p:sp>
      <p:sp>
        <p:nvSpPr>
          <p:cNvPr id="5" name="Rectangle 4"/>
          <p:cNvSpPr/>
          <p:nvPr/>
        </p:nvSpPr>
        <p:spPr>
          <a:xfrm>
            <a:off x="290944" y="3810000"/>
            <a:ext cx="8700655" cy="892552"/>
          </a:xfrm>
          <a:prstGeom prst="rect">
            <a:avLst/>
          </a:prstGeom>
        </p:spPr>
        <p:txBody>
          <a:bodyPr wrap="square">
            <a:spAutoFit/>
          </a:bodyPr>
          <a:lstStyle/>
          <a:p>
            <a:pPr algn="just"/>
            <a:r>
              <a:rPr lang="en-US" sz="2600" b="1" u="sng" dirty="0">
                <a:solidFill>
                  <a:srgbClr val="3F3F3F"/>
                </a:solidFill>
              </a:rPr>
              <a:t>For mid sems</a:t>
            </a:r>
            <a:r>
              <a:rPr lang="en-US" sz="2600" dirty="0">
                <a:solidFill>
                  <a:srgbClr val="3F3F3F"/>
                </a:solidFill>
              </a:rPr>
              <a:t>.: Topics covered </a:t>
            </a:r>
            <a:r>
              <a:rPr lang="en-US" sz="2600" b="1" i="1" u="sng" dirty="0">
                <a:solidFill>
                  <a:srgbClr val="3F3F3F"/>
                </a:solidFill>
              </a:rPr>
              <a:t>upto </a:t>
            </a:r>
            <a:r>
              <a:rPr lang="en-US" sz="2600" b="1" u="sng" dirty="0">
                <a:solidFill>
                  <a:srgbClr val="3F3F3F"/>
                </a:solidFill>
              </a:rPr>
              <a:t>one week before</a:t>
            </a:r>
            <a:r>
              <a:rPr lang="en-US" sz="2600" dirty="0">
                <a:solidFill>
                  <a:srgbClr val="3F3F3F"/>
                </a:solidFill>
              </a:rPr>
              <a:t> the scheduled examinations.</a:t>
            </a:r>
          </a:p>
        </p:txBody>
      </p:sp>
      <p:sp>
        <p:nvSpPr>
          <p:cNvPr id="6" name="Rectangle 5"/>
          <p:cNvSpPr/>
          <p:nvPr/>
        </p:nvSpPr>
        <p:spPr>
          <a:xfrm>
            <a:off x="287500" y="4716959"/>
            <a:ext cx="8001002" cy="892552"/>
          </a:xfrm>
          <a:prstGeom prst="rect">
            <a:avLst/>
          </a:prstGeom>
        </p:spPr>
        <p:txBody>
          <a:bodyPr wrap="square">
            <a:spAutoFit/>
          </a:bodyPr>
          <a:lstStyle/>
          <a:p>
            <a:pPr algn="just"/>
            <a:r>
              <a:rPr lang="en-US" sz="2600" b="1" u="sng" dirty="0">
                <a:solidFill>
                  <a:srgbClr val="3F3F3F"/>
                </a:solidFill>
              </a:rPr>
              <a:t>End sem (Final)</a:t>
            </a:r>
            <a:r>
              <a:rPr lang="en-US" sz="2600" dirty="0">
                <a:solidFill>
                  <a:srgbClr val="3F3F3F"/>
                </a:solidFill>
              </a:rPr>
              <a:t>: </a:t>
            </a:r>
            <a:r>
              <a:rPr lang="en-US" sz="2600" dirty="0" smtClean="0">
                <a:solidFill>
                  <a:srgbClr val="3F3F3F"/>
                </a:solidFill>
              </a:rPr>
              <a:t>T</a:t>
            </a:r>
            <a:r>
              <a:rPr lang="en-US" sz="2600" i="1" u="sng" dirty="0" smtClean="0">
                <a:solidFill>
                  <a:srgbClr val="3F3F3F"/>
                </a:solidFill>
              </a:rPr>
              <a:t>opics covered during end-term</a:t>
            </a:r>
            <a:r>
              <a:rPr lang="en-US" sz="2600" u="sng" dirty="0" smtClean="0">
                <a:solidFill>
                  <a:srgbClr val="3F3F3F"/>
                </a:solidFill>
              </a:rPr>
              <a:t> </a:t>
            </a:r>
            <a:r>
              <a:rPr lang="en-US" sz="2600" dirty="0">
                <a:solidFill>
                  <a:srgbClr val="3F3F3F"/>
                </a:solidFill>
              </a:rPr>
              <a:t>(60-70% questions can be expected)+ </a:t>
            </a:r>
            <a:r>
              <a:rPr lang="en-US" sz="2600" i="1" u="sng" dirty="0">
                <a:solidFill>
                  <a:srgbClr val="3F3F3F"/>
                </a:solidFill>
              </a:rPr>
              <a:t>Mid-sem syllabus (30-40%)</a:t>
            </a:r>
          </a:p>
        </p:txBody>
      </p:sp>
      <p:sp>
        <p:nvSpPr>
          <p:cNvPr id="7" name="Rectangle 6"/>
          <p:cNvSpPr/>
          <p:nvPr/>
        </p:nvSpPr>
        <p:spPr>
          <a:xfrm>
            <a:off x="280572" y="5597604"/>
            <a:ext cx="8863428" cy="1292662"/>
          </a:xfrm>
          <a:prstGeom prst="rect">
            <a:avLst/>
          </a:prstGeom>
        </p:spPr>
        <p:txBody>
          <a:bodyPr wrap="square">
            <a:spAutoFit/>
          </a:bodyPr>
          <a:lstStyle/>
          <a:p>
            <a:pPr algn="just"/>
            <a:r>
              <a:rPr lang="en-US" sz="2600" b="1" u="sng" dirty="0">
                <a:solidFill>
                  <a:srgbClr val="3F3F3F"/>
                </a:solidFill>
              </a:rPr>
              <a:t>All quizzes </a:t>
            </a:r>
            <a:r>
              <a:rPr lang="en-US" sz="2600" dirty="0" smtClean="0">
                <a:solidFill>
                  <a:srgbClr val="3F3F3F"/>
                </a:solidFill>
              </a:rPr>
              <a:t>(</a:t>
            </a:r>
            <a:r>
              <a:rPr lang="en-US" sz="2600" dirty="0">
                <a:solidFill>
                  <a:srgbClr val="3F3F3F"/>
                </a:solidFill>
              </a:rPr>
              <a:t>4</a:t>
            </a:r>
            <a:r>
              <a:rPr lang="en-US" sz="2600" dirty="0" smtClean="0">
                <a:solidFill>
                  <a:srgbClr val="3F3F3F"/>
                </a:solidFill>
              </a:rPr>
              <a:t>0-45 </a:t>
            </a:r>
            <a:r>
              <a:rPr lang="en-US" sz="2600" dirty="0">
                <a:solidFill>
                  <a:srgbClr val="3F3F3F"/>
                </a:solidFill>
              </a:rPr>
              <a:t>minutes quiz): One/two questions based on </a:t>
            </a:r>
            <a:r>
              <a:rPr lang="en-US" sz="2600" b="1" i="1" dirty="0">
                <a:solidFill>
                  <a:srgbClr val="3F3F3F"/>
                </a:solidFill>
              </a:rPr>
              <a:t>selected topics/chapters </a:t>
            </a:r>
            <a:r>
              <a:rPr lang="en-US" sz="2600" dirty="0">
                <a:solidFill>
                  <a:srgbClr val="3F3F3F"/>
                </a:solidFill>
              </a:rPr>
              <a:t>would be asked. Syllabus would be notified in advance.</a:t>
            </a:r>
          </a:p>
        </p:txBody>
      </p:sp>
      <p:sp>
        <p:nvSpPr>
          <p:cNvPr id="8" name="TextBox 7"/>
          <p:cNvSpPr txBox="1"/>
          <p:nvPr/>
        </p:nvSpPr>
        <p:spPr>
          <a:xfrm>
            <a:off x="311727" y="2550081"/>
            <a:ext cx="8679872" cy="400110"/>
          </a:xfrm>
          <a:prstGeom prst="rect">
            <a:avLst/>
          </a:prstGeom>
          <a:noFill/>
        </p:spPr>
        <p:txBody>
          <a:bodyPr wrap="square" rtlCol="0">
            <a:spAutoFit/>
          </a:bodyPr>
          <a:lstStyle/>
          <a:p>
            <a:r>
              <a:rPr lang="en-US" sz="2000" b="1" i="1" dirty="0" smtClean="0">
                <a:solidFill>
                  <a:schemeClr val="bg1">
                    <a:lumMod val="50000"/>
                  </a:schemeClr>
                </a:solidFill>
              </a:rPr>
              <a:t>For info about weightage on selected topics, follow lecture slides during class</a:t>
            </a:r>
            <a:endParaRPr lang="en-US" sz="2000" b="1" i="1" dirty="0">
              <a:solidFill>
                <a:schemeClr val="bg1">
                  <a:lumMod val="50000"/>
                </a:schemeClr>
              </a:solidFill>
            </a:endParaRPr>
          </a:p>
        </p:txBody>
      </p:sp>
    </p:spTree>
    <p:extLst>
      <p:ext uri="{BB962C8B-B14F-4D97-AF65-F5344CB8AC3E}">
        <p14:creationId xmlns:p14="http://schemas.microsoft.com/office/powerpoint/2010/main" val="14937691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228600"/>
            <a:ext cx="7772400" cy="523220"/>
          </a:xfrm>
          <a:prstGeom prst="rect">
            <a:avLst/>
          </a:prstGeom>
          <a:noFill/>
        </p:spPr>
        <p:txBody>
          <a:bodyPr wrap="square" rtlCol="0">
            <a:spAutoFit/>
          </a:bodyPr>
          <a:lstStyle/>
          <a:p>
            <a:r>
              <a:rPr lang="en-US" sz="2800" dirty="0" smtClean="0">
                <a:solidFill>
                  <a:schemeClr val="bg1">
                    <a:lumMod val="50000"/>
                  </a:schemeClr>
                </a:solidFill>
              </a:rPr>
              <a:t>Course Assessment regulations: brief overview</a:t>
            </a:r>
            <a:endParaRPr lang="en-US" sz="2800" dirty="0">
              <a:solidFill>
                <a:schemeClr val="bg1">
                  <a:lumMod val="50000"/>
                </a:schemeClr>
              </a:solidFill>
            </a:endParaRPr>
          </a:p>
        </p:txBody>
      </p:sp>
      <p:sp>
        <p:nvSpPr>
          <p:cNvPr id="3" name="Rectangle 2"/>
          <p:cNvSpPr/>
          <p:nvPr/>
        </p:nvSpPr>
        <p:spPr>
          <a:xfrm>
            <a:off x="0" y="990600"/>
            <a:ext cx="9144000" cy="1938992"/>
          </a:xfrm>
          <a:prstGeom prst="rect">
            <a:avLst/>
          </a:prstGeom>
        </p:spPr>
        <p:txBody>
          <a:bodyPr wrap="square">
            <a:spAutoFit/>
          </a:bodyPr>
          <a:lstStyle/>
          <a:p>
            <a:pPr algn="just"/>
            <a:r>
              <a:rPr lang="en-US" sz="2400" dirty="0">
                <a:solidFill>
                  <a:schemeClr val="bg1">
                    <a:lumMod val="50000"/>
                  </a:schemeClr>
                </a:solidFill>
              </a:rPr>
              <a:t>For </a:t>
            </a:r>
            <a:r>
              <a:rPr lang="en-US" sz="2400" dirty="0" smtClean="0">
                <a:solidFill>
                  <a:schemeClr val="bg1">
                    <a:lumMod val="50000"/>
                  </a:schemeClr>
                </a:solidFill>
              </a:rPr>
              <a:t>all modules </a:t>
            </a:r>
            <a:r>
              <a:rPr lang="en-US" sz="2400" dirty="0">
                <a:solidFill>
                  <a:schemeClr val="bg1">
                    <a:lumMod val="50000"/>
                  </a:schemeClr>
                </a:solidFill>
              </a:rPr>
              <a:t>in the Physics Department, the majority of lecture coursework and examinations are quantitative (marked to a defined marking scheme) and will be </a:t>
            </a:r>
            <a:r>
              <a:rPr lang="en-US" sz="2400" b="1" i="1" dirty="0">
                <a:solidFill>
                  <a:schemeClr val="bg1">
                    <a:lumMod val="50000"/>
                  </a:schemeClr>
                </a:solidFill>
              </a:rPr>
              <a:t>marked in percentages</a:t>
            </a:r>
            <a:r>
              <a:rPr lang="en-US" sz="2400" dirty="0">
                <a:solidFill>
                  <a:schemeClr val="bg1">
                    <a:lumMod val="50000"/>
                  </a:schemeClr>
                </a:solidFill>
              </a:rPr>
              <a:t>. Ultimately, these marks will be converted to </a:t>
            </a:r>
            <a:r>
              <a:rPr lang="en-US" sz="2400" b="1" dirty="0" smtClean="0">
                <a:solidFill>
                  <a:schemeClr val="bg1">
                    <a:lumMod val="50000"/>
                  </a:schemeClr>
                </a:solidFill>
              </a:rPr>
              <a:t>letter grades</a:t>
            </a:r>
            <a:r>
              <a:rPr lang="en-US" sz="2400" dirty="0" smtClean="0">
                <a:solidFill>
                  <a:schemeClr val="bg1">
                    <a:lumMod val="50000"/>
                  </a:schemeClr>
                </a:solidFill>
              </a:rPr>
              <a:t> corresponding to different </a:t>
            </a:r>
            <a:r>
              <a:rPr lang="en-US" sz="2400" b="1" dirty="0" smtClean="0">
                <a:solidFill>
                  <a:schemeClr val="bg1">
                    <a:lumMod val="50000"/>
                  </a:schemeClr>
                </a:solidFill>
              </a:rPr>
              <a:t>percentage bands</a:t>
            </a:r>
            <a:r>
              <a:rPr lang="en-US" sz="2400" dirty="0" smtClean="0">
                <a:solidFill>
                  <a:schemeClr val="bg1">
                    <a:lumMod val="50000"/>
                  </a:schemeClr>
                </a:solidFill>
              </a:rPr>
              <a:t>, </a:t>
            </a:r>
            <a:r>
              <a:rPr lang="en-US" sz="2400" dirty="0">
                <a:solidFill>
                  <a:schemeClr val="bg1">
                    <a:lumMod val="50000"/>
                  </a:schemeClr>
                </a:solidFill>
              </a:rPr>
              <a:t>see table below. </a:t>
            </a:r>
          </a:p>
        </p:txBody>
      </p:sp>
      <p:graphicFrame>
        <p:nvGraphicFramePr>
          <p:cNvPr id="4" name="Table 3"/>
          <p:cNvGraphicFramePr>
            <a:graphicFrameLocks noGrp="1"/>
          </p:cNvGraphicFramePr>
          <p:nvPr>
            <p:extLst>
              <p:ext uri="{D42A27DB-BD31-4B8C-83A1-F6EECF244321}">
                <p14:modId xmlns:p14="http://schemas.microsoft.com/office/powerpoint/2010/main" val="3428436958"/>
              </p:ext>
            </p:extLst>
          </p:nvPr>
        </p:nvGraphicFramePr>
        <p:xfrm>
          <a:off x="2667000" y="3200400"/>
          <a:ext cx="4537364" cy="3294640"/>
        </p:xfrm>
        <a:graphic>
          <a:graphicData uri="http://schemas.openxmlformats.org/drawingml/2006/table">
            <a:tbl>
              <a:tblPr/>
              <a:tblGrid>
                <a:gridCol w="2887414"/>
                <a:gridCol w="1649950"/>
              </a:tblGrid>
              <a:tr h="411830">
                <a:tc>
                  <a:txBody>
                    <a:bodyPr/>
                    <a:lstStyle/>
                    <a:p>
                      <a:pPr algn="l" fontAlgn="b"/>
                      <a:r>
                        <a:rPr lang="en-US" sz="2400" b="1" i="0" u="none" strike="noStrike" dirty="0">
                          <a:solidFill>
                            <a:srgbClr val="000000"/>
                          </a:solidFill>
                          <a:effectLst/>
                          <a:latin typeface="Calibri"/>
                        </a:rPr>
                        <a:t>A</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81-100</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A-</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71-80</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B</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62-70</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dirty="0">
                          <a:solidFill>
                            <a:srgbClr val="000000"/>
                          </a:solidFill>
                          <a:effectLst/>
                          <a:latin typeface="Calibri"/>
                        </a:rPr>
                        <a:t>B-</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54-61</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C</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47-53</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C-</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41-46</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D</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a:solidFill>
                            <a:srgbClr val="000000"/>
                          </a:solidFill>
                          <a:effectLst/>
                          <a:latin typeface="Calibri"/>
                        </a:rPr>
                        <a:t>36-40</a:t>
                      </a:r>
                    </a:p>
                  </a:txBody>
                  <a:tcPr marL="9525" marR="9525" marT="9525" marB="0" anchor="b">
                    <a:lnL>
                      <a:noFill/>
                    </a:lnL>
                    <a:lnR>
                      <a:noFill/>
                    </a:lnR>
                    <a:lnT>
                      <a:noFill/>
                    </a:lnT>
                    <a:lnB>
                      <a:noFill/>
                    </a:lnB>
                    <a:solidFill>
                      <a:srgbClr val="8DB4E2"/>
                    </a:solidFill>
                  </a:tcPr>
                </a:tc>
              </a:tr>
              <a:tr h="411830">
                <a:tc>
                  <a:txBody>
                    <a:bodyPr/>
                    <a:lstStyle/>
                    <a:p>
                      <a:pPr algn="l" fontAlgn="b"/>
                      <a:r>
                        <a:rPr lang="en-US" sz="2400" b="1" i="0" u="none" strike="noStrike">
                          <a:solidFill>
                            <a:srgbClr val="000000"/>
                          </a:solidFill>
                          <a:effectLst/>
                          <a:latin typeface="Calibri"/>
                        </a:rPr>
                        <a:t>F</a:t>
                      </a:r>
                    </a:p>
                  </a:txBody>
                  <a:tcPr marL="9525" marR="9525" marT="9525" marB="0" anchor="b">
                    <a:lnL>
                      <a:noFill/>
                    </a:lnL>
                    <a:lnR>
                      <a:noFill/>
                    </a:lnR>
                    <a:lnT>
                      <a:noFill/>
                    </a:lnT>
                    <a:lnB>
                      <a:noFill/>
                    </a:lnB>
                    <a:solidFill>
                      <a:srgbClr val="8DB4E2"/>
                    </a:solidFill>
                  </a:tcPr>
                </a:tc>
                <a:tc>
                  <a:txBody>
                    <a:bodyPr/>
                    <a:lstStyle/>
                    <a:p>
                      <a:pPr algn="l" fontAlgn="b"/>
                      <a:r>
                        <a:rPr lang="en-US" sz="2400" b="1" i="0" u="none" strike="noStrike" dirty="0">
                          <a:solidFill>
                            <a:srgbClr val="000000"/>
                          </a:solidFill>
                          <a:effectLst/>
                          <a:latin typeface="Calibri"/>
                        </a:rPr>
                        <a:t>0-35</a:t>
                      </a:r>
                    </a:p>
                  </a:txBody>
                  <a:tcPr marL="9525" marR="9525" marT="9525" marB="0" anchor="b">
                    <a:lnL>
                      <a:noFill/>
                    </a:lnL>
                    <a:lnR>
                      <a:noFill/>
                    </a:lnR>
                    <a:lnT>
                      <a:noFill/>
                    </a:lnT>
                    <a:lnB>
                      <a:noFill/>
                    </a:lnB>
                    <a:solidFill>
                      <a:srgbClr val="8DB4E2"/>
                    </a:solidFill>
                  </a:tcPr>
                </a:tc>
              </a:tr>
            </a:tbl>
          </a:graphicData>
        </a:graphic>
      </p:graphicFrame>
    </p:spTree>
    <p:extLst>
      <p:ext uri="{BB962C8B-B14F-4D97-AF65-F5344CB8AC3E}">
        <p14:creationId xmlns:p14="http://schemas.microsoft.com/office/powerpoint/2010/main" val="31496448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
            <a:ext cx="6340582" cy="646331"/>
          </a:xfrm>
          <a:prstGeom prst="rect">
            <a:avLst/>
          </a:prstGeom>
        </p:spPr>
        <p:txBody>
          <a:bodyPr wrap="none">
            <a:spAutoFit/>
          </a:bodyPr>
          <a:lstStyle/>
          <a:p>
            <a:r>
              <a:rPr lang="en-US" sz="3600" b="1" dirty="0">
                <a:solidFill>
                  <a:srgbClr val="C00000"/>
                </a:solidFill>
              </a:rPr>
              <a:t>Schedule for exams and quizzes:</a:t>
            </a:r>
            <a:endParaRPr lang="en-US" sz="3600" dirty="0">
              <a:solidFill>
                <a:srgbClr val="C00000"/>
              </a:solidFill>
            </a:endParaRPr>
          </a:p>
        </p:txBody>
      </p:sp>
      <p:sp>
        <p:nvSpPr>
          <p:cNvPr id="3" name="Rectangle 2"/>
          <p:cNvSpPr/>
          <p:nvPr/>
        </p:nvSpPr>
        <p:spPr>
          <a:xfrm>
            <a:off x="609600" y="914400"/>
            <a:ext cx="8077200" cy="5078313"/>
          </a:xfrm>
          <a:prstGeom prst="rect">
            <a:avLst/>
          </a:prstGeom>
        </p:spPr>
        <p:txBody>
          <a:bodyPr wrap="square">
            <a:spAutoFit/>
          </a:bodyPr>
          <a:lstStyle/>
          <a:p>
            <a:r>
              <a:rPr lang="en-US" sz="3600" b="1" dirty="0">
                <a:solidFill>
                  <a:srgbClr val="3F3F3F"/>
                </a:solidFill>
              </a:rPr>
              <a:t>• Quiz 1: </a:t>
            </a:r>
            <a:r>
              <a:rPr lang="en-US" sz="3600" b="1" u="sng" dirty="0" smtClean="0">
                <a:solidFill>
                  <a:srgbClr val="3F3F3F"/>
                </a:solidFill>
              </a:rPr>
              <a:t>4</a:t>
            </a:r>
            <a:r>
              <a:rPr lang="en-US" sz="3600" b="1" u="sng" baseline="30000" dirty="0" smtClean="0">
                <a:solidFill>
                  <a:srgbClr val="3F3F3F"/>
                </a:solidFill>
              </a:rPr>
              <a:t>th</a:t>
            </a:r>
            <a:r>
              <a:rPr lang="en-US" sz="3600" b="1" u="sng" dirty="0" smtClean="0">
                <a:solidFill>
                  <a:srgbClr val="3F3F3F"/>
                </a:solidFill>
              </a:rPr>
              <a:t> Feb</a:t>
            </a:r>
            <a:r>
              <a:rPr lang="en-US" sz="3600" b="1" u="sng" dirty="0">
                <a:solidFill>
                  <a:srgbClr val="3F3F3F"/>
                </a:solidFill>
              </a:rPr>
              <a:t>. 2018 </a:t>
            </a:r>
            <a:r>
              <a:rPr lang="en-US" sz="3600" b="1" u="sng" dirty="0" smtClean="0">
                <a:solidFill>
                  <a:srgbClr val="3F3F3F"/>
                </a:solidFill>
              </a:rPr>
              <a:t>(Monday</a:t>
            </a:r>
            <a:r>
              <a:rPr lang="en-US" sz="3600" b="1" u="sng" dirty="0">
                <a:solidFill>
                  <a:srgbClr val="3F3F3F"/>
                </a:solidFill>
              </a:rPr>
              <a:t>)</a:t>
            </a:r>
          </a:p>
          <a:p>
            <a:endParaRPr lang="en-US" sz="3600" b="1" dirty="0">
              <a:solidFill>
                <a:srgbClr val="3F3F3F"/>
              </a:solidFill>
            </a:endParaRPr>
          </a:p>
          <a:p>
            <a:r>
              <a:rPr lang="pt-BR" sz="3600" b="1" dirty="0">
                <a:solidFill>
                  <a:srgbClr val="3F3F3F"/>
                </a:solidFill>
              </a:rPr>
              <a:t>• Mid-sem exam: </a:t>
            </a:r>
            <a:r>
              <a:rPr lang="pt-BR" sz="3600" b="1" dirty="0" smtClean="0">
                <a:solidFill>
                  <a:srgbClr val="3F3F3F"/>
                </a:solidFill>
              </a:rPr>
              <a:t>2</a:t>
            </a:r>
            <a:r>
              <a:rPr lang="pt-BR" sz="3600" b="1" u="sng" dirty="0" smtClean="0">
                <a:solidFill>
                  <a:srgbClr val="3F3F3F"/>
                </a:solidFill>
              </a:rPr>
              <a:t>5th-28th Feb</a:t>
            </a:r>
            <a:endParaRPr lang="pt-BR" sz="3600" b="1" dirty="0">
              <a:solidFill>
                <a:srgbClr val="3F3F3F"/>
              </a:solidFill>
            </a:endParaRPr>
          </a:p>
          <a:p>
            <a:endParaRPr lang="pt-BR" sz="3600" b="1" dirty="0">
              <a:solidFill>
                <a:srgbClr val="3F3F3F"/>
              </a:solidFill>
            </a:endParaRPr>
          </a:p>
          <a:p>
            <a:r>
              <a:rPr lang="en-US" sz="3600" b="1" dirty="0">
                <a:solidFill>
                  <a:srgbClr val="3F3F3F"/>
                </a:solidFill>
              </a:rPr>
              <a:t>• Quiz 2: </a:t>
            </a:r>
            <a:r>
              <a:rPr lang="en-US" sz="3600" b="1" u="sng" dirty="0">
                <a:solidFill>
                  <a:srgbClr val="3F3F3F"/>
                </a:solidFill>
              </a:rPr>
              <a:t>5th Apr 2018 </a:t>
            </a:r>
            <a:r>
              <a:rPr lang="en-US" sz="3600" b="1" dirty="0" smtClean="0">
                <a:solidFill>
                  <a:srgbClr val="3F3F3F"/>
                </a:solidFill>
              </a:rPr>
              <a:t>(Fri)</a:t>
            </a:r>
            <a:endParaRPr lang="en-US" sz="3600" b="1" dirty="0">
              <a:solidFill>
                <a:srgbClr val="3F3F3F"/>
              </a:solidFill>
            </a:endParaRPr>
          </a:p>
          <a:p>
            <a:endParaRPr lang="en-US" sz="3600" b="1" dirty="0">
              <a:solidFill>
                <a:srgbClr val="3F3F3F"/>
              </a:solidFill>
            </a:endParaRPr>
          </a:p>
          <a:p>
            <a:r>
              <a:rPr lang="en-US" sz="3600" b="1" dirty="0">
                <a:solidFill>
                  <a:srgbClr val="3F3F3F"/>
                </a:solidFill>
              </a:rPr>
              <a:t>• Lab. exam: </a:t>
            </a:r>
            <a:r>
              <a:rPr lang="en-US" sz="3600" b="1" u="sng" dirty="0">
                <a:solidFill>
                  <a:srgbClr val="3F3F3F"/>
                </a:solidFill>
              </a:rPr>
              <a:t>9</a:t>
            </a:r>
            <a:r>
              <a:rPr lang="en-US" sz="3600" b="1" u="sng" baseline="30000" dirty="0">
                <a:solidFill>
                  <a:srgbClr val="3F3F3F"/>
                </a:solidFill>
              </a:rPr>
              <a:t>th</a:t>
            </a:r>
            <a:r>
              <a:rPr lang="en-US" sz="3600" b="1" u="sng" dirty="0">
                <a:solidFill>
                  <a:srgbClr val="3F3F3F"/>
                </a:solidFill>
              </a:rPr>
              <a:t> – 21</a:t>
            </a:r>
            <a:r>
              <a:rPr lang="en-US" sz="3600" b="1" u="sng" baseline="30000" dirty="0">
                <a:solidFill>
                  <a:srgbClr val="3F3F3F"/>
                </a:solidFill>
              </a:rPr>
              <a:t>st</a:t>
            </a:r>
            <a:r>
              <a:rPr lang="en-US" sz="3600" b="1" u="sng" dirty="0">
                <a:solidFill>
                  <a:srgbClr val="3F3F3F"/>
                </a:solidFill>
              </a:rPr>
              <a:t> April 2018</a:t>
            </a:r>
          </a:p>
          <a:p>
            <a:endParaRPr lang="en-US" sz="3600" b="1" u="sng" dirty="0">
              <a:solidFill>
                <a:srgbClr val="C00000"/>
              </a:solidFill>
            </a:endParaRPr>
          </a:p>
          <a:p>
            <a:r>
              <a:rPr lang="en-US" sz="3600" b="1" dirty="0">
                <a:solidFill>
                  <a:srgbClr val="3F3F3F"/>
                </a:solidFill>
              </a:rPr>
              <a:t>• End sem exam: </a:t>
            </a:r>
            <a:r>
              <a:rPr lang="en-US" sz="3600" b="1" u="sng" dirty="0" smtClean="0">
                <a:solidFill>
                  <a:srgbClr val="3F3F3F"/>
                </a:solidFill>
              </a:rPr>
              <a:t>2</a:t>
            </a:r>
            <a:r>
              <a:rPr lang="en-US" sz="3600" b="1" u="sng" baseline="30000" dirty="0">
                <a:solidFill>
                  <a:srgbClr val="3F3F3F"/>
                </a:solidFill>
              </a:rPr>
              <a:t>n</a:t>
            </a:r>
            <a:r>
              <a:rPr lang="en-US" sz="3600" b="1" u="sng" baseline="30000" dirty="0" smtClean="0">
                <a:solidFill>
                  <a:srgbClr val="3F3F3F"/>
                </a:solidFill>
              </a:rPr>
              <a:t>d</a:t>
            </a:r>
            <a:r>
              <a:rPr lang="en-US" sz="3600" b="1" u="sng" dirty="0" smtClean="0">
                <a:solidFill>
                  <a:srgbClr val="3F3F3F"/>
                </a:solidFill>
              </a:rPr>
              <a:t> </a:t>
            </a:r>
            <a:r>
              <a:rPr lang="en-US" sz="3600" b="1" u="sng" dirty="0">
                <a:solidFill>
                  <a:srgbClr val="3F3F3F"/>
                </a:solidFill>
              </a:rPr>
              <a:t>May – </a:t>
            </a:r>
            <a:r>
              <a:rPr lang="en-US" sz="3600" b="1" u="sng" dirty="0" smtClean="0">
                <a:solidFill>
                  <a:srgbClr val="3F3F3F"/>
                </a:solidFill>
              </a:rPr>
              <a:t>11</a:t>
            </a:r>
            <a:r>
              <a:rPr lang="en-US" sz="3600" b="1" u="sng" baseline="30000" dirty="0" smtClean="0">
                <a:solidFill>
                  <a:srgbClr val="3F3F3F"/>
                </a:solidFill>
              </a:rPr>
              <a:t>th</a:t>
            </a:r>
            <a:r>
              <a:rPr lang="en-US" sz="3600" b="1" u="sng" dirty="0" smtClean="0">
                <a:solidFill>
                  <a:srgbClr val="3F3F3F"/>
                </a:solidFill>
              </a:rPr>
              <a:t> </a:t>
            </a:r>
            <a:r>
              <a:rPr lang="en-US" sz="3600" b="1" u="sng" dirty="0">
                <a:solidFill>
                  <a:srgbClr val="3F3F3F"/>
                </a:solidFill>
              </a:rPr>
              <a:t>May</a:t>
            </a:r>
          </a:p>
        </p:txBody>
      </p:sp>
    </p:spTree>
    <p:extLst>
      <p:ext uri="{BB962C8B-B14F-4D97-AF65-F5344CB8AC3E}">
        <p14:creationId xmlns:p14="http://schemas.microsoft.com/office/powerpoint/2010/main" val="1937130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52400"/>
            <a:ext cx="9067800" cy="6555641"/>
          </a:xfrm>
          <a:prstGeom prst="rect">
            <a:avLst/>
          </a:prstGeom>
        </p:spPr>
        <p:txBody>
          <a:bodyPr wrap="square">
            <a:spAutoFit/>
          </a:bodyPr>
          <a:lstStyle/>
          <a:p>
            <a:pPr algn="ctr"/>
            <a:r>
              <a:rPr lang="en-US" sz="2800" b="1" dirty="0" smtClean="0">
                <a:solidFill>
                  <a:schemeClr val="bg1">
                    <a:lumMod val="50000"/>
                  </a:schemeClr>
                </a:solidFill>
              </a:rPr>
              <a:t>LIST </a:t>
            </a:r>
            <a:r>
              <a:rPr lang="en-US" sz="2800" b="1" dirty="0">
                <a:solidFill>
                  <a:schemeClr val="bg1">
                    <a:lumMod val="50000"/>
                  </a:schemeClr>
                </a:solidFill>
              </a:rPr>
              <a:t>OF </a:t>
            </a:r>
            <a:r>
              <a:rPr lang="en-US" sz="2800" b="1" dirty="0" smtClean="0">
                <a:solidFill>
                  <a:schemeClr val="bg1">
                    <a:lumMod val="50000"/>
                  </a:schemeClr>
                </a:solidFill>
              </a:rPr>
              <a:t>EXPERIMENTS FOR PHY-</a:t>
            </a:r>
            <a:r>
              <a:rPr lang="en-US" sz="2800" b="1" dirty="0" smtClean="0">
                <a:solidFill>
                  <a:schemeClr val="bg1">
                    <a:lumMod val="50000"/>
                  </a:schemeClr>
                </a:solidFill>
                <a:latin typeface="Calibri" panose="020F0502020204030204" pitchFamily="34" charset="0"/>
              </a:rPr>
              <a:t>102 LABORATORY</a:t>
            </a:r>
          </a:p>
          <a:p>
            <a:endParaRPr lang="en-US" sz="2800" dirty="0">
              <a:solidFill>
                <a:schemeClr val="bg1">
                  <a:lumMod val="50000"/>
                </a:schemeClr>
              </a:solidFill>
              <a:latin typeface="Calibri" panose="020F0502020204030204" pitchFamily="34" charset="0"/>
            </a:endParaRPr>
          </a:p>
          <a:p>
            <a:r>
              <a:rPr lang="en-US" sz="2800" b="1" dirty="0">
                <a:solidFill>
                  <a:schemeClr val="bg1">
                    <a:lumMod val="50000"/>
                  </a:schemeClr>
                </a:solidFill>
              </a:rPr>
              <a:t>1. AIR TRACK </a:t>
            </a:r>
            <a:endParaRPr lang="en-US" sz="2800" dirty="0">
              <a:solidFill>
                <a:schemeClr val="bg1">
                  <a:lumMod val="50000"/>
                </a:schemeClr>
              </a:solidFill>
            </a:endParaRPr>
          </a:p>
          <a:p>
            <a:r>
              <a:rPr lang="en-US" sz="2800" b="1" dirty="0">
                <a:solidFill>
                  <a:schemeClr val="bg1">
                    <a:lumMod val="50000"/>
                  </a:schemeClr>
                </a:solidFill>
              </a:rPr>
              <a:t>2. FRICTION AND MOTION ON AN INCLINED PLAIN</a:t>
            </a:r>
            <a:endParaRPr lang="en-US" sz="2800" dirty="0">
              <a:solidFill>
                <a:schemeClr val="bg1">
                  <a:lumMod val="50000"/>
                </a:schemeClr>
              </a:solidFill>
            </a:endParaRPr>
          </a:p>
          <a:p>
            <a:r>
              <a:rPr lang="en-US" sz="2800" b="1" dirty="0">
                <a:solidFill>
                  <a:schemeClr val="bg1">
                    <a:lumMod val="50000"/>
                  </a:schemeClr>
                </a:solidFill>
              </a:rPr>
              <a:t>3. PROJECTILE MOTION</a:t>
            </a:r>
            <a:endParaRPr lang="en-US" sz="2800" dirty="0">
              <a:solidFill>
                <a:schemeClr val="bg1">
                  <a:lumMod val="50000"/>
                </a:schemeClr>
              </a:solidFill>
            </a:endParaRPr>
          </a:p>
          <a:p>
            <a:r>
              <a:rPr lang="en-US" sz="2800" b="1" dirty="0">
                <a:solidFill>
                  <a:schemeClr val="bg1">
                    <a:lumMod val="50000"/>
                  </a:schemeClr>
                </a:solidFill>
              </a:rPr>
              <a:t>4. TORSIONAL PENDULUM</a:t>
            </a:r>
            <a:endParaRPr lang="en-US" sz="2800" dirty="0">
              <a:solidFill>
                <a:schemeClr val="bg1">
                  <a:lumMod val="50000"/>
                </a:schemeClr>
              </a:solidFill>
            </a:endParaRPr>
          </a:p>
          <a:p>
            <a:r>
              <a:rPr lang="en-US" sz="2800" b="1" dirty="0">
                <a:solidFill>
                  <a:schemeClr val="bg1">
                    <a:lumMod val="50000"/>
                  </a:schemeClr>
                </a:solidFill>
              </a:rPr>
              <a:t>5. RIGID BODY MITION</a:t>
            </a:r>
            <a:endParaRPr lang="en-US" sz="2800" dirty="0">
              <a:solidFill>
                <a:schemeClr val="bg1">
                  <a:lumMod val="50000"/>
                </a:schemeClr>
              </a:solidFill>
            </a:endParaRPr>
          </a:p>
          <a:p>
            <a:r>
              <a:rPr lang="en-US" sz="2800" b="1" dirty="0">
                <a:solidFill>
                  <a:schemeClr val="bg1">
                    <a:lumMod val="50000"/>
                  </a:schemeClr>
                </a:solidFill>
              </a:rPr>
              <a:t>6. (</a:t>
            </a:r>
            <a:r>
              <a:rPr lang="en-US" sz="2800" b="1" dirty="0" err="1">
                <a:solidFill>
                  <a:schemeClr val="bg1">
                    <a:lumMod val="50000"/>
                  </a:schemeClr>
                </a:solidFill>
              </a:rPr>
              <a:t>i</a:t>
            </a:r>
            <a:r>
              <a:rPr lang="en-US" sz="2800" b="1" dirty="0">
                <a:solidFill>
                  <a:schemeClr val="bg1">
                    <a:lumMod val="50000"/>
                  </a:schemeClr>
                </a:solidFill>
              </a:rPr>
              <a:t>). ELECTROSTATIC FORCES</a:t>
            </a:r>
            <a:endParaRPr lang="en-US" sz="2800" dirty="0">
              <a:solidFill>
                <a:schemeClr val="bg1">
                  <a:lumMod val="50000"/>
                </a:schemeClr>
              </a:solidFill>
            </a:endParaRPr>
          </a:p>
          <a:p>
            <a:endParaRPr lang="en-US" sz="2800" dirty="0">
              <a:solidFill>
                <a:schemeClr val="bg1">
                  <a:lumMod val="50000"/>
                </a:schemeClr>
              </a:solidFill>
            </a:endParaRPr>
          </a:p>
          <a:p>
            <a:r>
              <a:rPr lang="en-US" sz="2800" b="1" dirty="0">
                <a:solidFill>
                  <a:schemeClr val="bg1">
                    <a:lumMod val="50000"/>
                  </a:schemeClr>
                </a:solidFill>
              </a:rPr>
              <a:t>(ii). MAPPING OF ELECTRIC POTENTIAL AND FIELD</a:t>
            </a:r>
            <a:endParaRPr lang="en-US" sz="2800" dirty="0">
              <a:solidFill>
                <a:schemeClr val="bg1">
                  <a:lumMod val="50000"/>
                </a:schemeClr>
              </a:solidFill>
            </a:endParaRPr>
          </a:p>
          <a:p>
            <a:r>
              <a:rPr lang="en-US" sz="2800" b="1" dirty="0">
                <a:solidFill>
                  <a:schemeClr val="bg1">
                    <a:lumMod val="50000"/>
                  </a:schemeClr>
                </a:solidFill>
              </a:rPr>
              <a:t>7. CURRENT INDUCED MAGNETIC FIELDAND e/m MEASUREMENT</a:t>
            </a:r>
            <a:endParaRPr lang="en-US" sz="2800" dirty="0">
              <a:solidFill>
                <a:schemeClr val="bg1">
                  <a:lumMod val="50000"/>
                </a:schemeClr>
              </a:solidFill>
            </a:endParaRPr>
          </a:p>
          <a:p>
            <a:r>
              <a:rPr lang="en-US" sz="2800" b="1" dirty="0">
                <a:solidFill>
                  <a:schemeClr val="bg1">
                    <a:lumMod val="50000"/>
                  </a:schemeClr>
                </a:solidFill>
              </a:rPr>
              <a:t>8. DIFFRACTION OF LIGHT</a:t>
            </a:r>
            <a:endParaRPr lang="en-US" sz="2800" dirty="0">
              <a:solidFill>
                <a:schemeClr val="bg1">
                  <a:lumMod val="50000"/>
                </a:schemeClr>
              </a:solidFill>
            </a:endParaRPr>
          </a:p>
          <a:p>
            <a:r>
              <a:rPr lang="en-US" sz="2800" b="1" dirty="0">
                <a:solidFill>
                  <a:schemeClr val="bg1">
                    <a:lumMod val="50000"/>
                  </a:schemeClr>
                </a:solidFill>
              </a:rPr>
              <a:t>9. DIFFRACTION OF LIGHTUSING ULTRASONIC WAVE AS A GRATING</a:t>
            </a:r>
            <a:endParaRPr lang="en-US" sz="2800" dirty="0">
              <a:solidFill>
                <a:schemeClr val="bg1">
                  <a:lumMod val="50000"/>
                </a:schemeClr>
              </a:solidFill>
            </a:endParaRPr>
          </a:p>
        </p:txBody>
      </p:sp>
    </p:spTree>
    <p:extLst>
      <p:ext uri="{BB962C8B-B14F-4D97-AF65-F5344CB8AC3E}">
        <p14:creationId xmlns:p14="http://schemas.microsoft.com/office/powerpoint/2010/main" val="21967845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12"/>
          <p:cNvSpPr txBox="1">
            <a:spLocks/>
          </p:cNvSpPr>
          <p:nvPr/>
        </p:nvSpPr>
        <p:spPr>
          <a:xfrm>
            <a:off x="0" y="838200"/>
            <a:ext cx="9143999" cy="2037595"/>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fontScale="97500"/>
          </a:bodyPr>
          <a:lstStyle>
            <a:lvl1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sz="3200"/>
            </a:pPr>
            <a:r>
              <a:rPr kumimoji="0" lang="en-US" sz="3200" b="1" i="0" u="none" strike="noStrike" kern="0" cap="none" spc="0" normalizeH="0" baseline="0" noProof="0" smtClean="0">
                <a:ln>
                  <a:noFill/>
                </a:ln>
                <a:solidFill>
                  <a:srgbClr val="000000"/>
                </a:solidFill>
                <a:effectLst/>
                <a:uLnTx/>
                <a:uFillTx/>
                <a:latin typeface="Calibri"/>
                <a:sym typeface="Calibri"/>
              </a:rPr>
              <a:t>Lab constitutes 25% of the total marks of PHY102 course. This includes:</a:t>
            </a:r>
            <a:br>
              <a:rPr kumimoji="0" lang="en-US" sz="3200" b="1" i="0" u="none" strike="noStrike" kern="0" cap="none" spc="0" normalizeH="0" baseline="0" noProof="0" smtClean="0">
                <a:ln>
                  <a:noFill/>
                </a:ln>
                <a:solidFill>
                  <a:srgbClr val="000000"/>
                </a:solidFill>
                <a:effectLst/>
                <a:uLnTx/>
                <a:uFillTx/>
                <a:latin typeface="Calibri"/>
                <a:sym typeface="Calibri"/>
              </a:rPr>
            </a:br>
            <a:r>
              <a:rPr kumimoji="0" lang="en-US" sz="3200" b="1" i="0" u="none" strike="noStrike" kern="0" cap="none" spc="0" normalizeH="0" baseline="0" noProof="0" smtClean="0">
                <a:ln>
                  <a:noFill/>
                </a:ln>
                <a:solidFill>
                  <a:srgbClr val="000000"/>
                </a:solidFill>
                <a:effectLst/>
                <a:uLnTx/>
                <a:uFillTx/>
                <a:latin typeface="Calibri"/>
                <a:sym typeface="Calibri"/>
              </a:rPr>
              <a:t/>
            </a:r>
            <a:br>
              <a:rPr kumimoji="0" lang="en-US" sz="3200" b="1" i="0" u="none" strike="noStrike" kern="0" cap="none" spc="0" normalizeH="0" baseline="0" noProof="0" smtClean="0">
                <a:ln>
                  <a:noFill/>
                </a:ln>
                <a:solidFill>
                  <a:srgbClr val="000000"/>
                </a:solidFill>
                <a:effectLst/>
                <a:uLnTx/>
                <a:uFillTx/>
                <a:latin typeface="Calibri"/>
                <a:sym typeface="Calibri"/>
              </a:rPr>
            </a:br>
            <a:endParaRPr kumimoji="0" lang="en-US" sz="3200" b="1" i="0" u="none" strike="noStrike" kern="0" cap="none" spc="0" normalizeH="0" baseline="0" noProof="0" dirty="0">
              <a:ln>
                <a:noFill/>
              </a:ln>
              <a:solidFill>
                <a:srgbClr val="000000"/>
              </a:solidFill>
              <a:effectLst/>
              <a:uLnTx/>
              <a:uFillTx/>
              <a:latin typeface="Calibri"/>
              <a:sym typeface="Calibri"/>
            </a:endParaRPr>
          </a:p>
        </p:txBody>
      </p:sp>
      <p:sp>
        <p:nvSpPr>
          <p:cNvPr id="3" name="Shape 113"/>
          <p:cNvSpPr/>
          <p:nvPr/>
        </p:nvSpPr>
        <p:spPr>
          <a:xfrm>
            <a:off x="1" y="2028858"/>
            <a:ext cx="9144000" cy="4401205"/>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457200" indent="-457200" defTabSz="457200" hangingPunct="0">
              <a:buSzPct val="100000"/>
              <a:buFont typeface="Arial"/>
              <a:buChar char="•"/>
              <a:defRPr sz="3000"/>
            </a:pPr>
            <a:r>
              <a:rPr sz="3000" b="1" kern="0" dirty="0">
                <a:solidFill>
                  <a:srgbClr val="000000"/>
                </a:solidFill>
                <a:latin typeface="Calibri"/>
                <a:sym typeface="Calibri"/>
              </a:rPr>
              <a:t>Lab exam: 10%</a:t>
            </a:r>
          </a:p>
          <a:p>
            <a:pPr marL="457200" indent="-457200" defTabSz="457200" hangingPunct="0">
              <a:buSzPct val="100000"/>
              <a:buFont typeface="Arial"/>
              <a:buChar char="•"/>
              <a:defRPr sz="3000">
                <a:solidFill>
                  <a:srgbClr val="FF6600"/>
                </a:solidFill>
              </a:defRPr>
            </a:pPr>
            <a:r>
              <a:rPr sz="3000" b="1" kern="0" dirty="0">
                <a:solidFill>
                  <a:srgbClr val="FF0000"/>
                </a:solidFill>
                <a:latin typeface="Calibri"/>
                <a:sym typeface="Calibri"/>
              </a:rPr>
              <a:t>Lab classes: 15%</a:t>
            </a:r>
          </a:p>
          <a:p>
            <a:pPr marL="457200" indent="-457200" defTabSz="457200" hangingPunct="0">
              <a:buSzPct val="100000"/>
              <a:buFont typeface="Arial"/>
              <a:buChar char="•"/>
              <a:defRPr sz="1000"/>
            </a:pPr>
            <a:endParaRPr sz="1000" b="1" kern="0" dirty="0">
              <a:solidFill>
                <a:srgbClr val="000000"/>
              </a:solidFill>
              <a:latin typeface="Calibri"/>
              <a:sym typeface="Calibri"/>
            </a:endParaRPr>
          </a:p>
          <a:p>
            <a:pPr defTabSz="457200" hangingPunct="0">
              <a:defRPr sz="3000"/>
            </a:pPr>
            <a:r>
              <a:rPr sz="3000" b="1" kern="0" dirty="0">
                <a:solidFill>
                  <a:srgbClr val="000000"/>
                </a:solidFill>
                <a:latin typeface="Calibri"/>
                <a:sym typeface="Calibri"/>
              </a:rPr>
              <a:t>For </a:t>
            </a:r>
            <a:r>
              <a:rPr sz="3000" b="1" kern="0" dirty="0">
                <a:solidFill>
                  <a:srgbClr val="FF0000"/>
                </a:solidFill>
                <a:latin typeface="Calibri"/>
                <a:sym typeface="Calibri"/>
              </a:rPr>
              <a:t>Lab classes: </a:t>
            </a:r>
            <a:r>
              <a:rPr sz="3000" b="1" kern="0" dirty="0">
                <a:solidFill>
                  <a:srgbClr val="000000"/>
                </a:solidFill>
                <a:latin typeface="Calibri"/>
                <a:sym typeface="Calibri"/>
              </a:rPr>
              <a:t>Each experiment carries 10 marks, which comes from the following components:</a:t>
            </a:r>
          </a:p>
          <a:p>
            <a:pPr marL="514350" indent="-514350" defTabSz="457200" hangingPunct="0">
              <a:buSzPct val="100000"/>
              <a:buFontTx/>
              <a:buAutoNum type="alphaUcPeriod"/>
              <a:defRPr sz="3000"/>
            </a:pPr>
            <a:r>
              <a:rPr sz="3000" b="1" kern="0" dirty="0">
                <a:solidFill>
                  <a:srgbClr val="000000"/>
                </a:solidFill>
                <a:latin typeface="Calibri"/>
                <a:sym typeface="Calibri"/>
              </a:rPr>
              <a:t>Preparedness + Viva     </a:t>
            </a:r>
            <a:r>
              <a:rPr lang="en-US" sz="3000" b="1" kern="0" dirty="0" smtClean="0">
                <a:solidFill>
                  <a:srgbClr val="000000"/>
                </a:solidFill>
                <a:latin typeface="Calibri"/>
                <a:sym typeface="Calibri"/>
              </a:rPr>
              <a:t> 3</a:t>
            </a:r>
            <a:r>
              <a:rPr sz="3000" b="1" kern="0" dirty="0" smtClean="0">
                <a:solidFill>
                  <a:srgbClr val="000000"/>
                </a:solidFill>
                <a:latin typeface="Calibri"/>
                <a:sym typeface="Calibri"/>
              </a:rPr>
              <a:t> </a:t>
            </a:r>
            <a:r>
              <a:rPr sz="3000" b="1" kern="0" dirty="0">
                <a:solidFill>
                  <a:srgbClr val="000000"/>
                </a:solidFill>
                <a:latin typeface="Calibri"/>
                <a:sym typeface="Calibri"/>
              </a:rPr>
              <a:t>(1 + 2)</a:t>
            </a:r>
          </a:p>
          <a:p>
            <a:pPr marL="514350" indent="-514350" defTabSz="457200" hangingPunct="0">
              <a:buSzPct val="100000"/>
              <a:buFontTx/>
              <a:buAutoNum type="alphaUcPeriod"/>
              <a:defRPr sz="3000"/>
            </a:pPr>
            <a:r>
              <a:rPr sz="3000" b="1" kern="0" dirty="0">
                <a:solidFill>
                  <a:srgbClr val="000000"/>
                </a:solidFill>
                <a:latin typeface="Calibri"/>
                <a:sym typeface="Calibri"/>
              </a:rPr>
              <a:t>On experiment		     </a:t>
            </a:r>
            <a:r>
              <a:rPr lang="en-US" sz="3000" b="1" kern="0" dirty="0" smtClean="0">
                <a:solidFill>
                  <a:srgbClr val="000000"/>
                </a:solidFill>
                <a:latin typeface="Calibri"/>
                <a:sym typeface="Calibri"/>
              </a:rPr>
              <a:t>  </a:t>
            </a:r>
            <a:r>
              <a:rPr sz="3000" b="1" kern="0" dirty="0" smtClean="0">
                <a:solidFill>
                  <a:srgbClr val="000000"/>
                </a:solidFill>
                <a:latin typeface="Calibri"/>
                <a:sym typeface="Calibri"/>
              </a:rPr>
              <a:t>3</a:t>
            </a:r>
            <a:endParaRPr sz="3000" b="1" kern="0" dirty="0">
              <a:solidFill>
                <a:srgbClr val="000000"/>
              </a:solidFill>
              <a:latin typeface="Calibri"/>
              <a:sym typeface="Calibri"/>
            </a:endParaRPr>
          </a:p>
          <a:p>
            <a:pPr marL="514350" indent="-514350" defTabSz="457200" hangingPunct="0">
              <a:buSzPct val="100000"/>
              <a:buFontTx/>
              <a:buAutoNum type="alphaUcPeriod"/>
              <a:defRPr sz="3000"/>
            </a:pPr>
            <a:r>
              <a:rPr sz="3000" b="1" kern="0" dirty="0">
                <a:solidFill>
                  <a:srgbClr val="000000"/>
                </a:solidFill>
                <a:latin typeface="Calibri"/>
                <a:sym typeface="Calibri"/>
              </a:rPr>
              <a:t>Lab Report                      </a:t>
            </a:r>
            <a:r>
              <a:rPr lang="en-US" sz="3000" b="1" kern="0" dirty="0" smtClean="0">
                <a:solidFill>
                  <a:srgbClr val="000000"/>
                </a:solidFill>
                <a:latin typeface="Calibri"/>
                <a:sym typeface="Calibri"/>
              </a:rPr>
              <a:t> </a:t>
            </a:r>
            <a:r>
              <a:rPr sz="3000" b="1" kern="0" dirty="0" smtClean="0">
                <a:solidFill>
                  <a:srgbClr val="000000"/>
                </a:solidFill>
                <a:latin typeface="Calibri"/>
                <a:sym typeface="Calibri"/>
              </a:rPr>
              <a:t>4</a:t>
            </a:r>
            <a:endParaRPr sz="3000" b="1" kern="0" dirty="0">
              <a:solidFill>
                <a:srgbClr val="000000"/>
              </a:solidFill>
              <a:latin typeface="Calibri"/>
              <a:sym typeface="Calibri"/>
            </a:endParaRPr>
          </a:p>
          <a:p>
            <a:pPr defTabSz="457200" hangingPunct="0">
              <a:defRPr sz="3000"/>
            </a:pPr>
            <a:r>
              <a:rPr sz="3000" b="1" kern="0" dirty="0">
                <a:solidFill>
                  <a:srgbClr val="000000"/>
                </a:solidFill>
                <a:latin typeface="Calibri"/>
                <a:sym typeface="Calibri"/>
              </a:rPr>
              <a:t>The total contribution from all the experiments </a:t>
            </a:r>
            <a:r>
              <a:rPr sz="3000" b="1" kern="0" dirty="0" smtClean="0">
                <a:solidFill>
                  <a:srgbClr val="000000"/>
                </a:solidFill>
                <a:latin typeface="Calibri"/>
                <a:sym typeface="Calibri"/>
              </a:rPr>
              <a:t>(~</a:t>
            </a:r>
            <a:r>
              <a:rPr lang="en-US" sz="3000" b="1" kern="0" dirty="0" smtClean="0">
                <a:solidFill>
                  <a:srgbClr val="000000"/>
                </a:solidFill>
                <a:latin typeface="Calibri"/>
                <a:sym typeface="Calibri"/>
              </a:rPr>
              <a:t>9</a:t>
            </a:r>
            <a:r>
              <a:rPr sz="3000" b="1" kern="0" dirty="0" smtClean="0">
                <a:solidFill>
                  <a:srgbClr val="000000"/>
                </a:solidFill>
                <a:latin typeface="Calibri"/>
                <a:sym typeface="Calibri"/>
              </a:rPr>
              <a:t> </a:t>
            </a:r>
            <a:r>
              <a:rPr sz="3000" b="1" kern="0" dirty="0">
                <a:solidFill>
                  <a:srgbClr val="000000"/>
                </a:solidFill>
                <a:latin typeface="Calibri"/>
                <a:sym typeface="Calibri"/>
              </a:rPr>
              <a:t>in number) will be scaled, so as to make </a:t>
            </a:r>
            <a:r>
              <a:rPr sz="3000" b="1" u="sng" kern="0" dirty="0" smtClean="0">
                <a:solidFill>
                  <a:srgbClr val="000000"/>
                </a:solidFill>
                <a:latin typeface="Calibri"/>
                <a:sym typeface="Calibri"/>
              </a:rPr>
              <a:t>max</a:t>
            </a:r>
            <a:r>
              <a:rPr lang="en-US" sz="3000" b="1" u="sng" kern="0" dirty="0" smtClean="0">
                <a:solidFill>
                  <a:srgbClr val="000000"/>
                </a:solidFill>
                <a:latin typeface="Calibri"/>
                <a:sym typeface="Calibri"/>
              </a:rPr>
              <a:t>.</a:t>
            </a:r>
            <a:r>
              <a:rPr sz="3000" b="1" u="sng" kern="0" dirty="0" smtClean="0">
                <a:solidFill>
                  <a:srgbClr val="000000"/>
                </a:solidFill>
                <a:latin typeface="Calibri"/>
                <a:sym typeface="Calibri"/>
              </a:rPr>
              <a:t> </a:t>
            </a:r>
            <a:r>
              <a:rPr sz="3000" b="1" u="sng" kern="0" dirty="0">
                <a:solidFill>
                  <a:srgbClr val="000000"/>
                </a:solidFill>
                <a:latin typeface="Calibri"/>
                <a:sym typeface="Calibri"/>
              </a:rPr>
              <a:t>marks 15</a:t>
            </a:r>
            <a:r>
              <a:rPr sz="3000" b="1" kern="0" dirty="0">
                <a:solidFill>
                  <a:srgbClr val="000000"/>
                </a:solidFill>
                <a:latin typeface="Calibri"/>
                <a:sym typeface="Calibri"/>
              </a:rPr>
              <a:t>.</a:t>
            </a:r>
          </a:p>
        </p:txBody>
      </p:sp>
      <p:sp>
        <p:nvSpPr>
          <p:cNvPr id="4" name="Shape 114"/>
          <p:cNvSpPr/>
          <p:nvPr/>
        </p:nvSpPr>
        <p:spPr>
          <a:xfrm>
            <a:off x="271340" y="0"/>
            <a:ext cx="8453730" cy="646331"/>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algn="ctr">
              <a:defRPr sz="3200">
                <a:solidFill>
                  <a:srgbClr val="3366FF"/>
                </a:solidFill>
              </a:defRPr>
            </a:lvl1pPr>
          </a:lstStyle>
          <a:p>
            <a:pPr defTabSz="457200" hangingPunct="0"/>
            <a:r>
              <a:rPr sz="3600" b="1" u="sng" kern="0" dirty="0">
                <a:solidFill>
                  <a:schemeClr val="bg1">
                    <a:lumMod val="50000"/>
                  </a:schemeClr>
                </a:solidFill>
                <a:latin typeface="Calibri"/>
                <a:sym typeface="Calibri"/>
              </a:rPr>
              <a:t>PHY 102 LAB (SPRING </a:t>
            </a:r>
            <a:r>
              <a:rPr sz="3600" b="1" u="sng" kern="0" dirty="0" smtClean="0">
                <a:solidFill>
                  <a:schemeClr val="bg1">
                    <a:lumMod val="50000"/>
                  </a:schemeClr>
                </a:solidFill>
                <a:latin typeface="Calibri"/>
                <a:sym typeface="Calibri"/>
              </a:rPr>
              <a:t>201</a:t>
            </a:r>
            <a:r>
              <a:rPr lang="en-US" sz="3600" b="1" u="sng" kern="0" dirty="0">
                <a:solidFill>
                  <a:schemeClr val="bg1">
                    <a:lumMod val="50000"/>
                  </a:schemeClr>
                </a:solidFill>
                <a:latin typeface="Calibri"/>
                <a:sym typeface="Calibri"/>
              </a:rPr>
              <a:t>9</a:t>
            </a:r>
            <a:r>
              <a:rPr sz="3600" b="1" u="sng" kern="0" dirty="0" smtClean="0">
                <a:solidFill>
                  <a:schemeClr val="bg1">
                    <a:lumMod val="50000"/>
                  </a:schemeClr>
                </a:solidFill>
                <a:latin typeface="Calibri"/>
                <a:sym typeface="Calibri"/>
              </a:rPr>
              <a:t>)</a:t>
            </a:r>
            <a:endParaRPr sz="3600" b="1" u="sng" kern="0" dirty="0">
              <a:solidFill>
                <a:schemeClr val="bg1">
                  <a:lumMod val="50000"/>
                </a:schemeClr>
              </a:solidFill>
              <a:latin typeface="Calibri"/>
              <a:sym typeface="Calibri"/>
            </a:endParaRPr>
          </a:p>
        </p:txBody>
      </p:sp>
    </p:spTree>
    <p:extLst>
      <p:ext uri="{BB962C8B-B14F-4D97-AF65-F5344CB8AC3E}">
        <p14:creationId xmlns:p14="http://schemas.microsoft.com/office/powerpoint/2010/main" val="11045735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22"/>
          <p:cNvSpPr txBox="1">
            <a:spLocks/>
          </p:cNvSpPr>
          <p:nvPr/>
        </p:nvSpPr>
        <p:spPr>
          <a:xfrm>
            <a:off x="457200" y="274638"/>
            <a:ext cx="8229600" cy="950539"/>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a:bodyPr>
          <a:lstStyle>
            <a:lvl1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FF"/>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400" b="0" i="0" u="sng" strike="noStrike" kern="0" cap="none" spc="0" normalizeH="0" baseline="0" noProof="0" smtClean="0">
                <a:ln>
                  <a:noFill/>
                </a:ln>
                <a:solidFill>
                  <a:srgbClr val="0000FF"/>
                </a:solidFill>
                <a:effectLst/>
                <a:uLnTx/>
                <a:uFillTx/>
                <a:latin typeface="Calibri"/>
                <a:sym typeface="Calibri"/>
              </a:rPr>
              <a:t>LAB REPORT</a:t>
            </a:r>
            <a:endParaRPr kumimoji="0" lang="en-US" sz="4400" b="0" i="0" u="sng" strike="noStrike" kern="0" cap="none" spc="0" normalizeH="0" baseline="0" noProof="0" dirty="0">
              <a:ln>
                <a:noFill/>
              </a:ln>
              <a:solidFill>
                <a:srgbClr val="0000FF"/>
              </a:solidFill>
              <a:effectLst/>
              <a:uLnTx/>
              <a:uFillTx/>
              <a:latin typeface="Calibri"/>
              <a:sym typeface="Calibri"/>
            </a:endParaRPr>
          </a:p>
        </p:txBody>
      </p:sp>
      <p:sp>
        <p:nvSpPr>
          <p:cNvPr id="5" name="Shape 123"/>
          <p:cNvSpPr txBox="1">
            <a:spLocks/>
          </p:cNvSpPr>
          <p:nvPr/>
        </p:nvSpPr>
        <p:spPr>
          <a:xfrm>
            <a:off x="457200" y="1225176"/>
            <a:ext cx="8229600" cy="4900987"/>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marL="0" marR="0" lvl="0" indent="0" algn="l" defTabSz="457200" rtl="0" eaLnBrk="1" fontAlgn="auto" latinLnBrk="0" hangingPunct="1">
              <a:lnSpc>
                <a:spcPct val="100000"/>
              </a:lnSpc>
              <a:spcBef>
                <a:spcPts val="700"/>
              </a:spcBef>
              <a:spcAft>
                <a:spcPts val="0"/>
              </a:spcAft>
              <a:buClrTx/>
              <a:buSzTx/>
              <a:buFont typeface="Arial"/>
              <a:buNone/>
              <a:tabLst/>
              <a:defRPr>
                <a:solidFill>
                  <a:srgbClr val="FF0000"/>
                </a:solidFill>
              </a:defRPr>
            </a:pPr>
            <a:r>
              <a:rPr kumimoji="0" lang="en-US" sz="3200" b="0" i="0" u="none" strike="noStrike" kern="0" cap="none" spc="0" normalizeH="0" baseline="0" noProof="0" smtClean="0">
                <a:ln>
                  <a:noFill/>
                </a:ln>
                <a:solidFill>
                  <a:srgbClr val="FF0000"/>
                </a:solidFill>
                <a:effectLst/>
                <a:uLnTx/>
                <a:uFillTx/>
                <a:latin typeface="Calibri"/>
                <a:sym typeface="Calibri"/>
              </a:rPr>
              <a:t>The Lab report should contain:</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Aim/Objective of the experiment,</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Observation (Data recorded by the student)</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 Data analysis,</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 Uncertainty/error analysis, </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Results and conclusions. </a:t>
            </a:r>
          </a:p>
          <a:p>
            <a:pPr marL="342900" marR="0" lvl="0" indent="-342900" algn="l" defTabSz="457200" rtl="0" eaLnBrk="1" fontAlgn="auto" latinLnBrk="0" hangingPunct="1">
              <a:lnSpc>
                <a:spcPct val="100000"/>
              </a:lnSpc>
              <a:spcBef>
                <a:spcPts val="700"/>
              </a:spcBef>
              <a:spcAft>
                <a:spcPts val="0"/>
              </a:spcAft>
              <a:buClrTx/>
              <a:buSzPct val="100000"/>
              <a:buFont typeface="Arial"/>
              <a:buChar char="•"/>
              <a:tabLst/>
              <a:defRPr/>
            </a:pPr>
            <a:r>
              <a:rPr kumimoji="0" lang="en-US" sz="3200" b="0" i="0" u="none" strike="noStrike" kern="0" cap="none" spc="0" normalizeH="0" baseline="0" noProof="0" smtClean="0">
                <a:ln>
                  <a:noFill/>
                </a:ln>
                <a:solidFill>
                  <a:srgbClr val="000000"/>
                </a:solidFill>
                <a:effectLst/>
                <a:uLnTx/>
                <a:uFillTx/>
                <a:latin typeface="Calibri"/>
                <a:sym typeface="Calibri"/>
              </a:rPr>
              <a:t>Precautions </a:t>
            </a:r>
          </a:p>
          <a:p>
            <a:pPr marL="0" marR="0" lvl="0" indent="0" algn="l" defTabSz="457200" rtl="0" eaLnBrk="1" fontAlgn="auto" latinLnBrk="0" hangingPunct="1">
              <a:lnSpc>
                <a:spcPct val="100000"/>
              </a:lnSpc>
              <a:spcBef>
                <a:spcPts val="700"/>
              </a:spcBef>
              <a:spcAft>
                <a:spcPts val="0"/>
              </a:spcAft>
              <a:buClrTx/>
              <a:buSzTx/>
              <a:buFont typeface="Arial"/>
              <a:buNone/>
              <a:tabLst/>
              <a:defRPr>
                <a:solidFill>
                  <a:srgbClr val="008000"/>
                </a:solidFill>
              </a:defRPr>
            </a:pPr>
            <a:r>
              <a:rPr kumimoji="0" lang="en-US" sz="3200" b="0" i="0" u="none" strike="noStrike" kern="0" cap="none" spc="0" normalizeH="0" baseline="0" noProof="0" smtClean="0">
                <a:ln>
                  <a:noFill/>
                </a:ln>
                <a:solidFill>
                  <a:srgbClr val="008000"/>
                </a:solidFill>
                <a:effectLst/>
                <a:uLnTx/>
                <a:uFillTx/>
                <a:latin typeface="Calibri"/>
                <a:sym typeface="Calibri"/>
              </a:rPr>
              <a:t>   (Details can be found in the Lab Manual)</a:t>
            </a:r>
            <a:endParaRPr kumimoji="0" lang="en-US" sz="3200" b="0" i="0" u="none" strike="noStrike" kern="0" cap="none" spc="0" normalizeH="0" baseline="0" noProof="0" dirty="0">
              <a:ln>
                <a:noFill/>
              </a:ln>
              <a:solidFill>
                <a:srgbClr val="008000"/>
              </a:solidFill>
              <a:effectLst/>
              <a:uLnTx/>
              <a:uFillTx/>
              <a:latin typeface="Calibri"/>
              <a:sym typeface="Calibri"/>
            </a:endParaRPr>
          </a:p>
        </p:txBody>
      </p:sp>
    </p:spTree>
    <p:extLst>
      <p:ext uri="{BB962C8B-B14F-4D97-AF65-F5344CB8AC3E}">
        <p14:creationId xmlns:p14="http://schemas.microsoft.com/office/powerpoint/2010/main" val="36738407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25"/>
          <p:cNvSpPr txBox="1">
            <a:spLocks/>
          </p:cNvSpPr>
          <p:nvPr/>
        </p:nvSpPr>
        <p:spPr>
          <a:xfrm>
            <a:off x="0" y="152400"/>
            <a:ext cx="9144000" cy="950539"/>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fontScale="75000" lnSpcReduction="20000"/>
          </a:bodyPr>
          <a:lstStyle>
            <a:lvl1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FF"/>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400" b="0" i="0" u="sng" strike="noStrike" kern="0" cap="none" spc="0" normalizeH="0" baseline="0" noProof="0" smtClean="0">
                <a:ln>
                  <a:noFill/>
                </a:ln>
                <a:solidFill>
                  <a:srgbClr val="0000FF"/>
                </a:solidFill>
                <a:effectLst/>
                <a:uLnTx/>
                <a:uFillTx/>
                <a:latin typeface="Calibri"/>
                <a:sym typeface="Calibri"/>
              </a:rPr>
              <a:t>EVALUATION AND SUBMISSION OF LAB REPORTS</a:t>
            </a:r>
            <a:endParaRPr kumimoji="0" lang="en-US" sz="4400" b="0" i="0" u="sng" strike="noStrike" kern="0" cap="none" spc="0" normalizeH="0" baseline="0" noProof="0" dirty="0">
              <a:ln>
                <a:noFill/>
              </a:ln>
              <a:solidFill>
                <a:srgbClr val="0000FF"/>
              </a:solidFill>
              <a:effectLst/>
              <a:uLnTx/>
              <a:uFillTx/>
              <a:latin typeface="Calibri"/>
              <a:sym typeface="Calibri"/>
            </a:endParaRPr>
          </a:p>
        </p:txBody>
      </p:sp>
      <p:sp>
        <p:nvSpPr>
          <p:cNvPr id="3" name="Shape 126"/>
          <p:cNvSpPr txBox="1">
            <a:spLocks/>
          </p:cNvSpPr>
          <p:nvPr/>
        </p:nvSpPr>
        <p:spPr>
          <a:xfrm>
            <a:off x="0" y="1225175"/>
            <a:ext cx="9144000" cy="5304120"/>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none" strike="noStrike" kern="0" cap="none" spc="0" normalizeH="0" baseline="0" noProof="0" smtClean="0">
                <a:ln>
                  <a:noFill/>
                </a:ln>
                <a:solidFill>
                  <a:srgbClr val="000000"/>
                </a:solidFill>
                <a:effectLst/>
                <a:uLnTx/>
                <a:uFillTx/>
                <a:latin typeface="Calibri"/>
                <a:sym typeface="Calibri"/>
              </a:rPr>
              <a:t>After submission of lab reports by the students, lab instructors collect the lab sheets and </a:t>
            </a:r>
            <a:r>
              <a:rPr kumimoji="0" lang="en-US" sz="2800" b="1" i="0" u="none" strike="noStrike" kern="0" cap="none" spc="0" normalizeH="0" baseline="0" noProof="0" smtClean="0">
                <a:ln>
                  <a:noFill/>
                </a:ln>
                <a:solidFill>
                  <a:srgbClr val="000000"/>
                </a:solidFill>
                <a:effectLst/>
                <a:uLnTx/>
                <a:uFillTx/>
                <a:latin typeface="Calibri"/>
                <a:sym typeface="Calibri"/>
              </a:rPr>
              <a:t>return them after evaluation within 1 week.</a:t>
            </a:r>
            <a:r>
              <a:rPr kumimoji="0" lang="en-US" sz="2800" b="0" i="0" u="none" strike="noStrike" kern="0" cap="none" spc="0" normalizeH="0" baseline="0" noProof="0" smtClean="0">
                <a:ln>
                  <a:noFill/>
                </a:ln>
                <a:solidFill>
                  <a:srgbClr val="000000"/>
                </a:solidFill>
                <a:effectLst/>
                <a:uLnTx/>
                <a:uFillTx/>
                <a:latin typeface="Calibri"/>
                <a:sym typeface="Calibri"/>
              </a:rPr>
              <a:t> Constant piling up of unevaluated lab reports is highly discouraged.</a:t>
            </a:r>
          </a:p>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none" strike="noStrike" kern="0" cap="none" spc="0" normalizeH="0" baseline="0" noProof="0" smtClean="0">
                <a:ln>
                  <a:noFill/>
                </a:ln>
                <a:solidFill>
                  <a:srgbClr val="000000"/>
                </a:solidFill>
                <a:effectLst/>
                <a:uLnTx/>
                <a:uFillTx/>
                <a:latin typeface="Calibri"/>
                <a:sym typeface="Calibri"/>
              </a:rPr>
              <a:t>For each group, the corresponding</a:t>
            </a:r>
            <a:r>
              <a:rPr kumimoji="0" lang="en-US" sz="2800" b="0" i="0" u="none" strike="noStrike" kern="0" cap="none" spc="0" normalizeH="0" baseline="0" noProof="0" smtClean="0">
                <a:ln>
                  <a:noFill/>
                </a:ln>
                <a:solidFill>
                  <a:srgbClr val="FF0000"/>
                </a:solidFill>
                <a:effectLst/>
                <a:uLnTx/>
                <a:uFillTx/>
                <a:latin typeface="Calibri"/>
                <a:sym typeface="Calibri"/>
              </a:rPr>
              <a:t> </a:t>
            </a:r>
            <a:r>
              <a:rPr kumimoji="0" lang="en-US" sz="2800" b="0" i="0" u="none" strike="noStrike" kern="0" cap="none" spc="0" normalizeH="0" baseline="0" noProof="0" smtClean="0">
                <a:ln>
                  <a:noFill/>
                </a:ln>
                <a:solidFill>
                  <a:srgbClr val="000000"/>
                </a:solidFill>
                <a:effectLst/>
                <a:uLnTx/>
                <a:uFillTx/>
                <a:latin typeface="Calibri"/>
                <a:sym typeface="Calibri"/>
              </a:rPr>
              <a:t>instructors</a:t>
            </a:r>
            <a:r>
              <a:rPr kumimoji="0" lang="en-US" sz="2800" b="0" i="0" u="none" strike="noStrike" kern="0" cap="none" spc="0" normalizeH="0" baseline="0" noProof="0" smtClean="0">
                <a:ln>
                  <a:noFill/>
                </a:ln>
                <a:solidFill>
                  <a:srgbClr val="FF0000"/>
                </a:solidFill>
                <a:effectLst/>
                <a:uLnTx/>
                <a:uFillTx/>
                <a:latin typeface="Calibri"/>
                <a:sym typeface="Calibri"/>
              </a:rPr>
              <a:t> </a:t>
            </a:r>
            <a:r>
              <a:rPr kumimoji="0" lang="en-US" sz="2800" b="0" i="0" u="none" strike="noStrike" kern="0" cap="none" spc="0" normalizeH="0" baseline="0" noProof="0" smtClean="0">
                <a:ln>
                  <a:noFill/>
                </a:ln>
                <a:solidFill>
                  <a:srgbClr val="000000"/>
                </a:solidFill>
                <a:effectLst/>
                <a:uLnTx/>
                <a:uFillTx/>
                <a:latin typeface="Calibri"/>
                <a:sym typeface="Calibri"/>
              </a:rPr>
              <a:t>will evaluate the Lab reports.</a:t>
            </a:r>
          </a:p>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none" strike="noStrike" kern="0" cap="none" spc="0" normalizeH="0" baseline="0" noProof="0" smtClean="0">
                <a:ln>
                  <a:noFill/>
                </a:ln>
                <a:solidFill>
                  <a:srgbClr val="000000"/>
                </a:solidFill>
                <a:effectLst/>
                <a:uLnTx/>
                <a:uFillTx/>
                <a:latin typeface="Calibri"/>
                <a:sym typeface="Calibri"/>
              </a:rPr>
              <a:t>Instructors should </a:t>
            </a:r>
            <a:r>
              <a:rPr kumimoji="0" lang="en-US" sz="2800" b="0" i="1" u="sng" strike="noStrike" kern="0" cap="none" spc="0" normalizeH="0" baseline="0" noProof="0" smtClean="0">
                <a:ln>
                  <a:noFill/>
                </a:ln>
                <a:solidFill>
                  <a:srgbClr val="000000"/>
                </a:solidFill>
                <a:effectLst/>
                <a:uLnTx/>
                <a:uFillTx/>
                <a:latin typeface="Calibri"/>
                <a:sym typeface="Calibri"/>
              </a:rPr>
              <a:t>maintain an uniformity </a:t>
            </a:r>
            <a:r>
              <a:rPr kumimoji="0" lang="en-US" sz="2800" b="0" i="0" u="none" strike="noStrike" kern="0" cap="none" spc="0" normalizeH="0" baseline="0" noProof="0" smtClean="0">
                <a:ln>
                  <a:noFill/>
                </a:ln>
                <a:solidFill>
                  <a:srgbClr val="000000"/>
                </a:solidFill>
                <a:effectLst/>
                <a:uLnTx/>
                <a:uFillTx/>
                <a:latin typeface="Calibri"/>
                <a:sym typeface="Calibri"/>
              </a:rPr>
              <a:t>while evaluating the lab reports. For example, out of 4 marks:</a:t>
            </a:r>
          </a:p>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sng" strike="noStrike" kern="0" cap="none" spc="0" normalizeH="0" baseline="0" noProof="0" smtClean="0">
                <a:ln>
                  <a:noFill/>
                </a:ln>
                <a:solidFill>
                  <a:srgbClr val="000000"/>
                </a:solidFill>
                <a:effectLst/>
                <a:uLnTx/>
                <a:uFillTx/>
                <a:latin typeface="Calibri"/>
                <a:sym typeface="Calibri"/>
              </a:rPr>
              <a:t>1 mark: Aim, Theory (Working formula + explanation)</a:t>
            </a:r>
          </a:p>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sng" strike="noStrike" kern="0" cap="none" spc="0" normalizeH="0" baseline="0" noProof="0" smtClean="0">
                <a:ln>
                  <a:noFill/>
                </a:ln>
                <a:solidFill>
                  <a:srgbClr val="000000"/>
                </a:solidFill>
                <a:effectLst/>
                <a:uLnTx/>
                <a:uFillTx/>
                <a:latin typeface="Calibri"/>
                <a:sym typeface="Calibri"/>
              </a:rPr>
              <a:t>2 marks: Experimental data + graph</a:t>
            </a:r>
          </a:p>
          <a:p>
            <a:pPr marL="0" marR="0" lvl="0" indent="0" algn="just" defTabSz="457200" rtl="0" eaLnBrk="1" fontAlgn="auto" latinLnBrk="0" hangingPunct="1">
              <a:lnSpc>
                <a:spcPct val="100000"/>
              </a:lnSpc>
              <a:spcBef>
                <a:spcPts val="700"/>
              </a:spcBef>
              <a:spcAft>
                <a:spcPts val="0"/>
              </a:spcAft>
              <a:buClrTx/>
              <a:buSzTx/>
              <a:buFont typeface="Arial"/>
              <a:buNone/>
              <a:tabLst/>
              <a:defRPr/>
            </a:pPr>
            <a:r>
              <a:rPr kumimoji="0" lang="en-US" sz="2800" b="0" i="0" u="sng" strike="noStrike" kern="0" cap="none" spc="0" normalizeH="0" baseline="0" noProof="0" smtClean="0">
                <a:ln>
                  <a:noFill/>
                </a:ln>
                <a:solidFill>
                  <a:srgbClr val="000000"/>
                </a:solidFill>
                <a:effectLst/>
                <a:uLnTx/>
                <a:uFillTx/>
                <a:latin typeface="Calibri"/>
                <a:sym typeface="Calibri"/>
              </a:rPr>
              <a:t>1 mark: Error analysis + Conclusion</a:t>
            </a:r>
            <a:endParaRPr kumimoji="0" lang="en-US" sz="2800" b="0" i="0" u="sng" strike="noStrike" kern="0" cap="none" spc="0" normalizeH="0" baseline="0" noProof="0" dirty="0">
              <a:ln>
                <a:noFill/>
              </a:ln>
              <a:solidFill>
                <a:srgbClr val="000000"/>
              </a:solidFill>
              <a:effectLst/>
              <a:uLnTx/>
              <a:uFillTx/>
              <a:latin typeface="Calibri"/>
              <a:sym typeface="Calibri"/>
            </a:endParaRPr>
          </a:p>
        </p:txBody>
      </p:sp>
    </p:spTree>
    <p:extLst>
      <p:ext uri="{BB962C8B-B14F-4D97-AF65-F5344CB8AC3E}">
        <p14:creationId xmlns:p14="http://schemas.microsoft.com/office/powerpoint/2010/main" val="272457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513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2022764" y="152400"/>
            <a:ext cx="4038600" cy="707886"/>
          </a:xfrm>
          <a:prstGeom prst="rect">
            <a:avLst/>
          </a:prstGeom>
          <a:noFill/>
        </p:spPr>
        <p:txBody>
          <a:bodyPr wrap="square" rtlCol="0">
            <a:spAutoFit/>
          </a:bodyPr>
          <a:lstStyle/>
          <a:p>
            <a:r>
              <a:rPr lang="en-US" sz="4000" b="1" u="sng" dirty="0">
                <a:solidFill>
                  <a:srgbClr val="FF0000"/>
                </a:solidFill>
              </a:rPr>
              <a:t>What are vectors?</a:t>
            </a:r>
          </a:p>
        </p:txBody>
      </p:sp>
      <mc:AlternateContent xmlns:mc="http://schemas.openxmlformats.org/markup-compatibility/2006" xmlns:a14="http://schemas.microsoft.com/office/drawing/2010/main">
        <mc:Choice Requires="a14">
          <p:sp>
            <p:nvSpPr>
              <p:cNvPr id="3" name="TextBox 2"/>
              <p:cNvSpPr txBox="1"/>
              <p:nvPr/>
            </p:nvSpPr>
            <p:spPr>
              <a:xfrm>
                <a:off x="0" y="914400"/>
                <a:ext cx="9144000" cy="1046377"/>
              </a:xfrm>
              <a:prstGeom prst="rect">
                <a:avLst/>
              </a:prstGeom>
              <a:noFill/>
            </p:spPr>
            <p:txBody>
              <a:bodyPr wrap="square" rtlCol="0">
                <a:spAutoFit/>
              </a:bodyPr>
              <a:lstStyle/>
              <a:p>
                <a:r>
                  <a:rPr lang="en-US" sz="2800" dirty="0">
                    <a:solidFill>
                      <a:prstClr val="black"/>
                    </a:solidFill>
                  </a:rPr>
                  <a:t>In physics, any </a:t>
                </a:r>
                <a:r>
                  <a:rPr lang="en-US" sz="2800" b="1" i="1" dirty="0">
                    <a:solidFill>
                      <a:prstClr val="black"/>
                    </a:solidFill>
                  </a:rPr>
                  <a:t>measurable</a:t>
                </a:r>
                <a:r>
                  <a:rPr lang="en-US" sz="2800" dirty="0">
                    <a:solidFill>
                      <a:prstClr val="black"/>
                    </a:solidFill>
                  </a:rPr>
                  <a:t> physical quantity having a definite </a:t>
                </a:r>
                <a:r>
                  <a:rPr lang="en-US" sz="2800" b="1" i="1" dirty="0">
                    <a:solidFill>
                      <a:prstClr val="black"/>
                    </a:solidFill>
                  </a:rPr>
                  <a:t>direction</a:t>
                </a:r>
                <a:r>
                  <a:rPr lang="en-US" sz="2800" dirty="0">
                    <a:solidFill>
                      <a:prstClr val="black"/>
                    </a:solidFill>
                  </a:rPr>
                  <a:t> is called a vector – represented by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𝑽</m:t>
                        </m:r>
                      </m:e>
                    </m:acc>
                  </m:oMath>
                </a14:m>
                <a:endParaRPr lang="en-US" sz="2800" b="1" dirty="0">
                  <a:solidFill>
                    <a:prstClr val="black"/>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0" y="914400"/>
                <a:ext cx="9144000" cy="1046377"/>
              </a:xfrm>
              <a:prstGeom prst="rect">
                <a:avLst/>
              </a:prstGeom>
              <a:blipFill rotWithShape="1">
                <a:blip r:embed="rId2"/>
                <a:stretch>
                  <a:fillRect l="-1333" t="-5233" r="-1267" b="-122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0" y="2514600"/>
                <a:ext cx="9144000" cy="1058623"/>
              </a:xfrm>
              <a:prstGeom prst="rect">
                <a:avLst/>
              </a:prstGeom>
              <a:noFill/>
            </p:spPr>
            <p:txBody>
              <a:bodyPr wrap="square" rtlCol="0">
                <a:spAutoFit/>
              </a:bodyPr>
              <a:lstStyle/>
              <a:p>
                <a:pPr algn="just"/>
                <a:r>
                  <a:rPr lang="en-US" sz="2800" dirty="0">
                    <a:solidFill>
                      <a:prstClr val="black"/>
                    </a:solidFill>
                  </a:rPr>
                  <a:t>Examples: Displacement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𝒙</m:t>
                        </m:r>
                      </m:e>
                    </m:acc>
                  </m:oMath>
                </a14:m>
                <a:r>
                  <a:rPr lang="en-US" sz="2800" dirty="0">
                    <a:solidFill>
                      <a:prstClr val="black"/>
                    </a:solidFill>
                  </a:rPr>
                  <a:t>), Force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𝑭</m:t>
                        </m:r>
                      </m:e>
                    </m:acc>
                  </m:oMath>
                </a14:m>
                <a:r>
                  <a:rPr lang="en-US" sz="2800" dirty="0">
                    <a:solidFill>
                      <a:prstClr val="black"/>
                    </a:solidFill>
                  </a:rPr>
                  <a:t>), Momentum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𝒑</m:t>
                        </m:r>
                      </m:e>
                    </m:acc>
                  </m:oMath>
                </a14:m>
                <a:r>
                  <a:rPr lang="en-US" sz="2800" dirty="0">
                    <a:solidFill>
                      <a:prstClr val="black"/>
                    </a:solidFill>
                  </a:rPr>
                  <a:t>), Electric field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𝑬</m:t>
                        </m:r>
                      </m:e>
                    </m:acc>
                  </m:oMath>
                </a14:m>
                <a:r>
                  <a:rPr lang="en-US" sz="2800" dirty="0">
                    <a:solidFill>
                      <a:prstClr val="black"/>
                    </a:solidFill>
                  </a:rPr>
                  <a:t>), Magnetic field (</a:t>
                </a:r>
                <a14:m>
                  <m:oMath xmlns:m="http://schemas.openxmlformats.org/officeDocument/2006/math">
                    <m:acc>
                      <m:accPr>
                        <m:chr m:val="⃗"/>
                        <m:ctrlPr>
                          <a:rPr lang="en-US" sz="2800" b="1" i="1">
                            <a:solidFill>
                              <a:prstClr val="black"/>
                            </a:solidFill>
                            <a:latin typeface="Cambria Math"/>
                          </a:rPr>
                        </m:ctrlPr>
                      </m:accPr>
                      <m:e>
                        <m:r>
                          <a:rPr lang="en-US" sz="2800" b="1" i="1">
                            <a:solidFill>
                              <a:prstClr val="black"/>
                            </a:solidFill>
                            <a:latin typeface="Cambria Math"/>
                          </a:rPr>
                          <m:t>𝑩</m:t>
                        </m:r>
                      </m:e>
                    </m:acc>
                  </m:oMath>
                </a14:m>
                <a:r>
                  <a:rPr lang="en-US" sz="2800" dirty="0">
                    <a:solidFill>
                      <a:prstClr val="black"/>
                    </a:solidFill>
                  </a:rPr>
                  <a:t>),………. </a:t>
                </a:r>
              </a:p>
            </p:txBody>
          </p:sp>
        </mc:Choice>
        <mc:Fallback xmlns="">
          <p:sp>
            <p:nvSpPr>
              <p:cNvPr id="4" name="TextBox 3"/>
              <p:cNvSpPr txBox="1">
                <a:spLocks noRot="1" noChangeAspect="1" noMove="1" noResize="1" noEditPoints="1" noAdjustHandles="1" noChangeArrowheads="1" noChangeShapeType="1" noTextEdit="1"/>
              </p:cNvSpPr>
              <p:nvPr/>
            </p:nvSpPr>
            <p:spPr>
              <a:xfrm>
                <a:off x="0" y="2514600"/>
                <a:ext cx="9144000" cy="1058623"/>
              </a:xfrm>
              <a:prstGeom prst="rect">
                <a:avLst/>
              </a:prstGeom>
              <a:blipFill rotWithShape="1">
                <a:blip r:embed="rId3"/>
                <a:stretch>
                  <a:fillRect l="-1333" r="-1333" b="-15607"/>
                </a:stretch>
              </a:blipFill>
            </p:spPr>
            <p:txBody>
              <a:bodyPr/>
              <a:lstStyle/>
              <a:p>
                <a:r>
                  <a:rPr lang="en-US">
                    <a:noFill/>
                  </a:rPr>
                  <a:t> </a:t>
                </a:r>
              </a:p>
            </p:txBody>
          </p:sp>
        </mc:Fallback>
      </mc:AlternateContent>
      <p:sp>
        <p:nvSpPr>
          <p:cNvPr id="5" name="TextBox 4"/>
          <p:cNvSpPr txBox="1"/>
          <p:nvPr/>
        </p:nvSpPr>
        <p:spPr>
          <a:xfrm>
            <a:off x="0" y="3733800"/>
            <a:ext cx="9144000" cy="1384995"/>
          </a:xfrm>
          <a:prstGeom prst="rect">
            <a:avLst/>
          </a:prstGeom>
          <a:noFill/>
        </p:spPr>
        <p:txBody>
          <a:bodyPr wrap="square" rtlCol="0">
            <a:spAutoFit/>
          </a:bodyPr>
          <a:lstStyle/>
          <a:p>
            <a:r>
              <a:rPr lang="en-US" sz="2800" dirty="0">
                <a:solidFill>
                  <a:prstClr val="black"/>
                </a:solidFill>
              </a:rPr>
              <a:t>Many algebraic operations can be performed on vectors such as addition, subtraction, multiplication just like mathematical numbers</a:t>
            </a:r>
          </a:p>
        </p:txBody>
      </p:sp>
      <p:sp>
        <p:nvSpPr>
          <p:cNvPr id="6" name="TextBox 5"/>
          <p:cNvSpPr txBox="1"/>
          <p:nvPr/>
        </p:nvSpPr>
        <p:spPr>
          <a:xfrm>
            <a:off x="0" y="5218093"/>
            <a:ext cx="9144000" cy="1384995"/>
          </a:xfrm>
          <a:prstGeom prst="rect">
            <a:avLst/>
          </a:prstGeom>
          <a:noFill/>
        </p:spPr>
        <p:txBody>
          <a:bodyPr wrap="square" rtlCol="0">
            <a:spAutoFit/>
          </a:bodyPr>
          <a:lstStyle/>
          <a:p>
            <a:pPr algn="just"/>
            <a:r>
              <a:rPr lang="en-US" sz="2800" dirty="0">
                <a:solidFill>
                  <a:prstClr val="black"/>
                </a:solidFill>
              </a:rPr>
              <a:t>In physics, there are two interesting operations involving vectors. They are </a:t>
            </a:r>
            <a:r>
              <a:rPr lang="en-US" sz="2800" b="1" dirty="0">
                <a:solidFill>
                  <a:prstClr val="black"/>
                </a:solidFill>
              </a:rPr>
              <a:t>Dot Product </a:t>
            </a:r>
            <a:r>
              <a:rPr lang="en-US" sz="2800" dirty="0">
                <a:solidFill>
                  <a:prstClr val="black"/>
                </a:solidFill>
              </a:rPr>
              <a:t>and </a:t>
            </a:r>
            <a:r>
              <a:rPr lang="en-US" sz="2800" b="1" dirty="0">
                <a:solidFill>
                  <a:prstClr val="black"/>
                </a:solidFill>
              </a:rPr>
              <a:t>Cross Product (already completed in PHY101)</a:t>
            </a:r>
            <a:endParaRPr lang="en-US" sz="2800" dirty="0">
              <a:solidFill>
                <a:prstClr val="black"/>
              </a:solidFill>
            </a:endParaRPr>
          </a:p>
        </p:txBody>
      </p:sp>
      <p:sp>
        <p:nvSpPr>
          <p:cNvPr id="7" name="TextBox 6"/>
          <p:cNvSpPr txBox="1"/>
          <p:nvPr/>
        </p:nvSpPr>
        <p:spPr>
          <a:xfrm>
            <a:off x="6477000" y="1828800"/>
            <a:ext cx="2743200" cy="523220"/>
          </a:xfrm>
          <a:prstGeom prst="rect">
            <a:avLst/>
          </a:prstGeom>
          <a:noFill/>
        </p:spPr>
        <p:txBody>
          <a:bodyPr wrap="square" rtlCol="0">
            <a:spAutoFit/>
          </a:bodyPr>
          <a:lstStyle/>
          <a:p>
            <a:r>
              <a:rPr lang="en-US" sz="2800" i="1" dirty="0">
                <a:solidFill>
                  <a:prstClr val="black"/>
                </a:solidFill>
              </a:rPr>
              <a:t>(crude definition)</a:t>
            </a:r>
          </a:p>
        </p:txBody>
      </p:sp>
    </p:spTree>
    <p:extLst>
      <p:ext uri="{BB962C8B-B14F-4D97-AF65-F5344CB8AC3E}">
        <p14:creationId xmlns:p14="http://schemas.microsoft.com/office/powerpoint/2010/main" val="5917534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1219200" y="457200"/>
            <a:ext cx="7086600" cy="707886"/>
          </a:xfrm>
          <a:prstGeom prst="rect">
            <a:avLst/>
          </a:prstGeom>
          <a:noFill/>
        </p:spPr>
        <p:txBody>
          <a:bodyPr wrap="square" rtlCol="0">
            <a:spAutoFit/>
          </a:bodyPr>
          <a:lstStyle/>
          <a:p>
            <a:r>
              <a:rPr lang="en-US" sz="4000" b="1" u="sng" dirty="0">
                <a:solidFill>
                  <a:srgbClr val="FF0000"/>
                </a:solidFill>
              </a:rPr>
              <a:t>A physicist’s definition of vector</a:t>
            </a:r>
          </a:p>
        </p:txBody>
      </p:sp>
      <p:sp>
        <p:nvSpPr>
          <p:cNvPr id="3" name="TextBox 2"/>
          <p:cNvSpPr txBox="1"/>
          <p:nvPr/>
        </p:nvSpPr>
        <p:spPr>
          <a:xfrm>
            <a:off x="228600" y="1600200"/>
            <a:ext cx="8610600" cy="2062103"/>
          </a:xfrm>
          <a:prstGeom prst="rect">
            <a:avLst/>
          </a:prstGeom>
          <a:noFill/>
        </p:spPr>
        <p:txBody>
          <a:bodyPr wrap="square" rtlCol="0">
            <a:spAutoFit/>
          </a:bodyPr>
          <a:lstStyle/>
          <a:p>
            <a:pPr algn="just"/>
            <a:r>
              <a:rPr lang="en-US" sz="3200" dirty="0">
                <a:solidFill>
                  <a:prstClr val="black"/>
                </a:solidFill>
              </a:rPr>
              <a:t>Any set of </a:t>
            </a:r>
            <a:r>
              <a:rPr lang="en-US" sz="3200" i="1" u="sng" dirty="0">
                <a:solidFill>
                  <a:prstClr val="black"/>
                </a:solidFill>
              </a:rPr>
              <a:t>three components</a:t>
            </a:r>
            <a:r>
              <a:rPr lang="en-US" sz="3200" dirty="0">
                <a:solidFill>
                  <a:prstClr val="black"/>
                </a:solidFill>
              </a:rPr>
              <a:t> which combines </a:t>
            </a:r>
            <a:r>
              <a:rPr lang="en-US" sz="3200" i="1" dirty="0">
                <a:solidFill>
                  <a:prstClr val="black"/>
                </a:solidFill>
              </a:rPr>
              <a:t>properly</a:t>
            </a:r>
            <a:r>
              <a:rPr lang="en-US" sz="3200" dirty="0">
                <a:solidFill>
                  <a:prstClr val="black"/>
                </a:solidFill>
              </a:rPr>
              <a:t> on </a:t>
            </a:r>
            <a:r>
              <a:rPr lang="en-US" sz="3200" i="1" dirty="0">
                <a:solidFill>
                  <a:prstClr val="black"/>
                </a:solidFill>
              </a:rPr>
              <a:t>addition</a:t>
            </a:r>
            <a:r>
              <a:rPr lang="en-US" sz="3200" dirty="0">
                <a:solidFill>
                  <a:prstClr val="black"/>
                </a:solidFill>
              </a:rPr>
              <a:t> and transforms according to a </a:t>
            </a:r>
            <a:r>
              <a:rPr lang="en-US" sz="3200" i="1" u="sng" dirty="0">
                <a:solidFill>
                  <a:prstClr val="black"/>
                </a:solidFill>
              </a:rPr>
              <a:t>specific transformation law</a:t>
            </a:r>
            <a:r>
              <a:rPr lang="en-US" sz="3200" dirty="0">
                <a:solidFill>
                  <a:prstClr val="black"/>
                </a:solidFill>
              </a:rPr>
              <a:t> from one </a:t>
            </a:r>
            <a:r>
              <a:rPr lang="en-US" sz="3200" i="1" u="sng" dirty="0">
                <a:solidFill>
                  <a:prstClr val="black"/>
                </a:solidFill>
              </a:rPr>
              <a:t>frame of reference</a:t>
            </a:r>
            <a:r>
              <a:rPr lang="en-US" sz="3200" dirty="0">
                <a:solidFill>
                  <a:prstClr val="black"/>
                </a:solidFill>
              </a:rPr>
              <a:t> (coordinate axes) to another</a:t>
            </a:r>
          </a:p>
        </p:txBody>
      </p:sp>
      <p:pic>
        <p:nvPicPr>
          <p:cNvPr id="1026" name="Picture 2"/>
          <p:cNvPicPr>
            <a:picLocks noChangeAspect="1" noChangeArrowheads="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5856153" y="3814703"/>
            <a:ext cx="3135448" cy="2902233"/>
          </a:xfrm>
          <a:prstGeom prst="rect">
            <a:avLst/>
          </a:prstGeom>
          <a:noFill/>
          <a:ln>
            <a:noFill/>
          </a:ln>
        </p:spPr>
      </p:pic>
    </p:spTree>
    <p:extLst>
      <p:ext uri="{BB962C8B-B14F-4D97-AF65-F5344CB8AC3E}">
        <p14:creationId xmlns:p14="http://schemas.microsoft.com/office/powerpoint/2010/main" val="13029677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4" name="TextBox 3"/>
          <p:cNvSpPr txBox="1"/>
          <p:nvPr/>
        </p:nvSpPr>
        <p:spPr>
          <a:xfrm>
            <a:off x="1984880" y="76200"/>
            <a:ext cx="6016120" cy="646331"/>
          </a:xfrm>
          <a:prstGeom prst="rect">
            <a:avLst/>
          </a:prstGeom>
          <a:noFill/>
        </p:spPr>
        <p:txBody>
          <a:bodyPr wrap="square" rtlCol="0">
            <a:spAutoFit/>
          </a:bodyPr>
          <a:lstStyle/>
          <a:p>
            <a:r>
              <a:rPr lang="en-US" sz="3600" b="1" u="sng" dirty="0">
                <a:solidFill>
                  <a:srgbClr val="FF0000"/>
                </a:solidFill>
              </a:rPr>
              <a:t>Cross product of two vectors</a:t>
            </a:r>
          </a:p>
        </p:txBody>
      </p:sp>
      <mc:AlternateContent xmlns:mc="http://schemas.openxmlformats.org/markup-compatibility/2006" xmlns:a14="http://schemas.microsoft.com/office/drawing/2010/main">
        <mc:Choice Requires="a14">
          <p:sp>
            <p:nvSpPr>
              <p:cNvPr id="7" name="TextBox 6"/>
              <p:cNvSpPr txBox="1"/>
              <p:nvPr/>
            </p:nvSpPr>
            <p:spPr>
              <a:xfrm>
                <a:off x="3638990" y="1701225"/>
                <a:ext cx="344761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1" i="1">
                          <a:solidFill>
                            <a:prstClr val="black"/>
                          </a:solidFill>
                          <a:latin typeface="Cambria Math"/>
                        </a:rPr>
                        <m:t>𝑨</m:t>
                      </m:r>
                      <m:r>
                        <a:rPr lang="en-US" sz="3200" b="1" i="1">
                          <a:solidFill>
                            <a:prstClr val="black"/>
                          </a:solidFill>
                          <a:latin typeface="Cambria Math"/>
                          <a:ea typeface="Cambria Math"/>
                        </a:rPr>
                        <m:t>×</m:t>
                      </m:r>
                      <m:r>
                        <a:rPr lang="en-US" sz="3200" b="1" i="1">
                          <a:solidFill>
                            <a:prstClr val="black"/>
                          </a:solidFill>
                          <a:latin typeface="Cambria Math"/>
                          <a:ea typeface="Cambria Math"/>
                        </a:rPr>
                        <m:t>𝑩</m:t>
                      </m:r>
                      <m:r>
                        <a:rPr lang="en-US" sz="3200" i="1">
                          <a:solidFill>
                            <a:prstClr val="black"/>
                          </a:solidFill>
                          <a:latin typeface="Cambria Math"/>
                          <a:ea typeface="Cambria Math"/>
                        </a:rPr>
                        <m:t>=</m:t>
                      </m:r>
                      <m:r>
                        <a:rPr lang="en-US" sz="3200" i="1">
                          <a:solidFill>
                            <a:prstClr val="black"/>
                          </a:solidFill>
                          <a:latin typeface="Cambria Math"/>
                          <a:ea typeface="Cambria Math"/>
                        </a:rPr>
                        <m:t>𝐴𝐵𝑠𝑖𝑛</m:t>
                      </m:r>
                      <m:r>
                        <a:rPr lang="en-US" sz="3200" i="1">
                          <a:solidFill>
                            <a:prstClr val="black"/>
                          </a:solidFill>
                          <a:latin typeface="Cambria Math"/>
                          <a:ea typeface="Cambria Math"/>
                        </a:rPr>
                        <m:t>𝜃</m:t>
                      </m:r>
                      <m:acc>
                        <m:accPr>
                          <m:chr m:val="̂"/>
                          <m:ctrlPr>
                            <a:rPr lang="en-US" sz="3200" b="1" i="1">
                              <a:solidFill>
                                <a:prstClr val="black"/>
                              </a:solidFill>
                              <a:latin typeface="Cambria Math"/>
                              <a:ea typeface="Cambria Math"/>
                            </a:rPr>
                          </m:ctrlPr>
                        </m:accPr>
                        <m:e>
                          <m:r>
                            <a:rPr lang="en-US" sz="3200" b="1" i="1">
                              <a:solidFill>
                                <a:prstClr val="black"/>
                              </a:solidFill>
                              <a:latin typeface="Cambria Math"/>
                              <a:ea typeface="Cambria Math"/>
                            </a:rPr>
                            <m:t>𝒏</m:t>
                          </m:r>
                        </m:e>
                      </m:acc>
                    </m:oMath>
                  </m:oMathPara>
                </a14:m>
                <a:endParaRPr lang="en-US" sz="3200" b="1" dirty="0">
                  <a:solidFill>
                    <a:prstClr val="black"/>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38990" y="1701225"/>
                <a:ext cx="3447610" cy="584775"/>
              </a:xfrm>
              <a:prstGeom prst="rect">
                <a:avLst/>
              </a:prstGeom>
              <a:blipFill rotWithShape="1">
                <a:blip r:embed="rId2"/>
                <a:stretch>
                  <a:fillRect/>
                </a:stretch>
              </a:blipFill>
            </p:spPr>
            <p:txBody>
              <a:bodyPr/>
              <a:lstStyle/>
              <a:p>
                <a:r>
                  <a:rPr lang="en-US">
                    <a:noFill/>
                  </a:rPr>
                  <a:t> </a:t>
                </a:r>
              </a:p>
            </p:txBody>
          </p:sp>
        </mc:Fallback>
      </mc:AlternateContent>
      <p:sp>
        <p:nvSpPr>
          <p:cNvPr id="5" name="TextBox 4"/>
          <p:cNvSpPr txBox="1"/>
          <p:nvPr/>
        </p:nvSpPr>
        <p:spPr>
          <a:xfrm>
            <a:off x="228600" y="990599"/>
            <a:ext cx="8610600" cy="584775"/>
          </a:xfrm>
          <a:prstGeom prst="rect">
            <a:avLst/>
          </a:prstGeom>
          <a:noFill/>
        </p:spPr>
        <p:txBody>
          <a:bodyPr wrap="square" rtlCol="0">
            <a:spAutoFit/>
          </a:bodyPr>
          <a:lstStyle/>
          <a:p>
            <a:pPr algn="just"/>
            <a:r>
              <a:rPr lang="en-US" sz="3200" dirty="0">
                <a:solidFill>
                  <a:prstClr val="black"/>
                </a:solidFill>
              </a:rPr>
              <a:t>The cross product of two vectors is defined by</a:t>
            </a:r>
          </a:p>
        </p:txBody>
      </p:sp>
      <mc:AlternateContent xmlns:mc="http://schemas.openxmlformats.org/markup-compatibility/2006" xmlns:a14="http://schemas.microsoft.com/office/drawing/2010/main">
        <mc:Choice Requires="a14">
          <p:sp>
            <p:nvSpPr>
              <p:cNvPr id="8" name="TextBox 7"/>
              <p:cNvSpPr txBox="1"/>
              <p:nvPr/>
            </p:nvSpPr>
            <p:spPr>
              <a:xfrm>
                <a:off x="381000" y="2580382"/>
                <a:ext cx="8458200" cy="1077218"/>
              </a:xfrm>
              <a:prstGeom prst="rect">
                <a:avLst/>
              </a:prstGeom>
              <a:noFill/>
            </p:spPr>
            <p:txBody>
              <a:bodyPr wrap="square" rtlCol="0">
                <a:spAutoFit/>
              </a:bodyPr>
              <a:lstStyle/>
              <a:p>
                <a:pPr algn="just"/>
                <a:r>
                  <a:rPr lang="en-US" sz="3200" b="1" dirty="0">
                    <a:solidFill>
                      <a:prstClr val="black"/>
                    </a:solidFill>
                    <a:ea typeface="Cambria Math"/>
                  </a:rPr>
                  <a:t>(</a:t>
                </a:r>
                <a14:m>
                  <m:oMath xmlns:m="http://schemas.openxmlformats.org/officeDocument/2006/math">
                    <m:acc>
                      <m:accPr>
                        <m:chr m:val="̂"/>
                        <m:ctrlPr>
                          <a:rPr lang="en-US" sz="3200" b="1" i="1">
                            <a:solidFill>
                              <a:prstClr val="black"/>
                            </a:solidFill>
                            <a:latin typeface="Cambria Math"/>
                            <a:ea typeface="Cambria Math"/>
                          </a:rPr>
                        </m:ctrlPr>
                      </m:accPr>
                      <m:e>
                        <m:r>
                          <a:rPr lang="en-US" sz="3200" b="1" i="1">
                            <a:solidFill>
                              <a:prstClr val="black"/>
                            </a:solidFill>
                            <a:latin typeface="Cambria Math"/>
                            <a:ea typeface="Cambria Math"/>
                          </a:rPr>
                          <m:t>𝒏</m:t>
                        </m:r>
                      </m:e>
                    </m:acc>
                  </m:oMath>
                </a14:m>
                <a:r>
                  <a:rPr lang="en-US" sz="3200" b="1" dirty="0">
                    <a:solidFill>
                      <a:prstClr val="black"/>
                    </a:solidFill>
                  </a:rPr>
                  <a:t> </a:t>
                </a:r>
                <a:r>
                  <a:rPr lang="en-US" sz="3200" dirty="0">
                    <a:solidFill>
                      <a:prstClr val="black"/>
                    </a:solidFill>
                  </a:rPr>
                  <a:t>is a unit vector pointing in the direction </a:t>
                </a:r>
                <a:r>
                  <a:rPr lang="en-US" sz="3200" i="1" u="sng" dirty="0">
                    <a:solidFill>
                      <a:prstClr val="black"/>
                    </a:solidFill>
                  </a:rPr>
                  <a:t>perpendicular to the plane of </a:t>
                </a:r>
                <a:r>
                  <a:rPr lang="en-US" sz="3200" b="1" i="1" u="sng" dirty="0">
                    <a:solidFill>
                      <a:prstClr val="black"/>
                    </a:solidFill>
                  </a:rPr>
                  <a:t>A</a:t>
                </a:r>
                <a:r>
                  <a:rPr lang="en-US" sz="3200" i="1" u="sng" dirty="0">
                    <a:solidFill>
                      <a:prstClr val="black"/>
                    </a:solidFill>
                  </a:rPr>
                  <a:t> and </a:t>
                </a:r>
                <a:r>
                  <a:rPr lang="en-US" sz="3200" b="1" i="1" u="sng" dirty="0">
                    <a:solidFill>
                      <a:prstClr val="black"/>
                    </a:solidFill>
                  </a:rPr>
                  <a:t>B</a:t>
                </a:r>
                <a:r>
                  <a:rPr lang="en-US" sz="3200" b="1" dirty="0">
                    <a:solidFill>
                      <a:prstClr val="black"/>
                    </a:solidFill>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81000" y="2580382"/>
                <a:ext cx="8458200" cy="1077218"/>
              </a:xfrm>
              <a:prstGeom prst="rect">
                <a:avLst/>
              </a:prstGeom>
              <a:blipFill rotWithShape="1">
                <a:blip r:embed="rId3"/>
                <a:stretch>
                  <a:fillRect l="-1875" t="-6780" r="-1802" b="-17514"/>
                </a:stretch>
              </a:blipFill>
            </p:spPr>
            <p:txBody>
              <a:bodyPr/>
              <a:lstStyle/>
              <a:p>
                <a:r>
                  <a:rPr lang="en-US">
                    <a:noFill/>
                  </a:rPr>
                  <a:t> </a:t>
                </a:r>
              </a:p>
            </p:txBody>
          </p:sp>
        </mc:Fallback>
      </mc:AlternateContent>
      <p:sp>
        <p:nvSpPr>
          <p:cNvPr id="9" name="TextBox 8"/>
          <p:cNvSpPr txBox="1"/>
          <p:nvPr/>
        </p:nvSpPr>
        <p:spPr>
          <a:xfrm>
            <a:off x="325582" y="4221540"/>
            <a:ext cx="8305800" cy="1569660"/>
          </a:xfrm>
          <a:prstGeom prst="rect">
            <a:avLst/>
          </a:prstGeom>
          <a:noFill/>
        </p:spPr>
        <p:txBody>
          <a:bodyPr wrap="square" rtlCol="0">
            <a:spAutoFit/>
          </a:bodyPr>
          <a:lstStyle/>
          <a:p>
            <a:pPr algn="just"/>
            <a:r>
              <a:rPr lang="en-US" sz="3200" b="1" u="sng" dirty="0">
                <a:solidFill>
                  <a:prstClr val="black"/>
                </a:solidFill>
              </a:rPr>
              <a:t>Ambiguity</a:t>
            </a:r>
            <a:r>
              <a:rPr lang="en-US" sz="3200" dirty="0">
                <a:solidFill>
                  <a:prstClr val="black"/>
                </a:solidFill>
              </a:rPr>
              <a:t>: There are </a:t>
            </a:r>
            <a:r>
              <a:rPr lang="en-US" sz="3200" i="1" u="sng" dirty="0">
                <a:solidFill>
                  <a:prstClr val="black"/>
                </a:solidFill>
              </a:rPr>
              <a:t>two directions perpendicular to any given plane</a:t>
            </a:r>
            <a:r>
              <a:rPr lang="en-US" sz="3200" dirty="0">
                <a:solidFill>
                  <a:prstClr val="black"/>
                </a:solidFill>
              </a:rPr>
              <a:t> – either pointing ‘in’ the plane or pointing ‘out’ of plane</a:t>
            </a:r>
          </a:p>
        </p:txBody>
      </p:sp>
    </p:spTree>
    <p:extLst>
      <p:ext uri="{BB962C8B-B14F-4D97-AF65-F5344CB8AC3E}">
        <p14:creationId xmlns:p14="http://schemas.microsoft.com/office/powerpoint/2010/main" val="25980800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0" y="914400"/>
            <a:ext cx="9144000" cy="1815882"/>
          </a:xfrm>
          <a:prstGeom prst="rect">
            <a:avLst/>
          </a:prstGeom>
          <a:noFill/>
        </p:spPr>
        <p:txBody>
          <a:bodyPr wrap="square" rtlCol="0">
            <a:spAutoFit/>
          </a:bodyPr>
          <a:lstStyle/>
          <a:p>
            <a:pPr algn="just"/>
            <a:r>
              <a:rPr lang="en-US" sz="2800" b="1" u="sng" dirty="0">
                <a:solidFill>
                  <a:prstClr val="black"/>
                </a:solidFill>
              </a:rPr>
              <a:t>Right hand rule</a:t>
            </a:r>
            <a:r>
              <a:rPr lang="en-US" sz="2800" dirty="0">
                <a:solidFill>
                  <a:prstClr val="black"/>
                </a:solidFill>
              </a:rPr>
              <a:t>: Imagine you are rotating a screw in a direction from the first vector to the second (two vectors having a </a:t>
            </a:r>
            <a:r>
              <a:rPr lang="en-US" sz="2800" b="1" u="sng" dirty="0">
                <a:solidFill>
                  <a:prstClr val="black"/>
                </a:solidFill>
              </a:rPr>
              <a:t>common origin</a:t>
            </a:r>
            <a:r>
              <a:rPr lang="en-US" sz="2800" dirty="0">
                <a:solidFill>
                  <a:prstClr val="black"/>
                </a:solidFill>
              </a:rPr>
              <a:t>) via the </a:t>
            </a:r>
            <a:r>
              <a:rPr lang="en-US" sz="2800" b="1" i="1" u="sng" dirty="0">
                <a:solidFill>
                  <a:prstClr val="black"/>
                </a:solidFill>
              </a:rPr>
              <a:t>smaller angle</a:t>
            </a:r>
            <a:r>
              <a:rPr lang="en-US" sz="2800" dirty="0">
                <a:solidFill>
                  <a:prstClr val="black"/>
                </a:solidFill>
              </a:rPr>
              <a:t>- direction of the screw would give you the direction of the cross product.</a:t>
            </a:r>
          </a:p>
        </p:txBody>
      </p:sp>
      <p:grpSp>
        <p:nvGrpSpPr>
          <p:cNvPr id="3" name="Group 2"/>
          <p:cNvGrpSpPr/>
          <p:nvPr/>
        </p:nvGrpSpPr>
        <p:grpSpPr>
          <a:xfrm>
            <a:off x="58880" y="3200400"/>
            <a:ext cx="3217720" cy="1878651"/>
            <a:chOff x="460880" y="5029200"/>
            <a:chExt cx="1919288" cy="1133788"/>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80" y="5029200"/>
              <a:ext cx="1919288" cy="1133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a:off x="671945" y="6017718"/>
              <a:ext cx="1143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 name="TextBox 5"/>
              <p:cNvSpPr txBox="1"/>
              <p:nvPr/>
            </p:nvSpPr>
            <p:spPr>
              <a:xfrm>
                <a:off x="3505200" y="3530567"/>
                <a:ext cx="5029200" cy="523220"/>
              </a:xfrm>
              <a:prstGeom prst="rect">
                <a:avLst/>
              </a:prstGeom>
              <a:noFill/>
            </p:spPr>
            <p:txBody>
              <a:bodyPr wrap="square" rtlCol="0">
                <a:spAutoFit/>
              </a:bodyPr>
              <a:lstStyle/>
              <a:p>
                <a:r>
                  <a:rPr lang="en-US" sz="2800" dirty="0">
                    <a:solidFill>
                      <a:prstClr val="black"/>
                    </a:solidFill>
                  </a:rPr>
                  <a:t>What is the direction of </a:t>
                </a:r>
                <a14:m>
                  <m:oMath xmlns:m="http://schemas.openxmlformats.org/officeDocument/2006/math">
                    <m:r>
                      <a:rPr lang="en-US" sz="2800" b="1" i="1">
                        <a:solidFill>
                          <a:prstClr val="black"/>
                        </a:solidFill>
                        <a:latin typeface="Cambria Math"/>
                      </a:rPr>
                      <m:t>𝑨</m:t>
                    </m:r>
                    <m:r>
                      <a:rPr lang="en-US" sz="2800" b="1" i="1">
                        <a:solidFill>
                          <a:prstClr val="black"/>
                        </a:solidFill>
                        <a:latin typeface="Cambria Math"/>
                        <a:ea typeface="Cambria Math"/>
                      </a:rPr>
                      <m:t>×</m:t>
                    </m:r>
                    <m:r>
                      <a:rPr lang="en-US" sz="2800" b="1" i="1">
                        <a:solidFill>
                          <a:prstClr val="black"/>
                        </a:solidFill>
                        <a:latin typeface="Cambria Math"/>
                        <a:ea typeface="Cambria Math"/>
                      </a:rPr>
                      <m:t>𝑩</m:t>
                    </m:r>
                  </m:oMath>
                </a14:m>
                <a:r>
                  <a:rPr lang="en-US" sz="2800" dirty="0">
                    <a:solidFill>
                      <a:prstClr val="black"/>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3505200" y="3530567"/>
                <a:ext cx="5029200" cy="523220"/>
              </a:xfrm>
              <a:prstGeom prst="rect">
                <a:avLst/>
              </a:prstGeom>
              <a:blipFill rotWithShape="1">
                <a:blip r:embed="rId3"/>
                <a:stretch>
                  <a:fillRect l="-2424"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505200" y="4267200"/>
                <a:ext cx="5029200" cy="523220"/>
              </a:xfrm>
              <a:prstGeom prst="rect">
                <a:avLst/>
              </a:prstGeom>
              <a:noFill/>
            </p:spPr>
            <p:txBody>
              <a:bodyPr wrap="square" rtlCol="0">
                <a:spAutoFit/>
              </a:bodyPr>
              <a:lstStyle/>
              <a:p>
                <a:r>
                  <a:rPr lang="en-US" sz="2800" dirty="0">
                    <a:solidFill>
                      <a:prstClr val="black"/>
                    </a:solidFill>
                  </a:rPr>
                  <a:t>What is the direction of </a:t>
                </a:r>
                <a14:m>
                  <m:oMath xmlns:m="http://schemas.openxmlformats.org/officeDocument/2006/math">
                    <m:r>
                      <a:rPr lang="en-US" sz="2800" b="1" i="1">
                        <a:solidFill>
                          <a:prstClr val="black"/>
                        </a:solidFill>
                        <a:latin typeface="Cambria Math"/>
                        <a:ea typeface="Cambria Math"/>
                      </a:rPr>
                      <m:t>𝑩</m:t>
                    </m:r>
                    <m:r>
                      <a:rPr lang="en-US" sz="2800" b="1" i="1">
                        <a:solidFill>
                          <a:prstClr val="black"/>
                        </a:solidFill>
                        <a:latin typeface="Cambria Math"/>
                        <a:ea typeface="Cambria Math"/>
                      </a:rPr>
                      <m:t>×</m:t>
                    </m:r>
                    <m:r>
                      <a:rPr lang="en-US" sz="2800" b="1" i="1">
                        <a:solidFill>
                          <a:prstClr val="black"/>
                        </a:solidFill>
                        <a:latin typeface="Cambria Math"/>
                        <a:ea typeface="Cambria Math"/>
                      </a:rPr>
                      <m:t>𝑨</m:t>
                    </m:r>
                  </m:oMath>
                </a14:m>
                <a:r>
                  <a:rPr lang="en-US" sz="2800" dirty="0">
                    <a:solidFill>
                      <a:prstClr val="black"/>
                    </a:solidFill>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3505200" y="4267200"/>
                <a:ext cx="5029200" cy="523220"/>
              </a:xfrm>
              <a:prstGeom prst="rect">
                <a:avLst/>
              </a:prstGeom>
              <a:blipFill rotWithShape="1">
                <a:blip r:embed="rId4"/>
                <a:stretch>
                  <a:fillRect l="-2424"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0" y="5486400"/>
                <a:ext cx="9144000" cy="954107"/>
              </a:xfrm>
              <a:prstGeom prst="rect">
                <a:avLst/>
              </a:prstGeom>
              <a:noFill/>
            </p:spPr>
            <p:txBody>
              <a:bodyPr wrap="square" rtlCol="0">
                <a:spAutoFit/>
              </a:bodyPr>
              <a:lstStyle/>
              <a:p>
                <a:pPr algn="just"/>
                <a:r>
                  <a:rPr lang="en-US" sz="2800" dirty="0">
                    <a:solidFill>
                      <a:prstClr val="black"/>
                    </a:solidFill>
                  </a:rPr>
                  <a:t>Geometrically,</a:t>
                </a:r>
                <a14:m>
                  <m:oMath xmlns:m="http://schemas.openxmlformats.org/officeDocument/2006/math">
                    <m:d>
                      <m:dPr>
                        <m:begChr m:val="|"/>
                        <m:endChr m:val="|"/>
                        <m:ctrlPr>
                          <a:rPr lang="en-US" sz="2800" b="1" i="1">
                            <a:solidFill>
                              <a:prstClr val="black"/>
                            </a:solidFill>
                            <a:latin typeface="Cambria Math"/>
                          </a:rPr>
                        </m:ctrlPr>
                      </m:dPr>
                      <m:e>
                        <m:r>
                          <a:rPr lang="en-US" sz="2800" b="1" i="1">
                            <a:solidFill>
                              <a:prstClr val="black"/>
                            </a:solidFill>
                            <a:latin typeface="Cambria Math"/>
                          </a:rPr>
                          <m:t>𝑨</m:t>
                        </m:r>
                        <m:r>
                          <a:rPr lang="en-US" sz="2800" b="1" i="1">
                            <a:solidFill>
                              <a:prstClr val="black"/>
                            </a:solidFill>
                            <a:latin typeface="Cambria Math"/>
                            <a:ea typeface="Cambria Math"/>
                          </a:rPr>
                          <m:t>×</m:t>
                        </m:r>
                        <m:r>
                          <a:rPr lang="en-US" sz="2800" b="1" i="1">
                            <a:solidFill>
                              <a:prstClr val="black"/>
                            </a:solidFill>
                            <a:latin typeface="Cambria Math"/>
                            <a:ea typeface="Cambria Math"/>
                          </a:rPr>
                          <m:t>𝑩</m:t>
                        </m:r>
                      </m:e>
                    </m:d>
                  </m:oMath>
                </a14:m>
                <a:r>
                  <a:rPr lang="en-US" sz="2800" dirty="0">
                    <a:solidFill>
                      <a:prstClr val="black"/>
                    </a:solidFill>
                  </a:rPr>
                  <a:t> represents the </a:t>
                </a:r>
                <a:r>
                  <a:rPr lang="en-US" sz="2800" i="1" dirty="0">
                    <a:solidFill>
                      <a:prstClr val="black"/>
                    </a:solidFill>
                  </a:rPr>
                  <a:t>area of the parallelogram </a:t>
                </a:r>
                <a:r>
                  <a:rPr lang="en-US" sz="2800" dirty="0">
                    <a:solidFill>
                      <a:prstClr val="black"/>
                    </a:solidFill>
                  </a:rPr>
                  <a:t>generated by </a:t>
                </a:r>
                <a:r>
                  <a:rPr lang="en-US" sz="2800" b="1" i="1" dirty="0">
                    <a:solidFill>
                      <a:prstClr val="black"/>
                    </a:solidFill>
                  </a:rPr>
                  <a:t>A</a:t>
                </a:r>
                <a:r>
                  <a:rPr lang="en-US" sz="2800" dirty="0">
                    <a:solidFill>
                      <a:prstClr val="black"/>
                    </a:solidFill>
                  </a:rPr>
                  <a:t> and </a:t>
                </a:r>
                <a:r>
                  <a:rPr lang="en-US" sz="2800" b="1" i="1" dirty="0">
                    <a:solidFill>
                      <a:prstClr val="black"/>
                    </a:solidFill>
                  </a:rPr>
                  <a:t>B</a:t>
                </a:r>
              </a:p>
            </p:txBody>
          </p:sp>
        </mc:Choice>
        <mc:Fallback xmlns="">
          <p:sp>
            <p:nvSpPr>
              <p:cNvPr id="8" name="TextBox 7"/>
              <p:cNvSpPr txBox="1">
                <a:spLocks noRot="1" noChangeAspect="1" noMove="1" noResize="1" noEditPoints="1" noAdjustHandles="1" noChangeArrowheads="1" noChangeShapeType="1" noTextEdit="1"/>
              </p:cNvSpPr>
              <p:nvPr/>
            </p:nvSpPr>
            <p:spPr>
              <a:xfrm>
                <a:off x="0" y="5486400"/>
                <a:ext cx="9144000" cy="954107"/>
              </a:xfrm>
              <a:prstGeom prst="rect">
                <a:avLst/>
              </a:prstGeom>
              <a:blipFill rotWithShape="1">
                <a:blip r:embed="rId5"/>
                <a:stretch>
                  <a:fillRect l="-1333" t="-5732" r="-1333" b="-17197"/>
                </a:stretch>
              </a:blipFill>
            </p:spPr>
            <p:txBody>
              <a:bodyPr/>
              <a:lstStyle/>
              <a:p>
                <a:r>
                  <a:rPr lang="en-US">
                    <a:noFill/>
                  </a:rPr>
                  <a:t> </a:t>
                </a:r>
              </a:p>
            </p:txBody>
          </p:sp>
        </mc:Fallback>
      </mc:AlternateContent>
      <p:sp>
        <p:nvSpPr>
          <p:cNvPr id="9" name="TextBox 8"/>
          <p:cNvSpPr txBox="1"/>
          <p:nvPr/>
        </p:nvSpPr>
        <p:spPr>
          <a:xfrm>
            <a:off x="1984880" y="76200"/>
            <a:ext cx="5635120" cy="646331"/>
          </a:xfrm>
          <a:prstGeom prst="rect">
            <a:avLst/>
          </a:prstGeom>
          <a:noFill/>
        </p:spPr>
        <p:txBody>
          <a:bodyPr wrap="square" rtlCol="0">
            <a:spAutoFit/>
          </a:bodyPr>
          <a:lstStyle/>
          <a:p>
            <a:r>
              <a:rPr lang="en-US" sz="3600" b="1" u="sng" dirty="0">
                <a:solidFill>
                  <a:srgbClr val="FF0000"/>
                </a:solidFill>
              </a:rPr>
              <a:t>Cross product of two vectors</a:t>
            </a:r>
          </a:p>
        </p:txBody>
      </p:sp>
    </p:spTree>
    <p:extLst>
      <p:ext uri="{BB962C8B-B14F-4D97-AF65-F5344CB8AC3E}">
        <p14:creationId xmlns:p14="http://schemas.microsoft.com/office/powerpoint/2010/main" val="36126341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1879799" y="76200"/>
            <a:ext cx="5338449" cy="646331"/>
          </a:xfrm>
          <a:prstGeom prst="rect">
            <a:avLst/>
          </a:prstGeom>
        </p:spPr>
        <p:txBody>
          <a:bodyPr wrap="none">
            <a:spAutoFit/>
          </a:bodyPr>
          <a:lstStyle/>
          <a:p>
            <a:r>
              <a:rPr lang="en-US" sz="3600" b="1" u="sng" dirty="0">
                <a:solidFill>
                  <a:srgbClr val="FF0000"/>
                </a:solidFill>
              </a:rPr>
              <a:t>Dot product of two vectors</a:t>
            </a:r>
          </a:p>
        </p:txBody>
      </p:sp>
      <p:sp>
        <p:nvSpPr>
          <p:cNvPr id="3" name="TextBox 2"/>
          <p:cNvSpPr txBox="1"/>
          <p:nvPr/>
        </p:nvSpPr>
        <p:spPr>
          <a:xfrm>
            <a:off x="0" y="990600"/>
            <a:ext cx="8686800" cy="523220"/>
          </a:xfrm>
          <a:prstGeom prst="rect">
            <a:avLst/>
          </a:prstGeom>
          <a:noFill/>
        </p:spPr>
        <p:txBody>
          <a:bodyPr wrap="square" rtlCol="0">
            <a:spAutoFit/>
          </a:bodyPr>
          <a:lstStyle/>
          <a:p>
            <a:r>
              <a:rPr lang="en-US" sz="2800" dirty="0">
                <a:solidFill>
                  <a:prstClr val="black"/>
                </a:solidFill>
              </a:rPr>
              <a:t>The dot product of two vectors is given by </a:t>
            </a:r>
          </a:p>
        </p:txBody>
      </p:sp>
      <mc:AlternateContent xmlns:mc="http://schemas.openxmlformats.org/markup-compatibility/2006" xmlns:a14="http://schemas.microsoft.com/office/drawing/2010/main">
        <mc:Choice Requires="a14">
          <p:sp>
            <p:nvSpPr>
              <p:cNvPr id="4" name="TextBox 3"/>
              <p:cNvSpPr txBox="1"/>
              <p:nvPr/>
            </p:nvSpPr>
            <p:spPr>
              <a:xfrm>
                <a:off x="1676400" y="1676400"/>
                <a:ext cx="267502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a:solidFill>
                            <a:prstClr val="black"/>
                          </a:solidFill>
                          <a:latin typeface="Cambria Math"/>
                        </a:rPr>
                        <m:t>𝑨</m:t>
                      </m:r>
                      <m:r>
                        <a:rPr lang="en-US" sz="2800" b="1" i="1">
                          <a:solidFill>
                            <a:prstClr val="black"/>
                          </a:solidFill>
                          <a:latin typeface="Cambria Math"/>
                          <a:ea typeface="Cambria Math"/>
                        </a:rPr>
                        <m:t>∙</m:t>
                      </m:r>
                      <m:r>
                        <a:rPr lang="en-US" sz="2800" b="1" i="1">
                          <a:solidFill>
                            <a:prstClr val="black"/>
                          </a:solidFill>
                          <a:latin typeface="Cambria Math"/>
                          <a:ea typeface="Cambria Math"/>
                        </a:rPr>
                        <m:t>𝑩</m:t>
                      </m:r>
                      <m:r>
                        <a:rPr lang="en-US" sz="2800" i="1">
                          <a:solidFill>
                            <a:prstClr val="black"/>
                          </a:solidFill>
                          <a:latin typeface="Cambria Math"/>
                          <a:ea typeface="Cambria Math"/>
                        </a:rPr>
                        <m:t>=</m:t>
                      </m:r>
                      <m:r>
                        <a:rPr lang="en-US" sz="2800" i="1">
                          <a:solidFill>
                            <a:prstClr val="black"/>
                          </a:solidFill>
                          <a:latin typeface="Cambria Math"/>
                          <a:ea typeface="Cambria Math"/>
                        </a:rPr>
                        <m:t>𝐴𝐵𝑐𝑜𝑠</m:t>
                      </m:r>
                      <m:r>
                        <a:rPr lang="en-US" sz="2800" i="1">
                          <a:solidFill>
                            <a:prstClr val="black"/>
                          </a:solidFill>
                          <a:latin typeface="Cambria Math"/>
                          <a:ea typeface="Cambria Math"/>
                        </a:rPr>
                        <m:t>𝜃</m:t>
                      </m:r>
                    </m:oMath>
                  </m:oMathPara>
                </a14:m>
                <a:endParaRPr lang="en-US" sz="2800" b="1" dirty="0">
                  <a:solidFill>
                    <a:prstClr val="black"/>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676400" y="1676400"/>
                <a:ext cx="2675028" cy="523220"/>
              </a:xfrm>
              <a:prstGeom prst="rect">
                <a:avLst/>
              </a:prstGeom>
              <a:blipFill rotWithShape="1">
                <a:blip r:embed="rId2"/>
                <a:stretch>
                  <a:fillRect/>
                </a:stretch>
              </a:blipFill>
            </p:spPr>
            <p:txBody>
              <a:bodyPr/>
              <a:lstStyle/>
              <a:p>
                <a:r>
                  <a:rPr lang="en-US">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1977" y="990600"/>
            <a:ext cx="2342023" cy="1905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0" y="2322493"/>
            <a:ext cx="7162799" cy="954107"/>
          </a:xfrm>
          <a:prstGeom prst="rect">
            <a:avLst/>
          </a:prstGeom>
          <a:noFill/>
        </p:spPr>
        <p:txBody>
          <a:bodyPr wrap="square" rtlCol="0">
            <a:spAutoFit/>
          </a:bodyPr>
          <a:lstStyle/>
          <a:p>
            <a:r>
              <a:rPr lang="en-US" sz="2800" dirty="0">
                <a:solidFill>
                  <a:prstClr val="black"/>
                </a:solidFill>
              </a:rPr>
              <a:t>Dot product is a scalar quantity (hence it is also called a scalar product)</a:t>
            </a:r>
          </a:p>
        </p:txBody>
      </p:sp>
      <p:sp>
        <p:nvSpPr>
          <p:cNvPr id="6" name="TextBox 5"/>
          <p:cNvSpPr txBox="1"/>
          <p:nvPr/>
        </p:nvSpPr>
        <p:spPr>
          <a:xfrm>
            <a:off x="0" y="3429000"/>
            <a:ext cx="9144000" cy="1384995"/>
          </a:xfrm>
          <a:prstGeom prst="rect">
            <a:avLst/>
          </a:prstGeom>
          <a:noFill/>
        </p:spPr>
        <p:txBody>
          <a:bodyPr wrap="square" rtlCol="0">
            <a:spAutoFit/>
          </a:bodyPr>
          <a:lstStyle/>
          <a:p>
            <a:r>
              <a:rPr lang="en-US" sz="2800" dirty="0">
                <a:solidFill>
                  <a:prstClr val="black"/>
                </a:solidFill>
              </a:rPr>
              <a:t>Geometrically, </a:t>
            </a:r>
            <a:r>
              <a:rPr lang="en-US" sz="2800" b="1" dirty="0">
                <a:solidFill>
                  <a:prstClr val="black"/>
                </a:solidFill>
              </a:rPr>
              <a:t>A.B</a:t>
            </a:r>
            <a:r>
              <a:rPr lang="en-US" sz="2800" dirty="0">
                <a:solidFill>
                  <a:prstClr val="black"/>
                </a:solidFill>
              </a:rPr>
              <a:t> is the product of </a:t>
            </a:r>
            <a:r>
              <a:rPr lang="en-US" sz="2800" i="1" dirty="0">
                <a:solidFill>
                  <a:prstClr val="black"/>
                </a:solidFill>
              </a:rPr>
              <a:t>A</a:t>
            </a:r>
            <a:r>
              <a:rPr lang="en-US" sz="2800" dirty="0">
                <a:solidFill>
                  <a:prstClr val="black"/>
                </a:solidFill>
              </a:rPr>
              <a:t> times the projection of </a:t>
            </a:r>
            <a:r>
              <a:rPr lang="en-US" sz="2800" b="1" dirty="0">
                <a:solidFill>
                  <a:prstClr val="black"/>
                </a:solidFill>
              </a:rPr>
              <a:t>B</a:t>
            </a:r>
            <a:r>
              <a:rPr lang="en-US" sz="2800" dirty="0">
                <a:solidFill>
                  <a:prstClr val="black"/>
                </a:solidFill>
              </a:rPr>
              <a:t> along </a:t>
            </a:r>
            <a:r>
              <a:rPr lang="en-US" sz="2800" b="1" dirty="0">
                <a:solidFill>
                  <a:prstClr val="black"/>
                </a:solidFill>
              </a:rPr>
              <a:t>A</a:t>
            </a:r>
            <a:r>
              <a:rPr lang="en-US" sz="2800" dirty="0">
                <a:solidFill>
                  <a:prstClr val="black"/>
                </a:solidFill>
              </a:rPr>
              <a:t> (or the product of </a:t>
            </a:r>
            <a:r>
              <a:rPr lang="en-US" sz="2800" i="1" dirty="0">
                <a:solidFill>
                  <a:prstClr val="black"/>
                </a:solidFill>
              </a:rPr>
              <a:t>B</a:t>
            </a:r>
            <a:r>
              <a:rPr lang="en-US" sz="2800" dirty="0">
                <a:solidFill>
                  <a:prstClr val="black"/>
                </a:solidFill>
              </a:rPr>
              <a:t> times the projection of </a:t>
            </a:r>
            <a:r>
              <a:rPr lang="en-US" sz="2800" b="1" dirty="0">
                <a:solidFill>
                  <a:prstClr val="black"/>
                </a:solidFill>
              </a:rPr>
              <a:t>A</a:t>
            </a:r>
            <a:r>
              <a:rPr lang="en-US" sz="2800" dirty="0">
                <a:solidFill>
                  <a:prstClr val="black"/>
                </a:solidFill>
              </a:rPr>
              <a:t> along </a:t>
            </a:r>
            <a:r>
              <a:rPr lang="en-US" sz="2800" b="1" dirty="0">
                <a:solidFill>
                  <a:prstClr val="black"/>
                </a:solidFill>
              </a:rPr>
              <a:t>B</a:t>
            </a:r>
            <a:r>
              <a:rPr lang="en-US" sz="2800" dirty="0">
                <a:solidFill>
                  <a:prstClr val="black"/>
                </a:solidFill>
              </a:rPr>
              <a:t>)</a:t>
            </a:r>
          </a:p>
        </p:txBody>
      </p:sp>
      <p:grpSp>
        <p:nvGrpSpPr>
          <p:cNvPr id="8" name="Group 7"/>
          <p:cNvGrpSpPr/>
          <p:nvPr/>
        </p:nvGrpSpPr>
        <p:grpSpPr>
          <a:xfrm>
            <a:off x="152400" y="4977825"/>
            <a:ext cx="8458200" cy="1359605"/>
            <a:chOff x="228600" y="4977825"/>
            <a:chExt cx="8458200" cy="1359605"/>
          </a:xfrm>
        </p:grpSpPr>
        <p:sp>
          <p:nvSpPr>
            <p:cNvPr id="7" name="TextBox 6"/>
            <p:cNvSpPr txBox="1"/>
            <p:nvPr/>
          </p:nvSpPr>
          <p:spPr>
            <a:xfrm>
              <a:off x="228600" y="4977825"/>
              <a:ext cx="8458200" cy="584775"/>
            </a:xfrm>
            <a:prstGeom prst="rect">
              <a:avLst/>
            </a:prstGeom>
            <a:noFill/>
          </p:spPr>
          <p:txBody>
            <a:bodyPr wrap="square" rtlCol="0">
              <a:spAutoFit/>
            </a:bodyPr>
            <a:lstStyle/>
            <a:p>
              <a:r>
                <a:rPr lang="en-US" sz="3200" dirty="0">
                  <a:solidFill>
                    <a:prstClr val="black"/>
                  </a:solidFill>
                </a:rPr>
                <a:t>If two vectors are parallel, then </a:t>
              </a:r>
            </a:p>
          </p:txBody>
        </p:sp>
        <mc:AlternateContent xmlns:mc="http://schemas.openxmlformats.org/markup-compatibility/2006" xmlns:a14="http://schemas.microsoft.com/office/drawing/2010/main">
          <mc:Choice Requires="a14">
            <p:sp>
              <p:nvSpPr>
                <p:cNvPr id="9" name="TextBox 8"/>
                <p:cNvSpPr txBox="1"/>
                <p:nvPr/>
              </p:nvSpPr>
              <p:spPr>
                <a:xfrm>
                  <a:off x="6255131" y="5039380"/>
                  <a:ext cx="195117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a:solidFill>
                              <a:prstClr val="black"/>
                            </a:solidFill>
                            <a:latin typeface="Cambria Math"/>
                          </a:rPr>
                          <m:t>𝑨</m:t>
                        </m:r>
                        <m:r>
                          <a:rPr lang="en-US" sz="2800" b="1" i="1">
                            <a:solidFill>
                              <a:prstClr val="black"/>
                            </a:solidFill>
                            <a:latin typeface="Cambria Math"/>
                            <a:ea typeface="Cambria Math"/>
                          </a:rPr>
                          <m:t>∙</m:t>
                        </m:r>
                        <m:r>
                          <a:rPr lang="en-US" sz="2800" b="1" i="1">
                            <a:solidFill>
                              <a:prstClr val="black"/>
                            </a:solidFill>
                            <a:latin typeface="Cambria Math"/>
                            <a:ea typeface="Cambria Math"/>
                          </a:rPr>
                          <m:t>𝑩</m:t>
                        </m:r>
                        <m:r>
                          <a:rPr lang="en-US" sz="2800" i="1">
                            <a:solidFill>
                              <a:prstClr val="black"/>
                            </a:solidFill>
                            <a:latin typeface="Cambria Math"/>
                            <a:ea typeface="Cambria Math"/>
                          </a:rPr>
                          <m:t>=</m:t>
                        </m:r>
                        <m:r>
                          <a:rPr lang="en-US" sz="2800" i="1">
                            <a:solidFill>
                              <a:prstClr val="black"/>
                            </a:solidFill>
                            <a:latin typeface="Cambria Math"/>
                            <a:ea typeface="Cambria Math"/>
                          </a:rPr>
                          <m:t>𝐴𝐵</m:t>
                        </m:r>
                      </m:oMath>
                    </m:oMathPara>
                  </a14:m>
                  <a:endParaRPr lang="en-US" sz="2800" b="1" dirty="0">
                    <a:solidFill>
                      <a:prstClr val="black"/>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255131" y="5039380"/>
                  <a:ext cx="1951175" cy="523220"/>
                </a:xfrm>
                <a:prstGeom prst="rect">
                  <a:avLst/>
                </a:prstGeom>
                <a:blipFill rotWithShape="1">
                  <a:blip r:embed="rId4"/>
                  <a:stretch>
                    <a:fillRect/>
                  </a:stretch>
                </a:blipFill>
              </p:spPr>
              <p:txBody>
                <a:bodyPr/>
                <a:lstStyle/>
                <a:p>
                  <a:r>
                    <a:rPr lang="en-US">
                      <a:noFill/>
                    </a:rPr>
                    <a:t> </a:t>
                  </a:r>
                </a:p>
              </p:txBody>
            </p:sp>
          </mc:Fallback>
        </mc:AlternateContent>
        <p:sp>
          <p:nvSpPr>
            <p:cNvPr id="10" name="TextBox 9"/>
            <p:cNvSpPr txBox="1"/>
            <p:nvPr/>
          </p:nvSpPr>
          <p:spPr>
            <a:xfrm>
              <a:off x="263236" y="5791199"/>
              <a:ext cx="5908964" cy="523220"/>
            </a:xfrm>
            <a:prstGeom prst="rect">
              <a:avLst/>
            </a:prstGeom>
            <a:noFill/>
          </p:spPr>
          <p:txBody>
            <a:bodyPr wrap="square" rtlCol="0">
              <a:spAutoFit/>
            </a:bodyPr>
            <a:lstStyle/>
            <a:p>
              <a:r>
                <a:rPr lang="en-US" sz="2800" dirty="0">
                  <a:solidFill>
                    <a:prstClr val="black"/>
                  </a:solidFill>
                </a:rPr>
                <a:t>If two vectors are perpendicular, then </a:t>
              </a:r>
            </a:p>
          </p:txBody>
        </p:sp>
        <mc:AlternateContent xmlns:mc="http://schemas.openxmlformats.org/markup-compatibility/2006" xmlns:a14="http://schemas.microsoft.com/office/drawing/2010/main">
          <mc:Choice Requires="a14">
            <p:sp>
              <p:nvSpPr>
                <p:cNvPr id="11" name="TextBox 10"/>
                <p:cNvSpPr txBox="1"/>
                <p:nvPr/>
              </p:nvSpPr>
              <p:spPr>
                <a:xfrm>
                  <a:off x="6276226" y="5814210"/>
                  <a:ext cx="167706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a:solidFill>
                              <a:prstClr val="black"/>
                            </a:solidFill>
                            <a:latin typeface="Cambria Math"/>
                          </a:rPr>
                          <m:t>𝑨</m:t>
                        </m:r>
                        <m:r>
                          <a:rPr lang="en-US" sz="2800" b="1" i="1">
                            <a:solidFill>
                              <a:prstClr val="black"/>
                            </a:solidFill>
                            <a:latin typeface="Cambria Math"/>
                            <a:ea typeface="Cambria Math"/>
                          </a:rPr>
                          <m:t>∙</m:t>
                        </m:r>
                        <m:r>
                          <a:rPr lang="en-US" sz="2800" b="1" i="1">
                            <a:solidFill>
                              <a:prstClr val="black"/>
                            </a:solidFill>
                            <a:latin typeface="Cambria Math"/>
                            <a:ea typeface="Cambria Math"/>
                          </a:rPr>
                          <m:t>𝑩</m:t>
                        </m:r>
                        <m:r>
                          <a:rPr lang="en-US" sz="2800" i="1">
                            <a:solidFill>
                              <a:prstClr val="black"/>
                            </a:solidFill>
                            <a:latin typeface="Cambria Math"/>
                            <a:ea typeface="Cambria Math"/>
                          </a:rPr>
                          <m:t>=0</m:t>
                        </m:r>
                      </m:oMath>
                    </m:oMathPara>
                  </a14:m>
                  <a:endParaRPr lang="en-US" sz="2800" b="1" dirty="0">
                    <a:solidFill>
                      <a:prstClr val="black"/>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276226" y="5814210"/>
                  <a:ext cx="1677062" cy="523220"/>
                </a:xfrm>
                <a:prstGeom prst="rect">
                  <a:avLst/>
                </a:prstGeom>
                <a:blipFill rotWithShape="1">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8760176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9" y="1"/>
            <a:ext cx="9176197"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54290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56029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6" y="0"/>
            <a:ext cx="9154731" cy="6857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4387592"/>
      </p:ext>
    </p:extLst>
  </p:cSld>
  <p:clrMapOvr>
    <a:masterClrMapping/>
  </p:clrMapOvr>
  <p:timing>
    <p:tnLst>
      <p:par>
        <p:cTn id="1" dur="indefinite" restart="never" nodeType="tmRoot"/>
      </p:par>
    </p:tnLst>
  </p:timing>
</p:sld>
</file>

<file path=ppt/theme/theme1.xml><?xml version="1.0" encoding="utf-8"?>
<a:theme xmlns:a="http://schemas.openxmlformats.org/drawingml/2006/main" name="Tradeshow">
  <a:themeElements>
    <a:clrScheme name="Tradeshow">
      <a:dk1>
        <a:srgbClr val="3F3F3F"/>
      </a:dk1>
      <a:lt1>
        <a:srgbClr val="FFFFFF"/>
      </a:lt1>
      <a:dk2>
        <a:srgbClr val="7DAFC3"/>
      </a:dk2>
      <a:lt2>
        <a:srgbClr val="E5E4DF"/>
      </a:lt2>
      <a:accent1>
        <a:srgbClr val="7C959A"/>
      </a:accent1>
      <a:accent2>
        <a:srgbClr val="DB8631"/>
      </a:accent2>
      <a:accent3>
        <a:srgbClr val="E3CC5A"/>
      </a:accent3>
      <a:accent4>
        <a:srgbClr val="ACADA8"/>
      </a:accent4>
      <a:accent5>
        <a:srgbClr val="927C61"/>
      </a:accent5>
      <a:accent6>
        <a:srgbClr val="B3B435"/>
      </a:accent6>
      <a:hlink>
        <a:srgbClr val="0079A4"/>
      </a:hlink>
      <a:folHlink>
        <a:srgbClr val="595959"/>
      </a:folHlink>
    </a:clrScheme>
    <a:fontScheme name="Tradeshow">
      <a:majorFont>
        <a:latin typeface="Arial Black"/>
        <a:ea typeface=""/>
        <a:cs typeface=""/>
        <a:font script="Jpan" typeface="ＭＳ Ｐゴシック"/>
        <a:font script="Hang" typeface="HY견고딕"/>
        <a:font script="Hans" typeface="宋体"/>
        <a:font script="Hant" typeface="新細明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ndara"/>
        <a:ea typeface=""/>
        <a:cs typeface=""/>
        <a:font script="Jpan" typeface="ＭＳ Ｐゴシック"/>
        <a:font script="Hang" typeface="HY견명조"/>
        <a:font script="Hans" typeface="华文楷体"/>
        <a:font script="Hant" typeface="新細明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radeshow">
      <a:fillStyleLst>
        <a:solidFill>
          <a:schemeClr val="phClr"/>
        </a:solidFill>
        <a:gradFill rotWithShape="1">
          <a:gsLst>
            <a:gs pos="0">
              <a:schemeClr val="phClr">
                <a:tint val="45000"/>
                <a:satMod val="300000"/>
              </a:schemeClr>
            </a:gs>
            <a:gs pos="35000">
              <a:schemeClr val="phClr">
                <a:tint val="45000"/>
                <a:satMod val="300000"/>
              </a:schemeClr>
            </a:gs>
            <a:gs pos="69000">
              <a:schemeClr val="phClr">
                <a:tint val="45000"/>
                <a:satMod val="350000"/>
              </a:schemeClr>
            </a:gs>
            <a:gs pos="100000">
              <a:schemeClr val="phClr">
                <a:tint val="60000"/>
                <a:satMod val="350000"/>
              </a:schemeClr>
            </a:gs>
          </a:gsLst>
          <a:path path="circle">
            <a:fillToRect l="50000" t="50000" r="100000" b="100000"/>
          </a:path>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9525" cap="rnd" cmpd="sng" algn="ctr">
          <a:solidFill>
            <a:schemeClr val="phClr"/>
          </a:solidFill>
          <a:prstDash val="solid"/>
        </a:ln>
        <a:ln w="38475" cap="flat" cmpd="sng" algn="ctr">
          <a:solidFill>
            <a:schemeClr val="phClr"/>
          </a:solidFill>
          <a:prstDash val="solid"/>
        </a:ln>
        <a:ln w="54850" cap="flat" cmpd="sng" algn="ctr">
          <a:solidFill>
            <a:schemeClr val="phClr"/>
          </a:solidFill>
          <a:prstDash val="solid"/>
        </a:ln>
      </a:lnStyleLst>
      <a:effectStyleLst>
        <a:effectStyle>
          <a:effectLst>
            <a:outerShdw blurRad="50800" dist="25400" dir="5400000" rotWithShape="0">
              <a:srgbClr val="000000">
                <a:alpha val="55000"/>
              </a:srgbClr>
            </a:outerShdw>
          </a:effectLst>
        </a:effectStyle>
        <a:effectStyle>
          <a:effectLst>
            <a:outerShdw blurRad="50800" dist="25400" dir="5400000" rotWithShape="0">
              <a:srgbClr val="000000">
                <a:alpha val="44000"/>
              </a:srgbClr>
            </a:outerShdw>
          </a:effectLst>
        </a:effectStyle>
        <a:effectStyle>
          <a:effectLst>
            <a:outerShdw blurRad="50800" dist="25400" dir="5400000" rotWithShape="0">
              <a:srgbClr val="000000">
                <a:alpha val="55000"/>
              </a:srgbClr>
            </a:outerShdw>
          </a:effectLst>
          <a:scene3d>
            <a:camera prst="orthographicFront">
              <a:rot lat="0" lon="0" rev="0"/>
            </a:camera>
            <a:lightRig rig="brightRoom" dir="tl">
              <a:rot lat="0" lon="0" rev="3600000"/>
            </a:lightRig>
          </a:scene3d>
          <a:sp3d contourW="31750" prstMaterial="flat">
            <a:bevelT w="127000" h="254000" prst="angle"/>
            <a:contourClr>
              <a:schemeClr val="phClr">
                <a:shade val="20000"/>
              </a:schemeClr>
            </a:contourClr>
          </a:sp3d>
        </a:effectStyle>
      </a:effectStyleLst>
      <a:bgFillStyleLst>
        <a:solidFill>
          <a:schemeClr val="phClr"/>
        </a:solidFill>
        <a:gradFill rotWithShape="1">
          <a:gsLst>
            <a:gs pos="20000">
              <a:schemeClr val="phClr">
                <a:tint val="80000"/>
                <a:lumMod val="100000"/>
              </a:schemeClr>
            </a:gs>
            <a:gs pos="100000">
              <a:schemeClr val="phClr">
                <a:tint val="100000"/>
                <a:lumMod val="80000"/>
              </a:schemeClr>
            </a:gs>
          </a:gsLst>
          <a:path path="circle">
            <a:fillToRect l="50000" t="20000" r="100000" b="100000"/>
          </a:path>
        </a:gradFill>
        <a:gradFill rotWithShape="1">
          <a:gsLst>
            <a:gs pos="0">
              <a:schemeClr val="phClr">
                <a:tint val="100000"/>
                <a:lumMod val="100000"/>
              </a:schemeClr>
            </a:gs>
            <a:gs pos="100000">
              <a:schemeClr val="phClr">
                <a:shade val="100000"/>
                <a:lumMod val="60000"/>
              </a:schemeClr>
            </a:gs>
          </a:gsLst>
          <a:path path="circle">
            <a:fillToRect l="50000" t="20000" r="100000" b="10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802</TotalTime>
  <Words>2015</Words>
  <Application>Microsoft Office PowerPoint</Application>
  <PresentationFormat>On-screen Show (4:3)</PresentationFormat>
  <Paragraphs>178</Paragraphs>
  <Slides>27</Slides>
  <Notes>3</Notes>
  <HiddenSlides>0</HiddenSlides>
  <MMClips>0</MMClip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Tradeshow</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Bhaskar Kaviraj</dc:creator>
  <cp:lastModifiedBy>Bhaskar Kaviraj</cp:lastModifiedBy>
  <cp:revision>21</cp:revision>
  <dcterms:created xsi:type="dcterms:W3CDTF">2018-01-11T04:46:50Z</dcterms:created>
  <dcterms:modified xsi:type="dcterms:W3CDTF">2019-01-02T05:54:43Z</dcterms:modified>
</cp:coreProperties>
</file>