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88" r:id="rId3"/>
    <p:sldId id="291" r:id="rId4"/>
    <p:sldId id="289" r:id="rId5"/>
    <p:sldId id="290" r:id="rId6"/>
    <p:sldId id="292" r:id="rId7"/>
    <p:sldId id="294" r:id="rId8"/>
    <p:sldId id="295" r:id="rId9"/>
    <p:sldId id="262" r:id="rId10"/>
    <p:sldId id="257" r:id="rId11"/>
    <p:sldId id="264" r:id="rId12"/>
    <p:sldId id="258" r:id="rId13"/>
    <p:sldId id="266" r:id="rId14"/>
    <p:sldId id="269" r:id="rId15"/>
    <p:sldId id="265" r:id="rId16"/>
    <p:sldId id="267" r:id="rId17"/>
    <p:sldId id="268" r:id="rId18"/>
    <p:sldId id="271" r:id="rId19"/>
    <p:sldId id="280" r:id="rId20"/>
    <p:sldId id="281" r:id="rId21"/>
    <p:sldId id="275" r:id="rId22"/>
    <p:sldId id="284" r:id="rId23"/>
    <p:sldId id="285" r:id="rId24"/>
    <p:sldId id="286" r:id="rId25"/>
    <p:sldId id="287" r:id="rId26"/>
    <p:sldId id="273" r:id="rId27"/>
    <p:sldId id="274" r:id="rId28"/>
    <p:sldId id="277" r:id="rId29"/>
    <p:sldId id="278" r:id="rId30"/>
    <p:sldId id="279" r:id="rId31"/>
    <p:sldId id="276" r:id="rId32"/>
    <p:sldId id="282" r:id="rId33"/>
    <p:sldId id="283" r:id="rId34"/>
    <p:sldId id="261" r:id="rId35"/>
    <p:sldId id="29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4" d="100"/>
          <a:sy n="54" d="100"/>
        </p:scale>
        <p:origin x="677" y="53"/>
      </p:cViewPr>
      <p:guideLst/>
    </p:cSldViewPr>
  </p:slideViewPr>
  <p:notesTextViewPr>
    <p:cViewPr>
      <p:scale>
        <a:sx n="1" d="1"/>
        <a:sy n="1" d="1"/>
      </p:scale>
      <p:origin x="0" y="0"/>
    </p:cViewPr>
  </p:notesTextViewPr>
  <p:sorterViewPr>
    <p:cViewPr>
      <p:scale>
        <a:sx n="100" d="100"/>
        <a:sy n="100" d="100"/>
      </p:scale>
      <p:origin x="0" y="-499"/>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28310D-6B2A-44CF-9FB5-C4FAFCCF317F}" type="datetimeFigureOut">
              <a:rPr lang="en-US" smtClean="0"/>
              <a:pPr/>
              <a:t>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40106767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28310D-6B2A-44CF-9FB5-C4FAFCCF317F}" type="datetimeFigureOut">
              <a:rPr lang="en-US" smtClean="0"/>
              <a:pPr/>
              <a:t>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315598960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28310D-6B2A-44CF-9FB5-C4FAFCCF317F}" type="datetimeFigureOut">
              <a:rPr lang="en-US" smtClean="0"/>
              <a:pPr/>
              <a:t>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21572558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28310D-6B2A-44CF-9FB5-C4FAFCCF317F}" type="datetimeFigureOut">
              <a:rPr lang="en-US" smtClean="0"/>
              <a:pPr/>
              <a:t>2/10/2020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57492001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028310D-6B2A-44CF-9FB5-C4FAFCCF317F}" type="datetimeFigureOut">
              <a:rPr lang="en-US" smtClean="0"/>
              <a:pPr/>
              <a:t>2/10/2020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32442069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28310D-6B2A-44CF-9FB5-C4FAFCCF317F}" type="datetimeFigureOut">
              <a:rPr lang="en-US" smtClean="0"/>
              <a:pPr/>
              <a:t>2/10/2020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414092078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28310D-6B2A-44CF-9FB5-C4FAFCCF317F}" type="datetimeFigureOut">
              <a:rPr lang="en-US" smtClean="0"/>
              <a:pPr/>
              <a:t>2/10/2020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325511404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28310D-6B2A-44CF-9FB5-C4FAFCCF317F}" type="datetimeFigureOut">
              <a:rPr lang="en-US" smtClean="0"/>
              <a:pPr/>
              <a:t>2/10/2020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423175074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28310D-6B2A-44CF-9FB5-C4FAFCCF317F}" type="datetimeFigureOut">
              <a:rPr lang="en-US" smtClean="0"/>
              <a:pPr/>
              <a:t>2/10/2020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22465797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28310D-6B2A-44CF-9FB5-C4FAFCCF317F}" type="datetimeFigureOut">
              <a:rPr lang="en-US" smtClean="0"/>
              <a:pPr/>
              <a:t>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184970220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28310D-6B2A-44CF-9FB5-C4FAFCCF317F}" type="datetimeFigureOut">
              <a:rPr lang="en-US" smtClean="0"/>
              <a:pPr/>
              <a:t>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E132D9-8D22-4DED-B9B3-3CDB006A56EE}" type="slidenum">
              <a:rPr lang="en-US" smtClean="0"/>
              <a:pPr/>
              <a:t>‹#›</a:t>
            </a:fld>
            <a:endParaRPr lang="en-US"/>
          </a:p>
        </p:txBody>
      </p:sp>
    </p:spTree>
    <p:extLst>
      <p:ext uri="{BB962C8B-B14F-4D97-AF65-F5344CB8AC3E}">
        <p14:creationId xmlns:p14="http://schemas.microsoft.com/office/powerpoint/2010/main" val="360442173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41148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endParaRPr lang="en-US"/>
          </a:p>
        </p:txBody>
      </p:sp>
      <p:sp>
        <p:nvSpPr>
          <p:cNvPr id="7" name="Rectangle 5"/>
          <p:cNvSpPr>
            <a:spLocks noGrp="1" noChangeArrowheads="1"/>
          </p:cNvSpPr>
          <p:nvPr>
            <p:ph type="ftr" sz="quarter" idx="11"/>
          </p:nvPr>
        </p:nvSpPr>
        <p:spPr>
          <a:ln/>
        </p:spPr>
        <p:txBody>
          <a:bodyPr/>
          <a:lstStyle>
            <a:lvl1pPr>
              <a:defRPr/>
            </a:lvl1pPr>
          </a:lstStyle>
          <a:p>
            <a:endParaRPr lang="en-US"/>
          </a:p>
        </p:txBody>
      </p:sp>
      <p:sp>
        <p:nvSpPr>
          <p:cNvPr id="8" name="Rectangle 6"/>
          <p:cNvSpPr>
            <a:spLocks noGrp="1" noChangeArrowheads="1"/>
          </p:cNvSpPr>
          <p:nvPr>
            <p:ph type="sldNum" sz="quarter" idx="12"/>
          </p:nvPr>
        </p:nvSpPr>
        <p:spPr>
          <a:ln/>
        </p:spPr>
        <p:txBody>
          <a:bodyPr/>
          <a:lstStyle>
            <a:lvl1pPr>
              <a:defRPr/>
            </a:lvl1pPr>
          </a:lstStyle>
          <a:p>
            <a:fld id="{12DA7306-B52F-4218-9714-1DE03B473144}" type="slidenum">
              <a:rPr lang="en-US"/>
              <a:pPr/>
              <a:t>‹#›</a:t>
            </a:fld>
            <a:endParaRPr lang="en-US"/>
          </a:p>
        </p:txBody>
      </p:sp>
    </p:spTree>
    <p:extLst>
      <p:ext uri="{BB962C8B-B14F-4D97-AF65-F5344CB8AC3E}">
        <p14:creationId xmlns:p14="http://schemas.microsoft.com/office/powerpoint/2010/main" val="163505795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36F93F63-1AD9-4727-BE9D-7BEACC8ECCDD}" type="slidenum">
              <a:rPr lang="en-US"/>
              <a:pPr/>
              <a:t>‹#›</a:t>
            </a:fld>
            <a:endParaRPr lang="en-US"/>
          </a:p>
        </p:txBody>
      </p:sp>
    </p:spTree>
    <p:extLst>
      <p:ext uri="{BB962C8B-B14F-4D97-AF65-F5344CB8AC3E}">
        <p14:creationId xmlns:p14="http://schemas.microsoft.com/office/powerpoint/2010/main" val="334862464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914400" y="1981200"/>
            <a:ext cx="10363200" cy="4114800"/>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CDC1AF7-9C0B-48BA-B089-4A756FD5936F}" type="slidenum">
              <a:rPr lang="en-US"/>
              <a:pPr/>
              <a:t>‹#›</a:t>
            </a:fld>
            <a:endParaRPr lang="en-US"/>
          </a:p>
        </p:txBody>
      </p:sp>
    </p:spTree>
    <p:extLst>
      <p:ext uri="{BB962C8B-B14F-4D97-AF65-F5344CB8AC3E}">
        <p14:creationId xmlns:p14="http://schemas.microsoft.com/office/powerpoint/2010/main" val="200359913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4EBDABA-74D9-465D-AB65-46436F8BB1B9}" type="slidenum">
              <a:rPr lang="en-US"/>
              <a:pPr/>
              <a:t>‹#›</a:t>
            </a:fld>
            <a:endParaRPr lang="en-US"/>
          </a:p>
        </p:txBody>
      </p:sp>
    </p:spTree>
    <p:extLst>
      <p:ext uri="{BB962C8B-B14F-4D97-AF65-F5344CB8AC3E}">
        <p14:creationId xmlns:p14="http://schemas.microsoft.com/office/powerpoint/2010/main" val="146929532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914400" y="4114800"/>
            <a:ext cx="508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endParaRPr lang="en-US"/>
          </a:p>
        </p:txBody>
      </p:sp>
      <p:sp>
        <p:nvSpPr>
          <p:cNvPr id="7" name="Rectangle 5"/>
          <p:cNvSpPr>
            <a:spLocks noGrp="1" noChangeArrowheads="1"/>
          </p:cNvSpPr>
          <p:nvPr>
            <p:ph type="ftr" sz="quarter" idx="11"/>
          </p:nvPr>
        </p:nvSpPr>
        <p:spPr>
          <a:ln/>
        </p:spPr>
        <p:txBody>
          <a:bodyPr/>
          <a:lstStyle>
            <a:lvl1pPr>
              <a:defRPr/>
            </a:lvl1pPr>
          </a:lstStyle>
          <a:p>
            <a:endParaRPr lang="en-US"/>
          </a:p>
        </p:txBody>
      </p:sp>
      <p:sp>
        <p:nvSpPr>
          <p:cNvPr id="8" name="Rectangle 6"/>
          <p:cNvSpPr>
            <a:spLocks noGrp="1" noChangeArrowheads="1"/>
          </p:cNvSpPr>
          <p:nvPr>
            <p:ph type="sldNum" sz="quarter" idx="12"/>
          </p:nvPr>
        </p:nvSpPr>
        <p:spPr>
          <a:ln/>
        </p:spPr>
        <p:txBody>
          <a:bodyPr/>
          <a:lstStyle>
            <a:lvl1pPr>
              <a:defRPr/>
            </a:lvl1pPr>
          </a:lstStyle>
          <a:p>
            <a:fld id="{A944CD09-24BA-4186-BFEC-8DBF0DB2EDB4}" type="slidenum">
              <a:rPr lang="en-US"/>
              <a:pPr/>
              <a:t>‹#›</a:t>
            </a:fld>
            <a:endParaRPr lang="en-US"/>
          </a:p>
        </p:txBody>
      </p:sp>
    </p:spTree>
    <p:extLst>
      <p:ext uri="{BB962C8B-B14F-4D97-AF65-F5344CB8AC3E}">
        <p14:creationId xmlns:p14="http://schemas.microsoft.com/office/powerpoint/2010/main" val="329981180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914400" y="1981200"/>
            <a:ext cx="10363200" cy="4114800"/>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DFB4B134-A4D3-45A4-8F44-E8D52C9A5460}" type="slidenum">
              <a:rPr lang="en-US"/>
              <a:pPr/>
              <a:t>‹#›</a:t>
            </a:fld>
            <a:endParaRPr lang="en-US"/>
          </a:p>
        </p:txBody>
      </p:sp>
    </p:spTree>
    <p:extLst>
      <p:ext uri="{BB962C8B-B14F-4D97-AF65-F5344CB8AC3E}">
        <p14:creationId xmlns:p14="http://schemas.microsoft.com/office/powerpoint/2010/main" val="425017411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28310D-6B2A-44CF-9FB5-C4FAFCCF317F}" type="datetimeFigureOut">
              <a:rPr lang="en-US" smtClean="0"/>
              <a:pPr/>
              <a:t>2/10/2020</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E132D9-8D22-4DED-B9B3-3CDB006A56EE}" type="slidenum">
              <a:rPr lang="en-US" smtClean="0"/>
              <a:pPr/>
              <a:t>‹#›</a:t>
            </a:fld>
            <a:endParaRPr lang="en-US"/>
          </a:p>
        </p:txBody>
      </p:sp>
    </p:spTree>
    <p:extLst>
      <p:ext uri="{BB962C8B-B14F-4D97-AF65-F5344CB8AC3E}">
        <p14:creationId xmlns:p14="http://schemas.microsoft.com/office/powerpoint/2010/main" val="24292469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file:///C:\Users\g.jaishankar\Desktop\CHINA%20LECTURES\Yue_Yue_Accident.ogv"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en.wikipedia.org/wiki/Roman_Catholic_Church" TargetMode="External"/><Relationship Id="rId3" Type="http://schemas.openxmlformats.org/officeDocument/2006/relationships/hyperlink" Target="https://en.wikipedia.org/wiki/Taoism" TargetMode="External"/><Relationship Id="rId7" Type="http://schemas.openxmlformats.org/officeDocument/2006/relationships/hyperlink" Target="https://en.wikipedia.org/wiki/Chinese_Patriotic_Catholic_Association" TargetMode="External"/><Relationship Id="rId2" Type="http://schemas.openxmlformats.org/officeDocument/2006/relationships/hyperlink" Target="https://en.wikipedia.org/wiki/Buddhism" TargetMode="External"/><Relationship Id="rId1" Type="http://schemas.openxmlformats.org/officeDocument/2006/relationships/slideLayout" Target="../slideLayouts/slideLayout2.xml"/><Relationship Id="rId6" Type="http://schemas.openxmlformats.org/officeDocument/2006/relationships/hyperlink" Target="https://en.wikipedia.org/wiki/Islam" TargetMode="External"/><Relationship Id="rId5" Type="http://schemas.openxmlformats.org/officeDocument/2006/relationships/hyperlink" Target="https://en.wikipedia.org/wiki/Protestantism" TargetMode="External"/><Relationship Id="rId4" Type="http://schemas.openxmlformats.org/officeDocument/2006/relationships/hyperlink" Target="https://en.wikipedia.org/wiki/Catholicis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rtlCol="0">
            <a:normAutofit/>
          </a:bodyPr>
          <a:lstStyle/>
          <a:p>
            <a:pPr>
              <a:defRPr/>
            </a:pPr>
            <a:endParaRPr lang="zh-CN" altLang="en-US" i="1" dirty="0"/>
          </a:p>
        </p:txBody>
      </p:sp>
      <p:sp>
        <p:nvSpPr>
          <p:cNvPr id="4" name="Bevel 3"/>
          <p:cNvSpPr/>
          <p:nvPr/>
        </p:nvSpPr>
        <p:spPr>
          <a:xfrm>
            <a:off x="1524000" y="2133576"/>
            <a:ext cx="9144000" cy="3429024"/>
          </a:xfrm>
          <a:prstGeom prst="bevel">
            <a:avLst>
              <a:gd name="adj" fmla="val 1000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u="sng" dirty="0">
                <a:solidFill>
                  <a:prstClr val="white"/>
                </a:solidFill>
                <a:latin typeface="Tahoma" pitchFamily="34" charset="0"/>
                <a:ea typeface="宋体" panose="02010600030101010101" pitchFamily="2" charset="-122"/>
                <a:cs typeface="Tahoma" pitchFamily="34" charset="0"/>
              </a:rPr>
              <a:t>SOCIAL </a:t>
            </a:r>
            <a:r>
              <a:rPr lang="en-US" altLang="zh-CN" sz="3600" b="1" u="sng" dirty="0" smtClean="0">
                <a:solidFill>
                  <a:prstClr val="white"/>
                </a:solidFill>
                <a:latin typeface="Tahoma" pitchFamily="34" charset="0"/>
                <a:ea typeface="宋体" panose="02010600030101010101" pitchFamily="2" charset="-122"/>
                <a:cs typeface="Tahoma" pitchFamily="34" charset="0"/>
              </a:rPr>
              <a:t>ISSUES</a:t>
            </a:r>
            <a:endParaRPr lang="en-US" sz="2800" dirty="0">
              <a:solidFill>
                <a:prstClr val="white"/>
              </a:solidFill>
              <a:latin typeface="Tahoma" pitchFamily="34" charset="0"/>
              <a:cs typeface="Tahoma" pitchFamily="34" charset="0"/>
            </a:endParaRPr>
          </a:p>
        </p:txBody>
      </p:sp>
    </p:spTree>
    <p:extLst>
      <p:ext uri="{BB962C8B-B14F-4D97-AF65-F5344CB8AC3E}">
        <p14:creationId xmlns:p14="http://schemas.microsoft.com/office/powerpoint/2010/main" val="2153125459"/>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IN" b="1" u="sng" dirty="0" smtClean="0"/>
              <a:t>HU KOU</a:t>
            </a:r>
            <a:endParaRPr lang="en-IN" b="1" u="sng" dirty="0"/>
          </a:p>
        </p:txBody>
      </p:sp>
      <p:sp>
        <p:nvSpPr>
          <p:cNvPr id="3" name="Content Placeholder 2"/>
          <p:cNvSpPr>
            <a:spLocks noGrp="1"/>
          </p:cNvSpPr>
          <p:nvPr>
            <p:ph idx="1"/>
          </p:nvPr>
        </p:nvSpPr>
        <p:spPr>
          <a:xfrm>
            <a:off x="609600" y="1600201"/>
            <a:ext cx="10972800" cy="4525963"/>
          </a:xfrm>
        </p:spPr>
        <p:txBody>
          <a:bodyPr>
            <a:normAutofit fontScale="92500" lnSpcReduction="10000"/>
          </a:bodyPr>
          <a:lstStyle/>
          <a:p>
            <a:r>
              <a:rPr lang="en-IN" dirty="0" smtClean="0"/>
              <a:t>HOUSEHOLD REGISTRATION SYSTEM.</a:t>
            </a:r>
          </a:p>
          <a:p>
            <a:r>
              <a:rPr lang="en-IN" dirty="0" smtClean="0"/>
              <a:t>INTERNAL PASSPORT. </a:t>
            </a:r>
          </a:p>
          <a:p>
            <a:r>
              <a:rPr lang="en-IN" dirty="0" smtClean="0"/>
              <a:t>CANNOT MOVE TO HIGHER RANKED AREAS</a:t>
            </a:r>
            <a:endParaRPr lang="en-IN" dirty="0"/>
          </a:p>
          <a:p>
            <a:endParaRPr lang="en-IN" dirty="0" smtClean="0"/>
          </a:p>
          <a:p>
            <a:endParaRPr lang="en-IN" dirty="0"/>
          </a:p>
          <a:p>
            <a:endParaRPr lang="en-IN" dirty="0" smtClean="0"/>
          </a:p>
          <a:p>
            <a:r>
              <a:rPr lang="en-IN" dirty="0" smtClean="0"/>
              <a:t>REASON FOR INTRODUCTION.. (1958) REGULATION OF POPULATION DISTRIBUTION AND URBAN –RURAL MOVEMENT.</a:t>
            </a:r>
          </a:p>
          <a:p>
            <a:r>
              <a:rPr lang="en-IN" dirty="0" smtClean="0"/>
              <a:t>TOOL FOR SOCIAL CONTROL.</a:t>
            </a:r>
          </a:p>
        </p:txBody>
      </p:sp>
      <p:pic>
        <p:nvPicPr>
          <p:cNvPr id="1026" name="Picture 2" descr="Image result for hukou system explain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1025" y="668337"/>
            <a:ext cx="3641725" cy="364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0332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28650" y="1514475"/>
            <a:ext cx="10953750" cy="4611689"/>
          </a:xfrm>
        </p:spPr>
        <p:txBody>
          <a:bodyPr/>
          <a:lstStyle/>
          <a:p>
            <a:r>
              <a:rPr lang="en-IN" dirty="0"/>
              <a:t>ILLEGAL MIGRANT.</a:t>
            </a:r>
          </a:p>
          <a:p>
            <a:r>
              <a:rPr lang="en-IN" dirty="0"/>
              <a:t>APARTHEID OR CASTE SYSTEM BY ANOTHER NAME.</a:t>
            </a:r>
          </a:p>
          <a:p>
            <a:r>
              <a:rPr lang="en-IN" dirty="0"/>
              <a:t>STATUS OF </a:t>
            </a:r>
            <a:r>
              <a:rPr lang="en-IN" i="1" dirty="0"/>
              <a:t>NONG MIN. </a:t>
            </a:r>
            <a:r>
              <a:rPr lang="en-IN" dirty="0"/>
              <a:t>GREAT LEAP FORWARD DISASTER.</a:t>
            </a:r>
          </a:p>
        </p:txBody>
      </p:sp>
    </p:spTree>
    <p:extLst>
      <p:ext uri="{BB962C8B-B14F-4D97-AF65-F5344CB8AC3E}">
        <p14:creationId xmlns:p14="http://schemas.microsoft.com/office/powerpoint/2010/main" val="20992724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11250"/>
          </a:xfrm>
        </p:spPr>
        <p:txBody>
          <a:bodyPr/>
          <a:lstStyle/>
          <a:p>
            <a:r>
              <a:rPr lang="en-IN" b="1" u="sng" dirty="0" smtClean="0"/>
              <a:t>QU DAGONG</a:t>
            </a:r>
            <a:endParaRPr lang="en-IN" b="1" u="sng" dirty="0"/>
          </a:p>
        </p:txBody>
      </p:sp>
      <p:sp>
        <p:nvSpPr>
          <p:cNvPr id="3" name="Content Placeholder 2"/>
          <p:cNvSpPr>
            <a:spLocks noGrp="1"/>
          </p:cNvSpPr>
          <p:nvPr>
            <p:ph idx="1"/>
          </p:nvPr>
        </p:nvSpPr>
        <p:spPr>
          <a:xfrm>
            <a:off x="628650" y="1657350"/>
            <a:ext cx="10953750" cy="4468814"/>
          </a:xfrm>
        </p:spPr>
        <p:txBody>
          <a:bodyPr/>
          <a:lstStyle/>
          <a:p>
            <a:r>
              <a:rPr lang="en-IN" dirty="0" smtClean="0"/>
              <a:t>RURAL – URBAN DIVIDE.</a:t>
            </a:r>
          </a:p>
          <a:p>
            <a:r>
              <a:rPr lang="en-IN" dirty="0" smtClean="0"/>
              <a:t>400 MILLION.</a:t>
            </a:r>
          </a:p>
          <a:p>
            <a:r>
              <a:rPr lang="en-IN" dirty="0" smtClean="0"/>
              <a:t>BREAKDOWN OF SOCIAL VALUES. </a:t>
            </a:r>
          </a:p>
          <a:p>
            <a:r>
              <a:rPr lang="en-IN" i="1" dirty="0" smtClean="0"/>
              <a:t>FACTORY GIRLS </a:t>
            </a:r>
            <a:r>
              <a:rPr lang="en-IN" dirty="0" smtClean="0"/>
              <a:t>BY LESLIE CHANG.</a:t>
            </a:r>
          </a:p>
          <a:p>
            <a:endParaRPr lang="en-IN" dirty="0" smtClean="0"/>
          </a:p>
          <a:p>
            <a:endParaRPr lang="en-IN" dirty="0"/>
          </a:p>
        </p:txBody>
      </p:sp>
      <p:sp>
        <p:nvSpPr>
          <p:cNvPr id="4" name="Action Button: Forward or Next 3">
            <a:hlinkClick r:id="rId2" action="ppaction://hlinkfile" highlightClick="1"/>
          </p:cNvPr>
          <p:cNvSpPr/>
          <p:nvPr/>
        </p:nvSpPr>
        <p:spPr>
          <a:xfrm>
            <a:off x="7291960" y="2812768"/>
            <a:ext cx="356616" cy="457200"/>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Tree>
    <p:extLst>
      <p:ext uri="{BB962C8B-B14F-4D97-AF65-F5344CB8AC3E}">
        <p14:creationId xmlns:p14="http://schemas.microsoft.com/office/powerpoint/2010/main" val="31417618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25537"/>
          </a:xfrm>
        </p:spPr>
        <p:txBody>
          <a:bodyPr/>
          <a:lstStyle/>
          <a:p>
            <a:r>
              <a:rPr lang="en-IN" b="1" u="sng" dirty="0" smtClean="0"/>
              <a:t>GAO KAO</a:t>
            </a:r>
            <a:r>
              <a:rPr lang="en-US" altLang="ja-JP" dirty="0"/>
              <a:t>(</a:t>
            </a:r>
            <a:r>
              <a:rPr lang="ja-JP" altLang="en-US" dirty="0"/>
              <a:t>高</a:t>
            </a:r>
            <a:r>
              <a:rPr lang="ja-JP" altLang="en-US" dirty="0" smtClean="0"/>
              <a:t>考</a:t>
            </a:r>
            <a:r>
              <a:rPr lang="en-IN" altLang="ja-JP" dirty="0" smtClean="0"/>
              <a:t>)</a:t>
            </a:r>
            <a:endParaRPr lang="en-IN" b="1" u="sng" dirty="0"/>
          </a:p>
        </p:txBody>
      </p:sp>
      <p:sp>
        <p:nvSpPr>
          <p:cNvPr id="3" name="Content Placeholder 2"/>
          <p:cNvSpPr>
            <a:spLocks noGrp="1"/>
          </p:cNvSpPr>
          <p:nvPr>
            <p:ph idx="1"/>
          </p:nvPr>
        </p:nvSpPr>
        <p:spPr/>
        <p:txBody>
          <a:bodyPr>
            <a:normAutofit fontScale="92500" lnSpcReduction="10000"/>
          </a:bodyPr>
          <a:lstStyle/>
          <a:p>
            <a:r>
              <a:rPr lang="en-IN" dirty="0" smtClean="0"/>
              <a:t>NATION WIDE COLLEGE ENTRANCE EXAM.</a:t>
            </a:r>
          </a:p>
          <a:p>
            <a:r>
              <a:rPr lang="en-IN" dirty="0" smtClean="0"/>
              <a:t>10 MILLION CANDIDATES. 7-8 JUNE EVERY YEAR.</a:t>
            </a:r>
          </a:p>
          <a:p>
            <a:r>
              <a:rPr lang="en-IN" dirty="0" smtClean="0"/>
              <a:t>LAST YEAR OF SENIOR HIGH SCHOOL. NO AGE RESTRICTION.</a:t>
            </a:r>
          </a:p>
          <a:p>
            <a:r>
              <a:rPr lang="en-IN" dirty="0" smtClean="0"/>
              <a:t>9 HOURS OF EXAMS. CHINESE AND MATHS COMMON.</a:t>
            </a:r>
          </a:p>
          <a:p>
            <a:r>
              <a:rPr lang="en-IN" dirty="0" smtClean="0"/>
              <a:t>ONE FOREIGN LANGUAGE (ENGLISH).</a:t>
            </a:r>
          </a:p>
          <a:p>
            <a:r>
              <a:rPr lang="en-IN" dirty="0" smtClean="0"/>
              <a:t>SOCIAL SCIENCES STREAM(HISTORY POLITICAL SCIENCE AND GEOGRAPHY)</a:t>
            </a:r>
          </a:p>
          <a:p>
            <a:r>
              <a:rPr lang="en-IN" dirty="0" smtClean="0"/>
              <a:t>OR NATURAL SCIENCES STREAM (PHYSICS, CHEMISTRY, BIOLOGY).. 90-95%.</a:t>
            </a:r>
          </a:p>
          <a:p>
            <a:endParaRPr lang="en-IN" dirty="0" smtClean="0"/>
          </a:p>
          <a:p>
            <a:endParaRPr lang="en-IN" dirty="0"/>
          </a:p>
        </p:txBody>
      </p:sp>
    </p:spTree>
    <p:extLst>
      <p:ext uri="{BB962C8B-B14F-4D97-AF65-F5344CB8AC3E}">
        <p14:creationId xmlns:p14="http://schemas.microsoft.com/office/powerpoint/2010/main" val="2427709423"/>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3" name="Content Placeholder 2"/>
          <p:cNvSpPr>
            <a:spLocks noGrp="1"/>
          </p:cNvSpPr>
          <p:nvPr>
            <p:ph idx="1"/>
          </p:nvPr>
        </p:nvSpPr>
        <p:spPr>
          <a:xfrm>
            <a:off x="609600" y="228601"/>
            <a:ext cx="10972800" cy="4525963"/>
          </a:xfrm>
        </p:spPr>
        <p:txBody>
          <a:bodyPr/>
          <a:lstStyle/>
          <a:p>
            <a:r>
              <a:rPr lang="en-IN" dirty="0" smtClean="0"/>
              <a:t>FLAWS? HOME WORK.</a:t>
            </a:r>
          </a:p>
          <a:p>
            <a:r>
              <a:rPr lang="en-IN" dirty="0" smtClean="0"/>
              <a:t>TERRIBLE COACHING CENTRES.(STUDY CITIES)</a:t>
            </a:r>
          </a:p>
          <a:p>
            <a:endParaRPr lang="en-IN" dirty="0" smtClean="0"/>
          </a:p>
          <a:p>
            <a:endParaRPr lang="en-IN" dirty="0" smtClean="0"/>
          </a:p>
          <a:p>
            <a:endParaRPr lang="en-IN" dirty="0" smtClean="0"/>
          </a:p>
          <a:p>
            <a:endParaRPr lang="en-IN" dirty="0"/>
          </a:p>
        </p:txBody>
      </p:sp>
      <p:pic>
        <p:nvPicPr>
          <p:cNvPr id="3074" name="Picture 2" descr="https://static01.nyt.com/images/2015/01/04/magazine/04cram_ss-slide-C1K1/04cram_ss-slide-C1K1-superJumbo.jpg?quality=75&amp;auto=webp&amp;disable=upscal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1480" y="1924766"/>
            <a:ext cx="6749039" cy="4498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875789"/>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609600" y="14281"/>
            <a:ext cx="10972800" cy="4525963"/>
          </a:xfrm>
        </p:spPr>
        <p:txBody>
          <a:bodyPr>
            <a:normAutofit/>
          </a:bodyPr>
          <a:lstStyle/>
          <a:p>
            <a:r>
              <a:rPr lang="en-IN" sz="2800" dirty="0"/>
              <a:t>FIXED ADMISSION QUOTAS FOR EACH PROVINCE/ MUNICIPALITY. UNEQUAL.</a:t>
            </a:r>
          </a:p>
          <a:p>
            <a:r>
              <a:rPr lang="en-IN" sz="2800" dirty="0"/>
              <a:t>ACCENTUATED IN ADMISSIONS TO PROJECT 985 AND PROJECT 211 UNIVERSITIES.</a:t>
            </a:r>
          </a:p>
        </p:txBody>
      </p:sp>
      <p:pic>
        <p:nvPicPr>
          <p:cNvPr id="4" name="Picture 2" descr="% of gao kao students from selected provinces enrolling in Project 985 universities, 20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0425" y="1417638"/>
            <a:ext cx="6257924" cy="6465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086056"/>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IN" b="1" u="sng" dirty="0" smtClean="0"/>
              <a:t>PLANNED BIRTH POLICY</a:t>
            </a:r>
            <a:endParaRPr lang="en-IN" b="1" u="sng" dirty="0"/>
          </a:p>
        </p:txBody>
      </p:sp>
      <p:sp>
        <p:nvSpPr>
          <p:cNvPr id="3" name="Content Placeholder 2"/>
          <p:cNvSpPr>
            <a:spLocks noGrp="1"/>
          </p:cNvSpPr>
          <p:nvPr>
            <p:ph idx="1"/>
          </p:nvPr>
        </p:nvSpPr>
        <p:spPr/>
        <p:txBody>
          <a:bodyPr/>
          <a:lstStyle/>
          <a:p>
            <a:r>
              <a:rPr lang="en-IN" dirty="0" smtClean="0"/>
              <a:t>HOW DOES IT WORK. (USED TO).</a:t>
            </a:r>
          </a:p>
          <a:p>
            <a:r>
              <a:rPr lang="en-IN" dirty="0" smtClean="0"/>
              <a:t>AGING CHINA.</a:t>
            </a:r>
            <a:endParaRPr lang="en-IN" dirty="0"/>
          </a:p>
        </p:txBody>
      </p:sp>
    </p:spTree>
    <p:extLst>
      <p:ext uri="{BB962C8B-B14F-4D97-AF65-F5344CB8AC3E}">
        <p14:creationId xmlns:p14="http://schemas.microsoft.com/office/powerpoint/2010/main" val="2836791649"/>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p:cNvPicPr>
          <p:nvPr/>
        </p:nvPicPr>
        <p:blipFill>
          <a:blip r:embed="rId2" cstate="print"/>
          <a:srcRect t="6390" r="-294"/>
          <a:stretch>
            <a:fillRect/>
          </a:stretch>
        </p:blipFill>
        <p:spPr bwMode="auto">
          <a:xfrm>
            <a:off x="2209800" y="1143000"/>
            <a:ext cx="8077200" cy="5638800"/>
          </a:xfrm>
          <a:prstGeom prst="rect">
            <a:avLst/>
          </a:prstGeom>
          <a:noFill/>
          <a:ln w="9525">
            <a:noFill/>
            <a:miter lim="800000"/>
            <a:headEnd/>
            <a:tailEnd/>
          </a:ln>
          <a:effectLst>
            <a:outerShdw dist="139700" dir="2700000" algn="tl" rotWithShape="0">
              <a:srgbClr val="333333">
                <a:alpha val="64999"/>
              </a:srgbClr>
            </a:outerShdw>
          </a:effectLst>
        </p:spPr>
      </p:pic>
      <p:sp>
        <p:nvSpPr>
          <p:cNvPr id="26630" name="Title 5"/>
          <p:cNvSpPr>
            <a:spLocks noGrp="1"/>
          </p:cNvSpPr>
          <p:nvPr>
            <p:ph type="title" idx="4294967295"/>
          </p:nvPr>
        </p:nvSpPr>
        <p:spPr>
          <a:xfrm>
            <a:off x="0" y="0"/>
            <a:ext cx="9144000" cy="1219200"/>
          </a:xfrm>
          <a:solidFill>
            <a:schemeClr val="tx2"/>
          </a:solidFill>
        </p:spPr>
        <p:txBody>
          <a:bodyPr>
            <a:noAutofit/>
          </a:bodyPr>
          <a:lstStyle/>
          <a:p>
            <a:pPr eaLnBrk="1" hangingPunct="1"/>
            <a:r>
              <a:rPr lang="en-US" sz="2800" b="1" u="sng" dirty="0">
                <a:solidFill>
                  <a:schemeClr val="bg1"/>
                </a:solidFill>
                <a:effectLst>
                  <a:outerShdw blurRad="38100" dist="38100" dir="2700000" algn="tl">
                    <a:srgbClr val="C0C0C0"/>
                  </a:outerShdw>
                </a:effectLst>
              </a:rPr>
              <a:t>CHINA VS INDIA: AGE &amp; POPULATION STRUCTURE 2000-35</a:t>
            </a:r>
          </a:p>
        </p:txBody>
      </p:sp>
    </p:spTree>
    <p:extLst>
      <p:ext uri="{BB962C8B-B14F-4D97-AF65-F5344CB8AC3E}">
        <p14:creationId xmlns:p14="http://schemas.microsoft.com/office/powerpoint/2010/main" val="1713257632"/>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title"/>
          </p:nvPr>
        </p:nvSpPr>
        <p:spPr>
          <a:noFill/>
          <a:ln/>
        </p:spPr>
        <p:txBody>
          <a:bodyPr/>
          <a:lstStyle/>
          <a:p>
            <a:r>
              <a:rPr lang="en-US" sz="4000" b="1" u="sng" dirty="0"/>
              <a:t>ETHNIC </a:t>
            </a:r>
            <a:r>
              <a:rPr lang="en-US" sz="4000" b="1" u="sng" dirty="0" smtClean="0"/>
              <a:t>ISSUES</a:t>
            </a:r>
            <a:endParaRPr lang="en-US" sz="4000" b="1" u="sng" dirty="0"/>
          </a:p>
        </p:txBody>
      </p:sp>
      <p:sp>
        <p:nvSpPr>
          <p:cNvPr id="2" name="Content Placeholder 1"/>
          <p:cNvSpPr>
            <a:spLocks noGrp="1"/>
          </p:cNvSpPr>
          <p:nvPr>
            <p:ph idx="1"/>
          </p:nvPr>
        </p:nvSpPr>
        <p:spPr>
          <a:xfrm>
            <a:off x="609600" y="1600201"/>
            <a:ext cx="10972800" cy="4525963"/>
          </a:xfrm>
        </p:spPr>
        <p:txBody>
          <a:bodyPr/>
          <a:lstStyle/>
          <a:p>
            <a:pPr>
              <a:buFontTx/>
              <a:buChar char="•"/>
            </a:pPr>
            <a:r>
              <a:rPr lang="en-US" b="1" dirty="0">
                <a:solidFill>
                  <a:prstClr val="black"/>
                </a:solidFill>
              </a:rPr>
              <a:t>Multi-ethnic country. </a:t>
            </a:r>
          </a:p>
          <a:p>
            <a:pPr>
              <a:buFontTx/>
              <a:buChar char="•"/>
            </a:pPr>
            <a:r>
              <a:rPr lang="en-US" b="1" dirty="0">
                <a:solidFill>
                  <a:prstClr val="black"/>
                </a:solidFill>
              </a:rPr>
              <a:t> Currently  56 ethnic </a:t>
            </a:r>
            <a:r>
              <a:rPr lang="en-US" b="1" dirty="0" err="1">
                <a:solidFill>
                  <a:prstClr val="black"/>
                </a:solidFill>
              </a:rPr>
              <a:t>gps</a:t>
            </a:r>
            <a:endParaRPr lang="en-US" b="1" dirty="0">
              <a:solidFill>
                <a:prstClr val="black"/>
              </a:solidFill>
            </a:endParaRPr>
          </a:p>
          <a:p>
            <a:pPr>
              <a:buFontTx/>
              <a:buChar char="•"/>
            </a:pPr>
            <a:r>
              <a:rPr lang="en-US" b="1" dirty="0">
                <a:solidFill>
                  <a:prstClr val="black"/>
                </a:solidFill>
              </a:rPr>
              <a:t> 91.6% are Hans, </a:t>
            </a:r>
            <a:r>
              <a:rPr lang="en-US" b="1" dirty="0" err="1">
                <a:solidFill>
                  <a:prstClr val="black"/>
                </a:solidFill>
              </a:rPr>
              <a:t>conc</a:t>
            </a:r>
            <a:r>
              <a:rPr lang="en-US" b="1" dirty="0">
                <a:solidFill>
                  <a:prstClr val="black"/>
                </a:solidFill>
              </a:rPr>
              <a:t> in the river valleys and Northern plains</a:t>
            </a:r>
          </a:p>
          <a:p>
            <a:pPr>
              <a:buFontTx/>
              <a:buChar char="•"/>
            </a:pPr>
            <a:r>
              <a:rPr lang="en-US" b="1" dirty="0">
                <a:solidFill>
                  <a:prstClr val="black"/>
                </a:solidFill>
              </a:rPr>
              <a:t> 55 x different ethnicities comprise  </a:t>
            </a:r>
            <a:r>
              <a:rPr lang="en-US" b="1" dirty="0" err="1">
                <a:solidFill>
                  <a:prstClr val="black"/>
                </a:solidFill>
              </a:rPr>
              <a:t>bal</a:t>
            </a:r>
            <a:r>
              <a:rPr lang="en-US" b="1" dirty="0">
                <a:solidFill>
                  <a:prstClr val="black"/>
                </a:solidFill>
              </a:rPr>
              <a:t> 8.4%</a:t>
            </a:r>
          </a:p>
          <a:p>
            <a:pPr lvl="1">
              <a:buFont typeface="Wingdings" pitchFamily="2" charset="2"/>
              <a:buChar char="Ø"/>
            </a:pPr>
            <a:r>
              <a:rPr lang="en-US" sz="3200" b="1" dirty="0">
                <a:solidFill>
                  <a:prstClr val="black"/>
                </a:solidFill>
              </a:rPr>
              <a:t> 18  </a:t>
            </a:r>
            <a:r>
              <a:rPr lang="en-US" sz="3200" b="1" dirty="0" err="1">
                <a:solidFill>
                  <a:prstClr val="black"/>
                </a:solidFill>
              </a:rPr>
              <a:t>gps</a:t>
            </a:r>
            <a:r>
              <a:rPr lang="en-US" sz="3200" b="1" dirty="0">
                <a:solidFill>
                  <a:prstClr val="black"/>
                </a:solidFill>
              </a:rPr>
              <a:t> have populations over one million</a:t>
            </a:r>
          </a:p>
          <a:p>
            <a:pPr lvl="1">
              <a:buFont typeface="Wingdings" pitchFamily="2" charset="2"/>
              <a:buChar char="Ø"/>
            </a:pPr>
            <a:r>
              <a:rPr lang="en-US" sz="3200" b="1" dirty="0">
                <a:solidFill>
                  <a:prstClr val="black"/>
                </a:solidFill>
              </a:rPr>
              <a:t> 17  </a:t>
            </a:r>
            <a:r>
              <a:rPr lang="en-US" sz="3200" b="1" dirty="0" err="1">
                <a:solidFill>
                  <a:prstClr val="black"/>
                </a:solidFill>
              </a:rPr>
              <a:t>gps</a:t>
            </a:r>
            <a:r>
              <a:rPr lang="en-US" sz="3200" b="1" dirty="0">
                <a:solidFill>
                  <a:prstClr val="black"/>
                </a:solidFill>
              </a:rPr>
              <a:t> number between one lakh and a million</a:t>
            </a:r>
          </a:p>
          <a:p>
            <a:pPr lvl="1">
              <a:buFont typeface="Wingdings" pitchFamily="2" charset="2"/>
              <a:buChar char="Ø"/>
            </a:pPr>
            <a:r>
              <a:rPr lang="en-US" sz="3200" b="1" dirty="0">
                <a:solidFill>
                  <a:prstClr val="black"/>
                </a:solidFill>
              </a:rPr>
              <a:t> 20  </a:t>
            </a:r>
            <a:r>
              <a:rPr lang="en-US" sz="3200" b="1" dirty="0" err="1">
                <a:solidFill>
                  <a:prstClr val="black"/>
                </a:solidFill>
              </a:rPr>
              <a:t>gps</a:t>
            </a:r>
            <a:r>
              <a:rPr lang="en-US" sz="3200" b="1" dirty="0">
                <a:solidFill>
                  <a:prstClr val="black"/>
                </a:solidFill>
              </a:rPr>
              <a:t> are less than one lakh in </a:t>
            </a:r>
            <a:r>
              <a:rPr lang="en-US" sz="3200" b="1" dirty="0" err="1">
                <a:solidFill>
                  <a:prstClr val="black"/>
                </a:solidFill>
              </a:rPr>
              <a:t>str</a:t>
            </a:r>
            <a:endParaRPr lang="en-US" sz="3200" b="1" dirty="0">
              <a:solidFill>
                <a:prstClr val="black"/>
              </a:solidFill>
            </a:endParaRPr>
          </a:p>
          <a:p>
            <a:endParaRPr lang="en-IN" dirty="0"/>
          </a:p>
        </p:txBody>
      </p:sp>
    </p:spTree>
    <p:extLst>
      <p:ext uri="{BB962C8B-B14F-4D97-AF65-F5344CB8AC3E}">
        <p14:creationId xmlns:p14="http://schemas.microsoft.com/office/powerpoint/2010/main" val="20496743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IN" b="1" u="sng" dirty="0" smtClean="0"/>
              <a:t>TREATMENT OF MINORITIES IN CHINA</a:t>
            </a:r>
            <a:endParaRPr lang="en-IN" b="1" u="sng" dirty="0"/>
          </a:p>
        </p:txBody>
      </p:sp>
      <p:sp>
        <p:nvSpPr>
          <p:cNvPr id="3" name="Content Placeholder 2"/>
          <p:cNvSpPr>
            <a:spLocks noGrp="1"/>
          </p:cNvSpPr>
          <p:nvPr>
            <p:ph idx="1"/>
          </p:nvPr>
        </p:nvSpPr>
        <p:spPr>
          <a:xfrm>
            <a:off x="600075" y="1500189"/>
            <a:ext cx="10982325" cy="4625976"/>
          </a:xfrm>
        </p:spPr>
        <p:txBody>
          <a:bodyPr/>
          <a:lstStyle/>
          <a:p>
            <a:r>
              <a:rPr lang="en-IN" dirty="0" smtClean="0"/>
              <a:t>Most are in Yunnan, some in Guangxi </a:t>
            </a:r>
            <a:r>
              <a:rPr lang="en-IN" dirty="0" err="1" smtClean="0"/>
              <a:t>Chuan</a:t>
            </a:r>
            <a:r>
              <a:rPr lang="en-IN" dirty="0" smtClean="0"/>
              <a:t>.</a:t>
            </a:r>
          </a:p>
          <a:p>
            <a:r>
              <a:rPr lang="en-IN" dirty="0" err="1" smtClean="0"/>
              <a:t>Colorful</a:t>
            </a:r>
            <a:r>
              <a:rPr lang="en-IN" dirty="0" smtClean="0"/>
              <a:t> creatures of no consequence, always singing and dancing.</a:t>
            </a:r>
          </a:p>
          <a:p>
            <a:r>
              <a:rPr lang="en-IN" dirty="0" smtClean="0"/>
              <a:t>Exotic restaurants.</a:t>
            </a:r>
          </a:p>
          <a:p>
            <a:r>
              <a:rPr lang="en-IN" dirty="0" smtClean="0"/>
              <a:t>Their reps in CPPCC.</a:t>
            </a:r>
          </a:p>
          <a:p>
            <a:endParaRPr lang="en-IN" dirty="0"/>
          </a:p>
          <a:p>
            <a:r>
              <a:rPr lang="en-IN" dirty="0" smtClean="0"/>
              <a:t>What exactly is Han anyway?</a:t>
            </a:r>
          </a:p>
          <a:p>
            <a:endParaRPr lang="en-IN" dirty="0"/>
          </a:p>
        </p:txBody>
      </p:sp>
    </p:spTree>
    <p:extLst>
      <p:ext uri="{BB962C8B-B14F-4D97-AF65-F5344CB8AC3E}">
        <p14:creationId xmlns:p14="http://schemas.microsoft.com/office/powerpoint/2010/main" val="35258274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a:xfrm>
            <a:off x="1524000" y="0"/>
            <a:ext cx="7877908" cy="1143000"/>
          </a:xfrm>
          <a:solidFill>
            <a:srgbClr val="F5F8F9"/>
          </a:solidFill>
          <a:effectLst>
            <a:outerShdw dist="35921" dir="2700000" algn="ctr" rotWithShape="0">
              <a:schemeClr val="bg2"/>
            </a:outerShdw>
          </a:effectLst>
        </p:spPr>
        <p:txBody>
          <a:bodyPr/>
          <a:lstStyle/>
          <a:p>
            <a:pPr>
              <a:defRPr/>
            </a:pPr>
            <a:r>
              <a:rPr lang="en-GB" b="1" u="sng" dirty="0" smtClean="0"/>
              <a:t>RELIGION</a:t>
            </a:r>
          </a:p>
        </p:txBody>
      </p:sp>
      <p:sp>
        <p:nvSpPr>
          <p:cNvPr id="5123" name="Rectangle 4"/>
          <p:cNvSpPr>
            <a:spLocks noGrp="1" noChangeArrowheads="1"/>
          </p:cNvSpPr>
          <p:nvPr>
            <p:ph type="body" idx="1"/>
          </p:nvPr>
        </p:nvSpPr>
        <p:spPr>
          <a:xfrm>
            <a:off x="1014413" y="1524000"/>
            <a:ext cx="4589218" cy="4724400"/>
          </a:xfrm>
          <a:solidFill>
            <a:srgbClr val="EAEAEA"/>
          </a:solidFill>
        </p:spPr>
        <p:txBody>
          <a:bodyPr/>
          <a:lstStyle/>
          <a:p>
            <a:pPr algn="ctr">
              <a:spcBef>
                <a:spcPct val="50000"/>
              </a:spcBef>
              <a:buFontTx/>
              <a:buNone/>
            </a:pPr>
            <a:endParaRPr lang="en-GB" sz="1000" dirty="0"/>
          </a:p>
          <a:p>
            <a:pPr algn="ctr">
              <a:spcBef>
                <a:spcPct val="50000"/>
              </a:spcBef>
              <a:buFontTx/>
              <a:buNone/>
            </a:pPr>
            <a:r>
              <a:rPr lang="en-GB" dirty="0" smtClean="0"/>
              <a:t>No Religion 74%</a:t>
            </a:r>
          </a:p>
          <a:p>
            <a:pPr algn="ctr">
              <a:spcBef>
                <a:spcPct val="50000"/>
              </a:spcBef>
              <a:buFontTx/>
              <a:buNone/>
            </a:pPr>
            <a:r>
              <a:rPr lang="en-GB" dirty="0" smtClean="0"/>
              <a:t>Buddhist 16%</a:t>
            </a:r>
          </a:p>
          <a:p>
            <a:pPr algn="ctr">
              <a:spcBef>
                <a:spcPct val="50000"/>
              </a:spcBef>
              <a:buFontTx/>
              <a:buNone/>
            </a:pPr>
            <a:r>
              <a:rPr lang="en-GB" dirty="0" smtClean="0"/>
              <a:t>Christian 2.5%</a:t>
            </a:r>
          </a:p>
          <a:p>
            <a:pPr algn="ctr">
              <a:spcBef>
                <a:spcPct val="50000"/>
              </a:spcBef>
              <a:buFontTx/>
              <a:buNone/>
            </a:pPr>
            <a:r>
              <a:rPr lang="en-GB" dirty="0" smtClean="0"/>
              <a:t>Others  7%</a:t>
            </a:r>
          </a:p>
          <a:p>
            <a:pPr algn="ctr">
              <a:spcBef>
                <a:spcPct val="50000"/>
              </a:spcBef>
              <a:buFontTx/>
              <a:buNone/>
            </a:pPr>
            <a:r>
              <a:rPr lang="en-GB" dirty="0" smtClean="0"/>
              <a:t>Muslim 0.5%</a:t>
            </a:r>
          </a:p>
        </p:txBody>
      </p:sp>
      <p:pic>
        <p:nvPicPr>
          <p:cNvPr id="5124" name="Picture 16" descr="temple"/>
          <p:cNvPicPr>
            <a:picLocks noChangeAspect="1" noChangeArrowheads="1"/>
          </p:cNvPicPr>
          <p:nvPr/>
        </p:nvPicPr>
        <p:blipFill>
          <a:blip r:embed="rId2"/>
          <a:srcRect/>
          <a:stretch>
            <a:fillRect/>
          </a:stretch>
        </p:blipFill>
        <p:spPr bwMode="auto">
          <a:xfrm>
            <a:off x="6494585" y="1512888"/>
            <a:ext cx="2989385" cy="4724400"/>
          </a:xfrm>
          <a:prstGeom prst="rect">
            <a:avLst/>
          </a:prstGeom>
          <a:noFill/>
          <a:ln w="9525">
            <a:noFill/>
            <a:miter lim="800000"/>
            <a:headEnd/>
            <a:tailEnd/>
          </a:ln>
        </p:spPr>
      </p:pic>
    </p:spTree>
    <p:extLst>
      <p:ext uri="{BB962C8B-B14F-4D97-AF65-F5344CB8AC3E}">
        <p14:creationId xmlns:p14="http://schemas.microsoft.com/office/powerpoint/2010/main" val="63785830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557213" y="1600201"/>
            <a:ext cx="11025187" cy="4586287"/>
          </a:xfrm>
        </p:spPr>
        <p:txBody>
          <a:bodyPr/>
          <a:lstStyle/>
          <a:p>
            <a:r>
              <a:rPr lang="en-IN" dirty="0"/>
              <a:t>The government formally recognizes five religions: </a:t>
            </a:r>
            <a:endParaRPr lang="en-IN" dirty="0" smtClean="0"/>
          </a:p>
          <a:p>
            <a:r>
              <a:rPr lang="en-IN" dirty="0" smtClean="0">
                <a:hlinkClick r:id="rId2" tooltip="Buddhism"/>
              </a:rPr>
              <a:t>Buddhism</a:t>
            </a:r>
            <a:r>
              <a:rPr lang="en-IN" dirty="0"/>
              <a:t>, </a:t>
            </a:r>
            <a:r>
              <a:rPr lang="en-IN" dirty="0">
                <a:hlinkClick r:id="rId3" tooltip="Taoism"/>
              </a:rPr>
              <a:t>Taoism</a:t>
            </a:r>
            <a:r>
              <a:rPr lang="en-IN" dirty="0"/>
              <a:t>, </a:t>
            </a:r>
            <a:r>
              <a:rPr lang="en-IN" dirty="0">
                <a:hlinkClick r:id="rId4" tooltip="Catholicism"/>
              </a:rPr>
              <a:t>Catholicism</a:t>
            </a:r>
            <a:r>
              <a:rPr lang="en-IN" dirty="0"/>
              <a:t>, </a:t>
            </a:r>
            <a:r>
              <a:rPr lang="en-IN" dirty="0">
                <a:hlinkClick r:id="rId5" tooltip="Protestantism"/>
              </a:rPr>
              <a:t>Protestantism</a:t>
            </a:r>
            <a:r>
              <a:rPr lang="en-IN" dirty="0"/>
              <a:t> and </a:t>
            </a:r>
            <a:r>
              <a:rPr lang="en-IN" dirty="0" smtClean="0">
                <a:hlinkClick r:id="rId6" tooltip="Islam"/>
              </a:rPr>
              <a:t>Islam</a:t>
            </a:r>
            <a:endParaRPr lang="en-IN" dirty="0" smtClean="0"/>
          </a:p>
          <a:p>
            <a:r>
              <a:rPr lang="en-IN" dirty="0" smtClean="0">
                <a:hlinkClick r:id="rId7" tooltip="Chinese Patriotic Catholic Association"/>
              </a:rPr>
              <a:t>Chinese </a:t>
            </a:r>
            <a:r>
              <a:rPr lang="en-IN" dirty="0">
                <a:hlinkClick r:id="rId7" tooltip="Chinese Patriotic Catholic Association"/>
              </a:rPr>
              <a:t>Catholic Church</a:t>
            </a:r>
            <a:r>
              <a:rPr lang="en-IN" dirty="0"/>
              <a:t> is independent of the </a:t>
            </a:r>
            <a:r>
              <a:rPr lang="en-IN" dirty="0">
                <a:hlinkClick r:id="rId8" tooltip="Roman Catholic Church"/>
              </a:rPr>
              <a:t>Catholic Church in Rome</a:t>
            </a:r>
            <a:r>
              <a:rPr lang="en-IN" dirty="0" smtClean="0"/>
              <a:t>).</a:t>
            </a:r>
          </a:p>
          <a:p>
            <a:r>
              <a:rPr lang="en-IN" dirty="0" smtClean="0"/>
              <a:t>Patriotic Church vs Underground Church.</a:t>
            </a:r>
          </a:p>
          <a:p>
            <a:r>
              <a:rPr lang="en-IN" dirty="0" smtClean="0"/>
              <a:t>Tibetan Buddhism.</a:t>
            </a:r>
          </a:p>
          <a:p>
            <a:endParaRPr lang="en-IN" dirty="0"/>
          </a:p>
        </p:txBody>
      </p:sp>
    </p:spTree>
    <p:extLst>
      <p:ext uri="{BB962C8B-B14F-4D97-AF65-F5344CB8AC3E}">
        <p14:creationId xmlns:p14="http://schemas.microsoft.com/office/powerpoint/2010/main" val="396324211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IN" b="1" u="sng" dirty="0" smtClean="0"/>
              <a:t>EXTREMELY SUPERSTITIOUS</a:t>
            </a:r>
            <a:endParaRPr lang="en-IN" b="1" u="sng" dirty="0"/>
          </a:p>
        </p:txBody>
      </p:sp>
      <p:sp>
        <p:nvSpPr>
          <p:cNvPr id="3" name="Content Placeholder 2"/>
          <p:cNvSpPr>
            <a:spLocks noGrp="1"/>
          </p:cNvSpPr>
          <p:nvPr>
            <p:ph idx="1"/>
          </p:nvPr>
        </p:nvSpPr>
        <p:spPr/>
        <p:txBody>
          <a:bodyPr/>
          <a:lstStyle/>
          <a:p>
            <a:r>
              <a:rPr lang="en-IN" dirty="0" smtClean="0"/>
              <a:t>BEIJING OLYMPICS START TIME.</a:t>
            </a:r>
          </a:p>
          <a:p>
            <a:r>
              <a:rPr lang="en-IN" dirty="0" smtClean="0"/>
              <a:t>UNLUCKY NUMBERS AND LUCKY NUMBERS.</a:t>
            </a:r>
          </a:p>
          <a:p>
            <a:r>
              <a:rPr lang="en-IN" i="1" dirty="0" smtClean="0"/>
              <a:t>FENG SHUI.</a:t>
            </a:r>
          </a:p>
          <a:p>
            <a:r>
              <a:rPr lang="en-IN" dirty="0" smtClean="0"/>
              <a:t>JADE EMPEROR AND THE KITCHEN GODS.</a:t>
            </a:r>
          </a:p>
          <a:p>
            <a:r>
              <a:rPr lang="en-IN" i="1" dirty="0" smtClean="0"/>
              <a:t>QING MING (CLEAR BRIGHT) FESTIVAL.</a:t>
            </a:r>
          </a:p>
          <a:p>
            <a:endParaRPr lang="en-IN" dirty="0" smtClean="0"/>
          </a:p>
          <a:p>
            <a:endParaRPr lang="en-IN" dirty="0"/>
          </a:p>
        </p:txBody>
      </p:sp>
    </p:spTree>
    <p:extLst>
      <p:ext uri="{BB962C8B-B14F-4D97-AF65-F5344CB8AC3E}">
        <p14:creationId xmlns:p14="http://schemas.microsoft.com/office/powerpoint/2010/main" val="3259385912"/>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Image result for guanyin stat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659" y="60318"/>
            <a:ext cx="9021124" cy="6769099"/>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idx="1"/>
          </p:nvPr>
        </p:nvSpPr>
        <p:spPr/>
        <p:txBody>
          <a:bodyPr/>
          <a:lstStyle/>
          <a:p>
            <a:endParaRPr lang="en-IN" dirty="0"/>
          </a:p>
        </p:txBody>
      </p:sp>
    </p:spTree>
    <p:extLst>
      <p:ext uri="{BB962C8B-B14F-4D97-AF65-F5344CB8AC3E}">
        <p14:creationId xmlns:p14="http://schemas.microsoft.com/office/powerpoint/2010/main" val="1359241582"/>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054100"/>
          </a:xfrm>
        </p:spPr>
        <p:txBody>
          <a:bodyPr/>
          <a:lstStyle/>
          <a:p>
            <a:r>
              <a:rPr lang="en-IN" b="1" u="sng" dirty="0" smtClean="0"/>
              <a:t>CONFUCIANISM</a:t>
            </a:r>
            <a:endParaRPr lang="en-IN" b="1" u="sng" dirty="0"/>
          </a:p>
        </p:txBody>
      </p:sp>
      <p:sp>
        <p:nvSpPr>
          <p:cNvPr id="3" name="Content Placeholder 2"/>
          <p:cNvSpPr>
            <a:spLocks noGrp="1"/>
          </p:cNvSpPr>
          <p:nvPr>
            <p:ph idx="1"/>
          </p:nvPr>
        </p:nvSpPr>
        <p:spPr>
          <a:xfrm>
            <a:off x="609600" y="1600201"/>
            <a:ext cx="10972800" cy="4525963"/>
          </a:xfrm>
        </p:spPr>
        <p:txBody>
          <a:bodyPr>
            <a:normAutofit/>
          </a:bodyPr>
          <a:lstStyle/>
          <a:p>
            <a:r>
              <a:rPr lang="en-US" dirty="0" smtClean="0"/>
              <a:t>Traditional Chinese values … </a:t>
            </a:r>
          </a:p>
          <a:p>
            <a:r>
              <a:rPr lang="en-US" dirty="0" smtClean="0"/>
              <a:t>Filial piety…. benevolence,</a:t>
            </a:r>
            <a:r>
              <a:rPr lang="en-US" dirty="0"/>
              <a:t> “A peaceful family will prosper (</a:t>
            </a:r>
            <a:r>
              <a:rPr lang="en-US" dirty="0" err="1"/>
              <a:t>jiahe</a:t>
            </a:r>
            <a:r>
              <a:rPr lang="en-US" dirty="0"/>
              <a:t> </a:t>
            </a:r>
            <a:r>
              <a:rPr lang="en-US" dirty="0" err="1"/>
              <a:t>wanshi</a:t>
            </a:r>
            <a:r>
              <a:rPr lang="en-US" dirty="0"/>
              <a:t> </a:t>
            </a:r>
            <a:r>
              <a:rPr lang="en-US" dirty="0" err="1"/>
              <a:t>xing</a:t>
            </a:r>
            <a:r>
              <a:rPr lang="en-US" dirty="0"/>
              <a:t>, </a:t>
            </a:r>
            <a:r>
              <a:rPr lang="en-US" dirty="0" err="1"/>
              <a:t>家和万事兴</a:t>
            </a:r>
            <a:r>
              <a:rPr lang="en-US" dirty="0"/>
              <a:t>)”</a:t>
            </a:r>
            <a:endParaRPr lang="en-IN" dirty="0"/>
          </a:p>
          <a:p>
            <a:r>
              <a:rPr lang="en-US" dirty="0" smtClean="0"/>
              <a:t>Loyalty.</a:t>
            </a:r>
          </a:p>
          <a:p>
            <a:r>
              <a:rPr lang="en-US" dirty="0" smtClean="0"/>
              <a:t>Harmony…. Managing conflict</a:t>
            </a:r>
            <a:r>
              <a:rPr lang="en-US" dirty="0" smtClean="0"/>
              <a:t>.</a:t>
            </a:r>
          </a:p>
          <a:p>
            <a:r>
              <a:rPr lang="en-US" dirty="0" smtClean="0"/>
              <a:t>Eight Values- </a:t>
            </a:r>
            <a:r>
              <a:rPr lang="en-IN" dirty="0"/>
              <a:t>Filial Piety, Sibling Harmony, Dedication, Trustworthiness, Propriety, Sacrifice, Honour, and Sense of Shame </a:t>
            </a:r>
            <a:endParaRPr lang="en-US" dirty="0" smtClean="0"/>
          </a:p>
        </p:txBody>
      </p:sp>
    </p:spTree>
    <p:extLst>
      <p:ext uri="{BB962C8B-B14F-4D97-AF65-F5344CB8AC3E}">
        <p14:creationId xmlns:p14="http://schemas.microsoft.com/office/powerpoint/2010/main" val="9959151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Righteousness, “The gentleman understands what is moral; the small man understands what is profitable (</a:t>
            </a:r>
            <a:r>
              <a:rPr lang="en-US" dirty="0" err="1"/>
              <a:t>junzi</a:t>
            </a:r>
            <a:r>
              <a:rPr lang="en-US" dirty="0"/>
              <a:t> </a:t>
            </a:r>
            <a:r>
              <a:rPr lang="en-US" dirty="0" err="1"/>
              <a:t>yu</a:t>
            </a:r>
            <a:r>
              <a:rPr lang="en-US" dirty="0"/>
              <a:t> </a:t>
            </a:r>
            <a:r>
              <a:rPr lang="en-US" dirty="0" err="1"/>
              <a:t>yu</a:t>
            </a:r>
            <a:r>
              <a:rPr lang="en-US" dirty="0"/>
              <a:t> </a:t>
            </a:r>
            <a:r>
              <a:rPr lang="en-US" dirty="0" err="1"/>
              <a:t>yi</a:t>
            </a:r>
            <a:r>
              <a:rPr lang="en-US" dirty="0"/>
              <a:t>, </a:t>
            </a:r>
            <a:r>
              <a:rPr lang="en-US" dirty="0" err="1"/>
              <a:t>xiaoren</a:t>
            </a:r>
            <a:r>
              <a:rPr lang="en-US" dirty="0"/>
              <a:t> </a:t>
            </a:r>
            <a:r>
              <a:rPr lang="en-US" dirty="0" err="1"/>
              <a:t>yu</a:t>
            </a:r>
            <a:r>
              <a:rPr lang="en-US" dirty="0"/>
              <a:t> </a:t>
            </a:r>
            <a:r>
              <a:rPr lang="en-US" dirty="0" err="1"/>
              <a:t>yu</a:t>
            </a:r>
            <a:r>
              <a:rPr lang="en-US" dirty="0"/>
              <a:t> li, </a:t>
            </a:r>
            <a:r>
              <a:rPr lang="en-US" dirty="0" err="1"/>
              <a:t>君子喻于义，小人喻于利</a:t>
            </a:r>
            <a:r>
              <a:rPr lang="en-US" dirty="0"/>
              <a:t>).” There are not only individual benefits but also collective and social benefits. </a:t>
            </a:r>
            <a:r>
              <a:rPr lang="en-US"/>
              <a:t>All people should seek what benefits both the individual and the society.</a:t>
            </a:r>
          </a:p>
          <a:p>
            <a:r>
              <a:rPr lang="en-US" smtClean="0"/>
              <a:t>Courtesy</a:t>
            </a:r>
            <a:r>
              <a:rPr lang="en-US" dirty="0"/>
              <a:t>.(Modesty and prudence, respecting laws)</a:t>
            </a:r>
          </a:p>
          <a:p>
            <a:r>
              <a:rPr lang="en-US" dirty="0"/>
              <a:t> </a:t>
            </a:r>
            <a:r>
              <a:rPr lang="en-US" dirty="0" smtClean="0"/>
              <a:t>Wisdom.</a:t>
            </a:r>
          </a:p>
          <a:p>
            <a:r>
              <a:rPr lang="en-US" dirty="0" smtClean="0"/>
              <a:t>Honesty</a:t>
            </a:r>
            <a:r>
              <a:rPr lang="en-US" dirty="0"/>
              <a:t>. </a:t>
            </a:r>
          </a:p>
        </p:txBody>
      </p:sp>
    </p:spTree>
    <p:extLst>
      <p:ext uri="{BB962C8B-B14F-4D97-AF65-F5344CB8AC3E}">
        <p14:creationId xmlns:p14="http://schemas.microsoft.com/office/powerpoint/2010/main" val="3530212875"/>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IN" b="1" u="sng" dirty="0" smtClean="0"/>
              <a:t>IN BROAD</a:t>
            </a:r>
            <a:endParaRPr lang="en-IN" b="1" u="sng" dirty="0"/>
          </a:p>
        </p:txBody>
      </p:sp>
      <p:sp>
        <p:nvSpPr>
          <p:cNvPr id="3" name="Content Placeholder 2"/>
          <p:cNvSpPr>
            <a:spLocks noGrp="1"/>
          </p:cNvSpPr>
          <p:nvPr>
            <p:ph idx="1"/>
          </p:nvPr>
        </p:nvSpPr>
        <p:spPr/>
        <p:txBody>
          <a:bodyPr/>
          <a:lstStyle/>
          <a:p>
            <a:r>
              <a:rPr lang="en-IN" dirty="0" smtClean="0"/>
              <a:t>HARMONY BASED ON RELATIONSHIP BETWEEN SUPERIOR AND SUBORDINATE.</a:t>
            </a:r>
          </a:p>
          <a:p>
            <a:r>
              <a:rPr lang="en-IN" dirty="0" smtClean="0"/>
              <a:t>MORAL BEHAVIOUR IS THE SOURCE OF AUTHORITY OF THE SUPERIOR.</a:t>
            </a:r>
          </a:p>
          <a:p>
            <a:r>
              <a:rPr lang="en-IN" dirty="0" smtClean="0"/>
              <a:t>“ WELFARE OF SUBORDINATE” NOT “ RIGHTS OF SUBORDINATE”.</a:t>
            </a:r>
          </a:p>
          <a:p>
            <a:endParaRPr lang="en-IN" dirty="0" smtClean="0"/>
          </a:p>
          <a:p>
            <a:endParaRPr lang="en-IN" dirty="0"/>
          </a:p>
        </p:txBody>
      </p:sp>
    </p:spTree>
    <p:extLst>
      <p:ext uri="{BB962C8B-B14F-4D97-AF65-F5344CB8AC3E}">
        <p14:creationId xmlns:p14="http://schemas.microsoft.com/office/powerpoint/2010/main" val="296076753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lang="en-US" u="sng" dirty="0" err="1"/>
              <a:t>社会信用体系</a:t>
            </a:r>
            <a:r>
              <a:rPr lang="en-US" u="sng" dirty="0"/>
              <a:t> </a:t>
            </a:r>
            <a:r>
              <a:rPr lang="en-IN" u="sng" dirty="0"/>
              <a:t/>
            </a:r>
            <a:br>
              <a:rPr lang="en-IN" u="sng" dirty="0"/>
            </a:br>
            <a:r>
              <a:rPr lang="en-IN" u="sng" dirty="0" smtClean="0"/>
              <a:t>(</a:t>
            </a:r>
            <a:r>
              <a:rPr lang="en-IN" u="sng" dirty="0" err="1" smtClean="0"/>
              <a:t>Shèhuì</a:t>
            </a:r>
            <a:r>
              <a:rPr lang="en-IN" u="sng" dirty="0" smtClean="0"/>
              <a:t> </a:t>
            </a:r>
            <a:r>
              <a:rPr lang="en-IN" u="sng" dirty="0" err="1"/>
              <a:t>xìnyòng</a:t>
            </a:r>
            <a:r>
              <a:rPr lang="en-IN" u="sng" dirty="0"/>
              <a:t> </a:t>
            </a:r>
            <a:r>
              <a:rPr lang="en-IN" u="sng" dirty="0" err="1"/>
              <a:t>tǐxì</a:t>
            </a:r>
            <a:r>
              <a:rPr lang="en-IN" u="sng" dirty="0"/>
              <a:t>) </a:t>
            </a:r>
            <a:r>
              <a:rPr lang="en-IN" u="sng" dirty="0" smtClean="0"/>
              <a:t> “Social Credit </a:t>
            </a:r>
            <a:r>
              <a:rPr lang="en-IN" u="sng" dirty="0"/>
              <a:t>system.” </a:t>
            </a:r>
          </a:p>
        </p:txBody>
      </p:sp>
      <p:sp>
        <p:nvSpPr>
          <p:cNvPr id="3" name="Content Placeholder 2"/>
          <p:cNvSpPr>
            <a:spLocks noGrp="1"/>
          </p:cNvSpPr>
          <p:nvPr>
            <p:ph idx="1"/>
          </p:nvPr>
        </p:nvSpPr>
        <p:spPr>
          <a:xfrm>
            <a:off x="609600" y="1600201"/>
            <a:ext cx="10972800" cy="4525963"/>
          </a:xfrm>
        </p:spPr>
        <p:txBody>
          <a:bodyPr>
            <a:normAutofit lnSpcReduction="10000"/>
          </a:bodyPr>
          <a:lstStyle/>
          <a:p>
            <a:r>
              <a:rPr lang="en-IN" dirty="0" smtClean="0"/>
              <a:t>Social Engineering Experiment.</a:t>
            </a:r>
          </a:p>
          <a:p>
            <a:r>
              <a:rPr lang="en-IN" dirty="0" smtClean="0"/>
              <a:t>To evaluate the behaviour of Individuals and Organizations.</a:t>
            </a:r>
          </a:p>
          <a:p>
            <a:r>
              <a:rPr lang="en-IN" dirty="0" smtClean="0"/>
              <a:t>Massive Surveillance exercise and collection of Data.</a:t>
            </a:r>
          </a:p>
          <a:p>
            <a:r>
              <a:rPr lang="en-IN" dirty="0" smtClean="0"/>
              <a:t>Data analysed by Computers.</a:t>
            </a:r>
          </a:p>
          <a:p>
            <a:r>
              <a:rPr lang="en-IN" dirty="0" smtClean="0"/>
              <a:t>Finally award a Rating.</a:t>
            </a:r>
          </a:p>
          <a:p>
            <a:r>
              <a:rPr lang="en-IN" dirty="0" smtClean="0"/>
              <a:t>Affects everything, jobs, loans, school admissions, health care</a:t>
            </a:r>
            <a:endParaRPr lang="en-IN" dirty="0"/>
          </a:p>
          <a:p>
            <a:r>
              <a:rPr lang="en-IN" dirty="0" smtClean="0"/>
              <a:t>Built on </a:t>
            </a:r>
            <a:r>
              <a:rPr lang="en-IN" dirty="0" err="1" smtClean="0"/>
              <a:t>Cuture</a:t>
            </a:r>
            <a:r>
              <a:rPr lang="en-IN" dirty="0" smtClean="0"/>
              <a:t> of </a:t>
            </a:r>
            <a:r>
              <a:rPr lang="en-IN" i="1" dirty="0" err="1" smtClean="0"/>
              <a:t>Dangan</a:t>
            </a:r>
            <a:r>
              <a:rPr lang="en-IN" dirty="0" smtClean="0"/>
              <a:t> (archives).</a:t>
            </a:r>
          </a:p>
          <a:p>
            <a:r>
              <a:rPr lang="en-IN" dirty="0" smtClean="0"/>
              <a:t>Unlike other countries no tools with the individual.</a:t>
            </a:r>
          </a:p>
          <a:p>
            <a:endParaRPr lang="en-IN" dirty="0" smtClean="0"/>
          </a:p>
          <a:p>
            <a:endParaRPr lang="en-IN" dirty="0"/>
          </a:p>
        </p:txBody>
      </p:sp>
    </p:spTree>
    <p:extLst>
      <p:ext uri="{BB962C8B-B14F-4D97-AF65-F5344CB8AC3E}">
        <p14:creationId xmlns:p14="http://schemas.microsoft.com/office/powerpoint/2010/main" val="27677461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si.wsj.net/public/resources/images/P1-BZ401_CCREDI_9U_20161128113928.jpg"/>
          <p:cNvPicPr/>
          <p:nvPr/>
        </p:nvPicPr>
        <p:blipFill>
          <a:blip r:embed="rId2">
            <a:extLst>
              <a:ext uri="{28A0092B-C50C-407E-A947-70E740481C1C}">
                <a14:useLocalDpi xmlns:a14="http://schemas.microsoft.com/office/drawing/2010/main" val="0"/>
              </a:ext>
            </a:extLst>
          </a:blip>
          <a:srcRect/>
          <a:stretch>
            <a:fillRect/>
          </a:stretch>
        </p:blipFill>
        <p:spPr bwMode="auto">
          <a:xfrm>
            <a:off x="1543050" y="-1171589"/>
            <a:ext cx="7215187" cy="9015418"/>
          </a:xfrm>
          <a:prstGeom prst="rect">
            <a:avLst/>
          </a:prstGeom>
          <a:noFill/>
          <a:ln>
            <a:noFill/>
          </a:ln>
        </p:spPr>
      </p:pic>
    </p:spTree>
    <p:extLst>
      <p:ext uri="{BB962C8B-B14F-4D97-AF65-F5344CB8AC3E}">
        <p14:creationId xmlns:p14="http://schemas.microsoft.com/office/powerpoint/2010/main" val="162840863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274638"/>
            <a:ext cx="10972800" cy="1143000"/>
          </a:xfrm>
        </p:spPr>
        <p:txBody>
          <a:bodyPr/>
          <a:lstStyle/>
          <a:p>
            <a:r>
              <a:rPr lang="en-IN" b="1" u="sng" dirty="0" smtClean="0"/>
              <a:t>ONE CHILD POLICY</a:t>
            </a:r>
            <a:endParaRPr lang="en-IN" b="1" u="sng" dirty="0"/>
          </a:p>
        </p:txBody>
      </p:sp>
      <p:sp>
        <p:nvSpPr>
          <p:cNvPr id="5" name="Content Placeholder 4"/>
          <p:cNvSpPr>
            <a:spLocks noGrp="1"/>
          </p:cNvSpPr>
          <p:nvPr>
            <p:ph idx="1"/>
          </p:nvPr>
        </p:nvSpPr>
        <p:spPr>
          <a:xfrm>
            <a:off x="514350" y="1543051"/>
            <a:ext cx="11068050" cy="4583114"/>
          </a:xfrm>
        </p:spPr>
        <p:txBody>
          <a:bodyPr/>
          <a:lstStyle/>
          <a:p>
            <a:endParaRPr lang="en-IN" dirty="0" smtClean="0"/>
          </a:p>
          <a:p>
            <a:r>
              <a:rPr lang="en-IN" dirty="0"/>
              <a:t>Little Emperors</a:t>
            </a:r>
          </a:p>
          <a:p>
            <a:r>
              <a:rPr lang="en-IN" dirty="0"/>
              <a:t>Wo </a:t>
            </a:r>
            <a:r>
              <a:rPr lang="en-IN" dirty="0" smtClean="0"/>
              <a:t>Pa Shi </a:t>
            </a:r>
            <a:r>
              <a:rPr lang="en-IN" dirty="0" err="1" smtClean="0"/>
              <a:t>Ligang</a:t>
            </a:r>
            <a:r>
              <a:rPr lang="en-IN" dirty="0"/>
              <a:t>.</a:t>
            </a:r>
          </a:p>
          <a:p>
            <a:r>
              <a:rPr lang="en-IN" dirty="0" smtClean="0"/>
              <a:t>Cost of getting married.</a:t>
            </a:r>
          </a:p>
          <a:p>
            <a:r>
              <a:rPr lang="en-IN" dirty="0" smtClean="0"/>
              <a:t>Survey of </a:t>
            </a:r>
            <a:r>
              <a:rPr lang="en-IN" dirty="0" err="1" smtClean="0"/>
              <a:t>Bethrothal</a:t>
            </a:r>
            <a:r>
              <a:rPr lang="en-IN" dirty="0" smtClean="0"/>
              <a:t> gifts ($10- 20,000) </a:t>
            </a:r>
            <a:endParaRPr lang="en-IN" dirty="0"/>
          </a:p>
        </p:txBody>
      </p:sp>
    </p:spTree>
    <p:extLst>
      <p:ext uri="{BB962C8B-B14F-4D97-AF65-F5344CB8AC3E}">
        <p14:creationId xmlns:p14="http://schemas.microsoft.com/office/powerpoint/2010/main" val="22660048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Li </a:t>
            </a:r>
            <a:r>
              <a:rPr lang="en-US" b="1" dirty="0" err="1"/>
              <a:t>Ziqi</a:t>
            </a:r>
            <a:r>
              <a:rPr lang="en-US" b="1" dirty="0"/>
              <a:t>, the </a:t>
            </a:r>
            <a:r>
              <a:rPr lang="en-US" b="1" dirty="0" smtClean="0"/>
              <a:t>Chinese </a:t>
            </a:r>
            <a:r>
              <a:rPr lang="en-US" b="1" dirty="0"/>
              <a:t>internet celebrity with 58 million fans</a:t>
            </a:r>
            <a:br>
              <a:rPr lang="en-US" b="1" dirty="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94375256"/>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Li </a:t>
            </a:r>
            <a:r>
              <a:rPr lang="en-US" dirty="0" err="1" smtClean="0"/>
              <a:t>Zi</a:t>
            </a:r>
            <a:r>
              <a:rPr lang="en-US" dirty="0" err="1"/>
              <a:t>q</a:t>
            </a:r>
            <a:r>
              <a:rPr lang="en-US" dirty="0" err="1" smtClean="0"/>
              <a:t>i</a:t>
            </a:r>
            <a:r>
              <a:rPr lang="en-US" dirty="0" smtClean="0"/>
              <a:t> Channel</a:t>
            </a:r>
            <a:endParaRPr lang="en-US" dirty="0"/>
          </a:p>
        </p:txBody>
      </p:sp>
      <p:sp>
        <p:nvSpPr>
          <p:cNvPr id="5" name="Content Placeholder 4"/>
          <p:cNvSpPr>
            <a:spLocks noGrp="1"/>
          </p:cNvSpPr>
          <p:nvPr>
            <p:ph idx="1"/>
          </p:nvPr>
        </p:nvSpPr>
        <p:spPr/>
        <p:txBody>
          <a:bodyPr>
            <a:normAutofit/>
          </a:bodyPr>
          <a:lstStyle/>
          <a:p>
            <a:pPr fontAlgn="base"/>
            <a:r>
              <a:rPr lang="en-US" dirty="0"/>
              <a:t>Li grew up with her grandparents in a rural part of Sichuan province in southwestern China. She says she moved in with them after her stepmother mistreated her.</a:t>
            </a:r>
          </a:p>
          <a:p>
            <a:pPr fontAlgn="base"/>
            <a:r>
              <a:rPr lang="en-US" dirty="0"/>
              <a:t>When she was 14, she went to the city in search of work, but she decided to return to the countryside in 2012 to take care of her grandmother</a:t>
            </a:r>
            <a:r>
              <a:rPr lang="en-US" dirty="0" smtClean="0"/>
              <a:t>.</a:t>
            </a:r>
          </a:p>
          <a:p>
            <a:pPr fontAlgn="base"/>
            <a:r>
              <a:rPr lang="en-US" dirty="0" smtClean="0"/>
              <a:t>A typical </a:t>
            </a:r>
            <a:r>
              <a:rPr lang="en-US" smtClean="0"/>
              <a:t>Migrant worker’s life</a:t>
            </a:r>
            <a:endParaRPr lang="en-US" dirty="0" smtClean="0"/>
          </a:p>
          <a:p>
            <a:pPr fontAlgn="base"/>
            <a:r>
              <a:rPr lang="en-US" dirty="0" smtClean="0"/>
              <a:t>She makes beautiful Rural based videos</a:t>
            </a:r>
            <a:endParaRPr lang="en-US" dirty="0"/>
          </a:p>
          <a:p>
            <a:endParaRPr lang="en-US" dirty="0"/>
          </a:p>
        </p:txBody>
      </p:sp>
    </p:spTree>
    <p:extLst>
      <p:ext uri="{BB962C8B-B14F-4D97-AF65-F5344CB8AC3E}">
        <p14:creationId xmlns:p14="http://schemas.microsoft.com/office/powerpoint/2010/main" val="1792550604"/>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Viewers often ask if her ethereal, cinematic videos are real. Photo: Li Ziq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053" y="365125"/>
            <a:ext cx="5306987" cy="309574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Video channels in China depicting rural life are a dime a dozen, but unlike Li Ziqi's, many of these videos are fast-paced and cut with quick edits. Photo: Li Ziqi"/>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6126567" y="365125"/>
            <a:ext cx="5338380" cy="311405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i Ziqi harvests ears of corn in a video, in which she whips up a spread of corn dishes. Photo: Li Ziq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41564" y="3568391"/>
            <a:ext cx="5448168" cy="317809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 her videos, Li often prepares elaborate meals for her grandmother using basic ingredients and traditional techniques. Photo: Li Ziqi"/>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053" y="3568391"/>
            <a:ext cx="5513586" cy="3216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863650"/>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While the videos have a cinematic quality to them, it’s her deep knowledge of food, nature, and Chinese culture that impresses viewers. She appears to make everything from scratch, going as far as hatching baby ducklings and raising them just to make a sauce from egg yolk.</a:t>
            </a:r>
          </a:p>
          <a:p>
            <a:r>
              <a:rPr lang="en-US" dirty="0"/>
              <a:t>Completely Non political. Yearning for return to roots.</a:t>
            </a:r>
          </a:p>
        </p:txBody>
      </p:sp>
    </p:spTree>
    <p:extLst>
      <p:ext uri="{BB962C8B-B14F-4D97-AF65-F5344CB8AC3E}">
        <p14:creationId xmlns:p14="http://schemas.microsoft.com/office/powerpoint/2010/main" val="2472280743"/>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39825"/>
          </a:xfrm>
        </p:spPr>
        <p:txBody>
          <a:bodyPr/>
          <a:lstStyle/>
          <a:p>
            <a:r>
              <a:rPr lang="en-IN" b="1" u="sng" dirty="0" smtClean="0"/>
              <a:t>CULTURE OF SANG</a:t>
            </a:r>
            <a:endParaRPr lang="en-IN" b="1" u="sng" dirty="0"/>
          </a:p>
        </p:txBody>
      </p:sp>
      <p:sp>
        <p:nvSpPr>
          <p:cNvPr id="3" name="Content Placeholder 2"/>
          <p:cNvSpPr>
            <a:spLocks noGrp="1"/>
          </p:cNvSpPr>
          <p:nvPr>
            <p:ph idx="1"/>
          </p:nvPr>
        </p:nvSpPr>
        <p:spPr/>
        <p:txBody>
          <a:bodyPr>
            <a:normAutofit fontScale="92500" lnSpcReduction="20000"/>
          </a:bodyPr>
          <a:lstStyle/>
          <a:p>
            <a:pPr fontAlgn="base"/>
            <a:r>
              <a:rPr lang="en-IN" dirty="0"/>
              <a:t>Sang". That's the recent buzzword more and more young Chinese are using to describe themselves. </a:t>
            </a:r>
          </a:p>
          <a:p>
            <a:pPr fontAlgn="base"/>
            <a:r>
              <a:rPr lang="en-IN" dirty="0"/>
              <a:t>Pronounced "sung", this Chinese word means "mourning", and is now the trending word to reflect the reduced work ethic, a lack of self-motivation, and an apathetic </a:t>
            </a:r>
            <a:r>
              <a:rPr lang="en-IN" dirty="0" err="1"/>
              <a:t>demeanor</a:t>
            </a:r>
            <a:r>
              <a:rPr lang="en-IN" dirty="0"/>
              <a:t> felt by urban, middle-class Chinese young people. </a:t>
            </a:r>
          </a:p>
          <a:p>
            <a:r>
              <a:rPr lang="en-IN" dirty="0"/>
              <a:t>Popular internet memes such as the soulless troll "Pepe the Frog" and the self-loathing </a:t>
            </a:r>
            <a:r>
              <a:rPr lang="en-IN" dirty="0" err="1"/>
              <a:t>BoJack</a:t>
            </a:r>
            <a:r>
              <a:rPr lang="en-IN" dirty="0"/>
              <a:t> Horseman from the titular American TV show have become the mascots of China's "sang-culture</a:t>
            </a:r>
            <a:r>
              <a:rPr lang="en-IN" dirty="0" smtClean="0"/>
              <a:t>".</a:t>
            </a:r>
          </a:p>
          <a:p>
            <a:r>
              <a:rPr lang="en-IN" dirty="0"/>
              <a:t/>
            </a:r>
            <a:br>
              <a:rPr lang="en-IN" dirty="0"/>
            </a:br>
            <a:endParaRPr lang="en-IN" dirty="0"/>
          </a:p>
        </p:txBody>
      </p:sp>
    </p:spTree>
    <p:extLst>
      <p:ext uri="{BB962C8B-B14F-4D97-AF65-F5344CB8AC3E}">
        <p14:creationId xmlns:p14="http://schemas.microsoft.com/office/powerpoint/2010/main" val="250884681"/>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IN" b="1" u="sng" dirty="0" smtClean="0"/>
              <a:t>EMOJI: GUDETAMA</a:t>
            </a:r>
            <a:endParaRPr lang="en-IN" b="1" u="sng" dirty="0"/>
          </a:p>
        </p:txBody>
      </p:sp>
      <p:sp>
        <p:nvSpPr>
          <p:cNvPr id="3" name="Content Placeholder 2"/>
          <p:cNvSpPr>
            <a:spLocks noGrp="1"/>
          </p:cNvSpPr>
          <p:nvPr>
            <p:ph idx="1"/>
          </p:nvPr>
        </p:nvSpPr>
        <p:spPr>
          <a:xfrm>
            <a:off x="600075" y="1600201"/>
            <a:ext cx="10982325" cy="4600574"/>
          </a:xfrm>
        </p:spPr>
        <p:txBody>
          <a:bodyPr/>
          <a:lstStyle/>
          <a:p>
            <a:endParaRPr lang="en-IN" dirty="0"/>
          </a:p>
        </p:txBody>
      </p:sp>
      <p:pic>
        <p:nvPicPr>
          <p:cNvPr id="1027" name="Picture 23" descr="http://elephant-room.com/wp-content/uploads/2017/05/Screen-Shot-2017-05-07-at-7.31.40-PM-1024x36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852" y="2502465"/>
            <a:ext cx="9109047" cy="321253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2" descr="http://elephant-room.com/wp-content/uploads/2017/05/11385343fbf2b211e6a1594ccc8065380cd78e2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2372" y="1658228"/>
            <a:ext cx="2694828" cy="1712104"/>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1" descr="http://elephant-room.com/wp-content/uploads/2017/05/Screen-Shot-2017-05-07-at-7.39.34-PM-1024x52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55482" y="4513334"/>
            <a:ext cx="2819082" cy="143293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6"/>
          <p:cNvSpPr>
            <a:spLocks noChangeArrowheads="1"/>
          </p:cNvSpPr>
          <p:nvPr/>
        </p:nvSpPr>
        <p:spPr bwMode="auto">
          <a:xfrm>
            <a:off x="-10583" y="3627437"/>
            <a:ext cx="1220258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941451892"/>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Content Placeholder 3"/>
          <p:cNvSpPr>
            <a:spLocks noGrp="1"/>
          </p:cNvSpPr>
          <p:nvPr>
            <p:ph idx="1"/>
          </p:nvPr>
        </p:nvSpPr>
        <p:spPr>
          <a:xfrm>
            <a:off x="609600" y="1600201"/>
            <a:ext cx="10972800" cy="4525963"/>
          </a:xfrm>
        </p:spPr>
        <p:txBody>
          <a:bodyPr>
            <a:normAutofit fontScale="85000" lnSpcReduction="10000"/>
          </a:bodyPr>
          <a:lstStyle/>
          <a:p>
            <a:pPr fontAlgn="base"/>
            <a:r>
              <a:rPr lang="en-IN" dirty="0"/>
              <a:t>T</a:t>
            </a:r>
            <a:r>
              <a:rPr lang="en-IN" dirty="0" smtClean="0"/>
              <a:t>hese </a:t>
            </a:r>
            <a:r>
              <a:rPr lang="en-IN" dirty="0"/>
              <a:t>are some of the challenges that the young of China are facing: Rising housing prices, delayed retirement, the deterioration of urban living environments, and the increasing burden of an only child taking care of two parents.</a:t>
            </a:r>
          </a:p>
          <a:p>
            <a:pPr fontAlgn="base"/>
            <a:r>
              <a:rPr lang="en-IN" dirty="0"/>
              <a:t>These pressures may not be concerned by every youth, but the main points were widely spread online and instilled in young generation and ultimately showed up in young people's social network.</a:t>
            </a:r>
          </a:p>
          <a:p>
            <a:pPr fontAlgn="base"/>
            <a:r>
              <a:rPr lang="en-IN" dirty="0"/>
              <a:t>The "sang"-culture paints youths as unwilling to succeed, but perhaps on the contrary, they identify as "sang" because of the futility in pursing traditional notions of success in their career and family. </a:t>
            </a:r>
          </a:p>
          <a:p>
            <a:pPr fontAlgn="base"/>
            <a:r>
              <a:rPr lang="en-IN" b="1" dirty="0"/>
              <a:t>"I admit I'm useless. How can you judge my life?"</a:t>
            </a:r>
            <a:endParaRPr lang="en-IN" dirty="0"/>
          </a:p>
        </p:txBody>
      </p:sp>
    </p:spTree>
    <p:extLst>
      <p:ext uri="{BB962C8B-B14F-4D97-AF65-F5344CB8AC3E}">
        <p14:creationId xmlns:p14="http://schemas.microsoft.com/office/powerpoint/2010/main" val="362639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OPPORTUNISTIC</a:t>
            </a:r>
            <a:endParaRPr lang="en-IN" dirty="0"/>
          </a:p>
        </p:txBody>
      </p:sp>
      <p:sp>
        <p:nvSpPr>
          <p:cNvPr id="3" name="Content Placeholder 2"/>
          <p:cNvSpPr>
            <a:spLocks noGrp="1"/>
          </p:cNvSpPr>
          <p:nvPr>
            <p:ph idx="1"/>
          </p:nvPr>
        </p:nvSpPr>
        <p:spPr/>
        <p:txBody>
          <a:bodyPr/>
          <a:lstStyle/>
          <a:p>
            <a:endParaRPr lang="en-US" altLang="en-US" dirty="0" smtClean="0">
              <a:latin typeface="Calibri" panose="020F0502020204030204" pitchFamily="34" charset="0"/>
              <a:ea typeface="Calibri" panose="020F0502020204030204" pitchFamily="34" charset="0"/>
              <a:cs typeface="Times New Roman" panose="02020603050405020304" pitchFamily="18" charset="0"/>
            </a:endParaRPr>
          </a:p>
          <a:p>
            <a:endParaRPr lang="en-US" altLang="en-US" dirty="0">
              <a:latin typeface="Calibri" panose="020F0502020204030204" pitchFamily="34" charset="0"/>
              <a:ea typeface="Calibri" panose="020F0502020204030204" pitchFamily="34" charset="0"/>
              <a:cs typeface="Times New Roman" panose="02020603050405020304" pitchFamily="18" charset="0"/>
            </a:endParaRPr>
          </a:p>
          <a:p>
            <a:endParaRPr lang="en-US" altLang="en-US" dirty="0" smtClean="0">
              <a:latin typeface="Calibri" panose="020F0502020204030204" pitchFamily="34" charset="0"/>
              <a:ea typeface="Calibri" panose="020F0502020204030204" pitchFamily="34" charset="0"/>
              <a:cs typeface="Times New Roman" panose="02020603050405020304" pitchFamily="18" charset="0"/>
            </a:endParaRPr>
          </a:p>
          <a:p>
            <a:endParaRPr lang="en-US" altLang="en-US" dirty="0">
              <a:latin typeface="Calibri" panose="020F0502020204030204" pitchFamily="34" charset="0"/>
              <a:ea typeface="Calibri" panose="020F0502020204030204" pitchFamily="34" charset="0"/>
              <a:cs typeface="Times New Roman" panose="02020603050405020304" pitchFamily="18" charset="0"/>
            </a:endParaRPr>
          </a:p>
          <a:p>
            <a:endParaRPr lang="en-US" altLang="en-US" dirty="0" smtClean="0">
              <a:latin typeface="Calibri" panose="020F0502020204030204" pitchFamily="34" charset="0"/>
              <a:ea typeface="Calibri" panose="020F0502020204030204" pitchFamily="34" charset="0"/>
              <a:cs typeface="Times New Roman" panose="02020603050405020304" pitchFamily="18" charset="0"/>
            </a:endParaRPr>
          </a:p>
          <a:p>
            <a:r>
              <a:rPr lang="en-US" altLang="en-US" dirty="0" smtClean="0">
                <a:latin typeface="Calibri" panose="020F0502020204030204" pitchFamily="34" charset="0"/>
                <a:ea typeface="Calibri" panose="020F0502020204030204" pitchFamily="34" charset="0"/>
                <a:cs typeface="Times New Roman" panose="02020603050405020304" pitchFamily="18" charset="0"/>
              </a:rPr>
              <a:t>"</a:t>
            </a:r>
            <a:r>
              <a:rPr lang="en-US" altLang="en-US" dirty="0">
                <a:latin typeface="Calibri" panose="020F0502020204030204" pitchFamily="34" charset="0"/>
                <a:ea typeface="Calibri" panose="020F0502020204030204" pitchFamily="34" charset="0"/>
                <a:cs typeface="Times New Roman" panose="02020603050405020304" pitchFamily="18" charset="0"/>
              </a:rPr>
              <a:t>Do not kill yourself inside our store after finishing your drink", says the cup</a:t>
            </a:r>
            <a:r>
              <a:rPr lang="en-US" altLang="en-US" dirty="0" smtClean="0">
                <a:latin typeface="Calibri" panose="020F0502020204030204" pitchFamily="34" charset="0"/>
                <a:ea typeface="Calibri" panose="020F0502020204030204" pitchFamily="34" charset="0"/>
                <a:cs typeface="Times New Roman" panose="02020603050405020304" pitchFamily="18" charset="0"/>
              </a:rPr>
              <a:t>.</a:t>
            </a:r>
            <a:endParaRPr lang="en-US" altLang="en-US" dirty="0"/>
          </a:p>
        </p:txBody>
      </p:sp>
      <p:pic>
        <p:nvPicPr>
          <p:cNvPr id="1027" name="Picture 15" descr="http://elephant-room.com/wp-content/uploads/2017/05/timg-9.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8875" y="1417638"/>
            <a:ext cx="2803525" cy="28035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14" descr="http://elephant-room.com/wp-content/uploads/2017/05/e2c83d3bd19903d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181" y="1279525"/>
            <a:ext cx="2095500" cy="28733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7"/>
          <p:cNvSpPr>
            <a:spLocks noChangeArrowheads="1"/>
          </p:cNvSpPr>
          <p:nvPr/>
        </p:nvSpPr>
        <p:spPr bwMode="auto">
          <a:xfrm>
            <a:off x="0" y="8183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Some of the drinks on the menu are named such as "Wasting-life Green Tea", "Failed-another-diet Latte", and "Can't-afford-to-buy-house Macchiato".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2328739"/>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pic>
        <p:nvPicPr>
          <p:cNvPr id="4" name="Picture 13" descr="http://elephant-room.com/wp-content/uploads/2017/05/Screen-Shot-2017-05-07-at-9.14.14-PM.pn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22231" y="274638"/>
            <a:ext cx="6292023" cy="339661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857375" y="4114803"/>
            <a:ext cx="7286625" cy="2644827"/>
          </a:xfrm>
          <a:prstGeom prst="rect">
            <a:avLst/>
          </a:prstGeom>
        </p:spPr>
        <p:txBody>
          <a:bodyPr wrap="square">
            <a:spAutoFit/>
          </a:bodyPr>
          <a:lstStyle/>
          <a:p>
            <a:pPr>
              <a:lnSpc>
                <a:spcPct val="115000"/>
              </a:lnSpc>
              <a:spcAft>
                <a:spcPts val="1000"/>
              </a:spcAft>
            </a:pPr>
            <a:r>
              <a:rPr lang="en-IN" b="1" dirty="0">
                <a:ea typeface="Calibri" panose="020F0502020204030204" pitchFamily="34" charset="0"/>
                <a:cs typeface="Times New Roman" panose="02020603050405020304" pitchFamily="18" charset="0"/>
              </a:rPr>
              <a:t>"Wasting-life Green Tea", </a:t>
            </a:r>
            <a:endParaRPr lang="en-IN" b="1" dirty="0" smtClean="0">
              <a:ea typeface="Calibri" panose="020F0502020204030204" pitchFamily="34" charset="0"/>
              <a:cs typeface="Times New Roman" panose="02020603050405020304" pitchFamily="18" charset="0"/>
            </a:endParaRPr>
          </a:p>
          <a:p>
            <a:pPr>
              <a:lnSpc>
                <a:spcPct val="115000"/>
              </a:lnSpc>
              <a:spcAft>
                <a:spcPts val="1000"/>
              </a:spcAft>
            </a:pPr>
            <a:r>
              <a:rPr lang="en-IN" b="1" dirty="0" smtClean="0">
                <a:ea typeface="Calibri" panose="020F0502020204030204" pitchFamily="34" charset="0"/>
                <a:cs typeface="Times New Roman" panose="02020603050405020304" pitchFamily="18" charset="0"/>
              </a:rPr>
              <a:t>"</a:t>
            </a:r>
            <a:r>
              <a:rPr lang="en-IN" b="1" dirty="0">
                <a:ea typeface="Calibri" panose="020F0502020204030204" pitchFamily="34" charset="0"/>
                <a:cs typeface="Times New Roman" panose="02020603050405020304" pitchFamily="18" charset="0"/>
              </a:rPr>
              <a:t>Failed-another-diet </a:t>
            </a:r>
            <a:r>
              <a:rPr lang="en-IN" b="1" dirty="0" smtClean="0">
                <a:ea typeface="Calibri" panose="020F0502020204030204" pitchFamily="34" charset="0"/>
                <a:cs typeface="Times New Roman" panose="02020603050405020304" pitchFamily="18" charset="0"/>
              </a:rPr>
              <a:t>Latte“</a:t>
            </a:r>
          </a:p>
          <a:p>
            <a:pPr>
              <a:lnSpc>
                <a:spcPct val="115000"/>
              </a:lnSpc>
              <a:spcAft>
                <a:spcPts val="1000"/>
              </a:spcAft>
            </a:pPr>
            <a:r>
              <a:rPr lang="en-IN" b="1" dirty="0" smtClean="0">
                <a:ea typeface="Calibri" panose="020F0502020204030204" pitchFamily="34" charset="0"/>
                <a:cs typeface="Times New Roman" panose="02020603050405020304" pitchFamily="18" charset="0"/>
              </a:rPr>
              <a:t> </a:t>
            </a:r>
            <a:r>
              <a:rPr lang="en-IN" b="1" dirty="0">
                <a:ea typeface="Calibri" panose="020F0502020204030204" pitchFamily="34" charset="0"/>
                <a:cs typeface="Times New Roman" panose="02020603050405020304" pitchFamily="18" charset="0"/>
              </a:rPr>
              <a:t>"Can't-afford-to-buy-house Macchiato</a:t>
            </a:r>
            <a:r>
              <a:rPr lang="en-IN" b="1" dirty="0" smtClean="0">
                <a:ea typeface="Calibri" panose="020F0502020204030204" pitchFamily="34" charset="0"/>
                <a:cs typeface="Times New Roman" panose="02020603050405020304" pitchFamily="18" charset="0"/>
              </a:rPr>
              <a:t>".</a:t>
            </a:r>
          </a:p>
          <a:p>
            <a:pPr>
              <a:lnSpc>
                <a:spcPct val="115000"/>
              </a:lnSpc>
              <a:spcAft>
                <a:spcPts val="1000"/>
              </a:spcAft>
            </a:pPr>
            <a:r>
              <a:rPr lang="en-IN" b="1" dirty="0"/>
              <a:t>“achieved-absolutely-nothing black tea,” </a:t>
            </a:r>
            <a:endParaRPr lang="en-IN" b="1" dirty="0" smtClean="0"/>
          </a:p>
          <a:p>
            <a:pPr>
              <a:lnSpc>
                <a:spcPct val="115000"/>
              </a:lnSpc>
              <a:spcAft>
                <a:spcPts val="1000"/>
              </a:spcAft>
            </a:pPr>
            <a:r>
              <a:rPr lang="en-IN" b="1" dirty="0" smtClean="0"/>
              <a:t>“</a:t>
            </a:r>
            <a:r>
              <a:rPr lang="en-IN" b="1" dirty="0"/>
              <a:t>my-ex’s-life-is-better-than-mine fruit tea.”</a:t>
            </a:r>
          </a:p>
          <a:p>
            <a:pPr>
              <a:lnSpc>
                <a:spcPct val="115000"/>
              </a:lnSpc>
              <a:spcAft>
                <a:spcPts val="1000"/>
              </a:spcAft>
            </a:pPr>
            <a:endParaRPr lang="en-IN" b="1"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72818668"/>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068387"/>
          </a:xfrm>
        </p:spPr>
        <p:txBody>
          <a:bodyPr/>
          <a:lstStyle/>
          <a:p>
            <a:r>
              <a:rPr lang="en-IN" b="1" u="sng" dirty="0" smtClean="0"/>
              <a:t>RENT A GIRLFRIEND </a:t>
            </a:r>
            <a:endParaRPr lang="en-IN" b="1" u="sng" dirty="0"/>
          </a:p>
        </p:txBody>
      </p:sp>
      <p:sp>
        <p:nvSpPr>
          <p:cNvPr id="3" name="Content Placeholder 2"/>
          <p:cNvSpPr>
            <a:spLocks noGrp="1"/>
          </p:cNvSpPr>
          <p:nvPr>
            <p:ph idx="1"/>
          </p:nvPr>
        </p:nvSpPr>
        <p:spPr/>
        <p:txBody>
          <a:bodyPr/>
          <a:lstStyle/>
          <a:p>
            <a:r>
              <a:rPr lang="en-IN" dirty="0" smtClean="0"/>
              <a:t>Or Boy Friend</a:t>
            </a:r>
            <a:endParaRPr lang="en-IN" dirty="0"/>
          </a:p>
        </p:txBody>
      </p:sp>
    </p:spTree>
    <p:extLst>
      <p:ext uri="{BB962C8B-B14F-4D97-AF65-F5344CB8AC3E}">
        <p14:creationId xmlns:p14="http://schemas.microsoft.com/office/powerpoint/2010/main" val="2497170164"/>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211262"/>
          </a:xfrm>
        </p:spPr>
        <p:txBody>
          <a:bodyPr/>
          <a:lstStyle/>
          <a:p>
            <a:r>
              <a:rPr lang="en-IN" b="1" i="1" u="sng" smtClean="0"/>
              <a:t>Sheng Nu</a:t>
            </a:r>
            <a:r>
              <a:rPr lang="en-IN" b="1" i="1" u="sng" dirty="0" smtClean="0"/>
              <a:t>: </a:t>
            </a:r>
            <a:r>
              <a:rPr lang="en-IN" b="1" u="sng" dirty="0" smtClean="0"/>
              <a:t>LEFTOVER WOMEN</a:t>
            </a:r>
            <a:endParaRPr lang="en-IN" b="1" u="sng" dirty="0"/>
          </a:p>
        </p:txBody>
      </p:sp>
      <p:sp>
        <p:nvSpPr>
          <p:cNvPr id="3" name="Content Placeholder 2"/>
          <p:cNvSpPr>
            <a:spLocks noGrp="1"/>
          </p:cNvSpPr>
          <p:nvPr>
            <p:ph idx="1"/>
          </p:nvPr>
        </p:nvSpPr>
        <p:spPr/>
        <p:txBody>
          <a:bodyPr>
            <a:normAutofit fontScale="92500" lnSpcReduction="20000"/>
          </a:bodyPr>
          <a:lstStyle/>
          <a:p>
            <a:r>
              <a:rPr lang="en-IN" dirty="0" smtClean="0"/>
              <a:t>Globally 107:103 vs 120: 100</a:t>
            </a:r>
          </a:p>
          <a:p>
            <a:r>
              <a:rPr lang="en-IN" dirty="0" smtClean="0"/>
              <a:t>The </a:t>
            </a:r>
            <a:r>
              <a:rPr lang="en-IN" dirty="0" err="1" smtClean="0"/>
              <a:t>Term,,,,,No</a:t>
            </a:r>
            <a:r>
              <a:rPr lang="en-IN" dirty="0" smtClean="0"/>
              <a:t> Longer Negative….. But successful.</a:t>
            </a:r>
          </a:p>
          <a:p>
            <a:endParaRPr lang="en-IN" dirty="0" smtClean="0"/>
          </a:p>
          <a:p>
            <a:r>
              <a:rPr lang="en-IN" dirty="0" smtClean="0"/>
              <a:t>"</a:t>
            </a:r>
            <a:r>
              <a:rPr lang="en-IN" dirty="0"/>
              <a:t>There is an opinion that A-quality guys will find B-quality women, B-quality guys will find C-quality women, and C-quality men will find D-quality </a:t>
            </a:r>
            <a:r>
              <a:rPr lang="en-IN" dirty="0" smtClean="0"/>
              <a:t>women, The </a:t>
            </a:r>
            <a:r>
              <a:rPr lang="en-IN" dirty="0"/>
              <a:t>people left are A-quality women and D-quality men. So if you are a leftover woman, you are A-quality."</a:t>
            </a:r>
          </a:p>
          <a:p>
            <a:endParaRPr lang="en-IN" dirty="0" smtClean="0"/>
          </a:p>
          <a:p>
            <a:endParaRPr lang="en-IN" dirty="0" smtClean="0"/>
          </a:p>
          <a:p>
            <a:r>
              <a:rPr lang="en-IN" dirty="0" smtClean="0"/>
              <a:t>Similarly </a:t>
            </a:r>
            <a:r>
              <a:rPr lang="en-IN" i="1" dirty="0" smtClean="0"/>
              <a:t>Sheng nan </a:t>
            </a:r>
            <a:r>
              <a:rPr lang="en-IN" dirty="0" smtClean="0"/>
              <a:t>and </a:t>
            </a:r>
            <a:r>
              <a:rPr lang="en-IN" i="1" dirty="0" err="1" smtClean="0"/>
              <a:t>Guang</a:t>
            </a:r>
            <a:r>
              <a:rPr lang="en-IN" i="1" dirty="0" smtClean="0"/>
              <a:t> Gun (bare branches)</a:t>
            </a:r>
            <a:endParaRPr lang="en-IN" dirty="0"/>
          </a:p>
        </p:txBody>
      </p:sp>
    </p:spTree>
    <p:extLst>
      <p:ext uri="{BB962C8B-B14F-4D97-AF65-F5344CB8AC3E}">
        <p14:creationId xmlns:p14="http://schemas.microsoft.com/office/powerpoint/2010/main" val="646906119"/>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IN" u="sng" dirty="0" smtClean="0"/>
              <a:t>P2P LENDING </a:t>
            </a:r>
            <a:endParaRPr lang="en-IN" u="sng" dirty="0"/>
          </a:p>
        </p:txBody>
      </p:sp>
      <p:sp>
        <p:nvSpPr>
          <p:cNvPr id="3" name="Content Placeholder 2"/>
          <p:cNvSpPr>
            <a:spLocks noGrp="1"/>
          </p:cNvSpPr>
          <p:nvPr>
            <p:ph idx="1"/>
          </p:nvPr>
        </p:nvSpPr>
        <p:spPr/>
        <p:txBody>
          <a:bodyPr/>
          <a:lstStyle/>
          <a:p>
            <a:r>
              <a:rPr lang="en-IN" dirty="0" smtClean="0"/>
              <a:t>The </a:t>
            </a:r>
            <a:r>
              <a:rPr lang="en-IN" dirty="0" err="1" smtClean="0"/>
              <a:t>Jiedaibao</a:t>
            </a:r>
            <a:r>
              <a:rPr lang="en-IN" dirty="0" smtClean="0"/>
              <a:t> case.</a:t>
            </a:r>
          </a:p>
          <a:p>
            <a:r>
              <a:rPr lang="en-IN" dirty="0" smtClean="0"/>
              <a:t>30</a:t>
            </a:r>
            <a:r>
              <a:rPr lang="en-IN" smtClean="0"/>
              <a:t>% Interest Rates</a:t>
            </a:r>
            <a:endParaRPr lang="en-IN" dirty="0"/>
          </a:p>
        </p:txBody>
      </p:sp>
    </p:spTree>
    <p:extLst>
      <p:ext uri="{BB962C8B-B14F-4D97-AF65-F5344CB8AC3E}">
        <p14:creationId xmlns:p14="http://schemas.microsoft.com/office/powerpoint/2010/main" val="3177595224"/>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1" dirty="0" smtClean="0">
                <a:solidFill>
                  <a:schemeClr val="bg1"/>
                </a:solidFill>
              </a:rPr>
              <a:t>笑贫不笑娼</a:t>
            </a:r>
            <a:endParaRPr lang="en-US" b="1" dirty="0">
              <a:solidFill>
                <a:schemeClr val="bg1"/>
              </a:solidFill>
            </a:endParaRPr>
          </a:p>
        </p:txBody>
      </p:sp>
      <p:sp>
        <p:nvSpPr>
          <p:cNvPr id="3" name="Content Placeholder 2"/>
          <p:cNvSpPr>
            <a:spLocks noGrp="1"/>
          </p:cNvSpPr>
          <p:nvPr>
            <p:ph idx="1"/>
          </p:nvPr>
        </p:nvSpPr>
        <p:spPr>
          <a:xfrm>
            <a:off x="1957388" y="1557339"/>
            <a:ext cx="8253412" cy="4568826"/>
          </a:xfrm>
        </p:spPr>
        <p:txBody>
          <a:bodyPr/>
          <a:lstStyle/>
          <a:p>
            <a:pPr>
              <a:buNone/>
            </a:pPr>
            <a:r>
              <a:rPr lang="en-US" b="1" dirty="0" smtClean="0"/>
              <a:t>			</a:t>
            </a:r>
            <a:r>
              <a:rPr lang="en-US" b="1" dirty="0" err="1" smtClean="0"/>
              <a:t>Xiào</a:t>
            </a:r>
            <a:r>
              <a:rPr lang="en-US" b="1" dirty="0" smtClean="0"/>
              <a:t> </a:t>
            </a:r>
            <a:r>
              <a:rPr lang="en-US" b="1" dirty="0" err="1" smtClean="0"/>
              <a:t>pín</a:t>
            </a:r>
            <a:r>
              <a:rPr lang="en-US" b="1" dirty="0" smtClean="0"/>
              <a:t> </a:t>
            </a:r>
            <a:r>
              <a:rPr lang="en-US" b="1" dirty="0" err="1" smtClean="0"/>
              <a:t>bù</a:t>
            </a:r>
            <a:r>
              <a:rPr lang="en-US" b="1" dirty="0" smtClean="0"/>
              <a:t> </a:t>
            </a:r>
            <a:r>
              <a:rPr lang="en-US" b="1" dirty="0" err="1" smtClean="0"/>
              <a:t>xiào</a:t>
            </a:r>
            <a:r>
              <a:rPr lang="en-US" b="1" dirty="0" smtClean="0"/>
              <a:t> </a:t>
            </a:r>
            <a:r>
              <a:rPr lang="en-US" b="1" dirty="0" err="1" smtClean="0"/>
              <a:t>chāng</a:t>
            </a:r>
            <a:endParaRPr lang="en-US" b="1" dirty="0" smtClean="0"/>
          </a:p>
          <a:p>
            <a:pPr algn="ctr">
              <a:buNone/>
            </a:pPr>
            <a:r>
              <a:rPr lang="en-US" b="1" dirty="0" smtClean="0"/>
              <a:t>(Despise poverty not prostitution)</a:t>
            </a:r>
            <a:endParaRPr lang="en-US" b="1" dirty="0"/>
          </a:p>
        </p:txBody>
      </p:sp>
    </p:spTree>
    <p:extLst>
      <p:ext uri="{BB962C8B-B14F-4D97-AF65-F5344CB8AC3E}">
        <p14:creationId xmlns:p14="http://schemas.microsoft.com/office/powerpoint/2010/main" val="2013151533"/>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60746"/>
            <a:ext cx="10972800" cy="1168400"/>
          </a:xfrm>
        </p:spPr>
        <p:txBody>
          <a:bodyPr/>
          <a:lstStyle/>
          <a:p>
            <a:r>
              <a:rPr lang="en-IN" dirty="0" smtClean="0"/>
              <a:t>THANK YOU</a:t>
            </a:r>
            <a:endParaRPr lang="en-IN" dirty="0"/>
          </a:p>
        </p:txBody>
      </p:sp>
    </p:spTree>
    <p:extLst>
      <p:ext uri="{BB962C8B-B14F-4D97-AF65-F5344CB8AC3E}">
        <p14:creationId xmlns:p14="http://schemas.microsoft.com/office/powerpoint/2010/main" val="277129221"/>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2494</TotalTime>
  <Words>1224</Words>
  <Application>Microsoft Office PowerPoint</Application>
  <PresentationFormat>Widescreen</PresentationFormat>
  <Paragraphs>147</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ＭＳ Ｐゴシック</vt:lpstr>
      <vt:lpstr>宋体</vt:lpstr>
      <vt:lpstr>Arial</vt:lpstr>
      <vt:lpstr>Calibri</vt:lpstr>
      <vt:lpstr>Tahoma</vt:lpstr>
      <vt:lpstr>Times New Roman</vt:lpstr>
      <vt:lpstr>Wingdings</vt:lpstr>
      <vt:lpstr>1_Office Theme</vt:lpstr>
      <vt:lpstr>PowerPoint Presentation</vt:lpstr>
      <vt:lpstr>HU KOU</vt:lpstr>
      <vt:lpstr>PowerPoint Presentation</vt:lpstr>
      <vt:lpstr>QU DAGONG</vt:lpstr>
      <vt:lpstr>GAO KAO(高考)</vt:lpstr>
      <vt:lpstr> </vt:lpstr>
      <vt:lpstr>PowerPoint Presentation</vt:lpstr>
      <vt:lpstr>PLANNED BIRTH POLICY</vt:lpstr>
      <vt:lpstr>CHINA VS INDIA: AGE &amp; POPULATION STRUCTURE 2000-35</vt:lpstr>
      <vt:lpstr>ETHNIC ISSUES</vt:lpstr>
      <vt:lpstr>TREATMENT OF MINORITIES IN CHINA</vt:lpstr>
      <vt:lpstr>RELIGION</vt:lpstr>
      <vt:lpstr>PowerPoint Presentation</vt:lpstr>
      <vt:lpstr>EXTREMELY SUPERSTITIOUS</vt:lpstr>
      <vt:lpstr>PowerPoint Presentation</vt:lpstr>
      <vt:lpstr>CONFUCIANISM</vt:lpstr>
      <vt:lpstr>PowerPoint Presentation</vt:lpstr>
      <vt:lpstr>IN BROAD</vt:lpstr>
      <vt:lpstr>社会信用体系  (Shèhuì xìnyòng tǐxì)  “Social Credit system.” </vt:lpstr>
      <vt:lpstr>PowerPoint Presentation</vt:lpstr>
      <vt:lpstr>ONE CHILD POLICY</vt:lpstr>
      <vt:lpstr>Li Ziqi, the Chinese internet celebrity with 58 million fans </vt:lpstr>
      <vt:lpstr>Li Ziqi Channel</vt:lpstr>
      <vt:lpstr>PowerPoint Presentation</vt:lpstr>
      <vt:lpstr>PowerPoint Presentation</vt:lpstr>
      <vt:lpstr>CULTURE OF SANG</vt:lpstr>
      <vt:lpstr>EMOJI: GUDETAMA</vt:lpstr>
      <vt:lpstr>PowerPoint Presentation</vt:lpstr>
      <vt:lpstr>OPPORTUNISTIC</vt:lpstr>
      <vt:lpstr>PowerPoint Presentation</vt:lpstr>
      <vt:lpstr>RENT A GIRLFRIEND </vt:lpstr>
      <vt:lpstr>Sheng Nu: LEFTOVER WOMEN</vt:lpstr>
      <vt:lpstr>P2P LENDING </vt:lpstr>
      <vt:lpstr>笑贫不笑娼</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ISSUES</dc:title>
  <dc:creator>G Jaishankar</dc:creator>
  <cp:lastModifiedBy>G Jaishankar</cp:lastModifiedBy>
  <cp:revision>42</cp:revision>
  <dcterms:created xsi:type="dcterms:W3CDTF">2019-08-03T13:17:15Z</dcterms:created>
  <dcterms:modified xsi:type="dcterms:W3CDTF">2020-02-10T06:50:50Z</dcterms:modified>
</cp:coreProperties>
</file>