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61" r:id="rId3"/>
    <p:sldId id="278" r:id="rId4"/>
    <p:sldId id="256" r:id="rId5"/>
    <p:sldId id="259" r:id="rId6"/>
    <p:sldId id="273" r:id="rId7"/>
    <p:sldId id="257" r:id="rId8"/>
    <p:sldId id="274" r:id="rId9"/>
    <p:sldId id="279" r:id="rId10"/>
    <p:sldId id="275" r:id="rId11"/>
    <p:sldId id="258" r:id="rId12"/>
    <p:sldId id="272" r:id="rId13"/>
    <p:sldId id="262" r:id="rId14"/>
    <p:sldId id="276" r:id="rId15"/>
    <p:sldId id="263" r:id="rId16"/>
    <p:sldId id="270" r:id="rId17"/>
    <p:sldId id="271" r:id="rId18"/>
    <p:sldId id="264" r:id="rId19"/>
    <p:sldId id="280" r:id="rId20"/>
    <p:sldId id="266" r:id="rId21"/>
    <p:sldId id="265" r:id="rId22"/>
    <p:sldId id="281" r:id="rId23"/>
    <p:sldId id="268" r:id="rId24"/>
    <p:sldId id="269" r:id="rId25"/>
    <p:sldId id="267" r:id="rId26"/>
    <p:sldId id="282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54" d="100"/>
          <a:sy n="54" d="100"/>
        </p:scale>
        <p:origin x="677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1C6E7-7C22-4BDC-8139-37057F3953B4}" type="datetimeFigureOut">
              <a:rPr lang="en-IN" smtClean="0"/>
              <a:t>15-11-2019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67315-4931-46F2-83FD-9CD046CA4B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8998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1C6E7-7C22-4BDC-8139-37057F3953B4}" type="datetimeFigureOut">
              <a:rPr lang="en-IN" smtClean="0"/>
              <a:t>15-11-2019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67315-4931-46F2-83FD-9CD046CA4B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0186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1C6E7-7C22-4BDC-8139-37057F3953B4}" type="datetimeFigureOut">
              <a:rPr lang="en-IN" smtClean="0"/>
              <a:t>15-11-2019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67315-4931-46F2-83FD-9CD046CA4B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76057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1C6E7-7C22-4BDC-8139-37057F3953B4}" type="datetimeFigureOut">
              <a:rPr lang="en-IN" smtClean="0"/>
              <a:t>15-11-2019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67315-4931-46F2-83FD-9CD046CA4B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31900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1C6E7-7C22-4BDC-8139-37057F3953B4}" type="datetimeFigureOut">
              <a:rPr lang="en-IN" smtClean="0"/>
              <a:t>15-11-2019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67315-4931-46F2-83FD-9CD046CA4B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24762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1C6E7-7C22-4BDC-8139-37057F3953B4}" type="datetimeFigureOut">
              <a:rPr lang="en-IN" smtClean="0"/>
              <a:t>15-11-2019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67315-4931-46F2-83FD-9CD046CA4B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29041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1C6E7-7C22-4BDC-8139-37057F3953B4}" type="datetimeFigureOut">
              <a:rPr lang="en-IN" smtClean="0"/>
              <a:t>15-11-2019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67315-4931-46F2-83FD-9CD046CA4B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15980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1C6E7-7C22-4BDC-8139-37057F3953B4}" type="datetimeFigureOut">
              <a:rPr lang="en-IN" smtClean="0"/>
              <a:t>15-11-2019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67315-4931-46F2-83FD-9CD046CA4B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87547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1C6E7-7C22-4BDC-8139-37057F3953B4}" type="datetimeFigureOut">
              <a:rPr lang="en-IN" smtClean="0"/>
              <a:t>15-11-2019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67315-4931-46F2-83FD-9CD046CA4B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75446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1C6E7-7C22-4BDC-8139-37057F3953B4}" type="datetimeFigureOut">
              <a:rPr lang="en-IN" smtClean="0"/>
              <a:t>15-11-2019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67315-4931-46F2-83FD-9CD046CA4B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95369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1C6E7-7C22-4BDC-8139-37057F3953B4}" type="datetimeFigureOut">
              <a:rPr lang="en-IN" smtClean="0"/>
              <a:t>15-11-2019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67315-4931-46F2-83FD-9CD046CA4B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8307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11C6E7-7C22-4BDC-8139-37057F3953B4}" type="datetimeFigureOut">
              <a:rPr lang="en-IN" smtClean="0"/>
              <a:t>15-11-2019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E67315-4931-46F2-83FD-9CD046CA4B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30487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Jq5SObMdV3o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0UuDiL9CLPI" TargetMode="Externa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eaIPXs11xIM&amp;list=RDQMBHBfEgumlBM&amp;index=4" TargetMode="External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7sRQGlpCPNY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ezFPH9Pna0E" TargetMode="Externa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E8SL0A5fcD0" TargetMode="Externa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hyperlink" Target="https://www.youtube.com/watch?v=v4_AaZwv-mo" TargetMode="Externa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r>
              <a:rPr lang="en-IN" b="1" dirty="0" smtClean="0"/>
              <a:t>FOUR ARTS 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7017649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277938"/>
          </a:xfrm>
        </p:spPr>
        <p:txBody>
          <a:bodyPr/>
          <a:lstStyle/>
          <a:p>
            <a:pPr algn="ctr"/>
            <a:r>
              <a:rPr lang="en-IN" b="1" u="sng" dirty="0" smtClean="0"/>
              <a:t>TO BE CALLED A REFINED GENTLEMAN</a:t>
            </a:r>
            <a:endParaRPr lang="en-IN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2962" y="1743075"/>
            <a:ext cx="10510837" cy="4433888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lang="en-IN" b="1" i="1" dirty="0" smtClean="0"/>
              <a:t>QIN---- GUQIN</a:t>
            </a:r>
            <a:r>
              <a:rPr lang="en-IN" b="1" dirty="0" smtClean="0"/>
              <a:t>.. PLAY A STRINGED INSTRUMENT. (ANY)</a:t>
            </a:r>
          </a:p>
          <a:p>
            <a:pPr>
              <a:lnSpc>
                <a:spcPct val="200000"/>
              </a:lnSpc>
            </a:pPr>
            <a:r>
              <a:rPr lang="en-IN" b="1" i="1" dirty="0" smtClean="0"/>
              <a:t>QI</a:t>
            </a:r>
            <a:r>
              <a:rPr lang="en-IN" b="1" dirty="0" smtClean="0"/>
              <a:t>.  THE STRATEGY GAME</a:t>
            </a:r>
          </a:p>
          <a:p>
            <a:pPr>
              <a:lnSpc>
                <a:spcPct val="200000"/>
              </a:lnSpc>
            </a:pPr>
            <a:r>
              <a:rPr lang="en-IN" b="1" i="1" dirty="0" smtClean="0"/>
              <a:t>SHU</a:t>
            </a:r>
            <a:r>
              <a:rPr lang="en-IN" b="1" dirty="0" smtClean="0"/>
              <a:t>– THE CALLIGRAPHY… WRITING AS AN ART FORM.</a:t>
            </a:r>
          </a:p>
          <a:p>
            <a:pPr>
              <a:lnSpc>
                <a:spcPct val="200000"/>
              </a:lnSpc>
            </a:pPr>
            <a:r>
              <a:rPr lang="en-IN" b="1" i="1" dirty="0" smtClean="0"/>
              <a:t>HUA</a:t>
            </a:r>
            <a:r>
              <a:rPr lang="en-IN" b="1" dirty="0" smtClean="0"/>
              <a:t>.– THE PAINTING.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6352560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250" y="314325"/>
            <a:ext cx="10496550" cy="1376363"/>
          </a:xfrm>
        </p:spPr>
        <p:txBody>
          <a:bodyPr/>
          <a:lstStyle/>
          <a:p>
            <a:pPr algn="ctr"/>
            <a:r>
              <a:rPr lang="en-IN" b="1" u="sng" dirty="0" smtClean="0"/>
              <a:t>Quite Unlike the Western Models of</a:t>
            </a:r>
            <a:endParaRPr lang="en-IN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8675" y="1785938"/>
            <a:ext cx="10525125" cy="4391025"/>
          </a:xfrm>
        </p:spPr>
        <p:txBody>
          <a:bodyPr/>
          <a:lstStyle/>
          <a:p>
            <a:r>
              <a:rPr lang="en-IN" dirty="0" smtClean="0"/>
              <a:t>The Battle of Waterloo was won </a:t>
            </a:r>
            <a:r>
              <a:rPr lang="en-IN" dirty="0" smtClean="0"/>
              <a:t>on the </a:t>
            </a:r>
            <a:r>
              <a:rPr lang="en-IN" dirty="0" smtClean="0"/>
              <a:t>playing fields of Eton…</a:t>
            </a:r>
          </a:p>
          <a:p>
            <a:endParaRPr lang="en-IN" dirty="0"/>
          </a:p>
          <a:p>
            <a:endParaRPr lang="en-IN" dirty="0" smtClean="0"/>
          </a:p>
          <a:p>
            <a:r>
              <a:rPr lang="en-IN" dirty="0" smtClean="0"/>
              <a:t>Contact sports.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943258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r>
              <a:rPr lang="en-IN" b="1" dirty="0" smtClean="0"/>
              <a:t>UNIQUELY CHINESE GAMES</a:t>
            </a:r>
            <a:endParaRPr lang="en-IN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65471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49375"/>
          </a:xfrm>
        </p:spPr>
        <p:txBody>
          <a:bodyPr/>
          <a:lstStyle/>
          <a:p>
            <a:pPr algn="ctr"/>
            <a:r>
              <a:rPr lang="en-IN" b="1" u="sng" dirty="0" smtClean="0"/>
              <a:t>BROAD OBSERVATIONS</a:t>
            </a:r>
            <a:endParaRPr lang="en-IN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7250" y="1785938"/>
            <a:ext cx="10496550" cy="4391025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IN" dirty="0" smtClean="0"/>
              <a:t>ABSTRACT STRATEGY.</a:t>
            </a:r>
          </a:p>
          <a:p>
            <a:pPr>
              <a:lnSpc>
                <a:spcPct val="150000"/>
              </a:lnSpc>
            </a:pPr>
            <a:r>
              <a:rPr lang="en-IN" dirty="0" smtClean="0"/>
              <a:t>FACE/ MIAN ZI ISSUES.</a:t>
            </a:r>
          </a:p>
          <a:p>
            <a:pPr>
              <a:lnSpc>
                <a:spcPct val="150000"/>
              </a:lnSpc>
            </a:pPr>
            <a:r>
              <a:rPr lang="en-IN" dirty="0" smtClean="0"/>
              <a:t>FLOW.</a:t>
            </a:r>
          </a:p>
          <a:p>
            <a:pPr>
              <a:lnSpc>
                <a:spcPct val="150000"/>
              </a:lnSpc>
            </a:pPr>
            <a:r>
              <a:rPr lang="en-IN" dirty="0" smtClean="0"/>
              <a:t>HAND EYE COORDINATION</a:t>
            </a:r>
          </a:p>
          <a:p>
            <a:pPr>
              <a:lnSpc>
                <a:spcPct val="150000"/>
              </a:lnSpc>
            </a:pPr>
            <a:r>
              <a:rPr lang="en-IN" dirty="0" smtClean="0"/>
              <a:t>BALANCE… YIN AND THE YANG.</a:t>
            </a:r>
          </a:p>
          <a:p>
            <a:pPr>
              <a:lnSpc>
                <a:spcPct val="150000"/>
              </a:lnSpc>
            </a:pPr>
            <a:r>
              <a:rPr lang="en-IN" dirty="0" smtClean="0"/>
              <a:t>NO CONTACT SPORTS.</a:t>
            </a:r>
          </a:p>
          <a:p>
            <a:pPr lvl="1">
              <a:lnSpc>
                <a:spcPct val="150000"/>
              </a:lnSpc>
            </a:pPr>
            <a:endParaRPr lang="en-IN" dirty="0" smtClean="0"/>
          </a:p>
          <a:p>
            <a:pPr lvl="1">
              <a:lnSpc>
                <a:spcPct val="150000"/>
              </a:lnSpc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946374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 descr="Finished Go Game Free Stock Photo - Public Domain Pictures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894" y="75822"/>
            <a:ext cx="8814304" cy="6610728"/>
          </a:xfrm>
        </p:spPr>
      </p:pic>
    </p:spTree>
    <p:extLst>
      <p:ext uri="{BB962C8B-B14F-4D97-AF65-F5344CB8AC3E}">
        <p14:creationId xmlns:p14="http://schemas.microsoft.com/office/powerpoint/2010/main" val="2686581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249363"/>
          </a:xfrm>
        </p:spPr>
        <p:txBody>
          <a:bodyPr/>
          <a:lstStyle/>
          <a:p>
            <a:pPr algn="ctr"/>
            <a:r>
              <a:rPr lang="en-IN" b="1" u="sng" dirty="0" smtClean="0"/>
              <a:t>WEI QI/GO</a:t>
            </a:r>
            <a:endParaRPr lang="en-IN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lnSpcReduction="10000"/>
          </a:bodyPr>
          <a:lstStyle/>
          <a:p>
            <a:r>
              <a:rPr lang="en-IN" dirty="0" smtClean="0"/>
              <a:t>ARISTOCRATIC.</a:t>
            </a:r>
          </a:p>
          <a:p>
            <a:r>
              <a:rPr lang="en-IN" dirty="0" smtClean="0"/>
              <a:t>ANCIENT, REFERRED TO IN ANALECTS.</a:t>
            </a:r>
          </a:p>
          <a:p>
            <a:r>
              <a:rPr lang="en-IN" dirty="0"/>
              <a:t>T</a:t>
            </a:r>
            <a:r>
              <a:rPr lang="en-IN" dirty="0" smtClean="0"/>
              <a:t>he </a:t>
            </a:r>
            <a:r>
              <a:rPr lang="en-IN" dirty="0"/>
              <a:t>most </a:t>
            </a:r>
            <a:r>
              <a:rPr lang="en-IN" dirty="0" smtClean="0"/>
              <a:t>famous </a:t>
            </a:r>
            <a:r>
              <a:rPr lang="en-IN" dirty="0"/>
              <a:t>(though not the oldest) go manual is the  </a:t>
            </a:r>
            <a:r>
              <a:rPr lang="en-IN" i="1" dirty="0" err="1"/>
              <a:t>Xuanxuan</a:t>
            </a:r>
            <a:r>
              <a:rPr lang="en-IN" i="1" dirty="0"/>
              <a:t> </a:t>
            </a:r>
            <a:r>
              <a:rPr lang="en-IN" i="1" dirty="0" err="1" smtClean="0"/>
              <a:t>Qijing</a:t>
            </a:r>
            <a:r>
              <a:rPr lang="en-IN" i="1" dirty="0" smtClean="0"/>
              <a:t>,</a:t>
            </a:r>
            <a:r>
              <a:rPr lang="en-IN" dirty="0" smtClean="0"/>
              <a:t> </a:t>
            </a:r>
            <a:r>
              <a:rPr lang="en-IN" dirty="0"/>
              <a:t>published in 1349 by Yan </a:t>
            </a:r>
            <a:r>
              <a:rPr lang="en-IN" dirty="0" err="1"/>
              <a:t>Defu</a:t>
            </a:r>
            <a:r>
              <a:rPr lang="en-IN" dirty="0"/>
              <a:t> and Yan </a:t>
            </a:r>
            <a:r>
              <a:rPr lang="en-IN" dirty="0" err="1"/>
              <a:t>Tianzhang</a:t>
            </a:r>
            <a:r>
              <a:rPr lang="en-IN" dirty="0"/>
              <a:t>. </a:t>
            </a:r>
            <a:endParaRPr lang="en-IN" dirty="0" smtClean="0"/>
          </a:p>
          <a:p>
            <a:r>
              <a:rPr lang="en-IN" dirty="0" smtClean="0"/>
              <a:t>PLACING BLACK AND WHITE STONES ON A GRID</a:t>
            </a:r>
          </a:p>
          <a:p>
            <a:pPr lvl="1"/>
            <a:r>
              <a:rPr lang="en-IN" dirty="0" smtClean="0"/>
              <a:t>19X19.</a:t>
            </a:r>
          </a:p>
          <a:p>
            <a:pPr lvl="1"/>
            <a:r>
              <a:rPr lang="en-IN" dirty="0" smtClean="0"/>
              <a:t>13X13</a:t>
            </a:r>
          </a:p>
          <a:p>
            <a:pPr lvl="1"/>
            <a:r>
              <a:rPr lang="en-IN" dirty="0" smtClean="0"/>
              <a:t>9X9</a:t>
            </a:r>
          </a:p>
          <a:p>
            <a:r>
              <a:rPr lang="en-IN" dirty="0" smtClean="0"/>
              <a:t>WINNER DECIDED BY TERRITORY COVERED.</a:t>
            </a:r>
          </a:p>
          <a:p>
            <a:r>
              <a:rPr lang="en-IN" dirty="0" smtClean="0"/>
              <a:t>EXTREMELY COMPLEX GAME. NO OF MOVES AT LEAST </a:t>
            </a:r>
            <a:r>
              <a:rPr lang="en-IN" dirty="0"/>
              <a:t>2 × </a:t>
            </a:r>
            <a:r>
              <a:rPr lang="en-IN" dirty="0" smtClean="0"/>
              <a:t>10</a:t>
            </a:r>
            <a:r>
              <a:rPr lang="en-IN" baseline="30000" dirty="0" smtClean="0"/>
              <a:t>170  </a:t>
            </a:r>
            <a:endParaRPr lang="en-IN" dirty="0" smtClean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384748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 descr="File:Go game (1907214193).jpg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496092"/>
            <a:ext cx="10406063" cy="6937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29916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Rectangle 3"/>
          <p:cNvSpPr/>
          <p:nvPr/>
        </p:nvSpPr>
        <p:spPr>
          <a:xfrm>
            <a:off x="1957388" y="3244332"/>
            <a:ext cx="740092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3600" dirty="0">
                <a:hlinkClick r:id="rId2"/>
              </a:rPr>
              <a:t>https://www.youtube.com/watch?v=Jq5SObMdV3o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9891332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71538" y="1828799"/>
            <a:ext cx="10482262" cy="4348163"/>
          </a:xfrm>
        </p:spPr>
        <p:txBody>
          <a:bodyPr/>
          <a:lstStyle/>
          <a:p>
            <a:pPr marL="0" indent="0">
              <a:buNone/>
            </a:pPr>
            <a:r>
              <a:rPr lang="en-IN" dirty="0" smtClean="0"/>
              <a:t>In 2016 Google’s </a:t>
            </a:r>
            <a:r>
              <a:rPr lang="en-IN" dirty="0" err="1" smtClean="0"/>
              <a:t>AlphaGo</a:t>
            </a:r>
            <a:r>
              <a:rPr lang="en-IN" dirty="0" smtClean="0"/>
              <a:t> beat Lee Se </a:t>
            </a:r>
            <a:r>
              <a:rPr lang="en-IN" dirty="0" err="1" smtClean="0"/>
              <a:t>Dol</a:t>
            </a:r>
            <a:r>
              <a:rPr lang="en-IN" dirty="0" smtClean="0"/>
              <a:t> (18 times world champion).</a:t>
            </a:r>
            <a:endParaRPr lang="en-IN" dirty="0"/>
          </a:p>
          <a:p>
            <a:pPr marL="0" indent="0">
              <a:buNone/>
            </a:pPr>
            <a:r>
              <a:rPr lang="en-IN" dirty="0" smtClean="0"/>
              <a:t>Go mimics human thought much more than any other game.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 err="1" smtClean="0"/>
              <a:t>AlphaGo</a:t>
            </a:r>
            <a:r>
              <a:rPr lang="en-IN" dirty="0" smtClean="0"/>
              <a:t> trained itself after playing with a bunch of amateurs.</a:t>
            </a:r>
          </a:p>
          <a:p>
            <a:pPr marL="0" indent="0">
              <a:buNone/>
            </a:pPr>
            <a:endParaRPr lang="en-IN" dirty="0" smtClean="0"/>
          </a:p>
          <a:p>
            <a:pPr marL="0" indent="0">
              <a:buNone/>
            </a:pPr>
            <a:r>
              <a:rPr lang="en-IN" dirty="0" smtClean="0"/>
              <a:t>End of the era of Computers vs Humans at Board Games.</a:t>
            </a:r>
          </a:p>
          <a:p>
            <a:pPr marL="0" indent="0">
              <a:buNone/>
            </a:pPr>
            <a:endParaRPr lang="en-IN" dirty="0" smtClean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353204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2853"/>
            <a:ext cx="10515600" cy="1362075"/>
          </a:xfrm>
        </p:spPr>
        <p:txBody>
          <a:bodyPr/>
          <a:lstStyle/>
          <a:p>
            <a:r>
              <a:rPr lang="en-IN" b="1" u="sng" dirty="0" smtClean="0">
                <a:solidFill>
                  <a:srgbClr val="FF0000"/>
                </a:solidFill>
              </a:rPr>
              <a:t>CHINESE CHESS/XIANG QI</a:t>
            </a:r>
            <a:endParaRPr lang="en-IN" b="1" u="sng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71538" y="1443038"/>
            <a:ext cx="12453937" cy="7034213"/>
          </a:xfrm>
        </p:spPr>
        <p:txBody>
          <a:bodyPr/>
          <a:lstStyle/>
          <a:p>
            <a:r>
              <a:rPr lang="en-IN" dirty="0" smtClean="0"/>
              <a:t>CHESS FOR COMMONERS. Differences:-</a:t>
            </a:r>
          </a:p>
          <a:p>
            <a:r>
              <a:rPr lang="en-IN" dirty="0" smtClean="0"/>
              <a:t>Played on intersections. (9x10), 16 pcs.</a:t>
            </a:r>
          </a:p>
          <a:p>
            <a:r>
              <a:rPr lang="en-IN" dirty="0" smtClean="0"/>
              <a:t>Palace and the River.</a:t>
            </a:r>
          </a:p>
          <a:p>
            <a:r>
              <a:rPr lang="en-IN" dirty="0" smtClean="0"/>
              <a:t>King lives in the palace,</a:t>
            </a:r>
          </a:p>
          <a:p>
            <a:r>
              <a:rPr lang="en-IN" dirty="0" smtClean="0"/>
              <a:t>Kings cannot face each other directly.</a:t>
            </a:r>
          </a:p>
          <a:p>
            <a:r>
              <a:rPr lang="en-IN" dirty="0" smtClean="0"/>
              <a:t>Cannon </a:t>
            </a:r>
            <a:r>
              <a:rPr lang="en-IN" dirty="0"/>
              <a:t>(</a:t>
            </a:r>
            <a:r>
              <a:rPr lang="en-IN" i="1" dirty="0" err="1"/>
              <a:t>pao</a:t>
            </a:r>
            <a:r>
              <a:rPr lang="en-IN" dirty="0"/>
              <a:t>), </a:t>
            </a:r>
            <a:r>
              <a:rPr lang="en-IN" dirty="0" smtClean="0"/>
              <a:t>must </a:t>
            </a:r>
            <a:r>
              <a:rPr lang="en-IN" dirty="0"/>
              <a:t>jump to </a:t>
            </a:r>
            <a:r>
              <a:rPr lang="en-IN" dirty="0" smtClean="0"/>
              <a:t>capture.</a:t>
            </a:r>
          </a:p>
          <a:p>
            <a:r>
              <a:rPr lang="en-IN" dirty="0" smtClean="0"/>
              <a:t>Soldiers have special moves after River</a:t>
            </a:r>
          </a:p>
          <a:p>
            <a:endParaRPr lang="en-IN" dirty="0"/>
          </a:p>
        </p:txBody>
      </p:sp>
      <p:pic>
        <p:nvPicPr>
          <p:cNvPr id="3074" name="Picture 2" descr="Xiangqi Board.sv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0913" y="1690688"/>
            <a:ext cx="4757738" cy="47550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324699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098" name="Picture 2" descr="https://upload.wikimedia.org/wikipedia/commons/thumb/2/27/2005-07-10_chinese_chess.JPG/190px-2005-07-10_chinese_chess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3313" y="157163"/>
            <a:ext cx="4986337" cy="54994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/>
          <p:cNvSpPr/>
          <p:nvPr/>
        </p:nvSpPr>
        <p:spPr>
          <a:xfrm>
            <a:off x="1885951" y="6056624"/>
            <a:ext cx="825817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800" dirty="0">
                <a:hlinkClick r:id="rId3"/>
              </a:rPr>
              <a:t>https://www.youtube.com/watch?v=0UuDiL9CLPI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910339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292225"/>
          </a:xfrm>
        </p:spPr>
        <p:txBody>
          <a:bodyPr/>
          <a:lstStyle/>
          <a:p>
            <a:pPr algn="ctr"/>
            <a:r>
              <a:rPr lang="en-IN" b="1" u="sng" dirty="0" smtClean="0"/>
              <a:t>MAH JONG </a:t>
            </a:r>
            <a:r>
              <a:rPr lang="ja-JP" altLang="en-US" b="1" u="sng" dirty="0"/>
              <a:t>麻将 </a:t>
            </a:r>
            <a:r>
              <a:rPr lang="en-US" altLang="ja-JP" b="1" u="sng" dirty="0"/>
              <a:t>(</a:t>
            </a:r>
            <a:r>
              <a:rPr lang="en-IN" b="1" i="1" u="sng" dirty="0" err="1" smtClean="0"/>
              <a:t>májiàng</a:t>
            </a:r>
            <a:r>
              <a:rPr lang="en-IN" b="1" i="1" u="sng" dirty="0" smtClean="0"/>
              <a:t>)</a:t>
            </a:r>
            <a:endParaRPr lang="en-IN" b="1" u="sng" dirty="0"/>
          </a:p>
        </p:txBody>
      </p:sp>
      <p:pic>
        <p:nvPicPr>
          <p:cNvPr id="4" name="Content Placeholder 3" descr="Japanese Mahjong - Wikipedia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6508" y="1811338"/>
            <a:ext cx="5801784" cy="4351338"/>
          </a:xfrm>
        </p:spPr>
      </p:pic>
    </p:spTree>
    <p:extLst>
      <p:ext uri="{BB962C8B-B14F-4D97-AF65-F5344CB8AC3E}">
        <p14:creationId xmlns:p14="http://schemas.microsoft.com/office/powerpoint/2010/main" val="42742942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0112" y="557205"/>
            <a:ext cx="10453687" cy="4376738"/>
          </a:xfrm>
        </p:spPr>
        <p:txBody>
          <a:bodyPr/>
          <a:lstStyle/>
          <a:p>
            <a:r>
              <a:rPr lang="en-IN" dirty="0" smtClean="0"/>
              <a:t>Tile based abstract strategy game.</a:t>
            </a:r>
          </a:p>
          <a:p>
            <a:r>
              <a:rPr lang="en-IN" dirty="0" smtClean="0"/>
              <a:t>Played with a set of 144 tiles</a:t>
            </a:r>
            <a:r>
              <a:rPr lang="en-IN" dirty="0" smtClean="0"/>
              <a:t>. (or other combinations). </a:t>
            </a:r>
            <a:endParaRPr lang="en-IN" dirty="0"/>
          </a:p>
          <a:p>
            <a:r>
              <a:rPr lang="en-IN" dirty="0" smtClean="0"/>
              <a:t>4 players given 13 tiles each.</a:t>
            </a:r>
          </a:p>
          <a:p>
            <a:r>
              <a:rPr lang="en-IN" dirty="0" smtClean="0"/>
              <a:t>Sets </a:t>
            </a:r>
            <a:r>
              <a:rPr lang="en-IN" dirty="0" smtClean="0"/>
              <a:t>and </a:t>
            </a:r>
            <a:r>
              <a:rPr lang="en-IN" dirty="0" smtClean="0"/>
              <a:t>pairs to </a:t>
            </a:r>
            <a:r>
              <a:rPr lang="en-IN" dirty="0" smtClean="0"/>
              <a:t>be completed. </a:t>
            </a:r>
            <a:endParaRPr lang="en-IN" dirty="0"/>
          </a:p>
          <a:p>
            <a:r>
              <a:rPr lang="en-IN" dirty="0" smtClean="0"/>
              <a:t>Different styles in various part of Asia.</a:t>
            </a:r>
            <a:endParaRPr lang="en-IN" dirty="0"/>
          </a:p>
        </p:txBody>
      </p:sp>
      <p:pic>
        <p:nvPicPr>
          <p:cNvPr id="1026" name="Picture 2" descr="Image result for mah jong completed boar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0979" y="3243263"/>
            <a:ext cx="5566296" cy="45171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010441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en-IN" b="1" u="sng" dirty="0" smtClean="0"/>
              <a:t>JIAN ZI/CHINESE SHUTTLEOCK</a:t>
            </a:r>
            <a:endParaRPr lang="en-IN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/>
              <a:t>毽</a:t>
            </a:r>
            <a:r>
              <a:rPr lang="ja-JP" altLang="en-US" dirty="0" smtClean="0"/>
              <a:t>子</a:t>
            </a:r>
            <a:r>
              <a:rPr lang="en-IN" altLang="ja-JP" dirty="0" smtClean="0"/>
              <a:t>. 2000 YEAR OLD GAME.</a:t>
            </a:r>
          </a:p>
          <a:p>
            <a:endParaRPr lang="en-IN" dirty="0"/>
          </a:p>
        </p:txBody>
      </p:sp>
      <p:pic>
        <p:nvPicPr>
          <p:cNvPr id="5" name="Picture 4" descr="Randomly Reading: The Year of the Monkey: Tales from the Chinese Zodiac ...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4275" y="2263775"/>
            <a:ext cx="3333750" cy="4048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84334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026" name="Picture 2" descr="https://blog.tutorming.com/hs-fs/hubfs/jianzi.jpg?width=600&amp;height=400&amp;name=jianzi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8275" y="244475"/>
            <a:ext cx="8734425" cy="5822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185522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 descr="Jianzi - Wikipedia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3025" y="100001"/>
            <a:ext cx="8858250" cy="6643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25314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en-IN" b="1" u="sng" dirty="0" smtClean="0"/>
              <a:t>TAI CHI</a:t>
            </a:r>
            <a:endParaRPr lang="en-IN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Also called Internal martial arts.</a:t>
            </a:r>
          </a:p>
          <a:p>
            <a:r>
              <a:rPr lang="en-IN" dirty="0" smtClean="0"/>
              <a:t>Health and meditative, besides self defence.</a:t>
            </a:r>
          </a:p>
          <a:p>
            <a:r>
              <a:rPr lang="en-IN" dirty="0" smtClean="0"/>
              <a:t>All trace their roots to Chen Family.. Shaanxi to Henan. (1374).</a:t>
            </a:r>
          </a:p>
          <a:p>
            <a:r>
              <a:rPr lang="en-IN" dirty="0" smtClean="0"/>
              <a:t>Developed by descendants… adding meditative and medical principles into the movements.</a:t>
            </a:r>
          </a:p>
          <a:p>
            <a:r>
              <a:rPr lang="en-IN" dirty="0" smtClean="0"/>
              <a:t>So now you have </a:t>
            </a:r>
            <a:r>
              <a:rPr lang="en-IN" dirty="0" err="1" smtClean="0"/>
              <a:t>Taichi</a:t>
            </a:r>
            <a:r>
              <a:rPr lang="en-IN" dirty="0" smtClean="0"/>
              <a:t> for weight loss, </a:t>
            </a:r>
            <a:r>
              <a:rPr lang="en-IN" dirty="0" err="1" smtClean="0"/>
              <a:t>Taichi</a:t>
            </a:r>
            <a:r>
              <a:rPr lang="en-IN" dirty="0" smtClean="0"/>
              <a:t> for elders, </a:t>
            </a:r>
            <a:r>
              <a:rPr lang="en-IN" dirty="0" err="1" smtClean="0"/>
              <a:t>taichi</a:t>
            </a:r>
            <a:r>
              <a:rPr lang="en-IN" dirty="0" smtClean="0"/>
              <a:t> for expectant mothers </a:t>
            </a:r>
            <a:r>
              <a:rPr lang="en-IN" dirty="0" err="1" smtClean="0"/>
              <a:t>etc</a:t>
            </a:r>
            <a:r>
              <a:rPr lang="en-IN" dirty="0" smtClean="0"/>
              <a:t> etc. Gentle and relieves stress.</a:t>
            </a:r>
          </a:p>
          <a:p>
            <a:r>
              <a:rPr lang="en-IN" dirty="0" smtClean="0"/>
              <a:t>Benefits have been scientifically documented. Like yoga.</a:t>
            </a:r>
          </a:p>
          <a:p>
            <a:endParaRPr lang="en-IN" dirty="0" smtClean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730867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 descr="World Tai Chi and Qigong Day | Flickr - Photo Sharing!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5044" y="496881"/>
            <a:ext cx="6521911" cy="4351338"/>
          </a:xfrm>
        </p:spPr>
      </p:pic>
      <p:sp>
        <p:nvSpPr>
          <p:cNvPr id="4" name="Rectangle 3"/>
          <p:cNvSpPr/>
          <p:nvPr/>
        </p:nvSpPr>
        <p:spPr>
          <a:xfrm>
            <a:off x="1014413" y="5577580"/>
            <a:ext cx="9529762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800" dirty="0">
                <a:hlinkClick r:id="rId3"/>
              </a:rPr>
              <a:t>https://www.youtube.com/watch?v=eaIPXs11xIM&amp;list=RDQMBHBfEgumlBM&amp;index=4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309881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en-IN" b="1" u="sng" dirty="0" smtClean="0"/>
              <a:t>CRICKET FIGHTING</a:t>
            </a:r>
            <a:endParaRPr lang="en-IN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92500" lnSpcReduction="10000"/>
          </a:bodyPr>
          <a:lstStyle/>
          <a:p>
            <a:r>
              <a:rPr lang="en-IN" dirty="0"/>
              <a:t>CRICKETS ARE TERRITORIAL INSECTS.</a:t>
            </a:r>
          </a:p>
          <a:p>
            <a:r>
              <a:rPr lang="en-IN" dirty="0"/>
              <a:t>Crickets are specially prepared for fights. It is not uncommon for a male cricket to be provided with females prior to a fight in order to rouse up his aggressive spirit. </a:t>
            </a:r>
            <a:endParaRPr lang="en-IN" dirty="0" smtClean="0"/>
          </a:p>
          <a:p>
            <a:r>
              <a:rPr lang="ja-JP" altLang="en-US" dirty="0" smtClean="0"/>
              <a:t>斗</a:t>
            </a:r>
            <a:r>
              <a:rPr lang="ja-JP" altLang="en-US" dirty="0" smtClean="0"/>
              <a:t>蛐蛐 </a:t>
            </a:r>
            <a:r>
              <a:rPr lang="en-US" altLang="ja-JP" dirty="0" smtClean="0"/>
              <a:t>(</a:t>
            </a:r>
            <a:r>
              <a:rPr lang="en-IN" dirty="0" smtClean="0"/>
              <a:t>DÒU QŪ QŪ).</a:t>
            </a:r>
          </a:p>
          <a:p>
            <a:r>
              <a:rPr lang="en-IN" dirty="0" smtClean="0"/>
              <a:t>EXTREMELY POPULAR SPORT. DATES BACK TO TANG FOR KEEPING AS PETS AND TO SONG FOR FIGHTS.</a:t>
            </a:r>
          </a:p>
          <a:p>
            <a:r>
              <a:rPr lang="en-IN" dirty="0" smtClean="0"/>
              <a:t>The </a:t>
            </a:r>
            <a:r>
              <a:rPr lang="en-IN" dirty="0"/>
              <a:t>night before a tournament, many owners feed their cricket a special maggot, and treat it to an herbal spray. </a:t>
            </a:r>
            <a:endParaRPr lang="en-IN" dirty="0" smtClean="0"/>
          </a:p>
          <a:p>
            <a:r>
              <a:rPr lang="en-IN" dirty="0" smtClean="0"/>
              <a:t>There </a:t>
            </a:r>
            <a:r>
              <a:rPr lang="en-IN" dirty="0"/>
              <a:t>is a complex method for weighing crickets and judging matches</a:t>
            </a:r>
            <a:endParaRPr lang="en-IN" dirty="0" smtClean="0"/>
          </a:p>
          <a:p>
            <a:r>
              <a:rPr lang="en-IN" dirty="0" smtClean="0">
                <a:hlinkClick r:id="rId2"/>
              </a:rPr>
              <a:t>https://www.youtube.com/watch?v=7sRQGlpCPNY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45467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22248"/>
            <a:ext cx="10515600" cy="1325563"/>
          </a:xfrm>
        </p:spPr>
        <p:txBody>
          <a:bodyPr/>
          <a:lstStyle/>
          <a:p>
            <a:pPr algn="ctr"/>
            <a:r>
              <a:rPr lang="en-IN" b="1" u="sng" dirty="0" smtClean="0"/>
              <a:t>KEEPING PET BIRDS</a:t>
            </a:r>
            <a:endParaRPr lang="en-IN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71538" y="1371597"/>
            <a:ext cx="10482262" cy="4362450"/>
          </a:xfrm>
        </p:spPr>
        <p:txBody>
          <a:bodyPr/>
          <a:lstStyle/>
          <a:p>
            <a:r>
              <a:rPr lang="en-IN" dirty="0" smtClean="0"/>
              <a:t>Ancient. Amazing. Songbirds… Thrush, Larks,</a:t>
            </a:r>
          </a:p>
          <a:p>
            <a:r>
              <a:rPr lang="en-IN" dirty="0" smtClean="0"/>
              <a:t>People take Birds for a walk  (fancy cages) and even free them.</a:t>
            </a:r>
          </a:p>
          <a:p>
            <a:endParaRPr lang="en-IN" dirty="0"/>
          </a:p>
        </p:txBody>
      </p:sp>
      <p:pic>
        <p:nvPicPr>
          <p:cNvPr id="1026" name="Picture 2" descr="Bird market | © Gavin Anderson / Flickr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887" y="2500308"/>
            <a:ext cx="5336380" cy="35575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Pet bird walking China 1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8310" y="2543176"/>
            <a:ext cx="5228828" cy="36861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25766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49375"/>
          </a:xfrm>
        </p:spPr>
        <p:txBody>
          <a:bodyPr/>
          <a:lstStyle/>
          <a:p>
            <a:pPr algn="ctr"/>
            <a:r>
              <a:rPr lang="en-IN" b="1" u="sng" dirty="0" smtClean="0"/>
              <a:t>Kite Flying</a:t>
            </a:r>
            <a:endParaRPr lang="en-IN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92500" lnSpcReduction="10000"/>
          </a:bodyPr>
          <a:lstStyle/>
          <a:p>
            <a:r>
              <a:rPr lang="en-IN" dirty="0" smtClean="0"/>
              <a:t>Since Warring States Period (475- 221 BC).</a:t>
            </a:r>
          </a:p>
          <a:p>
            <a:r>
              <a:rPr lang="en-IN" dirty="0" smtClean="0"/>
              <a:t>Initially for military purposes, Signalling, Record Wind Speed and Direction. Decorative later.</a:t>
            </a:r>
          </a:p>
          <a:p>
            <a:r>
              <a:rPr lang="en-IN" dirty="0" smtClean="0"/>
              <a:t>Mostly Mythological figures, symbolic (like Zodiac).</a:t>
            </a:r>
          </a:p>
          <a:p>
            <a:r>
              <a:rPr lang="en-IN" dirty="0" smtClean="0"/>
              <a:t>Besides paper,  Silk is also used.</a:t>
            </a:r>
          </a:p>
          <a:p>
            <a:r>
              <a:rPr lang="en-IN" dirty="0" smtClean="0"/>
              <a:t>Plaque at National Aeronautical and Space Museum, Washington DC.</a:t>
            </a:r>
            <a:endParaRPr lang="en-IN" dirty="0"/>
          </a:p>
          <a:p>
            <a:r>
              <a:rPr lang="en-IN" dirty="0" smtClean="0"/>
              <a:t>Weifang is called the Kite Capital of the World. </a:t>
            </a:r>
          </a:p>
          <a:p>
            <a:r>
              <a:rPr lang="en-IN" dirty="0" smtClean="0"/>
              <a:t>Why. Because Marco polo (1282) wrote that he saw a Manned Flying Kite there!! To assess wind conditions for sailing.</a:t>
            </a:r>
          </a:p>
          <a:p>
            <a:r>
              <a:rPr lang="en-IN" dirty="0" smtClean="0">
                <a:hlinkClick r:id="rId2"/>
              </a:rPr>
              <a:t>https</a:t>
            </a:r>
            <a:r>
              <a:rPr lang="en-IN" dirty="0">
                <a:hlinkClick r:id="rId2"/>
              </a:rPr>
              <a:t>://www.youtube.com/watch?v=ezFPH9Pna0E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395650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en-IN" b="1" u="sng" dirty="0" err="1" smtClean="0"/>
              <a:t>Za</a:t>
            </a:r>
            <a:r>
              <a:rPr lang="en-IN" b="1" u="sng" dirty="0" smtClean="0"/>
              <a:t> </a:t>
            </a:r>
            <a:r>
              <a:rPr lang="en-IN" b="1" u="sng" dirty="0" err="1" smtClean="0"/>
              <a:t>ji</a:t>
            </a:r>
            <a:r>
              <a:rPr lang="en-IN" b="1" u="sng" dirty="0" smtClean="0"/>
              <a:t>/ Gymnastics</a:t>
            </a:r>
            <a:endParaRPr lang="en-IN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lnSpcReduction="10000"/>
          </a:bodyPr>
          <a:lstStyle/>
          <a:p>
            <a:r>
              <a:rPr lang="en-IN" dirty="0" smtClean="0"/>
              <a:t>Chinese Dominate World Gymnastics. 26 Golds at the Olympics.</a:t>
            </a:r>
          </a:p>
          <a:p>
            <a:r>
              <a:rPr lang="en-IN" dirty="0" smtClean="0"/>
              <a:t>Li </a:t>
            </a:r>
            <a:r>
              <a:rPr lang="en-IN" dirty="0" err="1" smtClean="0"/>
              <a:t>Ning..Prince</a:t>
            </a:r>
            <a:r>
              <a:rPr lang="en-IN" dirty="0" smtClean="0"/>
              <a:t> of Gymnastics. 6 out of 7 Golds in the 6</a:t>
            </a:r>
            <a:r>
              <a:rPr lang="en-IN" baseline="30000" dirty="0" smtClean="0"/>
              <a:t>th</a:t>
            </a:r>
            <a:r>
              <a:rPr lang="en-IN" dirty="0" smtClean="0"/>
              <a:t> World cup. Max individual Golds in LA 1984.</a:t>
            </a:r>
          </a:p>
          <a:p>
            <a:r>
              <a:rPr lang="en-IN" dirty="0" smtClean="0"/>
              <a:t>Lit the torch at Beijing 2008. many moves are named after him. Married to Chen </a:t>
            </a:r>
            <a:r>
              <a:rPr lang="en-IN" dirty="0" err="1" smtClean="0"/>
              <a:t>Yongyan</a:t>
            </a:r>
            <a:endParaRPr lang="en-IN" dirty="0" smtClean="0"/>
          </a:p>
          <a:p>
            <a:r>
              <a:rPr lang="en-IN" dirty="0" smtClean="0"/>
              <a:t>Chen Yi </a:t>
            </a:r>
            <a:r>
              <a:rPr lang="en-IN" dirty="0" err="1" smtClean="0"/>
              <a:t>bing</a:t>
            </a:r>
            <a:r>
              <a:rPr lang="en-IN" dirty="0" smtClean="0"/>
              <a:t>- 4 times world Champion on the rings. 8 World Titles and Three Olympic Golds.</a:t>
            </a:r>
          </a:p>
          <a:p>
            <a:r>
              <a:rPr lang="en-IN" dirty="0" smtClean="0"/>
              <a:t>Cheng </a:t>
            </a:r>
            <a:r>
              <a:rPr lang="en-IN" dirty="0" err="1" smtClean="0"/>
              <a:t>Fei</a:t>
            </a:r>
            <a:r>
              <a:rPr lang="en-IN" dirty="0" smtClean="0"/>
              <a:t>, Deng </a:t>
            </a:r>
            <a:r>
              <a:rPr lang="en-IN" dirty="0" err="1" smtClean="0"/>
              <a:t>LinLin</a:t>
            </a:r>
            <a:r>
              <a:rPr lang="en-IN" dirty="0"/>
              <a:t> </a:t>
            </a:r>
            <a:r>
              <a:rPr lang="en-IN" dirty="0" err="1" smtClean="0"/>
              <a:t>etc</a:t>
            </a:r>
            <a:r>
              <a:rPr lang="en-IN" dirty="0" smtClean="0"/>
              <a:t> etc.</a:t>
            </a:r>
          </a:p>
          <a:p>
            <a:r>
              <a:rPr lang="en-IN" dirty="0" smtClean="0"/>
              <a:t>Traditional Gymnastics</a:t>
            </a:r>
          </a:p>
          <a:p>
            <a:r>
              <a:rPr lang="en-IN" dirty="0">
                <a:hlinkClick r:id="rId2"/>
              </a:rPr>
              <a:t>https://www.youtube.com/watch?v=E8SL0A5fcD0</a:t>
            </a:r>
            <a:endParaRPr lang="en-IN" dirty="0" smtClean="0"/>
          </a:p>
          <a:p>
            <a:endParaRPr lang="en-IN" dirty="0" smtClean="0"/>
          </a:p>
          <a:p>
            <a:endParaRPr lang="en-IN" dirty="0" smtClean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245534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CHINESE YO </a:t>
            </a:r>
            <a:r>
              <a:rPr lang="en-IN" dirty="0" err="1" smtClean="0"/>
              <a:t>YO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0050" y="2871787"/>
            <a:ext cx="10521944" cy="4410079"/>
          </a:xfrm>
        </p:spPr>
        <p:txBody>
          <a:bodyPr/>
          <a:lstStyle/>
          <a:p>
            <a:endParaRPr lang="en-IN" dirty="0" smtClean="0"/>
          </a:p>
          <a:p>
            <a:r>
              <a:rPr lang="en-IN" dirty="0" smtClean="0"/>
              <a:t>DIABLO.</a:t>
            </a:r>
          </a:p>
          <a:p>
            <a:r>
              <a:rPr lang="en-IN" dirty="0" smtClean="0"/>
              <a:t>MANY NAMES  </a:t>
            </a:r>
            <a:r>
              <a:rPr lang="ja-JP" altLang="en-US" dirty="0" smtClean="0"/>
              <a:t>扯铃 </a:t>
            </a:r>
            <a:r>
              <a:rPr lang="en-IN" altLang="ja-JP" dirty="0" smtClean="0"/>
              <a:t>(CHE LING).</a:t>
            </a:r>
          </a:p>
          <a:p>
            <a:r>
              <a:rPr lang="en-IN" dirty="0">
                <a:hlinkClick r:id="rId2"/>
              </a:rPr>
              <a:t>https://www.youtube.com/watch?v=v4_AaZwv-mo</a:t>
            </a:r>
            <a:endParaRPr lang="en-IN" dirty="0" smtClean="0"/>
          </a:p>
          <a:p>
            <a:endParaRPr lang="en-IN" dirty="0"/>
          </a:p>
        </p:txBody>
      </p:sp>
      <p:pic>
        <p:nvPicPr>
          <p:cNvPr id="2050" name="Picture 2" descr="https://upload.wikimedia.org/wikipedia/commons/thumb/c/c3/Diabolo_large_and_small.jpg/300px-Diabolo_large_and_small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4975" y="335881"/>
            <a:ext cx="4121150" cy="29947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938060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79413"/>
            <a:ext cx="10515600" cy="1363663"/>
          </a:xfrm>
        </p:spPr>
        <p:txBody>
          <a:bodyPr/>
          <a:lstStyle/>
          <a:p>
            <a:pPr algn="ctr"/>
            <a:r>
              <a:rPr lang="en-IN" b="1" u="sng" dirty="0" smtClean="0"/>
              <a:t>Ping Pong/ Ping Pang </a:t>
            </a:r>
            <a:r>
              <a:rPr lang="en-IN" b="1" u="sng" dirty="0" err="1" smtClean="0"/>
              <a:t>Qiu</a:t>
            </a:r>
            <a:endParaRPr lang="en-IN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CHINESE ARE VERY GOOD.</a:t>
            </a:r>
          </a:p>
          <a:p>
            <a:r>
              <a:rPr lang="en-IN" dirty="0" smtClean="0"/>
              <a:t>VERY POPULAR.</a:t>
            </a:r>
          </a:p>
          <a:p>
            <a:r>
              <a:rPr lang="en-IN" dirty="0" smtClean="0"/>
              <a:t>BUT not a Chinese invention.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693868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594108"/>
            <a:ext cx="10515600" cy="1377950"/>
          </a:xfrm>
        </p:spPr>
        <p:txBody>
          <a:bodyPr/>
          <a:lstStyle/>
          <a:p>
            <a:pPr algn="ctr"/>
            <a:r>
              <a:rPr lang="en-IN" b="1" dirty="0" smtClean="0"/>
              <a:t>Thank You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7862362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6087</TotalTime>
  <Words>649</Words>
  <Application>Microsoft Office PowerPoint</Application>
  <PresentationFormat>Widescreen</PresentationFormat>
  <Paragraphs>100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2" baseType="lpstr">
      <vt:lpstr>游ゴシック</vt:lpstr>
      <vt:lpstr>游ゴシック Light</vt:lpstr>
      <vt:lpstr>Arial</vt:lpstr>
      <vt:lpstr>Calibri</vt:lpstr>
      <vt:lpstr>Calibri Light</vt:lpstr>
      <vt:lpstr>Office Theme</vt:lpstr>
      <vt:lpstr>FOUR ARTS </vt:lpstr>
      <vt:lpstr>TO BE CALLED A REFINED GENTLEMAN</vt:lpstr>
      <vt:lpstr>Quite Unlike the Western Models of</vt:lpstr>
      <vt:lpstr>UNIQUELY CHINESE GAMES</vt:lpstr>
      <vt:lpstr>BROAD OBSERVATIONS</vt:lpstr>
      <vt:lpstr>PowerPoint Presentation</vt:lpstr>
      <vt:lpstr>WEI QI/GO</vt:lpstr>
      <vt:lpstr>PowerPoint Presentation</vt:lpstr>
      <vt:lpstr>PowerPoint Presentation</vt:lpstr>
      <vt:lpstr>PowerPoint Presentation</vt:lpstr>
      <vt:lpstr>CHINESE CHESS/XIANG QI</vt:lpstr>
      <vt:lpstr>PowerPoint Presentation</vt:lpstr>
      <vt:lpstr>MAH JONG 麻将 (májiàng)</vt:lpstr>
      <vt:lpstr>PowerPoint Presentation</vt:lpstr>
      <vt:lpstr>JIAN ZI/CHINESE SHUTTLEOCK</vt:lpstr>
      <vt:lpstr>PowerPoint Presentation</vt:lpstr>
      <vt:lpstr>PowerPoint Presentation</vt:lpstr>
      <vt:lpstr>TAI CHI</vt:lpstr>
      <vt:lpstr>PowerPoint Presentation</vt:lpstr>
      <vt:lpstr>CRICKET FIGHTING</vt:lpstr>
      <vt:lpstr>KEEPING PET BIRDS</vt:lpstr>
      <vt:lpstr>Kite Flying</vt:lpstr>
      <vt:lpstr>Za ji/ Gymnastics</vt:lpstr>
      <vt:lpstr>CHINESE YO YO</vt:lpstr>
      <vt:lpstr>Ping Pong/ Ping Pang Qiu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FOUR ARTS OF A GENTLEMAN</dc:title>
  <dc:creator>G Jaishankar</dc:creator>
  <cp:lastModifiedBy>G Jaishankar</cp:lastModifiedBy>
  <cp:revision>34</cp:revision>
  <dcterms:created xsi:type="dcterms:W3CDTF">2019-09-01T04:49:12Z</dcterms:created>
  <dcterms:modified xsi:type="dcterms:W3CDTF">2019-11-15T06:15:40Z</dcterms:modified>
</cp:coreProperties>
</file>