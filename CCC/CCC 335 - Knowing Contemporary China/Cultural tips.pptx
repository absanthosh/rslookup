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7" r:id="rId4"/>
    <p:sldId id="271" r:id="rId5"/>
    <p:sldId id="276" r:id="rId6"/>
    <p:sldId id="277" r:id="rId7"/>
    <p:sldId id="265" r:id="rId8"/>
    <p:sldId id="258" r:id="rId9"/>
    <p:sldId id="259" r:id="rId10"/>
    <p:sldId id="274" r:id="rId11"/>
    <p:sldId id="261" r:id="rId12"/>
    <p:sldId id="260" r:id="rId13"/>
    <p:sldId id="273" r:id="rId14"/>
    <p:sldId id="278" r:id="rId15"/>
    <p:sldId id="279" r:id="rId16"/>
    <p:sldId id="264" r:id="rId17"/>
    <p:sldId id="266" r:id="rId18"/>
    <p:sldId id="267" r:id="rId19"/>
    <p:sldId id="280" r:id="rId20"/>
    <p:sldId id="281" r:id="rId21"/>
    <p:sldId id="268" r:id="rId22"/>
    <p:sldId id="269" r:id="rId23"/>
    <p:sldId id="262" r:id="rId24"/>
    <p:sldId id="263" r:id="rId25"/>
    <p:sldId id="28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54" d="100"/>
          <a:sy n="54" d="100"/>
        </p:scale>
        <p:origin x="67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8BFD1-AC1E-4B74-A389-1E4838EEAFC5}" type="datetimeFigureOut">
              <a:rPr lang="en-IN" smtClean="0"/>
              <a:t>07-02-2020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AA4FC-B8F4-49D3-8080-492D41EEEF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327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8BFD1-AC1E-4B74-A389-1E4838EEAFC5}" type="datetimeFigureOut">
              <a:rPr lang="en-IN" smtClean="0"/>
              <a:t>07-02-2020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AA4FC-B8F4-49D3-8080-492D41EEEF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003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8BFD1-AC1E-4B74-A389-1E4838EEAFC5}" type="datetimeFigureOut">
              <a:rPr lang="en-IN" smtClean="0"/>
              <a:t>07-02-2020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AA4FC-B8F4-49D3-8080-492D41EEEF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224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8BFD1-AC1E-4B74-A389-1E4838EEAFC5}" type="datetimeFigureOut">
              <a:rPr lang="en-IN" smtClean="0"/>
              <a:t>07-02-2020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AA4FC-B8F4-49D3-8080-492D41EEEF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6336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8BFD1-AC1E-4B74-A389-1E4838EEAFC5}" type="datetimeFigureOut">
              <a:rPr lang="en-IN" smtClean="0"/>
              <a:t>07-02-2020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AA4FC-B8F4-49D3-8080-492D41EEEF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0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8BFD1-AC1E-4B74-A389-1E4838EEAFC5}" type="datetimeFigureOut">
              <a:rPr lang="en-IN" smtClean="0"/>
              <a:t>07-02-2020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AA4FC-B8F4-49D3-8080-492D41EEEF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537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8BFD1-AC1E-4B74-A389-1E4838EEAFC5}" type="datetimeFigureOut">
              <a:rPr lang="en-IN" smtClean="0"/>
              <a:t>07-02-2020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AA4FC-B8F4-49D3-8080-492D41EEEF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118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8BFD1-AC1E-4B74-A389-1E4838EEAFC5}" type="datetimeFigureOut">
              <a:rPr lang="en-IN" smtClean="0"/>
              <a:t>07-02-2020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AA4FC-B8F4-49D3-8080-492D41EEEF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879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8BFD1-AC1E-4B74-A389-1E4838EEAFC5}" type="datetimeFigureOut">
              <a:rPr lang="en-IN" smtClean="0"/>
              <a:t>07-02-2020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AA4FC-B8F4-49D3-8080-492D41EEEF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955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8BFD1-AC1E-4B74-A389-1E4838EEAFC5}" type="datetimeFigureOut">
              <a:rPr lang="en-IN" smtClean="0"/>
              <a:t>07-02-2020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AA4FC-B8F4-49D3-8080-492D41EEEF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9664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8BFD1-AC1E-4B74-A389-1E4838EEAFC5}" type="datetimeFigureOut">
              <a:rPr lang="en-IN" smtClean="0"/>
              <a:t>07-02-2020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AA4FC-B8F4-49D3-8080-492D41EEEF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701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88BFD1-AC1E-4B74-A389-1E4838EEAFC5}" type="datetimeFigureOut">
              <a:rPr lang="en-IN" smtClean="0"/>
              <a:t>07-02-2020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AAA4FC-B8F4-49D3-8080-492D41EEEF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094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zzP5qr-ZxHY" TargetMode="External"/><Relationship Id="rId2" Type="http://schemas.openxmlformats.org/officeDocument/2006/relationships/hyperlink" Target="https://www.youtube.com/watch?v=05E-9Yu9EJ4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8762" y="1122363"/>
            <a:ext cx="9139237" cy="2406650"/>
          </a:xfrm>
        </p:spPr>
        <p:txBody>
          <a:bodyPr/>
          <a:lstStyle/>
          <a:p>
            <a:r>
              <a:rPr lang="en-IN" b="1" dirty="0" smtClean="0"/>
              <a:t>CHINESE CULTURAL TIPS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049426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2612688" cy="2852737"/>
          </a:xfrm>
        </p:spPr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</a:rPr>
              <a:t>CHINA IS SIMPLY OVERWHELMING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064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b="1" u="sng" dirty="0" smtClean="0"/>
              <a:t>Outsider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450" y="1690688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IN" dirty="0" smtClean="0"/>
              <a:t>Chinese have an great sense of superiority. It is so obvious to them, needs hardly to be emphasised.</a:t>
            </a:r>
          </a:p>
          <a:p>
            <a:r>
              <a:rPr lang="en-IN" dirty="0" smtClean="0"/>
              <a:t>Cant imagine a non </a:t>
            </a:r>
            <a:r>
              <a:rPr lang="en-IN" dirty="0" err="1" smtClean="0"/>
              <a:t>sino</a:t>
            </a:r>
            <a:r>
              <a:rPr lang="en-IN" dirty="0" smtClean="0"/>
              <a:t> centric world. “ Tian Xia”.</a:t>
            </a:r>
          </a:p>
          <a:p>
            <a:r>
              <a:rPr lang="en-IN" dirty="0" smtClean="0"/>
              <a:t>Da </a:t>
            </a:r>
            <a:r>
              <a:rPr lang="en-IN" dirty="0" err="1" smtClean="0"/>
              <a:t>bizi</a:t>
            </a:r>
            <a:r>
              <a:rPr lang="en-IN" dirty="0" smtClean="0"/>
              <a:t>, Yang </a:t>
            </a:r>
            <a:r>
              <a:rPr lang="en-IN" dirty="0" err="1" smtClean="0"/>
              <a:t>ren</a:t>
            </a:r>
            <a:r>
              <a:rPr lang="en-IN" dirty="0" smtClean="0"/>
              <a:t>, </a:t>
            </a:r>
            <a:r>
              <a:rPr lang="en-IN" i="1" dirty="0" smtClean="0"/>
              <a:t>Yi.</a:t>
            </a:r>
            <a:r>
              <a:rPr lang="en-IN" dirty="0" smtClean="0"/>
              <a:t> </a:t>
            </a:r>
          </a:p>
          <a:p>
            <a:r>
              <a:rPr lang="en-IN" dirty="0" smtClean="0"/>
              <a:t>Lao </a:t>
            </a:r>
            <a:r>
              <a:rPr lang="en-IN" dirty="0" err="1" smtClean="0"/>
              <a:t>wai</a:t>
            </a:r>
            <a:r>
              <a:rPr lang="en-IN" dirty="0" smtClean="0"/>
              <a:t> is the best you can hope for.</a:t>
            </a:r>
          </a:p>
          <a:p>
            <a:r>
              <a:rPr lang="en-IN" dirty="0" smtClean="0"/>
              <a:t>No concept of Equal, Brother.</a:t>
            </a:r>
          </a:p>
          <a:p>
            <a:r>
              <a:rPr lang="en-IN" dirty="0" smtClean="0"/>
              <a:t>Bowing.</a:t>
            </a:r>
          </a:p>
          <a:p>
            <a:r>
              <a:rPr lang="en-IN" dirty="0" smtClean="0"/>
              <a:t>Seating Plan during meetings.</a:t>
            </a:r>
          </a:p>
          <a:p>
            <a:r>
              <a:rPr lang="en-IN" dirty="0" smtClean="0"/>
              <a:t>Ordinary Chinese have no Idea India considers them as an adversary. </a:t>
            </a:r>
            <a:r>
              <a:rPr lang="en-IN" i="1" dirty="0" err="1" smtClean="0"/>
              <a:t>Awara</a:t>
            </a:r>
            <a:r>
              <a:rPr lang="en-IN" i="1" dirty="0" smtClean="0"/>
              <a:t> Hun.</a:t>
            </a: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2803524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63650"/>
          </a:xfrm>
        </p:spPr>
        <p:txBody>
          <a:bodyPr/>
          <a:lstStyle/>
          <a:p>
            <a:r>
              <a:rPr lang="en-IN" b="1" u="sng" dirty="0" smtClean="0"/>
              <a:t>Outsider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IN" dirty="0" smtClean="0"/>
              <a:t>Beware of the Barbarian who can speak Chinese. Banned.</a:t>
            </a:r>
          </a:p>
          <a:p>
            <a:r>
              <a:rPr lang="en-IN" dirty="0" smtClean="0"/>
              <a:t>Mark Zuckerberg.</a:t>
            </a:r>
          </a:p>
          <a:p>
            <a:r>
              <a:rPr lang="en-IN" dirty="0" smtClean="0"/>
              <a:t>Superficially Friendly. Every Visit is a show.</a:t>
            </a:r>
          </a:p>
          <a:p>
            <a:r>
              <a:rPr lang="en-IN" dirty="0" smtClean="0"/>
              <a:t>Even our maid Wong held us in contempt initially.</a:t>
            </a:r>
          </a:p>
          <a:p>
            <a:r>
              <a:rPr lang="en-IN" dirty="0" smtClean="0"/>
              <a:t>English is just Background noise.</a:t>
            </a:r>
          </a:p>
          <a:p>
            <a:endParaRPr lang="en-IN" dirty="0" smtClean="0"/>
          </a:p>
          <a:p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8561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716" y="103240"/>
            <a:ext cx="10439400" cy="1327354"/>
          </a:xfrm>
        </p:spPr>
        <p:txBody>
          <a:bodyPr/>
          <a:lstStyle/>
          <a:p>
            <a:pPr algn="ctr"/>
            <a:r>
              <a:rPr lang="en-IN" b="1" u="sng" dirty="0" smtClean="0"/>
              <a:t>OTHER POINTS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246" y="1533832"/>
            <a:ext cx="13022825" cy="6359476"/>
          </a:xfrm>
        </p:spPr>
        <p:txBody>
          <a:bodyPr/>
          <a:lstStyle/>
          <a:p>
            <a:r>
              <a:rPr lang="en-IN" b="1" dirty="0" smtClean="0"/>
              <a:t>Sense of Collective…. No concept of Individual Heroism (Combat, Olympic </a:t>
            </a:r>
          </a:p>
          <a:p>
            <a:pPr marL="0" indent="0">
              <a:buNone/>
            </a:pPr>
            <a:r>
              <a:rPr lang="en-IN" b="1" dirty="0" smtClean="0"/>
              <a:t>Medals </a:t>
            </a:r>
            <a:r>
              <a:rPr lang="en-IN" b="1" dirty="0" err="1" smtClean="0"/>
              <a:t>etc</a:t>
            </a:r>
            <a:r>
              <a:rPr lang="en-IN" b="1" dirty="0" smtClean="0"/>
              <a:t>). Decisions made by a Committee.</a:t>
            </a:r>
          </a:p>
          <a:p>
            <a:r>
              <a:rPr lang="en-IN" b="1" dirty="0" smtClean="0"/>
              <a:t>The Honour belongs to the group, not the individual.</a:t>
            </a:r>
          </a:p>
          <a:p>
            <a:r>
              <a:rPr lang="en-IN" b="1" dirty="0" smtClean="0"/>
              <a:t>A Hero is a person who does his daily duties diligently.</a:t>
            </a:r>
          </a:p>
          <a:p>
            <a:r>
              <a:rPr lang="en-IN" b="1" dirty="0" smtClean="0"/>
              <a:t>“ Learn from Lei Feng”. (5 March)</a:t>
            </a:r>
          </a:p>
          <a:p>
            <a:pPr lvl="1"/>
            <a:r>
              <a:rPr lang="en-IN" b="1" dirty="0" smtClean="0"/>
              <a:t>Selflessness.</a:t>
            </a:r>
          </a:p>
          <a:p>
            <a:pPr lvl="1"/>
            <a:r>
              <a:rPr lang="en-IN" b="1" dirty="0" smtClean="0"/>
              <a:t>Modesty.</a:t>
            </a:r>
          </a:p>
          <a:p>
            <a:pPr lvl="1"/>
            <a:r>
              <a:rPr lang="en-IN" b="1" dirty="0" smtClean="0"/>
              <a:t>Devotion to Mao </a:t>
            </a:r>
            <a:r>
              <a:rPr lang="en-IN" b="1" dirty="0" err="1" smtClean="0"/>
              <a:t>Ze</a:t>
            </a:r>
            <a:r>
              <a:rPr lang="en-IN" b="1" dirty="0" smtClean="0"/>
              <a:t> Dong.</a:t>
            </a:r>
          </a:p>
          <a:p>
            <a:r>
              <a:rPr lang="en-IN" b="1" dirty="0" smtClean="0"/>
              <a:t>Father killed by the Japanese, Lei Feng was killed by an </a:t>
            </a:r>
          </a:p>
          <a:p>
            <a:pPr marL="0" indent="0">
              <a:buNone/>
            </a:pPr>
            <a:r>
              <a:rPr lang="en-IN" b="1" dirty="0" smtClean="0"/>
              <a:t>Army Truck hitting a telephone pole, which fell on him, age 21.</a:t>
            </a:r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1026" name="Picture 2" descr="Image result for learn from lei fu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5341" y="2561125"/>
            <a:ext cx="3058412" cy="4456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9374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Obedience and Self Discipline always emphasised.</a:t>
            </a:r>
          </a:p>
          <a:p>
            <a:pPr marL="0" indent="0">
              <a:buNone/>
            </a:pPr>
            <a:r>
              <a:rPr lang="en-IN" dirty="0" smtClean="0"/>
              <a:t>(right from birth).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7965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 smtClean="0"/>
              <a:t>PUNCTUALITY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2962" y="1900237"/>
            <a:ext cx="10510837" cy="4276725"/>
          </a:xfrm>
        </p:spPr>
        <p:txBody>
          <a:bodyPr/>
          <a:lstStyle/>
          <a:p>
            <a:r>
              <a:rPr lang="en-IN" dirty="0"/>
              <a:t>BE PUNCTUAL. </a:t>
            </a:r>
            <a:endParaRPr lang="en-IN" dirty="0" smtClean="0"/>
          </a:p>
          <a:p>
            <a:r>
              <a:rPr lang="en-IN" dirty="0" smtClean="0"/>
              <a:t>If it is an important meeting and they </a:t>
            </a:r>
            <a:r>
              <a:rPr lang="en-IN" dirty="0"/>
              <a:t>think you will be late, they will send a pick </a:t>
            </a:r>
            <a:r>
              <a:rPr lang="en-IN" dirty="0" smtClean="0"/>
              <a:t>up and LO.</a:t>
            </a:r>
          </a:p>
          <a:p>
            <a:r>
              <a:rPr lang="en-IN" dirty="0" smtClean="0"/>
              <a:t>If you are late, that is the END.</a:t>
            </a:r>
            <a:endParaRPr lang="en-IN" dirty="0"/>
          </a:p>
          <a:p>
            <a:r>
              <a:rPr lang="en-IN" dirty="0"/>
              <a:t>Expect that Guests will land up around 30 minutes before</a:t>
            </a:r>
            <a:r>
              <a:rPr lang="en-IN" dirty="0" smtClean="0"/>
              <a:t>.</a:t>
            </a:r>
          </a:p>
          <a:p>
            <a:r>
              <a:rPr lang="en-IN" dirty="0" smtClean="0"/>
              <a:t>The Guest of Honour will arrive bang on time, but his SO will reach early.</a:t>
            </a:r>
          </a:p>
          <a:p>
            <a:r>
              <a:rPr lang="en-IN" dirty="0" smtClean="0"/>
              <a:t>The Guest of Honour will leave early as a sign of his importance. Similarly you must leave early too (tip: see end Timing in the card)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9225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77938"/>
          </a:xfrm>
        </p:spPr>
        <p:txBody>
          <a:bodyPr/>
          <a:lstStyle/>
          <a:p>
            <a:r>
              <a:rPr lang="en-IN" b="1" u="sng" dirty="0"/>
              <a:t>F</a:t>
            </a:r>
            <a:r>
              <a:rPr lang="en-IN" b="1" u="sng" dirty="0" smtClean="0"/>
              <a:t>ace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2962" y="2828925"/>
            <a:ext cx="8922561" cy="3348037"/>
          </a:xfrm>
        </p:spPr>
        <p:txBody>
          <a:bodyPr/>
          <a:lstStyle/>
          <a:p>
            <a:r>
              <a:rPr lang="en-IN" dirty="0" err="1" smtClean="0"/>
              <a:t>Mian</a:t>
            </a:r>
            <a:r>
              <a:rPr lang="en-IN" dirty="0" smtClean="0"/>
              <a:t> </a:t>
            </a:r>
            <a:r>
              <a:rPr lang="en-IN" dirty="0" err="1" smtClean="0"/>
              <a:t>zi</a:t>
            </a:r>
            <a:r>
              <a:rPr lang="en-IN" dirty="0" smtClean="0"/>
              <a:t>. Dui </a:t>
            </a:r>
            <a:r>
              <a:rPr lang="en-IN" dirty="0" err="1" smtClean="0"/>
              <a:t>bu</a:t>
            </a:r>
            <a:r>
              <a:rPr lang="en-IN" dirty="0" smtClean="0"/>
              <a:t> qi </a:t>
            </a:r>
            <a:r>
              <a:rPr lang="en-IN" dirty="0" err="1" smtClean="0"/>
              <a:t>etc</a:t>
            </a:r>
            <a:endParaRPr lang="en-IN" dirty="0" smtClean="0"/>
          </a:p>
          <a:p>
            <a:r>
              <a:rPr lang="en-IN" dirty="0" smtClean="0"/>
              <a:t>2008 Summer Olympics.  </a:t>
            </a:r>
            <a:r>
              <a:rPr lang="en-IN" i="1" dirty="0" smtClean="0"/>
              <a:t>Lin </a:t>
            </a:r>
            <a:r>
              <a:rPr lang="en-IN" i="1" dirty="0" err="1" smtClean="0"/>
              <a:t>Miaoke</a:t>
            </a:r>
            <a:endParaRPr lang="en-IN" i="1" dirty="0" smtClean="0"/>
          </a:p>
          <a:p>
            <a:r>
              <a:rPr lang="en-IN" dirty="0">
                <a:hlinkClick r:id="rId2"/>
              </a:rPr>
              <a:t>https://</a:t>
            </a:r>
            <a:r>
              <a:rPr lang="en-IN" dirty="0" smtClean="0">
                <a:hlinkClick r:id="rId2"/>
              </a:rPr>
              <a:t>www.youtube.com/watch?v=05E-9Yu9EJ4</a:t>
            </a:r>
            <a:endParaRPr lang="en-IN" dirty="0" smtClean="0"/>
          </a:p>
          <a:p>
            <a:endParaRPr lang="en-IN" i="1" dirty="0"/>
          </a:p>
          <a:p>
            <a:r>
              <a:rPr lang="en-IN" dirty="0" smtClean="0"/>
              <a:t>2009 PLA PARADE.</a:t>
            </a:r>
          </a:p>
          <a:p>
            <a:pPr marL="0" indent="0">
              <a:buNone/>
            </a:pPr>
            <a:r>
              <a:rPr lang="en-IN">
                <a:hlinkClick r:id="rId3"/>
              </a:rPr>
              <a:t>https://www.youtube.com/watch?v=zzP5qr-ZxHY</a:t>
            </a:r>
            <a:endParaRPr lang="en-IN" dirty="0" smtClean="0"/>
          </a:p>
          <a:p>
            <a:endParaRPr lang="en-IN" dirty="0"/>
          </a:p>
        </p:txBody>
      </p:sp>
      <p:sp>
        <p:nvSpPr>
          <p:cNvPr id="5" name="AutoShape 4" descr="Image result for beijing olympics girl singer double"/>
          <p:cNvSpPr>
            <a:spLocks noChangeAspect="1" noChangeArrowheads="1"/>
          </p:cNvSpPr>
          <p:nvPr/>
        </p:nvSpPr>
        <p:spPr bwMode="auto">
          <a:xfrm>
            <a:off x="155575" y="-98426"/>
            <a:ext cx="258763" cy="258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898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 err="1" smtClean="0"/>
              <a:t>Shanzhai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388" y="1800225"/>
            <a:ext cx="10539412" cy="4376738"/>
          </a:xfrm>
        </p:spPr>
        <p:txBody>
          <a:bodyPr/>
          <a:lstStyle/>
          <a:p>
            <a:r>
              <a:rPr lang="en-IN" dirty="0" smtClean="0"/>
              <a:t>Bandit.</a:t>
            </a:r>
          </a:p>
          <a:p>
            <a:r>
              <a:rPr lang="en-IN" dirty="0" smtClean="0"/>
              <a:t>Water Margin/ Outlaws of the Marsh and Romance of the three Kingdoms inspires</a:t>
            </a:r>
          </a:p>
          <a:p>
            <a:r>
              <a:rPr lang="en-IN" dirty="0" smtClean="0"/>
              <a:t>“ War on behalf of common people is good”.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757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 smtClean="0"/>
              <a:t>KNOCK OFF DVDs</a:t>
            </a:r>
            <a:endParaRPr lang="en-IN" b="1" u="sng" dirty="0"/>
          </a:p>
        </p:txBody>
      </p:sp>
      <p:sp>
        <p:nvSpPr>
          <p:cNvPr id="6" name="AutoShape 6" descr="Image titled Spot Fake DVDs Step 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8" descr="Image titled Spot Fake DVDs Step 2"/>
          <p:cNvSpPr>
            <a:spLocks noChangeAspect="1" noChangeArrowheads="1"/>
          </p:cNvSpPr>
          <p:nvPr/>
        </p:nvSpPr>
        <p:spPr bwMode="auto">
          <a:xfrm>
            <a:off x="307974" y="7937"/>
            <a:ext cx="320675" cy="320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6" name="Content Placeholder 1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95097" y="2328863"/>
            <a:ext cx="7067209" cy="3957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62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b="1" u="sng" dirty="0" err="1" smtClean="0"/>
              <a:t>Guanxi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IN" dirty="0" smtClean="0"/>
              <a:t>Blood is everything.</a:t>
            </a:r>
          </a:p>
          <a:p>
            <a:r>
              <a:rPr lang="en-IN" dirty="0" smtClean="0"/>
              <a:t>Contacts/ Network is everything. Favours are given, expected.</a:t>
            </a:r>
          </a:p>
          <a:p>
            <a:r>
              <a:rPr lang="en-IN" dirty="0" smtClean="0"/>
              <a:t>Being part of a network entitles you to certain rights and imposes obligations. </a:t>
            </a:r>
          </a:p>
          <a:p>
            <a:r>
              <a:rPr lang="en-IN" dirty="0" smtClean="0"/>
              <a:t>Hence achieving “understanding” is important before anything gets done.</a:t>
            </a:r>
          </a:p>
          <a:p>
            <a:r>
              <a:rPr lang="en-IN" dirty="0" smtClean="0"/>
              <a:t>Law has little meaning. Law is only a way to get done what has been decided.</a:t>
            </a:r>
          </a:p>
          <a:p>
            <a:r>
              <a:rPr lang="en-IN" dirty="0" smtClean="0"/>
              <a:t>That is how it has always been.</a:t>
            </a:r>
          </a:p>
          <a:p>
            <a:r>
              <a:rPr lang="en-IN" dirty="0" smtClean="0"/>
              <a:t>“Little Emperors”</a:t>
            </a:r>
          </a:p>
          <a:p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7283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b="1" u="sng" dirty="0" smtClean="0"/>
              <a:t>Indirect Communicatio</a:t>
            </a:r>
            <a:r>
              <a:rPr lang="en-IN" b="1" u="sng" dirty="0"/>
              <a:t>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112" y="1743075"/>
            <a:ext cx="10453687" cy="4433888"/>
          </a:xfrm>
        </p:spPr>
        <p:txBody>
          <a:bodyPr/>
          <a:lstStyle/>
          <a:p>
            <a:r>
              <a:rPr lang="en-IN" dirty="0" smtClean="0"/>
              <a:t>Seating.</a:t>
            </a:r>
          </a:p>
          <a:p>
            <a:r>
              <a:rPr lang="en-IN" dirty="0" smtClean="0"/>
              <a:t>Walk into a room.</a:t>
            </a:r>
          </a:p>
          <a:p>
            <a:r>
              <a:rPr lang="en-IN" dirty="0" smtClean="0"/>
              <a:t>Pose for a group photo.</a:t>
            </a:r>
          </a:p>
          <a:p>
            <a:r>
              <a:rPr lang="en-IN" dirty="0" smtClean="0"/>
              <a:t>Cigarettes.</a:t>
            </a:r>
          </a:p>
          <a:p>
            <a:r>
              <a:rPr lang="en-IN" dirty="0" smtClean="0"/>
              <a:t>Process is more important than outcome.</a:t>
            </a:r>
          </a:p>
          <a:p>
            <a:r>
              <a:rPr lang="en-IN" dirty="0" smtClean="0"/>
              <a:t>Be Clear without being direct. Some knowledge of Proverbs </a:t>
            </a:r>
            <a:r>
              <a:rPr lang="en-IN" dirty="0" err="1" smtClean="0"/>
              <a:t>etc</a:t>
            </a:r>
            <a:r>
              <a:rPr lang="en-IN" dirty="0" smtClean="0"/>
              <a:t> useful.</a:t>
            </a:r>
          </a:p>
          <a:p>
            <a:r>
              <a:rPr lang="en-IN" dirty="0" smtClean="0"/>
              <a:t>Expect to be taken advantage of and guard against it.</a:t>
            </a:r>
          </a:p>
          <a:p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1468487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b="1" u="sng" dirty="0" smtClean="0"/>
              <a:t>Other Tips in Meetings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2962" y="1914525"/>
            <a:ext cx="10510837" cy="4262438"/>
          </a:xfrm>
        </p:spPr>
        <p:txBody>
          <a:bodyPr/>
          <a:lstStyle/>
          <a:p>
            <a:r>
              <a:rPr lang="en-IN" dirty="0" smtClean="0"/>
              <a:t>Seating plan.</a:t>
            </a:r>
          </a:p>
          <a:p>
            <a:r>
              <a:rPr lang="en-IN" dirty="0" smtClean="0"/>
              <a:t>Soft Handshake.</a:t>
            </a:r>
          </a:p>
          <a:p>
            <a:r>
              <a:rPr lang="en-IN" dirty="0"/>
              <a:t>Eye contact not necessary. May deliberately avert their eyes. Not an indicator of honesty.</a:t>
            </a:r>
          </a:p>
          <a:p>
            <a:r>
              <a:rPr lang="en-IN" dirty="0" smtClean="0"/>
              <a:t>“ Last two minutes”. Don’t be impatient.</a:t>
            </a:r>
          </a:p>
          <a:p>
            <a:r>
              <a:rPr lang="en-IN" dirty="0" smtClean="0"/>
              <a:t>Lot of time spent in finding common ground.</a:t>
            </a:r>
          </a:p>
          <a:p>
            <a:r>
              <a:rPr lang="en-IN" dirty="0" smtClean="0"/>
              <a:t>Expect a Charm Offensive..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6529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b="1" u="sng" dirty="0" smtClean="0"/>
              <a:t>Meetings are like a Chinese meal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28788"/>
            <a:ext cx="10439399" cy="4448175"/>
          </a:xfrm>
        </p:spPr>
        <p:txBody>
          <a:bodyPr/>
          <a:lstStyle/>
          <a:p>
            <a:r>
              <a:rPr lang="en-IN" dirty="0" smtClean="0"/>
              <a:t>Looks great.</a:t>
            </a:r>
          </a:p>
          <a:p>
            <a:r>
              <a:rPr lang="en-IN" dirty="0" smtClean="0"/>
              <a:t>Tastes great.</a:t>
            </a:r>
          </a:p>
          <a:p>
            <a:r>
              <a:rPr lang="en-IN" dirty="0" smtClean="0"/>
              <a:t>But</a:t>
            </a:r>
          </a:p>
          <a:p>
            <a:r>
              <a:rPr lang="en-IN" dirty="0" smtClean="0"/>
              <a:t>After half an hour you are hungry again.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4708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b="1" u="sng" dirty="0" smtClean="0"/>
              <a:t>They will never say No, but will say…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5824" y="1814513"/>
            <a:ext cx="10467975" cy="4362450"/>
          </a:xfrm>
        </p:spPr>
        <p:txBody>
          <a:bodyPr/>
          <a:lstStyle/>
          <a:p>
            <a:r>
              <a:rPr lang="en-IN" dirty="0" smtClean="0"/>
              <a:t>It is not convenient.</a:t>
            </a:r>
          </a:p>
          <a:p>
            <a:r>
              <a:rPr lang="en-IN" dirty="0" smtClean="0"/>
              <a:t>We are embarrassed that our facilities are not ready for your visit/ your proposal yet.</a:t>
            </a:r>
          </a:p>
          <a:p>
            <a:r>
              <a:rPr lang="en-IN" dirty="0"/>
              <a:t> </a:t>
            </a:r>
            <a:r>
              <a:rPr lang="en-IN" dirty="0" smtClean="0"/>
              <a:t>if he is referring it to HQ, that’s not a No.</a:t>
            </a:r>
          </a:p>
          <a:p>
            <a:r>
              <a:rPr lang="en-IN" dirty="0" smtClean="0"/>
              <a:t>In fact, Proposals will always be sent up. May be frustrating at times.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1852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 smtClean="0"/>
              <a:t>Meals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en-IN" dirty="0" smtClean="0"/>
              <a:t>Location. </a:t>
            </a:r>
            <a:r>
              <a:rPr lang="en-IN" dirty="0" err="1" smtClean="0"/>
              <a:t>Banquetting</a:t>
            </a:r>
            <a:r>
              <a:rPr lang="en-IN" dirty="0" smtClean="0"/>
              <a:t> is everything.</a:t>
            </a:r>
          </a:p>
          <a:p>
            <a:r>
              <a:rPr lang="en-IN" dirty="0" smtClean="0"/>
              <a:t>Sequence.</a:t>
            </a:r>
          </a:p>
          <a:p>
            <a:r>
              <a:rPr lang="en-IN" dirty="0" smtClean="0"/>
              <a:t>Seating Plan. Bring and distribute many business cards.</a:t>
            </a:r>
          </a:p>
          <a:p>
            <a:r>
              <a:rPr lang="en-IN" dirty="0" smtClean="0"/>
              <a:t>Knowledge of Cuisine, dishes and customs</a:t>
            </a:r>
          </a:p>
          <a:p>
            <a:r>
              <a:rPr lang="en-IN" i="1" dirty="0" err="1" smtClean="0"/>
              <a:t>Ganbei</a:t>
            </a:r>
            <a:r>
              <a:rPr lang="en-IN" i="1" dirty="0" smtClean="0"/>
              <a:t>. Getting drunk is good form. My first reciprocal banquet!</a:t>
            </a:r>
            <a:endParaRPr lang="en-IN" dirty="0" smtClean="0"/>
          </a:p>
          <a:p>
            <a:r>
              <a:rPr lang="en-IN" dirty="0" smtClean="0"/>
              <a:t>Drinking Competitions.</a:t>
            </a:r>
          </a:p>
          <a:p>
            <a:r>
              <a:rPr lang="en-IN" dirty="0" smtClean="0"/>
              <a:t>Do not polish off your plate. But eat a little bit of everything</a:t>
            </a:r>
          </a:p>
          <a:p>
            <a:r>
              <a:rPr lang="en-IN" dirty="0" smtClean="0"/>
              <a:t>Use Chop sticks.</a:t>
            </a:r>
          </a:p>
          <a:p>
            <a:r>
              <a:rPr lang="en-IN" dirty="0" smtClean="0"/>
              <a:t>Paying the bill.</a:t>
            </a:r>
          </a:p>
          <a:p>
            <a:r>
              <a:rPr lang="en-IN" dirty="0" err="1" smtClean="0"/>
              <a:t>Er</a:t>
            </a:r>
            <a:r>
              <a:rPr lang="en-IN" dirty="0" smtClean="0"/>
              <a:t> </a:t>
            </a:r>
            <a:r>
              <a:rPr lang="en-IN" dirty="0" err="1" smtClean="0"/>
              <a:t>nai</a:t>
            </a:r>
            <a:r>
              <a:rPr lang="en-IN" dirty="0" smtClean="0"/>
              <a:t>.</a:t>
            </a:r>
          </a:p>
          <a:p>
            <a:r>
              <a:rPr lang="en-IN" i="1" dirty="0" err="1" smtClean="0"/>
              <a:t>Chaguan</a:t>
            </a:r>
            <a:r>
              <a:rPr lang="en-IN" i="1" dirty="0" smtClean="0"/>
              <a:t>.</a:t>
            </a:r>
          </a:p>
          <a:p>
            <a:r>
              <a:rPr lang="en-IN" dirty="0" smtClean="0"/>
              <a:t>For Formal Meals, there will be a start and an end time. Expect abrupt end to banquets.</a:t>
            </a:r>
          </a:p>
          <a:p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653543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b="1" u="sng" dirty="0" smtClean="0"/>
              <a:t>Partying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0" y="1757363"/>
            <a:ext cx="10496550" cy="4419600"/>
          </a:xfrm>
        </p:spPr>
        <p:txBody>
          <a:bodyPr/>
          <a:lstStyle/>
          <a:p>
            <a:r>
              <a:rPr lang="en-IN" dirty="0" smtClean="0"/>
              <a:t>Karaoke.</a:t>
            </a:r>
          </a:p>
          <a:p>
            <a:r>
              <a:rPr lang="en-IN" dirty="0" smtClean="0"/>
              <a:t>Bars.</a:t>
            </a:r>
          </a:p>
          <a:p>
            <a:r>
              <a:rPr lang="en-IN" dirty="0" smtClean="0"/>
              <a:t>Communist sense of Collective.</a:t>
            </a:r>
          </a:p>
          <a:p>
            <a:r>
              <a:rPr lang="en-IN" dirty="0" smtClean="0"/>
              <a:t>Common spaces. </a:t>
            </a:r>
          </a:p>
          <a:p>
            <a:r>
              <a:rPr lang="en-IN" dirty="0" smtClean="0"/>
              <a:t>Unlikely to be invited home. If you are, especially for </a:t>
            </a:r>
            <a:r>
              <a:rPr lang="en-IN" dirty="0"/>
              <a:t>S</a:t>
            </a:r>
            <a:r>
              <a:rPr lang="en-IN" dirty="0" smtClean="0"/>
              <a:t>pring Festival family reunion, it is a great thing.</a:t>
            </a:r>
          </a:p>
          <a:p>
            <a:r>
              <a:rPr lang="en-IN" dirty="0" smtClean="0"/>
              <a:t>Gifts.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9056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 smtClean="0"/>
              <a:t>Gifts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IN" dirty="0" smtClean="0"/>
              <a:t>Giving and taking visiting cards.</a:t>
            </a:r>
          </a:p>
          <a:p>
            <a:r>
              <a:rPr lang="en-IN" dirty="0" smtClean="0"/>
              <a:t>Packaging.</a:t>
            </a:r>
          </a:p>
          <a:p>
            <a:r>
              <a:rPr lang="en-IN" dirty="0" smtClean="0"/>
              <a:t>Opening, remarking on the item.</a:t>
            </a:r>
          </a:p>
          <a:p>
            <a:r>
              <a:rPr lang="en-IN" dirty="0" smtClean="0"/>
              <a:t>Do not try to out do them.</a:t>
            </a:r>
          </a:p>
          <a:p>
            <a:r>
              <a:rPr lang="en-IN" dirty="0"/>
              <a:t>It is common to give gifts during different holidays </a:t>
            </a:r>
            <a:r>
              <a:rPr lang="en-IN" dirty="0" smtClean="0"/>
              <a:t>and special </a:t>
            </a:r>
            <a:r>
              <a:rPr lang="en-IN" dirty="0"/>
              <a:t>occasions. </a:t>
            </a:r>
          </a:p>
          <a:p>
            <a:r>
              <a:rPr lang="en-IN" dirty="0" smtClean="0"/>
              <a:t>Chinese </a:t>
            </a:r>
            <a:r>
              <a:rPr lang="en-IN" dirty="0"/>
              <a:t>New Year, you </a:t>
            </a:r>
            <a:r>
              <a:rPr lang="en-IN" dirty="0" smtClean="0"/>
              <a:t>should give </a:t>
            </a:r>
            <a:r>
              <a:rPr lang="en-IN" dirty="0"/>
              <a:t>red envelopes with </a:t>
            </a:r>
            <a:r>
              <a:rPr lang="en-IN" dirty="0" smtClean="0"/>
              <a:t>money to children and staff.</a:t>
            </a:r>
          </a:p>
          <a:p>
            <a:r>
              <a:rPr lang="en-IN" dirty="0" smtClean="0"/>
              <a:t>During </a:t>
            </a:r>
            <a:r>
              <a:rPr lang="en-IN" dirty="0"/>
              <a:t>Mid-Autumn Festival, it is customary </a:t>
            </a:r>
            <a:r>
              <a:rPr lang="en-IN" dirty="0" smtClean="0"/>
              <a:t>to give </a:t>
            </a:r>
            <a:r>
              <a:rPr lang="en-IN" i="1" dirty="0" err="1" smtClean="0"/>
              <a:t>yue</a:t>
            </a:r>
            <a:r>
              <a:rPr lang="en-IN" i="1" dirty="0" smtClean="0"/>
              <a:t> </a:t>
            </a:r>
            <a:r>
              <a:rPr lang="en-IN" i="1" dirty="0" err="1" smtClean="0"/>
              <a:t>bing</a:t>
            </a:r>
            <a:r>
              <a:rPr lang="en-IN" dirty="0" smtClean="0"/>
              <a:t>.</a:t>
            </a:r>
          </a:p>
          <a:p>
            <a:r>
              <a:rPr lang="en-IN" dirty="0" smtClean="0"/>
              <a:t>When </a:t>
            </a:r>
            <a:r>
              <a:rPr lang="en-IN" dirty="0"/>
              <a:t>someone has a new house, a </a:t>
            </a:r>
            <a:r>
              <a:rPr lang="en-IN" dirty="0" smtClean="0"/>
              <a:t>fruit basket </a:t>
            </a:r>
            <a:r>
              <a:rPr lang="en-IN" dirty="0"/>
              <a:t>signifies wishes for good luck</a:t>
            </a:r>
            <a:r>
              <a:rPr lang="en-IN" dirty="0" smtClean="0"/>
              <a:t>.</a:t>
            </a:r>
          </a:p>
          <a:p>
            <a:r>
              <a:rPr lang="en-IN" dirty="0" smtClean="0"/>
              <a:t>Please, no </a:t>
            </a:r>
            <a:r>
              <a:rPr lang="en-IN" dirty="0" err="1" smtClean="0"/>
              <a:t>feng</a:t>
            </a:r>
            <a:r>
              <a:rPr lang="en-IN" dirty="0" smtClean="0"/>
              <a:t> </a:t>
            </a:r>
            <a:r>
              <a:rPr lang="en-IN" dirty="0" err="1" smtClean="0"/>
              <a:t>shui</a:t>
            </a:r>
            <a:r>
              <a:rPr lang="en-IN" dirty="0" smtClean="0"/>
              <a:t> crap.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9267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b="1" u="sng" dirty="0" smtClean="0"/>
              <a:t>More General Points 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More emphasis on Basic principles than specific issues.</a:t>
            </a:r>
          </a:p>
          <a:p>
            <a:r>
              <a:rPr lang="en-IN" dirty="0" smtClean="0"/>
              <a:t>“Spirit of the agreement” than “letter of the agreement”.</a:t>
            </a:r>
          </a:p>
          <a:p>
            <a:r>
              <a:rPr lang="en-IN" dirty="0" smtClean="0"/>
              <a:t>Will Avoid making incremental concessions. Come with a “ hard position”.</a:t>
            </a:r>
          </a:p>
          <a:p>
            <a:r>
              <a:rPr lang="en-IN" dirty="0" smtClean="0"/>
              <a:t>Come armed with history of the negotiations.</a:t>
            </a:r>
          </a:p>
          <a:p>
            <a:r>
              <a:rPr lang="en-IN" dirty="0" smtClean="0"/>
              <a:t>Prepared to wait you out. Think long etc.</a:t>
            </a:r>
          </a:p>
          <a:p>
            <a:r>
              <a:rPr lang="en-IN" dirty="0" smtClean="0"/>
              <a:t>Negotiation is not a closed thing after something is signed, signature is only part of the process. Try to get back ground yielded from the “ hard position”.</a:t>
            </a:r>
          </a:p>
          <a:p>
            <a:endParaRPr lang="en-IN" dirty="0" smtClean="0"/>
          </a:p>
          <a:p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2352935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813" y="365126"/>
            <a:ext cx="10567987" cy="1277938"/>
          </a:xfrm>
        </p:spPr>
        <p:txBody>
          <a:bodyPr/>
          <a:lstStyle/>
          <a:p>
            <a:r>
              <a:rPr lang="en-IN" b="1" u="sng" dirty="0" err="1" smtClean="0"/>
              <a:t>So.</a:t>
            </a:r>
            <a:r>
              <a:rPr lang="en-IN" b="1" u="sng" dirty="0" smtClean="0"/>
              <a:t>. What should we do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IN" dirty="0" smtClean="0"/>
              <a:t>Prepare well.</a:t>
            </a:r>
          </a:p>
          <a:p>
            <a:r>
              <a:rPr lang="en-IN" dirty="0" smtClean="0"/>
              <a:t>Know your bottom line.</a:t>
            </a:r>
          </a:p>
          <a:p>
            <a:r>
              <a:rPr lang="en-IN" dirty="0" smtClean="0"/>
              <a:t>Be patient.</a:t>
            </a:r>
          </a:p>
          <a:p>
            <a:r>
              <a:rPr lang="en-IN" dirty="0" smtClean="0"/>
              <a:t>Take advantage of opportunities for informal discussions.</a:t>
            </a:r>
          </a:p>
          <a:p>
            <a:r>
              <a:rPr lang="en-IN" dirty="0" smtClean="0"/>
              <a:t>Send signals of dissatisfaction.</a:t>
            </a:r>
          </a:p>
          <a:p>
            <a:r>
              <a:rPr lang="en-IN" dirty="0" smtClean="0"/>
              <a:t>Be aware of intricacies of Chinese etiquette.</a:t>
            </a:r>
          </a:p>
          <a:p>
            <a:r>
              <a:rPr lang="en-IN" dirty="0" smtClean="0"/>
              <a:t>Finally ..</a:t>
            </a:r>
            <a:r>
              <a:rPr lang="en-IN" dirty="0" err="1" smtClean="0"/>
              <a:t>dont</a:t>
            </a:r>
            <a:r>
              <a:rPr lang="en-IN" dirty="0" smtClean="0"/>
              <a:t> be afraid to say No and return empty handed.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5833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63650"/>
          </a:xfrm>
        </p:spPr>
        <p:txBody>
          <a:bodyPr/>
          <a:lstStyle/>
          <a:p>
            <a:r>
              <a:rPr lang="en-IN" b="1" u="sng" dirty="0" smtClean="0"/>
              <a:t>Women and Babies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IN" dirty="0" smtClean="0"/>
              <a:t>Mao said- Women Hold up Half the Sky.</a:t>
            </a:r>
          </a:p>
          <a:p>
            <a:r>
              <a:rPr lang="en-IN" dirty="0" smtClean="0"/>
              <a:t>Extremely courteous to Women.</a:t>
            </a:r>
          </a:p>
          <a:p>
            <a:r>
              <a:rPr lang="en-IN" dirty="0" smtClean="0"/>
              <a:t>Violence almost unheard of.</a:t>
            </a:r>
          </a:p>
          <a:p>
            <a:r>
              <a:rPr lang="en-IN" dirty="0" smtClean="0"/>
              <a:t>But Gender Roles are very Clear, not to be criticized.</a:t>
            </a:r>
          </a:p>
          <a:p>
            <a:r>
              <a:rPr lang="en-IN" dirty="0" smtClean="0"/>
              <a:t>Mrs Wang is not Mr Wang’s wife!</a:t>
            </a:r>
          </a:p>
          <a:p>
            <a:r>
              <a:rPr lang="en-IN" dirty="0" smtClean="0"/>
              <a:t>Babies not to be petted. </a:t>
            </a:r>
            <a:r>
              <a:rPr lang="en-IN" i="1" dirty="0" smtClean="0"/>
              <a:t>Babies don’t Cry.</a:t>
            </a:r>
          </a:p>
          <a:p>
            <a:r>
              <a:rPr lang="en-IN" dirty="0" smtClean="0"/>
              <a:t>No baby showers before birth. Gifts include padlocks, Zodiac in gold, Unshelled peanuts </a:t>
            </a:r>
            <a:r>
              <a:rPr lang="en-IN" i="1" dirty="0" smtClean="0"/>
              <a:t>(</a:t>
            </a:r>
            <a:r>
              <a:rPr lang="en-IN" i="1" dirty="0" err="1" smtClean="0"/>
              <a:t>Changshengguo</a:t>
            </a:r>
            <a:r>
              <a:rPr lang="en-IN" i="1" dirty="0" smtClean="0"/>
              <a:t>).</a:t>
            </a:r>
          </a:p>
          <a:p>
            <a:r>
              <a:rPr lang="en-IN" dirty="0" smtClean="0"/>
              <a:t>Knowledge of names important.</a:t>
            </a:r>
          </a:p>
          <a:p>
            <a:r>
              <a:rPr lang="en-IN" dirty="0" smtClean="0"/>
              <a:t>Cash is a good gift. No clocks!!</a:t>
            </a:r>
          </a:p>
          <a:p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9758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b="1" u="sng" dirty="0" smtClean="0"/>
              <a:t>Racism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Hilarious stereo types.</a:t>
            </a:r>
          </a:p>
          <a:p>
            <a:r>
              <a:rPr lang="en-IN" dirty="0" smtClean="0"/>
              <a:t>Puzzled as to why it is called racist.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2528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93687"/>
            <a:ext cx="10515600" cy="1306513"/>
          </a:xfrm>
        </p:spPr>
        <p:txBody>
          <a:bodyPr/>
          <a:lstStyle/>
          <a:p>
            <a:r>
              <a:rPr lang="en-IN" b="1" u="sng" dirty="0" smtClean="0"/>
              <a:t>Don’t Discuss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IN" dirty="0" smtClean="0"/>
              <a:t>The Japanese.</a:t>
            </a:r>
          </a:p>
          <a:p>
            <a:r>
              <a:rPr lang="en-IN" dirty="0" smtClean="0"/>
              <a:t>Tiananmen.</a:t>
            </a:r>
          </a:p>
          <a:p>
            <a:r>
              <a:rPr lang="en-IN" dirty="0" smtClean="0"/>
              <a:t>Politics.</a:t>
            </a:r>
          </a:p>
          <a:p>
            <a:r>
              <a:rPr lang="en-IN" dirty="0" smtClean="0"/>
              <a:t>Tibet or the Dalai Lama.</a:t>
            </a:r>
          </a:p>
          <a:p>
            <a:r>
              <a:rPr lang="en-IN" dirty="0" smtClean="0"/>
              <a:t>Religion.</a:t>
            </a:r>
          </a:p>
          <a:p>
            <a:r>
              <a:rPr lang="en-IN" dirty="0" smtClean="0"/>
              <a:t>Party Leadership.</a:t>
            </a:r>
          </a:p>
          <a:p>
            <a:r>
              <a:rPr lang="en-IN" dirty="0" smtClean="0"/>
              <a:t>They have never heard of 1962 war.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1684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b="1" u="sng" dirty="0" smtClean="0"/>
              <a:t>Do Discuss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1538" y="1785938"/>
            <a:ext cx="10482262" cy="4391025"/>
          </a:xfrm>
        </p:spPr>
        <p:txBody>
          <a:bodyPr/>
          <a:lstStyle/>
          <a:p>
            <a:r>
              <a:rPr lang="en-IN" dirty="0" smtClean="0"/>
              <a:t>Chinese are fantastic with numbers. Everything is a combination of numbers.</a:t>
            </a:r>
          </a:p>
          <a:p>
            <a:r>
              <a:rPr lang="en-IN" dirty="0" smtClean="0"/>
              <a:t>Mildly test them.</a:t>
            </a:r>
          </a:p>
          <a:p>
            <a:r>
              <a:rPr lang="en-IN" dirty="0" smtClean="0"/>
              <a:t>Regional Cuisines.</a:t>
            </a:r>
          </a:p>
          <a:p>
            <a:r>
              <a:rPr lang="en-IN" dirty="0" smtClean="0"/>
              <a:t>Bollywood.</a:t>
            </a:r>
          </a:p>
          <a:p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8043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451234"/>
            <a:ext cx="10515600" cy="1349374"/>
          </a:xfrm>
        </p:spPr>
        <p:txBody>
          <a:bodyPr/>
          <a:lstStyle/>
          <a:p>
            <a:pPr algn="ctr"/>
            <a:r>
              <a:rPr lang="en-IN" b="1" u="sng" dirty="0" smtClean="0"/>
              <a:t>THANK YOU</a:t>
            </a:r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3325413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1144</Words>
  <Application>Microsoft Office PowerPoint</Application>
  <PresentationFormat>Widescreen</PresentationFormat>
  <Paragraphs>158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CHINESE CULTURAL TIPS</vt:lpstr>
      <vt:lpstr>CHINA IS SIMPLY OVERWHELMING</vt:lpstr>
      <vt:lpstr>Outsider</vt:lpstr>
      <vt:lpstr>Outsider</vt:lpstr>
      <vt:lpstr>OTHER POINTS</vt:lpstr>
      <vt:lpstr>PowerPoint Presentation</vt:lpstr>
      <vt:lpstr>PUNCTUALITY</vt:lpstr>
      <vt:lpstr>Face</vt:lpstr>
      <vt:lpstr>Shanzhai</vt:lpstr>
      <vt:lpstr>KNOCK OFF DVDs</vt:lpstr>
      <vt:lpstr>Guanxi</vt:lpstr>
      <vt:lpstr>Indirect Communication</vt:lpstr>
      <vt:lpstr>Other Tips in Meetings</vt:lpstr>
      <vt:lpstr>Meetings are like a Chinese meal</vt:lpstr>
      <vt:lpstr>They will never say No, but will say…</vt:lpstr>
      <vt:lpstr>Meals</vt:lpstr>
      <vt:lpstr>Partying</vt:lpstr>
      <vt:lpstr>Gifts</vt:lpstr>
      <vt:lpstr>More General Points </vt:lpstr>
      <vt:lpstr>So.. What should we do</vt:lpstr>
      <vt:lpstr>Women and Babies</vt:lpstr>
      <vt:lpstr>Racism</vt:lpstr>
      <vt:lpstr>Don’t Discuss</vt:lpstr>
      <vt:lpstr>Do Discuss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Chinese Cultural tips</dc:title>
  <dc:creator>G Jaishankar</dc:creator>
  <cp:lastModifiedBy>G Jaishankar</cp:lastModifiedBy>
  <cp:revision>40</cp:revision>
  <dcterms:created xsi:type="dcterms:W3CDTF">2019-08-01T13:51:25Z</dcterms:created>
  <dcterms:modified xsi:type="dcterms:W3CDTF">2020-02-07T03:47:37Z</dcterms:modified>
</cp:coreProperties>
</file>