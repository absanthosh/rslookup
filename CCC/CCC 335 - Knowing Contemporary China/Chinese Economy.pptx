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0"/>
  </p:notesMasterIdLst>
  <p:sldIdLst>
    <p:sldId id="257" r:id="rId2"/>
    <p:sldId id="288" r:id="rId3"/>
    <p:sldId id="291" r:id="rId4"/>
    <p:sldId id="293" r:id="rId5"/>
    <p:sldId id="290" r:id="rId6"/>
    <p:sldId id="284" r:id="rId7"/>
    <p:sldId id="305" r:id="rId8"/>
    <p:sldId id="306" r:id="rId9"/>
    <p:sldId id="289" r:id="rId10"/>
    <p:sldId id="297" r:id="rId11"/>
    <p:sldId id="298" r:id="rId12"/>
    <p:sldId id="317" r:id="rId13"/>
    <p:sldId id="313" r:id="rId14"/>
    <p:sldId id="299" r:id="rId15"/>
    <p:sldId id="270" r:id="rId16"/>
    <p:sldId id="285" r:id="rId17"/>
    <p:sldId id="286" r:id="rId18"/>
    <p:sldId id="309" r:id="rId19"/>
    <p:sldId id="271" r:id="rId20"/>
    <p:sldId id="308" r:id="rId21"/>
    <p:sldId id="272" r:id="rId22"/>
    <p:sldId id="312" r:id="rId23"/>
    <p:sldId id="316" r:id="rId24"/>
    <p:sldId id="273" r:id="rId25"/>
    <p:sldId id="301" r:id="rId26"/>
    <p:sldId id="302" r:id="rId27"/>
    <p:sldId id="310" r:id="rId28"/>
    <p:sldId id="311" r:id="rId29"/>
    <p:sldId id="303" r:id="rId30"/>
    <p:sldId id="304" r:id="rId31"/>
    <p:sldId id="294" r:id="rId32"/>
    <p:sldId id="287" r:id="rId33"/>
    <p:sldId id="314" r:id="rId34"/>
    <p:sldId id="315" r:id="rId35"/>
    <p:sldId id="295" r:id="rId36"/>
    <p:sldId id="296" r:id="rId37"/>
    <p:sldId id="300" r:id="rId38"/>
    <p:sldId id="282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4" d="100"/>
          <a:sy n="54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1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60587C-6E38-4D3F-AD10-C0D6C92114B3}" type="datetimeFigureOut">
              <a:rPr lang="en-IN" smtClean="0"/>
              <a:t>16-02-2020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9CCC9-3AE4-4800-9C5C-DF3A40D5E0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445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67E56-E0E0-44B7-88C5-57A6BFC0D367}" type="datetimeFigureOut">
              <a:rPr lang="en-US" smtClean="0"/>
              <a:pPr/>
              <a:t>2/16/2020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F6E79-0444-431F-B699-73B493D25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87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67E56-E0E0-44B7-88C5-57A6BFC0D367}" type="datetimeFigureOut">
              <a:rPr lang="en-US" smtClean="0"/>
              <a:pPr/>
              <a:t>2/16/2020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F6E79-0444-431F-B699-73B493D25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870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67E56-E0E0-44B7-88C5-57A6BFC0D367}" type="datetimeFigureOut">
              <a:rPr lang="en-US" smtClean="0"/>
              <a:pPr/>
              <a:t>2/16/2020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F6E79-0444-431F-B699-73B493D25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67E56-E0E0-44B7-88C5-57A6BFC0D367}" type="datetimeFigureOut">
              <a:rPr lang="en-US" smtClean="0"/>
              <a:pPr/>
              <a:t>2/16/2020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F6E79-0444-431F-B699-73B493D25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56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67E56-E0E0-44B7-88C5-57A6BFC0D367}" type="datetimeFigureOut">
              <a:rPr lang="en-US" smtClean="0"/>
              <a:pPr/>
              <a:t>2/16/2020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F6E79-0444-431F-B699-73B493D25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21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67E56-E0E0-44B7-88C5-57A6BFC0D367}" type="datetimeFigureOut">
              <a:rPr lang="en-US" smtClean="0"/>
              <a:pPr/>
              <a:t>2/16/2020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F6E79-0444-431F-B699-73B493D25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86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67E56-E0E0-44B7-88C5-57A6BFC0D367}" type="datetimeFigureOut">
              <a:rPr lang="en-US" smtClean="0"/>
              <a:pPr/>
              <a:t>2/16/2020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F6E79-0444-431F-B699-73B493D25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33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67E56-E0E0-44B7-88C5-57A6BFC0D367}" type="datetimeFigureOut">
              <a:rPr lang="en-US" smtClean="0"/>
              <a:pPr/>
              <a:t>2/16/2020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F6E79-0444-431F-B699-73B493D25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313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67E56-E0E0-44B7-88C5-57A6BFC0D367}" type="datetimeFigureOut">
              <a:rPr lang="en-US" smtClean="0"/>
              <a:pPr/>
              <a:t>2/16/2020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F6E79-0444-431F-B699-73B493D25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30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67E56-E0E0-44B7-88C5-57A6BFC0D367}" type="datetimeFigureOut">
              <a:rPr lang="en-US" smtClean="0"/>
              <a:pPr/>
              <a:t>2/16/2020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F6E79-0444-431F-B699-73B493D25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70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67E56-E0E0-44B7-88C5-57A6BFC0D367}" type="datetimeFigureOut">
              <a:rPr lang="en-US" smtClean="0"/>
              <a:pPr/>
              <a:t>2/16/2020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F6E79-0444-431F-B699-73B493D25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99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67E56-E0E0-44B7-88C5-57A6BFC0D367}" type="datetimeFigureOut">
              <a:rPr lang="en-US" smtClean="0"/>
              <a:pPr/>
              <a:t>2/16/2020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F6E79-0444-431F-B699-73B493D25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76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KKkwb00MeE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ailymotion.com/video/xgl7iw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Y2iPePjXAU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g.jaishankar\Desktop\CHINA%20LECTURES\shopping.mp4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g.jaishankar\Desktop\CCC%20Course%20on%20China\VID-20191231-WA0056.mp4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k-xqPKOxl4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nytimes.com/interactive/2015/08/26/business/-why-china-is-rattling-the-world-maps-charts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nytimes.com/interactive/2015/07/24/business/international/the-world-according-to-china-investment-maps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Y2iPePjXAU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endParaRPr lang="zh-CN" altLang="en-US" i="1" dirty="0"/>
          </a:p>
        </p:txBody>
      </p:sp>
      <p:sp>
        <p:nvSpPr>
          <p:cNvPr id="4" name="Bevel 3"/>
          <p:cNvSpPr/>
          <p:nvPr/>
        </p:nvSpPr>
        <p:spPr>
          <a:xfrm>
            <a:off x="1524000" y="2133576"/>
            <a:ext cx="9144000" cy="3429024"/>
          </a:xfrm>
          <a:prstGeom prst="bevel">
            <a:avLst>
              <a:gd name="adj" fmla="val 1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u="sng" dirty="0" smtClean="0">
                <a:solidFill>
                  <a:prstClr val="white"/>
                </a:solidFill>
                <a:latin typeface="Tahoma" pitchFamily="34" charset="0"/>
                <a:ea typeface="宋体" panose="02010600030101010101" pitchFamily="2" charset="-122"/>
                <a:cs typeface="Tahoma" pitchFamily="34" charset="0"/>
              </a:rPr>
              <a:t>ECONOMY OF CHINA</a:t>
            </a:r>
            <a:endParaRPr lang="en-US" sz="2800" dirty="0">
              <a:solidFill>
                <a:prstClr val="white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39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962" y="365125"/>
            <a:ext cx="10510837" cy="1349375"/>
          </a:xfrm>
        </p:spPr>
        <p:txBody>
          <a:bodyPr/>
          <a:lstStyle/>
          <a:p>
            <a:r>
              <a:rPr lang="en-IN" b="1" u="sng" dirty="0" smtClean="0"/>
              <a:t>Chinese Inventions - Lets be Clear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675" y="1828799"/>
            <a:ext cx="10525125" cy="4348163"/>
          </a:xfrm>
        </p:spPr>
        <p:txBody>
          <a:bodyPr/>
          <a:lstStyle/>
          <a:p>
            <a:r>
              <a:rPr lang="en-IN" dirty="0" smtClean="0"/>
              <a:t>Paper- 105 BC.</a:t>
            </a:r>
          </a:p>
          <a:p>
            <a:r>
              <a:rPr lang="en-IN" dirty="0" smtClean="0"/>
              <a:t>Movable Type printing – 960 AD, Tang Dynasty. Gutenberg – 1440.</a:t>
            </a:r>
          </a:p>
          <a:p>
            <a:r>
              <a:rPr lang="en-IN" dirty="0" smtClean="0"/>
              <a:t>Gunpowder – 1000 AD. Spread to Europe by the Mongols.</a:t>
            </a:r>
          </a:p>
          <a:p>
            <a:r>
              <a:rPr lang="en-IN" dirty="0" smtClean="0"/>
              <a:t>Compass 1100 AD… Initially as a Feng </a:t>
            </a:r>
            <a:r>
              <a:rPr lang="en-IN" dirty="0" err="1" smtClean="0"/>
              <a:t>Shui</a:t>
            </a:r>
            <a:r>
              <a:rPr lang="en-IN" dirty="0" smtClean="0"/>
              <a:t> Tool, not as a Navigational aid.</a:t>
            </a:r>
          </a:p>
          <a:p>
            <a:r>
              <a:rPr lang="en-IN" dirty="0" smtClean="0"/>
              <a:t>Alcohol – 2000 BC.</a:t>
            </a:r>
          </a:p>
          <a:p>
            <a:r>
              <a:rPr lang="en-IN" dirty="0" smtClean="0"/>
              <a:t>Mechanical clock – 725 AD.</a:t>
            </a:r>
          </a:p>
          <a:p>
            <a:r>
              <a:rPr lang="en-IN" dirty="0" smtClean="0"/>
              <a:t>Tea Production 2737 BC.</a:t>
            </a:r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8854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2606"/>
            <a:ext cx="10515600" cy="4351338"/>
          </a:xfrm>
        </p:spPr>
        <p:txBody>
          <a:bodyPr>
            <a:noAutofit/>
          </a:bodyPr>
          <a:lstStyle/>
          <a:p>
            <a:r>
              <a:rPr lang="en-IN" b="1" dirty="0" smtClean="0"/>
              <a:t>Silk Production – 6000 BC .</a:t>
            </a:r>
          </a:p>
          <a:p>
            <a:r>
              <a:rPr lang="en-IN" b="1" dirty="0" smtClean="0"/>
              <a:t>Umbrella- 1500 BC.</a:t>
            </a:r>
          </a:p>
          <a:p>
            <a:r>
              <a:rPr lang="en-IN" b="1" dirty="0" smtClean="0"/>
              <a:t>Acupuncture and surgery- 2300 BC</a:t>
            </a:r>
            <a:endParaRPr lang="en-IN" b="1" dirty="0"/>
          </a:p>
          <a:p>
            <a:r>
              <a:rPr lang="en-IN" b="1" dirty="0" smtClean="0"/>
              <a:t>Iron Smelting 1050 BC.</a:t>
            </a:r>
          </a:p>
          <a:p>
            <a:r>
              <a:rPr lang="en-IN" b="1" dirty="0" smtClean="0"/>
              <a:t>Porcelain.</a:t>
            </a:r>
          </a:p>
          <a:p>
            <a:r>
              <a:rPr lang="en-IN" b="1" dirty="0" smtClean="0"/>
              <a:t>Earthquake detector.</a:t>
            </a:r>
          </a:p>
          <a:p>
            <a:r>
              <a:rPr lang="en-IN" b="1" dirty="0" smtClean="0"/>
              <a:t>Rocket – 228 AD.</a:t>
            </a:r>
          </a:p>
          <a:p>
            <a:r>
              <a:rPr lang="en-IN" b="1" dirty="0" smtClean="0"/>
              <a:t>Bronze- 1700 BC.</a:t>
            </a:r>
          </a:p>
          <a:p>
            <a:r>
              <a:rPr lang="en-IN" b="1" dirty="0" smtClean="0"/>
              <a:t>Kite – 1000 BC.</a:t>
            </a:r>
          </a:p>
          <a:p>
            <a:r>
              <a:rPr lang="en-IN" b="1" dirty="0" smtClean="0"/>
              <a:t>Farming Innovations- Row Crop (600 BC), Seed Drill, </a:t>
            </a:r>
          </a:p>
          <a:p>
            <a:r>
              <a:rPr lang="en-IN" b="1" dirty="0" smtClean="0"/>
              <a:t>Tooth Brush .</a:t>
            </a:r>
          </a:p>
          <a:p>
            <a:r>
              <a:rPr lang="en-IN" b="1" dirty="0" smtClean="0"/>
              <a:t>Paper Money</a:t>
            </a:r>
          </a:p>
        </p:txBody>
      </p:sp>
    </p:spTree>
    <p:extLst>
      <p:ext uri="{BB962C8B-B14F-4D97-AF65-F5344CB8AC3E}">
        <p14:creationId xmlns:p14="http://schemas.microsoft.com/office/powerpoint/2010/main" val="198388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513"/>
          </a:xfrm>
        </p:spPr>
        <p:txBody>
          <a:bodyPr/>
          <a:lstStyle/>
          <a:p>
            <a:r>
              <a:rPr lang="en-IN" b="1" u="sng" dirty="0" smtClean="0"/>
              <a:t>Du </a:t>
            </a:r>
            <a:r>
              <a:rPr lang="en-IN" b="1" u="sng" dirty="0"/>
              <a:t>J</a:t>
            </a:r>
            <a:r>
              <a:rPr lang="en-IN" b="1" u="sng" dirty="0" smtClean="0"/>
              <a:t>iang Yan. (256 BC by Qin)</a:t>
            </a:r>
            <a:br>
              <a:rPr lang="en-IN" b="1" u="sng" dirty="0" smtClean="0"/>
            </a:b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Still in Use.</a:t>
            </a:r>
          </a:p>
          <a:p>
            <a:r>
              <a:rPr lang="en-IN" dirty="0" smtClean="0">
                <a:hlinkClick r:id="rId2"/>
              </a:rPr>
              <a:t>https://www.youtube.com/watch?v=KKkwb00MeEM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923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Joseph Needham’s Science and Civilization in China.</a:t>
            </a:r>
          </a:p>
          <a:p>
            <a:r>
              <a:rPr lang="en-IN" dirty="0" smtClean="0"/>
              <a:t>Still in Progress.</a:t>
            </a:r>
          </a:p>
          <a:p>
            <a:endParaRPr lang="en-IN" dirty="0"/>
          </a:p>
          <a:p>
            <a:r>
              <a:rPr lang="en-IN" dirty="0" smtClean="0">
                <a:hlinkClick r:id="rId2"/>
              </a:rPr>
              <a:t>https://www.dailymotion.com/video/xgl7iw</a:t>
            </a:r>
            <a:endParaRPr lang="en-IN" dirty="0" smtClean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125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675" y="-160927"/>
            <a:ext cx="8472488" cy="7039867"/>
          </a:xfrm>
        </p:spPr>
      </p:pic>
    </p:spTree>
    <p:extLst>
      <p:ext uri="{BB962C8B-B14F-4D97-AF65-F5344CB8AC3E}">
        <p14:creationId xmlns:p14="http://schemas.microsoft.com/office/powerpoint/2010/main" val="281601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63663"/>
          </a:xfrm>
        </p:spPr>
        <p:txBody>
          <a:bodyPr/>
          <a:lstStyle/>
          <a:p>
            <a:pPr algn="ctr"/>
            <a:r>
              <a:rPr lang="en-IN" b="1" u="sng" dirty="0" smtClean="0"/>
              <a:t>DATA POINTS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1757363"/>
            <a:ext cx="10496550" cy="4419600"/>
          </a:xfrm>
        </p:spPr>
        <p:txBody>
          <a:bodyPr>
            <a:noAutofit/>
          </a:bodyPr>
          <a:lstStyle/>
          <a:p>
            <a:r>
              <a:rPr lang="en-IN" dirty="0" smtClean="0"/>
              <a:t>Socialist Market Economy.</a:t>
            </a:r>
          </a:p>
          <a:p>
            <a:r>
              <a:rPr lang="en-IN" dirty="0" smtClean="0"/>
              <a:t>Largest by PPP and Second Largest ($ 14T) otherwise.</a:t>
            </a:r>
          </a:p>
          <a:p>
            <a:r>
              <a:rPr lang="en-IN" dirty="0" smtClean="0"/>
              <a:t>GDP Per Capita is 73</a:t>
            </a:r>
            <a:r>
              <a:rPr lang="en-IN" baseline="30000" dirty="0" smtClean="0"/>
              <a:t>rd</a:t>
            </a:r>
            <a:r>
              <a:rPr lang="en-IN" dirty="0" smtClean="0"/>
              <a:t>. (Less Macau, which is </a:t>
            </a:r>
            <a:r>
              <a:rPr lang="en-IN" dirty="0" smtClean="0"/>
              <a:t>amongst the top</a:t>
            </a:r>
            <a:r>
              <a:rPr lang="en-IN" dirty="0" smtClean="0"/>
              <a:t>)</a:t>
            </a:r>
            <a:endParaRPr lang="en-IN" dirty="0" smtClean="0"/>
          </a:p>
          <a:p>
            <a:r>
              <a:rPr lang="en-IN" dirty="0" smtClean="0"/>
              <a:t>Largest Natural Resources (US $ 23 T).</a:t>
            </a:r>
          </a:p>
          <a:p>
            <a:r>
              <a:rPr lang="en-IN" dirty="0" smtClean="0"/>
              <a:t>Huge Banking Sector</a:t>
            </a:r>
          </a:p>
          <a:p>
            <a:pPr lvl="1"/>
            <a:r>
              <a:rPr lang="en-IN" dirty="0" smtClean="0"/>
              <a:t>$40 T in assets.</a:t>
            </a:r>
          </a:p>
          <a:p>
            <a:pPr lvl="1"/>
            <a:r>
              <a:rPr lang="en-IN" dirty="0" smtClean="0"/>
              <a:t>$28 T in Deposits.</a:t>
            </a:r>
          </a:p>
          <a:p>
            <a:r>
              <a:rPr lang="en-IN" dirty="0" smtClean="0"/>
              <a:t>4</a:t>
            </a:r>
            <a:r>
              <a:rPr lang="en-IN" baseline="30000" dirty="0" smtClean="0"/>
              <a:t>th</a:t>
            </a:r>
            <a:r>
              <a:rPr lang="en-IN" dirty="0" smtClean="0"/>
              <a:t> in Inward FDI, 11</a:t>
            </a:r>
            <a:r>
              <a:rPr lang="en-IN" baseline="30000" dirty="0" smtClean="0"/>
              <a:t>th</a:t>
            </a:r>
            <a:r>
              <a:rPr lang="en-IN" dirty="0" smtClean="0"/>
              <a:t> in Outward FDI.</a:t>
            </a:r>
          </a:p>
          <a:p>
            <a:r>
              <a:rPr lang="en-IN" dirty="0" smtClean="0"/>
              <a:t>129 of the 500 largest Companies in the World are Head Quartered in China.</a:t>
            </a:r>
          </a:p>
          <a:p>
            <a:pPr marL="0" indent="0">
              <a:buNone/>
            </a:pPr>
            <a:r>
              <a:rPr lang="en-IN" dirty="0" smtClean="0"/>
              <a:t> </a:t>
            </a: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388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112" y="1771650"/>
            <a:ext cx="10453687" cy="4405313"/>
          </a:xfrm>
        </p:spPr>
        <p:txBody>
          <a:bodyPr>
            <a:normAutofit/>
          </a:bodyPr>
          <a:lstStyle/>
          <a:p>
            <a:r>
              <a:rPr lang="en-IN" sz="3200" dirty="0" smtClean="0"/>
              <a:t>Largest Manufacturing Economy.</a:t>
            </a:r>
          </a:p>
          <a:p>
            <a:r>
              <a:rPr lang="en-IN" sz="3200" dirty="0" smtClean="0"/>
              <a:t>Second Largest Importer,</a:t>
            </a:r>
          </a:p>
          <a:p>
            <a:r>
              <a:rPr lang="en-IN" sz="3200" dirty="0" smtClean="0"/>
              <a:t>Fastest Growing Consumer Market.</a:t>
            </a:r>
          </a:p>
          <a:p>
            <a:r>
              <a:rPr lang="en-IN" sz="3200" dirty="0" smtClean="0"/>
              <a:t>31</a:t>
            </a:r>
            <a:r>
              <a:rPr lang="en-IN" sz="3200" baseline="30000" dirty="0" smtClean="0"/>
              <a:t>st</a:t>
            </a:r>
            <a:r>
              <a:rPr lang="en-IN" sz="3200" dirty="0" smtClean="0"/>
              <a:t> on Ease of Doing Business.</a:t>
            </a:r>
          </a:p>
          <a:p>
            <a:r>
              <a:rPr lang="en-IN" sz="3200" dirty="0" smtClean="0"/>
              <a:t>28</a:t>
            </a:r>
            <a:r>
              <a:rPr lang="en-IN" sz="3200" baseline="30000" dirty="0" smtClean="0"/>
              <a:t>th</a:t>
            </a:r>
            <a:r>
              <a:rPr lang="en-IN" sz="3200" dirty="0" smtClean="0"/>
              <a:t> on Global Competitiveness Report</a:t>
            </a:r>
          </a:p>
          <a:p>
            <a:r>
              <a:rPr lang="en-IN" sz="3200" dirty="0" smtClean="0"/>
              <a:t>Provinces in the Coast are far more developed and industrialized.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4518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92225"/>
          </a:xfrm>
        </p:spPr>
        <p:txBody>
          <a:bodyPr/>
          <a:lstStyle/>
          <a:p>
            <a:r>
              <a:rPr lang="en-IN" b="1" u="sng" dirty="0" smtClean="0"/>
              <a:t>Misunderstanding of China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388" y="1871663"/>
            <a:ext cx="10539412" cy="4376738"/>
          </a:xfrm>
        </p:spPr>
        <p:txBody>
          <a:bodyPr/>
          <a:lstStyle/>
          <a:p>
            <a:r>
              <a:rPr lang="en-IN" dirty="0" smtClean="0">
                <a:hlinkClick r:id="rId2"/>
              </a:rPr>
              <a:t>https://www.youtube.com/watch?v=zY2iPePjXAU</a:t>
            </a:r>
            <a:endParaRPr lang="en-IN" dirty="0" smtClean="0"/>
          </a:p>
          <a:p>
            <a:endParaRPr lang="en-IN" dirty="0"/>
          </a:p>
          <a:p>
            <a:r>
              <a:rPr lang="en-IN" dirty="0" smtClean="0"/>
              <a:t>While Political freedoms haven’t increased, personal freedoms have expanded vastly.</a:t>
            </a:r>
          </a:p>
          <a:p>
            <a:r>
              <a:rPr lang="en-IN" dirty="0" smtClean="0"/>
              <a:t>Most Pro business Govt in the World.</a:t>
            </a:r>
          </a:p>
          <a:p>
            <a:r>
              <a:rPr lang="en-IN" dirty="0" smtClean="0"/>
              <a:t>Contributes more to Global growth than US, Europe and Japan Combined.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4923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77950"/>
          </a:xfrm>
        </p:spPr>
        <p:txBody>
          <a:bodyPr/>
          <a:lstStyle/>
          <a:p>
            <a:pPr algn="ctr"/>
            <a:r>
              <a:rPr lang="en-IN" b="1" u="sng" dirty="0" smtClean="0"/>
              <a:t>RISE OF CHINA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IN" b="1" dirty="0" smtClean="0"/>
              <a:t>Fastest Growing Country for several decades. Above 9%. 6 % currently.</a:t>
            </a:r>
          </a:p>
          <a:p>
            <a:r>
              <a:rPr lang="en-IN" b="1" dirty="0" smtClean="0"/>
              <a:t>Increased Competitiveness in manufacturing.</a:t>
            </a:r>
          </a:p>
          <a:p>
            <a:r>
              <a:rPr lang="en-IN" b="1" dirty="0" smtClean="0"/>
              <a:t>Shift from Public to Private Ownership </a:t>
            </a:r>
          </a:p>
          <a:p>
            <a:r>
              <a:rPr lang="en-IN" b="1" dirty="0" smtClean="0"/>
              <a:t>% of Population living below US $ 1 per day has dropped from 60% in 1980 to less than  13% in 2003 to less than 5% in 2010 and barely a handful today.</a:t>
            </a:r>
          </a:p>
          <a:p>
            <a:r>
              <a:rPr lang="en-IN" b="1" dirty="0" smtClean="0"/>
              <a:t>It is hugely attributable to massive spending in Infra, about 15% of GDP.</a:t>
            </a:r>
          </a:p>
          <a:p>
            <a:r>
              <a:rPr lang="en-IN" b="1" dirty="0" smtClean="0"/>
              <a:t>Tops in Railway and roads and they were behind us till recently. </a:t>
            </a:r>
          </a:p>
          <a:p>
            <a:r>
              <a:rPr lang="en-IN" b="1" dirty="0" smtClean="0"/>
              <a:t>High speed rail exceeds rest of the world put together.</a:t>
            </a:r>
          </a:p>
          <a:p>
            <a:endParaRPr lang="en-IN" b="1" dirty="0" smtClean="0"/>
          </a:p>
          <a:p>
            <a:endParaRPr lang="en-IN" b="1" dirty="0" smtClean="0"/>
          </a:p>
          <a:p>
            <a:endParaRPr lang="en-IN" b="1" dirty="0" smtClean="0"/>
          </a:p>
          <a:p>
            <a:endParaRPr lang="en-IN" b="1" dirty="0" smtClean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84593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143000"/>
            <a:ext cx="10782300" cy="5033963"/>
          </a:xfrm>
        </p:spPr>
        <p:txBody>
          <a:bodyPr/>
          <a:lstStyle/>
          <a:p>
            <a:r>
              <a:rPr lang="en-IN" b="1" dirty="0" smtClean="0"/>
              <a:t>Consumes 50% of almost every raw material in the world. Steel, Cement,  Copper etc.</a:t>
            </a:r>
          </a:p>
          <a:p>
            <a:r>
              <a:rPr lang="en-IN" b="1" dirty="0" smtClean="0"/>
              <a:t>Factory of the World.</a:t>
            </a:r>
          </a:p>
          <a:p>
            <a:r>
              <a:rPr lang="en-IN" b="1" dirty="0" smtClean="0"/>
              <a:t>Projects are huge in Variety and Scope.</a:t>
            </a:r>
          </a:p>
          <a:p>
            <a:r>
              <a:rPr lang="en-IN" b="1" dirty="0" smtClean="0"/>
              <a:t>Rate of Construction.</a:t>
            </a:r>
          </a:p>
          <a:p>
            <a:r>
              <a:rPr lang="en-IN" b="1" dirty="0" smtClean="0"/>
              <a:t>Very Hard Working People.</a:t>
            </a:r>
          </a:p>
          <a:p>
            <a:endParaRPr lang="en-IN" b="1" dirty="0" smtClean="0"/>
          </a:p>
          <a:p>
            <a:pPr marL="0" indent="0">
              <a:buNone/>
            </a:pPr>
            <a:endParaRPr lang="en-IN" b="1" dirty="0" smtClean="0"/>
          </a:p>
          <a:p>
            <a:endParaRPr lang="en-IN" b="1" dirty="0" smtClean="0"/>
          </a:p>
          <a:p>
            <a:endParaRPr lang="en-IN" b="1" dirty="0"/>
          </a:p>
        </p:txBody>
      </p:sp>
      <p:sp>
        <p:nvSpPr>
          <p:cNvPr id="4" name="Action Button: Forward or Next 3">
            <a:hlinkClick r:id="rId2" action="ppaction://hlinkfile" highlightClick="1"/>
          </p:cNvPr>
          <p:cNvSpPr/>
          <p:nvPr/>
        </p:nvSpPr>
        <p:spPr>
          <a:xfrm flipV="1">
            <a:off x="2828924" y="5614987"/>
            <a:ext cx="771525" cy="314325"/>
          </a:xfrm>
          <a:prstGeom prst="actionButtonForwardNext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0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1475"/>
            <a:ext cx="10515600" cy="1319213"/>
          </a:xfrm>
        </p:spPr>
        <p:txBody>
          <a:bodyPr/>
          <a:lstStyle/>
          <a:p>
            <a:pPr algn="ctr"/>
            <a:r>
              <a:rPr lang="en-IN" b="1" u="sng" dirty="0" smtClean="0"/>
              <a:t>FOCUS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Action Button: Forward or Next 3">
            <a:hlinkClick r:id="rId2" action="ppaction://hlinkfile" highlightClick="1"/>
          </p:cNvPr>
          <p:cNvSpPr/>
          <p:nvPr/>
        </p:nvSpPr>
        <p:spPr>
          <a:xfrm>
            <a:off x="3843337" y="3086100"/>
            <a:ext cx="528638" cy="37623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14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365125"/>
            <a:ext cx="10496550" cy="1406525"/>
          </a:xfrm>
        </p:spPr>
        <p:txBody>
          <a:bodyPr>
            <a:normAutofit/>
          </a:bodyPr>
          <a:lstStyle/>
          <a:p>
            <a:r>
              <a:rPr lang="en-IN" sz="4000" dirty="0" smtClean="0"/>
              <a:t>Please Read the Book – Factory Girls by Leslie Chang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>
              <a:hlinkClick r:id="rId2"/>
            </a:endParaRPr>
          </a:p>
          <a:p>
            <a:endParaRPr lang="en-IN" dirty="0">
              <a:hlinkClick r:id="rId2"/>
            </a:endParaRPr>
          </a:p>
          <a:p>
            <a:r>
              <a:rPr lang="en-IN" dirty="0" smtClean="0">
                <a:hlinkClick r:id="rId2"/>
              </a:rPr>
              <a:t>https</a:t>
            </a:r>
            <a:r>
              <a:rPr lang="en-IN" dirty="0">
                <a:hlinkClick r:id="rId2"/>
              </a:rPr>
              <a:t>://www.youtube.com/watch?v=Jk-xqPKOxl4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973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77938"/>
          </a:xfrm>
        </p:spPr>
        <p:txBody>
          <a:bodyPr/>
          <a:lstStyle/>
          <a:p>
            <a:r>
              <a:rPr lang="en-IN" b="1" u="sng" dirty="0" smtClean="0"/>
              <a:t>China’s Economy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388" y="1800225"/>
            <a:ext cx="10539412" cy="4376738"/>
          </a:xfrm>
        </p:spPr>
        <p:txBody>
          <a:bodyPr/>
          <a:lstStyle/>
          <a:p>
            <a:r>
              <a:rPr lang="en-IN" dirty="0" smtClean="0"/>
              <a:t>7.2% of World Trade.</a:t>
            </a:r>
          </a:p>
          <a:p>
            <a:r>
              <a:rPr lang="en-IN" dirty="0" smtClean="0"/>
              <a:t>Attracted over USD 1 T worth of FDI since 1978.</a:t>
            </a:r>
          </a:p>
          <a:p>
            <a:r>
              <a:rPr lang="en-IN" dirty="0" smtClean="0"/>
              <a:t>Largest Foreign exchange Reserves of USD 3 T , while dropping recently, remains thrice anyone else.</a:t>
            </a: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25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066800"/>
            <a:ext cx="89916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39700" dir="2700000" algn="tl" rotWithShape="0">
              <a:srgbClr val="333333">
                <a:alpha val="64999"/>
              </a:srgbClr>
            </a:outerShdw>
          </a:effectLst>
        </p:spPr>
      </p:pic>
      <p:sp>
        <p:nvSpPr>
          <p:cNvPr id="55301" name="Title 3"/>
          <p:cNvSpPr>
            <a:spLocks noGrp="1"/>
          </p:cNvSpPr>
          <p:nvPr>
            <p:ph type="title" idx="4294967295"/>
          </p:nvPr>
        </p:nvSpPr>
        <p:spPr>
          <a:xfrm>
            <a:off x="0" y="277813"/>
            <a:ext cx="7772400" cy="758825"/>
          </a:xfrm>
        </p:spPr>
        <p:txBody>
          <a:bodyPr/>
          <a:lstStyle/>
          <a:p>
            <a:pPr eaLnBrk="1" hangingPunct="1"/>
            <a:r>
              <a:rPr lang="en-US" sz="2800" b="1" u="sng" dirty="0">
                <a:solidFill>
                  <a:schemeClr val="bg1"/>
                </a:solidFill>
              </a:rPr>
              <a:t>THE CENTRALITY OF TRADE IN CHINA’S RISE.</a:t>
            </a:r>
          </a:p>
        </p:txBody>
      </p:sp>
    </p:spTree>
    <p:extLst>
      <p:ext uri="{BB962C8B-B14F-4D97-AF65-F5344CB8AC3E}">
        <p14:creationId xmlns:p14="http://schemas.microsoft.com/office/powerpoint/2010/main" val="240018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http://static01.nyt.com/images/2015/08/26/business/how-the-chinese-economy-matters-maps-charts-1440630333968/how-the-chinese-economy-matters-maps-charts-1440630333968-master495.png">
            <a:hlinkClick r:id="rId2"/>
          </p:cNvPr>
          <p:cNvPicPr>
            <a:picLocks noGrp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28738" y="128588"/>
            <a:ext cx="9339262" cy="661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1687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http://static01.nyt.com/images/2015/07/06/world/asia/the-world-according-to-china-investment-maps-1436222568352/the-world-according-to-china-investment-maps-1436222568352-master495.png">
            <a:hlinkClick r:id="rId2"/>
          </p:cNvPr>
          <p:cNvPicPr>
            <a:picLocks noGrp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685800"/>
            <a:ext cx="86106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349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hina-2020-what-will-china-look-like-in-the-future-29-63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05140" y="609600"/>
            <a:ext cx="8281861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300" y="128589"/>
            <a:ext cx="1190148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latin typeface="Calibri"/>
              </a:rPr>
              <a:t>  Exports maintain domestic social order by providing a significant source of jobs right away, rather than in some future scenario involving the rebalancing of their work forces. </a:t>
            </a:r>
          </a:p>
          <a:p>
            <a:pPr>
              <a:buFont typeface="Wingdings" pitchFamily="2" charset="2"/>
              <a:buChar char="Ø"/>
            </a:pPr>
            <a:endParaRPr lang="en-US" sz="2800" b="1" dirty="0">
              <a:latin typeface="Calibri"/>
            </a:endParaRPr>
          </a:p>
          <a:p>
            <a:pPr>
              <a:buFont typeface="Wingdings" pitchFamily="2" charset="2"/>
              <a:buChar char="Ø"/>
            </a:pPr>
            <a:r>
              <a:rPr lang="en-US" sz="2800" b="1" dirty="0">
                <a:latin typeface="Calibri"/>
              </a:rPr>
              <a:t>  For China, whose Communist Party was shaped by the rising up of the unemployed in Shanghai in 1927, maintaining full employment is a bulwark in defense of the government. </a:t>
            </a:r>
          </a:p>
          <a:p>
            <a:pPr>
              <a:buFont typeface="Wingdings" pitchFamily="2" charset="2"/>
              <a:buChar char="Ø"/>
            </a:pPr>
            <a:endParaRPr lang="en-US" sz="2800" b="1" dirty="0">
              <a:latin typeface="Calibri"/>
            </a:endParaRPr>
          </a:p>
          <a:p>
            <a:pPr>
              <a:buFont typeface="Wingdings" pitchFamily="2" charset="2"/>
              <a:buChar char="Ø"/>
            </a:pPr>
            <a:r>
              <a:rPr lang="en-US" sz="2800" b="1" dirty="0">
                <a:latin typeface="Calibri"/>
              </a:rPr>
              <a:t>  China looks at unemployment not only in terms of economics, but also in terms of social stability and governmental survival. Therefore, exports are not simply a number, but the foundation of the current “social stability”</a:t>
            </a:r>
          </a:p>
        </p:txBody>
      </p:sp>
    </p:spTree>
    <p:extLst>
      <p:ext uri="{BB962C8B-B14F-4D97-AF65-F5344CB8AC3E}">
        <p14:creationId xmlns:p14="http://schemas.microsoft.com/office/powerpoint/2010/main" val="219526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N" dirty="0" smtClean="0"/>
              <a:t>All Sorts of freedom to Employers, none to Employees.</a:t>
            </a:r>
          </a:p>
          <a:p>
            <a:r>
              <a:rPr lang="en-IN" dirty="0" smtClean="0"/>
              <a:t>Entrepreneurship is encouraged, Can even get Party Membership.</a:t>
            </a:r>
          </a:p>
          <a:p>
            <a:r>
              <a:rPr lang="en-IN" dirty="0" smtClean="0"/>
              <a:t>Advocates for Social Justice and Rights of Labour face every difficulty and No Question of Recognition by the Party</a:t>
            </a:r>
          </a:p>
          <a:p>
            <a:endParaRPr lang="en-IN" dirty="0"/>
          </a:p>
          <a:p>
            <a:r>
              <a:rPr lang="en-IN" dirty="0" smtClean="0"/>
              <a:t>Socialism with Chinese Characteristics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235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600200" y="857233"/>
            <a:ext cx="9234518" cy="4524315"/>
          </a:xfrm>
          <a:prstGeom prst="rect">
            <a:avLst/>
          </a:prstGeom>
          <a:solidFill>
            <a:srgbClr val="333399"/>
          </a:solidFill>
          <a:ln w="127000" cmpd="sng">
            <a:solidFill>
              <a:srgbClr val="663300"/>
            </a:solidFill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altLang="zh-CN" sz="2400" b="1" dirty="0">
                <a:solidFill>
                  <a:srgbClr val="FFFF00"/>
                </a:solidFill>
                <a:latin typeface="Tahoma" pitchFamily="34" charset="0"/>
                <a:ea typeface="宋体" panose="02010600030101010101" pitchFamily="2" charset="-122"/>
                <a:cs typeface="Tahoma" pitchFamily="34" charset="0"/>
              </a:rPr>
              <a:t> CHINA IS AN “ALMOST” DEVELOPED COUNTRY. THAT IS THE UNCOMFORTABLE TRUTH. HOWEVER IT IS NOT A WELFARE STATE.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Tahoma" pitchFamily="34" charset="0"/>
                <a:ea typeface="宋体" panose="02010600030101010101" pitchFamily="2" charset="-122"/>
                <a:cs typeface="Tahoma" pitchFamily="34" charset="0"/>
              </a:rPr>
              <a:t> THE PARTY IS SEEN TO HAVE DELIVERED THE GOODS.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altLang="zh-CN" sz="2400" b="1" dirty="0">
                <a:solidFill>
                  <a:srgbClr val="FFFF00"/>
                </a:solidFill>
                <a:latin typeface="Tahoma" pitchFamily="34" charset="0"/>
                <a:ea typeface="宋体" panose="02010600030101010101" pitchFamily="2" charset="-122"/>
                <a:cs typeface="Tahoma" pitchFamily="34" charset="0"/>
              </a:rPr>
              <a:t> POOR PEOPLE, WHAT POOR PEOPLE?? BUT 1% CONTROL 1/3 WEALTH.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Tahoma" pitchFamily="34" charset="0"/>
                <a:ea typeface="宋体" panose="02010600030101010101" pitchFamily="2" charset="-122"/>
                <a:cs typeface="Tahoma" pitchFamily="34" charset="0"/>
              </a:rPr>
              <a:t> UNBALANCED DEVELOPMENT. UNHEALTHY STATE OF FINANCIAL SYSTEM.</a:t>
            </a:r>
            <a:endParaRPr lang="zh-CN" altLang="en-US" sz="2400" b="1" dirty="0">
              <a:solidFill>
                <a:prstClr val="white"/>
              </a:solidFill>
              <a:latin typeface="Tahoma" pitchFamily="34" charset="0"/>
              <a:ea typeface="宋体" panose="02010600030101010101" pitchFamily="2" charset="-122"/>
              <a:cs typeface="Tahoma" pitchFamily="34" charset="0"/>
            </a:endParaRPr>
          </a:p>
        </p:txBody>
      </p:sp>
      <p:sp>
        <p:nvSpPr>
          <p:cNvPr id="6" name="Bevel 5"/>
          <p:cNvSpPr/>
          <p:nvPr/>
        </p:nvSpPr>
        <p:spPr>
          <a:xfrm>
            <a:off x="1524000" y="-24"/>
            <a:ext cx="9144000" cy="642918"/>
          </a:xfrm>
          <a:prstGeom prst="bevel">
            <a:avLst/>
          </a:prstGeom>
          <a:solidFill>
            <a:srgbClr val="FF0000"/>
          </a:solidFill>
          <a:ln cap="sq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u="sng" dirty="0">
                <a:solidFill>
                  <a:prstClr val="white"/>
                </a:solidFill>
                <a:latin typeface="Tahoma" pitchFamily="34" charset="0"/>
                <a:ea typeface="宋体" panose="02010600030101010101" pitchFamily="2" charset="-122"/>
                <a:cs typeface="Tahoma" pitchFamily="34" charset="0"/>
              </a:rPr>
              <a:t>ECONOMICS</a:t>
            </a:r>
            <a:endParaRPr lang="en-US" sz="2000" dirty="0">
              <a:solidFill>
                <a:prstClr val="white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517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538" y="-220667"/>
            <a:ext cx="10482262" cy="1377955"/>
          </a:xfrm>
        </p:spPr>
        <p:txBody>
          <a:bodyPr/>
          <a:lstStyle/>
          <a:p>
            <a:r>
              <a:rPr lang="en-IN" b="1" u="sng" dirty="0" smtClean="0"/>
              <a:t>Human Development Index : 2015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2" y="5014910"/>
            <a:ext cx="2486039" cy="557215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86 as of 2017</a:t>
            </a:r>
            <a:endParaRPr lang="en-IN" dirty="0"/>
          </a:p>
        </p:txBody>
      </p:sp>
      <p:pic>
        <p:nvPicPr>
          <p:cNvPr id="1026" name="Picture 2" descr="https://images.livemint.com/r/LiveMint/Period1/2015/12/15/Photos/web-pg1-(HDI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032" y="1305951"/>
            <a:ext cx="8129590" cy="5395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030075" y="53149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570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52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endParaRPr lang="zh-CN" altLang="en-US" i="1" dirty="0"/>
          </a:p>
        </p:txBody>
      </p:sp>
      <p:sp>
        <p:nvSpPr>
          <p:cNvPr id="4" name="Bevel 3"/>
          <p:cNvSpPr/>
          <p:nvPr/>
        </p:nvSpPr>
        <p:spPr>
          <a:xfrm>
            <a:off x="1524000" y="2133576"/>
            <a:ext cx="9144000" cy="3429024"/>
          </a:xfrm>
          <a:prstGeom prst="bevel">
            <a:avLst>
              <a:gd name="adj" fmla="val 1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u="sng" dirty="0">
                <a:solidFill>
                  <a:prstClr val="white"/>
                </a:solidFill>
                <a:latin typeface="Tahoma" pitchFamily="34" charset="0"/>
                <a:ea typeface="宋体" panose="02010600030101010101" pitchFamily="2" charset="-122"/>
                <a:cs typeface="Tahoma" pitchFamily="34" charset="0"/>
              </a:rPr>
              <a:t>WILL THEY ACHIEVE THEIR ECO GOALS?</a:t>
            </a:r>
            <a:endParaRPr lang="en-US" sz="2800" dirty="0">
              <a:solidFill>
                <a:prstClr val="white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458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 smtClean="0"/>
              <a:t>CHALLENGES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388" y="1843087"/>
            <a:ext cx="10539412" cy="4333875"/>
          </a:xfrm>
        </p:spPr>
        <p:txBody>
          <a:bodyPr>
            <a:normAutofit/>
          </a:bodyPr>
          <a:lstStyle/>
          <a:p>
            <a:r>
              <a:rPr lang="en-IN" sz="3600" dirty="0" smtClean="0"/>
              <a:t>Difficult to maintain High Growth</a:t>
            </a:r>
          </a:p>
          <a:p>
            <a:pPr lvl="1"/>
            <a:r>
              <a:rPr lang="en-IN" sz="3200" dirty="0"/>
              <a:t>S</a:t>
            </a:r>
            <a:r>
              <a:rPr lang="en-IN" sz="3200" dirty="0" smtClean="0"/>
              <a:t>hrinking low end export Sector.</a:t>
            </a:r>
          </a:p>
          <a:p>
            <a:pPr lvl="1"/>
            <a:r>
              <a:rPr lang="en-IN" sz="3200" dirty="0" smtClean="0"/>
              <a:t>Deflated Construction Bubble.</a:t>
            </a:r>
          </a:p>
          <a:p>
            <a:endParaRPr lang="en-IN" sz="3600" dirty="0"/>
          </a:p>
          <a:p>
            <a:r>
              <a:rPr lang="en-IN" sz="3600" dirty="0" smtClean="0"/>
              <a:t>Only Solution</a:t>
            </a:r>
          </a:p>
          <a:p>
            <a:pPr lvl="1"/>
            <a:r>
              <a:rPr lang="en-IN" sz="3200" dirty="0" smtClean="0"/>
              <a:t>Improve High Tech Exports.</a:t>
            </a:r>
          </a:p>
          <a:p>
            <a:pPr lvl="1"/>
            <a:r>
              <a:rPr lang="en-IN" sz="3200" dirty="0" smtClean="0"/>
              <a:t>Improve Domestic Consumption.</a:t>
            </a:r>
          </a:p>
          <a:p>
            <a:pPr lvl="1"/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68593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IN" b="1" u="sng" dirty="0" smtClean="0"/>
              <a:t>UNPREDICTABLE SITUATION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2962" y="1814513"/>
            <a:ext cx="10510837" cy="4362450"/>
          </a:xfrm>
        </p:spPr>
        <p:txBody>
          <a:bodyPr/>
          <a:lstStyle/>
          <a:p>
            <a:r>
              <a:rPr lang="en-IN" dirty="0" smtClean="0"/>
              <a:t>Party does not like Unpredictability.</a:t>
            </a:r>
          </a:p>
          <a:p>
            <a:r>
              <a:rPr lang="en-IN" dirty="0" smtClean="0"/>
              <a:t>Japan is contesting China.</a:t>
            </a:r>
          </a:p>
          <a:p>
            <a:r>
              <a:rPr lang="en-IN" dirty="0" smtClean="0"/>
              <a:t>Money flowing Outwards. Mainly in Real estate.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 smtClean="0"/>
              <a:t>China is reacting to Change as always, turning Inwards…. Zheng He</a:t>
            </a:r>
          </a:p>
          <a:p>
            <a:r>
              <a:rPr lang="en-IN" dirty="0"/>
              <a:t>Halved by 50% since 2018.</a:t>
            </a: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7378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0800"/>
          </a:xfrm>
        </p:spPr>
        <p:txBody>
          <a:bodyPr/>
          <a:lstStyle/>
          <a:p>
            <a:pPr algn="ctr"/>
            <a:r>
              <a:rPr lang="en-IN" b="1" u="sng" dirty="0" smtClean="0"/>
              <a:t>INTERNATIONALIZATION OF THE RENMINBI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N" dirty="0" smtClean="0"/>
              <a:t>Getting Stronger and Stronger (the current devaluation is a tactical response to the Trade War).</a:t>
            </a:r>
          </a:p>
          <a:p>
            <a:r>
              <a:rPr lang="en-IN" dirty="0" smtClean="0"/>
              <a:t>Founding of AIIB.</a:t>
            </a:r>
          </a:p>
          <a:p>
            <a:r>
              <a:rPr lang="en-IN" dirty="0" err="1" smtClean="0"/>
              <a:t>Renminbi</a:t>
            </a:r>
            <a:r>
              <a:rPr lang="en-IN" dirty="0" smtClean="0"/>
              <a:t> Settling.</a:t>
            </a:r>
          </a:p>
          <a:p>
            <a:r>
              <a:rPr lang="en-IN" dirty="0" smtClean="0"/>
              <a:t>Iran Push since this year. (US Sanctions Not so threatening anymore)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745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 smtClean="0"/>
              <a:t>One big Problem- Unreliable Numbers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5824" y="1757363"/>
            <a:ext cx="10467975" cy="4419600"/>
          </a:xfrm>
        </p:spPr>
        <p:txBody>
          <a:bodyPr/>
          <a:lstStyle/>
          <a:p>
            <a:r>
              <a:rPr lang="en-IN" dirty="0" smtClean="0"/>
              <a:t>Liaoning Govt overstated GDP by 20%. (2011-14)</a:t>
            </a:r>
          </a:p>
          <a:p>
            <a:r>
              <a:rPr lang="en-IN" dirty="0" smtClean="0"/>
              <a:t>Tianjin by 33%. (2016).</a:t>
            </a:r>
          </a:p>
          <a:p>
            <a:r>
              <a:rPr lang="en-IN" i="1" dirty="0" err="1" smtClean="0"/>
              <a:t>Bao</a:t>
            </a:r>
            <a:r>
              <a:rPr lang="en-IN" i="1" dirty="0" smtClean="0"/>
              <a:t> </a:t>
            </a:r>
            <a:r>
              <a:rPr lang="en-IN" i="1" dirty="0" err="1" smtClean="0"/>
              <a:t>ba</a:t>
            </a:r>
            <a:r>
              <a:rPr lang="en-IN" i="1" dirty="0" smtClean="0"/>
              <a:t> </a:t>
            </a:r>
            <a:r>
              <a:rPr lang="en-IN" dirty="0" smtClean="0"/>
              <a:t>(Protect Eight).</a:t>
            </a:r>
          </a:p>
          <a:p>
            <a:r>
              <a:rPr lang="en-IN" dirty="0" smtClean="0"/>
              <a:t>Li </a:t>
            </a:r>
            <a:r>
              <a:rPr lang="en-IN" dirty="0" err="1" smtClean="0"/>
              <a:t>Ke</a:t>
            </a:r>
            <a:r>
              <a:rPr lang="en-IN" dirty="0" smtClean="0"/>
              <a:t> </a:t>
            </a:r>
            <a:r>
              <a:rPr lang="en-IN" dirty="0" err="1" smtClean="0"/>
              <a:t>Qiang</a:t>
            </a:r>
            <a:r>
              <a:rPr lang="en-IN" dirty="0" smtClean="0"/>
              <a:t> Index</a:t>
            </a:r>
          </a:p>
          <a:p>
            <a:pPr lvl="1"/>
            <a:r>
              <a:rPr lang="en-IN" dirty="0" smtClean="0"/>
              <a:t>Numbers are man made.</a:t>
            </a:r>
          </a:p>
          <a:p>
            <a:pPr lvl="1"/>
            <a:r>
              <a:rPr lang="en-IN" dirty="0" smtClean="0"/>
              <a:t>To be used for ref only.</a:t>
            </a:r>
          </a:p>
          <a:p>
            <a:pPr lvl="1"/>
            <a:r>
              <a:rPr lang="en-IN" dirty="0" smtClean="0"/>
              <a:t>Electricity Consumption, Cargo Volume and Bank Loan disbursement data.</a:t>
            </a:r>
          </a:p>
          <a:p>
            <a:endParaRPr lang="en-IN" dirty="0" smtClean="0"/>
          </a:p>
          <a:p>
            <a:pPr lvl="1"/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798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513"/>
          </a:xfrm>
        </p:spPr>
        <p:txBody>
          <a:bodyPr/>
          <a:lstStyle/>
          <a:p>
            <a:pPr algn="ctr"/>
            <a:r>
              <a:rPr lang="en-IN" b="1" u="sng" dirty="0" smtClean="0"/>
              <a:t>THE PROPERTY BUBBLE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altLang="zh-CN" dirty="0"/>
              <a:t>2009 CHINA LAUNCHED A $ 600B(1 T?) STIMULUS. TO SOEs.</a:t>
            </a:r>
          </a:p>
          <a:p>
            <a:pPr>
              <a:defRPr/>
            </a:pPr>
            <a:r>
              <a:rPr lang="en-US" altLang="zh-CN" dirty="0"/>
              <a:t>MONEY FROM NON STATE ENTERPRISES.</a:t>
            </a:r>
          </a:p>
          <a:p>
            <a:pPr>
              <a:defRPr/>
            </a:pPr>
            <a:r>
              <a:rPr lang="en-US" altLang="zh-CN" dirty="0" smtClean="0"/>
              <a:t>INFRASTRUCTURE</a:t>
            </a:r>
            <a:r>
              <a:rPr lang="en-US" altLang="zh-CN" dirty="0"/>
              <a:t>, REAL ESTATE. TRIANGULAR LOANS.</a:t>
            </a:r>
          </a:p>
          <a:p>
            <a:pPr>
              <a:defRPr/>
            </a:pPr>
            <a:r>
              <a:rPr lang="en-US" altLang="zh-CN" dirty="0"/>
              <a:t>50 % TAX REVENUES COME FROM SALE OF LAND. COLLUSION.</a:t>
            </a:r>
          </a:p>
          <a:p>
            <a:pPr>
              <a:defRPr/>
            </a:pPr>
            <a:r>
              <a:rPr lang="en-US" altLang="zh-CN" dirty="0" smtClean="0"/>
              <a:t>LAND </a:t>
            </a:r>
            <a:r>
              <a:rPr lang="en-US" altLang="zh-CN" dirty="0"/>
              <a:t>SALES INCREASED . BUT MATCHING APARTMENTS  NOT SOLD. INFACT LESSER DUE TO CURBS.</a:t>
            </a:r>
          </a:p>
          <a:p>
            <a:pPr>
              <a:defRPr/>
            </a:pPr>
            <a:r>
              <a:rPr lang="en-US" altLang="zh-CN" dirty="0"/>
              <a:t>TOTAL FLOOR AREA IN URBAN AREAS 43 B SQ M, OR 53.75 SQ M PER PERSON (EVEN IF 800M ARE IN CITIES). THAT MEANS A FAMILY OF 3 HAS 160 SQ M, ACTUAL MAY BE LESS THAN HALF. OVERSUPPLY.</a:t>
            </a:r>
          </a:p>
          <a:p>
            <a:pPr>
              <a:defRPr/>
            </a:pPr>
            <a:r>
              <a:rPr lang="en-US" altLang="zh-CN" dirty="0" smtClean="0"/>
              <a:t>PROBLEM </a:t>
            </a:r>
            <a:r>
              <a:rPr lang="en-US" altLang="zh-CN" dirty="0"/>
              <a:t>ALSO THAT PROPERTY USED AS COLLATERAL FOR VIRTUALLY ALL FORMS OF BORROWING. </a:t>
            </a:r>
          </a:p>
        </p:txBody>
      </p:sp>
    </p:spTree>
    <p:extLst>
      <p:ext uri="{BB962C8B-B14F-4D97-AF65-F5344CB8AC3E}">
        <p14:creationId xmlns:p14="http://schemas.microsoft.com/office/powerpoint/2010/main" val="19605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513"/>
          </a:xfrm>
        </p:spPr>
        <p:txBody>
          <a:bodyPr/>
          <a:lstStyle/>
          <a:p>
            <a:pPr algn="ctr"/>
            <a:r>
              <a:rPr lang="en-IN" b="1" u="sng" dirty="0" smtClean="0"/>
              <a:t>IMPACT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5825" y="1557332"/>
            <a:ext cx="10467974" cy="429101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Falling real estate prices impact everyone.</a:t>
            </a:r>
          </a:p>
          <a:p>
            <a:pPr>
              <a:lnSpc>
                <a:spcPct val="150000"/>
              </a:lnSpc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people contributing to the coffers are exporters…. Already under squeeze.</a:t>
            </a:r>
          </a:p>
          <a:p>
            <a:pPr>
              <a:lnSpc>
                <a:spcPct val="150000"/>
              </a:lnSpc>
            </a:pPr>
            <a:r>
              <a:rPr lang="en-I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SME shut down wave. Wenzhou.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23% of loans </a:t>
            </a:r>
            <a:r>
              <a:rPr lang="en-US" altLang="zh-CN" sz="24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sp</a:t>
            </a:r>
            <a:r>
              <a:rPr lang="en-US" altLang="zh-CN" sz="24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by municipalities is total loss, </a:t>
            </a:r>
            <a:r>
              <a:rPr lang="en-US" altLang="zh-CN" sz="24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addl</a:t>
            </a:r>
            <a:r>
              <a:rPr lang="en-US" altLang="zh-CN" sz="24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50% “at risk”. About $1 Trillion of Loans transferred to SPVs.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Answer- more capital controls, prevent flight.</a:t>
            </a: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Inflation. </a:t>
            </a:r>
          </a:p>
          <a:p>
            <a:pPr>
              <a:lnSpc>
                <a:spcPct val="150000"/>
              </a:lnSpc>
            </a:pPr>
            <a:endParaRPr lang="en-IN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IN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942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371475"/>
            <a:ext cx="10496550" cy="1319213"/>
          </a:xfrm>
        </p:spPr>
        <p:txBody>
          <a:bodyPr/>
          <a:lstStyle/>
          <a:p>
            <a:pPr algn="ctr"/>
            <a:r>
              <a:rPr lang="en-IN" b="1" u="sng" dirty="0" smtClean="0"/>
              <a:t>CURRENT ACCOUNT SURPLUS VANISHING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In 2007 China’s Current Account Surplus was 10% of GDP.</a:t>
            </a:r>
          </a:p>
          <a:p>
            <a:r>
              <a:rPr lang="en-IN" dirty="0" smtClean="0"/>
              <a:t>Led to global savings glut.</a:t>
            </a:r>
          </a:p>
          <a:p>
            <a:r>
              <a:rPr lang="en-IN" dirty="0" smtClean="0"/>
              <a:t>But the Current account Surplus has shrunk to 2.8% of GDP. Reasons</a:t>
            </a:r>
          </a:p>
          <a:p>
            <a:pPr lvl="1"/>
            <a:r>
              <a:rPr lang="en-IN" dirty="0" smtClean="0"/>
              <a:t>Exchange Rate has risen.</a:t>
            </a:r>
          </a:p>
          <a:p>
            <a:pPr lvl="1"/>
            <a:r>
              <a:rPr lang="en-IN" dirty="0" smtClean="0"/>
              <a:t>Cost of her imports have risen relative to prices of her exports.</a:t>
            </a:r>
          </a:p>
          <a:p>
            <a:pPr lvl="1"/>
            <a:r>
              <a:rPr lang="en-IN" dirty="0" smtClean="0"/>
              <a:t>China’s Own Spending has risen.</a:t>
            </a:r>
          </a:p>
          <a:p>
            <a:pPr lvl="1"/>
            <a:r>
              <a:rPr lang="en-IN" dirty="0" smtClean="0"/>
              <a:t>Savings rate has dropped.</a:t>
            </a:r>
          </a:p>
          <a:p>
            <a:endParaRPr lang="en-IN" dirty="0" smtClean="0"/>
          </a:p>
          <a:p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176914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u="sng" dirty="0" smtClean="0"/>
              <a:t>China – looking Ahead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hlinkClick r:id="rId2"/>
              </a:rPr>
              <a:t>https://www.youtube.com/watch?v=zY2iPePjXAU</a:t>
            </a:r>
            <a:endParaRPr lang="en-IN" dirty="0" smtClean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6863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 smtClean="0"/>
              <a:t>POLLUTION IN CHINA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1538" y="1785938"/>
            <a:ext cx="10482262" cy="4391025"/>
          </a:xfrm>
        </p:spPr>
        <p:txBody>
          <a:bodyPr/>
          <a:lstStyle/>
          <a:p>
            <a:r>
              <a:rPr lang="en-IN" dirty="0" smtClean="0"/>
              <a:t>Industrial pollution.</a:t>
            </a:r>
          </a:p>
          <a:p>
            <a:r>
              <a:rPr lang="en-IN" dirty="0" smtClean="0"/>
              <a:t>Affects safety of Crops, livestock and marine life.</a:t>
            </a:r>
          </a:p>
          <a:p>
            <a:r>
              <a:rPr lang="en-IN" dirty="0" smtClean="0"/>
              <a:t>Electronic Waste.</a:t>
            </a:r>
          </a:p>
          <a:p>
            <a:r>
              <a:rPr lang="en-IN" dirty="0" smtClean="0"/>
              <a:t>Returning containers.</a:t>
            </a:r>
          </a:p>
          <a:p>
            <a:r>
              <a:rPr lang="en-IN" dirty="0" smtClean="0"/>
              <a:t>Over Extraction.</a:t>
            </a:r>
            <a:endParaRPr lang="en-IN" dirty="0"/>
          </a:p>
          <a:p>
            <a:r>
              <a:rPr lang="en-IN" dirty="0" smtClean="0"/>
              <a:t>No Stubble burning.</a:t>
            </a:r>
          </a:p>
          <a:p>
            <a:r>
              <a:rPr lang="en-IN" dirty="0" smtClean="0"/>
              <a:t>Impact of Desert Winds and increased Desertification.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605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 smtClean="0"/>
              <a:t>Govt Steps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/>
              <a:t>Examples of Liang </a:t>
            </a:r>
            <a:r>
              <a:rPr lang="en-IN" dirty="0" smtClean="0"/>
              <a:t>Ma </a:t>
            </a:r>
            <a:r>
              <a:rPr lang="en-IN" dirty="0"/>
              <a:t>He, </a:t>
            </a:r>
            <a:r>
              <a:rPr lang="en-IN" dirty="0" smtClean="0"/>
              <a:t>Energy Conservation.</a:t>
            </a:r>
            <a:endParaRPr lang="en-IN" dirty="0"/>
          </a:p>
          <a:p>
            <a:r>
              <a:rPr lang="en-IN" dirty="0" smtClean="0"/>
              <a:t>Reduce Coal consumption. Phenomenal Investment of $ 140-160 B. Renewable, Nuclear </a:t>
            </a:r>
            <a:r>
              <a:rPr lang="en-IN" dirty="0" err="1" smtClean="0"/>
              <a:t>etc</a:t>
            </a:r>
            <a:endParaRPr lang="en-IN" dirty="0" smtClean="0"/>
          </a:p>
          <a:p>
            <a:r>
              <a:rPr lang="en-IN" dirty="0" smtClean="0"/>
              <a:t>Banned Import of Waste.</a:t>
            </a:r>
            <a:endParaRPr lang="en-IN" dirty="0"/>
          </a:p>
          <a:p>
            <a:r>
              <a:rPr lang="en-IN" dirty="0" smtClean="0"/>
              <a:t> Focus on big cities. Average AQI 35 in Beijing, to minimum of 19 on 01 Oct 2019.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203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77938"/>
          </a:xfrm>
        </p:spPr>
        <p:txBody>
          <a:bodyPr/>
          <a:lstStyle/>
          <a:p>
            <a:r>
              <a:rPr lang="en-IN" b="1" u="sng" dirty="0" smtClean="0"/>
              <a:t>US - CHINA TRADE WAR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1343025"/>
            <a:ext cx="10496550" cy="5214938"/>
          </a:xfrm>
        </p:spPr>
        <p:txBody>
          <a:bodyPr>
            <a:normAutofit fontScale="92500" lnSpcReduction="10000"/>
          </a:bodyPr>
          <a:lstStyle/>
          <a:p>
            <a:r>
              <a:rPr lang="en-IN" dirty="0" smtClean="0"/>
              <a:t>US Imports – $ 3.1 T from all over World  (17% from  China)</a:t>
            </a:r>
          </a:p>
          <a:p>
            <a:r>
              <a:rPr lang="en-IN" dirty="0" smtClean="0"/>
              <a:t>US Exports  -- $ 2.5 T ( 4.8%  to China)</a:t>
            </a:r>
          </a:p>
          <a:p>
            <a:endParaRPr lang="en-IN" dirty="0"/>
          </a:p>
          <a:p>
            <a:r>
              <a:rPr lang="en-IN" dirty="0" smtClean="0"/>
              <a:t>Deficit – $ 621 Billion (  $ 419 Billion with China- 67%)</a:t>
            </a:r>
          </a:p>
          <a:p>
            <a:r>
              <a:rPr lang="en-IN" dirty="0" smtClean="0"/>
              <a:t>1.13 T in T Bills (Used to be 1.3 T). Tool of Coercion. 28% of </a:t>
            </a:r>
            <a:r>
              <a:rPr lang="en-IN" dirty="0" smtClean="0"/>
              <a:t>all </a:t>
            </a:r>
            <a:r>
              <a:rPr lang="en-IN" dirty="0" smtClean="0"/>
              <a:t>debt.</a:t>
            </a:r>
          </a:p>
          <a:p>
            <a:endParaRPr lang="en-IN" dirty="0"/>
          </a:p>
          <a:p>
            <a:r>
              <a:rPr lang="en-IN" dirty="0" smtClean="0"/>
              <a:t>Made in China 2025 and plans to become the Superpower.</a:t>
            </a:r>
          </a:p>
          <a:p>
            <a:pPr lvl="1"/>
            <a:r>
              <a:rPr lang="en-IN" dirty="0" smtClean="0"/>
              <a:t>Pressuring Companies</a:t>
            </a:r>
          </a:p>
          <a:p>
            <a:pPr lvl="1"/>
            <a:r>
              <a:rPr lang="en-IN" dirty="0" smtClean="0"/>
              <a:t>300 b subsidies.</a:t>
            </a:r>
          </a:p>
          <a:p>
            <a:pPr lvl="1"/>
            <a:r>
              <a:rPr lang="en-IN" dirty="0" smtClean="0"/>
              <a:t>Foreign Outbound Investment in Hi Tech Companies.</a:t>
            </a:r>
          </a:p>
          <a:p>
            <a:pPr lvl="1"/>
            <a:r>
              <a:rPr lang="en-IN" dirty="0" smtClean="0"/>
              <a:t>SOE to lead all this.</a:t>
            </a:r>
          </a:p>
          <a:p>
            <a:pPr lvl="1"/>
            <a:r>
              <a:rPr lang="en-IN" dirty="0" smtClean="0"/>
              <a:t>Forcing Trade/ IPR .</a:t>
            </a:r>
          </a:p>
          <a:p>
            <a:r>
              <a:rPr lang="en-IN" dirty="0" smtClean="0"/>
              <a:t>It is all about Power and Politics.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361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388" y="1828799"/>
            <a:ext cx="10539412" cy="4348163"/>
          </a:xfrm>
        </p:spPr>
        <p:txBody>
          <a:bodyPr/>
          <a:lstStyle/>
          <a:p>
            <a:r>
              <a:rPr lang="en-IN" dirty="0" smtClean="0"/>
              <a:t>Goal is to change China’s unfair Trade practices.</a:t>
            </a:r>
          </a:p>
          <a:p>
            <a:r>
              <a:rPr lang="en-IN" dirty="0" smtClean="0"/>
              <a:t>Tit for Tat Tariffs. Virtually everything is tariffed.</a:t>
            </a:r>
          </a:p>
          <a:p>
            <a:r>
              <a:rPr lang="en-IN" dirty="0" smtClean="0"/>
              <a:t>Hurting US Companies too.</a:t>
            </a:r>
          </a:p>
          <a:p>
            <a:r>
              <a:rPr lang="en-IN" dirty="0" smtClean="0"/>
              <a:t>Farmers taking a hit. Short term pain vs Long term gain.</a:t>
            </a:r>
          </a:p>
          <a:p>
            <a:r>
              <a:rPr lang="en-IN" dirty="0" smtClean="0"/>
              <a:t>What if China sells the Debt?</a:t>
            </a:r>
          </a:p>
          <a:p>
            <a:r>
              <a:rPr lang="en-IN" dirty="0" smtClean="0"/>
              <a:t>.... Crash.</a:t>
            </a:r>
          </a:p>
          <a:p>
            <a:r>
              <a:rPr lang="en-IN" dirty="0" smtClean="0"/>
              <a:t>Can we increase our share of the pie?</a:t>
            </a:r>
            <a:br>
              <a:rPr lang="en-IN" dirty="0" smtClean="0"/>
            </a:br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3154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mtClean="0"/>
              <a:t>Thank you</a:t>
            </a:r>
            <a:endParaRPr lang="en-IN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7819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3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1" y="1036638"/>
            <a:ext cx="8391525" cy="511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39700" dir="2700000" algn="tl" rotWithShape="0">
              <a:srgbClr val="333333">
                <a:alpha val="64999"/>
              </a:srgbClr>
            </a:outerShdw>
          </a:effectLst>
        </p:spPr>
      </p:pic>
      <p:sp>
        <p:nvSpPr>
          <p:cNvPr id="72707" name="Title 7"/>
          <p:cNvSpPr>
            <a:spLocks noGrp="1"/>
          </p:cNvSpPr>
          <p:nvPr>
            <p:ph type="title"/>
          </p:nvPr>
        </p:nvSpPr>
        <p:spPr>
          <a:xfrm>
            <a:off x="1828801" y="228600"/>
            <a:ext cx="8531225" cy="59848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u="sng" dirty="0" smtClean="0">
                <a:solidFill>
                  <a:schemeClr val="bg1"/>
                </a:solidFill>
              </a:rPr>
              <a:t>ECONOMICS :THE BASICS</a:t>
            </a:r>
          </a:p>
        </p:txBody>
      </p:sp>
      <p:sp>
        <p:nvSpPr>
          <p:cNvPr id="72708" name="Date Placeholder 5"/>
          <p:cNvSpPr>
            <a:spLocks noGrp="1"/>
          </p:cNvSpPr>
          <p:nvPr>
            <p:ph type="dt" sz="half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  <a:latin typeface="Georgia" pitchFamily="-109" charset="0"/>
              </a:rPr>
              <a:t>8/12/12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0D021-0BFC-45AE-BFE5-B81B94296E1D}" type="slidenum">
              <a:rPr lang="en-US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38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4522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1523</TotalTime>
  <Words>1437</Words>
  <Application>Microsoft Office PowerPoint</Application>
  <PresentationFormat>Widescreen</PresentationFormat>
  <Paragraphs>193</Paragraphs>
  <Slides>38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宋体</vt:lpstr>
      <vt:lpstr>Arial</vt:lpstr>
      <vt:lpstr>Calibri</vt:lpstr>
      <vt:lpstr>Calibri Light</vt:lpstr>
      <vt:lpstr>等线</vt:lpstr>
      <vt:lpstr>Georgia</vt:lpstr>
      <vt:lpstr>Tahoma</vt:lpstr>
      <vt:lpstr>Wingdings</vt:lpstr>
      <vt:lpstr>Office Theme</vt:lpstr>
      <vt:lpstr>PowerPoint Presentation</vt:lpstr>
      <vt:lpstr>Chinese Inventions - Lets be Clear</vt:lpstr>
      <vt:lpstr>PowerPoint Presentation</vt:lpstr>
      <vt:lpstr>Du Jiang Yan. (256 BC by Qin) </vt:lpstr>
      <vt:lpstr>PowerPoint Presentation</vt:lpstr>
      <vt:lpstr>PowerPoint Presentation</vt:lpstr>
      <vt:lpstr>DATA POINTS</vt:lpstr>
      <vt:lpstr>PowerPoint Presentation</vt:lpstr>
      <vt:lpstr>Misunderstanding of China</vt:lpstr>
      <vt:lpstr>RISE OF CHINA</vt:lpstr>
      <vt:lpstr>PowerPoint Presentation</vt:lpstr>
      <vt:lpstr>FOCUS</vt:lpstr>
      <vt:lpstr>Please Read the Book – Factory Girls by Leslie Chang</vt:lpstr>
      <vt:lpstr>China’s Economy</vt:lpstr>
      <vt:lpstr>THE CENTRALITY OF TRADE IN CHINA’S RISE.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Human Development Index : 2015</vt:lpstr>
      <vt:lpstr>PowerPoint Presentation</vt:lpstr>
      <vt:lpstr>PowerPoint Presentation</vt:lpstr>
      <vt:lpstr>CHALLENGES</vt:lpstr>
      <vt:lpstr>UNPREDICTABLE SITUATION</vt:lpstr>
      <vt:lpstr>INTERNATIONALIZATION OF THE RENMINBI</vt:lpstr>
      <vt:lpstr>One big Problem- Unreliable Numbers</vt:lpstr>
      <vt:lpstr>THE PROPERTY BUBBLE</vt:lpstr>
      <vt:lpstr>IMPACT</vt:lpstr>
      <vt:lpstr>CURRENT ACCOUNT SURPLUS VANISHING</vt:lpstr>
      <vt:lpstr>China – looking Ahead</vt:lpstr>
      <vt:lpstr>POLLUTION IN CHINA</vt:lpstr>
      <vt:lpstr>Govt Steps</vt:lpstr>
      <vt:lpstr>US - CHINA TRADE WAR</vt:lpstr>
      <vt:lpstr>PowerPoint Presentation</vt:lpstr>
      <vt:lpstr>Thank you</vt:lpstr>
      <vt:lpstr>ECONOMICS :THE BASICS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 Jaishankar</dc:creator>
  <cp:lastModifiedBy>G Jaishankar</cp:lastModifiedBy>
  <cp:revision>50</cp:revision>
  <dcterms:created xsi:type="dcterms:W3CDTF">2019-08-03T13:27:29Z</dcterms:created>
  <dcterms:modified xsi:type="dcterms:W3CDTF">2020-02-16T15:08:17Z</dcterms:modified>
</cp:coreProperties>
</file>