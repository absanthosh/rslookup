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5" r:id="rId3"/>
    <p:sldId id="326" r:id="rId4"/>
    <p:sldId id="270" r:id="rId5"/>
    <p:sldId id="319" r:id="rId6"/>
    <p:sldId id="317" r:id="rId7"/>
    <p:sldId id="318" r:id="rId8"/>
    <p:sldId id="261" r:id="rId9"/>
    <p:sldId id="259" r:id="rId10"/>
    <p:sldId id="260" r:id="rId11"/>
    <p:sldId id="262" r:id="rId12"/>
    <p:sldId id="263" r:id="rId13"/>
    <p:sldId id="316" r:id="rId14"/>
    <p:sldId id="273" r:id="rId15"/>
    <p:sldId id="320" r:id="rId16"/>
    <p:sldId id="275" r:id="rId17"/>
    <p:sldId id="276" r:id="rId18"/>
    <p:sldId id="315" r:id="rId19"/>
    <p:sldId id="274" r:id="rId20"/>
    <p:sldId id="283" r:id="rId21"/>
    <p:sldId id="311" r:id="rId22"/>
    <p:sldId id="324" r:id="rId23"/>
    <p:sldId id="312" r:id="rId24"/>
    <p:sldId id="313" r:id="rId25"/>
    <p:sldId id="314" r:id="rId26"/>
    <p:sldId id="264" r:id="rId27"/>
    <p:sldId id="265" r:id="rId28"/>
    <p:sldId id="268" r:id="rId29"/>
    <p:sldId id="281" r:id="rId30"/>
    <p:sldId id="280" r:id="rId31"/>
    <p:sldId id="284" r:id="rId32"/>
    <p:sldId id="297" r:id="rId33"/>
    <p:sldId id="286" r:id="rId34"/>
    <p:sldId id="287" r:id="rId35"/>
    <p:sldId id="289" r:id="rId36"/>
    <p:sldId id="290" r:id="rId37"/>
    <p:sldId id="291" r:id="rId38"/>
    <p:sldId id="292" r:id="rId39"/>
    <p:sldId id="322" r:id="rId40"/>
    <p:sldId id="293" r:id="rId41"/>
    <p:sldId id="277" r:id="rId42"/>
    <p:sldId id="299" r:id="rId43"/>
    <p:sldId id="301" r:id="rId44"/>
    <p:sldId id="296" r:id="rId45"/>
    <p:sldId id="302" r:id="rId46"/>
    <p:sldId id="305" r:id="rId47"/>
    <p:sldId id="304" r:id="rId48"/>
    <p:sldId id="303" r:id="rId49"/>
    <p:sldId id="309" r:id="rId50"/>
    <p:sldId id="306" r:id="rId51"/>
    <p:sldId id="310" r:id="rId52"/>
    <p:sldId id="307" r:id="rId53"/>
    <p:sldId id="323" r:id="rId54"/>
    <p:sldId id="27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430" autoAdjust="0"/>
  </p:normalViewPr>
  <p:slideViewPr>
    <p:cSldViewPr snapToGrid="0">
      <p:cViewPr varScale="1">
        <p:scale>
          <a:sx n="50" d="100"/>
          <a:sy n="50" d="100"/>
        </p:scale>
        <p:origin x="806" y="38"/>
      </p:cViewPr>
      <p:guideLst/>
    </p:cSldViewPr>
  </p:slideViewPr>
  <p:notesTextViewPr>
    <p:cViewPr>
      <p:scale>
        <a:sx n="1" d="1"/>
        <a:sy n="1" d="1"/>
      </p:scale>
      <p:origin x="0" y="0"/>
    </p:cViewPr>
  </p:notesTextViewPr>
  <p:sorterViewPr>
    <p:cViewPr>
      <p:scale>
        <a:sx n="100" d="100"/>
        <a:sy n="100" d="100"/>
      </p:scale>
      <p:origin x="0" y="-146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40BDC7C-CA45-4DEC-89A8-D1F20DF0A9DB}" type="datetimeFigureOut">
              <a:rPr lang="en-IN" smtClean="0"/>
              <a:t>29-01-2020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3374026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0BDC7C-CA45-4DEC-89A8-D1F20DF0A9DB}" type="datetimeFigureOut">
              <a:rPr lang="en-IN" smtClean="0"/>
              <a:t>29-01-2020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240092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40BDC7C-CA45-4DEC-89A8-D1F20DF0A9DB}" type="datetimeFigureOut">
              <a:rPr lang="en-IN" smtClean="0"/>
              <a:t>29-01-2020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277440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40BDC7C-CA45-4DEC-89A8-D1F20DF0A9DB}" type="datetimeFigureOut">
              <a:rPr lang="en-IN" smtClean="0"/>
              <a:t>29-01-2020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3219450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40BDC7C-CA45-4DEC-89A8-D1F20DF0A9DB}" type="datetimeFigureOut">
              <a:rPr lang="en-IN" smtClean="0"/>
              <a:t>29-01-2020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153565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40BDC7C-CA45-4DEC-89A8-D1F20DF0A9DB}" type="datetimeFigureOut">
              <a:rPr lang="en-IN" smtClean="0"/>
              <a:t>29-01-2020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4013191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0BDC7C-CA45-4DEC-89A8-D1F20DF0A9DB}" type="datetimeFigureOut">
              <a:rPr lang="en-IN" smtClean="0"/>
              <a:t>29-01-2020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3548759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0BDC7C-CA45-4DEC-89A8-D1F20DF0A9DB}" type="datetimeFigureOut">
              <a:rPr lang="en-IN" smtClean="0"/>
              <a:t>29-01-2020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351246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0BDC7C-CA45-4DEC-89A8-D1F20DF0A9DB}" type="datetimeFigureOut">
              <a:rPr lang="en-IN" smtClean="0"/>
              <a:t>29-01-2020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1177809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0BDC7C-CA45-4DEC-89A8-D1F20DF0A9DB}" type="datetimeFigureOut">
              <a:rPr lang="en-IN" smtClean="0"/>
              <a:t>29-01-2020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3951007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0BDC7C-CA45-4DEC-89A8-D1F20DF0A9DB}" type="datetimeFigureOut">
              <a:rPr lang="en-IN" smtClean="0"/>
              <a:t>29-01-2020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84EDF1-58A2-4D85-9325-3782594AAE76}" type="slidenum">
              <a:rPr lang="en-IN" smtClean="0"/>
              <a:t>‹#›</a:t>
            </a:fld>
            <a:endParaRPr lang="en-IN"/>
          </a:p>
        </p:txBody>
      </p:sp>
    </p:spTree>
    <p:extLst>
      <p:ext uri="{BB962C8B-B14F-4D97-AF65-F5344CB8AC3E}">
        <p14:creationId xmlns:p14="http://schemas.microsoft.com/office/powerpoint/2010/main" val="1496934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0BDC7C-CA45-4DEC-89A8-D1F20DF0A9DB}" type="datetimeFigureOut">
              <a:rPr lang="en-IN" smtClean="0"/>
              <a:t>29-01-2020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4EDF1-58A2-4D85-9325-3782594AAE76}" type="slidenum">
              <a:rPr lang="en-IN" smtClean="0"/>
              <a:t>‹#›</a:t>
            </a:fld>
            <a:endParaRPr lang="en-IN"/>
          </a:p>
        </p:txBody>
      </p:sp>
    </p:spTree>
    <p:extLst>
      <p:ext uri="{BB962C8B-B14F-4D97-AF65-F5344CB8AC3E}">
        <p14:creationId xmlns:p14="http://schemas.microsoft.com/office/powerpoint/2010/main" val="3900183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google.com/maps/place/National+Stadium/@39.9930555,116.1163425,10z/data=!4m5!3m4!1s0x35f054c407008c87:0xee35c9d7f5e387b6!8m2!3d39.9929431!4d116.3965112" TargetMode="Externa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406650"/>
          </a:xfrm>
        </p:spPr>
        <p:txBody>
          <a:bodyPr/>
          <a:lstStyle/>
          <a:p>
            <a:r>
              <a:rPr lang="en-IN" b="1" u="sng" dirty="0" smtClean="0"/>
              <a:t>STRUCTURE OF CHINA</a:t>
            </a:r>
            <a:endParaRPr lang="en-IN" b="1" u="sng"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041678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6515"/>
          </a:xfrm>
        </p:spPr>
        <p:txBody>
          <a:bodyPr/>
          <a:lstStyle/>
          <a:p>
            <a:pPr algn="ctr"/>
            <a:r>
              <a:rPr lang="en-IN" b="1" u="sng" dirty="0" smtClean="0"/>
              <a:t>CORONA VIRUS</a:t>
            </a:r>
            <a:endParaRPr lang="en-IN" b="1" u="sng" dirty="0"/>
          </a:p>
        </p:txBody>
      </p:sp>
      <p:sp>
        <p:nvSpPr>
          <p:cNvPr id="3" name="Content Placeholder 2"/>
          <p:cNvSpPr>
            <a:spLocks noGrp="1"/>
          </p:cNvSpPr>
          <p:nvPr>
            <p:ph idx="1"/>
          </p:nvPr>
        </p:nvSpPr>
        <p:spPr>
          <a:xfrm>
            <a:off x="883920" y="1825625"/>
            <a:ext cx="10469880" cy="4316095"/>
          </a:xfrm>
        </p:spPr>
        <p:txBody>
          <a:bodyPr/>
          <a:lstStyle/>
          <a:p>
            <a:r>
              <a:rPr lang="en-IN" dirty="0" smtClean="0"/>
              <a:t>Two hospitals </a:t>
            </a:r>
            <a:r>
              <a:rPr lang="en-IN" smtClean="0"/>
              <a:t>in Wuhan, </a:t>
            </a:r>
            <a:r>
              <a:rPr lang="en-IN" dirty="0" smtClean="0"/>
              <a:t>not one.</a:t>
            </a:r>
          </a:p>
          <a:p>
            <a:r>
              <a:rPr lang="en-IN" dirty="0" smtClean="0"/>
              <a:t>On lines of </a:t>
            </a:r>
            <a:r>
              <a:rPr lang="en-IN" dirty="0" err="1" smtClean="0"/>
              <a:t>Xiaotangshan</a:t>
            </a:r>
            <a:r>
              <a:rPr lang="en-IN" dirty="0" smtClean="0"/>
              <a:t> Hospital, Beijing (SARS).</a:t>
            </a:r>
          </a:p>
          <a:p>
            <a:r>
              <a:rPr lang="en-IN" dirty="0" err="1" smtClean="0"/>
              <a:t>Huoshenshen</a:t>
            </a:r>
            <a:r>
              <a:rPr lang="en-IN" dirty="0" smtClean="0"/>
              <a:t> by 03 Feb. </a:t>
            </a:r>
          </a:p>
          <a:p>
            <a:pPr lvl="1"/>
            <a:r>
              <a:rPr lang="en-IN" dirty="0" smtClean="0"/>
              <a:t>1000 beds.</a:t>
            </a:r>
          </a:p>
          <a:p>
            <a:pPr lvl="1"/>
            <a:r>
              <a:rPr lang="en-IN" dirty="0" smtClean="0"/>
              <a:t>2.7 lakh </a:t>
            </a:r>
            <a:r>
              <a:rPr lang="en-IN" dirty="0" err="1" smtClean="0"/>
              <a:t>sq</a:t>
            </a:r>
            <a:r>
              <a:rPr lang="en-IN" dirty="0" smtClean="0"/>
              <a:t> ft.</a:t>
            </a:r>
          </a:p>
          <a:p>
            <a:r>
              <a:rPr lang="en-IN" dirty="0" err="1" smtClean="0"/>
              <a:t>Leishenshan</a:t>
            </a:r>
            <a:r>
              <a:rPr lang="en-IN" dirty="0" smtClean="0"/>
              <a:t> By 05 Feb. 3.3 lakh </a:t>
            </a:r>
            <a:r>
              <a:rPr lang="en-IN" dirty="0" err="1" smtClean="0"/>
              <a:t>sq</a:t>
            </a:r>
            <a:r>
              <a:rPr lang="en-IN" dirty="0" smtClean="0"/>
              <a:t> ft. 1300 beds.</a:t>
            </a:r>
          </a:p>
          <a:p>
            <a:r>
              <a:rPr lang="en-IN" dirty="0" smtClean="0"/>
              <a:t>Both only for </a:t>
            </a:r>
            <a:r>
              <a:rPr lang="en-IN" dirty="0" err="1" smtClean="0"/>
              <a:t>nCov</a:t>
            </a:r>
            <a:r>
              <a:rPr lang="en-IN" dirty="0" smtClean="0"/>
              <a:t>. </a:t>
            </a:r>
            <a:r>
              <a:rPr lang="en-IN" dirty="0"/>
              <a:t>Only treat Pneumonia</a:t>
            </a:r>
          </a:p>
          <a:p>
            <a:endParaRPr lang="en-IN" dirty="0" smtClean="0"/>
          </a:p>
          <a:p>
            <a:endParaRPr lang="en-IN" dirty="0" smtClean="0"/>
          </a:p>
          <a:p>
            <a:endParaRPr lang="en-IN" dirty="0"/>
          </a:p>
        </p:txBody>
      </p:sp>
    </p:spTree>
    <p:extLst>
      <p:ext uri="{BB962C8B-B14F-4D97-AF65-F5344CB8AC3E}">
        <p14:creationId xmlns:p14="http://schemas.microsoft.com/office/powerpoint/2010/main" val="371096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96035"/>
          </a:xfrm>
        </p:spPr>
        <p:txBody>
          <a:bodyPr>
            <a:normAutofit fontScale="90000"/>
          </a:bodyPr>
          <a:lstStyle/>
          <a:p>
            <a:pPr algn="ctr"/>
            <a:r>
              <a:rPr lang="en-IN" b="1" u="sng" dirty="0" smtClean="0"/>
              <a:t>ATTENDANCE</a:t>
            </a:r>
            <a:r>
              <a:rPr lang="en-IN" b="1" u="sng" smtClean="0"/>
              <a:t/>
            </a:r>
            <a:br>
              <a:rPr lang="en-IN" b="1" u="sng" smtClean="0"/>
            </a:br>
            <a:r>
              <a:rPr lang="en-IN" b="1" u="sng" smtClean="0"/>
              <a:t>&amp; </a:t>
            </a:r>
            <a:r>
              <a:rPr lang="en-IN" b="1" u="sng" smtClean="0"/>
              <a:t>feedback</a:t>
            </a:r>
            <a:endParaRPr lang="en-IN" b="1" u="sng" dirty="0"/>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7168105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94108"/>
            <a:ext cx="10515600" cy="1377950"/>
          </a:xfrm>
        </p:spPr>
        <p:txBody>
          <a:bodyPr/>
          <a:lstStyle/>
          <a:p>
            <a:pPr algn="ctr"/>
            <a:r>
              <a:rPr lang="en-IN" b="1" dirty="0" smtClean="0"/>
              <a:t>WHAT IS LIBERATION? WHAT WAS THE REVOLUTION, EXACTLY?</a:t>
            </a:r>
            <a:endParaRPr lang="en-IN" b="1" dirty="0"/>
          </a:p>
        </p:txBody>
      </p:sp>
    </p:spTree>
    <p:extLst>
      <p:ext uri="{BB962C8B-B14F-4D97-AF65-F5344CB8AC3E}">
        <p14:creationId xmlns:p14="http://schemas.microsoft.com/office/powerpoint/2010/main" val="26029639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026" name="Picture 2" descr="http://wps.pearsoncustom.com/wps/media/objects/2426/2484749/chap_assets/maps/map31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280" y="151765"/>
            <a:ext cx="10333519" cy="6751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4668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u="sng" dirty="0" smtClean="0"/>
              <a:t>CPC</a:t>
            </a:r>
            <a:endParaRPr lang="en-IN" b="1" u="sng" dirty="0"/>
          </a:p>
        </p:txBody>
      </p:sp>
      <p:sp>
        <p:nvSpPr>
          <p:cNvPr id="3" name="Content Placeholder 2"/>
          <p:cNvSpPr>
            <a:spLocks noGrp="1"/>
          </p:cNvSpPr>
          <p:nvPr>
            <p:ph idx="1"/>
          </p:nvPr>
        </p:nvSpPr>
        <p:spPr>
          <a:xfrm>
            <a:off x="868680" y="1767840"/>
            <a:ext cx="10485120" cy="4409123"/>
          </a:xfrm>
        </p:spPr>
        <p:txBody>
          <a:bodyPr/>
          <a:lstStyle/>
          <a:p>
            <a:pPr>
              <a:lnSpc>
                <a:spcPct val="200000"/>
              </a:lnSpc>
            </a:pPr>
            <a:r>
              <a:rPr lang="en-IN" dirty="0" smtClean="0"/>
              <a:t>The Party is like GOD, you cannot see him, yet He is everywhere.</a:t>
            </a:r>
          </a:p>
          <a:p>
            <a:pPr>
              <a:lnSpc>
                <a:spcPct val="200000"/>
              </a:lnSpc>
            </a:pPr>
            <a:r>
              <a:rPr lang="en-IN" dirty="0" smtClean="0"/>
              <a:t>Represents the broad interests of the Majority of the People.</a:t>
            </a:r>
          </a:p>
          <a:p>
            <a:pPr>
              <a:lnSpc>
                <a:spcPct val="200000"/>
              </a:lnSpc>
            </a:pPr>
            <a:r>
              <a:rPr lang="en-IN" dirty="0" smtClean="0"/>
              <a:t>Primary Aim is Continuation of People’s Democratic dictatorship.</a:t>
            </a:r>
          </a:p>
          <a:p>
            <a:pPr>
              <a:lnSpc>
                <a:spcPct val="200000"/>
              </a:lnSpc>
            </a:pPr>
            <a:r>
              <a:rPr lang="en-IN" dirty="0" smtClean="0"/>
              <a:t>Chinese State  and the PLA are an Arm of the Party</a:t>
            </a:r>
          </a:p>
          <a:p>
            <a:pPr>
              <a:lnSpc>
                <a:spcPct val="200000"/>
              </a:lnSpc>
            </a:pPr>
            <a:endParaRPr lang="en-IN" dirty="0" smtClean="0"/>
          </a:p>
          <a:p>
            <a:pPr>
              <a:lnSpc>
                <a:spcPct val="200000"/>
              </a:lnSpc>
            </a:pPr>
            <a:endParaRPr lang="en-IN" dirty="0" smtClean="0"/>
          </a:p>
          <a:p>
            <a:pPr>
              <a:lnSpc>
                <a:spcPct val="200000"/>
              </a:lnSpc>
            </a:pPr>
            <a:endParaRPr lang="en-IN" dirty="0"/>
          </a:p>
        </p:txBody>
      </p:sp>
    </p:spTree>
    <p:extLst>
      <p:ext uri="{BB962C8B-B14F-4D97-AF65-F5344CB8AC3E}">
        <p14:creationId xmlns:p14="http://schemas.microsoft.com/office/powerpoint/2010/main" val="55590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10515600" cy="4255135"/>
          </a:xfrm>
        </p:spPr>
        <p:txBody>
          <a:bodyPr/>
          <a:lstStyle/>
          <a:p>
            <a:r>
              <a:rPr lang="en-IN" dirty="0" smtClean="0"/>
              <a:t>Lessons from the Soviet Union.</a:t>
            </a:r>
          </a:p>
          <a:p>
            <a:r>
              <a:rPr lang="en-IN" dirty="0" smtClean="0"/>
              <a:t>No separation of Powers.</a:t>
            </a:r>
          </a:p>
          <a:p>
            <a:r>
              <a:rPr lang="en-IN" dirty="0" smtClean="0"/>
              <a:t>Hide Your Brightness and Bide your Time.</a:t>
            </a:r>
          </a:p>
          <a:p>
            <a:r>
              <a:rPr lang="en-IN" dirty="0" smtClean="0"/>
              <a:t>Yes to Economic Freedoms, No to Political Freedoms.</a:t>
            </a:r>
          </a:p>
          <a:p>
            <a:r>
              <a:rPr lang="en-IN" dirty="0" smtClean="0"/>
              <a:t>Leadership has become more rigid and conservative.</a:t>
            </a:r>
          </a:p>
          <a:p>
            <a:r>
              <a:rPr lang="en-IN" dirty="0" smtClean="0"/>
              <a:t>Central Organization Department and the CCDI.</a:t>
            </a:r>
          </a:p>
          <a:p>
            <a:endParaRPr lang="en-IN" dirty="0" smtClean="0"/>
          </a:p>
          <a:p>
            <a:endParaRPr lang="en-IN" dirty="0" smtClean="0"/>
          </a:p>
          <a:p>
            <a:endParaRPr lang="en-IN" dirty="0"/>
          </a:p>
        </p:txBody>
      </p:sp>
    </p:spTree>
    <p:extLst>
      <p:ext uri="{BB962C8B-B14F-4D97-AF65-F5344CB8AC3E}">
        <p14:creationId xmlns:p14="http://schemas.microsoft.com/office/powerpoint/2010/main" val="2517119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800px-Flag_of_the_People%27s_Republic_of_China_svg.png"/>
          <p:cNvPicPr>
            <a:picLocks noGrp="1" noChangeAspect="1"/>
          </p:cNvPicPr>
          <p:nvPr>
            <p:ph idx="1"/>
          </p:nvPr>
        </p:nvPicPr>
        <p:blipFill>
          <a:blip r:embed="rId2"/>
          <a:stretch>
            <a:fillRect/>
          </a:stretch>
        </p:blipFill>
        <p:spPr>
          <a:xfrm>
            <a:off x="2699405" y="1600201"/>
            <a:ext cx="6793190" cy="4525963"/>
          </a:xfrm>
        </p:spPr>
      </p:pic>
      <p:pic>
        <p:nvPicPr>
          <p:cNvPr id="4" name="Picture 3" descr="China_administrative and disputes.gif"/>
          <p:cNvPicPr>
            <a:picLocks noChangeAspect="1"/>
          </p:cNvPicPr>
          <p:nvPr/>
        </p:nvPicPr>
        <p:blipFill>
          <a:blip r:embed="rId3"/>
          <a:stretch>
            <a:fillRect/>
          </a:stretch>
        </p:blipFill>
        <p:spPr>
          <a:xfrm>
            <a:off x="2014538" y="100013"/>
            <a:ext cx="8162925" cy="6657975"/>
          </a:xfrm>
          <a:prstGeom prst="rect">
            <a:avLst/>
          </a:prstGeom>
        </p:spPr>
      </p:pic>
      <p:sp>
        <p:nvSpPr>
          <p:cNvPr id="6" name="Content Placeholder 2"/>
          <p:cNvSpPr>
            <a:spLocks noGrp="1"/>
          </p:cNvSpPr>
          <p:nvPr>
            <p:ph type="title"/>
          </p:nvPr>
        </p:nvSpPr>
        <p:spPr>
          <a:xfrm>
            <a:off x="883920" y="365125"/>
            <a:ext cx="10469880" cy="1296035"/>
          </a:xfrm>
        </p:spPr>
        <p:txBody>
          <a:bodyPr>
            <a:normAutofit/>
          </a:bodyPr>
          <a:lstStyle/>
          <a:p>
            <a:r>
              <a:rPr lang="en-IN" sz="2800" b="1" dirty="0" smtClean="0">
                <a:solidFill>
                  <a:srgbClr val="FF0000"/>
                </a:solidFill>
              </a:rPr>
              <a:t>No change in provincial boundaries for the last 400 years (</a:t>
            </a:r>
            <a:r>
              <a:rPr lang="en-IN" sz="2800" b="1" dirty="0">
                <a:solidFill>
                  <a:srgbClr val="FF0000"/>
                </a:solidFill>
              </a:rPr>
              <a:t>M</a:t>
            </a:r>
            <a:r>
              <a:rPr lang="en-IN" sz="2800" b="1" dirty="0" smtClean="0">
                <a:solidFill>
                  <a:srgbClr val="FF0000"/>
                </a:solidFill>
              </a:rPr>
              <a:t>ing).</a:t>
            </a:r>
          </a:p>
          <a:p>
            <a:endParaRPr lang="en-IN" sz="2800" b="1" dirty="0">
              <a:solidFill>
                <a:srgbClr val="FF0000"/>
              </a:solidFill>
            </a:endParaRPr>
          </a:p>
        </p:txBody>
      </p:sp>
    </p:spTree>
    <p:extLst>
      <p:ext uri="{BB962C8B-B14F-4D97-AF65-F5344CB8AC3E}">
        <p14:creationId xmlns:p14="http://schemas.microsoft.com/office/powerpoint/2010/main" val="27080134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8" name="Picture 1032" descr="china_pol01 4 MINTSD"/>
          <p:cNvPicPr>
            <a:picLocks noChangeAspect="1" noChangeArrowheads="1"/>
          </p:cNvPicPr>
          <p:nvPr/>
        </p:nvPicPr>
        <p:blipFill>
          <a:blip r:embed="rId2"/>
          <a:srcRect/>
          <a:stretch>
            <a:fillRect/>
          </a:stretch>
        </p:blipFill>
        <p:spPr bwMode="auto">
          <a:xfrm>
            <a:off x="1524000" y="0"/>
            <a:ext cx="9144000" cy="6858000"/>
          </a:xfrm>
          <a:prstGeom prst="rect">
            <a:avLst/>
          </a:prstGeom>
          <a:noFill/>
        </p:spPr>
      </p:pic>
      <p:sp>
        <p:nvSpPr>
          <p:cNvPr id="35849" name="Text Box 1033"/>
          <p:cNvSpPr txBox="1">
            <a:spLocks noChangeArrowheads="1"/>
          </p:cNvSpPr>
          <p:nvPr/>
        </p:nvSpPr>
        <p:spPr bwMode="auto">
          <a:xfrm>
            <a:off x="3260726" y="3543300"/>
            <a:ext cx="920445" cy="369332"/>
          </a:xfrm>
          <a:prstGeom prst="rect">
            <a:avLst/>
          </a:prstGeom>
          <a:solidFill>
            <a:schemeClr val="accent2"/>
          </a:solidFill>
          <a:ln w="9525">
            <a:noFill/>
            <a:miter lim="800000"/>
            <a:headEnd/>
            <a:tailEnd/>
          </a:ln>
          <a:effectLst/>
        </p:spPr>
        <p:txBody>
          <a:bodyPr wrap="none">
            <a:spAutoFit/>
          </a:bodyPr>
          <a:lstStyle/>
          <a:p>
            <a:r>
              <a:rPr lang="en-US" b="1">
                <a:solidFill>
                  <a:schemeClr val="bg1"/>
                </a:solidFill>
              </a:rPr>
              <a:t>XIZANG</a:t>
            </a:r>
            <a:endParaRPr lang="en-GB" b="1">
              <a:solidFill>
                <a:schemeClr val="bg1"/>
              </a:solidFill>
            </a:endParaRPr>
          </a:p>
        </p:txBody>
      </p:sp>
      <p:sp>
        <p:nvSpPr>
          <p:cNvPr id="35850" name="Text Box 1034"/>
          <p:cNvSpPr txBox="1">
            <a:spLocks noChangeArrowheads="1"/>
          </p:cNvSpPr>
          <p:nvPr/>
        </p:nvSpPr>
        <p:spPr bwMode="auto">
          <a:xfrm>
            <a:off x="3048000" y="2300288"/>
            <a:ext cx="1101584" cy="369332"/>
          </a:xfrm>
          <a:prstGeom prst="rect">
            <a:avLst/>
          </a:prstGeom>
          <a:solidFill>
            <a:schemeClr val="accent2"/>
          </a:solidFill>
          <a:ln w="9525">
            <a:noFill/>
            <a:miter lim="800000"/>
            <a:headEnd/>
            <a:tailEnd/>
          </a:ln>
          <a:effectLst/>
        </p:spPr>
        <p:txBody>
          <a:bodyPr wrap="none">
            <a:spAutoFit/>
          </a:bodyPr>
          <a:lstStyle/>
          <a:p>
            <a:r>
              <a:rPr lang="en-US" b="1">
                <a:solidFill>
                  <a:schemeClr val="bg1"/>
                </a:solidFill>
              </a:rPr>
              <a:t>XINJIANG</a:t>
            </a:r>
            <a:endParaRPr lang="en-GB" b="1">
              <a:solidFill>
                <a:schemeClr val="bg1"/>
              </a:solidFill>
            </a:endParaRPr>
          </a:p>
        </p:txBody>
      </p:sp>
      <p:sp>
        <p:nvSpPr>
          <p:cNvPr id="35851" name="AutoShape 1035"/>
          <p:cNvSpPr>
            <a:spLocks noChangeArrowheads="1"/>
          </p:cNvSpPr>
          <p:nvPr/>
        </p:nvSpPr>
        <p:spPr bwMode="auto">
          <a:xfrm>
            <a:off x="4419600" y="1143000"/>
            <a:ext cx="1295400" cy="457200"/>
          </a:xfrm>
          <a:prstGeom prst="wedgeRectCallout">
            <a:avLst>
              <a:gd name="adj1" fmla="val 110662"/>
              <a:gd name="adj2" fmla="val 368056"/>
            </a:avLst>
          </a:prstGeom>
          <a:solidFill>
            <a:schemeClr val="accent2"/>
          </a:solidFill>
          <a:ln w="9525">
            <a:solidFill>
              <a:schemeClr val="tx1"/>
            </a:solidFill>
            <a:miter lim="800000"/>
            <a:headEnd/>
            <a:tailEnd/>
          </a:ln>
          <a:effectLst/>
        </p:spPr>
        <p:txBody>
          <a:bodyPr/>
          <a:lstStyle/>
          <a:p>
            <a:pPr algn="ctr"/>
            <a:r>
              <a:rPr lang="en-US" sz="1600" b="1">
                <a:solidFill>
                  <a:schemeClr val="bg1"/>
                </a:solidFill>
              </a:rPr>
              <a:t>NINGXIA</a:t>
            </a:r>
            <a:endParaRPr lang="en-GB" sz="1600" b="1">
              <a:solidFill>
                <a:schemeClr val="bg1"/>
              </a:solidFill>
            </a:endParaRPr>
          </a:p>
        </p:txBody>
      </p:sp>
      <p:sp>
        <p:nvSpPr>
          <p:cNvPr id="35852" name="Text Box 1036"/>
          <p:cNvSpPr txBox="1">
            <a:spLocks noChangeArrowheads="1"/>
          </p:cNvSpPr>
          <p:nvPr/>
        </p:nvSpPr>
        <p:spPr bwMode="auto">
          <a:xfrm>
            <a:off x="7467600" y="1981200"/>
            <a:ext cx="1420582" cy="369332"/>
          </a:xfrm>
          <a:prstGeom prst="rect">
            <a:avLst/>
          </a:prstGeom>
          <a:solidFill>
            <a:schemeClr val="accent2"/>
          </a:solidFill>
          <a:ln w="9525">
            <a:noFill/>
            <a:miter lim="800000"/>
            <a:headEnd/>
            <a:tailEnd/>
          </a:ln>
          <a:effectLst/>
        </p:spPr>
        <p:txBody>
          <a:bodyPr wrap="none">
            <a:spAutoFit/>
          </a:bodyPr>
          <a:lstStyle/>
          <a:p>
            <a:r>
              <a:rPr lang="en-US" b="1">
                <a:solidFill>
                  <a:schemeClr val="bg1"/>
                </a:solidFill>
              </a:rPr>
              <a:t>NEIMONGOL</a:t>
            </a:r>
            <a:endParaRPr lang="en-GB" b="1">
              <a:solidFill>
                <a:schemeClr val="bg1"/>
              </a:solidFill>
            </a:endParaRPr>
          </a:p>
        </p:txBody>
      </p:sp>
      <p:sp>
        <p:nvSpPr>
          <p:cNvPr id="35853" name="Text Box 1037"/>
          <p:cNvSpPr txBox="1">
            <a:spLocks noChangeArrowheads="1"/>
          </p:cNvSpPr>
          <p:nvPr/>
        </p:nvSpPr>
        <p:spPr bwMode="auto">
          <a:xfrm>
            <a:off x="6597651" y="4738688"/>
            <a:ext cx="1103379" cy="369332"/>
          </a:xfrm>
          <a:prstGeom prst="rect">
            <a:avLst/>
          </a:prstGeom>
          <a:solidFill>
            <a:schemeClr val="accent2"/>
          </a:solidFill>
          <a:ln w="9525">
            <a:noFill/>
            <a:miter lim="800000"/>
            <a:headEnd/>
            <a:tailEnd/>
          </a:ln>
          <a:effectLst/>
        </p:spPr>
        <p:txBody>
          <a:bodyPr wrap="none">
            <a:spAutoFit/>
          </a:bodyPr>
          <a:lstStyle/>
          <a:p>
            <a:r>
              <a:rPr lang="en-US" b="1">
                <a:solidFill>
                  <a:schemeClr val="bg1"/>
                </a:solidFill>
              </a:rPr>
              <a:t>GUANGXI</a:t>
            </a:r>
            <a:endParaRPr lang="en-GB" b="1">
              <a:solidFill>
                <a:schemeClr val="bg1"/>
              </a:solidFill>
            </a:endParaRPr>
          </a:p>
        </p:txBody>
      </p:sp>
      <p:sp>
        <p:nvSpPr>
          <p:cNvPr id="35854" name="Text Box 1038"/>
          <p:cNvSpPr txBox="1">
            <a:spLocks noChangeArrowheads="1"/>
          </p:cNvSpPr>
          <p:nvPr/>
        </p:nvSpPr>
        <p:spPr bwMode="auto">
          <a:xfrm>
            <a:off x="3500439" y="304801"/>
            <a:ext cx="4355295" cy="461665"/>
          </a:xfrm>
          <a:prstGeom prst="rect">
            <a:avLst/>
          </a:prstGeom>
          <a:solidFill>
            <a:schemeClr val="accent2"/>
          </a:solidFill>
          <a:ln w="9525">
            <a:noFill/>
            <a:miter lim="800000"/>
            <a:headEnd/>
            <a:tailEnd/>
          </a:ln>
          <a:effectLst/>
        </p:spPr>
        <p:txBody>
          <a:bodyPr wrap="none">
            <a:spAutoFit/>
          </a:bodyPr>
          <a:lstStyle/>
          <a:p>
            <a:r>
              <a:rPr lang="en-US" sz="2400" b="1">
                <a:solidFill>
                  <a:schemeClr val="bg1"/>
                </a:solidFill>
              </a:rPr>
              <a:t>CHINA: AUTONOMOUS REGIONS</a:t>
            </a:r>
            <a:endParaRPr lang="en-GB" sz="2400" b="1">
              <a:solidFill>
                <a:schemeClr val="bg1"/>
              </a:solidFill>
            </a:endParaRPr>
          </a:p>
        </p:txBody>
      </p:sp>
    </p:spTree>
    <p:extLst>
      <p:ext uri="{BB962C8B-B14F-4D97-AF65-F5344CB8AC3E}">
        <p14:creationId xmlns:p14="http://schemas.microsoft.com/office/powerpoint/2010/main" val="2498927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china_admin_91 4 MINTSD"/>
          <p:cNvPicPr>
            <a:picLocks noChangeAspect="1" noChangeArrowheads="1"/>
          </p:cNvPicPr>
          <p:nvPr/>
        </p:nvPicPr>
        <p:blipFill>
          <a:blip r:embed="rId2"/>
          <a:srcRect/>
          <a:stretch>
            <a:fillRect/>
          </a:stretch>
        </p:blipFill>
        <p:spPr bwMode="auto">
          <a:xfrm>
            <a:off x="2736850" y="0"/>
            <a:ext cx="6788150" cy="9277350"/>
          </a:xfrm>
          <a:prstGeom prst="rect">
            <a:avLst/>
          </a:prstGeom>
          <a:noFill/>
        </p:spPr>
      </p:pic>
      <p:sp>
        <p:nvSpPr>
          <p:cNvPr id="36867" name="AutoShape 3"/>
          <p:cNvSpPr>
            <a:spLocks noChangeArrowheads="1"/>
          </p:cNvSpPr>
          <p:nvPr/>
        </p:nvSpPr>
        <p:spPr bwMode="auto">
          <a:xfrm>
            <a:off x="4724400" y="2514600"/>
            <a:ext cx="1295400" cy="304800"/>
          </a:xfrm>
          <a:prstGeom prst="wedgeRectCallout">
            <a:avLst>
              <a:gd name="adj1" fmla="val 140319"/>
              <a:gd name="adj2" fmla="val -9894"/>
            </a:avLst>
          </a:prstGeom>
          <a:solidFill>
            <a:srgbClr val="FF0000"/>
          </a:solidFill>
          <a:ln w="9525">
            <a:solidFill>
              <a:schemeClr val="tx1"/>
            </a:solidFill>
            <a:miter lim="800000"/>
            <a:headEnd/>
            <a:tailEnd/>
          </a:ln>
          <a:effectLst/>
        </p:spPr>
        <p:txBody>
          <a:bodyPr/>
          <a:lstStyle/>
          <a:p>
            <a:pPr algn="ctr"/>
            <a:r>
              <a:rPr lang="en-US" sz="1600" b="1">
                <a:solidFill>
                  <a:srgbClr val="FFFF66"/>
                </a:solidFill>
              </a:rPr>
              <a:t>BEIJING</a:t>
            </a:r>
            <a:endParaRPr lang="en-GB" sz="1600" b="1">
              <a:solidFill>
                <a:srgbClr val="FFFF66"/>
              </a:solidFill>
            </a:endParaRPr>
          </a:p>
        </p:txBody>
      </p:sp>
      <p:sp>
        <p:nvSpPr>
          <p:cNvPr id="36868" name="AutoShape 4"/>
          <p:cNvSpPr>
            <a:spLocks noChangeArrowheads="1"/>
          </p:cNvSpPr>
          <p:nvPr/>
        </p:nvSpPr>
        <p:spPr bwMode="auto">
          <a:xfrm>
            <a:off x="4876800" y="1295400"/>
            <a:ext cx="1295400" cy="304800"/>
          </a:xfrm>
          <a:prstGeom prst="wedgeRectCallout">
            <a:avLst>
              <a:gd name="adj1" fmla="val 141421"/>
              <a:gd name="adj2" fmla="val 403125"/>
            </a:avLst>
          </a:prstGeom>
          <a:solidFill>
            <a:srgbClr val="FF0000"/>
          </a:solidFill>
          <a:ln w="9525">
            <a:solidFill>
              <a:schemeClr val="tx1"/>
            </a:solidFill>
            <a:miter lim="800000"/>
            <a:headEnd/>
            <a:tailEnd/>
          </a:ln>
          <a:effectLst/>
        </p:spPr>
        <p:txBody>
          <a:bodyPr/>
          <a:lstStyle/>
          <a:p>
            <a:pPr algn="ctr"/>
            <a:r>
              <a:rPr lang="en-US" sz="1600" b="1">
                <a:solidFill>
                  <a:srgbClr val="FFFF66"/>
                </a:solidFill>
              </a:rPr>
              <a:t>TIANJIN</a:t>
            </a:r>
            <a:endParaRPr lang="en-GB" sz="1600" b="1">
              <a:solidFill>
                <a:srgbClr val="FFFF66"/>
              </a:solidFill>
            </a:endParaRPr>
          </a:p>
        </p:txBody>
      </p:sp>
      <p:sp>
        <p:nvSpPr>
          <p:cNvPr id="36869" name="AutoShape 5"/>
          <p:cNvSpPr>
            <a:spLocks noChangeArrowheads="1"/>
          </p:cNvSpPr>
          <p:nvPr/>
        </p:nvSpPr>
        <p:spPr bwMode="auto">
          <a:xfrm>
            <a:off x="4572000" y="3657600"/>
            <a:ext cx="1600200" cy="304800"/>
          </a:xfrm>
          <a:prstGeom prst="wedgeRectCallout">
            <a:avLst>
              <a:gd name="adj1" fmla="val 175296"/>
              <a:gd name="adj2" fmla="val -1560"/>
            </a:avLst>
          </a:prstGeom>
          <a:solidFill>
            <a:srgbClr val="FF0000"/>
          </a:solidFill>
          <a:ln w="9525">
            <a:solidFill>
              <a:schemeClr val="tx1"/>
            </a:solidFill>
            <a:miter lim="800000"/>
            <a:headEnd/>
            <a:tailEnd/>
          </a:ln>
          <a:effectLst/>
        </p:spPr>
        <p:txBody>
          <a:bodyPr/>
          <a:lstStyle/>
          <a:p>
            <a:pPr algn="ctr"/>
            <a:r>
              <a:rPr lang="en-US" sz="1600" b="1">
                <a:solidFill>
                  <a:srgbClr val="FFFF66"/>
                </a:solidFill>
              </a:rPr>
              <a:t>SHANGHAI</a:t>
            </a:r>
            <a:endParaRPr lang="en-GB" sz="1600" b="1">
              <a:solidFill>
                <a:srgbClr val="FFFF66"/>
              </a:solidFill>
            </a:endParaRPr>
          </a:p>
        </p:txBody>
      </p:sp>
      <p:sp>
        <p:nvSpPr>
          <p:cNvPr id="36870" name="AutoShape 6"/>
          <p:cNvSpPr>
            <a:spLocks noChangeArrowheads="1"/>
          </p:cNvSpPr>
          <p:nvPr/>
        </p:nvSpPr>
        <p:spPr bwMode="auto">
          <a:xfrm>
            <a:off x="3657600" y="4191000"/>
            <a:ext cx="1600200" cy="304800"/>
          </a:xfrm>
          <a:prstGeom prst="wedgeRectCallout">
            <a:avLst>
              <a:gd name="adj1" fmla="val 107343"/>
              <a:gd name="adj2" fmla="val -14060"/>
            </a:avLst>
          </a:prstGeom>
          <a:solidFill>
            <a:srgbClr val="FF0000"/>
          </a:solidFill>
          <a:ln w="9525">
            <a:solidFill>
              <a:schemeClr val="tx1"/>
            </a:solidFill>
            <a:miter lim="800000"/>
            <a:headEnd/>
            <a:tailEnd/>
          </a:ln>
          <a:effectLst/>
        </p:spPr>
        <p:txBody>
          <a:bodyPr/>
          <a:lstStyle/>
          <a:p>
            <a:pPr algn="ctr"/>
            <a:r>
              <a:rPr lang="en-US" sz="1600" b="1">
                <a:solidFill>
                  <a:srgbClr val="FFFF66"/>
                </a:solidFill>
              </a:rPr>
              <a:t>CHONGQING</a:t>
            </a:r>
            <a:endParaRPr lang="en-GB" sz="1600" b="1">
              <a:solidFill>
                <a:srgbClr val="FFFF66"/>
              </a:solidFill>
            </a:endParaRPr>
          </a:p>
        </p:txBody>
      </p:sp>
      <p:sp>
        <p:nvSpPr>
          <p:cNvPr id="36871" name="Text Box 7"/>
          <p:cNvSpPr txBox="1">
            <a:spLocks noChangeArrowheads="1"/>
          </p:cNvSpPr>
          <p:nvPr/>
        </p:nvSpPr>
        <p:spPr bwMode="auto">
          <a:xfrm>
            <a:off x="2406650" y="76200"/>
            <a:ext cx="184150" cy="457200"/>
          </a:xfrm>
          <a:prstGeom prst="rect">
            <a:avLst/>
          </a:prstGeom>
          <a:noFill/>
          <a:ln w="9525">
            <a:noFill/>
            <a:miter lim="800000"/>
            <a:headEnd/>
            <a:tailEnd/>
          </a:ln>
          <a:effectLst/>
        </p:spPr>
        <p:txBody>
          <a:bodyPr wrap="none">
            <a:spAutoFit/>
          </a:bodyPr>
          <a:lstStyle/>
          <a:p>
            <a:endParaRPr lang="en-GB" sz="2400"/>
          </a:p>
        </p:txBody>
      </p:sp>
      <p:sp>
        <p:nvSpPr>
          <p:cNvPr id="36872" name="Text Box 8"/>
          <p:cNvSpPr txBox="1">
            <a:spLocks noChangeArrowheads="1"/>
          </p:cNvSpPr>
          <p:nvPr/>
        </p:nvSpPr>
        <p:spPr bwMode="auto">
          <a:xfrm>
            <a:off x="3048000" y="92076"/>
            <a:ext cx="5791200" cy="830997"/>
          </a:xfrm>
          <a:prstGeom prst="rect">
            <a:avLst/>
          </a:prstGeom>
          <a:solidFill>
            <a:srgbClr val="FF7C80"/>
          </a:solidFill>
          <a:ln w="9525">
            <a:noFill/>
            <a:miter lim="800000"/>
            <a:headEnd/>
            <a:tailEnd/>
          </a:ln>
          <a:effectLst/>
        </p:spPr>
        <p:txBody>
          <a:bodyPr>
            <a:spAutoFit/>
          </a:bodyPr>
          <a:lstStyle/>
          <a:p>
            <a:pPr algn="ctr"/>
            <a:r>
              <a:rPr lang="en-US" sz="2400" b="1"/>
              <a:t>CHINA: CENTRALLY ADMINISTERED MUNICIPALITIES AND SARs</a:t>
            </a:r>
            <a:endParaRPr lang="en-GB" sz="2400" b="1"/>
          </a:p>
        </p:txBody>
      </p:sp>
      <p:sp>
        <p:nvSpPr>
          <p:cNvPr id="36873" name="AutoShape 9"/>
          <p:cNvSpPr>
            <a:spLocks noChangeArrowheads="1"/>
          </p:cNvSpPr>
          <p:nvPr/>
        </p:nvSpPr>
        <p:spPr bwMode="auto">
          <a:xfrm>
            <a:off x="4800600" y="5181600"/>
            <a:ext cx="1600200" cy="304800"/>
          </a:xfrm>
          <a:prstGeom prst="wedgeRectCallout">
            <a:avLst>
              <a:gd name="adj1" fmla="val 107343"/>
              <a:gd name="adj2" fmla="val -14060"/>
            </a:avLst>
          </a:prstGeom>
          <a:solidFill>
            <a:srgbClr val="FF7C80"/>
          </a:solidFill>
          <a:ln w="9525">
            <a:solidFill>
              <a:schemeClr val="tx1"/>
            </a:solidFill>
            <a:miter lim="800000"/>
            <a:headEnd/>
            <a:tailEnd/>
          </a:ln>
          <a:effectLst/>
        </p:spPr>
        <p:txBody>
          <a:bodyPr/>
          <a:lstStyle/>
          <a:p>
            <a:pPr algn="ctr"/>
            <a:r>
              <a:rPr lang="en-US" sz="1600" b="1">
                <a:solidFill>
                  <a:srgbClr val="FFFF66"/>
                </a:solidFill>
              </a:rPr>
              <a:t>MACAU</a:t>
            </a:r>
            <a:endParaRPr lang="en-GB" sz="1600" b="1">
              <a:solidFill>
                <a:srgbClr val="FFFF66"/>
              </a:solidFill>
            </a:endParaRPr>
          </a:p>
        </p:txBody>
      </p:sp>
      <p:sp>
        <p:nvSpPr>
          <p:cNvPr id="36874" name="AutoShape 10"/>
          <p:cNvSpPr>
            <a:spLocks noChangeArrowheads="1"/>
          </p:cNvSpPr>
          <p:nvPr/>
        </p:nvSpPr>
        <p:spPr bwMode="auto">
          <a:xfrm>
            <a:off x="7620000" y="4343400"/>
            <a:ext cx="1600200" cy="304800"/>
          </a:xfrm>
          <a:prstGeom prst="wedgeRectCallout">
            <a:avLst>
              <a:gd name="adj1" fmla="val -63194"/>
              <a:gd name="adj2" fmla="val 242708"/>
            </a:avLst>
          </a:prstGeom>
          <a:solidFill>
            <a:srgbClr val="FF7C80"/>
          </a:solidFill>
          <a:ln w="9525">
            <a:solidFill>
              <a:schemeClr val="tx1"/>
            </a:solidFill>
            <a:miter lim="800000"/>
            <a:headEnd/>
            <a:tailEnd/>
          </a:ln>
          <a:effectLst/>
        </p:spPr>
        <p:txBody>
          <a:bodyPr/>
          <a:lstStyle/>
          <a:p>
            <a:pPr algn="ctr"/>
            <a:r>
              <a:rPr lang="en-US" sz="1600" b="1">
                <a:solidFill>
                  <a:srgbClr val="FFFF66"/>
                </a:solidFill>
              </a:rPr>
              <a:t>HONG KONG</a:t>
            </a:r>
            <a:endParaRPr lang="en-GB" sz="1600" b="1">
              <a:solidFill>
                <a:srgbClr val="FFFF66"/>
              </a:solidFill>
            </a:endParaRPr>
          </a:p>
        </p:txBody>
      </p:sp>
    </p:spTree>
    <p:extLst>
      <p:ext uri="{BB962C8B-B14F-4D97-AF65-F5344CB8AC3E}">
        <p14:creationId xmlns:p14="http://schemas.microsoft.com/office/powerpoint/2010/main" val="19023006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b="1" u="sng" dirty="0"/>
              <a:t>THE CHINESE </a:t>
            </a:r>
            <a:r>
              <a:rPr lang="en-US" b="1" u="sng" dirty="0" smtClean="0"/>
              <a:t>ESTABLISHMENT</a:t>
            </a:r>
            <a:endParaRPr lang="en-US" b="1" u="sng" dirty="0"/>
          </a:p>
        </p:txBody>
      </p:sp>
      <p:sp>
        <p:nvSpPr>
          <p:cNvPr id="2" name="Content Placeholder 1"/>
          <p:cNvSpPr>
            <a:spLocks noGrp="1"/>
          </p:cNvSpPr>
          <p:nvPr>
            <p:ph idx="1"/>
          </p:nvPr>
        </p:nvSpPr>
        <p:spPr>
          <a:xfrm>
            <a:off x="838200" y="1825625"/>
            <a:ext cx="10515600" cy="4351338"/>
          </a:xfrm>
        </p:spPr>
        <p:txBody>
          <a:bodyPr>
            <a:normAutofit fontScale="85000" lnSpcReduction="20000"/>
          </a:bodyPr>
          <a:lstStyle/>
          <a:p>
            <a:pPr>
              <a:lnSpc>
                <a:spcPct val="110000"/>
              </a:lnSpc>
              <a:buFontTx/>
              <a:buChar char="•"/>
            </a:pPr>
            <a:r>
              <a:rPr lang="en-US" sz="3200" b="1" dirty="0"/>
              <a:t>Three Pillars Of The Chinese Est: </a:t>
            </a:r>
          </a:p>
          <a:p>
            <a:pPr lvl="1">
              <a:lnSpc>
                <a:spcPct val="110000"/>
              </a:lnSpc>
              <a:buFont typeface="Wingdings" pitchFamily="2" charset="2"/>
              <a:buChar char="Ø"/>
            </a:pPr>
            <a:r>
              <a:rPr lang="en-US" sz="3200" b="1" dirty="0"/>
              <a:t> The Communist Party Of China</a:t>
            </a:r>
          </a:p>
          <a:p>
            <a:pPr lvl="1">
              <a:lnSpc>
                <a:spcPct val="110000"/>
              </a:lnSpc>
              <a:buFont typeface="Wingdings" pitchFamily="2" charset="2"/>
              <a:buChar char="Ø"/>
            </a:pPr>
            <a:r>
              <a:rPr lang="en-US" sz="3200" b="1" dirty="0"/>
              <a:t>	The State</a:t>
            </a:r>
          </a:p>
          <a:p>
            <a:pPr lvl="1">
              <a:lnSpc>
                <a:spcPct val="110000"/>
              </a:lnSpc>
              <a:buFont typeface="Wingdings" pitchFamily="2" charset="2"/>
              <a:buChar char="Ø"/>
            </a:pPr>
            <a:r>
              <a:rPr lang="en-US" sz="3200" b="1" dirty="0"/>
              <a:t>	The Military</a:t>
            </a:r>
          </a:p>
          <a:p>
            <a:pPr lvl="1">
              <a:lnSpc>
                <a:spcPct val="110000"/>
              </a:lnSpc>
              <a:buFont typeface="Wingdings" pitchFamily="2" charset="2"/>
              <a:buNone/>
            </a:pPr>
            <a:endParaRPr lang="en-US" sz="3200" b="1" dirty="0"/>
          </a:p>
          <a:p>
            <a:pPr>
              <a:lnSpc>
                <a:spcPct val="110000"/>
              </a:lnSpc>
              <a:buFontTx/>
              <a:buChar char="•"/>
            </a:pPr>
            <a:r>
              <a:rPr lang="en-US" sz="3200" b="1" dirty="0"/>
              <a:t> The State Encompasses:</a:t>
            </a:r>
          </a:p>
          <a:p>
            <a:pPr lvl="1">
              <a:lnSpc>
                <a:spcPct val="110000"/>
              </a:lnSpc>
              <a:buFont typeface="Wingdings" pitchFamily="2" charset="2"/>
              <a:buChar char="Ø"/>
            </a:pPr>
            <a:r>
              <a:rPr lang="en-US" sz="3200" b="1" dirty="0"/>
              <a:t>	The Legislature</a:t>
            </a:r>
          </a:p>
          <a:p>
            <a:pPr lvl="1">
              <a:lnSpc>
                <a:spcPct val="110000"/>
              </a:lnSpc>
              <a:buFont typeface="Wingdings" pitchFamily="2" charset="2"/>
              <a:buChar char="Ø"/>
            </a:pPr>
            <a:r>
              <a:rPr lang="en-US" sz="3200" b="1" dirty="0"/>
              <a:t>	The Executive</a:t>
            </a:r>
          </a:p>
          <a:p>
            <a:pPr lvl="1">
              <a:lnSpc>
                <a:spcPct val="110000"/>
              </a:lnSpc>
              <a:buFont typeface="Wingdings" pitchFamily="2" charset="2"/>
              <a:buChar char="Ø"/>
            </a:pPr>
            <a:r>
              <a:rPr lang="en-US" sz="3200" b="1" dirty="0"/>
              <a:t>	The Judiciary</a:t>
            </a:r>
          </a:p>
        </p:txBody>
      </p:sp>
      <p:pic>
        <p:nvPicPr>
          <p:cNvPr id="6149" name="Picture 5"/>
          <p:cNvPicPr>
            <a:picLocks noChangeAspect="1" noChangeArrowheads="1"/>
          </p:cNvPicPr>
          <p:nvPr/>
        </p:nvPicPr>
        <p:blipFill>
          <a:blip r:embed="rId2"/>
          <a:srcRect/>
          <a:stretch>
            <a:fillRect/>
          </a:stretch>
        </p:blipFill>
        <p:spPr bwMode="auto">
          <a:xfrm>
            <a:off x="10163190" y="246067"/>
            <a:ext cx="1828800" cy="1158875"/>
          </a:xfrm>
          <a:prstGeom prst="rect">
            <a:avLst/>
          </a:prstGeom>
          <a:noFill/>
          <a:ln w="9525">
            <a:noFill/>
            <a:miter lim="800000"/>
            <a:headEnd/>
            <a:tailEnd/>
          </a:ln>
          <a:effectLst/>
        </p:spPr>
      </p:pic>
    </p:spTree>
    <p:extLst>
      <p:ext uri="{BB962C8B-B14F-4D97-AF65-F5344CB8AC3E}">
        <p14:creationId xmlns:p14="http://schemas.microsoft.com/office/powerpoint/2010/main" val="11484667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b="1" u="sng" dirty="0"/>
              <a:t>POL SYSTEM</a:t>
            </a:r>
          </a:p>
        </p:txBody>
      </p:sp>
      <p:sp>
        <p:nvSpPr>
          <p:cNvPr id="2" name="Content Placeholder 1"/>
          <p:cNvSpPr>
            <a:spLocks noGrp="1"/>
          </p:cNvSpPr>
          <p:nvPr>
            <p:ph idx="1"/>
          </p:nvPr>
        </p:nvSpPr>
        <p:spPr>
          <a:xfrm>
            <a:off x="838200" y="1825625"/>
            <a:ext cx="10515600" cy="4351338"/>
          </a:xfrm>
        </p:spPr>
        <p:txBody>
          <a:bodyPr>
            <a:normAutofit lnSpcReduction="10000"/>
          </a:bodyPr>
          <a:lstStyle/>
          <a:p>
            <a:pPr>
              <a:lnSpc>
                <a:spcPct val="150000"/>
              </a:lnSpc>
              <a:buFontTx/>
              <a:buChar char="•"/>
            </a:pPr>
            <a:r>
              <a:rPr lang="en-US" sz="3200" b="1" dirty="0"/>
              <a:t> </a:t>
            </a:r>
            <a:r>
              <a:rPr lang="en-US" b="1" dirty="0"/>
              <a:t>Multi-party state with the CCP and eight other smaller pol parties</a:t>
            </a:r>
          </a:p>
          <a:p>
            <a:pPr>
              <a:lnSpc>
                <a:spcPct val="150000"/>
              </a:lnSpc>
              <a:buFontTx/>
              <a:buChar char="•"/>
            </a:pPr>
            <a:r>
              <a:rPr lang="en-US" b="1" dirty="0"/>
              <a:t> PRC constitution mandates rule by the CCP</a:t>
            </a:r>
          </a:p>
          <a:p>
            <a:pPr>
              <a:lnSpc>
                <a:spcPct val="150000"/>
              </a:lnSpc>
              <a:buFontTx/>
              <a:buChar char="•"/>
            </a:pPr>
            <a:r>
              <a:rPr lang="en-US" b="1" dirty="0"/>
              <a:t> All </a:t>
            </a:r>
            <a:r>
              <a:rPr lang="en-US" b="1" dirty="0" smtClean="0"/>
              <a:t>officials </a:t>
            </a:r>
            <a:r>
              <a:rPr lang="en-US" b="1" dirty="0"/>
              <a:t>are not members of the CCP</a:t>
            </a:r>
          </a:p>
          <a:p>
            <a:pPr>
              <a:lnSpc>
                <a:spcPct val="150000"/>
              </a:lnSpc>
              <a:buFontTx/>
              <a:buChar char="•"/>
            </a:pPr>
            <a:r>
              <a:rPr lang="en-US" b="1" dirty="0"/>
              <a:t> Cross-membership of bodies of the CCP, </a:t>
            </a:r>
            <a:r>
              <a:rPr lang="en-US" b="1" dirty="0" err="1"/>
              <a:t>govt</a:t>
            </a:r>
            <a:r>
              <a:rPr lang="en-US" b="1" dirty="0"/>
              <a:t> and military – Chinese characteristic</a:t>
            </a:r>
          </a:p>
          <a:p>
            <a:pPr>
              <a:lnSpc>
                <a:spcPct val="150000"/>
              </a:lnSpc>
              <a:buFontTx/>
              <a:buChar char="•"/>
            </a:pPr>
            <a:r>
              <a:rPr lang="en-US" b="1" dirty="0"/>
              <a:t> Mirror images at level of apex bodies like the CMC</a:t>
            </a:r>
          </a:p>
          <a:p>
            <a:endParaRPr lang="en-IN" dirty="0"/>
          </a:p>
        </p:txBody>
      </p:sp>
      <p:pic>
        <p:nvPicPr>
          <p:cNvPr id="29702" name="Picture 1030"/>
          <p:cNvPicPr>
            <a:picLocks noChangeAspect="1" noChangeArrowheads="1"/>
          </p:cNvPicPr>
          <p:nvPr/>
        </p:nvPicPr>
        <p:blipFill>
          <a:blip r:embed="rId2"/>
          <a:srcRect/>
          <a:stretch>
            <a:fillRect/>
          </a:stretch>
        </p:blipFill>
        <p:spPr bwMode="auto">
          <a:xfrm>
            <a:off x="8763000" y="60326"/>
            <a:ext cx="1828800" cy="1158875"/>
          </a:xfrm>
          <a:prstGeom prst="rect">
            <a:avLst/>
          </a:prstGeom>
          <a:noFill/>
          <a:ln w="9525">
            <a:noFill/>
            <a:miter lim="800000"/>
            <a:headEnd/>
            <a:tailEnd/>
          </a:ln>
          <a:effectLst/>
        </p:spPr>
      </p:pic>
    </p:spTree>
    <p:extLst>
      <p:ext uri="{BB962C8B-B14F-4D97-AF65-F5344CB8AC3E}">
        <p14:creationId xmlns:p14="http://schemas.microsoft.com/office/powerpoint/2010/main" val="11205103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2743200" y="0"/>
            <a:ext cx="6705600" cy="1143000"/>
          </a:xfrm>
          <a:noFill/>
          <a:ln/>
        </p:spPr>
        <p:txBody>
          <a:bodyPr/>
          <a:lstStyle/>
          <a:p>
            <a:r>
              <a:rPr lang="en-US" sz="3000" b="1" u="sng" dirty="0"/>
              <a:t>POL SYSTEM- REPRESENTATION </a:t>
            </a:r>
            <a:br>
              <a:rPr lang="en-US" sz="3000" b="1" u="sng" dirty="0"/>
            </a:br>
            <a:r>
              <a:rPr lang="en-US" sz="3000" b="1" u="sng" dirty="0"/>
              <a:t>OF THE PEOPLE (</a:t>
            </a:r>
            <a:r>
              <a:rPr lang="en-US" sz="3000" b="1" u="sng" dirty="0" err="1"/>
              <a:t>contd</a:t>
            </a:r>
            <a:r>
              <a:rPr lang="en-US" sz="3000" b="1" u="sng" dirty="0"/>
              <a:t>)</a:t>
            </a:r>
          </a:p>
        </p:txBody>
      </p:sp>
      <p:sp>
        <p:nvSpPr>
          <p:cNvPr id="25604" name="Text Box 4"/>
          <p:cNvSpPr txBox="1">
            <a:spLocks noChangeArrowheads="1"/>
          </p:cNvSpPr>
          <p:nvPr/>
        </p:nvSpPr>
        <p:spPr bwMode="auto">
          <a:xfrm>
            <a:off x="1600200" y="1336675"/>
            <a:ext cx="9067800" cy="5410712"/>
          </a:xfrm>
          <a:prstGeom prst="rect">
            <a:avLst/>
          </a:prstGeom>
          <a:noFill/>
          <a:ln w="9525">
            <a:noFill/>
            <a:miter lim="800000"/>
            <a:headEnd/>
            <a:tailEnd/>
          </a:ln>
          <a:effectLst/>
        </p:spPr>
        <p:txBody>
          <a:bodyPr>
            <a:spAutoFit/>
          </a:bodyPr>
          <a:lstStyle/>
          <a:p>
            <a:pPr>
              <a:lnSpc>
                <a:spcPct val="120000"/>
              </a:lnSpc>
              <a:buFontTx/>
              <a:buChar char="•"/>
            </a:pPr>
            <a:r>
              <a:rPr lang="en-US" sz="2400" b="1"/>
              <a:t> CCP  highly centralized – ldrs are usually appointed</a:t>
            </a:r>
          </a:p>
          <a:p>
            <a:pPr>
              <a:lnSpc>
                <a:spcPct val="120000"/>
              </a:lnSpc>
              <a:buFontTx/>
              <a:buChar char="•"/>
            </a:pPr>
            <a:r>
              <a:rPr lang="en-US" sz="2400" b="1"/>
              <a:t> No open elections – proportionate incr in the eff of connections (</a:t>
            </a:r>
            <a:r>
              <a:rPr lang="en-US" sz="2400" b="1" i="1"/>
              <a:t>guanxi) </a:t>
            </a:r>
            <a:r>
              <a:rPr lang="en-US" sz="2400" b="1"/>
              <a:t>and backroom contacts</a:t>
            </a:r>
            <a:r>
              <a:rPr lang="en-US" sz="2400" b="1" i="1"/>
              <a:t> </a:t>
            </a:r>
            <a:r>
              <a:rPr lang="en-US" sz="2400" b="1"/>
              <a:t>(</a:t>
            </a:r>
            <a:r>
              <a:rPr lang="en-US" sz="2400" b="1" i="1"/>
              <a:t>houmen</a:t>
            </a:r>
            <a:r>
              <a:rPr lang="en-US" sz="2400" b="1"/>
              <a:t>)</a:t>
            </a:r>
          </a:p>
          <a:p>
            <a:pPr>
              <a:lnSpc>
                <a:spcPct val="120000"/>
              </a:lnSpc>
              <a:buFontTx/>
              <a:buChar char="•"/>
            </a:pPr>
            <a:r>
              <a:rPr lang="en-US" sz="2400" b="1"/>
              <a:t> Seats in NPC also for other parties – lip service to democratic rep</a:t>
            </a:r>
          </a:p>
          <a:p>
            <a:pPr>
              <a:lnSpc>
                <a:spcPct val="120000"/>
              </a:lnSpc>
              <a:buFontTx/>
              <a:buChar char="•"/>
            </a:pPr>
            <a:r>
              <a:rPr lang="en-US" sz="2400" b="1"/>
              <a:t> Specific wk units like the PLA has reserved seats in the NPC</a:t>
            </a:r>
          </a:p>
          <a:p>
            <a:pPr>
              <a:lnSpc>
                <a:spcPct val="120000"/>
              </a:lnSpc>
              <a:buFontTx/>
              <a:buChar char="•"/>
            </a:pPr>
            <a:r>
              <a:rPr lang="en-US" sz="2400" b="1"/>
              <a:t> Open elections with choice of candidate available only at county and below</a:t>
            </a:r>
          </a:p>
          <a:p>
            <a:pPr>
              <a:lnSpc>
                <a:spcPct val="120000"/>
              </a:lnSpc>
              <a:buFontTx/>
              <a:buChar char="•"/>
            </a:pPr>
            <a:r>
              <a:rPr lang="en-US" sz="2400" b="1"/>
              <a:t> Party Committees</a:t>
            </a:r>
          </a:p>
          <a:p>
            <a:pPr lvl="1">
              <a:lnSpc>
                <a:spcPct val="120000"/>
              </a:lnSpc>
              <a:buFontTx/>
              <a:buChar char="•"/>
            </a:pPr>
            <a:r>
              <a:rPr lang="en-US" sz="2400" b="1"/>
              <a:t> Large bodies, infrequent mtgs</a:t>
            </a:r>
          </a:p>
          <a:p>
            <a:pPr lvl="1">
              <a:lnSpc>
                <a:spcPct val="120000"/>
              </a:lnSpc>
              <a:buFontTx/>
              <a:buChar char="•"/>
            </a:pPr>
            <a:r>
              <a:rPr lang="en-US" sz="2400" b="1"/>
              <a:t> Domination by Hans</a:t>
            </a:r>
          </a:p>
          <a:p>
            <a:pPr lvl="1">
              <a:lnSpc>
                <a:spcPct val="120000"/>
              </a:lnSpc>
              <a:buFontTx/>
              <a:buChar char="•"/>
            </a:pPr>
            <a:r>
              <a:rPr lang="en-US" sz="2400" b="1"/>
              <a:t> Ratification, pro forma debates on issues</a:t>
            </a:r>
          </a:p>
          <a:p>
            <a:pPr>
              <a:lnSpc>
                <a:spcPct val="120000"/>
              </a:lnSpc>
              <a:buFontTx/>
              <a:buChar char="•"/>
            </a:pPr>
            <a:endParaRPr lang="en-US" sz="2400" b="1"/>
          </a:p>
        </p:txBody>
      </p:sp>
      <p:pic>
        <p:nvPicPr>
          <p:cNvPr id="25606" name="Picture 6"/>
          <p:cNvPicPr>
            <a:picLocks noChangeAspect="1" noChangeArrowheads="1"/>
          </p:cNvPicPr>
          <p:nvPr/>
        </p:nvPicPr>
        <p:blipFill>
          <a:blip r:embed="rId2"/>
          <a:srcRect/>
          <a:stretch>
            <a:fillRect/>
          </a:stretch>
        </p:blipFill>
        <p:spPr bwMode="auto">
          <a:xfrm>
            <a:off x="9296400" y="60326"/>
            <a:ext cx="1371600" cy="930275"/>
          </a:xfrm>
          <a:prstGeom prst="rect">
            <a:avLst/>
          </a:prstGeom>
          <a:noFill/>
          <a:ln w="9525">
            <a:noFill/>
            <a:miter lim="800000"/>
            <a:headEnd/>
            <a:tailEnd/>
          </a:ln>
          <a:effectLst/>
        </p:spPr>
      </p:pic>
    </p:spTree>
    <p:extLst>
      <p:ext uri="{BB962C8B-B14F-4D97-AF65-F5344CB8AC3E}">
        <p14:creationId xmlns:p14="http://schemas.microsoft.com/office/powerpoint/2010/main" val="995121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u="sng" dirty="0" smtClean="0"/>
              <a:t>STRUCTURE OF THE CPC</a:t>
            </a:r>
            <a:endParaRPr lang="en-IN" b="1" u="sng" dirty="0"/>
          </a:p>
        </p:txBody>
      </p:sp>
      <p:sp>
        <p:nvSpPr>
          <p:cNvPr id="4" name="Content Placeholder 3"/>
          <p:cNvSpPr>
            <a:spLocks noGrp="1"/>
          </p:cNvSpPr>
          <p:nvPr>
            <p:ph idx="1"/>
          </p:nvPr>
        </p:nvSpPr>
        <p:spPr>
          <a:xfrm>
            <a:off x="838200" y="1814513"/>
            <a:ext cx="10515600" cy="4362450"/>
          </a:xfrm>
        </p:spPr>
        <p:txBody>
          <a:bodyPr>
            <a:normAutofit fontScale="92500" lnSpcReduction="10000"/>
          </a:bodyPr>
          <a:lstStyle/>
          <a:p>
            <a:r>
              <a:rPr lang="en-IN" dirty="0" smtClean="0"/>
              <a:t>DEMOCRACY IN CHINA.</a:t>
            </a:r>
          </a:p>
          <a:p>
            <a:r>
              <a:rPr lang="en-IN" dirty="0" smtClean="0"/>
              <a:t>VOTING SYSTEM, “ONE LEVEL HIGHER”.</a:t>
            </a:r>
          </a:p>
          <a:p>
            <a:r>
              <a:rPr lang="en-IN" dirty="0" smtClean="0"/>
              <a:t>IMPACT OF MANDATORY RETIREMENT AGE. ALL SAME AGE GROUP!</a:t>
            </a:r>
          </a:p>
          <a:p>
            <a:r>
              <a:rPr lang="en-IN" dirty="0" smtClean="0"/>
              <a:t>NATIONAL CONGRESS OF </a:t>
            </a:r>
            <a:r>
              <a:rPr lang="en-IN" dirty="0"/>
              <a:t>THE CPC…2280 DELEGATES REPRESENT 89 MILLION PARTY MEMBERS.</a:t>
            </a:r>
          </a:p>
          <a:p>
            <a:r>
              <a:rPr lang="en-IN" dirty="0" smtClean="0"/>
              <a:t>SELECTS THE CENTRAL COMMITTEE. ( &amp; THE MEMBERSHIP OF THE CCDI)</a:t>
            </a:r>
          </a:p>
          <a:p>
            <a:r>
              <a:rPr lang="en-IN" dirty="0" smtClean="0"/>
              <a:t>SELECTION PROCESS SUPERVISED BY THE CENTRAL ORGANIZATION DEPARTMENT.</a:t>
            </a:r>
          </a:p>
          <a:p>
            <a:r>
              <a:rPr lang="en-IN" dirty="0" smtClean="0"/>
              <a:t>ELECTION TO THE POLITBURO.</a:t>
            </a:r>
          </a:p>
          <a:p>
            <a:r>
              <a:rPr lang="en-IN" dirty="0" smtClean="0"/>
              <a:t>POLITBURO STANDING COMMITTEE.</a:t>
            </a:r>
          </a:p>
        </p:txBody>
      </p:sp>
    </p:spTree>
    <p:extLst>
      <p:ext uri="{BB962C8B-B14F-4D97-AF65-F5344CB8AC3E}">
        <p14:creationId xmlns:p14="http://schemas.microsoft.com/office/powerpoint/2010/main" val="333015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AutoShape 2" descr="Image result for cpc organizati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4" descr="Image result for cpc organization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40" y="-193502"/>
            <a:ext cx="6187440" cy="7264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09592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63650"/>
          </a:xfrm>
        </p:spPr>
        <p:txBody>
          <a:bodyPr/>
          <a:lstStyle/>
          <a:p>
            <a:pPr algn="ctr"/>
            <a:r>
              <a:rPr lang="en-IN" b="1" u="sng" dirty="0" smtClean="0"/>
              <a:t>CENTRAL COMMITTEE</a:t>
            </a:r>
            <a:endParaRPr lang="en-IN" b="1" u="sng" dirty="0"/>
          </a:p>
        </p:txBody>
      </p:sp>
      <p:sp>
        <p:nvSpPr>
          <p:cNvPr id="3" name="Content Placeholder 2"/>
          <p:cNvSpPr>
            <a:spLocks noGrp="1"/>
          </p:cNvSpPr>
          <p:nvPr>
            <p:ph idx="1"/>
          </p:nvPr>
        </p:nvSpPr>
        <p:spPr>
          <a:xfrm>
            <a:off x="838200" y="1825625"/>
            <a:ext cx="10515600" cy="4351338"/>
          </a:xfrm>
        </p:spPr>
        <p:txBody>
          <a:bodyPr>
            <a:normAutofit/>
          </a:bodyPr>
          <a:lstStyle/>
          <a:p>
            <a:r>
              <a:rPr lang="en-IN" dirty="0" smtClean="0"/>
              <a:t>202 FULL AND 171 ALTERNATE MEMBERS IN THE CENTRAL COMMITTEE. METHOD, RANKING, QUOTAS.</a:t>
            </a:r>
          </a:p>
          <a:p>
            <a:r>
              <a:rPr lang="en-IN" dirty="0" smtClean="0"/>
              <a:t>CONFIRMS THE GENERAL SECRETARY, POLITBURO, PBSC, CMC</a:t>
            </a:r>
          </a:p>
          <a:p>
            <a:r>
              <a:rPr lang="en-IN" dirty="0" smtClean="0"/>
              <a:t>OVERSEES POWERFUL NATIONAL LEVEL ORGANIZATIONS.</a:t>
            </a:r>
          </a:p>
          <a:p>
            <a:pPr lvl="1"/>
            <a:r>
              <a:rPr lang="en-IN" dirty="0" smtClean="0"/>
              <a:t>PROPOGANDA.</a:t>
            </a:r>
          </a:p>
          <a:p>
            <a:pPr lvl="1"/>
            <a:r>
              <a:rPr lang="en-IN" dirty="0" smtClean="0"/>
              <a:t>ORG.</a:t>
            </a:r>
          </a:p>
          <a:p>
            <a:pPr lvl="1"/>
            <a:r>
              <a:rPr lang="en-IN" dirty="0" smtClean="0"/>
              <a:t>UNITED FRONT.</a:t>
            </a:r>
          </a:p>
          <a:p>
            <a:pPr lvl="1"/>
            <a:r>
              <a:rPr lang="en-IN" dirty="0" smtClean="0"/>
              <a:t>INTERNATIONAL LIASION.</a:t>
            </a:r>
          </a:p>
          <a:p>
            <a:pPr marL="0" indent="0">
              <a:buNone/>
            </a:pPr>
            <a:endParaRPr lang="en-IN" dirty="0" smtClean="0"/>
          </a:p>
          <a:p>
            <a:pPr marL="0" indent="0">
              <a:buNone/>
            </a:pPr>
            <a:endParaRPr lang="en-IN" dirty="0" smtClean="0"/>
          </a:p>
          <a:p>
            <a:endParaRPr lang="en-IN" dirty="0"/>
          </a:p>
        </p:txBody>
      </p:sp>
    </p:spTree>
    <p:extLst>
      <p:ext uri="{BB962C8B-B14F-4D97-AF65-F5344CB8AC3E}">
        <p14:creationId xmlns:p14="http://schemas.microsoft.com/office/powerpoint/2010/main" val="33416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92225"/>
          </a:xfrm>
        </p:spPr>
        <p:txBody>
          <a:bodyPr/>
          <a:lstStyle/>
          <a:p>
            <a:pPr algn="ctr"/>
            <a:r>
              <a:rPr lang="en-IN" b="1" u="sng" dirty="0" smtClean="0"/>
              <a:t>POLITBURO AND PBSC</a:t>
            </a:r>
            <a:endParaRPr lang="en-IN" b="1" u="sng" dirty="0"/>
          </a:p>
        </p:txBody>
      </p:sp>
      <p:sp>
        <p:nvSpPr>
          <p:cNvPr id="3" name="Content Placeholder 2"/>
          <p:cNvSpPr>
            <a:spLocks noGrp="1"/>
          </p:cNvSpPr>
          <p:nvPr>
            <p:ph idx="1"/>
          </p:nvPr>
        </p:nvSpPr>
        <p:spPr>
          <a:xfrm>
            <a:off x="807720" y="1798320"/>
            <a:ext cx="10546080" cy="4378643"/>
          </a:xfrm>
        </p:spPr>
        <p:txBody>
          <a:bodyPr/>
          <a:lstStyle/>
          <a:p>
            <a:r>
              <a:rPr lang="en-IN" dirty="0" smtClean="0"/>
              <a:t>25. </a:t>
            </a:r>
          </a:p>
          <a:p>
            <a:r>
              <a:rPr lang="en-IN" dirty="0" smtClean="0"/>
              <a:t>SIMULTANEOUSLY HOLD POWERFUL POSITIONS IN THE STATE.</a:t>
            </a:r>
          </a:p>
          <a:p>
            <a:r>
              <a:rPr lang="en-IN" dirty="0" smtClean="0"/>
              <a:t>NO VOTING AT PB. ONLY DISCUSSION.</a:t>
            </a:r>
          </a:p>
          <a:p>
            <a:r>
              <a:rPr lang="en-IN" dirty="0" smtClean="0"/>
              <a:t>PB VS CENTRAL SECRETARIAT (DIRECTLY UNDER THE GEN SECRETARY).</a:t>
            </a:r>
          </a:p>
          <a:p>
            <a:r>
              <a:rPr lang="en-IN" dirty="0" smtClean="0"/>
              <a:t>PBSC -7.</a:t>
            </a:r>
          </a:p>
          <a:p>
            <a:r>
              <a:rPr lang="en-IN" dirty="0" smtClean="0"/>
              <a:t>STANDARD MEMBERS:</a:t>
            </a:r>
          </a:p>
          <a:p>
            <a:pPr lvl="1"/>
            <a:r>
              <a:rPr lang="en-IN" dirty="0" smtClean="0"/>
              <a:t>GEN SECY, PREMIER, CHAIRMAN OF THE NPC, CPPCC CHAIRMAN, CCDI.</a:t>
            </a:r>
          </a:p>
          <a:p>
            <a:pPr lvl="1"/>
            <a:r>
              <a:rPr lang="en-IN" dirty="0" smtClean="0"/>
              <a:t>OTHERS.</a:t>
            </a:r>
          </a:p>
          <a:p>
            <a:endParaRPr lang="en-IN" dirty="0" smtClean="0"/>
          </a:p>
          <a:p>
            <a:endParaRPr lang="en-IN" dirty="0" smtClean="0"/>
          </a:p>
          <a:p>
            <a:endParaRPr lang="en-IN" dirty="0" smtClean="0"/>
          </a:p>
          <a:p>
            <a:endParaRPr lang="en-IN" dirty="0"/>
          </a:p>
        </p:txBody>
      </p:sp>
    </p:spTree>
    <p:extLst>
      <p:ext uri="{BB962C8B-B14F-4D97-AF65-F5344CB8AC3E}">
        <p14:creationId xmlns:p14="http://schemas.microsoft.com/office/powerpoint/2010/main" val="27687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56995"/>
          </a:xfrm>
        </p:spPr>
        <p:txBody>
          <a:bodyPr/>
          <a:lstStyle/>
          <a:p>
            <a:pPr algn="ctr"/>
            <a:r>
              <a:rPr lang="zh-CN" altLang="en-US" b="1" dirty="0"/>
              <a:t>中国共产党中央政治局常务委员会</a:t>
            </a:r>
            <a:endParaRPr lang="en-IN" b="1" dirty="0"/>
          </a:p>
        </p:txBody>
      </p:sp>
      <p:sp>
        <p:nvSpPr>
          <p:cNvPr id="3" name="Content Placeholder 2"/>
          <p:cNvSpPr>
            <a:spLocks noGrp="1"/>
          </p:cNvSpPr>
          <p:nvPr>
            <p:ph idx="1"/>
          </p:nvPr>
        </p:nvSpPr>
        <p:spPr>
          <a:xfrm>
            <a:off x="762000" y="1813560"/>
            <a:ext cx="10591800" cy="4363403"/>
          </a:xfrm>
        </p:spPr>
        <p:txBody>
          <a:bodyPr/>
          <a:lstStyle/>
          <a:p>
            <a:r>
              <a:rPr lang="en-IN" dirty="0" smtClean="0"/>
              <a:t>Gen </a:t>
            </a:r>
            <a:r>
              <a:rPr lang="en-IN" dirty="0" err="1" smtClean="0"/>
              <a:t>Secy</a:t>
            </a:r>
            <a:r>
              <a:rPr lang="en-IN" dirty="0" smtClean="0"/>
              <a:t> – Xi </a:t>
            </a:r>
            <a:r>
              <a:rPr lang="en-IN" dirty="0" err="1" smtClean="0"/>
              <a:t>Jin</a:t>
            </a:r>
            <a:r>
              <a:rPr lang="en-IN" dirty="0" smtClean="0"/>
              <a:t> ping</a:t>
            </a:r>
          </a:p>
          <a:p>
            <a:r>
              <a:rPr lang="en-IN" dirty="0" smtClean="0"/>
              <a:t>Premier – Li Ke</a:t>
            </a:r>
            <a:r>
              <a:rPr lang="en-IN" dirty="0"/>
              <a:t>q</a:t>
            </a:r>
            <a:r>
              <a:rPr lang="en-IN" dirty="0" smtClean="0"/>
              <a:t>iang.</a:t>
            </a:r>
          </a:p>
          <a:p>
            <a:r>
              <a:rPr lang="en-IN" dirty="0" smtClean="0"/>
              <a:t>Chairman of Standing Committee of the National Peoples Congress – Li Zhan </a:t>
            </a:r>
            <a:r>
              <a:rPr lang="en-IN" dirty="0" err="1" smtClean="0"/>
              <a:t>shu</a:t>
            </a:r>
            <a:r>
              <a:rPr lang="en-IN" dirty="0" smtClean="0"/>
              <a:t>.</a:t>
            </a:r>
          </a:p>
          <a:p>
            <a:r>
              <a:rPr lang="en-IN" dirty="0" err="1" smtClean="0"/>
              <a:t>Chaiman</a:t>
            </a:r>
            <a:r>
              <a:rPr lang="en-IN" dirty="0" smtClean="0"/>
              <a:t> of the CPPCC - Wang Yang.</a:t>
            </a:r>
          </a:p>
          <a:p>
            <a:r>
              <a:rPr lang="en-IN" dirty="0" err="1" smtClean="0"/>
              <a:t>Secy</a:t>
            </a:r>
            <a:r>
              <a:rPr lang="en-IN" dirty="0" smtClean="0"/>
              <a:t> of the Party </a:t>
            </a:r>
            <a:r>
              <a:rPr lang="en-IN" dirty="0" err="1" smtClean="0"/>
              <a:t>Sectt</a:t>
            </a:r>
            <a:r>
              <a:rPr lang="en-IN" dirty="0" smtClean="0"/>
              <a:t>- Wang </a:t>
            </a:r>
            <a:r>
              <a:rPr lang="en-IN" dirty="0" err="1" smtClean="0"/>
              <a:t>Huning</a:t>
            </a:r>
            <a:r>
              <a:rPr lang="en-IN" dirty="0" smtClean="0"/>
              <a:t>.</a:t>
            </a:r>
          </a:p>
          <a:p>
            <a:r>
              <a:rPr lang="en-IN" dirty="0" smtClean="0"/>
              <a:t> </a:t>
            </a:r>
            <a:r>
              <a:rPr lang="en-IN" dirty="0" err="1" smtClean="0"/>
              <a:t>Secy</a:t>
            </a:r>
            <a:r>
              <a:rPr lang="en-IN" dirty="0" smtClean="0"/>
              <a:t> CCDI -  Zhao </a:t>
            </a:r>
            <a:r>
              <a:rPr lang="en-IN" dirty="0" err="1" smtClean="0"/>
              <a:t>Leji</a:t>
            </a:r>
            <a:r>
              <a:rPr lang="en-IN" dirty="0" smtClean="0"/>
              <a:t>.</a:t>
            </a:r>
          </a:p>
          <a:p>
            <a:r>
              <a:rPr lang="en-IN" dirty="0" smtClean="0"/>
              <a:t>Vice Premier of the State Council- Han Zheng.</a:t>
            </a:r>
          </a:p>
          <a:p>
            <a:endParaRPr lang="en-IN" dirty="0" smtClean="0"/>
          </a:p>
          <a:p>
            <a:endParaRPr lang="en-IN" dirty="0"/>
          </a:p>
        </p:txBody>
      </p:sp>
    </p:spTree>
    <p:extLst>
      <p:ext uri="{BB962C8B-B14F-4D97-AF65-F5344CB8AC3E}">
        <p14:creationId xmlns:p14="http://schemas.microsoft.com/office/powerpoint/2010/main" val="40433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u="sng" dirty="0" smtClean="0"/>
              <a:t>SCHEDULE</a:t>
            </a:r>
            <a:endParaRPr lang="en-IN" b="1" u="sng" dirty="0"/>
          </a:p>
        </p:txBody>
      </p:sp>
      <p:sp>
        <p:nvSpPr>
          <p:cNvPr id="3" name="Content Placeholder 2"/>
          <p:cNvSpPr>
            <a:spLocks noGrp="1"/>
          </p:cNvSpPr>
          <p:nvPr>
            <p:ph idx="1"/>
          </p:nvPr>
        </p:nvSpPr>
        <p:spPr/>
        <p:txBody>
          <a:bodyPr/>
          <a:lstStyle/>
          <a:p>
            <a:r>
              <a:rPr lang="en-IN" dirty="0" smtClean="0"/>
              <a:t>NATIONAL PARTY CONGRESS – 5 YEARLY (SINCE 1977), 19</a:t>
            </a:r>
            <a:r>
              <a:rPr lang="en-IN" baseline="30000" dirty="0" smtClean="0"/>
              <a:t>TH</a:t>
            </a:r>
            <a:r>
              <a:rPr lang="en-IN" dirty="0" smtClean="0"/>
              <a:t>.</a:t>
            </a:r>
          </a:p>
          <a:p>
            <a:r>
              <a:rPr lang="en-IN" dirty="0" smtClean="0"/>
              <a:t>POLITBURO MEETINGS- ONCE MONTHLY.</a:t>
            </a:r>
          </a:p>
          <a:p>
            <a:r>
              <a:rPr lang="en-IN" dirty="0" smtClean="0"/>
              <a:t>PLENUMS OF THE CENTRAL COMMITTEE.</a:t>
            </a:r>
          </a:p>
          <a:p>
            <a:r>
              <a:rPr lang="en-IN" dirty="0" smtClean="0"/>
              <a:t>BEIDAIHE. ESPECIALLY THE ONE BEFORE THE PARTY CONGRESS.</a:t>
            </a:r>
          </a:p>
          <a:p>
            <a:endParaRPr lang="en-IN" dirty="0"/>
          </a:p>
        </p:txBody>
      </p:sp>
    </p:spTree>
    <p:extLst>
      <p:ext uri="{BB962C8B-B14F-4D97-AF65-F5344CB8AC3E}">
        <p14:creationId xmlns:p14="http://schemas.microsoft.com/office/powerpoint/2010/main" val="32202779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3729032"/>
            <a:ext cx="5455137" cy="3651786"/>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6682" y="65079"/>
            <a:ext cx="5212728" cy="3489512"/>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62371" y="3613826"/>
            <a:ext cx="5561952" cy="3723290"/>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86549" y="-34966"/>
            <a:ext cx="5407973" cy="3620213"/>
          </a:xfrm>
          <a:prstGeom prst="rect">
            <a:avLst/>
          </a:prstGeom>
        </p:spPr>
      </p:pic>
    </p:spTree>
    <p:extLst>
      <p:ext uri="{BB962C8B-B14F-4D97-AF65-F5344CB8AC3E}">
        <p14:creationId xmlns:p14="http://schemas.microsoft.com/office/powerpoint/2010/main" val="25980505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IN" b="1" u="sng" dirty="0" smtClean="0"/>
              <a:t>4</a:t>
            </a:r>
            <a:r>
              <a:rPr lang="en-IN" b="1" u="sng" baseline="30000" dirty="0" smtClean="0"/>
              <a:t>th</a:t>
            </a:r>
            <a:r>
              <a:rPr lang="en-IN" b="1" u="sng" dirty="0" smtClean="0"/>
              <a:t> Plenum of the 19</a:t>
            </a:r>
            <a:r>
              <a:rPr lang="en-IN" b="1" u="sng" baseline="30000" dirty="0" smtClean="0"/>
              <a:t>th</a:t>
            </a:r>
            <a:r>
              <a:rPr lang="en-IN" b="1" u="sng" dirty="0" smtClean="0"/>
              <a:t> Party Congress</a:t>
            </a:r>
            <a:endParaRPr lang="en-IN" b="1" u="sng" dirty="0"/>
          </a:p>
        </p:txBody>
      </p:sp>
      <p:sp>
        <p:nvSpPr>
          <p:cNvPr id="3" name="Content Placeholder 2"/>
          <p:cNvSpPr>
            <a:spLocks noGrp="1"/>
          </p:cNvSpPr>
          <p:nvPr>
            <p:ph idx="1"/>
          </p:nvPr>
        </p:nvSpPr>
        <p:spPr>
          <a:xfrm>
            <a:off x="777240" y="1828799"/>
            <a:ext cx="10576560" cy="4348163"/>
          </a:xfrm>
        </p:spPr>
        <p:txBody>
          <a:bodyPr/>
          <a:lstStyle/>
          <a:p>
            <a:r>
              <a:rPr lang="en-IN" dirty="0" smtClean="0"/>
              <a:t>28 – 31 Oct 2019.</a:t>
            </a:r>
          </a:p>
          <a:p>
            <a:r>
              <a:rPr lang="en-IN" dirty="0"/>
              <a:t>H</a:t>
            </a:r>
            <a:r>
              <a:rPr lang="en-IN" dirty="0" smtClean="0"/>
              <a:t>eld after 600 days. (longest gap in Post Mao Era).</a:t>
            </a:r>
          </a:p>
          <a:p>
            <a:r>
              <a:rPr lang="en-IN" dirty="0" smtClean="0"/>
              <a:t>Plenum approved Politburo policies.</a:t>
            </a:r>
          </a:p>
          <a:p>
            <a:r>
              <a:rPr lang="en-IN" dirty="0" smtClean="0"/>
              <a:t>Most Imp to consolidate the “ party line”.</a:t>
            </a:r>
          </a:p>
          <a:p>
            <a:r>
              <a:rPr lang="en-IN" dirty="0" smtClean="0"/>
              <a:t>Held at </a:t>
            </a:r>
            <a:r>
              <a:rPr lang="en-IN" dirty="0" err="1"/>
              <a:t>J</a:t>
            </a:r>
            <a:r>
              <a:rPr lang="en-IN" dirty="0" err="1" smtClean="0"/>
              <a:t>ingxi</a:t>
            </a:r>
            <a:r>
              <a:rPr lang="en-IN" dirty="0" smtClean="0"/>
              <a:t> Hotel in West Beijing. </a:t>
            </a:r>
          </a:p>
          <a:p>
            <a:endParaRPr lang="en-IN" dirty="0"/>
          </a:p>
        </p:txBody>
      </p:sp>
    </p:spTree>
    <p:extLst>
      <p:ext uri="{BB962C8B-B14F-4D97-AF65-F5344CB8AC3E}">
        <p14:creationId xmlns:p14="http://schemas.microsoft.com/office/powerpoint/2010/main" val="3588146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IN" b="1" u="sng" dirty="0" smtClean="0"/>
              <a:t>Imp Outcomes</a:t>
            </a:r>
            <a:endParaRPr lang="en-IN" b="1" u="sng" dirty="0"/>
          </a:p>
        </p:txBody>
      </p:sp>
      <p:sp>
        <p:nvSpPr>
          <p:cNvPr id="3" name="Content Placeholder 2"/>
          <p:cNvSpPr>
            <a:spLocks noGrp="1"/>
          </p:cNvSpPr>
          <p:nvPr>
            <p:ph idx="1"/>
          </p:nvPr>
        </p:nvSpPr>
        <p:spPr>
          <a:xfrm>
            <a:off x="838200" y="1539240"/>
            <a:ext cx="10515600" cy="4637723"/>
          </a:xfrm>
        </p:spPr>
        <p:txBody>
          <a:bodyPr>
            <a:normAutofit fontScale="92500" lnSpcReduction="20000"/>
          </a:bodyPr>
          <a:lstStyle/>
          <a:p>
            <a:r>
              <a:rPr lang="en-IN" dirty="0"/>
              <a:t> </a:t>
            </a:r>
            <a:r>
              <a:rPr lang="en-IN" dirty="0" smtClean="0"/>
              <a:t>Further </a:t>
            </a:r>
            <a:r>
              <a:rPr lang="en-IN" dirty="0"/>
              <a:t>accredited </a:t>
            </a:r>
            <a:r>
              <a:rPr lang="en-IN" b="1" dirty="0"/>
              <a:t>Xi’s </a:t>
            </a:r>
            <a:r>
              <a:rPr lang="en-IN" b="1" dirty="0" smtClean="0"/>
              <a:t>ideological positions </a:t>
            </a:r>
            <a:r>
              <a:rPr lang="en-IN" b="1" dirty="0"/>
              <a:t>and doctrine </a:t>
            </a:r>
            <a:r>
              <a:rPr lang="en-IN" dirty="0"/>
              <a:t>of “</a:t>
            </a:r>
            <a:r>
              <a:rPr lang="en-IN" dirty="0" smtClean="0"/>
              <a:t>Socialism with </a:t>
            </a:r>
            <a:r>
              <a:rPr lang="en-IN" dirty="0"/>
              <a:t>Chinese characteristics in the new era”, as</a:t>
            </a:r>
            <a:br>
              <a:rPr lang="en-IN" dirty="0"/>
            </a:br>
            <a:r>
              <a:rPr lang="en-IN" dirty="0"/>
              <a:t>well as endorsed his position as the </a:t>
            </a:r>
            <a:r>
              <a:rPr lang="en-IN" b="1" dirty="0"/>
              <a:t>core CPC leader</a:t>
            </a:r>
            <a:r>
              <a:rPr lang="en-IN" b="1" dirty="0" smtClean="0"/>
              <a:t>.</a:t>
            </a:r>
          </a:p>
          <a:p>
            <a:r>
              <a:rPr lang="en-IN" dirty="0"/>
              <a:t>uphold </a:t>
            </a:r>
            <a:r>
              <a:rPr lang="en-IN" b="1" u="sng" dirty="0"/>
              <a:t>law-based governance</a:t>
            </a:r>
            <a:r>
              <a:rPr lang="en-IN" b="1" dirty="0"/>
              <a:t> </a:t>
            </a:r>
            <a:r>
              <a:rPr lang="en-IN" b="1" dirty="0" smtClean="0"/>
              <a:t>(</a:t>
            </a:r>
            <a:r>
              <a:rPr lang="ja-JP" altLang="en-US" b="1" dirty="0" smtClean="0"/>
              <a:t>依</a:t>
            </a:r>
            <a:r>
              <a:rPr lang="ja-JP" altLang="en-US" b="1" dirty="0"/>
              <a:t>法治国 </a:t>
            </a:r>
            <a:r>
              <a:rPr lang="en-IN" b="1" dirty="0" err="1"/>
              <a:t>yi</a:t>
            </a:r>
            <a:r>
              <a:rPr lang="en-IN" b="1" dirty="0"/>
              <a:t> fa </a:t>
            </a:r>
            <a:r>
              <a:rPr lang="en-IN" b="1" dirty="0" err="1"/>
              <a:t>zhi</a:t>
            </a:r>
            <a:r>
              <a:rPr lang="en-IN" b="1" dirty="0"/>
              <a:t> </a:t>
            </a:r>
            <a:r>
              <a:rPr lang="en-IN" b="1" dirty="0" err="1"/>
              <a:t>guo</a:t>
            </a:r>
            <a:r>
              <a:rPr lang="en-IN" b="1" dirty="0" smtClean="0"/>
              <a:t>).</a:t>
            </a:r>
          </a:p>
          <a:p>
            <a:r>
              <a:rPr lang="en-IN" dirty="0"/>
              <a:t> </a:t>
            </a:r>
            <a:r>
              <a:rPr lang="en-IN" dirty="0" smtClean="0"/>
              <a:t>Re emphasised the long-term </a:t>
            </a:r>
            <a:r>
              <a:rPr lang="en-IN" dirty="0"/>
              <a:t>objectives of completing the </a:t>
            </a:r>
            <a:r>
              <a:rPr lang="en-IN" b="1" dirty="0"/>
              <a:t>national rejuvenation</a:t>
            </a:r>
            <a:r>
              <a:rPr lang="en-IN" dirty="0"/>
              <a:t> and </a:t>
            </a:r>
            <a:r>
              <a:rPr lang="en-IN" b="1" dirty="0"/>
              <a:t>building of a moderately prosperous society</a:t>
            </a:r>
            <a:r>
              <a:rPr lang="en-IN" dirty="0" smtClean="0"/>
              <a:t>.</a:t>
            </a:r>
          </a:p>
          <a:p>
            <a:r>
              <a:rPr lang="en-IN" dirty="0"/>
              <a:t>solving problems related to the </a:t>
            </a:r>
            <a:r>
              <a:rPr lang="en-IN" b="1" dirty="0"/>
              <a:t>“</a:t>
            </a:r>
            <a:r>
              <a:rPr lang="en-IN" b="1" u="sng" dirty="0"/>
              <a:t>two-no worries and the three guarantees</a:t>
            </a:r>
            <a:r>
              <a:rPr lang="en-IN" b="1" dirty="0"/>
              <a:t>” </a:t>
            </a:r>
            <a:r>
              <a:rPr lang="en-IN" dirty="0"/>
              <a:t>but also curbing local corruption in order to </a:t>
            </a:r>
            <a:r>
              <a:rPr lang="en-IN" dirty="0" err="1"/>
              <a:t>fulfill</a:t>
            </a:r>
            <a:r>
              <a:rPr lang="en-IN" dirty="0"/>
              <a:t> the </a:t>
            </a:r>
            <a:r>
              <a:rPr lang="en-IN" b="1" dirty="0"/>
              <a:t>2020 poverty alleviation goals.</a:t>
            </a:r>
            <a:endParaRPr lang="en-IN" b="1" dirty="0" smtClean="0"/>
          </a:p>
          <a:p>
            <a:r>
              <a:rPr lang="en-IN" dirty="0"/>
              <a:t>President Xi stressed that China would not follow the “Western path of economic liberalization” but construct its own system of governance “adapted to domestic conditions” which would be underpinned by the dominant role of the state in the economy. </a:t>
            </a:r>
            <a:endParaRPr lang="en-IN" b="1" dirty="0" smtClean="0"/>
          </a:p>
          <a:p>
            <a:endParaRPr lang="en-IN" dirty="0"/>
          </a:p>
        </p:txBody>
      </p:sp>
    </p:spTree>
    <p:extLst>
      <p:ext uri="{BB962C8B-B14F-4D97-AF65-F5344CB8AC3E}">
        <p14:creationId xmlns:p14="http://schemas.microsoft.com/office/powerpoint/2010/main" val="2799767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365760"/>
            <a:ext cx="10576560" cy="1324928"/>
          </a:xfrm>
        </p:spPr>
        <p:txBody>
          <a:bodyPr/>
          <a:lstStyle/>
          <a:p>
            <a:pPr algn="ctr"/>
            <a:r>
              <a:rPr lang="en-IN" b="1" u="sng" dirty="0" smtClean="0"/>
              <a:t>Agenda</a:t>
            </a:r>
            <a:endParaRPr lang="en-IN" b="1" u="sng" dirty="0"/>
          </a:p>
        </p:txBody>
      </p:sp>
      <p:sp>
        <p:nvSpPr>
          <p:cNvPr id="3" name="Content Placeholder 2"/>
          <p:cNvSpPr>
            <a:spLocks noGrp="1"/>
          </p:cNvSpPr>
          <p:nvPr>
            <p:ph idx="1"/>
          </p:nvPr>
        </p:nvSpPr>
        <p:spPr/>
        <p:txBody>
          <a:bodyPr/>
          <a:lstStyle/>
          <a:p>
            <a:r>
              <a:rPr lang="en-IN" dirty="0" smtClean="0"/>
              <a:t>Focus on “Upholding and improving the system of Socialism with Chinese Characteristics and the modernization of China’s System and capacity for Governance”.</a:t>
            </a:r>
          </a:p>
          <a:p>
            <a:r>
              <a:rPr lang="en-IN" dirty="0"/>
              <a:t>S</a:t>
            </a:r>
            <a:r>
              <a:rPr lang="en-IN" dirty="0" smtClean="0"/>
              <a:t>ubmitted for review. The phrase first appeared at the Third Plenum of the 18</a:t>
            </a:r>
            <a:r>
              <a:rPr lang="en-IN" baseline="30000" dirty="0" smtClean="0"/>
              <a:t>th</a:t>
            </a:r>
            <a:r>
              <a:rPr lang="en-IN" dirty="0" smtClean="0"/>
              <a:t> PC.</a:t>
            </a:r>
          </a:p>
          <a:p>
            <a:r>
              <a:rPr lang="en-IN" dirty="0" smtClean="0"/>
              <a:t>Larger plan to be “basically” complete by 2035  and fully realized by 2049.</a:t>
            </a:r>
          </a:p>
          <a:p>
            <a:r>
              <a:rPr lang="en-IN" dirty="0" smtClean="0"/>
              <a:t>Promotions?? New Faces? Successor? </a:t>
            </a:r>
          </a:p>
        </p:txBody>
      </p:sp>
    </p:spTree>
    <p:extLst>
      <p:ext uri="{BB962C8B-B14F-4D97-AF65-F5344CB8AC3E}">
        <p14:creationId xmlns:p14="http://schemas.microsoft.com/office/powerpoint/2010/main" val="30353964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320041"/>
            <a:ext cx="10485120" cy="1370648"/>
          </a:xfrm>
        </p:spPr>
        <p:txBody>
          <a:bodyPr/>
          <a:lstStyle/>
          <a:p>
            <a:pPr algn="ctr"/>
            <a:r>
              <a:rPr lang="en-IN" b="1" u="sng" dirty="0" smtClean="0"/>
              <a:t>GOOD GOVERNANCE</a:t>
            </a:r>
            <a:endParaRPr lang="en-IN" b="1" u="sng" dirty="0"/>
          </a:p>
        </p:txBody>
      </p:sp>
      <p:sp>
        <p:nvSpPr>
          <p:cNvPr id="3" name="Content Placeholder 2"/>
          <p:cNvSpPr>
            <a:spLocks noGrp="1"/>
          </p:cNvSpPr>
          <p:nvPr>
            <p:ph idx="1"/>
          </p:nvPr>
        </p:nvSpPr>
        <p:spPr>
          <a:xfrm>
            <a:off x="838200" y="1825625"/>
            <a:ext cx="10515600" cy="4351338"/>
          </a:xfrm>
        </p:spPr>
        <p:txBody>
          <a:bodyPr/>
          <a:lstStyle/>
          <a:p>
            <a:r>
              <a:rPr lang="en-IN" dirty="0" smtClean="0"/>
              <a:t>Means strengthening party’s control over state organs to steer towards “National Rejuvenation”.</a:t>
            </a:r>
          </a:p>
          <a:p>
            <a:r>
              <a:rPr lang="en-IN" dirty="0" smtClean="0"/>
              <a:t>Govt Reorg of 2018 approved.</a:t>
            </a:r>
          </a:p>
          <a:p>
            <a:r>
              <a:rPr lang="en-IN" dirty="0" smtClean="0"/>
              <a:t>To ensure no confusion.. Xi’s Quotes regularly published </a:t>
            </a:r>
            <a:endParaRPr lang="en-IN" dirty="0"/>
          </a:p>
        </p:txBody>
      </p:sp>
    </p:spTree>
    <p:extLst>
      <p:ext uri="{BB962C8B-B14F-4D97-AF65-F5344CB8AC3E}">
        <p14:creationId xmlns:p14="http://schemas.microsoft.com/office/powerpoint/2010/main" val="146426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10515600" cy="4351338"/>
          </a:xfrm>
        </p:spPr>
        <p:txBody>
          <a:bodyPr/>
          <a:lstStyle/>
          <a:p>
            <a:r>
              <a:rPr lang="en-IN" dirty="0"/>
              <a:t>Key Element is Focus is on “Xi Jinping Thought</a:t>
            </a:r>
            <a:r>
              <a:rPr lang="en-IN" dirty="0" smtClean="0"/>
              <a:t>”.</a:t>
            </a:r>
          </a:p>
          <a:p>
            <a:r>
              <a:rPr lang="en-IN" dirty="0" smtClean="0"/>
              <a:t>“ Fortress Mentality” to redirect criticism.</a:t>
            </a:r>
          </a:p>
          <a:p>
            <a:endParaRPr lang="en-IN" dirty="0"/>
          </a:p>
          <a:p>
            <a:endParaRPr lang="en-IN" dirty="0" smtClean="0"/>
          </a:p>
          <a:p>
            <a:r>
              <a:rPr lang="en-IN" dirty="0" smtClean="0"/>
              <a:t>May add to Trade and other tensions!</a:t>
            </a:r>
            <a:endParaRPr lang="en-IN" dirty="0"/>
          </a:p>
        </p:txBody>
      </p:sp>
    </p:spTree>
    <p:extLst>
      <p:ext uri="{BB962C8B-B14F-4D97-AF65-F5344CB8AC3E}">
        <p14:creationId xmlns:p14="http://schemas.microsoft.com/office/powerpoint/2010/main" val="276982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a:xfrm>
            <a:off x="4038600" y="0"/>
            <a:ext cx="7848600" cy="1143000"/>
          </a:xfrm>
        </p:spPr>
        <p:txBody>
          <a:bodyPr/>
          <a:lstStyle/>
          <a:p>
            <a:r>
              <a:rPr lang="en-US" b="1" u="sng" dirty="0"/>
              <a:t>ORG OF GOVT</a:t>
            </a:r>
          </a:p>
        </p:txBody>
      </p:sp>
      <p:sp>
        <p:nvSpPr>
          <p:cNvPr id="26627" name="Text Box 1027"/>
          <p:cNvSpPr txBox="1">
            <a:spLocks noChangeArrowheads="1"/>
          </p:cNvSpPr>
          <p:nvPr/>
        </p:nvSpPr>
        <p:spPr bwMode="auto">
          <a:xfrm>
            <a:off x="4160519" y="940436"/>
            <a:ext cx="4279967" cy="830997"/>
          </a:xfrm>
          <a:prstGeom prst="rect">
            <a:avLst/>
          </a:prstGeom>
          <a:noFill/>
          <a:ln w="9525">
            <a:noFill/>
            <a:miter lim="800000"/>
            <a:headEnd/>
            <a:tailEnd/>
          </a:ln>
          <a:effectLst/>
        </p:spPr>
        <p:txBody>
          <a:bodyPr wrap="square">
            <a:spAutoFit/>
          </a:bodyPr>
          <a:lstStyle/>
          <a:p>
            <a:r>
              <a:rPr lang="en-US" sz="2400" b="1" dirty="0" smtClean="0"/>
              <a:t>NPC (National Peoples Congress)</a:t>
            </a:r>
            <a:endParaRPr lang="en-US" sz="2400" b="1" dirty="0"/>
          </a:p>
        </p:txBody>
      </p:sp>
      <p:sp>
        <p:nvSpPr>
          <p:cNvPr id="26628" name="Text Box 1028"/>
          <p:cNvSpPr txBox="1">
            <a:spLocks noChangeArrowheads="1"/>
          </p:cNvSpPr>
          <p:nvPr/>
        </p:nvSpPr>
        <p:spPr bwMode="auto">
          <a:xfrm>
            <a:off x="3159125" y="1981201"/>
            <a:ext cx="4767652" cy="461665"/>
          </a:xfrm>
          <a:prstGeom prst="rect">
            <a:avLst/>
          </a:prstGeom>
          <a:noFill/>
          <a:ln w="9525">
            <a:noFill/>
            <a:miter lim="800000"/>
            <a:headEnd/>
            <a:tailEnd/>
          </a:ln>
          <a:effectLst/>
        </p:spPr>
        <p:txBody>
          <a:bodyPr wrap="none">
            <a:spAutoFit/>
          </a:bodyPr>
          <a:lstStyle/>
          <a:p>
            <a:r>
              <a:rPr lang="en-US" sz="2400" b="1" dirty="0"/>
              <a:t>STANDING COMMITTEE OF THE NPC</a:t>
            </a:r>
          </a:p>
        </p:txBody>
      </p:sp>
      <p:sp>
        <p:nvSpPr>
          <p:cNvPr id="26630" name="Text Box 1030"/>
          <p:cNvSpPr txBox="1">
            <a:spLocks noChangeArrowheads="1"/>
          </p:cNvSpPr>
          <p:nvPr/>
        </p:nvSpPr>
        <p:spPr bwMode="auto">
          <a:xfrm>
            <a:off x="4419600" y="3138489"/>
            <a:ext cx="1385888" cy="701675"/>
          </a:xfrm>
          <a:prstGeom prst="rect">
            <a:avLst/>
          </a:prstGeom>
          <a:solidFill>
            <a:srgbClr val="00FF00">
              <a:alpha val="50000"/>
            </a:srgbClr>
          </a:solidFill>
          <a:ln w="9525">
            <a:noFill/>
            <a:miter lim="800000"/>
            <a:headEnd/>
            <a:tailEnd/>
          </a:ln>
          <a:effectLst/>
        </p:spPr>
        <p:txBody>
          <a:bodyPr>
            <a:spAutoFit/>
          </a:bodyPr>
          <a:lstStyle/>
          <a:p>
            <a:r>
              <a:rPr lang="en-US" sz="2000" b="1" dirty="0"/>
              <a:t>STATE</a:t>
            </a:r>
          </a:p>
          <a:p>
            <a:r>
              <a:rPr lang="en-US" sz="2000" b="1" dirty="0"/>
              <a:t>COUNCIL</a:t>
            </a:r>
          </a:p>
        </p:txBody>
      </p:sp>
      <p:sp>
        <p:nvSpPr>
          <p:cNvPr id="26631" name="Text Box 1031"/>
          <p:cNvSpPr txBox="1">
            <a:spLocks noChangeArrowheads="1"/>
          </p:cNvSpPr>
          <p:nvPr/>
        </p:nvSpPr>
        <p:spPr bwMode="auto">
          <a:xfrm>
            <a:off x="6019800" y="3138489"/>
            <a:ext cx="1600200" cy="1311275"/>
          </a:xfrm>
          <a:prstGeom prst="rect">
            <a:avLst/>
          </a:prstGeom>
          <a:solidFill>
            <a:srgbClr val="CCFFFF">
              <a:alpha val="50000"/>
            </a:srgbClr>
          </a:solidFill>
          <a:ln w="9525">
            <a:noFill/>
            <a:miter lim="800000"/>
            <a:headEnd/>
            <a:tailEnd/>
          </a:ln>
          <a:effectLst/>
        </p:spPr>
        <p:txBody>
          <a:bodyPr>
            <a:spAutoFit/>
          </a:bodyPr>
          <a:lstStyle/>
          <a:p>
            <a:r>
              <a:rPr lang="en-US" sz="2000" b="1"/>
              <a:t>SUPREME</a:t>
            </a:r>
          </a:p>
          <a:p>
            <a:r>
              <a:rPr lang="en-US" sz="2000" b="1"/>
              <a:t>PEOPLE’S</a:t>
            </a:r>
          </a:p>
          <a:p>
            <a:r>
              <a:rPr lang="en-US" sz="2000" b="1"/>
              <a:t>COURT</a:t>
            </a:r>
          </a:p>
          <a:p>
            <a:endParaRPr lang="en-US" sz="2000" b="1"/>
          </a:p>
        </p:txBody>
      </p:sp>
      <p:sp>
        <p:nvSpPr>
          <p:cNvPr id="26632" name="Text Box 1032"/>
          <p:cNvSpPr txBox="1">
            <a:spLocks noChangeArrowheads="1"/>
          </p:cNvSpPr>
          <p:nvPr/>
        </p:nvSpPr>
        <p:spPr bwMode="auto">
          <a:xfrm>
            <a:off x="7924800" y="3138489"/>
            <a:ext cx="2590800" cy="1006475"/>
          </a:xfrm>
          <a:prstGeom prst="rect">
            <a:avLst/>
          </a:prstGeom>
          <a:solidFill>
            <a:srgbClr val="FFFF66">
              <a:alpha val="50000"/>
            </a:srgbClr>
          </a:solidFill>
          <a:ln w="9525">
            <a:noFill/>
            <a:miter lim="800000"/>
            <a:headEnd/>
            <a:tailEnd/>
          </a:ln>
          <a:effectLst/>
        </p:spPr>
        <p:txBody>
          <a:bodyPr>
            <a:spAutoFit/>
          </a:bodyPr>
          <a:lstStyle/>
          <a:p>
            <a:r>
              <a:rPr lang="en-US" sz="2000" b="1" dirty="0"/>
              <a:t>SUPREME</a:t>
            </a:r>
          </a:p>
          <a:p>
            <a:r>
              <a:rPr lang="en-US" sz="2000" b="1" dirty="0"/>
              <a:t>PEOPLE’S</a:t>
            </a:r>
          </a:p>
          <a:p>
            <a:r>
              <a:rPr lang="en-US" sz="2000" b="1" dirty="0"/>
              <a:t>PROCURATORATE</a:t>
            </a:r>
          </a:p>
        </p:txBody>
      </p:sp>
      <p:sp>
        <p:nvSpPr>
          <p:cNvPr id="26634" name="Rectangle 1034"/>
          <p:cNvSpPr>
            <a:spLocks noChangeArrowheads="1"/>
          </p:cNvSpPr>
          <p:nvPr/>
        </p:nvSpPr>
        <p:spPr bwMode="auto">
          <a:xfrm>
            <a:off x="4419600" y="3167062"/>
            <a:ext cx="1371600" cy="669926"/>
          </a:xfrm>
          <a:prstGeom prst="rect">
            <a:avLst/>
          </a:prstGeom>
          <a:noFill/>
          <a:ln w="9525">
            <a:solidFill>
              <a:schemeClr val="tx1"/>
            </a:solidFill>
            <a:miter lim="800000"/>
            <a:headEnd/>
            <a:tailEnd/>
          </a:ln>
          <a:effectLst/>
        </p:spPr>
        <p:txBody>
          <a:bodyPr wrap="none" anchor="ctr"/>
          <a:lstStyle/>
          <a:p>
            <a:endParaRPr lang="en-US"/>
          </a:p>
        </p:txBody>
      </p:sp>
      <p:sp>
        <p:nvSpPr>
          <p:cNvPr id="26635" name="Rectangle 1035"/>
          <p:cNvSpPr>
            <a:spLocks noChangeArrowheads="1"/>
          </p:cNvSpPr>
          <p:nvPr/>
        </p:nvSpPr>
        <p:spPr bwMode="auto">
          <a:xfrm>
            <a:off x="6019800" y="3124200"/>
            <a:ext cx="1600200" cy="1295400"/>
          </a:xfrm>
          <a:prstGeom prst="rect">
            <a:avLst/>
          </a:prstGeom>
          <a:noFill/>
          <a:ln w="9525">
            <a:solidFill>
              <a:schemeClr val="tx1"/>
            </a:solidFill>
            <a:miter lim="800000"/>
            <a:headEnd/>
            <a:tailEnd/>
          </a:ln>
          <a:effectLst/>
        </p:spPr>
        <p:txBody>
          <a:bodyPr wrap="none" anchor="ctr"/>
          <a:lstStyle/>
          <a:p>
            <a:endParaRPr lang="en-US"/>
          </a:p>
        </p:txBody>
      </p:sp>
      <p:sp>
        <p:nvSpPr>
          <p:cNvPr id="26636" name="Rectangle 1036"/>
          <p:cNvSpPr>
            <a:spLocks noChangeArrowheads="1"/>
          </p:cNvSpPr>
          <p:nvPr/>
        </p:nvSpPr>
        <p:spPr bwMode="auto">
          <a:xfrm>
            <a:off x="7924800" y="3124200"/>
            <a:ext cx="2590800" cy="990600"/>
          </a:xfrm>
          <a:prstGeom prst="rect">
            <a:avLst/>
          </a:prstGeom>
          <a:noFill/>
          <a:ln w="9525">
            <a:solidFill>
              <a:schemeClr val="tx1"/>
            </a:solidFill>
            <a:miter lim="800000"/>
            <a:headEnd/>
            <a:tailEnd/>
          </a:ln>
          <a:effectLst/>
        </p:spPr>
        <p:txBody>
          <a:bodyPr wrap="none" anchor="ctr"/>
          <a:lstStyle/>
          <a:p>
            <a:endParaRPr lang="en-US"/>
          </a:p>
        </p:txBody>
      </p:sp>
      <p:sp>
        <p:nvSpPr>
          <p:cNvPr id="26639" name="Line 1039"/>
          <p:cNvSpPr>
            <a:spLocks noChangeShapeType="1"/>
          </p:cNvSpPr>
          <p:nvPr/>
        </p:nvSpPr>
        <p:spPr bwMode="auto">
          <a:xfrm flipV="1">
            <a:off x="2514600" y="2819400"/>
            <a:ext cx="7162800" cy="0"/>
          </a:xfrm>
          <a:prstGeom prst="line">
            <a:avLst/>
          </a:prstGeom>
          <a:noFill/>
          <a:ln w="38100">
            <a:solidFill>
              <a:schemeClr val="tx1"/>
            </a:solidFill>
            <a:round/>
            <a:headEnd/>
            <a:tailEnd/>
          </a:ln>
          <a:effectLst/>
        </p:spPr>
        <p:txBody>
          <a:bodyPr/>
          <a:lstStyle/>
          <a:p>
            <a:endParaRPr lang="en-US"/>
          </a:p>
        </p:txBody>
      </p:sp>
      <p:sp>
        <p:nvSpPr>
          <p:cNvPr id="26641" name="Line 1041"/>
          <p:cNvSpPr>
            <a:spLocks noChangeShapeType="1"/>
          </p:cNvSpPr>
          <p:nvPr/>
        </p:nvSpPr>
        <p:spPr bwMode="auto">
          <a:xfrm>
            <a:off x="2514600" y="2819400"/>
            <a:ext cx="0" cy="228600"/>
          </a:xfrm>
          <a:prstGeom prst="line">
            <a:avLst/>
          </a:prstGeom>
          <a:noFill/>
          <a:ln w="28575">
            <a:solidFill>
              <a:schemeClr val="tx1"/>
            </a:solidFill>
            <a:round/>
            <a:headEnd/>
            <a:tailEnd type="triangle" w="med" len="med"/>
          </a:ln>
          <a:effectLst/>
        </p:spPr>
        <p:txBody>
          <a:bodyPr/>
          <a:lstStyle/>
          <a:p>
            <a:endParaRPr lang="en-US"/>
          </a:p>
        </p:txBody>
      </p:sp>
      <p:sp>
        <p:nvSpPr>
          <p:cNvPr id="26642" name="Line 1042"/>
          <p:cNvSpPr>
            <a:spLocks noChangeShapeType="1"/>
          </p:cNvSpPr>
          <p:nvPr/>
        </p:nvSpPr>
        <p:spPr bwMode="auto">
          <a:xfrm>
            <a:off x="9677400" y="2819400"/>
            <a:ext cx="0" cy="304800"/>
          </a:xfrm>
          <a:prstGeom prst="line">
            <a:avLst/>
          </a:prstGeom>
          <a:noFill/>
          <a:ln w="28575">
            <a:solidFill>
              <a:schemeClr val="tx1"/>
            </a:solidFill>
            <a:round/>
            <a:headEnd/>
            <a:tailEnd type="triangle" w="med" len="med"/>
          </a:ln>
          <a:effectLst/>
        </p:spPr>
        <p:txBody>
          <a:bodyPr/>
          <a:lstStyle/>
          <a:p>
            <a:endParaRPr lang="en-US"/>
          </a:p>
        </p:txBody>
      </p:sp>
      <p:sp>
        <p:nvSpPr>
          <p:cNvPr id="26643" name="Line 1043"/>
          <p:cNvSpPr>
            <a:spLocks noChangeShapeType="1"/>
          </p:cNvSpPr>
          <p:nvPr/>
        </p:nvSpPr>
        <p:spPr bwMode="auto">
          <a:xfrm>
            <a:off x="5029200" y="2819400"/>
            <a:ext cx="0" cy="304800"/>
          </a:xfrm>
          <a:prstGeom prst="line">
            <a:avLst/>
          </a:prstGeom>
          <a:noFill/>
          <a:ln w="28575">
            <a:solidFill>
              <a:schemeClr val="tx1"/>
            </a:solidFill>
            <a:round/>
            <a:headEnd/>
            <a:tailEnd type="triangle" w="med" len="med"/>
          </a:ln>
          <a:effectLst/>
        </p:spPr>
        <p:txBody>
          <a:bodyPr/>
          <a:lstStyle/>
          <a:p>
            <a:endParaRPr lang="en-US"/>
          </a:p>
        </p:txBody>
      </p:sp>
      <p:sp>
        <p:nvSpPr>
          <p:cNvPr id="26644" name="Line 1044"/>
          <p:cNvSpPr>
            <a:spLocks noChangeShapeType="1"/>
          </p:cNvSpPr>
          <p:nvPr/>
        </p:nvSpPr>
        <p:spPr bwMode="auto">
          <a:xfrm>
            <a:off x="6858000" y="2819400"/>
            <a:ext cx="0" cy="304800"/>
          </a:xfrm>
          <a:prstGeom prst="line">
            <a:avLst/>
          </a:prstGeom>
          <a:noFill/>
          <a:ln w="28575">
            <a:solidFill>
              <a:schemeClr val="tx1"/>
            </a:solidFill>
            <a:round/>
            <a:headEnd/>
            <a:tailEnd type="triangle" w="med" len="med"/>
          </a:ln>
          <a:effectLst/>
        </p:spPr>
        <p:txBody>
          <a:bodyPr/>
          <a:lstStyle/>
          <a:p>
            <a:endParaRPr lang="en-US"/>
          </a:p>
        </p:txBody>
      </p:sp>
      <p:sp>
        <p:nvSpPr>
          <p:cNvPr id="26645" name="Line 1045"/>
          <p:cNvSpPr>
            <a:spLocks noChangeShapeType="1"/>
          </p:cNvSpPr>
          <p:nvPr/>
        </p:nvSpPr>
        <p:spPr bwMode="auto">
          <a:xfrm>
            <a:off x="6096000" y="2514600"/>
            <a:ext cx="0" cy="228600"/>
          </a:xfrm>
          <a:prstGeom prst="line">
            <a:avLst/>
          </a:prstGeom>
          <a:noFill/>
          <a:ln w="28575">
            <a:solidFill>
              <a:schemeClr val="tx1"/>
            </a:solidFill>
            <a:round/>
            <a:headEnd/>
            <a:tailEnd type="triangle" w="med" len="med"/>
          </a:ln>
          <a:effectLst/>
        </p:spPr>
        <p:txBody>
          <a:bodyPr/>
          <a:lstStyle/>
          <a:p>
            <a:endParaRPr lang="en-US"/>
          </a:p>
        </p:txBody>
      </p:sp>
      <p:sp>
        <p:nvSpPr>
          <p:cNvPr id="26646" name="Line 1046"/>
          <p:cNvSpPr>
            <a:spLocks noChangeShapeType="1"/>
          </p:cNvSpPr>
          <p:nvPr/>
        </p:nvSpPr>
        <p:spPr bwMode="auto">
          <a:xfrm>
            <a:off x="6096000" y="1752600"/>
            <a:ext cx="0" cy="228600"/>
          </a:xfrm>
          <a:prstGeom prst="line">
            <a:avLst/>
          </a:prstGeom>
          <a:noFill/>
          <a:ln w="28575">
            <a:solidFill>
              <a:schemeClr val="tx1"/>
            </a:solidFill>
            <a:round/>
            <a:headEnd/>
            <a:tailEnd type="triangle" w="med" len="med"/>
          </a:ln>
          <a:effectLst/>
        </p:spPr>
        <p:txBody>
          <a:bodyPr/>
          <a:lstStyle/>
          <a:p>
            <a:endParaRPr lang="en-US"/>
          </a:p>
        </p:txBody>
      </p:sp>
      <p:pic>
        <p:nvPicPr>
          <p:cNvPr id="26648" name="Picture 1048"/>
          <p:cNvPicPr>
            <a:picLocks noChangeAspect="1" noChangeArrowheads="1"/>
          </p:cNvPicPr>
          <p:nvPr/>
        </p:nvPicPr>
        <p:blipFill>
          <a:blip r:embed="rId2"/>
          <a:srcRect/>
          <a:stretch>
            <a:fillRect/>
          </a:stretch>
        </p:blipFill>
        <p:spPr bwMode="auto">
          <a:xfrm>
            <a:off x="8763000" y="60326"/>
            <a:ext cx="1828800" cy="1158875"/>
          </a:xfrm>
          <a:prstGeom prst="rect">
            <a:avLst/>
          </a:prstGeom>
          <a:noFill/>
          <a:ln w="9525">
            <a:noFill/>
            <a:miter lim="800000"/>
            <a:headEnd/>
            <a:tailEnd/>
          </a:ln>
          <a:effectLst/>
        </p:spPr>
      </p:pic>
      <p:sp>
        <p:nvSpPr>
          <p:cNvPr id="21" name="Rectangle 1034"/>
          <p:cNvSpPr>
            <a:spLocks noChangeArrowheads="1"/>
          </p:cNvSpPr>
          <p:nvPr/>
        </p:nvSpPr>
        <p:spPr bwMode="auto">
          <a:xfrm>
            <a:off x="1871651" y="3062279"/>
            <a:ext cx="1371600" cy="695333"/>
          </a:xfrm>
          <a:prstGeom prst="rect">
            <a:avLst/>
          </a:prstGeom>
          <a:solidFill>
            <a:srgbClr val="FF0000"/>
          </a:solidFill>
          <a:ln w="9525">
            <a:solidFill>
              <a:schemeClr val="tx1"/>
            </a:solidFill>
            <a:miter lim="800000"/>
            <a:headEnd/>
            <a:tailEnd/>
          </a:ln>
          <a:effectLst/>
        </p:spPr>
        <p:txBody>
          <a:bodyPr wrap="none" anchor="ctr"/>
          <a:lstStyle/>
          <a:p>
            <a:r>
              <a:rPr lang="en-US" sz="2400" b="1" dirty="0" smtClean="0"/>
              <a:t>CMC</a:t>
            </a:r>
            <a:endParaRPr lang="en-US" sz="2400" b="1" dirty="0"/>
          </a:p>
        </p:txBody>
      </p:sp>
      <p:sp>
        <p:nvSpPr>
          <p:cNvPr id="2" name="TextBox 1"/>
          <p:cNvSpPr txBox="1"/>
          <p:nvPr/>
        </p:nvSpPr>
        <p:spPr>
          <a:xfrm>
            <a:off x="4000500" y="2771772"/>
            <a:ext cx="2843221" cy="369332"/>
          </a:xfrm>
          <a:prstGeom prst="rect">
            <a:avLst/>
          </a:prstGeom>
          <a:noFill/>
        </p:spPr>
        <p:txBody>
          <a:bodyPr wrap="square" rtlCol="0">
            <a:spAutoFit/>
          </a:bodyPr>
          <a:lstStyle/>
          <a:p>
            <a:r>
              <a:rPr lang="en-IN" b="1" dirty="0"/>
              <a:t>P</a:t>
            </a:r>
            <a:r>
              <a:rPr lang="en-IN" b="1" dirty="0" smtClean="0"/>
              <a:t>REMIER</a:t>
            </a:r>
            <a:endParaRPr lang="en-IN" b="1" dirty="0"/>
          </a:p>
        </p:txBody>
      </p:sp>
      <p:sp>
        <p:nvSpPr>
          <p:cNvPr id="23" name="TextBox 22"/>
          <p:cNvSpPr txBox="1"/>
          <p:nvPr/>
        </p:nvSpPr>
        <p:spPr>
          <a:xfrm>
            <a:off x="7096133" y="1595422"/>
            <a:ext cx="2843221" cy="369332"/>
          </a:xfrm>
          <a:prstGeom prst="rect">
            <a:avLst/>
          </a:prstGeom>
          <a:noFill/>
        </p:spPr>
        <p:txBody>
          <a:bodyPr wrap="square" rtlCol="0">
            <a:spAutoFit/>
          </a:bodyPr>
          <a:lstStyle/>
          <a:p>
            <a:r>
              <a:rPr lang="en-IN" b="1" dirty="0" smtClean="0"/>
              <a:t>PRESIDENT</a:t>
            </a:r>
            <a:endParaRPr lang="en-IN" b="1" dirty="0"/>
          </a:p>
        </p:txBody>
      </p:sp>
    </p:spTree>
    <p:extLst>
      <p:ext uri="{BB962C8B-B14F-4D97-AF65-F5344CB8AC3E}">
        <p14:creationId xmlns:p14="http://schemas.microsoft.com/office/powerpoint/2010/main" val="2566467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1027"/>
          <p:cNvSpPr>
            <a:spLocks noGrp="1" noChangeArrowheads="1"/>
          </p:cNvSpPr>
          <p:nvPr>
            <p:ph type="title"/>
          </p:nvPr>
        </p:nvSpPr>
        <p:spPr>
          <a:xfrm>
            <a:off x="2971800" y="-152400"/>
            <a:ext cx="5943600" cy="1143000"/>
          </a:xfrm>
          <a:noFill/>
          <a:ln/>
        </p:spPr>
        <p:txBody>
          <a:bodyPr/>
          <a:lstStyle/>
          <a:p>
            <a:r>
              <a:rPr lang="en-US" sz="4000" b="1" u="sng" dirty="0"/>
              <a:t>ORG OF GOVT(</a:t>
            </a:r>
            <a:r>
              <a:rPr lang="en-US" sz="4000" b="1" u="sng" dirty="0" err="1"/>
              <a:t>contd</a:t>
            </a:r>
            <a:r>
              <a:rPr lang="en-US" sz="4000" b="1" u="sng" dirty="0"/>
              <a:t>)</a:t>
            </a:r>
          </a:p>
        </p:txBody>
      </p:sp>
      <p:sp>
        <p:nvSpPr>
          <p:cNvPr id="27652" name="Text Box 1028"/>
          <p:cNvSpPr txBox="1">
            <a:spLocks noChangeArrowheads="1"/>
          </p:cNvSpPr>
          <p:nvPr/>
        </p:nvSpPr>
        <p:spPr bwMode="auto">
          <a:xfrm>
            <a:off x="1752600" y="1016000"/>
            <a:ext cx="9144000" cy="6124754"/>
          </a:xfrm>
          <a:prstGeom prst="rect">
            <a:avLst/>
          </a:prstGeom>
          <a:noFill/>
          <a:ln w="9525">
            <a:noFill/>
            <a:miter lim="800000"/>
            <a:headEnd/>
            <a:tailEnd/>
          </a:ln>
          <a:effectLst/>
        </p:spPr>
        <p:txBody>
          <a:bodyPr wrap="square">
            <a:spAutoFit/>
          </a:bodyPr>
          <a:lstStyle/>
          <a:p>
            <a:r>
              <a:rPr lang="en-US" sz="2800" b="1" u="sng" dirty="0"/>
              <a:t>NPC(</a:t>
            </a:r>
            <a:r>
              <a:rPr lang="en-US" sz="2800" b="1" i="1" u="sng" dirty="0" err="1"/>
              <a:t>Quanguo</a:t>
            </a:r>
            <a:r>
              <a:rPr lang="en-US" sz="2800" b="1" i="1" u="sng" dirty="0"/>
              <a:t> </a:t>
            </a:r>
            <a:r>
              <a:rPr lang="en-US" sz="2800" b="1" i="1" u="sng" dirty="0" err="1"/>
              <a:t>Renmin</a:t>
            </a:r>
            <a:r>
              <a:rPr lang="en-US" sz="2800" b="1" i="1" u="sng" dirty="0"/>
              <a:t> </a:t>
            </a:r>
            <a:r>
              <a:rPr lang="en-US" sz="2800" b="1" i="1" u="sng" dirty="0" err="1"/>
              <a:t>Daibiao</a:t>
            </a:r>
            <a:r>
              <a:rPr lang="en-US" sz="2800" b="1" i="1" u="sng" dirty="0"/>
              <a:t> </a:t>
            </a:r>
            <a:r>
              <a:rPr lang="en-US" sz="2800" b="1" i="1" u="sng" dirty="0" err="1"/>
              <a:t>Dahui</a:t>
            </a:r>
            <a:r>
              <a:rPr lang="en-US" sz="2800" b="1" i="1" u="sng" dirty="0"/>
              <a:t>)</a:t>
            </a:r>
            <a:endParaRPr lang="en-US" sz="2800" b="1" u="sng" dirty="0"/>
          </a:p>
          <a:p>
            <a:pPr>
              <a:buFontTx/>
              <a:buChar char="•"/>
            </a:pPr>
            <a:r>
              <a:rPr lang="en-US" sz="2800" b="1" dirty="0"/>
              <a:t> Unicameral legislature</a:t>
            </a:r>
          </a:p>
          <a:p>
            <a:pPr>
              <a:buFontTx/>
              <a:buChar char="•"/>
            </a:pPr>
            <a:r>
              <a:rPr lang="en-US" sz="2800" b="1" dirty="0"/>
              <a:t> 2985 deputies, all “elected” by lower party committees, annual </a:t>
            </a:r>
            <a:r>
              <a:rPr lang="en-US" sz="2800" b="1" dirty="0" smtClean="0"/>
              <a:t>mtgs. No Pay… Can hold Other Posts.</a:t>
            </a:r>
            <a:endParaRPr lang="en-US" sz="2800" b="1" dirty="0"/>
          </a:p>
          <a:p>
            <a:pPr>
              <a:buFontTx/>
              <a:buChar char="•"/>
            </a:pPr>
            <a:r>
              <a:rPr lang="en-US" sz="2800" b="1" dirty="0"/>
              <a:t> Five-year term, exec body standing committee of the NPC</a:t>
            </a:r>
          </a:p>
          <a:p>
            <a:pPr>
              <a:buFontTx/>
              <a:buChar char="•"/>
            </a:pPr>
            <a:r>
              <a:rPr lang="en-US" sz="2800" b="1" dirty="0"/>
              <a:t> </a:t>
            </a:r>
            <a:r>
              <a:rPr lang="en-US" sz="2800" b="1" u="sng" dirty="0" err="1"/>
              <a:t>Funcs</a:t>
            </a:r>
            <a:endParaRPr lang="en-US" sz="2800" b="1" u="sng" dirty="0"/>
          </a:p>
          <a:p>
            <a:pPr lvl="1">
              <a:buFontTx/>
              <a:buChar char="•"/>
            </a:pPr>
            <a:r>
              <a:rPr lang="en-US" sz="2800" b="1" dirty="0"/>
              <a:t>  Legislation – </a:t>
            </a:r>
            <a:r>
              <a:rPr lang="en-US" sz="2800" b="1" dirty="0" err="1"/>
              <a:t>fmn</a:t>
            </a:r>
            <a:r>
              <a:rPr lang="en-US" sz="2800" b="1" dirty="0"/>
              <a:t> and approval of laws</a:t>
            </a:r>
          </a:p>
          <a:p>
            <a:pPr lvl="1">
              <a:buFontTx/>
              <a:buChar char="•"/>
            </a:pPr>
            <a:r>
              <a:rPr lang="en-US" sz="2800" b="1" dirty="0"/>
              <a:t> </a:t>
            </a:r>
            <a:r>
              <a:rPr lang="en-US" sz="2800" b="1" dirty="0" err="1"/>
              <a:t>Amdts</a:t>
            </a:r>
            <a:r>
              <a:rPr lang="en-US" sz="2800" b="1" dirty="0"/>
              <a:t> to laws</a:t>
            </a:r>
          </a:p>
          <a:p>
            <a:pPr lvl="1">
              <a:buFontTx/>
              <a:buChar char="•"/>
            </a:pPr>
            <a:r>
              <a:rPr lang="en-US" sz="2800" b="1" dirty="0"/>
              <a:t> Nomination</a:t>
            </a:r>
          </a:p>
          <a:p>
            <a:pPr lvl="3">
              <a:buFontTx/>
              <a:buChar char="•"/>
            </a:pPr>
            <a:r>
              <a:rPr lang="en-US" sz="2800" b="1" dirty="0"/>
              <a:t> Elects president and vice president, president of the supreme court</a:t>
            </a:r>
          </a:p>
          <a:p>
            <a:pPr lvl="3">
              <a:buFontTx/>
              <a:buChar char="•"/>
            </a:pPr>
            <a:r>
              <a:rPr lang="en-US" sz="2800" b="1" dirty="0"/>
              <a:t> Approves nomination of State Council, CMC  </a:t>
            </a:r>
            <a:endParaRPr lang="en-US" sz="2800" b="1" dirty="0" smtClean="0"/>
          </a:p>
          <a:p>
            <a:pPr>
              <a:buFontTx/>
              <a:buChar char="•"/>
            </a:pPr>
            <a:r>
              <a:rPr lang="en-US" sz="2800" b="1" dirty="0"/>
              <a:t> </a:t>
            </a:r>
            <a:r>
              <a:rPr lang="en-US" sz="2800" b="1" dirty="0" smtClean="0"/>
              <a:t>Basically ratifies decision of State Council.</a:t>
            </a:r>
            <a:endParaRPr lang="en-US" sz="2800" b="1" dirty="0"/>
          </a:p>
          <a:p>
            <a:pPr lvl="1">
              <a:buFontTx/>
              <a:buChar char="•"/>
            </a:pPr>
            <a:endParaRPr lang="en-US" sz="2800" b="1" u="sng" dirty="0"/>
          </a:p>
        </p:txBody>
      </p:sp>
      <p:pic>
        <p:nvPicPr>
          <p:cNvPr id="27654" name="Picture 1030"/>
          <p:cNvPicPr>
            <a:picLocks noChangeAspect="1" noChangeArrowheads="1"/>
          </p:cNvPicPr>
          <p:nvPr/>
        </p:nvPicPr>
        <p:blipFill>
          <a:blip r:embed="rId2"/>
          <a:srcRect/>
          <a:stretch>
            <a:fillRect/>
          </a:stretch>
        </p:blipFill>
        <p:spPr bwMode="auto">
          <a:xfrm>
            <a:off x="8839200" y="0"/>
            <a:ext cx="1828800" cy="990600"/>
          </a:xfrm>
          <a:prstGeom prst="rect">
            <a:avLst/>
          </a:prstGeom>
          <a:noFill/>
          <a:ln w="9525">
            <a:noFill/>
            <a:miter lim="800000"/>
            <a:headEnd/>
            <a:tailEnd/>
          </a:ln>
          <a:effectLst/>
        </p:spPr>
      </p:pic>
    </p:spTree>
    <p:extLst>
      <p:ext uri="{BB962C8B-B14F-4D97-AF65-F5344CB8AC3E}">
        <p14:creationId xmlns:p14="http://schemas.microsoft.com/office/powerpoint/2010/main" val="940871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title"/>
          </p:nvPr>
        </p:nvSpPr>
        <p:spPr>
          <a:xfrm>
            <a:off x="2057400" y="-76200"/>
            <a:ext cx="7772400" cy="1143000"/>
          </a:xfrm>
          <a:noFill/>
          <a:ln/>
        </p:spPr>
        <p:txBody>
          <a:bodyPr/>
          <a:lstStyle/>
          <a:p>
            <a:r>
              <a:rPr lang="en-US" sz="4000" b="1" u="sng" dirty="0"/>
              <a:t>ORG OF GOVT(</a:t>
            </a:r>
            <a:r>
              <a:rPr lang="en-US" sz="4000" b="1" u="sng" dirty="0" err="1"/>
              <a:t>contd</a:t>
            </a:r>
            <a:r>
              <a:rPr lang="en-US" sz="4000" b="1" u="sng" dirty="0"/>
              <a:t>)</a:t>
            </a:r>
          </a:p>
        </p:txBody>
      </p:sp>
      <p:sp>
        <p:nvSpPr>
          <p:cNvPr id="9220" name="Text Box 4"/>
          <p:cNvSpPr txBox="1">
            <a:spLocks noChangeArrowheads="1"/>
          </p:cNvSpPr>
          <p:nvPr/>
        </p:nvSpPr>
        <p:spPr bwMode="auto">
          <a:xfrm>
            <a:off x="960120" y="1051560"/>
            <a:ext cx="8930641" cy="5511352"/>
          </a:xfrm>
          <a:prstGeom prst="rect">
            <a:avLst/>
          </a:prstGeom>
          <a:noFill/>
          <a:ln w="9525">
            <a:noFill/>
            <a:miter lim="800000"/>
            <a:headEnd/>
            <a:tailEnd/>
          </a:ln>
          <a:effectLst/>
        </p:spPr>
        <p:txBody>
          <a:bodyPr wrap="square">
            <a:spAutoFit/>
          </a:bodyPr>
          <a:lstStyle/>
          <a:p>
            <a:pPr>
              <a:lnSpc>
                <a:spcPct val="140000"/>
              </a:lnSpc>
            </a:pPr>
            <a:r>
              <a:rPr lang="en-US" sz="2800" b="1" u="sng" dirty="0"/>
              <a:t>State Council</a:t>
            </a:r>
          </a:p>
          <a:p>
            <a:pPr>
              <a:lnSpc>
                <a:spcPct val="140000"/>
              </a:lnSpc>
              <a:buFontTx/>
              <a:buChar char="•"/>
            </a:pPr>
            <a:r>
              <a:rPr lang="en-US" sz="2800" b="1" dirty="0"/>
              <a:t> Chief federal exec organ</a:t>
            </a:r>
          </a:p>
          <a:p>
            <a:pPr>
              <a:lnSpc>
                <a:spcPct val="140000"/>
              </a:lnSpc>
              <a:buFontTx/>
              <a:buChar char="•"/>
            </a:pPr>
            <a:r>
              <a:rPr lang="en-US" sz="2800" b="1" dirty="0"/>
              <a:t> </a:t>
            </a:r>
            <a:r>
              <a:rPr lang="en-US" sz="2800" b="1" dirty="0" err="1"/>
              <a:t>Adm</a:t>
            </a:r>
            <a:r>
              <a:rPr lang="en-US" sz="2800" b="1" dirty="0"/>
              <a:t> </a:t>
            </a:r>
            <a:r>
              <a:rPr lang="en-US" sz="2800" b="1" dirty="0" err="1"/>
              <a:t>cont</a:t>
            </a:r>
            <a:r>
              <a:rPr lang="en-US" sz="2800" b="1" dirty="0"/>
              <a:t> at all levels ex by the Council</a:t>
            </a:r>
          </a:p>
          <a:p>
            <a:pPr>
              <a:lnSpc>
                <a:spcPct val="140000"/>
              </a:lnSpc>
              <a:buFontTx/>
              <a:buChar char="•"/>
            </a:pPr>
            <a:r>
              <a:rPr lang="en-US" sz="2800" b="1" dirty="0"/>
              <a:t> Responsible to translate Party decisions into </a:t>
            </a:r>
            <a:r>
              <a:rPr lang="en-US" sz="2800" b="1" dirty="0" err="1"/>
              <a:t>govt</a:t>
            </a:r>
            <a:r>
              <a:rPr lang="en-US" sz="2800" b="1" dirty="0"/>
              <a:t> / public </a:t>
            </a:r>
            <a:r>
              <a:rPr lang="en-US" sz="2800" b="1" dirty="0" smtClean="0"/>
              <a:t>policy.</a:t>
            </a:r>
          </a:p>
          <a:p>
            <a:pPr>
              <a:lnSpc>
                <a:spcPct val="140000"/>
              </a:lnSpc>
              <a:buFontTx/>
              <a:buChar char="•"/>
            </a:pPr>
            <a:r>
              <a:rPr lang="en-US" sz="2800" b="1" dirty="0" smtClean="0"/>
              <a:t>25 Ministries. 38 Centrally Administered Orgs reporting directly. MND.</a:t>
            </a:r>
            <a:endParaRPr lang="en-US" sz="2800" b="1" dirty="0"/>
          </a:p>
          <a:p>
            <a:pPr>
              <a:lnSpc>
                <a:spcPct val="140000"/>
              </a:lnSpc>
              <a:buFontTx/>
              <a:buChar char="•"/>
            </a:pPr>
            <a:r>
              <a:rPr lang="en-US" sz="2800" b="1" dirty="0"/>
              <a:t> </a:t>
            </a:r>
            <a:r>
              <a:rPr lang="en-US" sz="2800" b="1" dirty="0" smtClean="0"/>
              <a:t>Meets once every six months.</a:t>
            </a:r>
          </a:p>
          <a:p>
            <a:pPr>
              <a:lnSpc>
                <a:spcPct val="140000"/>
              </a:lnSpc>
              <a:buFontTx/>
              <a:buChar char="•"/>
            </a:pPr>
            <a:r>
              <a:rPr lang="en-US" sz="2800" b="1" dirty="0" smtClean="0"/>
              <a:t>Standing Committee meets every week. 10.</a:t>
            </a:r>
            <a:endParaRPr lang="en-US" sz="2800" b="1" dirty="0"/>
          </a:p>
        </p:txBody>
      </p:sp>
      <p:pic>
        <p:nvPicPr>
          <p:cNvPr id="9222" name="Picture 6"/>
          <p:cNvPicPr>
            <a:picLocks noChangeAspect="1" noChangeArrowheads="1"/>
          </p:cNvPicPr>
          <p:nvPr/>
        </p:nvPicPr>
        <p:blipFill>
          <a:blip r:embed="rId2"/>
          <a:srcRect/>
          <a:stretch>
            <a:fillRect/>
          </a:stretch>
        </p:blipFill>
        <p:spPr bwMode="auto">
          <a:xfrm>
            <a:off x="8763000" y="60326"/>
            <a:ext cx="1828800" cy="1158875"/>
          </a:xfrm>
          <a:prstGeom prst="rect">
            <a:avLst/>
          </a:prstGeom>
          <a:noFill/>
          <a:ln w="9525">
            <a:noFill/>
            <a:miter lim="800000"/>
            <a:headEnd/>
            <a:tailEnd/>
          </a:ln>
          <a:effectLst/>
        </p:spPr>
      </p:pic>
    </p:spTree>
    <p:extLst>
      <p:ext uri="{BB962C8B-B14F-4D97-AF65-F5344CB8AC3E}">
        <p14:creationId xmlns:p14="http://schemas.microsoft.com/office/powerpoint/2010/main" val="4118579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1828800" y="76200"/>
            <a:ext cx="8458200" cy="762000"/>
          </a:xfrm>
          <a:noFill/>
          <a:ln/>
        </p:spPr>
        <p:txBody>
          <a:bodyPr>
            <a:normAutofit/>
          </a:bodyPr>
          <a:lstStyle/>
          <a:p>
            <a:r>
              <a:rPr lang="en-US" b="1" u="sng" dirty="0" smtClean="0"/>
              <a:t>ADMINSTRATIVE DIVISONS (4 LEVELS)</a:t>
            </a:r>
            <a:endParaRPr lang="en-US" b="1" u="sng" dirty="0"/>
          </a:p>
        </p:txBody>
      </p:sp>
      <p:sp>
        <p:nvSpPr>
          <p:cNvPr id="7172" name="Text Box 4"/>
          <p:cNvSpPr txBox="1">
            <a:spLocks noChangeArrowheads="1"/>
          </p:cNvSpPr>
          <p:nvPr/>
        </p:nvSpPr>
        <p:spPr bwMode="auto">
          <a:xfrm>
            <a:off x="200025" y="1306514"/>
            <a:ext cx="11858625" cy="5509200"/>
          </a:xfrm>
          <a:prstGeom prst="rect">
            <a:avLst/>
          </a:prstGeom>
          <a:noFill/>
          <a:ln w="9525">
            <a:noFill/>
            <a:miter lim="800000"/>
            <a:headEnd/>
            <a:tailEnd/>
          </a:ln>
          <a:effectLst/>
        </p:spPr>
        <p:txBody>
          <a:bodyPr wrap="square">
            <a:spAutoFit/>
          </a:bodyPr>
          <a:lstStyle/>
          <a:p>
            <a:pPr>
              <a:buFontTx/>
              <a:buChar char="•"/>
            </a:pPr>
            <a:r>
              <a:rPr lang="en-US" sz="3200" b="1" dirty="0" smtClean="0"/>
              <a:t> Historical reasons </a:t>
            </a:r>
          </a:p>
          <a:p>
            <a:pPr>
              <a:buFontTx/>
              <a:buChar char="•"/>
            </a:pPr>
            <a:r>
              <a:rPr lang="en-US" sz="3200" b="1" dirty="0" smtClean="0"/>
              <a:t>Provinces</a:t>
            </a:r>
            <a:r>
              <a:rPr lang="en-US" sz="3200" b="1" dirty="0"/>
              <a:t>, Autonomous Regions, Centrally Administered Municipalities And Special Administrative </a:t>
            </a:r>
            <a:r>
              <a:rPr lang="en-US" sz="3200" b="1" dirty="0" smtClean="0"/>
              <a:t>Regions.</a:t>
            </a:r>
          </a:p>
          <a:p>
            <a:pPr>
              <a:buFontTx/>
              <a:buChar char="•"/>
            </a:pPr>
            <a:r>
              <a:rPr lang="en-US" sz="3200" b="1" dirty="0"/>
              <a:t> </a:t>
            </a:r>
            <a:r>
              <a:rPr lang="en-US" sz="3200" b="1" dirty="0" smtClean="0"/>
              <a:t>Prefectures</a:t>
            </a:r>
          </a:p>
          <a:p>
            <a:pPr>
              <a:buFontTx/>
              <a:buChar char="•"/>
            </a:pPr>
            <a:r>
              <a:rPr lang="en-US" sz="3200" b="1" i="1" dirty="0" smtClean="0"/>
              <a:t> </a:t>
            </a:r>
            <a:r>
              <a:rPr lang="en-US" sz="3200" b="1" dirty="0" smtClean="0"/>
              <a:t>Counties </a:t>
            </a:r>
          </a:p>
          <a:p>
            <a:pPr>
              <a:buFontTx/>
              <a:buChar char="•"/>
            </a:pPr>
            <a:r>
              <a:rPr lang="en-US" sz="3200" b="1" dirty="0" smtClean="0"/>
              <a:t> Township </a:t>
            </a:r>
          </a:p>
          <a:p>
            <a:pPr>
              <a:buFontTx/>
              <a:buChar char="•"/>
            </a:pPr>
            <a:r>
              <a:rPr lang="en-US" sz="3200" b="1" dirty="0" smtClean="0"/>
              <a:t>Basic Level autonomies  </a:t>
            </a:r>
          </a:p>
          <a:p>
            <a:pPr>
              <a:buFontTx/>
              <a:buChar char="•"/>
            </a:pPr>
            <a:r>
              <a:rPr lang="en-IN" sz="3200" b="1" dirty="0"/>
              <a:t> </a:t>
            </a:r>
            <a:r>
              <a:rPr lang="en-IN" sz="3200" b="1" dirty="0" smtClean="0"/>
              <a:t>33 </a:t>
            </a:r>
            <a:r>
              <a:rPr lang="en-IN" sz="3200" b="1" dirty="0"/>
              <a:t>provincial-level regions, 334 prefecture-level divisions, 2,862 county-level divisions, 41,034 township-level administrations, and 704,382 basic level autonomies.</a:t>
            </a:r>
            <a:endParaRPr lang="en-US" sz="3200" b="1" i="1" dirty="0"/>
          </a:p>
          <a:p>
            <a:pPr>
              <a:buFontTx/>
              <a:buChar char="•"/>
            </a:pPr>
            <a:endParaRPr lang="en-US" sz="3200" b="1" dirty="0"/>
          </a:p>
        </p:txBody>
      </p:sp>
    </p:spTree>
    <p:extLst>
      <p:ext uri="{BB962C8B-B14F-4D97-AF65-F5344CB8AC3E}">
        <p14:creationId xmlns:p14="http://schemas.microsoft.com/office/powerpoint/2010/main" val="1260555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r>
              <a:rPr lang="en-IN" dirty="0" smtClean="0"/>
              <a:t>GOVERNERS.</a:t>
            </a:r>
          </a:p>
          <a:p>
            <a:r>
              <a:rPr lang="en-IN" dirty="0" smtClean="0"/>
              <a:t>MAYORS.</a:t>
            </a:r>
          </a:p>
          <a:p>
            <a:endParaRPr lang="en-IN" dirty="0"/>
          </a:p>
        </p:txBody>
      </p:sp>
    </p:spTree>
    <p:extLst>
      <p:ext uri="{BB962C8B-B14F-4D97-AF65-F5344CB8AC3E}">
        <p14:creationId xmlns:p14="http://schemas.microsoft.com/office/powerpoint/2010/main" val="2699802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CONCEPT OF LEADING SMALL GROUPS </a:t>
            </a:r>
            <a:r>
              <a:rPr lang="ja-JP" altLang="en-US" dirty="0"/>
              <a:t> 领导小组</a:t>
            </a:r>
            <a:r>
              <a:rPr lang="en-IN" altLang="ja-JP" dirty="0"/>
              <a:t>. (APPROX DOUBLING)</a:t>
            </a:r>
          </a:p>
          <a:p>
            <a:pPr lvl="1"/>
            <a:r>
              <a:rPr lang="en-IN" altLang="ja-JP" dirty="0"/>
              <a:t>PARTY – 26.</a:t>
            </a:r>
          </a:p>
          <a:p>
            <a:pPr lvl="1"/>
            <a:r>
              <a:rPr lang="en-IN" altLang="ja-JP" dirty="0"/>
              <a:t>STATE COUNCIL – 57.</a:t>
            </a:r>
          </a:p>
        </p:txBody>
      </p:sp>
    </p:spTree>
    <p:extLst>
      <p:ext uri="{BB962C8B-B14F-4D97-AF65-F5344CB8AC3E}">
        <p14:creationId xmlns:p14="http://schemas.microsoft.com/office/powerpoint/2010/main" val="36172517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0" y="1122363"/>
            <a:ext cx="9144000" cy="2449512"/>
          </a:xfrm>
        </p:spPr>
        <p:txBody>
          <a:bodyPr/>
          <a:lstStyle/>
          <a:p>
            <a:r>
              <a:rPr lang="en-IN" b="1" dirty="0" smtClean="0"/>
              <a:t>PLA</a:t>
            </a:r>
            <a:endParaRPr lang="en-IN" b="1" dirty="0"/>
          </a:p>
        </p:txBody>
      </p:sp>
      <p:sp>
        <p:nvSpPr>
          <p:cNvPr id="5" name="Subtitle 4"/>
          <p:cNvSpPr>
            <a:spLocks noGrp="1"/>
          </p:cNvSpPr>
          <p:nvPr>
            <p:ph type="subTitle" idx="1"/>
          </p:nvPr>
        </p:nvSpPr>
        <p:spPr>
          <a:xfrm>
            <a:off x="1524000" y="3602038"/>
            <a:ext cx="9144000" cy="1716722"/>
          </a:xfrm>
        </p:spPr>
        <p:txBody>
          <a:bodyPr>
            <a:normAutofit/>
          </a:bodyPr>
          <a:lstStyle/>
          <a:p>
            <a:r>
              <a:rPr lang="en-IN" sz="4800" dirty="0" smtClean="0"/>
              <a:t>(</a:t>
            </a:r>
            <a:r>
              <a:rPr lang="en-IN" sz="4800" i="1" dirty="0" err="1" smtClean="0"/>
              <a:t>Jie</a:t>
            </a:r>
            <a:r>
              <a:rPr lang="en-IN" sz="4800" i="1" dirty="0" smtClean="0"/>
              <a:t> Fang </a:t>
            </a:r>
            <a:r>
              <a:rPr lang="en-IN" sz="4800" i="1" dirty="0" err="1" smtClean="0"/>
              <a:t>jun</a:t>
            </a:r>
            <a:r>
              <a:rPr lang="en-IN" sz="4800" i="1" dirty="0" smtClean="0"/>
              <a:t>)</a:t>
            </a:r>
            <a:endParaRPr lang="en-IN" sz="4800" dirty="0"/>
          </a:p>
        </p:txBody>
      </p:sp>
    </p:spTree>
    <p:extLst>
      <p:ext uri="{BB962C8B-B14F-4D97-AF65-F5344CB8AC3E}">
        <p14:creationId xmlns:p14="http://schemas.microsoft.com/office/powerpoint/2010/main" val="25695700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zh-CN" b="1" u="sng" dirty="0" smtClean="0"/>
              <a:t>ABOUT PLA</a:t>
            </a:r>
            <a:endParaRPr lang="zh-CN" altLang="en-US" b="1" u="sng" smtClean="0"/>
          </a:p>
        </p:txBody>
      </p:sp>
      <p:sp>
        <p:nvSpPr>
          <p:cNvPr id="3" name="Content Placeholder 2"/>
          <p:cNvSpPr>
            <a:spLocks noGrp="1"/>
          </p:cNvSpPr>
          <p:nvPr>
            <p:ph idx="1"/>
          </p:nvPr>
        </p:nvSpPr>
        <p:spPr>
          <a:xfrm>
            <a:off x="838200" y="1825625"/>
            <a:ext cx="10515600" cy="4351338"/>
          </a:xfrm>
        </p:spPr>
        <p:txBody>
          <a:bodyPr rtlCol="0">
            <a:normAutofit/>
          </a:bodyPr>
          <a:lstStyle/>
          <a:p>
            <a:pPr>
              <a:defRPr/>
            </a:pPr>
            <a:r>
              <a:rPr lang="en-US" altLang="zh-CN" dirty="0" smtClean="0"/>
              <a:t>TO UNDERSTAND THE PLA, YOU HAVE TO FIRST UNDERSTAND AND STUDY THE PARTY AND THE POLITICS.</a:t>
            </a:r>
          </a:p>
          <a:p>
            <a:pPr>
              <a:defRPr/>
            </a:pPr>
            <a:r>
              <a:rPr lang="en-US" altLang="zh-CN" dirty="0" smtClean="0"/>
              <a:t>CENTRAL COMMITTEE MEMBERSHIP IS FIRST STEP.</a:t>
            </a:r>
          </a:p>
          <a:p>
            <a:pPr>
              <a:defRPr/>
            </a:pPr>
            <a:r>
              <a:rPr lang="en-US" altLang="zh-CN" dirty="0" smtClean="0"/>
              <a:t>POLITICS IS THE SOUL OF THE PLA. “RED VS EXPERT” IS AN IRRELEVANT DEBATE AS MEMBERSHIP IN THE PARTY HAS GOT NOTHING TO DO WITH IDEOLOGY</a:t>
            </a:r>
          </a:p>
          <a:p>
            <a:pPr>
              <a:defRPr/>
            </a:pPr>
            <a:r>
              <a:rPr lang="en-US" altLang="zh-CN" dirty="0" smtClean="0"/>
              <a:t>IT IS ARM OF THE PARTY AND NOT THE STATE.</a:t>
            </a:r>
            <a:endParaRPr lang="zh-CN" altLang="en-US" dirty="0"/>
          </a:p>
        </p:txBody>
      </p:sp>
    </p:spTree>
    <p:extLst>
      <p:ext uri="{BB962C8B-B14F-4D97-AF65-F5344CB8AC3E}">
        <p14:creationId xmlns:p14="http://schemas.microsoft.com/office/powerpoint/2010/main" val="272929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endParaRPr lang="zh-CN" altLang="en-US" smtClean="0"/>
          </a:p>
        </p:txBody>
      </p:sp>
      <p:sp>
        <p:nvSpPr>
          <p:cNvPr id="3" name="Content Placeholder 2"/>
          <p:cNvSpPr>
            <a:spLocks noGrp="1"/>
          </p:cNvSpPr>
          <p:nvPr>
            <p:ph idx="1"/>
          </p:nvPr>
        </p:nvSpPr>
        <p:spPr>
          <a:xfrm>
            <a:off x="838200" y="1825625"/>
            <a:ext cx="10515600" cy="4351338"/>
          </a:xfrm>
        </p:spPr>
        <p:txBody>
          <a:bodyPr rtlCol="0">
            <a:normAutofit lnSpcReduction="10000"/>
          </a:bodyPr>
          <a:lstStyle/>
          <a:p>
            <a:pPr>
              <a:defRPr/>
            </a:pPr>
            <a:r>
              <a:rPr lang="en-US" altLang="zh-CN" dirty="0" smtClean="0"/>
              <a:t>AN INDEPENDENT ENTITY, </a:t>
            </a:r>
            <a:r>
              <a:rPr lang="en-US" altLang="zh-CN" dirty="0" smtClean="0">
                <a:solidFill>
                  <a:srgbClr val="FF0000"/>
                </a:solidFill>
              </a:rPr>
              <a:t>OUTSIDE THE STATE.</a:t>
            </a:r>
          </a:p>
          <a:p>
            <a:pPr>
              <a:defRPr/>
            </a:pPr>
            <a:r>
              <a:rPr lang="en-US" altLang="zh-CN" dirty="0" smtClean="0">
                <a:solidFill>
                  <a:srgbClr val="FF0000"/>
                </a:solidFill>
              </a:rPr>
              <a:t>THE OATH OF LOYALTY IS TO THE PARTY &amp; NOT CHINA.</a:t>
            </a:r>
          </a:p>
          <a:p>
            <a:pPr>
              <a:defRPr/>
            </a:pPr>
            <a:r>
              <a:rPr lang="en-US" altLang="zh-CN" dirty="0" smtClean="0"/>
              <a:t>ALL ARMED ENTITIES ARE UNDER THE PLA.</a:t>
            </a:r>
          </a:p>
          <a:p>
            <a:pPr>
              <a:defRPr/>
            </a:pPr>
            <a:r>
              <a:rPr lang="en-US" altLang="zh-CN" dirty="0" smtClean="0"/>
              <a:t>OWN LAWS, OWN COURTS. NO MEDIA, NO AUDIT, NOTHING. </a:t>
            </a:r>
          </a:p>
          <a:p>
            <a:pPr>
              <a:defRPr/>
            </a:pPr>
            <a:r>
              <a:rPr lang="en-US" altLang="zh-CN" dirty="0" smtClean="0"/>
              <a:t>ONLY ANSWERABLE TO THE CMC.</a:t>
            </a:r>
          </a:p>
          <a:p>
            <a:pPr>
              <a:defRPr/>
            </a:pPr>
            <a:r>
              <a:rPr lang="en-US" altLang="zh-CN" dirty="0" smtClean="0"/>
              <a:t>EG. GEN ARMT DEPT</a:t>
            </a:r>
          </a:p>
          <a:p>
            <a:pPr>
              <a:defRPr/>
            </a:pPr>
            <a:r>
              <a:rPr lang="en-US" altLang="zh-CN" dirty="0" smtClean="0"/>
              <a:t>HUGE CLOUT, NO ONE KNOWS THE TRUE WEALTH AND HOLDINGS OF THE PLA.</a:t>
            </a:r>
          </a:p>
          <a:p>
            <a:pPr>
              <a:defRPr/>
            </a:pPr>
            <a:r>
              <a:rPr lang="en-US" altLang="zh-CN" dirty="0" smtClean="0"/>
              <a:t>RUNS ITS OWN FOREIGN AFFAIRS.</a:t>
            </a:r>
          </a:p>
          <a:p>
            <a:pPr>
              <a:defRPr/>
            </a:pPr>
            <a:endParaRPr lang="zh-CN" altLang="en-US" dirty="0"/>
          </a:p>
        </p:txBody>
      </p:sp>
    </p:spTree>
    <p:extLst>
      <p:ext uri="{BB962C8B-B14F-4D97-AF65-F5344CB8AC3E}">
        <p14:creationId xmlns:p14="http://schemas.microsoft.com/office/powerpoint/2010/main" val="3860005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endParaRPr lang="zh-CN" altLang="en-US" smtClean="0"/>
          </a:p>
        </p:txBody>
      </p:sp>
      <p:sp>
        <p:nvSpPr>
          <p:cNvPr id="27651" name="Content Placeholder 2"/>
          <p:cNvSpPr>
            <a:spLocks noGrp="1"/>
          </p:cNvSpPr>
          <p:nvPr>
            <p:ph idx="1"/>
          </p:nvPr>
        </p:nvSpPr>
        <p:spPr>
          <a:xfrm>
            <a:off x="868680" y="1859279"/>
            <a:ext cx="10485120" cy="4317683"/>
          </a:xfrm>
        </p:spPr>
        <p:txBody>
          <a:bodyPr/>
          <a:lstStyle/>
          <a:p>
            <a:r>
              <a:rPr lang="en-US" altLang="zh-CN" dirty="0" smtClean="0"/>
              <a:t>CONSCRIPT BASED SYSTEM…. ONLY 5% ACTUALLY GET CONSCRIPTED.</a:t>
            </a:r>
          </a:p>
          <a:p>
            <a:r>
              <a:rPr lang="en-US" altLang="zh-CN" dirty="0" smtClean="0"/>
              <a:t>NCOs. Maybe 900,000.</a:t>
            </a:r>
          </a:p>
          <a:p>
            <a:r>
              <a:rPr lang="en-US" altLang="zh-CN" dirty="0" smtClean="0"/>
              <a:t>MIL TRG IN COLLEGES.</a:t>
            </a:r>
          </a:p>
          <a:p>
            <a:r>
              <a:rPr lang="en-US" altLang="zh-CN" dirty="0" smtClean="0"/>
              <a:t>FOCUS ON INFORMATIONISATION AND SCIENTIFIC APPROACH TO DEVELOPMENT.</a:t>
            </a:r>
            <a:endParaRPr lang="zh-CN" altLang="en-US" dirty="0" smtClean="0"/>
          </a:p>
        </p:txBody>
      </p:sp>
    </p:spTree>
    <p:extLst>
      <p:ext uri="{BB962C8B-B14F-4D97-AF65-F5344CB8AC3E}">
        <p14:creationId xmlns:p14="http://schemas.microsoft.com/office/powerpoint/2010/main" val="386596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zh-CN" b="1" u="sng" dirty="0" smtClean="0"/>
              <a:t>PLA MODERNISATION</a:t>
            </a:r>
            <a:endParaRPr lang="zh-CN" altLang="en-US" b="1" u="sng" smtClean="0"/>
          </a:p>
        </p:txBody>
      </p:sp>
      <p:sp>
        <p:nvSpPr>
          <p:cNvPr id="3" name="Content Placeholder 2"/>
          <p:cNvSpPr>
            <a:spLocks noGrp="1"/>
          </p:cNvSpPr>
          <p:nvPr>
            <p:ph idx="1"/>
          </p:nvPr>
        </p:nvSpPr>
        <p:spPr>
          <a:xfrm>
            <a:off x="838200" y="1825625"/>
            <a:ext cx="10515600" cy="4351338"/>
          </a:xfrm>
        </p:spPr>
        <p:txBody>
          <a:bodyPr rtlCol="0">
            <a:normAutofit lnSpcReduction="10000"/>
          </a:bodyPr>
          <a:lstStyle/>
          <a:p>
            <a:pPr>
              <a:defRPr/>
            </a:pPr>
            <a:r>
              <a:rPr lang="en-US" altLang="zh-CN" dirty="0" smtClean="0"/>
              <a:t>DOWNSIZING. GP ARMY- BDE- BN STRUCTURE.</a:t>
            </a:r>
          </a:p>
          <a:p>
            <a:pPr>
              <a:defRPr/>
            </a:pPr>
            <a:r>
              <a:rPr lang="en-US" altLang="zh-CN" dirty="0" smtClean="0"/>
              <a:t>FOCUS ON PLAN AND PLAAF.</a:t>
            </a:r>
          </a:p>
          <a:p>
            <a:pPr>
              <a:defRPr/>
            </a:pPr>
            <a:r>
              <a:rPr lang="en-US" altLang="zh-CN" dirty="0" smtClean="0"/>
              <a:t>OUTSOURCING.</a:t>
            </a:r>
          </a:p>
          <a:p>
            <a:pPr>
              <a:defRPr/>
            </a:pPr>
            <a:r>
              <a:rPr lang="en-US" altLang="zh-CN" dirty="0" smtClean="0"/>
              <a:t>NCO CADRE</a:t>
            </a:r>
          </a:p>
          <a:p>
            <a:pPr>
              <a:defRPr/>
            </a:pPr>
            <a:r>
              <a:rPr lang="en-US" altLang="zh-CN" dirty="0" smtClean="0"/>
              <a:t>FOCUS ON IT, DIGITIZATION.</a:t>
            </a:r>
          </a:p>
          <a:p>
            <a:pPr>
              <a:defRPr/>
            </a:pPr>
            <a:r>
              <a:rPr lang="en-US" altLang="zh-CN" dirty="0" smtClean="0"/>
              <a:t>INFRASTRUCTURE DEVELOPMENT. PLA NEEDS IN INFRA BUILDING.</a:t>
            </a:r>
          </a:p>
          <a:p>
            <a:pPr>
              <a:defRPr/>
            </a:pPr>
            <a:r>
              <a:rPr lang="en-US" altLang="zh-CN" dirty="0" smtClean="0"/>
              <a:t>TRG FOCUS.</a:t>
            </a:r>
          </a:p>
          <a:p>
            <a:pPr>
              <a:defRPr/>
            </a:pPr>
            <a:r>
              <a:rPr lang="en-US" altLang="zh-CN" dirty="0" smtClean="0"/>
              <a:t>PAY AND PERKS.</a:t>
            </a:r>
          </a:p>
          <a:p>
            <a:pPr>
              <a:defRPr/>
            </a:pPr>
            <a:r>
              <a:rPr lang="en-US" altLang="zh-CN" dirty="0" smtClean="0"/>
              <a:t>RETAINS THE STICK.</a:t>
            </a:r>
            <a:endParaRPr lang="zh-CN" altLang="en-US" dirty="0"/>
          </a:p>
        </p:txBody>
      </p:sp>
    </p:spTree>
    <p:extLst>
      <p:ext uri="{BB962C8B-B14F-4D97-AF65-F5344CB8AC3E}">
        <p14:creationId xmlns:p14="http://schemas.microsoft.com/office/powerpoint/2010/main" val="116586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zh-CN" b="1" u="sng" dirty="0" smtClean="0"/>
              <a:t>ABILITY TO MOBILIZE</a:t>
            </a:r>
            <a:endParaRPr lang="zh-CN" altLang="en-US" b="1" u="sng" smtClean="0"/>
          </a:p>
        </p:txBody>
      </p:sp>
      <p:sp>
        <p:nvSpPr>
          <p:cNvPr id="29699" name="Content Placeholder 2"/>
          <p:cNvSpPr>
            <a:spLocks noGrp="1"/>
          </p:cNvSpPr>
          <p:nvPr>
            <p:ph idx="1"/>
          </p:nvPr>
        </p:nvSpPr>
        <p:spPr>
          <a:xfrm>
            <a:off x="838200" y="1825625"/>
            <a:ext cx="10515600" cy="4351338"/>
          </a:xfrm>
        </p:spPr>
        <p:txBody>
          <a:bodyPr/>
          <a:lstStyle/>
          <a:p>
            <a:r>
              <a:rPr lang="en-US" altLang="zh-CN" dirty="0" smtClean="0"/>
              <a:t>300,000 CAS IN THE KOREAN WAR.</a:t>
            </a:r>
          </a:p>
          <a:p>
            <a:r>
              <a:rPr lang="en-US" altLang="zh-CN" dirty="0" smtClean="0"/>
              <a:t>MORE THAN 100000 IN VIETNAM WAR.</a:t>
            </a:r>
          </a:p>
          <a:p>
            <a:r>
              <a:rPr lang="en-US" altLang="zh-CN" dirty="0" smtClean="0"/>
              <a:t>NO POINT CALCULATING ROAD CAPACITY / AVAILABILITY OF ROAD SPACE/ LOGISTICS TERMS OF REFERENCE , EXCEPT MAYBE IN LAST FEW KMS.</a:t>
            </a:r>
          </a:p>
          <a:p>
            <a:r>
              <a:rPr lang="en-US" altLang="zh-CN" dirty="0" smtClean="0"/>
              <a:t>EX MISSION ACTION </a:t>
            </a:r>
            <a:endParaRPr lang="zh-CN" altLang="en-US" dirty="0" smtClean="0"/>
          </a:p>
        </p:txBody>
      </p:sp>
    </p:spTree>
    <p:extLst>
      <p:ext uri="{BB962C8B-B14F-4D97-AF65-F5344CB8AC3E}">
        <p14:creationId xmlns:p14="http://schemas.microsoft.com/office/powerpoint/2010/main" val="697559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zh-CN" b="1" u="sng" dirty="0" smtClean="0"/>
              <a:t>HOW IS THE PLA ORGANISED</a:t>
            </a:r>
            <a:endParaRPr lang="zh-CN" altLang="en-US" b="1" u="sng" smtClean="0"/>
          </a:p>
        </p:txBody>
      </p:sp>
      <p:sp>
        <p:nvSpPr>
          <p:cNvPr id="3" name="Content Placeholder 2"/>
          <p:cNvSpPr>
            <a:spLocks noGrp="1"/>
          </p:cNvSpPr>
          <p:nvPr>
            <p:ph idx="1"/>
          </p:nvPr>
        </p:nvSpPr>
        <p:spPr>
          <a:xfrm>
            <a:off x="853440" y="1752600"/>
            <a:ext cx="10500360" cy="4424363"/>
          </a:xfrm>
        </p:spPr>
        <p:txBody>
          <a:bodyPr rtlCol="0">
            <a:normAutofit/>
          </a:bodyPr>
          <a:lstStyle/>
          <a:p>
            <a:pPr>
              <a:defRPr/>
            </a:pPr>
            <a:r>
              <a:rPr lang="en-US" altLang="zh-CN" dirty="0" smtClean="0"/>
              <a:t>THEATRE COMMANDS (5). </a:t>
            </a:r>
          </a:p>
          <a:p>
            <a:pPr lvl="1">
              <a:defRPr/>
            </a:pPr>
            <a:r>
              <a:rPr lang="en-US" altLang="zh-CN" dirty="0" smtClean="0"/>
              <a:t>RESP AS PER PROVINCES. BASICALLY INTERNAL.</a:t>
            </a:r>
          </a:p>
          <a:p>
            <a:pPr lvl="1">
              <a:defRPr/>
            </a:pPr>
            <a:r>
              <a:rPr lang="en-US" altLang="zh-CN" dirty="0" smtClean="0"/>
              <a:t>EXTERNAL BOUNDARIES AS RELEVANT TO THOSE PROVINCES ALSO INCL.</a:t>
            </a:r>
          </a:p>
          <a:p>
            <a:pPr lvl="1">
              <a:defRPr/>
            </a:pPr>
            <a:r>
              <a:rPr lang="en-US" altLang="zh-CN" dirty="0" smtClean="0"/>
              <a:t>PROVINCIAL MIL AREA COMDS AND 2-3 CCs.</a:t>
            </a:r>
          </a:p>
          <a:p>
            <a:pPr lvl="1">
              <a:defRPr/>
            </a:pPr>
            <a:r>
              <a:rPr lang="en-US" altLang="zh-CN" dirty="0" smtClean="0"/>
              <a:t>ONE AB CC AND ONE AMPH CC.</a:t>
            </a:r>
          </a:p>
          <a:p>
            <a:pPr lvl="1">
              <a:defRPr/>
            </a:pPr>
            <a:r>
              <a:rPr lang="en-US" altLang="zh-CN" dirty="0" smtClean="0"/>
              <a:t>MARINES UNDER PLAN.</a:t>
            </a:r>
          </a:p>
          <a:p>
            <a:pPr>
              <a:defRPr/>
            </a:pPr>
            <a:r>
              <a:rPr lang="en-US" altLang="zh-CN" dirty="0" smtClean="0"/>
              <a:t>PLAN AND PLAAF UNDER </a:t>
            </a:r>
            <a:r>
              <a:rPr lang="en-US" altLang="zh-CN" dirty="0" err="1" smtClean="0"/>
              <a:t>MRs.</a:t>
            </a:r>
            <a:endParaRPr lang="en-US" altLang="zh-CN" dirty="0" smtClean="0"/>
          </a:p>
          <a:p>
            <a:pPr lvl="1">
              <a:defRPr/>
            </a:pPr>
            <a:endParaRPr lang="en-US" altLang="zh-CN" dirty="0" smtClean="0"/>
          </a:p>
          <a:p>
            <a:pPr lvl="1">
              <a:defRPr/>
            </a:pPr>
            <a:endParaRPr lang="zh-CN" altLang="en-US" dirty="0"/>
          </a:p>
        </p:txBody>
      </p:sp>
    </p:spTree>
    <p:extLst>
      <p:ext uri="{BB962C8B-B14F-4D97-AF65-F5344CB8AC3E}">
        <p14:creationId xmlns:p14="http://schemas.microsoft.com/office/powerpoint/2010/main" val="4224141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7365"/>
            <a:ext cx="10515600" cy="1311275"/>
          </a:xfrm>
        </p:spPr>
        <p:txBody>
          <a:bodyPr/>
          <a:lstStyle/>
          <a:p>
            <a:pPr algn="ctr"/>
            <a:r>
              <a:rPr lang="en-IN" b="1" u="sng" dirty="0" smtClean="0"/>
              <a:t>Armament Industry</a:t>
            </a:r>
            <a:endParaRPr lang="en-IN" b="1" u="sng" dirty="0"/>
          </a:p>
        </p:txBody>
      </p:sp>
    </p:spTree>
    <p:extLst>
      <p:ext uri="{BB962C8B-B14F-4D97-AF65-F5344CB8AC3E}">
        <p14:creationId xmlns:p14="http://schemas.microsoft.com/office/powerpoint/2010/main" val="13866328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zh-CN" b="1" u="sng" smtClean="0"/>
              <a:t>TIBET</a:t>
            </a:r>
            <a:endParaRPr lang="zh-CN" altLang="en-US" b="1" u="sng" smtClean="0"/>
          </a:p>
        </p:txBody>
      </p:sp>
      <p:sp>
        <p:nvSpPr>
          <p:cNvPr id="31747" name="Content Placeholder 2"/>
          <p:cNvSpPr>
            <a:spLocks noGrp="1"/>
          </p:cNvSpPr>
          <p:nvPr>
            <p:ph idx="1"/>
          </p:nvPr>
        </p:nvSpPr>
        <p:spPr/>
        <p:txBody>
          <a:bodyPr/>
          <a:lstStyle/>
          <a:p>
            <a:r>
              <a:rPr lang="en-US" altLang="zh-CN" smtClean="0"/>
              <a:t>SUPERB INFRASTRUCTURE.</a:t>
            </a:r>
          </a:p>
          <a:p>
            <a:r>
              <a:rPr lang="en-US" altLang="zh-CN" smtClean="0"/>
              <a:t>QTR, HIGHWAYS.</a:t>
            </a:r>
          </a:p>
          <a:p>
            <a:r>
              <a:rPr lang="en-US" altLang="zh-CN" smtClean="0"/>
              <a:t>AIR, AS ALSO IN YUNNAN.</a:t>
            </a:r>
          </a:p>
          <a:p>
            <a:r>
              <a:rPr lang="en-US" altLang="zh-CN" smtClean="0"/>
              <a:t>PARA DROPS, FOCUS ON SPECIAL FORCES, DIVERS TRG, HOVERCRAFT, FOO OF SEC ARTY IN Exs.</a:t>
            </a:r>
          </a:p>
          <a:p>
            <a:r>
              <a:rPr lang="en-US" altLang="zh-CN" smtClean="0"/>
              <a:t>MOB OF J11 TO TAR, LATEST SAMs, UAVs. </a:t>
            </a:r>
          </a:p>
          <a:p>
            <a:r>
              <a:rPr lang="en-US" altLang="zh-CN" smtClean="0"/>
              <a:t>TRANS REGIONAL TASKING.</a:t>
            </a:r>
          </a:p>
          <a:p>
            <a:endParaRPr lang="zh-CN" altLang="en-US" smtClean="0"/>
          </a:p>
        </p:txBody>
      </p:sp>
    </p:spTree>
    <p:extLst>
      <p:ext uri="{BB962C8B-B14F-4D97-AF65-F5344CB8AC3E}">
        <p14:creationId xmlns:p14="http://schemas.microsoft.com/office/powerpoint/2010/main" val="314166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65396"/>
            <a:ext cx="10515600" cy="1263650"/>
          </a:xfrm>
        </p:spPr>
        <p:txBody>
          <a:bodyPr>
            <a:normAutofit fontScale="90000"/>
          </a:bodyPr>
          <a:lstStyle/>
          <a:p>
            <a:pPr algn="ctr"/>
            <a:r>
              <a:rPr lang="en-IN" b="1" u="sng" dirty="0" smtClean="0"/>
              <a:t>IMP OF SLOGANS, SYMBOLISM</a:t>
            </a:r>
            <a:br>
              <a:rPr lang="en-IN" b="1" u="sng" dirty="0" smtClean="0"/>
            </a:br>
            <a:r>
              <a:rPr lang="en-IN" b="1" u="sng" dirty="0" smtClean="0"/>
              <a:t/>
            </a:r>
            <a:br>
              <a:rPr lang="en-IN" b="1" u="sng" dirty="0" smtClean="0"/>
            </a:br>
            <a:r>
              <a:rPr lang="en-IN" dirty="0">
                <a:hlinkClick r:id="rId2"/>
              </a:rPr>
              <a:t>https://www.google.com/maps/place/National+Stadium/@39.9930555,116.1163425,10z/data=!4m5!3m4!1s0x35f054c407008c87:0xee35c9d7f5e387b6!8m2!3d39.9929431!4d116.3965112</a:t>
            </a:r>
            <a:endParaRPr lang="en-IN" b="1" u="sng" dirty="0"/>
          </a:p>
        </p:txBody>
      </p:sp>
    </p:spTree>
    <p:extLst>
      <p:ext uri="{BB962C8B-B14F-4D97-AF65-F5344CB8AC3E}">
        <p14:creationId xmlns:p14="http://schemas.microsoft.com/office/powerpoint/2010/main" val="657147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Rectangle 2"/>
          <p:cNvSpPr/>
          <p:nvPr/>
        </p:nvSpPr>
        <p:spPr>
          <a:xfrm>
            <a:off x="2071687" y="3105835"/>
            <a:ext cx="8201025" cy="1323439"/>
          </a:xfrm>
          <a:prstGeom prst="rect">
            <a:avLst/>
          </a:prstGeom>
        </p:spPr>
        <p:txBody>
          <a:bodyPr wrap="square">
            <a:spAutoFit/>
          </a:bodyPr>
          <a:lstStyle/>
          <a:p>
            <a:pPr algn="ctr"/>
            <a:r>
              <a:rPr lang="en-IN" sz="4000" b="1" u="sng" dirty="0"/>
              <a:t/>
            </a:r>
            <a:br>
              <a:rPr lang="en-IN" sz="4000" b="1" u="sng" dirty="0"/>
            </a:br>
            <a:r>
              <a:rPr lang="en-IN" sz="4000" b="1" u="sng" dirty="0"/>
              <a:t>HOW TO </a:t>
            </a:r>
            <a:r>
              <a:rPr lang="en-IN" sz="4000" b="1" u="sng" dirty="0" smtClean="0"/>
              <a:t>READ </a:t>
            </a:r>
            <a:r>
              <a:rPr lang="en-IN" sz="4000" b="1" u="sng" dirty="0"/>
              <a:t>PARTY PUBLICATIONS</a:t>
            </a:r>
            <a:endParaRPr lang="en-IN" sz="4000" dirty="0"/>
          </a:p>
        </p:txBody>
      </p:sp>
    </p:spTree>
    <p:extLst>
      <p:ext uri="{BB962C8B-B14F-4D97-AF65-F5344CB8AC3E}">
        <p14:creationId xmlns:p14="http://schemas.microsoft.com/office/powerpoint/2010/main" val="8640999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65125"/>
            <a:ext cx="10515600" cy="1335088"/>
          </a:xfrm>
        </p:spPr>
        <p:txBody>
          <a:bodyPr/>
          <a:lstStyle/>
          <a:p>
            <a:pPr algn="ctr"/>
            <a:r>
              <a:rPr lang="en-IN" b="1" u="sng" dirty="0" smtClean="0"/>
              <a:t>SYMBOLISM</a:t>
            </a:r>
            <a:endParaRPr lang="en-IN" b="1" u="sng" dirty="0"/>
          </a:p>
        </p:txBody>
      </p:sp>
      <p:sp>
        <p:nvSpPr>
          <p:cNvPr id="4" name="Content Placeholder 3"/>
          <p:cNvSpPr>
            <a:spLocks noGrp="1"/>
          </p:cNvSpPr>
          <p:nvPr>
            <p:ph idx="1"/>
          </p:nvPr>
        </p:nvSpPr>
        <p:spPr/>
        <p:txBody>
          <a:bodyPr/>
          <a:lstStyle/>
          <a:p>
            <a:r>
              <a:rPr lang="en-IN" dirty="0" smtClean="0"/>
              <a:t>Rice Rabbit  </a:t>
            </a:r>
            <a:r>
              <a:rPr lang="ja-JP" altLang="en-US" dirty="0"/>
              <a:t>米</a:t>
            </a:r>
            <a:r>
              <a:rPr lang="ja-JP" altLang="en-US" dirty="0" smtClean="0"/>
              <a:t>兔</a:t>
            </a:r>
            <a:r>
              <a:rPr lang="en-IN" altLang="ja-JP" dirty="0" smtClean="0"/>
              <a:t>.</a:t>
            </a:r>
          </a:p>
          <a:p>
            <a:r>
              <a:rPr lang="en-IN" altLang="ja-JP" dirty="0" smtClean="0"/>
              <a:t>Little Bottles.</a:t>
            </a:r>
          </a:p>
          <a:p>
            <a:endParaRPr lang="en-IN" altLang="ja-JP" dirty="0" smtClean="0"/>
          </a:p>
          <a:p>
            <a:endParaRPr lang="en-IN" dirty="0"/>
          </a:p>
          <a:p>
            <a:pPr marL="0" indent="0">
              <a:buNone/>
            </a:pPr>
            <a:endParaRPr lang="en-IN" dirty="0"/>
          </a:p>
        </p:txBody>
      </p:sp>
    </p:spTree>
    <p:extLst>
      <p:ext uri="{BB962C8B-B14F-4D97-AF65-F5344CB8AC3E}">
        <p14:creationId xmlns:p14="http://schemas.microsoft.com/office/powerpoint/2010/main" val="118272975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endParaRPr lang="zh-CN" altLang="en-US" smtClean="0"/>
          </a:p>
        </p:txBody>
      </p:sp>
      <p:sp>
        <p:nvSpPr>
          <p:cNvPr id="23555" name="Content Placeholder 2"/>
          <p:cNvSpPr>
            <a:spLocks noGrp="1"/>
          </p:cNvSpPr>
          <p:nvPr>
            <p:ph idx="1"/>
          </p:nvPr>
        </p:nvSpPr>
        <p:spPr/>
        <p:txBody>
          <a:bodyPr/>
          <a:lstStyle/>
          <a:p>
            <a:r>
              <a:rPr lang="en-US" altLang="zh-CN" dirty="0" smtClean="0"/>
              <a:t>CAN THE PRESENT SYSTEM CONTINUE???</a:t>
            </a:r>
          </a:p>
          <a:p>
            <a:endParaRPr lang="en-US" altLang="zh-CN" dirty="0"/>
          </a:p>
          <a:p>
            <a:r>
              <a:rPr lang="en-US" altLang="zh-CN" dirty="0" smtClean="0"/>
              <a:t>CORRUPTION?</a:t>
            </a:r>
            <a:endParaRPr lang="zh-CN" altLang="en-US" dirty="0" smtClean="0"/>
          </a:p>
        </p:txBody>
      </p:sp>
    </p:spTree>
    <p:extLst>
      <p:ext uri="{BB962C8B-B14F-4D97-AF65-F5344CB8AC3E}">
        <p14:creationId xmlns:p14="http://schemas.microsoft.com/office/powerpoint/2010/main" val="12961922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pPr algn="ctr"/>
            <a:r>
              <a:rPr lang="en-US" b="1" u="sng" dirty="0"/>
              <a:t>A Corrupt Officials Last Words before His Execution</a:t>
            </a:r>
            <a:endParaRPr lang="en-IN" u="sng" dirty="0"/>
          </a:p>
        </p:txBody>
      </p:sp>
      <p:sp>
        <p:nvSpPr>
          <p:cNvPr id="3" name="Content Placeholder 2"/>
          <p:cNvSpPr>
            <a:spLocks noGrp="1"/>
          </p:cNvSpPr>
          <p:nvPr>
            <p:ph idx="1"/>
          </p:nvPr>
        </p:nvSpPr>
        <p:spPr>
          <a:xfrm>
            <a:off x="868680" y="1828800"/>
            <a:ext cx="10485120" cy="5029199"/>
          </a:xfrm>
        </p:spPr>
        <p:txBody>
          <a:bodyPr>
            <a:noAutofit/>
          </a:bodyPr>
          <a:lstStyle/>
          <a:p>
            <a:r>
              <a:rPr lang="en-US" sz="3200" dirty="0" smtClean="0"/>
              <a:t>[</a:t>
            </a:r>
            <a:r>
              <a:rPr lang="en-US" sz="3200" i="1" dirty="0" smtClean="0"/>
              <a:t> </a:t>
            </a:r>
            <a:r>
              <a:rPr lang="en-US" sz="3200" i="1" dirty="0"/>
              <a:t>Wen </a:t>
            </a:r>
            <a:r>
              <a:rPr lang="en-US" sz="3200" i="1" dirty="0" err="1"/>
              <a:t>Qiang</a:t>
            </a:r>
            <a:r>
              <a:rPr lang="en-US" sz="3200" i="1" dirty="0"/>
              <a:t> (</a:t>
            </a:r>
            <a:r>
              <a:rPr lang="en-US" sz="3200" i="1" dirty="0" err="1"/>
              <a:t>文强</a:t>
            </a:r>
            <a:r>
              <a:rPr lang="en-US" sz="3200" i="1" dirty="0"/>
              <a:t>), former Deputy Director and Deputy Party Secretary of the Chongqing Police Department, was sentenced to death in 2010. He was charged with the crimes of accepting bribes, protecting and conniving with mafia-like organizations, possessing a huge number of assets whose sources could not be explained, and rape.]</a:t>
            </a:r>
            <a:endParaRPr lang="en-IN" sz="3200" dirty="0"/>
          </a:p>
          <a:p>
            <a:r>
              <a:rPr lang="en-US" sz="3200" dirty="0"/>
              <a:t>Wen </a:t>
            </a:r>
            <a:r>
              <a:rPr lang="en-US" sz="3200" dirty="0" err="1"/>
              <a:t>Qiang</a:t>
            </a:r>
            <a:r>
              <a:rPr lang="en-US" sz="3200" dirty="0"/>
              <a:t> started as a local policeman in Ba County, Chongqing and gradually moved up the ranks. Before he was taken down, he had solved several big cases and was highly regarded as a top police chief in China</a:t>
            </a:r>
            <a:r>
              <a:rPr lang="en-US" sz="3200" dirty="0" smtClean="0"/>
              <a:t>.</a:t>
            </a:r>
            <a:endParaRPr lang="en-IN" sz="3200" dirty="0"/>
          </a:p>
        </p:txBody>
      </p:sp>
    </p:spTree>
    <p:extLst>
      <p:ext uri="{BB962C8B-B14F-4D97-AF65-F5344CB8AC3E}">
        <p14:creationId xmlns:p14="http://schemas.microsoft.com/office/powerpoint/2010/main" val="129003897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65125"/>
            <a:ext cx="10515600" cy="5811838"/>
          </a:xfrm>
        </p:spPr>
        <p:txBody>
          <a:bodyPr>
            <a:noAutofit/>
          </a:bodyPr>
          <a:lstStyle/>
          <a:p>
            <a:r>
              <a:rPr lang="en-US" sz="3200" dirty="0"/>
              <a:t>Bo </a:t>
            </a:r>
            <a:r>
              <a:rPr lang="en-US" sz="3200" dirty="0" err="1"/>
              <a:t>Xilai</a:t>
            </a:r>
            <a:r>
              <a:rPr lang="en-US" sz="3200" dirty="0"/>
              <a:t>, then head of Chongqing took Wen </a:t>
            </a:r>
            <a:r>
              <a:rPr lang="en-US" sz="3200" dirty="0" err="1"/>
              <a:t>Qiang</a:t>
            </a:r>
            <a:r>
              <a:rPr lang="en-US" sz="3200" dirty="0"/>
              <a:t> down. He later started a high profile campaign to “strike the black” (attack the mafia in Chongqing) to build his personal fame so that he could eventually seize the top leadership position in China from Xi Jinping. Critics alleged that many victims of his campaign were businessmen who were falsely accused so that Bo could take over their properties.</a:t>
            </a:r>
            <a:endParaRPr lang="en-IN" sz="3200" dirty="0"/>
          </a:p>
          <a:p>
            <a:r>
              <a:rPr lang="en-US" sz="3200" dirty="0"/>
              <a:t>An article with what was said to be Wen </a:t>
            </a:r>
            <a:r>
              <a:rPr lang="en-US" sz="3200" dirty="0" err="1"/>
              <a:t>Qiang’s</a:t>
            </a:r>
            <a:r>
              <a:rPr lang="en-US" sz="3200" dirty="0"/>
              <a:t> statement before his execution spread widely over the Internet. He admitted that he had accepted bribes and had improper sexual relations with many women, but he claimed that corruption is a nationwide, systemic problem. Not only would any official in his position have done the same thing, but the officials criticizing him were also corrupt.</a:t>
            </a:r>
            <a:endParaRPr lang="en-IN" sz="3200" dirty="0"/>
          </a:p>
        </p:txBody>
      </p:sp>
    </p:spTree>
    <p:extLst>
      <p:ext uri="{BB962C8B-B14F-4D97-AF65-F5344CB8AC3E}">
        <p14:creationId xmlns:p14="http://schemas.microsoft.com/office/powerpoint/2010/main" val="21370589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65125"/>
            <a:ext cx="10515600" cy="5811838"/>
          </a:xfrm>
        </p:spPr>
        <p:txBody>
          <a:bodyPr>
            <a:normAutofit fontScale="85000" lnSpcReduction="20000"/>
          </a:bodyPr>
          <a:lstStyle/>
          <a:p>
            <a:r>
              <a:rPr lang="en-US" dirty="0"/>
              <a:t>Though Wen was executed on July 7, 2010, his last words can serve as a good reference in the current anti-corruption campaign in China. It sheds lights on the breadth and scale of the official corruption problem in China. </a:t>
            </a:r>
            <a:endParaRPr lang="en-IN" dirty="0"/>
          </a:p>
          <a:p>
            <a:r>
              <a:rPr lang="en-US" dirty="0"/>
              <a:t>The translation of his last words follows:] [1] </a:t>
            </a:r>
            <a:endParaRPr lang="en-IN" dirty="0"/>
          </a:p>
          <a:p>
            <a:r>
              <a:rPr lang="en-US" dirty="0" smtClean="0"/>
              <a:t>“I </a:t>
            </a:r>
            <a:r>
              <a:rPr lang="en-US" dirty="0"/>
              <a:t>have thought it over clearly – I have participated in and known too many things. If I don’t die, many people won’t be able to sleep well. If I am not killed, they will face too many risks. My death brings more benefits to them. I could drag them down so we would die together, but (if I did so), my wife and child would be in danger. People said that I am a demon, but as a husband and as a father, I am not that venomous to my family. Many people wish me to die immediately. I will die. Before I die and leave (this world) though, I want to say a few words.” </a:t>
            </a:r>
            <a:endParaRPr lang="en-IN" dirty="0"/>
          </a:p>
          <a:p>
            <a:r>
              <a:rPr lang="en-US" dirty="0" smtClean="0"/>
              <a:t>“Many </a:t>
            </a:r>
            <a:r>
              <a:rPr lang="en-US" dirty="0"/>
              <a:t>people said that I accepted a lot of money and slept with many women. I don’t deny those charges. What I want to say is that this is my fault and this is also NOT my fault. Of course, I still take responsibility. (But the fact is that) whoever was put at my position would also take in that much money and sleep with that many women, if not more. If I don’t sleep with those female students, other (officials) will. I was charged with rape, but was what I did really rape</a:t>
            </a:r>
            <a:r>
              <a:rPr lang="en-US" dirty="0" smtClean="0"/>
              <a:t>? All </a:t>
            </a:r>
            <a:r>
              <a:rPr lang="en-US" dirty="0"/>
              <a:t>I did was follow the rules of the game to do something that everyone in that circle did.” </a:t>
            </a:r>
            <a:endParaRPr lang="en-IN" dirty="0"/>
          </a:p>
        </p:txBody>
      </p:sp>
    </p:spTree>
    <p:extLst>
      <p:ext uri="{BB962C8B-B14F-4D97-AF65-F5344CB8AC3E}">
        <p14:creationId xmlns:p14="http://schemas.microsoft.com/office/powerpoint/2010/main" val="29365890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53440" y="396240"/>
            <a:ext cx="10500360" cy="6507479"/>
          </a:xfrm>
        </p:spPr>
        <p:txBody>
          <a:bodyPr>
            <a:noAutofit/>
          </a:bodyPr>
          <a:lstStyle/>
          <a:p>
            <a:r>
              <a:rPr lang="en-US" sz="2400" dirty="0"/>
              <a:t> 3. “Everyone knows this: If an official does not accept bribes and does not have a mistress, who would dare to trust him and promote him? It doesn’t matter how good a job he does. Besides, there are several hundred thousand, if not several million, officials who behave the same way I did. Will the problem be solved by singling me out and executing me?” </a:t>
            </a:r>
            <a:endParaRPr lang="en-IN" sz="2400" dirty="0"/>
          </a:p>
          <a:p>
            <a:r>
              <a:rPr lang="en-US" sz="2400" dirty="0" smtClean="0"/>
              <a:t>“I </a:t>
            </a:r>
            <a:r>
              <a:rPr lang="en-US" sz="2400" dirty="0"/>
              <a:t>also want to explain the reason that I started as a local policeman in Ba County and moved all the way up to be the Deputy Director of the Chongqing Police Department. It was not because of corruption. In fact, I am way better than those police officials who collect their pay but do nothing. My work (my achievements) came first; my accepting bribes was always second.” </a:t>
            </a:r>
            <a:endParaRPr lang="en-IN" sz="2400" dirty="0"/>
          </a:p>
          <a:p>
            <a:r>
              <a:rPr lang="en-US" sz="2400" dirty="0" smtClean="0"/>
              <a:t> </a:t>
            </a:r>
            <a:r>
              <a:rPr lang="en-US" sz="2400" dirty="0"/>
              <a:t>“I, at most, was just a deputy director of the police department. (The charge said that) I could do anything at will in Chongqing. Who gave me that power? What did the higher official above me do (to stop me)? Who were those officials who knew what I did but pretended not to know?” </a:t>
            </a:r>
            <a:endParaRPr lang="en-IN" sz="2400" dirty="0"/>
          </a:p>
        </p:txBody>
      </p:sp>
    </p:spTree>
    <p:extLst>
      <p:ext uri="{BB962C8B-B14F-4D97-AF65-F5344CB8AC3E}">
        <p14:creationId xmlns:p14="http://schemas.microsoft.com/office/powerpoint/2010/main" val="31329306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 </a:t>
            </a:r>
            <a:r>
              <a:rPr lang="en-US" dirty="0"/>
              <a:t>“Since (they) decided not to let me live, I will make the following point: The money I accepted was way more than what was found. Where was the rest of the money? I did accept money from people and in return, I helped them out. Sometimes I did it by myself, and sometimes I had to ask others to help. Can you ask others to do that without giving them money? Those officials who took money from me and those who gave me money are (denouncing corruption and) using me as a negative example. I don’t want to deny that the evidence is valid. However if you go their homes and have a look, you will observe that the money and artworks in my home are very shabby compared to what they have in theirs.” </a:t>
            </a:r>
            <a:endParaRPr lang="en-IN" dirty="0"/>
          </a:p>
        </p:txBody>
      </p:sp>
    </p:spTree>
    <p:extLst>
      <p:ext uri="{BB962C8B-B14F-4D97-AF65-F5344CB8AC3E}">
        <p14:creationId xmlns:p14="http://schemas.microsoft.com/office/powerpoint/2010/main" val="40218803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96240"/>
            <a:ext cx="10515600" cy="5994083"/>
          </a:xfrm>
        </p:spPr>
        <p:txBody>
          <a:bodyPr>
            <a:normAutofit fontScale="92500"/>
          </a:bodyPr>
          <a:lstStyle/>
          <a:p>
            <a:r>
              <a:rPr lang="en-US" dirty="0"/>
              <a:t>. “I have read many books. In the past, people in Beijing applauded when a bad person was beheaded, but isn’t everything still the same after a beheading? Has China changed from several hundred years ago? I don’t see much change. Executing me was only to keep my mouth shut. Could that fix the root cause of corruption? There were many people in Chongqing who lit firecrackers (to celebrate my sentence) yesterday. Weren’t there firecrackers when I closed the case of Zhang Jun? I want to see if they still light firecrackers three years from now. At that time, maybe those people who sold me out will think how good I was. Also, people who do not know the real situation may realize that I was better (than other officials).” </a:t>
            </a:r>
            <a:endParaRPr lang="en-IN" dirty="0"/>
          </a:p>
          <a:p>
            <a:r>
              <a:rPr lang="en-US" dirty="0" smtClean="0"/>
              <a:t>“There </a:t>
            </a:r>
            <a:r>
              <a:rPr lang="en-US" dirty="0"/>
              <a:t>are people who hate me for not bringing the criminals to justice. Maybe I should apologize to them before I leave (the world). However, in many of those cases, if I didn’t accept bribes and help the bad guys out, they would have brought the money to my boss and have me taken out. Was this my fault? Did I have anything against the innocent people? Would I hurt them for no reason? They were victims. Wasn’t I also a victim?” </a:t>
            </a:r>
            <a:endParaRPr lang="en-IN" dirty="0"/>
          </a:p>
        </p:txBody>
      </p:sp>
    </p:spTree>
    <p:extLst>
      <p:ext uri="{BB962C8B-B14F-4D97-AF65-F5344CB8AC3E}">
        <p14:creationId xmlns:p14="http://schemas.microsoft.com/office/powerpoint/2010/main" val="31848595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16865"/>
            <a:ext cx="10515600" cy="4351338"/>
          </a:xfrm>
        </p:spPr>
        <p:txBody>
          <a:bodyPr>
            <a:noAutofit/>
          </a:bodyPr>
          <a:lstStyle/>
          <a:p>
            <a:r>
              <a:rPr lang="en-US" dirty="0" smtClean="0"/>
              <a:t>“Thirty </a:t>
            </a:r>
            <a:r>
              <a:rPr lang="en-US" dirty="0"/>
              <a:t>years ago, I never took in a penny in bribes. At that time, they announced that I was a hero. Actually I was just working hard. Since they asked me to be a hero, I had to be a hero. Now they say I am a criminal. Did I have a choice not to be the criminal?” </a:t>
            </a:r>
            <a:endParaRPr lang="en-IN" dirty="0"/>
          </a:p>
          <a:p>
            <a:r>
              <a:rPr lang="en-US" dirty="0" smtClean="0"/>
              <a:t>“The </a:t>
            </a:r>
            <a:r>
              <a:rPr lang="en-US" dirty="0"/>
              <a:t>officials nowadays are worse than those in the Kuomintang era (the late 1940’s). I am just one of them. It is the society and the system that turned me into this. That I said this much was not to dump all the blame on others. I was primarily responsible for (my problem).” </a:t>
            </a:r>
            <a:endParaRPr lang="en-IN" dirty="0"/>
          </a:p>
          <a:p>
            <a:r>
              <a:rPr lang="en-US" dirty="0" smtClean="0"/>
              <a:t>“If </a:t>
            </a:r>
            <a:r>
              <a:rPr lang="en-US" dirty="0"/>
              <a:t>I was not promoted out of Ba County and stayed there as a local policeman, I wouldn’t be what I am today. Chasing fame and money is the biggest mistake that I made in my life. After my death, my child should change his last name and not use Wen anymore. All my descendants should avoid taking the political path to be an official. They should stay away from fame and money. A simple, peaceful life is a true blessing.” </a:t>
            </a:r>
            <a:endParaRPr lang="en-IN" dirty="0"/>
          </a:p>
          <a:p>
            <a:endParaRPr lang="en-IN" dirty="0"/>
          </a:p>
        </p:txBody>
      </p:sp>
    </p:spTree>
    <p:extLst>
      <p:ext uri="{BB962C8B-B14F-4D97-AF65-F5344CB8AC3E}">
        <p14:creationId xmlns:p14="http://schemas.microsoft.com/office/powerpoint/2010/main" val="43765763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94965"/>
            <a:ext cx="10515600" cy="1265555"/>
          </a:xfrm>
        </p:spPr>
        <p:txBody>
          <a:bodyPr>
            <a:normAutofit fontScale="90000"/>
          </a:bodyPr>
          <a:lstStyle/>
          <a:p>
            <a:r>
              <a:rPr lang="en-IN" dirty="0" smtClean="0"/>
              <a:t>Power corrupts, absolute power corrupts absolutely</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311727513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36520" y="-152679"/>
            <a:ext cx="5928360" cy="7118482"/>
          </a:xfrm>
        </p:spPr>
      </p:pic>
    </p:spTree>
    <p:extLst>
      <p:ext uri="{BB962C8B-B14F-4D97-AF65-F5344CB8AC3E}">
        <p14:creationId xmlns:p14="http://schemas.microsoft.com/office/powerpoint/2010/main" val="2681880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524000" y="1097280"/>
            <a:ext cx="9144000" cy="2412683"/>
          </a:xfrm>
        </p:spPr>
        <p:txBody>
          <a:bodyPr/>
          <a:lstStyle/>
          <a:p>
            <a:r>
              <a:rPr lang="en-IN" b="1" dirty="0" smtClean="0"/>
              <a:t>THANK YOU</a:t>
            </a:r>
            <a:endParaRPr lang="en-IN" b="1" dirty="0"/>
          </a:p>
        </p:txBody>
      </p:sp>
      <p:sp>
        <p:nvSpPr>
          <p:cNvPr id="4" name="Subtitle 3"/>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500980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2899</TotalTime>
  <Words>3084</Words>
  <Application>Microsoft Office PowerPoint</Application>
  <PresentationFormat>Widescreen</PresentationFormat>
  <Paragraphs>259</Paragraphs>
  <Slides>54</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游ゴシック</vt:lpstr>
      <vt:lpstr>Arial</vt:lpstr>
      <vt:lpstr>Calibri</vt:lpstr>
      <vt:lpstr>Calibri Light</vt:lpstr>
      <vt:lpstr>等线</vt:lpstr>
      <vt:lpstr>等线 Light</vt:lpstr>
      <vt:lpstr>Wingdings</vt:lpstr>
      <vt:lpstr>Office Theme</vt:lpstr>
      <vt:lpstr>STRUCTURE OF CHINA</vt:lpstr>
      <vt:lpstr>CORONA VIRUS</vt:lpstr>
      <vt:lpstr>ATTENDANCE &amp; feedback</vt:lpstr>
      <vt:lpstr>WHAT IS LIBERATION? WHAT WAS THE REVOLUTION, EXACTLY?</vt:lpstr>
      <vt:lpstr>PowerPoint Presentation</vt:lpstr>
      <vt:lpstr>CPC</vt:lpstr>
      <vt:lpstr>PowerPoint Presentation</vt:lpstr>
      <vt:lpstr>No change in provincial boundaries for the last 400 years (Ming). </vt:lpstr>
      <vt:lpstr>PowerPoint Presentation</vt:lpstr>
      <vt:lpstr>PowerPoint Presentation</vt:lpstr>
      <vt:lpstr>THE CHINESE ESTABLISHMENT</vt:lpstr>
      <vt:lpstr>POL SYSTEM</vt:lpstr>
      <vt:lpstr>POL SYSTEM- REPRESENTATION  OF THE PEOPLE (contd)</vt:lpstr>
      <vt:lpstr>STRUCTURE OF THE CPC</vt:lpstr>
      <vt:lpstr>PowerPoint Presentation</vt:lpstr>
      <vt:lpstr>CENTRAL COMMITTEE</vt:lpstr>
      <vt:lpstr>POLITBURO AND PBSC</vt:lpstr>
      <vt:lpstr>中国共产党中央政治局常务委员会</vt:lpstr>
      <vt:lpstr>SCHEDULE</vt:lpstr>
      <vt:lpstr>PowerPoint Presentation</vt:lpstr>
      <vt:lpstr>4th Plenum of the 19th Party Congress</vt:lpstr>
      <vt:lpstr>Imp Outcomes</vt:lpstr>
      <vt:lpstr>Agenda</vt:lpstr>
      <vt:lpstr>GOOD GOVERNANCE</vt:lpstr>
      <vt:lpstr>PowerPoint Presentation</vt:lpstr>
      <vt:lpstr>ORG OF GOVT</vt:lpstr>
      <vt:lpstr>ORG OF GOVT(contd)</vt:lpstr>
      <vt:lpstr>ORG OF GOVT(contd)</vt:lpstr>
      <vt:lpstr>ADMINSTRATIVE DIVISONS (4 LEVELS)</vt:lpstr>
      <vt:lpstr>PowerPoint Presentation</vt:lpstr>
      <vt:lpstr>PowerPoint Presentation</vt:lpstr>
      <vt:lpstr>PLA</vt:lpstr>
      <vt:lpstr>ABOUT PLA</vt:lpstr>
      <vt:lpstr>PowerPoint Presentation</vt:lpstr>
      <vt:lpstr>PowerPoint Presentation</vt:lpstr>
      <vt:lpstr>PLA MODERNISATION</vt:lpstr>
      <vt:lpstr>ABILITY TO MOBILIZE</vt:lpstr>
      <vt:lpstr>HOW IS THE PLA ORGANISED</vt:lpstr>
      <vt:lpstr>Armament Industry</vt:lpstr>
      <vt:lpstr>TIBET</vt:lpstr>
      <vt:lpstr>IMP OF SLOGANS, SYMBOLISM  https://www.google.com/maps/place/National+Stadium/@39.9930555,116.1163425,10z/data=!4m5!3m4!1s0x35f054c407008c87:0xee35c9d7f5e387b6!8m2!3d39.9929431!4d116.3965112</vt:lpstr>
      <vt:lpstr>PowerPoint Presentation</vt:lpstr>
      <vt:lpstr>SYMBOLISM</vt:lpstr>
      <vt:lpstr>PowerPoint Presentation</vt:lpstr>
      <vt:lpstr>A Corrupt Officials Last Words before His Execution</vt:lpstr>
      <vt:lpstr>PowerPoint Presentation</vt:lpstr>
      <vt:lpstr>PowerPoint Presentation</vt:lpstr>
      <vt:lpstr>PowerPoint Presentation</vt:lpstr>
      <vt:lpstr>PowerPoint Presentation</vt:lpstr>
      <vt:lpstr>PowerPoint Presentation</vt:lpstr>
      <vt:lpstr>PowerPoint Presentation</vt:lpstr>
      <vt:lpstr>Power corrupts, absolute power corrupts absolutely</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OF CHINA</dc:title>
  <dc:creator>G Jaishankar</dc:creator>
  <cp:lastModifiedBy>G Jaishankar</cp:lastModifiedBy>
  <cp:revision>52</cp:revision>
  <dcterms:created xsi:type="dcterms:W3CDTF">2019-08-03T13:06:02Z</dcterms:created>
  <dcterms:modified xsi:type="dcterms:W3CDTF">2020-01-29T04:40:54Z</dcterms:modified>
</cp:coreProperties>
</file>