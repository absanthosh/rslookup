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3" r:id="rId7"/>
    <p:sldId id="261"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80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11/20/2017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11/20/2017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11/20/2017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11/20/2017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11/20/2017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11/20/2017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11/20/2017</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11/20/2017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11/20/2017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11/20/2017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11/20/2017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11/20/2017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11/20/2017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11/20/2017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11/20/2017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11/20/2017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11/20/2017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11/20/2017</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energy.gov/articles/wind-farm-growth-through-years#buttn"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4A64F-1624-409D-82C6-34AFBF7CF6AA}"/>
              </a:ext>
            </a:extLst>
          </p:cNvPr>
          <p:cNvSpPr>
            <a:spLocks noGrp="1"/>
          </p:cNvSpPr>
          <p:nvPr>
            <p:ph type="ctrTitle"/>
          </p:nvPr>
        </p:nvSpPr>
        <p:spPr>
          <a:xfrm>
            <a:off x="1751012" y="1016305"/>
            <a:ext cx="8689976" cy="2509213"/>
          </a:xfrm>
        </p:spPr>
        <p:txBody>
          <a:bodyPr/>
          <a:lstStyle/>
          <a:p>
            <a:r>
              <a:rPr lang="en-IN" dirty="0"/>
              <a:t>Evaluation of wind power research in the world</a:t>
            </a:r>
          </a:p>
        </p:txBody>
      </p:sp>
      <p:sp>
        <p:nvSpPr>
          <p:cNvPr id="3" name="Subtitle 2">
            <a:extLst>
              <a:ext uri="{FF2B5EF4-FFF2-40B4-BE49-F238E27FC236}">
                <a16:creationId xmlns:a16="http://schemas.microsoft.com/office/drawing/2014/main" id="{35C0FA8E-F93B-4BDA-9195-22F6CA13F00C}"/>
              </a:ext>
            </a:extLst>
          </p:cNvPr>
          <p:cNvSpPr>
            <a:spLocks noGrp="1"/>
          </p:cNvSpPr>
          <p:nvPr>
            <p:ph type="subTitle" idx="1"/>
          </p:nvPr>
        </p:nvSpPr>
        <p:spPr/>
        <p:txBody>
          <a:bodyPr>
            <a:normAutofit/>
          </a:bodyPr>
          <a:lstStyle/>
          <a:p>
            <a:r>
              <a:rPr lang="en-IN" sz="3200" i="1" dirty="0">
                <a:latin typeface="Adobe Arabic" panose="02040503050201020203" pitchFamily="18" charset="-78"/>
                <a:cs typeface="Adobe Arabic" panose="02040503050201020203" pitchFamily="18" charset="-78"/>
              </a:rPr>
              <a:t>Group</a:t>
            </a:r>
            <a:r>
              <a:rPr lang="en-IN" sz="2800" i="1" dirty="0">
                <a:latin typeface="Adobe Arabic" panose="02040503050201020203" pitchFamily="18" charset="-78"/>
                <a:cs typeface="Adobe Arabic" panose="02040503050201020203" pitchFamily="18" charset="-78"/>
              </a:rPr>
              <a:t> 4</a:t>
            </a:r>
          </a:p>
        </p:txBody>
      </p:sp>
      <p:sp>
        <p:nvSpPr>
          <p:cNvPr id="4" name="Rectangle 3">
            <a:extLst>
              <a:ext uri="{FF2B5EF4-FFF2-40B4-BE49-F238E27FC236}">
                <a16:creationId xmlns:a16="http://schemas.microsoft.com/office/drawing/2014/main" id="{FDCE999F-3756-4BE6-97E9-D48FE71C2112}"/>
              </a:ext>
            </a:extLst>
          </p:cNvPr>
          <p:cNvSpPr/>
          <p:nvPr/>
        </p:nvSpPr>
        <p:spPr>
          <a:xfrm>
            <a:off x="111760" y="91440"/>
            <a:ext cx="11968480" cy="6675120"/>
          </a:xfrm>
          <a:prstGeom prst="rect">
            <a:avLst/>
          </a:prstGeom>
          <a:noFill/>
          <a:ln w="1905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73029719"/>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67CCC-D15E-4EBA-A7D3-3072E0414842}"/>
              </a:ext>
            </a:extLst>
          </p:cNvPr>
          <p:cNvSpPr>
            <a:spLocks noGrp="1"/>
          </p:cNvSpPr>
          <p:nvPr>
            <p:ph type="title"/>
          </p:nvPr>
        </p:nvSpPr>
        <p:spPr>
          <a:xfrm>
            <a:off x="913149" y="268712"/>
            <a:ext cx="10364451" cy="1596177"/>
          </a:xfrm>
        </p:spPr>
        <p:txBody>
          <a:bodyPr/>
          <a:lstStyle/>
          <a:p>
            <a:r>
              <a:rPr lang="en-IN" dirty="0"/>
              <a:t>Historical background</a:t>
            </a:r>
          </a:p>
        </p:txBody>
      </p:sp>
      <p:sp>
        <p:nvSpPr>
          <p:cNvPr id="3" name="Content Placeholder 2">
            <a:extLst>
              <a:ext uri="{FF2B5EF4-FFF2-40B4-BE49-F238E27FC236}">
                <a16:creationId xmlns:a16="http://schemas.microsoft.com/office/drawing/2014/main" id="{5B98D222-CFA8-4336-929F-3B0D3A81E3BD}"/>
              </a:ext>
            </a:extLst>
          </p:cNvPr>
          <p:cNvSpPr>
            <a:spLocks noGrp="1"/>
          </p:cNvSpPr>
          <p:nvPr>
            <p:ph sz="quarter" idx="13"/>
          </p:nvPr>
        </p:nvSpPr>
        <p:spPr>
          <a:xfrm>
            <a:off x="497527" y="1304845"/>
            <a:ext cx="10780073" cy="5121883"/>
          </a:xfrm>
        </p:spPr>
        <p:txBody>
          <a:bodyPr>
            <a:normAutofit fontScale="85000" lnSpcReduction="10000"/>
          </a:bodyPr>
          <a:lstStyle/>
          <a:p>
            <a:pPr marL="0" indent="0" algn="just" fontAlgn="base">
              <a:buNone/>
            </a:pPr>
            <a:endParaRPr lang="en-IN" cap="none" dirty="0">
              <a:latin typeface="Adobe Caslon Pro" panose="0205050205050A020403" pitchFamily="18" charset="0"/>
            </a:endParaRPr>
          </a:p>
          <a:p>
            <a:pPr algn="just" fontAlgn="base"/>
            <a:r>
              <a:rPr lang="en-IN" cap="none" dirty="0">
                <a:latin typeface="Adobe Caslon Pro" panose="0205050205050A020403" pitchFamily="18" charset="0"/>
              </a:rPr>
              <a:t>Since early recorded history, people have harnessed the </a:t>
            </a:r>
            <a:r>
              <a:rPr lang="en-IN" b="1" cap="none" dirty="0">
                <a:latin typeface="Adobe Caslon Pro" panose="0205050205050A020403" pitchFamily="18" charset="0"/>
              </a:rPr>
              <a:t>wind energy</a:t>
            </a:r>
            <a:r>
              <a:rPr lang="en-IN" cap="none" dirty="0">
                <a:latin typeface="Adobe Caslon Pro" panose="0205050205050A020403" pitchFamily="18" charset="0"/>
              </a:rPr>
              <a:t>. It propelled boats along the Nile River as early as </a:t>
            </a:r>
            <a:r>
              <a:rPr lang="en-IN" b="1" cap="none" dirty="0">
                <a:latin typeface="Adobe Caslon Pro" panose="0205050205050A020403" pitchFamily="18" charset="0"/>
              </a:rPr>
              <a:t>5000 B.C</a:t>
            </a:r>
            <a:r>
              <a:rPr lang="en-IN" cap="none" dirty="0">
                <a:latin typeface="Adobe Caslon Pro" panose="0205050205050A020403" pitchFamily="18" charset="0"/>
              </a:rPr>
              <a:t>. By </a:t>
            </a:r>
            <a:r>
              <a:rPr lang="en-IN" b="1" cap="none" dirty="0">
                <a:latin typeface="Adobe Caslon Pro" panose="0205050205050A020403" pitchFamily="18" charset="0"/>
              </a:rPr>
              <a:t>200 B.C</a:t>
            </a:r>
            <a:r>
              <a:rPr lang="en-IN" cap="none" dirty="0">
                <a:latin typeface="Adobe Caslon Pro" panose="0205050205050A020403" pitchFamily="18" charset="0"/>
              </a:rPr>
              <a:t>., simple windmills in China were pumping water, while vertical-axis windmills with woven reed sails were grinding grain in Persia and the Middle East.</a:t>
            </a:r>
          </a:p>
          <a:p>
            <a:pPr marL="0" indent="0" algn="just" fontAlgn="base">
              <a:buNone/>
            </a:pPr>
            <a:endParaRPr lang="en-IN" cap="none" dirty="0">
              <a:latin typeface="Adobe Caslon Pro" panose="0205050205050A020403" pitchFamily="18" charset="0"/>
            </a:endParaRPr>
          </a:p>
          <a:p>
            <a:pPr algn="just" fontAlgn="base"/>
            <a:r>
              <a:rPr lang="en-IN" cap="none" dirty="0">
                <a:latin typeface="Adobe Caslon Pro" panose="0205050205050A020403" pitchFamily="18" charset="0"/>
              </a:rPr>
              <a:t>New ways of using the this energy eventually spread around the world. By the 11</a:t>
            </a:r>
            <a:r>
              <a:rPr lang="en-IN" cap="none" baseline="30000" dirty="0">
                <a:latin typeface="Adobe Caslon Pro" panose="0205050205050A020403" pitchFamily="18" charset="0"/>
              </a:rPr>
              <a:t>th</a:t>
            </a:r>
            <a:r>
              <a:rPr lang="en-IN" cap="none" dirty="0">
                <a:latin typeface="Adobe Caslon Pro" panose="0205050205050A020403" pitchFamily="18" charset="0"/>
              </a:rPr>
              <a:t> century, people in the Middle East used windmills extensively for food production. Returning merchants and crusaders carried this idea back to Europe. The Dutch refined the windmill and adapted it for draining lakes and marshes in the Rhine River Delta. When settlers took this technology to the New World in the late 19th century, they began using windmills to pump water for farms and ranches and later to generate electricity for homes and industry.</a:t>
            </a:r>
          </a:p>
          <a:p>
            <a:pPr algn="just" fontAlgn="base"/>
            <a:endParaRPr lang="en-IN" cap="none" dirty="0">
              <a:latin typeface="Adobe Caslon Pro" panose="0205050205050A020403" pitchFamily="18" charset="0"/>
            </a:endParaRPr>
          </a:p>
          <a:p>
            <a:pPr algn="just" fontAlgn="base"/>
            <a:r>
              <a:rPr lang="en-IN" cap="none" dirty="0">
                <a:latin typeface="Adobe Caslon Pro" panose="0205050205050A020403" pitchFamily="18" charset="0"/>
              </a:rPr>
              <a:t>American colonists used windmills to grind wheat and corn, to pump water and to cut wood at sawmills. With the development of electric power, wind power found new applications in lighting buildings remotely from centrally generated power. Throughout the 20th century, small wind plants, suitable for farms and residences, and larger utility-scale wind farms that could be connected to electricity grids were developed.</a:t>
            </a:r>
          </a:p>
          <a:p>
            <a:pPr marL="0" indent="0" fontAlgn="base">
              <a:buNone/>
            </a:pPr>
            <a:endParaRPr lang="en-IN" cap="none" dirty="0">
              <a:latin typeface="Adobe Caslon Pro" panose="0205050205050A020403" pitchFamily="18" charset="0"/>
            </a:endParaRPr>
          </a:p>
          <a:p>
            <a:endParaRPr lang="en-IN" cap="none" dirty="0">
              <a:latin typeface="Adobe Caslon Pro" panose="0205050205050A020403" pitchFamily="18" charset="0"/>
            </a:endParaRPr>
          </a:p>
        </p:txBody>
      </p:sp>
      <p:sp>
        <p:nvSpPr>
          <p:cNvPr id="4" name="Rectangle 3">
            <a:extLst>
              <a:ext uri="{FF2B5EF4-FFF2-40B4-BE49-F238E27FC236}">
                <a16:creationId xmlns:a16="http://schemas.microsoft.com/office/drawing/2014/main" id="{69360474-FB80-4FA1-B05B-930A91A9DC71}"/>
              </a:ext>
            </a:extLst>
          </p:cNvPr>
          <p:cNvSpPr/>
          <p:nvPr/>
        </p:nvSpPr>
        <p:spPr>
          <a:xfrm>
            <a:off x="111760" y="91440"/>
            <a:ext cx="11968480" cy="6675120"/>
          </a:xfrm>
          <a:prstGeom prst="rect">
            <a:avLst/>
          </a:prstGeom>
          <a:noFill/>
          <a:ln w="1905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19977651"/>
      </p:ext>
    </p:extLst>
  </p:cSld>
  <p:clrMapOvr>
    <a:masterClrMapping/>
  </p:clrMapOvr>
  <mc:AlternateContent xmlns:mc="http://schemas.openxmlformats.org/markup-compatibility/2006">
    <mc:Choice xmlns:p14="http://schemas.microsoft.com/office/powerpoint/2010/main" Requires="p14">
      <p:transition spd="slow" p14:dur="25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2"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2)">
                                      <p:cBhvr>
                                        <p:cTn id="7" dur="1250"/>
                                        <p:tgtEl>
                                          <p:spTgt spid="2"/>
                                        </p:tgtEl>
                                      </p:cBhvr>
                                    </p:animEffect>
                                  </p:childTnLst>
                                </p:cTn>
                              </p:par>
                            </p:childTnLst>
                          </p:cTn>
                        </p:par>
                        <p:par>
                          <p:cTn id="8" fill="hold">
                            <p:stCondLst>
                              <p:cond delay="1250"/>
                            </p:stCondLst>
                            <p:childTnLst>
                              <p:par>
                                <p:cTn id="9" presetID="42" presetClass="entr" presetSubtype="0" fill="hold" nodeType="afterEffect">
                                  <p:stCondLst>
                                    <p:cond delay="100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1000"/>
                                        <p:tgtEl>
                                          <p:spTgt spid="3">
                                            <p:txEl>
                                              <p:pRg st="1" end="1"/>
                                            </p:txEl>
                                          </p:spTgt>
                                        </p:tgtEl>
                                      </p:cBhvr>
                                    </p:animEffect>
                                    <p:anim calcmode="lin" valueType="num">
                                      <p:cBhvr>
                                        <p:cTn id="1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1000"/>
                                        <p:tgtEl>
                                          <p:spTgt spid="3">
                                            <p:txEl>
                                              <p:pRg st="3" end="3"/>
                                            </p:txEl>
                                          </p:spTgt>
                                        </p:tgtEl>
                                      </p:cBhvr>
                                    </p:animEffect>
                                    <p:anim calcmode="lin" valueType="num">
                                      <p:cBhvr>
                                        <p:cTn id="1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1000"/>
                                        <p:tgtEl>
                                          <p:spTgt spid="3">
                                            <p:txEl>
                                              <p:pRg st="5" end="5"/>
                                            </p:txEl>
                                          </p:spTgt>
                                        </p:tgtEl>
                                      </p:cBhvr>
                                    </p:animEffect>
                                    <p:anim calcmode="lin" valueType="num">
                                      <p:cBhvr>
                                        <p:cTn id="2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EB9353-5F2E-480A-9E30-24FFF2141E2F}"/>
              </a:ext>
            </a:extLst>
          </p:cNvPr>
          <p:cNvSpPr>
            <a:spLocks noGrp="1"/>
          </p:cNvSpPr>
          <p:nvPr>
            <p:ph sz="quarter" idx="13"/>
          </p:nvPr>
        </p:nvSpPr>
        <p:spPr>
          <a:xfrm>
            <a:off x="629920" y="812800"/>
            <a:ext cx="10647680" cy="5496560"/>
          </a:xfrm>
        </p:spPr>
        <p:txBody>
          <a:bodyPr>
            <a:normAutofit/>
          </a:bodyPr>
          <a:lstStyle/>
          <a:p>
            <a:pPr algn="just" fontAlgn="base"/>
            <a:r>
              <a:rPr lang="en-IN" sz="1800" cap="none" dirty="0">
                <a:latin typeface="Adobe Caslon Pro" panose="0205050205050A020403" pitchFamily="18" charset="0"/>
              </a:rPr>
              <a:t>During World War II, the largest wind turbine known in the 1940s, a 1.25-megawatt turbine that sat on a Vermont hilltop known as Grandpa’s Knob, fed electric power to the local utility network.  Wind electric turbines persisted in Denmark into the 1950s but were ultimately </a:t>
            </a:r>
            <a:r>
              <a:rPr lang="en-IN" sz="1800" cap="none" dirty="0" err="1">
                <a:latin typeface="Adobe Caslon Pro" panose="0205050205050A020403" pitchFamily="18" charset="0"/>
              </a:rPr>
              <a:t>sidelined</a:t>
            </a:r>
            <a:r>
              <a:rPr lang="en-IN" sz="1800" cap="none" dirty="0">
                <a:latin typeface="Adobe Caslon Pro" panose="0205050205050A020403" pitchFamily="18" charset="0"/>
              </a:rPr>
              <a:t> due to the availability of cheap oil and low energy prices.</a:t>
            </a:r>
          </a:p>
          <a:p>
            <a:pPr marL="0" indent="0" algn="just" fontAlgn="base">
              <a:buNone/>
            </a:pPr>
            <a:endParaRPr lang="en-IN" sz="1800" cap="none" dirty="0">
              <a:latin typeface="Adobe Caslon Pro" panose="0205050205050A020403" pitchFamily="18" charset="0"/>
            </a:endParaRPr>
          </a:p>
          <a:p>
            <a:pPr algn="just" fontAlgn="base"/>
            <a:r>
              <a:rPr lang="en-IN" sz="1800" cap="none" dirty="0">
                <a:latin typeface="Adobe Caslon Pro" panose="0205050205050A020403" pitchFamily="18" charset="0"/>
              </a:rPr>
              <a:t>The oil shortages of the 1970s changed the energy picture for the world. It created an interest in alternative energy sources, paving the way for the re-entry of the wind turbine to generate electricity.</a:t>
            </a:r>
          </a:p>
          <a:p>
            <a:pPr marL="0" indent="0" algn="just" fontAlgn="base">
              <a:buNone/>
            </a:pPr>
            <a:endParaRPr lang="en-IN" sz="1800" cap="none" dirty="0">
              <a:latin typeface="Adobe Caslon Pro" panose="0205050205050A020403" pitchFamily="18" charset="0"/>
            </a:endParaRPr>
          </a:p>
          <a:p>
            <a:pPr algn="just" fontAlgn="base"/>
            <a:r>
              <a:rPr lang="en-IN" sz="1800" cap="none" dirty="0">
                <a:latin typeface="Adobe Caslon Pro" panose="0205050205050A020403" pitchFamily="18" charset="0"/>
              </a:rPr>
              <a:t>From 1974 through the mid-1980s, countries have worked to advance the technology and enable development and deployment of large commercial wind turbines. Large-scale research wind turbines were developed under a program overseen by NASA to create a utility-scale wind turbine industry in the United States. With funding from the National Science Foundation, 13 experimental turbines were put into operation using four major wind turbine designs. This R&amp;D program pioneered many of the multi-megawatt turbine technologies in use today. The large wind turbines developed under this program set several world records for diameter and power output.</a:t>
            </a:r>
          </a:p>
          <a:p>
            <a:pPr marL="0" indent="0" algn="just" fontAlgn="base">
              <a:buNone/>
            </a:pPr>
            <a:endParaRPr lang="en-IN" sz="1800" dirty="0"/>
          </a:p>
          <a:p>
            <a:pPr marL="0" indent="0" algn="just" fontAlgn="base">
              <a:buNone/>
            </a:pPr>
            <a:endParaRPr lang="en-IN" sz="1800" dirty="0"/>
          </a:p>
          <a:p>
            <a:pPr algn="just"/>
            <a:endParaRPr lang="en-IN" sz="1800" dirty="0"/>
          </a:p>
        </p:txBody>
      </p:sp>
      <p:sp>
        <p:nvSpPr>
          <p:cNvPr id="4" name="Rectangle 3">
            <a:extLst>
              <a:ext uri="{FF2B5EF4-FFF2-40B4-BE49-F238E27FC236}">
                <a16:creationId xmlns:a16="http://schemas.microsoft.com/office/drawing/2014/main" id="{DFFAA4EC-8918-44B6-9410-50B391C794A5}"/>
              </a:ext>
            </a:extLst>
          </p:cNvPr>
          <p:cNvSpPr/>
          <p:nvPr/>
        </p:nvSpPr>
        <p:spPr>
          <a:xfrm>
            <a:off x="111760" y="91440"/>
            <a:ext cx="11968480" cy="6675120"/>
          </a:xfrm>
          <a:prstGeom prst="rect">
            <a:avLst/>
          </a:prstGeom>
          <a:noFill/>
          <a:ln w="1905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36533307"/>
      </p:ext>
    </p:extLst>
  </p:cSld>
  <p:clrMapOvr>
    <a:masterClrMapping/>
  </p:clrMapOvr>
  <mc:AlternateContent xmlns:mc="http://schemas.openxmlformats.org/markup-compatibility/2006">
    <mc:Choice xmlns:p14="http://schemas.microsoft.com/office/powerpoint/2010/main" Requires="p14">
      <p:transition spd="slow" p14:dur="2000">
        <p:push dir="u"/>
      </p:transition>
    </mc:Choice>
    <mc:Fallback>
      <p:transition spd="slow">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arn(inVertical)">
                                      <p:cBhvr>
                                        <p:cTn id="12" dur="75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7"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0FB9CC-5916-45A9-A00B-F666C27F50E9}"/>
              </a:ext>
            </a:extLst>
          </p:cNvPr>
          <p:cNvSpPr>
            <a:spLocks noGrp="1"/>
          </p:cNvSpPr>
          <p:nvPr>
            <p:ph sz="quarter" idx="13"/>
          </p:nvPr>
        </p:nvSpPr>
        <p:spPr>
          <a:xfrm>
            <a:off x="670560" y="650240"/>
            <a:ext cx="10627360" cy="5862320"/>
          </a:xfrm>
        </p:spPr>
        <p:txBody>
          <a:bodyPr>
            <a:normAutofit fontScale="92500" lnSpcReduction="20000"/>
          </a:bodyPr>
          <a:lstStyle/>
          <a:p>
            <a:pPr algn="just" fontAlgn="base">
              <a:lnSpc>
                <a:spcPct val="140000"/>
              </a:lnSpc>
            </a:pPr>
            <a:r>
              <a:rPr lang="en-IN" sz="1900" cap="none" dirty="0">
                <a:latin typeface="Adobe Caslon Pro" panose="0205050205050A020403" pitchFamily="18" charset="0"/>
              </a:rPr>
              <a:t>In the 1980s and early 1990s, low oil prices threatened to make electricity from wind power uneconomical. But in the 1980s wind energy flourished because of tax incentives that encouraged renewable energy sources. These incentives funded the first major use of wind power for utility electricity. The turbines, clustered in large wind resource areas such as Altamont Pass, would be considered small and uneconomical by modern wind farm development standards.</a:t>
            </a:r>
          </a:p>
          <a:p>
            <a:pPr marL="0" indent="0" algn="just" fontAlgn="base">
              <a:lnSpc>
                <a:spcPct val="140000"/>
              </a:lnSpc>
              <a:buFont typeface="Arial" panose="020B0604020202020204" pitchFamily="34" charset="0"/>
              <a:buNone/>
            </a:pPr>
            <a:endParaRPr lang="en-IN" sz="1900" cap="none" dirty="0">
              <a:latin typeface="Adobe Caslon Pro" panose="0205050205050A020403" pitchFamily="18" charset="0"/>
            </a:endParaRPr>
          </a:p>
          <a:p>
            <a:pPr algn="just" fontAlgn="base">
              <a:lnSpc>
                <a:spcPct val="140000"/>
              </a:lnSpc>
            </a:pPr>
            <a:r>
              <a:rPr lang="en-IN" sz="1900" cap="none" dirty="0">
                <a:latin typeface="Adobe Caslon Pro" panose="0205050205050A020403" pitchFamily="18" charset="0"/>
              </a:rPr>
              <a:t>While wind energy’s growth in the U.S. slowed dramatically after tax incentives ended in the late 1980s, wind energy continued to grow in Europe, in part due to a renewed concern for the environment in response to scientific studies indicating potential changes to the global climate if the use of fossil fuels continues to increase.</a:t>
            </a:r>
          </a:p>
          <a:p>
            <a:pPr marL="0" indent="0" algn="just" fontAlgn="base">
              <a:lnSpc>
                <a:spcPct val="140000"/>
              </a:lnSpc>
              <a:buFont typeface="Arial" panose="020B0604020202020204" pitchFamily="34" charset="0"/>
              <a:buNone/>
            </a:pPr>
            <a:endParaRPr lang="en-IN" sz="1900" cap="none" dirty="0">
              <a:latin typeface="Adobe Caslon Pro" panose="0205050205050A020403" pitchFamily="18" charset="0"/>
            </a:endParaRPr>
          </a:p>
          <a:p>
            <a:pPr algn="just" fontAlgn="base">
              <a:lnSpc>
                <a:spcPct val="140000"/>
              </a:lnSpc>
            </a:pPr>
            <a:r>
              <a:rPr lang="en-IN" sz="1900" cap="none" dirty="0">
                <a:latin typeface="Adobe Caslon Pro" panose="0205050205050A020403" pitchFamily="18" charset="0"/>
              </a:rPr>
              <a:t>Today, wind-powered generators operate in every size range, from small turbines for battery charging at isolated residences to large, near-gigawatt-size offshore wind farms that provide electricity to national electric transmission systems. To see the history of wind farm growth in the United States, watch the U.S. Department of Energy’s </a:t>
            </a:r>
            <a:r>
              <a:rPr lang="en-IN" sz="1900" cap="none" dirty="0" err="1">
                <a:latin typeface="Adobe Caslon Pro" panose="0205050205050A020403" pitchFamily="18" charset="0"/>
                <a:hlinkClick r:id="rId2"/>
              </a:rPr>
              <a:t>timelapse</a:t>
            </a:r>
            <a:r>
              <a:rPr lang="en-IN" sz="1900" cap="none" dirty="0">
                <a:latin typeface="Adobe Caslon Pro" panose="0205050205050A020403" pitchFamily="18" charset="0"/>
                <a:hlinkClick r:id="rId2"/>
              </a:rPr>
              <a:t> graphic</a:t>
            </a:r>
            <a:r>
              <a:rPr lang="en-IN" sz="1900" cap="none" dirty="0">
                <a:latin typeface="Adobe Caslon Pro" panose="0205050205050A020403" pitchFamily="18" charset="0"/>
              </a:rPr>
              <a:t>.</a:t>
            </a:r>
          </a:p>
          <a:p>
            <a:endParaRPr lang="en-IN" dirty="0"/>
          </a:p>
        </p:txBody>
      </p:sp>
      <p:sp>
        <p:nvSpPr>
          <p:cNvPr id="4" name="Rectangle 3">
            <a:extLst>
              <a:ext uri="{FF2B5EF4-FFF2-40B4-BE49-F238E27FC236}">
                <a16:creationId xmlns:a16="http://schemas.microsoft.com/office/drawing/2014/main" id="{078829CC-FA85-408B-809B-5C50BEBB6DC3}"/>
              </a:ext>
            </a:extLst>
          </p:cNvPr>
          <p:cNvSpPr/>
          <p:nvPr/>
        </p:nvSpPr>
        <p:spPr>
          <a:xfrm>
            <a:off x="111760" y="91440"/>
            <a:ext cx="11968480" cy="6675120"/>
          </a:xfrm>
          <a:prstGeom prst="rect">
            <a:avLst/>
          </a:prstGeom>
          <a:noFill/>
          <a:ln w="1905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73841980"/>
      </p:ext>
    </p:extLst>
  </p:cSld>
  <p:clrMapOvr>
    <a:masterClrMapping/>
  </p:clrMapOvr>
  <mc:AlternateContent xmlns:mc="http://schemas.openxmlformats.org/markup-compatibility/2006">
    <mc:Choice xmlns:p14="http://schemas.microsoft.com/office/powerpoint/2010/main" Requires="p14">
      <p:transition spd="slow" p14:dur="2000">
        <p14:switch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362">
                                          <p:stCondLst>
                                            <p:cond delay="0"/>
                                          </p:stCondLst>
                                        </p:cTn>
                                        <p:tgtEl>
                                          <p:spTgt spid="3">
                                            <p:txEl>
                                              <p:pRg st="2" end="2"/>
                                            </p:txEl>
                                          </p:spTgt>
                                        </p:tgtEl>
                                      </p:cBhvr>
                                    </p:animEffect>
                                    <p:anim calcmode="lin" valueType="num">
                                      <p:cBhvr>
                                        <p:cTn id="13" dur="1139"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14" dur="415"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15" dur="415" tmFilter="0, 0; 0.125,0.2665; 0.25,0.4; 0.375,0.465; 0.5,0.5;  0.625,0.535; 0.75,0.6; 0.875,0.7335; 1,1">
                                          <p:stCondLst>
                                            <p:cond delay="415"/>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16" dur="207" tmFilter="0, 0; 0.125,0.2665; 0.25,0.4; 0.375,0.465; 0.5,0.5;  0.625,0.535; 0.75,0.6; 0.875,0.7335; 1,1">
                                          <p:stCondLst>
                                            <p:cond delay="828"/>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17" dur="103" tmFilter="0, 0; 0.125,0.2665; 0.25,0.4; 0.375,0.465; 0.5,0.5;  0.625,0.535; 0.75,0.6; 0.875,0.7335; 1,1">
                                          <p:stCondLst>
                                            <p:cond delay="1035"/>
                                          </p:stCondLst>
                                        </p:cTn>
                                        <p:tgtEl>
                                          <p:spTgt spid="3">
                                            <p:txEl>
                                              <p:pRg st="2" end="2"/>
                                            </p:txEl>
                                          </p:spTgt>
                                        </p:tgtEl>
                                        <p:attrNameLst>
                                          <p:attrName>ppt_y</p:attrName>
                                        </p:attrNameLst>
                                      </p:cBhvr>
                                      <p:tavLst>
                                        <p:tav tm="0" fmla="#ppt_y-sin(pi*$)/81">
                                          <p:val>
                                            <p:fltVal val="0"/>
                                          </p:val>
                                        </p:tav>
                                        <p:tav tm="100000">
                                          <p:val>
                                            <p:fltVal val="1"/>
                                          </p:val>
                                        </p:tav>
                                      </p:tavLst>
                                    </p:anim>
                                    <p:animScale>
                                      <p:cBhvr>
                                        <p:cTn id="18" dur="16">
                                          <p:stCondLst>
                                            <p:cond delay="406"/>
                                          </p:stCondLst>
                                        </p:cTn>
                                        <p:tgtEl>
                                          <p:spTgt spid="3">
                                            <p:txEl>
                                              <p:pRg st="2" end="2"/>
                                            </p:txEl>
                                          </p:spTgt>
                                        </p:tgtEl>
                                      </p:cBhvr>
                                      <p:to x="100000" y="60000"/>
                                    </p:animScale>
                                    <p:animScale>
                                      <p:cBhvr>
                                        <p:cTn id="19" dur="104" decel="50000">
                                          <p:stCondLst>
                                            <p:cond delay="423"/>
                                          </p:stCondLst>
                                        </p:cTn>
                                        <p:tgtEl>
                                          <p:spTgt spid="3">
                                            <p:txEl>
                                              <p:pRg st="2" end="2"/>
                                            </p:txEl>
                                          </p:spTgt>
                                        </p:tgtEl>
                                      </p:cBhvr>
                                      <p:to x="100000" y="100000"/>
                                    </p:animScale>
                                    <p:animScale>
                                      <p:cBhvr>
                                        <p:cTn id="20" dur="16">
                                          <p:stCondLst>
                                            <p:cond delay="820"/>
                                          </p:stCondLst>
                                        </p:cTn>
                                        <p:tgtEl>
                                          <p:spTgt spid="3">
                                            <p:txEl>
                                              <p:pRg st="2" end="2"/>
                                            </p:txEl>
                                          </p:spTgt>
                                        </p:tgtEl>
                                      </p:cBhvr>
                                      <p:to x="100000" y="80000"/>
                                    </p:animScale>
                                    <p:animScale>
                                      <p:cBhvr>
                                        <p:cTn id="21" dur="104" decel="50000">
                                          <p:stCondLst>
                                            <p:cond delay="836"/>
                                          </p:stCondLst>
                                        </p:cTn>
                                        <p:tgtEl>
                                          <p:spTgt spid="3">
                                            <p:txEl>
                                              <p:pRg st="2" end="2"/>
                                            </p:txEl>
                                          </p:spTgt>
                                        </p:tgtEl>
                                      </p:cBhvr>
                                      <p:to x="100000" y="100000"/>
                                    </p:animScale>
                                    <p:animScale>
                                      <p:cBhvr>
                                        <p:cTn id="22" dur="16">
                                          <p:stCondLst>
                                            <p:cond delay="1026"/>
                                          </p:stCondLst>
                                        </p:cTn>
                                        <p:tgtEl>
                                          <p:spTgt spid="3">
                                            <p:txEl>
                                              <p:pRg st="2" end="2"/>
                                            </p:txEl>
                                          </p:spTgt>
                                        </p:tgtEl>
                                      </p:cBhvr>
                                      <p:to x="100000" y="90000"/>
                                    </p:animScale>
                                    <p:animScale>
                                      <p:cBhvr>
                                        <p:cTn id="23" dur="104" decel="50000">
                                          <p:stCondLst>
                                            <p:cond delay="1042"/>
                                          </p:stCondLst>
                                        </p:cTn>
                                        <p:tgtEl>
                                          <p:spTgt spid="3">
                                            <p:txEl>
                                              <p:pRg st="2" end="2"/>
                                            </p:txEl>
                                          </p:spTgt>
                                        </p:tgtEl>
                                      </p:cBhvr>
                                      <p:to x="100000" y="100000"/>
                                    </p:animScale>
                                    <p:animScale>
                                      <p:cBhvr>
                                        <p:cTn id="24" dur="16">
                                          <p:stCondLst>
                                            <p:cond delay="1130"/>
                                          </p:stCondLst>
                                        </p:cTn>
                                        <p:tgtEl>
                                          <p:spTgt spid="3">
                                            <p:txEl>
                                              <p:pRg st="2" end="2"/>
                                            </p:txEl>
                                          </p:spTgt>
                                        </p:tgtEl>
                                      </p:cBhvr>
                                      <p:to x="100000" y="95000"/>
                                    </p:animScale>
                                    <p:animScale>
                                      <p:cBhvr>
                                        <p:cTn id="25" dur="104" decel="50000">
                                          <p:stCondLst>
                                            <p:cond delay="1146"/>
                                          </p:stCondLst>
                                        </p:cTn>
                                        <p:tgtEl>
                                          <p:spTgt spid="3">
                                            <p:txEl>
                                              <p:pRg st="2" end="2"/>
                                            </p:txEl>
                                          </p:spTgt>
                                        </p:tgtEl>
                                      </p:cBhvr>
                                      <p:to x="100000" y="100000"/>
                                    </p:animScale>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1000"/>
                                        <p:tgtEl>
                                          <p:spTgt spid="3">
                                            <p:txEl>
                                              <p:pRg st="4" end="4"/>
                                            </p:txEl>
                                          </p:spTgt>
                                        </p:tgtEl>
                                      </p:cBhvr>
                                    </p:animEffect>
                                    <p:anim calcmode="lin" valueType="num">
                                      <p:cBhvr>
                                        <p:cTn id="3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0"/>
                <a:lumOff val="100000"/>
              </a:schemeClr>
            </a:gs>
            <a:gs pos="35000">
              <a:schemeClr val="accent6">
                <a:lumMod val="0"/>
                <a:lumOff val="100000"/>
              </a:schemeClr>
            </a:gs>
            <a:gs pos="100000">
              <a:schemeClr val="accent6">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E02A7-837F-4A8B-A40C-F4C200DE29FD}"/>
              </a:ext>
            </a:extLst>
          </p:cNvPr>
          <p:cNvSpPr>
            <a:spLocks noGrp="1"/>
          </p:cNvSpPr>
          <p:nvPr>
            <p:ph type="title"/>
          </p:nvPr>
        </p:nvSpPr>
        <p:spPr>
          <a:xfrm>
            <a:off x="913774" y="110517"/>
            <a:ext cx="10364451" cy="1596177"/>
          </a:xfrm>
        </p:spPr>
        <p:txBody>
          <a:bodyPr/>
          <a:lstStyle/>
          <a:p>
            <a:r>
              <a:rPr lang="en-IN" dirty="0"/>
              <a:t>Current production</a:t>
            </a:r>
          </a:p>
        </p:txBody>
      </p:sp>
      <p:sp>
        <p:nvSpPr>
          <p:cNvPr id="6" name="AutoShape 4" descr="http://www.wwindea.org/wp-content/uploads/2017/06/Shares_new_2016.jpg">
            <a:extLst>
              <a:ext uri="{FF2B5EF4-FFF2-40B4-BE49-F238E27FC236}">
                <a16:creationId xmlns:a16="http://schemas.microsoft.com/office/drawing/2014/main" id="{48CB0E0B-AC10-4284-BDE2-B277B9F62F0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30" name="Picture 6" descr="http://www.wwindea.org/wp-content/uploads/2017/06/total.jpg">
            <a:extLst>
              <a:ext uri="{FF2B5EF4-FFF2-40B4-BE49-F238E27FC236}">
                <a16:creationId xmlns:a16="http://schemas.microsoft.com/office/drawing/2014/main" id="{C770A512-442D-4FF4-BE0D-0631B72B5A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0762" y="2601556"/>
            <a:ext cx="7305675" cy="3943350"/>
          </a:xfrm>
          <a:prstGeom prst="rect">
            <a:avLst/>
          </a:prstGeom>
          <a:ln>
            <a:solidFill>
              <a:schemeClr val="tx1"/>
            </a:solidFill>
          </a:ln>
          <a:effectLst>
            <a:glow rad="101600">
              <a:schemeClr val="accent6">
                <a:satMod val="175000"/>
                <a:alpha val="40000"/>
              </a:schemeClr>
            </a:glow>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70E3A1B5-F07E-4499-B607-4AAD60359012}"/>
              </a:ext>
            </a:extLst>
          </p:cNvPr>
          <p:cNvSpPr txBox="1"/>
          <p:nvPr/>
        </p:nvSpPr>
        <p:spPr>
          <a:xfrm>
            <a:off x="347980" y="1355856"/>
            <a:ext cx="11496038" cy="923330"/>
          </a:xfrm>
          <a:prstGeom prst="rect">
            <a:avLst/>
          </a:prstGeom>
          <a:noFill/>
        </p:spPr>
        <p:txBody>
          <a:bodyPr wrap="square" rtlCol="0">
            <a:spAutoFit/>
          </a:bodyPr>
          <a:lstStyle/>
          <a:p>
            <a:pPr algn="ctr"/>
            <a:r>
              <a:rPr lang="en-IN" dirty="0">
                <a:latin typeface="Adobe Caslon Pro" panose="0205050205050A020403" pitchFamily="18" charset="0"/>
              </a:rPr>
              <a:t>The worldwide wind capacity reached 486,661 MW by the end of 2016, out of which 54’846 MW were added in 2016. This represents a growth rate of 11.8 % (as compared to 17.2 % in 2015).</a:t>
            </a:r>
          </a:p>
          <a:p>
            <a:pPr algn="ctr"/>
            <a:r>
              <a:rPr lang="en-IN" dirty="0">
                <a:latin typeface="Adobe Caslon Pro" panose="0205050205050A020403" pitchFamily="18" charset="0"/>
              </a:rPr>
              <a:t>All wind turbines installed worldwide by the end of 2016 can generate around 5 % of the world’s electricity demand.</a:t>
            </a:r>
          </a:p>
        </p:txBody>
      </p:sp>
      <p:sp>
        <p:nvSpPr>
          <p:cNvPr id="10" name="Rectangle 9">
            <a:extLst>
              <a:ext uri="{FF2B5EF4-FFF2-40B4-BE49-F238E27FC236}">
                <a16:creationId xmlns:a16="http://schemas.microsoft.com/office/drawing/2014/main" id="{6B9BCD42-7BBA-4F4D-ADBC-A1405BA33340}"/>
              </a:ext>
            </a:extLst>
          </p:cNvPr>
          <p:cNvSpPr/>
          <p:nvPr/>
        </p:nvSpPr>
        <p:spPr>
          <a:xfrm>
            <a:off x="111760" y="91440"/>
            <a:ext cx="11968480" cy="6675120"/>
          </a:xfrm>
          <a:prstGeom prst="rect">
            <a:avLst/>
          </a:prstGeom>
          <a:noFill/>
          <a:ln w="1905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32221442"/>
      </p:ext>
    </p:extLst>
  </p:cSld>
  <p:clrMapOvr>
    <a:masterClrMapping/>
  </p:clrMapOvr>
  <mc:AlternateContent xmlns:mc="http://schemas.openxmlformats.org/markup-compatibility/2006">
    <mc:Choice xmlns:p14="http://schemas.microsoft.com/office/powerpoint/2010/main" Requires="p14">
      <p:transition spd="slow" p14:dur="3500">
        <p14:honeycomb/>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435">
                                          <p:stCondLst>
                                            <p:cond delay="0"/>
                                          </p:stCondLst>
                                        </p:cTn>
                                        <p:tgtEl>
                                          <p:spTgt spid="2"/>
                                        </p:tgtEl>
                                      </p:cBhvr>
                                    </p:animEffect>
                                    <p:anim calcmode="lin" valueType="num">
                                      <p:cBhvr>
                                        <p:cTn id="8" dur="1367"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498"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498" tmFilter="0, 0; 0.125,0.2665; 0.25,0.4; 0.375,0.465; 0.5,0.5;  0.625,0.535; 0.75,0.6; 0.875,0.7335; 1,1">
                                          <p:stCondLst>
                                            <p:cond delay="498"/>
                                          </p:stCondLst>
                                        </p:cTn>
                                        <p:tgtEl>
                                          <p:spTgt spid="2"/>
                                        </p:tgtEl>
                                        <p:attrNameLst>
                                          <p:attrName>ppt_y</p:attrName>
                                        </p:attrNameLst>
                                      </p:cBhvr>
                                      <p:tavLst>
                                        <p:tav tm="0" fmla="#ppt_y-sin(pi*$)/9">
                                          <p:val>
                                            <p:fltVal val="0"/>
                                          </p:val>
                                        </p:tav>
                                        <p:tav tm="100000">
                                          <p:val>
                                            <p:fltVal val="1"/>
                                          </p:val>
                                        </p:tav>
                                      </p:tavLst>
                                    </p:anim>
                                    <p:anim calcmode="lin" valueType="num">
                                      <p:cBhvr>
                                        <p:cTn id="11" dur="249" tmFilter="0, 0; 0.125,0.2665; 0.25,0.4; 0.375,0.465; 0.5,0.5;  0.625,0.535; 0.75,0.6; 0.875,0.7335; 1,1">
                                          <p:stCondLst>
                                            <p:cond delay="993"/>
                                          </p:stCondLst>
                                        </p:cTn>
                                        <p:tgtEl>
                                          <p:spTgt spid="2"/>
                                        </p:tgtEl>
                                        <p:attrNameLst>
                                          <p:attrName>ppt_y</p:attrName>
                                        </p:attrNameLst>
                                      </p:cBhvr>
                                      <p:tavLst>
                                        <p:tav tm="0" fmla="#ppt_y-sin(pi*$)/27">
                                          <p:val>
                                            <p:fltVal val="0"/>
                                          </p:val>
                                        </p:tav>
                                        <p:tav tm="100000">
                                          <p:val>
                                            <p:fltVal val="1"/>
                                          </p:val>
                                        </p:tav>
                                      </p:tavLst>
                                    </p:anim>
                                    <p:anim calcmode="lin" valueType="num">
                                      <p:cBhvr>
                                        <p:cTn id="12" dur="123" tmFilter="0, 0; 0.125,0.2665; 0.25,0.4; 0.375,0.465; 0.5,0.5;  0.625,0.535; 0.75,0.6; 0.875,0.7335; 1,1">
                                          <p:stCondLst>
                                            <p:cond delay="1242"/>
                                          </p:stCondLst>
                                        </p:cTn>
                                        <p:tgtEl>
                                          <p:spTgt spid="2"/>
                                        </p:tgtEl>
                                        <p:attrNameLst>
                                          <p:attrName>ppt_y</p:attrName>
                                        </p:attrNameLst>
                                      </p:cBhvr>
                                      <p:tavLst>
                                        <p:tav tm="0" fmla="#ppt_y-sin(pi*$)/81">
                                          <p:val>
                                            <p:fltVal val="0"/>
                                          </p:val>
                                        </p:tav>
                                        <p:tav tm="100000">
                                          <p:val>
                                            <p:fltVal val="1"/>
                                          </p:val>
                                        </p:tav>
                                      </p:tavLst>
                                    </p:anim>
                                    <p:animScale>
                                      <p:cBhvr>
                                        <p:cTn id="13" dur="20">
                                          <p:stCondLst>
                                            <p:cond delay="487"/>
                                          </p:stCondLst>
                                        </p:cTn>
                                        <p:tgtEl>
                                          <p:spTgt spid="2"/>
                                        </p:tgtEl>
                                      </p:cBhvr>
                                      <p:to x="100000" y="60000"/>
                                    </p:animScale>
                                    <p:animScale>
                                      <p:cBhvr>
                                        <p:cTn id="14" dur="124" decel="50000">
                                          <p:stCondLst>
                                            <p:cond delay="507"/>
                                          </p:stCondLst>
                                        </p:cTn>
                                        <p:tgtEl>
                                          <p:spTgt spid="2"/>
                                        </p:tgtEl>
                                      </p:cBhvr>
                                      <p:to x="100000" y="100000"/>
                                    </p:animScale>
                                    <p:animScale>
                                      <p:cBhvr>
                                        <p:cTn id="15" dur="20">
                                          <p:stCondLst>
                                            <p:cond delay="984"/>
                                          </p:stCondLst>
                                        </p:cTn>
                                        <p:tgtEl>
                                          <p:spTgt spid="2"/>
                                        </p:tgtEl>
                                      </p:cBhvr>
                                      <p:to x="100000" y="80000"/>
                                    </p:animScale>
                                    <p:animScale>
                                      <p:cBhvr>
                                        <p:cTn id="16" dur="124" decel="50000">
                                          <p:stCondLst>
                                            <p:cond delay="1004"/>
                                          </p:stCondLst>
                                        </p:cTn>
                                        <p:tgtEl>
                                          <p:spTgt spid="2"/>
                                        </p:tgtEl>
                                      </p:cBhvr>
                                      <p:to x="100000" y="100000"/>
                                    </p:animScale>
                                    <p:animScale>
                                      <p:cBhvr>
                                        <p:cTn id="17" dur="20">
                                          <p:stCondLst>
                                            <p:cond delay="1231"/>
                                          </p:stCondLst>
                                        </p:cTn>
                                        <p:tgtEl>
                                          <p:spTgt spid="2"/>
                                        </p:tgtEl>
                                      </p:cBhvr>
                                      <p:to x="100000" y="90000"/>
                                    </p:animScale>
                                    <p:animScale>
                                      <p:cBhvr>
                                        <p:cTn id="18" dur="124" decel="50000">
                                          <p:stCondLst>
                                            <p:cond delay="1251"/>
                                          </p:stCondLst>
                                        </p:cTn>
                                        <p:tgtEl>
                                          <p:spTgt spid="2"/>
                                        </p:tgtEl>
                                      </p:cBhvr>
                                      <p:to x="100000" y="100000"/>
                                    </p:animScale>
                                    <p:animScale>
                                      <p:cBhvr>
                                        <p:cTn id="19" dur="20">
                                          <p:stCondLst>
                                            <p:cond delay="1356"/>
                                          </p:stCondLst>
                                        </p:cTn>
                                        <p:tgtEl>
                                          <p:spTgt spid="2"/>
                                        </p:tgtEl>
                                      </p:cBhvr>
                                      <p:to x="100000" y="95000"/>
                                    </p:animScale>
                                    <p:animScale>
                                      <p:cBhvr>
                                        <p:cTn id="20" dur="124" decel="50000">
                                          <p:stCondLst>
                                            <p:cond delay="1376"/>
                                          </p:stCondLst>
                                        </p:cTn>
                                        <p:tgtEl>
                                          <p:spTgt spid="2"/>
                                        </p:tgtEl>
                                      </p:cBhvr>
                                      <p:to x="100000" y="100000"/>
                                    </p:animScale>
                                  </p:childTnLst>
                                </p:cTn>
                              </p:par>
                            </p:childTnLst>
                          </p:cTn>
                        </p:par>
                        <p:par>
                          <p:cTn id="21" fill="hold">
                            <p:stCondLst>
                              <p:cond delay="1500"/>
                            </p:stCondLst>
                            <p:childTnLst>
                              <p:par>
                                <p:cTn id="22" presetID="14" presetClass="entr" presetSubtype="10" fill="hold" grpId="0" nodeType="afterEffect">
                                  <p:stCondLst>
                                    <p:cond delay="1000"/>
                                  </p:stCondLst>
                                  <p:childTnLst>
                                    <p:set>
                                      <p:cBhvr>
                                        <p:cTn id="23" dur="1" fill="hold">
                                          <p:stCondLst>
                                            <p:cond delay="0"/>
                                          </p:stCondLst>
                                        </p:cTn>
                                        <p:tgtEl>
                                          <p:spTgt spid="8"/>
                                        </p:tgtEl>
                                        <p:attrNameLst>
                                          <p:attrName>style.visibility</p:attrName>
                                        </p:attrNameLst>
                                      </p:cBhvr>
                                      <p:to>
                                        <p:strVal val="visible"/>
                                      </p:to>
                                    </p:set>
                                    <p:animEffect transition="in" filter="randombar(horizontal)">
                                      <p:cBhvr>
                                        <p:cTn id="24" dur="125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nodeType="clickEffect">
                                  <p:stCondLst>
                                    <p:cond delay="0"/>
                                  </p:stCondLst>
                                  <p:childTnLst>
                                    <p:set>
                                      <p:cBhvr>
                                        <p:cTn id="28" dur="1" fill="hold">
                                          <p:stCondLst>
                                            <p:cond delay="0"/>
                                          </p:stCondLst>
                                        </p:cTn>
                                        <p:tgtEl>
                                          <p:spTgt spid="1030"/>
                                        </p:tgtEl>
                                        <p:attrNameLst>
                                          <p:attrName>style.visibility</p:attrName>
                                        </p:attrNameLst>
                                      </p:cBhvr>
                                      <p:to>
                                        <p:strVal val="visible"/>
                                      </p:to>
                                    </p:set>
                                    <p:anim calcmode="lin" valueType="num">
                                      <p:cBhvr>
                                        <p:cTn id="29" dur="1000" fill="hold"/>
                                        <p:tgtEl>
                                          <p:spTgt spid="1030"/>
                                        </p:tgtEl>
                                        <p:attrNameLst>
                                          <p:attrName>ppt_w</p:attrName>
                                        </p:attrNameLst>
                                      </p:cBhvr>
                                      <p:tavLst>
                                        <p:tav tm="0">
                                          <p:val>
                                            <p:fltVal val="0"/>
                                          </p:val>
                                        </p:tav>
                                        <p:tav tm="100000">
                                          <p:val>
                                            <p:strVal val="#ppt_w"/>
                                          </p:val>
                                        </p:tav>
                                      </p:tavLst>
                                    </p:anim>
                                    <p:anim calcmode="lin" valueType="num">
                                      <p:cBhvr>
                                        <p:cTn id="30" dur="1000" fill="hold"/>
                                        <p:tgtEl>
                                          <p:spTgt spid="1030"/>
                                        </p:tgtEl>
                                        <p:attrNameLst>
                                          <p:attrName>ppt_h</p:attrName>
                                        </p:attrNameLst>
                                      </p:cBhvr>
                                      <p:tavLst>
                                        <p:tav tm="0">
                                          <p:val>
                                            <p:fltVal val="0"/>
                                          </p:val>
                                        </p:tav>
                                        <p:tav tm="100000">
                                          <p:val>
                                            <p:strVal val="#ppt_h"/>
                                          </p:val>
                                        </p:tav>
                                      </p:tavLst>
                                    </p:anim>
                                    <p:anim calcmode="lin" valueType="num">
                                      <p:cBhvr>
                                        <p:cTn id="31" dur="1000" fill="hold"/>
                                        <p:tgtEl>
                                          <p:spTgt spid="1030"/>
                                        </p:tgtEl>
                                        <p:attrNameLst>
                                          <p:attrName>style.rotation</p:attrName>
                                        </p:attrNameLst>
                                      </p:cBhvr>
                                      <p:tavLst>
                                        <p:tav tm="0">
                                          <p:val>
                                            <p:fltVal val="90"/>
                                          </p:val>
                                        </p:tav>
                                        <p:tav tm="100000">
                                          <p:val>
                                            <p:fltVal val="0"/>
                                          </p:val>
                                        </p:tav>
                                      </p:tavLst>
                                    </p:anim>
                                    <p:animEffect transition="in" filter="fade">
                                      <p:cBhvr>
                                        <p:cTn id="32" dur="1000"/>
                                        <p:tgtEl>
                                          <p:spTgt spid="1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effectLst/>
      </p:bgPr>
    </p:bg>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1517C666-FFFF-4FB9-AC5A-EADABB3B10E5}"/>
              </a:ext>
            </a:extLst>
          </p:cNvPr>
          <p:cNvPicPr>
            <a:picLocks noGrp="1" noChangeAspect="1"/>
          </p:cNvPicPr>
          <p:nvPr>
            <p:ph sz="quarter" idx="13"/>
          </p:nvPr>
        </p:nvPicPr>
        <p:blipFill>
          <a:blip r:embed="rId2"/>
          <a:stretch>
            <a:fillRect/>
          </a:stretch>
        </p:blipFill>
        <p:spPr>
          <a:xfrm>
            <a:off x="141889" y="134007"/>
            <a:ext cx="11908222" cy="6589986"/>
          </a:xfrm>
          <a:prstGeom prst="rect">
            <a:avLst/>
          </a:prstGeom>
        </p:spPr>
      </p:pic>
    </p:spTree>
    <p:extLst>
      <p:ext uri="{BB962C8B-B14F-4D97-AF65-F5344CB8AC3E}">
        <p14:creationId xmlns:p14="http://schemas.microsoft.com/office/powerpoint/2010/main" val="3734257664"/>
      </p:ext>
    </p:extLst>
  </p:cSld>
  <p:clrMapOvr>
    <a:masterClrMapping/>
  </p:clrMapOvr>
  <mc:AlternateContent xmlns:mc="http://schemas.openxmlformats.org/markup-compatibility/2006">
    <mc:Choice xmlns:p14="http://schemas.microsoft.com/office/powerpoint/2010/main" Requires="p14">
      <p:transition spd="slow" p14:dur="1500">
        <p:randomBar dir="vert"/>
      </p:transition>
    </mc:Choice>
    <mc:Fallback>
      <p:transition spd="slow">
        <p:randomBar dir="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FACF50-77C5-4569-87C9-19CB75052AD2}"/>
              </a:ext>
            </a:extLst>
          </p:cNvPr>
          <p:cNvSpPr>
            <a:spLocks noGrp="1"/>
          </p:cNvSpPr>
          <p:nvPr>
            <p:ph sz="quarter" idx="13"/>
          </p:nvPr>
        </p:nvSpPr>
        <p:spPr>
          <a:xfrm>
            <a:off x="858362" y="477333"/>
            <a:ext cx="10475273" cy="1046668"/>
          </a:xfrm>
        </p:spPr>
        <p:txBody>
          <a:bodyPr>
            <a:normAutofit lnSpcReduction="10000"/>
          </a:bodyPr>
          <a:lstStyle/>
          <a:p>
            <a:pPr marL="0" indent="0" algn="ctr">
              <a:buNone/>
            </a:pPr>
            <a:r>
              <a:rPr lang="en-IN" sz="2800" cap="none" dirty="0">
                <a:latin typeface="Adobe Caslon Pro" panose="0205050205050A020403" pitchFamily="18" charset="0"/>
              </a:rPr>
              <a:t>China and Latin America have increased their share of new installations to 53 % and 6.5 % respectively.</a:t>
            </a:r>
          </a:p>
        </p:txBody>
      </p:sp>
      <p:pic>
        <p:nvPicPr>
          <p:cNvPr id="4" name="Picture 3">
            <a:extLst>
              <a:ext uri="{FF2B5EF4-FFF2-40B4-BE49-F238E27FC236}">
                <a16:creationId xmlns:a16="http://schemas.microsoft.com/office/drawing/2014/main" id="{E7C5D396-D16D-4790-B7EB-AE1E770512A5}"/>
              </a:ext>
            </a:extLst>
          </p:cNvPr>
          <p:cNvPicPr>
            <a:picLocks noChangeAspect="1"/>
          </p:cNvPicPr>
          <p:nvPr/>
        </p:nvPicPr>
        <p:blipFill>
          <a:blip r:embed="rId2"/>
          <a:stretch>
            <a:fillRect/>
          </a:stretch>
        </p:blipFill>
        <p:spPr>
          <a:xfrm>
            <a:off x="2091211" y="1524001"/>
            <a:ext cx="8009573" cy="4905087"/>
          </a:xfrm>
          <a:prstGeom prst="rect">
            <a:avLst/>
          </a:prstGeom>
          <a:ln>
            <a:noFill/>
          </a:ln>
          <a:effectLst>
            <a:outerShdw blurRad="190500" algn="tl" rotWithShape="0">
              <a:srgbClr val="000000">
                <a:alpha val="70000"/>
              </a:srgbClr>
            </a:outerShdw>
          </a:effectLst>
        </p:spPr>
      </p:pic>
      <p:sp>
        <p:nvSpPr>
          <p:cNvPr id="5" name="Rectangle 4">
            <a:extLst>
              <a:ext uri="{FF2B5EF4-FFF2-40B4-BE49-F238E27FC236}">
                <a16:creationId xmlns:a16="http://schemas.microsoft.com/office/drawing/2014/main" id="{CE787E5B-C042-4083-97C3-C1C1178148C0}"/>
              </a:ext>
            </a:extLst>
          </p:cNvPr>
          <p:cNvSpPr/>
          <p:nvPr/>
        </p:nvSpPr>
        <p:spPr>
          <a:xfrm>
            <a:off x="111760" y="91440"/>
            <a:ext cx="11968480" cy="6675120"/>
          </a:xfrm>
          <a:prstGeom prst="rect">
            <a:avLst/>
          </a:prstGeom>
          <a:noFill/>
          <a:ln w="1905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1603606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000">
        <p15:prstTrans prst="prestig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0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28E01DF9-A4B4-46DD-A73F-7B47ECB7A6BA}"/>
              </a:ext>
            </a:extLst>
          </p:cNvPr>
          <p:cNvPicPr>
            <a:picLocks noGrp="1" noChangeAspect="1"/>
          </p:cNvPicPr>
          <p:nvPr>
            <p:ph sz="quarter" idx="13"/>
          </p:nvPr>
        </p:nvPicPr>
        <p:blipFill rotWithShape="1">
          <a:blip r:embed="rId2"/>
          <a:srcRect l="19738" t="15598" r="7215" b="18308"/>
          <a:stretch/>
        </p:blipFill>
        <p:spPr>
          <a:xfrm>
            <a:off x="149752" y="762575"/>
            <a:ext cx="11907520" cy="5952183"/>
          </a:xfrm>
          <a:prstGeom prst="rect">
            <a:avLst/>
          </a:prstGeom>
          <a:ln>
            <a:noFill/>
          </a:ln>
          <a:effectLst>
            <a:outerShdw blurRad="190500" algn="tl" rotWithShape="0">
              <a:srgbClr val="000000">
                <a:alpha val="70000"/>
              </a:srgbClr>
            </a:outerShdw>
          </a:effectLst>
        </p:spPr>
      </p:pic>
      <p:sp>
        <p:nvSpPr>
          <p:cNvPr id="4" name="AutoShape 2" descr="Circle frame.svg">
            <a:extLst>
              <a:ext uri="{FF2B5EF4-FFF2-40B4-BE49-F238E27FC236}">
                <a16:creationId xmlns:a16="http://schemas.microsoft.com/office/drawing/2014/main" id="{71D7FB07-CC94-4606-98DE-A3CEB903E2D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TextBox 6">
            <a:extLst>
              <a:ext uri="{FF2B5EF4-FFF2-40B4-BE49-F238E27FC236}">
                <a16:creationId xmlns:a16="http://schemas.microsoft.com/office/drawing/2014/main" id="{750609DA-9626-4559-8B08-17612E5C94B6}"/>
              </a:ext>
            </a:extLst>
          </p:cNvPr>
          <p:cNvSpPr txBox="1"/>
          <p:nvPr/>
        </p:nvSpPr>
        <p:spPr>
          <a:xfrm>
            <a:off x="2782243" y="72122"/>
            <a:ext cx="6642538" cy="584775"/>
          </a:xfrm>
          <a:prstGeom prst="rect">
            <a:avLst/>
          </a:prstGeom>
          <a:noFill/>
        </p:spPr>
        <p:txBody>
          <a:bodyPr wrap="square" rtlCol="0">
            <a:spAutoFit/>
          </a:bodyPr>
          <a:lstStyle/>
          <a:p>
            <a:pPr algn="ctr"/>
            <a:r>
              <a:rPr lang="en-IN" sz="3200" dirty="0">
                <a:ln w="0"/>
                <a:effectLst>
                  <a:outerShdw blurRad="38100" dist="19050" dir="2700000" algn="tl" rotWithShape="0">
                    <a:schemeClr val="dk1">
                      <a:alpha val="40000"/>
                    </a:schemeClr>
                  </a:outerShdw>
                </a:effectLst>
              </a:rPr>
              <a:t>Wind Production by country</a:t>
            </a:r>
          </a:p>
        </p:txBody>
      </p:sp>
    </p:spTree>
    <p:extLst>
      <p:ext uri="{BB962C8B-B14F-4D97-AF65-F5344CB8AC3E}">
        <p14:creationId xmlns:p14="http://schemas.microsoft.com/office/powerpoint/2010/main" val="1507264997"/>
      </p:ext>
    </p:extLst>
  </p:cSld>
  <p:clrMapOvr>
    <a:masterClrMapping/>
  </p:clrMapOvr>
  <mc:AlternateContent xmlns:mc="http://schemas.openxmlformats.org/markup-compatibility/2006">
    <mc:Choice xmlns:p14="http://schemas.microsoft.com/office/powerpoint/2010/main" Requires="p14">
      <p:transition spd="slow" p14:dur="4000">
        <p14:vortex/>
      </p:transition>
    </mc:Choice>
    <mc:Fallback>
      <p:transition spd="slow">
        <p:fade/>
      </p:transition>
    </mc:Fallback>
  </mc:AlternateContent>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TM04033925[[fn=Droplet]]</Template>
  <TotalTime>228</TotalTime>
  <Words>536</Words>
  <Application>Microsoft Office PowerPoint</Application>
  <PresentationFormat>Widescreen</PresentationFormat>
  <Paragraphs>25</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Adobe Arabic</vt:lpstr>
      <vt:lpstr>Adobe Caslon Pro</vt:lpstr>
      <vt:lpstr>Arial</vt:lpstr>
      <vt:lpstr>Tw Cen MT</vt:lpstr>
      <vt:lpstr>Droplet</vt:lpstr>
      <vt:lpstr>Evaluation of wind power research in the world</vt:lpstr>
      <vt:lpstr>Historical background</vt:lpstr>
      <vt:lpstr>PowerPoint Presentation</vt:lpstr>
      <vt:lpstr>PowerPoint Presentation</vt:lpstr>
      <vt:lpstr>Current production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Evaluation of wind power research in the world</dc:title>
  <dc:creator>Kabir Kanha Arora</dc:creator>
  <cp:keywords>Wind Energy</cp:keywords>
  <cp:lastModifiedBy>vishwanath saragur ramanna</cp:lastModifiedBy>
  <cp:revision>12</cp:revision>
  <dcterms:created xsi:type="dcterms:W3CDTF">2017-11-20T06:42:28Z</dcterms:created>
  <dcterms:modified xsi:type="dcterms:W3CDTF">2017-11-20T10:30:39Z</dcterms:modified>
</cp:coreProperties>
</file>