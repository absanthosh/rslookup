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3" r:id="rId3"/>
    <p:sldId id="278" r:id="rId4"/>
    <p:sldId id="279" r:id="rId5"/>
    <p:sldId id="280" r:id="rId6"/>
    <p:sldId id="281" r:id="rId7"/>
    <p:sldId id="282" r:id="rId8"/>
    <p:sldId id="27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B Ragupathy" initials="M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0000"/>
    <a:srgbClr val="00FF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03614-691A-4403-A16F-50833BC7FF7C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BE1E6-F0CF-416D-9A14-226FD62A3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5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5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0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3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4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6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1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3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8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6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C7C98-C41B-480B-A719-4CC294A535B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A96CD-F52D-496A-9EBA-7D33481D9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0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Teaching\Capital raising elective\Materials\Book writing\PPT  Backgrounds\tumblr_noklmqCwny1rek3nco1_500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73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066800"/>
            <a:ext cx="8991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532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508C7C98-C41B-480B-A719-4CC294A535B6}" type="datetimeFigureOut">
              <a:rPr lang="en-US" smtClean="0"/>
              <a:pPr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5532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MBA @ SNU 2014-16</a:t>
            </a:r>
          </a:p>
        </p:txBody>
      </p:sp>
    </p:spTree>
    <p:extLst>
      <p:ext uri="{BB962C8B-B14F-4D97-AF65-F5344CB8AC3E}">
        <p14:creationId xmlns:p14="http://schemas.microsoft.com/office/powerpoint/2010/main" val="159872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rgbClr val="00FFFF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b="1" kern="1200">
          <a:solidFill>
            <a:schemeClr val="tx2">
              <a:lumMod val="20000"/>
              <a:lumOff val="80000"/>
            </a:schemeClr>
          </a:solidFill>
          <a:latin typeface="Tw Cen MT" panose="020B0602020104020603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–"/>
        <a:defRPr sz="2400" b="1" kern="1200">
          <a:solidFill>
            <a:srgbClr val="FFFF00"/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b="1" kern="1200">
          <a:solidFill>
            <a:srgbClr val="00FFFF"/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–"/>
        <a:defRPr sz="2000" b="1" kern="1200">
          <a:solidFill>
            <a:srgbClr val="00FFFF"/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»"/>
        <a:defRPr sz="2000" b="1" kern="1200">
          <a:solidFill>
            <a:srgbClr val="00FFFF"/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2057402"/>
            <a:ext cx="8991600" cy="990598"/>
          </a:xfrm>
        </p:spPr>
        <p:txBody>
          <a:bodyPr>
            <a:normAutofit/>
          </a:bodyPr>
          <a:lstStyle/>
          <a:p>
            <a:pPr algn="l"/>
            <a:r>
              <a:rPr lang="en-US" sz="3100" dirty="0" smtClean="0">
                <a:solidFill>
                  <a:schemeClr val="bg2"/>
                </a:solidFill>
              </a:rPr>
              <a:t>Venture capital contracts</a:t>
            </a:r>
            <a:endParaRPr lang="en-US" sz="3100" dirty="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657600"/>
            <a:ext cx="8229600" cy="6096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solidFill>
                  <a:srgbClr val="FFFF00"/>
                </a:solidFill>
              </a:rPr>
              <a:t>… initiating ideas</a:t>
            </a:r>
            <a:endParaRPr lang="en-US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1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Capital call letter</a:t>
            </a:r>
          </a:p>
          <a:p>
            <a:pPr lvl="1"/>
            <a:r>
              <a:rPr lang="en-US" dirty="0" smtClean="0"/>
              <a:t>Notifying Limited Partners (LPs) to transfer the required money as per the ‘Capital commitment contract’</a:t>
            </a:r>
          </a:p>
          <a:p>
            <a:r>
              <a:rPr lang="en-US" dirty="0" smtClean="0"/>
              <a:t>Commitment letter / letter of intent</a:t>
            </a:r>
          </a:p>
          <a:p>
            <a:pPr lvl="1"/>
            <a:r>
              <a:rPr lang="en-US" dirty="0" smtClean="0"/>
              <a:t>A semi-formal agreement between VCs and the entrepreneurs that provides a cursory overview of business, purpose of capital raising</a:t>
            </a:r>
          </a:p>
          <a:p>
            <a:pPr lvl="1"/>
            <a:r>
              <a:rPr lang="en-US" dirty="0" smtClean="0"/>
              <a:t>It also indicates key business points and deal parameters</a:t>
            </a:r>
          </a:p>
          <a:p>
            <a:r>
              <a:rPr lang="en-US" dirty="0" smtClean="0"/>
              <a:t>Term sheet</a:t>
            </a:r>
          </a:p>
          <a:p>
            <a:pPr lvl="1"/>
            <a:r>
              <a:rPr lang="en-US" dirty="0" smtClean="0"/>
              <a:t>Establishes conditions that exists before investment</a:t>
            </a:r>
          </a:p>
          <a:p>
            <a:pPr lvl="1"/>
            <a:r>
              <a:rPr lang="en-US" dirty="0" smtClean="0"/>
              <a:t>Explains detailed terms of investment</a:t>
            </a:r>
          </a:p>
          <a:p>
            <a:pPr lvl="1"/>
            <a:r>
              <a:rPr lang="en-US" dirty="0" smtClean="0"/>
              <a:t>Dictates covenants that runs business 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18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 sheet contents – investment and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Convertible preferred stock</a:t>
            </a:r>
          </a:p>
          <a:p>
            <a:pPr lvl="1"/>
            <a:r>
              <a:rPr lang="en-US" dirty="0" smtClean="0"/>
              <a:t>Preference over equity shareholders @ dividend payment and liquidation</a:t>
            </a:r>
          </a:p>
          <a:p>
            <a:pPr lvl="2"/>
            <a:r>
              <a:rPr lang="en-US" dirty="0" smtClean="0"/>
              <a:t>It gives flexibility in structuring the deal (like, voting and participating, board representation, conversion, etc.)</a:t>
            </a:r>
          </a:p>
          <a:p>
            <a:pPr lvl="2"/>
            <a:r>
              <a:rPr lang="en-US" dirty="0" smtClean="0"/>
              <a:t>Usually promoters (entrepreneurs) will own equity shares and VC&amp;PE investors own ‘preference shares’</a:t>
            </a:r>
          </a:p>
          <a:p>
            <a:pPr lvl="1"/>
            <a:r>
              <a:rPr lang="en-US" dirty="0" smtClean="0"/>
              <a:t>Convertible into equity when the firm goes for IPO / any other similar event</a:t>
            </a:r>
          </a:p>
          <a:p>
            <a:pPr lvl="2"/>
            <a:r>
              <a:rPr lang="en-US" dirty="0" smtClean="0"/>
              <a:t>Benefitting on both the ends, i.e. @ liquidation and IPO </a:t>
            </a:r>
          </a:p>
          <a:p>
            <a:r>
              <a:rPr lang="en-US" dirty="0" smtClean="0"/>
              <a:t>Valuation (to be discussed later…!)</a:t>
            </a:r>
          </a:p>
          <a:p>
            <a:r>
              <a:rPr lang="en-US" dirty="0" smtClean="0"/>
              <a:t>Capitalization</a:t>
            </a:r>
          </a:p>
          <a:p>
            <a:pPr lvl="1"/>
            <a:r>
              <a:rPr lang="en-US" dirty="0" smtClean="0"/>
              <a:t>Division of total capital requirement (technically, the liability side of the balance sheet)</a:t>
            </a:r>
          </a:p>
          <a:p>
            <a:pPr lvl="2"/>
            <a:r>
              <a:rPr lang="en-US" dirty="0" smtClean="0"/>
              <a:t>Usually, such firms do not have debt</a:t>
            </a:r>
          </a:p>
        </p:txBody>
      </p:sp>
    </p:spTree>
    <p:extLst>
      <p:ext uri="{BB962C8B-B14F-4D97-AF65-F5344CB8AC3E}">
        <p14:creationId xmlns:p14="http://schemas.microsoft.com/office/powerpoint/2010/main" val="340023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sheet contents – Rights </a:t>
            </a:r>
            <a:r>
              <a:rPr lang="en-US" dirty="0" smtClean="0"/>
              <a:t>and preferences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Dividend rights</a:t>
            </a:r>
          </a:p>
          <a:p>
            <a:r>
              <a:rPr lang="en-US" dirty="0" smtClean="0"/>
              <a:t>Liquidation preference</a:t>
            </a:r>
          </a:p>
          <a:p>
            <a:pPr lvl="1"/>
            <a:r>
              <a:rPr lang="en-US" dirty="0"/>
              <a:t>Preference before equity </a:t>
            </a:r>
            <a:r>
              <a:rPr lang="en-US" dirty="0" smtClean="0"/>
              <a:t>shareholders</a:t>
            </a:r>
          </a:p>
          <a:p>
            <a:pPr lvl="1"/>
            <a:r>
              <a:rPr lang="en-US" dirty="0" smtClean="0"/>
              <a:t>Guarantees minimum return to the investors</a:t>
            </a:r>
          </a:p>
          <a:p>
            <a:r>
              <a:rPr lang="en-US" dirty="0" smtClean="0"/>
              <a:t>Conversion preferences (to be discussed later…!)</a:t>
            </a:r>
          </a:p>
          <a:p>
            <a:pPr lvl="1"/>
            <a:r>
              <a:rPr lang="en-US" dirty="0" smtClean="0"/>
              <a:t>Automatic conversion	</a:t>
            </a:r>
          </a:p>
          <a:p>
            <a:r>
              <a:rPr lang="en-US" dirty="0" smtClean="0"/>
              <a:t>Anti-dilution </a:t>
            </a:r>
            <a:r>
              <a:rPr lang="en-US" dirty="0"/>
              <a:t>(to be discussed later…!)</a:t>
            </a:r>
            <a:endParaRPr lang="en-US" dirty="0" smtClean="0"/>
          </a:p>
          <a:p>
            <a:r>
              <a:rPr lang="en-US" dirty="0" smtClean="0"/>
              <a:t>Voting rights… on as converted basis</a:t>
            </a:r>
          </a:p>
          <a:p>
            <a:r>
              <a:rPr lang="en-US" dirty="0" smtClean="0"/>
              <a:t>Control covenants</a:t>
            </a:r>
          </a:p>
          <a:p>
            <a:pPr lvl="1"/>
            <a:r>
              <a:rPr lang="en-US" dirty="0" smtClean="0"/>
              <a:t>Decisions on key business activities that have implications to the business value</a:t>
            </a:r>
          </a:p>
        </p:txBody>
      </p:sp>
    </p:spTree>
    <p:extLst>
      <p:ext uri="{BB962C8B-B14F-4D97-AF65-F5344CB8AC3E}">
        <p14:creationId xmlns:p14="http://schemas.microsoft.com/office/powerpoint/2010/main" val="376158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sheet contents </a:t>
            </a:r>
            <a:r>
              <a:rPr lang="en-US" dirty="0" smtClean="0"/>
              <a:t>– Rights and preferences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Board of directors</a:t>
            </a:r>
          </a:p>
          <a:p>
            <a:pPr lvl="1"/>
            <a:r>
              <a:rPr lang="en-US" dirty="0" smtClean="0"/>
              <a:t>Size, representation and functions</a:t>
            </a:r>
          </a:p>
          <a:p>
            <a:r>
              <a:rPr lang="en-US" dirty="0"/>
              <a:t>Information and control rights</a:t>
            </a:r>
          </a:p>
          <a:p>
            <a:pPr lvl="1"/>
            <a:r>
              <a:rPr lang="en-US" dirty="0"/>
              <a:t>Seek to restrict the funded entity from </a:t>
            </a:r>
            <a:r>
              <a:rPr lang="en-US" dirty="0" err="1"/>
              <a:t>mis</a:t>
            </a:r>
            <a:r>
              <a:rPr lang="en-US" dirty="0"/>
              <a:t>-using the purpose of capital, like,</a:t>
            </a:r>
          </a:p>
          <a:p>
            <a:pPr lvl="2"/>
            <a:r>
              <a:rPr lang="en-US" dirty="0"/>
              <a:t>Making related party loans, </a:t>
            </a:r>
          </a:p>
          <a:p>
            <a:pPr lvl="2"/>
            <a:r>
              <a:rPr lang="en-US" dirty="0"/>
              <a:t>investing in unrelated businesses / in businesses that are not part of the agreed business plan, etc., </a:t>
            </a:r>
          </a:p>
          <a:p>
            <a:pPr lvl="2"/>
            <a:r>
              <a:rPr lang="en-US" dirty="0"/>
              <a:t>Selling off of assets, including licensing the use of IP, etc.</a:t>
            </a:r>
          </a:p>
          <a:p>
            <a:pPr lvl="2"/>
            <a:r>
              <a:rPr lang="en-US" dirty="0"/>
              <a:t>Unilaterally tinkering with management team, and their compensation structure</a:t>
            </a:r>
          </a:p>
          <a:p>
            <a:pPr lvl="1"/>
            <a:r>
              <a:rPr lang="en-US" dirty="0"/>
              <a:t>VC&amp;PE investors seek to enforce these through voting rights and periodical inspection of financial </a:t>
            </a:r>
            <a:r>
              <a:rPr lang="en-US" dirty="0" smtClean="0"/>
              <a:t>reports, budgets and strategies</a:t>
            </a:r>
            <a:endParaRPr lang="en-US" dirty="0"/>
          </a:p>
          <a:p>
            <a:r>
              <a:rPr lang="en-US" dirty="0" smtClean="0"/>
              <a:t>Registration </a:t>
            </a:r>
            <a:r>
              <a:rPr lang="en-US" dirty="0"/>
              <a:t>rights</a:t>
            </a:r>
          </a:p>
          <a:p>
            <a:pPr lvl="1"/>
            <a:r>
              <a:rPr lang="en-US" dirty="0"/>
              <a:t>Usually, all shares (preferred including) owned by the investors are ‘registerable’</a:t>
            </a:r>
          </a:p>
          <a:p>
            <a:pPr lvl="1"/>
            <a:r>
              <a:rPr lang="en-US" dirty="0"/>
              <a:t>Seeks to list the shares as publicly tradable</a:t>
            </a:r>
          </a:p>
          <a:p>
            <a:pPr lvl="2"/>
            <a:r>
              <a:rPr lang="en-US" dirty="0"/>
              <a:t>On Demand … investors can demand the shares be ‘registered’ at a pre-specified duration after the public issue of firm’s shares</a:t>
            </a:r>
          </a:p>
          <a:p>
            <a:pPr lvl="2"/>
            <a:r>
              <a:rPr lang="en-US" dirty="0"/>
              <a:t>Piggyback registration … along with other capital providers, especially, the founding </a:t>
            </a:r>
            <a:r>
              <a:rPr lang="en-US" dirty="0" smtClean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1088950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sheet contents </a:t>
            </a:r>
            <a:r>
              <a:rPr lang="en-US" dirty="0" smtClean="0"/>
              <a:t>– Rights and restrictions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Redemption rights</a:t>
            </a:r>
          </a:p>
          <a:p>
            <a:pPr lvl="1"/>
            <a:r>
              <a:rPr lang="en-US" dirty="0" smtClean="0"/>
              <a:t>Redeeming / buy-back by the entrepreneur at a pre-determined price</a:t>
            </a:r>
          </a:p>
          <a:p>
            <a:pPr lvl="2"/>
            <a:r>
              <a:rPr lang="en-US" dirty="0" smtClean="0"/>
              <a:t>When the company failed to meet pre-set milestones</a:t>
            </a:r>
          </a:p>
          <a:p>
            <a:r>
              <a:rPr lang="en-US" dirty="0" smtClean="0"/>
              <a:t>Vesting and founder stock restrictions</a:t>
            </a:r>
          </a:p>
          <a:p>
            <a:pPr lvl="1"/>
            <a:r>
              <a:rPr lang="en-US" dirty="0" smtClean="0"/>
              <a:t>Eligible for ownership over a period of time; not at the time of investment</a:t>
            </a:r>
          </a:p>
          <a:p>
            <a:pPr lvl="2"/>
            <a:r>
              <a:rPr lang="en-US" dirty="0" smtClean="0"/>
              <a:t>In the event of liquidation before that, owners would get compensated, only for the amount of shares ‘vested’ and not that ‘owned’</a:t>
            </a:r>
          </a:p>
          <a:p>
            <a:pPr lvl="1"/>
            <a:r>
              <a:rPr lang="en-US" dirty="0" smtClean="0"/>
              <a:t>Restrictions on selling shares </a:t>
            </a:r>
          </a:p>
          <a:p>
            <a:pPr lvl="1"/>
            <a:r>
              <a:rPr lang="en-US" dirty="0" smtClean="0"/>
              <a:t>Company buying back the shares when (employment) contract terminated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855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sheet contents – </a:t>
            </a:r>
            <a:r>
              <a:rPr lang="en-US" dirty="0" smtClean="0"/>
              <a:t>Some covenants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Right of first </a:t>
            </a:r>
            <a:r>
              <a:rPr lang="en-US" dirty="0" smtClean="0"/>
              <a:t>refusal</a:t>
            </a:r>
            <a:endParaRPr lang="en-US" dirty="0"/>
          </a:p>
          <a:p>
            <a:pPr lvl="1"/>
            <a:r>
              <a:rPr lang="en-US" dirty="0" smtClean="0"/>
              <a:t>By virtue of being the early investor, VC&amp;PEs have the right to participate in the later financing rounds</a:t>
            </a:r>
          </a:p>
          <a:p>
            <a:pPr lvl="2"/>
            <a:r>
              <a:rPr lang="en-US" dirty="0" smtClean="0"/>
              <a:t>Either fully or on a pro-rata basis </a:t>
            </a:r>
          </a:p>
          <a:p>
            <a:r>
              <a:rPr lang="en-US" dirty="0" smtClean="0"/>
              <a:t>Right </a:t>
            </a:r>
            <a:r>
              <a:rPr lang="en-US" dirty="0"/>
              <a:t>to </a:t>
            </a:r>
            <a:r>
              <a:rPr lang="en-US" dirty="0" smtClean="0"/>
              <a:t>co-sale</a:t>
            </a:r>
          </a:p>
          <a:p>
            <a:pPr lvl="1"/>
            <a:r>
              <a:rPr lang="en-US" dirty="0" smtClean="0"/>
              <a:t>During merger and secondary sale events, VC&amp;PEs can sell alongside the founding team</a:t>
            </a:r>
            <a:endParaRPr lang="en-US" dirty="0"/>
          </a:p>
          <a:p>
            <a:r>
              <a:rPr lang="en-US" dirty="0" smtClean="0"/>
              <a:t>Non-compete</a:t>
            </a:r>
          </a:p>
          <a:p>
            <a:pPr lvl="1"/>
            <a:r>
              <a:rPr lang="en-US" dirty="0" smtClean="0"/>
              <a:t>Restricting the founding team to invest in other competing venture</a:t>
            </a:r>
          </a:p>
          <a:p>
            <a:r>
              <a:rPr lang="en-US" dirty="0" smtClean="0"/>
              <a:t>Non-disclosure and no-shopping</a:t>
            </a:r>
          </a:p>
          <a:p>
            <a:pPr lvl="1"/>
            <a:r>
              <a:rPr lang="en-US" dirty="0" smtClean="0"/>
              <a:t>… of term sheet provisions and go shopping with other VC&amp;PEs </a:t>
            </a:r>
          </a:p>
        </p:txBody>
      </p:sp>
    </p:spTree>
    <p:extLst>
      <p:ext uri="{BB962C8B-B14F-4D97-AF65-F5344CB8AC3E}">
        <p14:creationId xmlns:p14="http://schemas.microsoft.com/office/powerpoint/2010/main" val="256008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2590800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2378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5447</TotalTime>
  <Words>594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Tw Cen MT</vt:lpstr>
      <vt:lpstr>Office Theme</vt:lpstr>
      <vt:lpstr>Venture capital contracts</vt:lpstr>
      <vt:lpstr>Basic documents</vt:lpstr>
      <vt:lpstr>Term sheet contents – investment and value</vt:lpstr>
      <vt:lpstr>Term sheet contents – Rights and preferences</vt:lpstr>
      <vt:lpstr>Term sheet contents – Rights and preferences</vt:lpstr>
      <vt:lpstr>Term sheet contents – Rights and restrictions</vt:lpstr>
      <vt:lpstr>Term sheet contents – Some covenants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 Ragupathy</dc:creator>
  <cp:lastModifiedBy>MB Ragupathy</cp:lastModifiedBy>
  <cp:revision>764</cp:revision>
  <dcterms:created xsi:type="dcterms:W3CDTF">2015-12-18T15:11:17Z</dcterms:created>
  <dcterms:modified xsi:type="dcterms:W3CDTF">2020-03-16T10:01:39Z</dcterms:modified>
</cp:coreProperties>
</file>