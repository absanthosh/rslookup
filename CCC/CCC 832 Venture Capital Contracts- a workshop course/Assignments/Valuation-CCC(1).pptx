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B Ragupathy" initials="M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0000"/>
    <a:srgbClr val="00FF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03614-691A-4403-A16F-50833BC7FF7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BE1E6-F0CF-416D-9A14-226FD62A3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5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Co.X</a:t>
            </a:r>
            <a:r>
              <a:rPr lang="en-US" dirty="0" smtClean="0"/>
              <a:t>:  The company</a:t>
            </a:r>
            <a:r>
              <a:rPr lang="en-US" baseline="0" dirty="0" smtClean="0"/>
              <a:t> being valued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BE1E6-F0CF-416D-9A14-226FD62A36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7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5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0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3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4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6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1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3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8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6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0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Teaching\Capital raising elective\Materials\Book writing\PPT  Backgrounds\tumblr_noklmqCwny1rek3nco1_500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73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532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508C7C98-C41B-480B-A719-4CC294A535B6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MBA @ SNU 2014-16</a:t>
            </a:r>
          </a:p>
        </p:txBody>
      </p:sp>
    </p:spTree>
    <p:extLst>
      <p:ext uri="{BB962C8B-B14F-4D97-AF65-F5344CB8AC3E}">
        <p14:creationId xmlns:p14="http://schemas.microsoft.com/office/powerpoint/2010/main" val="159872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rgbClr val="00FFFF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b="1" kern="1200">
          <a:solidFill>
            <a:schemeClr val="tx2">
              <a:lumMod val="20000"/>
              <a:lumOff val="8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–"/>
        <a:defRPr sz="2400" b="1" kern="1200">
          <a:solidFill>
            <a:srgbClr val="FFFF00"/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b="1" kern="1200">
          <a:solidFill>
            <a:srgbClr val="00FFFF"/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–"/>
        <a:defRPr sz="2000" b="1" kern="1200">
          <a:solidFill>
            <a:srgbClr val="00FFFF"/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»"/>
        <a:defRPr sz="2000" b="1" kern="1200">
          <a:solidFill>
            <a:srgbClr val="00FFFF"/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057402"/>
            <a:ext cx="8991600" cy="990598"/>
          </a:xfrm>
        </p:spPr>
        <p:txBody>
          <a:bodyPr>
            <a:normAutofit/>
          </a:bodyPr>
          <a:lstStyle/>
          <a:p>
            <a:pPr algn="l"/>
            <a:r>
              <a:rPr lang="en-US" sz="3100" dirty="0" smtClean="0">
                <a:solidFill>
                  <a:schemeClr val="bg2"/>
                </a:solidFill>
              </a:rPr>
              <a:t>Venture capital contracts</a:t>
            </a:r>
            <a:endParaRPr lang="en-US" sz="3100" dirty="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657600"/>
            <a:ext cx="8229600" cy="6096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rgbClr val="FFFF00"/>
                </a:solidFill>
              </a:rPr>
              <a:t>… ‘value’ and ‘investment’</a:t>
            </a:r>
            <a:endParaRPr 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1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sheet structure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74601"/>
              </p:ext>
            </p:extLst>
          </p:nvPr>
        </p:nvGraphicFramePr>
        <p:xfrm>
          <a:off x="304798" y="1143000"/>
          <a:ext cx="8534402" cy="525779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4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282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400" b="1" u="sng" strike="noStrike" dirty="0">
                          <a:effectLst/>
                        </a:rPr>
                        <a:t>Tata Steel Ltd. - Balance sheet as on March 31 2012</a:t>
                      </a:r>
                      <a:endParaRPr lang="en-US" sz="1400" b="1" i="0" u="sng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  SOURCES OF FUNDS :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  APPLICATION OF FUNDS :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Share Capital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971.41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Gross Block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23,485.63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Reserves Total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51,649.95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Less : Accumulated Depreciation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11,986.17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 Equity Share Warrants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 </a:t>
                      </a:r>
                      <a:r>
                        <a:rPr lang="en-US" sz="1400" u="none" strike="noStrike" dirty="0" err="1">
                          <a:effectLst/>
                        </a:rPr>
                        <a:t>Less:Impairment</a:t>
                      </a:r>
                      <a:r>
                        <a:rPr lang="en-US" sz="1400" u="none" strike="noStrike" dirty="0">
                          <a:effectLst/>
                        </a:rPr>
                        <a:t> of Assets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133.2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 Equity Application Money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0.17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Net Block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11,366.26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  Total Shareholders Funds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 dirty="0">
                          <a:effectLst/>
                        </a:rPr>
                        <a:t>52,621.53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 Lease Adjustment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Secured Loans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1,915.47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Capital Work in Progress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16,058.49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Unsecured Loans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19,437.73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Investments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50,282.52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 Total Debt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21,353.20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Inventories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4,858.99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Current Liabilities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14,837.23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Sundry Debtors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904.08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Provisions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2,066.24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Cash and Bank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3,946.99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 Deferred Tax Liability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1,987.78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Loans and Advances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1,950.27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 Other Liabilities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>
                          <a:effectLst/>
                        </a:rPr>
                        <a:t>4,342.35</a:t>
                      </a:r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Miscellaneous Expenses not written off 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  Deferred Tax Assets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1,017.27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  Other Assets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none" strike="noStrike" dirty="0">
                          <a:effectLst/>
                        </a:rPr>
                        <a:t>6,823.46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9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   Total Liabilities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 dirty="0">
                          <a:effectLst/>
                        </a:rPr>
                        <a:t>97,208.33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   Total Assets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 smtClean="0">
                          <a:effectLst/>
                        </a:rPr>
                        <a:t>97,208.33</a:t>
                      </a:r>
                      <a:endParaRPr lang="en-US" sz="14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41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Income statement structure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737365"/>
              </p:ext>
            </p:extLst>
          </p:nvPr>
        </p:nvGraphicFramePr>
        <p:xfrm>
          <a:off x="76199" y="1143003"/>
          <a:ext cx="8991602" cy="529045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3201">
                  <a:extLst>
                    <a:ext uri="{9D8B030D-6E8A-4147-A177-3AD203B41FA5}">
                      <a16:colId xmlns:a16="http://schemas.microsoft.com/office/drawing/2014/main" val="887960392"/>
                    </a:ext>
                  </a:extLst>
                </a:gridCol>
                <a:gridCol w="987940">
                  <a:extLst>
                    <a:ext uri="{9D8B030D-6E8A-4147-A177-3AD203B41FA5}">
                      <a16:colId xmlns:a16="http://schemas.microsoft.com/office/drawing/2014/main" val="4048019522"/>
                    </a:ext>
                  </a:extLst>
                </a:gridCol>
                <a:gridCol w="1135782">
                  <a:extLst>
                    <a:ext uri="{9D8B030D-6E8A-4147-A177-3AD203B41FA5}">
                      <a16:colId xmlns:a16="http://schemas.microsoft.com/office/drawing/2014/main" val="440120964"/>
                    </a:ext>
                  </a:extLst>
                </a:gridCol>
                <a:gridCol w="1952746">
                  <a:extLst>
                    <a:ext uri="{9D8B030D-6E8A-4147-A177-3AD203B41FA5}">
                      <a16:colId xmlns:a16="http://schemas.microsoft.com/office/drawing/2014/main" val="1757423933"/>
                    </a:ext>
                  </a:extLst>
                </a:gridCol>
                <a:gridCol w="1036151">
                  <a:extLst>
                    <a:ext uri="{9D8B030D-6E8A-4147-A177-3AD203B41FA5}">
                      <a16:colId xmlns:a16="http://schemas.microsoft.com/office/drawing/2014/main" val="2506124074"/>
                    </a:ext>
                  </a:extLst>
                </a:gridCol>
                <a:gridCol w="1135782">
                  <a:extLst>
                    <a:ext uri="{9D8B030D-6E8A-4147-A177-3AD203B41FA5}">
                      <a16:colId xmlns:a16="http://schemas.microsoft.com/office/drawing/2014/main" val="3409146631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Expenses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 INCOME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55488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 Raw Materials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8,223.89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Sales Turnover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37,005.71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565249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  Power &amp; Fuel Cost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1,990.16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  Excise Duty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3,072.25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388158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 Employee Cost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3,047.26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 Net Sales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33,933.46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5245542"/>
                  </a:ext>
                </a:extLst>
              </a:tr>
              <a:tr h="3265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  Other Manufacturing Expenses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4,460.35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 Other Income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1,397.44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1325986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 Selling and Administration Expenses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3,240.10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Stock Adjustments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220.72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2912576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 Miscellaneous Expenses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2,133.88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   Total Income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u="none" strike="noStrike" dirty="0">
                          <a:effectLst/>
                        </a:rPr>
                        <a:t>35,551.62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22337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Depreciation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1,151.44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0473829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Less: Pre-operative Expenses Capitalised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478.23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8135878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  Total Expenditure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23,768.85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811671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 Operating Profit (EBIT)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u="none" strike="noStrike">
                          <a:effectLst/>
                        </a:rPr>
                        <a:t>11,782.77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797113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 Interest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1,925.42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28871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 Profit Before Tax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9,857.35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69985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 Tax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3,115.11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651259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Fringe Benefit tax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626612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  Deferred Tax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</a:rPr>
                        <a:t>45.82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257877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 Reported Net Profit (Profit After Tax)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u="none" strike="noStrike">
                          <a:effectLst/>
                        </a:rPr>
                        <a:t>6,696.42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6170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95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Concepts of value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Book value of assets and equity</a:t>
            </a:r>
          </a:p>
          <a:p>
            <a:pPr lvl="1"/>
            <a:r>
              <a:rPr lang="en-US" dirty="0" smtClean="0"/>
              <a:t>Value as shown in the balance sheet; usually functions as the base value </a:t>
            </a:r>
          </a:p>
          <a:p>
            <a:r>
              <a:rPr lang="en-US" dirty="0" smtClean="0"/>
              <a:t>Market value</a:t>
            </a:r>
          </a:p>
          <a:p>
            <a:pPr lvl="1"/>
            <a:r>
              <a:rPr lang="en-US" dirty="0" smtClean="0"/>
              <a:t>Value as determined by an ‘efficient’ market</a:t>
            </a:r>
          </a:p>
          <a:p>
            <a:pPr lvl="1"/>
            <a:r>
              <a:rPr lang="en-US" dirty="0" smtClean="0"/>
              <a:t>Usually the ‘market capitalisation’ of listed firms</a:t>
            </a:r>
          </a:p>
          <a:p>
            <a:r>
              <a:rPr lang="en-US" dirty="0" smtClean="0"/>
              <a:t>Replacement value</a:t>
            </a:r>
          </a:p>
          <a:p>
            <a:pPr lvl="1"/>
            <a:r>
              <a:rPr lang="en-US" dirty="0" smtClean="0"/>
              <a:t>Value of assets if it is to be replaced in the market now…!</a:t>
            </a:r>
          </a:p>
          <a:p>
            <a:pPr lvl="1"/>
            <a:r>
              <a:rPr lang="en-US" dirty="0" smtClean="0"/>
              <a:t>Book value of a car vs. market price of a similar car in the secondary market </a:t>
            </a:r>
          </a:p>
          <a:p>
            <a:r>
              <a:rPr lang="en-US" dirty="0" smtClean="0"/>
              <a:t>Prices of similar assets </a:t>
            </a:r>
          </a:p>
          <a:p>
            <a:pPr lvl="1"/>
            <a:r>
              <a:rPr lang="en-US" dirty="0" smtClean="0"/>
              <a:t>Many times used as a substitute for the value of asset itself…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56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Concepts of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Premium / discount associated with ‘value’</a:t>
            </a:r>
          </a:p>
          <a:p>
            <a:pPr lvl="1"/>
            <a:r>
              <a:rPr lang="en-US" dirty="0" smtClean="0"/>
              <a:t>If competition for the asset is high, a premium is paid</a:t>
            </a:r>
          </a:p>
          <a:p>
            <a:pPr lvl="2"/>
            <a:r>
              <a:rPr lang="en-US" dirty="0" smtClean="0"/>
              <a:t>For ex.: prime land in the heart of the city</a:t>
            </a:r>
          </a:p>
          <a:p>
            <a:pPr lvl="1"/>
            <a:r>
              <a:rPr lang="en-US" dirty="0" smtClean="0"/>
              <a:t>If asset degradation is beyond the usual expected depreciation, discount is applied</a:t>
            </a:r>
          </a:p>
          <a:p>
            <a:pPr lvl="2"/>
            <a:r>
              <a:rPr lang="en-US" dirty="0" smtClean="0"/>
              <a:t>A dilapidated building, though used for some non-living purposes</a:t>
            </a:r>
          </a:p>
          <a:p>
            <a:pPr lvl="1"/>
            <a:r>
              <a:rPr lang="en-US" dirty="0" smtClean="0"/>
              <a:t>Value may be different for different parties looking at the same asset </a:t>
            </a:r>
          </a:p>
          <a:p>
            <a:pPr lvl="2"/>
            <a:r>
              <a:rPr lang="en-US" dirty="0" smtClean="0"/>
              <a:t>Such differentiators are collectively called ‘synergy’…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Valuation methods – </a:t>
            </a:r>
            <a:r>
              <a:rPr lang="en-US" dirty="0" err="1" smtClean="0"/>
              <a:t>Comparables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287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Market capitalization as ‘firm value’</a:t>
            </a:r>
          </a:p>
          <a:p>
            <a:pPr lvl="1" algn="just"/>
            <a:r>
              <a:rPr lang="en-US" dirty="0" smtClean="0"/>
              <a:t>Based </a:t>
            </a:r>
            <a:r>
              <a:rPr lang="en-US" dirty="0"/>
              <a:t>on the all inclusive assumption: “Markets are efficient”</a:t>
            </a:r>
          </a:p>
          <a:p>
            <a:r>
              <a:rPr lang="en-US" dirty="0"/>
              <a:t>Hence, an appropriate market price based ratio of comparable </a:t>
            </a:r>
            <a:r>
              <a:rPr lang="en-US" dirty="0" err="1"/>
              <a:t>compan</a:t>
            </a:r>
            <a:r>
              <a:rPr lang="en-US" dirty="0"/>
              <a:t>(y)(</a:t>
            </a:r>
            <a:r>
              <a:rPr lang="en-US" dirty="0" err="1"/>
              <a:t>ies</a:t>
            </a:r>
            <a:r>
              <a:rPr lang="en-US" dirty="0"/>
              <a:t>) will be considered as bench </a:t>
            </a:r>
            <a:r>
              <a:rPr lang="en-US" dirty="0" smtClean="0"/>
              <a:t>mark</a:t>
            </a:r>
          </a:p>
          <a:p>
            <a:pPr lvl="1"/>
            <a:r>
              <a:rPr lang="en-US" dirty="0" smtClean="0"/>
              <a:t>But the comparable company need to be comparable in most aspects</a:t>
            </a:r>
          </a:p>
          <a:p>
            <a:r>
              <a:rPr lang="en-US" dirty="0"/>
              <a:t>To put it simply:</a:t>
            </a:r>
          </a:p>
          <a:p>
            <a:pPr lvl="1"/>
            <a:r>
              <a:rPr lang="en-US" dirty="0"/>
              <a:t>Identify a similar company that have public market data</a:t>
            </a:r>
          </a:p>
          <a:p>
            <a:pPr lvl="1"/>
            <a:r>
              <a:rPr lang="en-US" dirty="0"/>
              <a:t>Match the </a:t>
            </a:r>
            <a:r>
              <a:rPr lang="en-US" dirty="0" err="1"/>
              <a:t>Co.X</a:t>
            </a:r>
            <a:r>
              <a:rPr lang="en-US" dirty="0"/>
              <a:t> to that similar company and arrive at the </a:t>
            </a:r>
            <a:r>
              <a:rPr lang="en-US" dirty="0" smtClean="0"/>
              <a:t>value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21397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Valuation methods – </a:t>
            </a:r>
            <a:r>
              <a:rPr lang="en-US" dirty="0" err="1" smtClean="0"/>
              <a:t>Comparables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Example:</a:t>
            </a:r>
          </a:p>
          <a:p>
            <a:pPr lvl="1"/>
            <a:r>
              <a:rPr lang="en-US" sz="2000" dirty="0" smtClean="0"/>
              <a:t>Assume IIFL and </a:t>
            </a:r>
            <a:r>
              <a:rPr lang="en-US" sz="2000" dirty="0" err="1" smtClean="0"/>
              <a:t>Fintso</a:t>
            </a:r>
            <a:r>
              <a:rPr lang="en-US" sz="2000" dirty="0" smtClean="0"/>
              <a:t> have similar firm profile</a:t>
            </a:r>
          </a:p>
          <a:p>
            <a:pPr lvl="1"/>
            <a:r>
              <a:rPr lang="en-US" sz="2000" dirty="0" smtClean="0"/>
              <a:t>IIFL is a listed company whereas, </a:t>
            </a:r>
            <a:r>
              <a:rPr lang="en-US" sz="2000" dirty="0" err="1" smtClean="0"/>
              <a:t>Fintso</a:t>
            </a:r>
            <a:r>
              <a:rPr lang="en-US" sz="2000" dirty="0" smtClean="0"/>
              <a:t> is unlisted and is being valued by PE investors for further funding round; here are the other information: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780221"/>
              </p:ext>
            </p:extLst>
          </p:nvPr>
        </p:nvGraphicFramePr>
        <p:xfrm>
          <a:off x="76200" y="3017520"/>
          <a:ext cx="8991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74557289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54152549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843728873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593252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IIFL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Fintso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Values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13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Earnings per share (EPS)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EPS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Price</a:t>
                      </a:r>
                      <a:r>
                        <a:rPr lang="en-US" baseline="0" dirty="0" smtClean="0"/>
                        <a:t> per share (PPS)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81.20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15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Price</a:t>
                      </a:r>
                      <a:r>
                        <a:rPr lang="en-US" baseline="0" dirty="0" smtClean="0"/>
                        <a:t> Earnings ratio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(81.20 / 3.72)</a:t>
                      </a:r>
                      <a:r>
                        <a:rPr lang="en-US" baseline="0" dirty="0" smtClean="0"/>
                        <a:t> = 21.83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Price</a:t>
                      </a:r>
                      <a:r>
                        <a:rPr lang="en-US" baseline="0" dirty="0" smtClean="0"/>
                        <a:t> Earnings Ratio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21.83 (Same</a:t>
                      </a:r>
                      <a:r>
                        <a:rPr lang="en-US" baseline="0" dirty="0" smtClean="0"/>
                        <a:t> as comparable co.)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999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PPS (Calculated)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(x/5) = 21.83</a:t>
                      </a:r>
                    </a:p>
                    <a:p>
                      <a:r>
                        <a:rPr lang="en-US" dirty="0" smtClean="0"/>
                        <a:t>So, x = 109.14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74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methods – </a:t>
            </a:r>
            <a:r>
              <a:rPr lang="en-US" dirty="0" err="1"/>
              <a:t>Comparables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Other similar multiples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95921"/>
              </p:ext>
            </p:extLst>
          </p:nvPr>
        </p:nvGraphicFramePr>
        <p:xfrm>
          <a:off x="516194" y="1752600"/>
          <a:ext cx="8094406" cy="31242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47203">
                  <a:extLst>
                    <a:ext uri="{9D8B030D-6E8A-4147-A177-3AD203B41FA5}">
                      <a16:colId xmlns:a16="http://schemas.microsoft.com/office/drawing/2014/main" val="2757663034"/>
                    </a:ext>
                  </a:extLst>
                </a:gridCol>
                <a:gridCol w="4047203">
                  <a:extLst>
                    <a:ext uri="{9D8B030D-6E8A-4147-A177-3AD203B41FA5}">
                      <a16:colId xmlns:a16="http://schemas.microsoft.com/office/drawing/2014/main" val="2601270037"/>
                    </a:ext>
                  </a:extLst>
                </a:gridCol>
              </a:tblGrid>
              <a:tr h="449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2" indent="0" algn="ctr"/>
                      <a:r>
                        <a:rPr lang="en-US" dirty="0" smtClean="0"/>
                        <a:t>Sub-groups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432294"/>
                  </a:ext>
                </a:extLst>
              </a:tr>
              <a:tr h="1114317">
                <a:tc>
                  <a:txBody>
                    <a:bodyPr/>
                    <a:lstStyle/>
                    <a:p>
                      <a:r>
                        <a:rPr lang="en-US" dirty="0" smtClean="0"/>
                        <a:t>Earnings multiples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2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Price-to-earnings</a:t>
                      </a:r>
                    </a:p>
                    <a:p>
                      <a:pPr marL="285750" lvl="2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Price-to-EBIT</a:t>
                      </a:r>
                    </a:p>
                    <a:p>
                      <a:pPr marL="285750" lvl="2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Price-to-EBITDA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670116"/>
                  </a:ext>
                </a:extLst>
              </a:tr>
              <a:tr h="780022">
                <a:tc>
                  <a:txBody>
                    <a:bodyPr/>
                    <a:lstStyle/>
                    <a:p>
                      <a:r>
                        <a:rPr lang="en-US" dirty="0" smtClean="0"/>
                        <a:t>Book value or replacement value multiples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2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Price-to-book value</a:t>
                      </a:r>
                    </a:p>
                    <a:p>
                      <a:pPr marL="285750" lvl="2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Tobin’s Q (MV / Asset value)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04115"/>
                  </a:ext>
                </a:extLst>
              </a:tr>
              <a:tr h="780022">
                <a:tc>
                  <a:txBody>
                    <a:bodyPr/>
                    <a:lstStyle/>
                    <a:p>
                      <a:r>
                        <a:rPr lang="en-US" dirty="0" smtClean="0"/>
                        <a:t>Revenue multiples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2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Price-to-sales</a:t>
                      </a:r>
                    </a:p>
                    <a:p>
                      <a:pPr marL="285750" lvl="2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Value / sales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2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22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methods – Discounted cash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Based on the concept of time value</a:t>
                </a:r>
              </a:p>
              <a:p>
                <a:r>
                  <a:rPr lang="en-US" dirty="0" smtClean="0"/>
                  <a:t>It involves estimation of future cash flows and convert it into the present value</a:t>
                </a:r>
              </a:p>
              <a:p>
                <a:r>
                  <a:rPr lang="en-US" dirty="0" smtClean="0"/>
                  <a:t>It needs the following information:</a:t>
                </a:r>
              </a:p>
              <a:p>
                <a:pPr lvl="1"/>
                <a:r>
                  <a:rPr lang="en-US" dirty="0" smtClean="0"/>
                  <a:t>Estimation of cash flow… using current and forecasted financial statements</a:t>
                </a:r>
              </a:p>
              <a:p>
                <a:pPr lvl="1"/>
                <a:r>
                  <a:rPr lang="en-US" dirty="0" smtClean="0"/>
                  <a:t>Estimation of cost of capital… using market based rates of return on debt and equity </a:t>
                </a:r>
              </a:p>
              <a:p>
                <a:pPr lvl="1"/>
                <a:r>
                  <a:rPr lang="en-US" dirty="0" smtClean="0"/>
                  <a:t>Estimation of growth rate(s)…based on business plan and strategy</a:t>
                </a:r>
              </a:p>
              <a:p>
                <a:pPr lvl="1"/>
                <a:r>
                  <a:rPr lang="en-US" dirty="0" smtClean="0"/>
                  <a:t>Calculating terminal value … the value for stable period</a:t>
                </a:r>
              </a:p>
              <a:p>
                <a:r>
                  <a:rPr lang="en-US" i="1" dirty="0" smtClean="0">
                    <a:latin typeface="Cambria Math" panose="02040503050406030204" pitchFamily="18" charset="0"/>
                  </a:rPr>
                  <a:t>The Formula:</a:t>
                </a: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𝑪𝑭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𝒈𝒉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b="1" i="1" baseline="-2500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b="1" i="1" baseline="3000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𝑪𝑭𝒏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𝒈𝒏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5" t="-2365" r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82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VC&amp;PE specific valuation needs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Entry of later round investors and the anti-dilution issues</a:t>
            </a:r>
          </a:p>
          <a:p>
            <a:pPr lvl="1"/>
            <a:r>
              <a:rPr lang="en-US" dirty="0"/>
              <a:t>Start-ups require more funds during evolution stages, which an existing VC&amp;PE couldn’t match up for various reasons</a:t>
            </a:r>
          </a:p>
          <a:p>
            <a:pPr lvl="1"/>
            <a:r>
              <a:rPr lang="en-US" dirty="0"/>
              <a:t>Anti-dilution issues arise during, </a:t>
            </a:r>
          </a:p>
          <a:p>
            <a:pPr lvl="2"/>
            <a:r>
              <a:rPr lang="en-US" dirty="0"/>
              <a:t>... down-rounds, in which the value of their original investment will be reduced</a:t>
            </a:r>
          </a:p>
          <a:p>
            <a:pPr lvl="2"/>
            <a:r>
              <a:rPr lang="en-US" dirty="0"/>
              <a:t>... up-rounds, when their actual stake is expected to come down</a:t>
            </a:r>
          </a:p>
          <a:p>
            <a:r>
              <a:rPr lang="en-US" dirty="0" smtClean="0"/>
              <a:t>Intended Exit requirement of VC&amp;PEs</a:t>
            </a:r>
          </a:p>
          <a:p>
            <a:pPr lvl="1"/>
            <a:r>
              <a:rPr lang="en-US" dirty="0" smtClean="0"/>
              <a:t>VC&amp;PEs are financial investors with a limited-life fund; they’ll have to exit after a specific time period</a:t>
            </a:r>
          </a:p>
          <a:p>
            <a:pPr lvl="2"/>
            <a:r>
              <a:rPr lang="en-US" dirty="0" smtClean="0"/>
              <a:t>Investment returns for VC&amp;PEs are generally estimated in advance, considering this ‘exit’ time </a:t>
            </a:r>
            <a:r>
              <a:rPr lang="en-US" dirty="0" smtClean="0"/>
              <a:t>period</a:t>
            </a:r>
          </a:p>
          <a:p>
            <a:r>
              <a:rPr lang="en-US" dirty="0"/>
              <a:t>Illiquidity and exit before IPO </a:t>
            </a:r>
          </a:p>
          <a:p>
            <a:pPr lvl="1"/>
            <a:r>
              <a:rPr lang="en-US" dirty="0"/>
              <a:t>IRR concerns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29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venture capital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process</a:t>
            </a:r>
          </a:p>
          <a:p>
            <a:pPr lvl="1"/>
            <a:r>
              <a:rPr lang="en-US" dirty="0" smtClean="0"/>
              <a:t>Calculate terminal value (starting from the expected positive cash flow year) using comparable / NPV / APV method</a:t>
            </a:r>
          </a:p>
          <a:p>
            <a:pPr lvl="1"/>
            <a:r>
              <a:rPr lang="en-US" dirty="0" smtClean="0"/>
              <a:t>Use target capital structure as discount rate</a:t>
            </a:r>
          </a:p>
          <a:p>
            <a:pPr lvl="1"/>
            <a:r>
              <a:rPr lang="en-US" dirty="0" smtClean="0"/>
              <a:t>Convert terminal value into present value using an arbitrary high discount rate</a:t>
            </a:r>
          </a:p>
          <a:p>
            <a:r>
              <a:rPr lang="en-US" dirty="0" smtClean="0"/>
              <a:t>Applicable for firms with </a:t>
            </a:r>
          </a:p>
          <a:p>
            <a:pPr lvl="1"/>
            <a:r>
              <a:rPr lang="en-US" dirty="0" smtClean="0"/>
              <a:t>Negative initial cash flows and </a:t>
            </a:r>
          </a:p>
          <a:p>
            <a:pPr lvl="1"/>
            <a:r>
              <a:rPr lang="en-US" dirty="0" smtClean="0"/>
              <a:t>The potential value will be generated after few years</a:t>
            </a:r>
          </a:p>
          <a:p>
            <a:pPr lvl="1"/>
            <a:r>
              <a:rPr lang="en-US" dirty="0" smtClean="0"/>
              <a:t>Useful for VC&amp;PE firms to estimate their initial stake acquisition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18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simple VC&amp;PE valuation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Pre-Money Post-Money conundrum in the context of VC&amp;PE investment </a:t>
            </a:r>
          </a:p>
          <a:p>
            <a:pPr lvl="1" algn="just"/>
            <a:r>
              <a:rPr lang="en-US" dirty="0"/>
              <a:t>‘Implied’ value of the business Based on the ‘expected / target return’ of the VC investor at the time of exit, say after 5 years</a:t>
            </a:r>
          </a:p>
          <a:p>
            <a:pPr lvl="1" algn="just"/>
            <a:r>
              <a:rPr lang="en-US" dirty="0"/>
              <a:t>For example,</a:t>
            </a:r>
          </a:p>
          <a:p>
            <a:pPr lvl="2" algn="just"/>
            <a:r>
              <a:rPr lang="en-US" dirty="0"/>
              <a:t>If the expected sales multiple after 5 years is 5 and the forecasted sales is Rs.30 lakhs, then the implied value @ year 5 is Rs.150 lakhs</a:t>
            </a:r>
          </a:p>
          <a:p>
            <a:pPr lvl="2" algn="just"/>
            <a:r>
              <a:rPr lang="en-US" dirty="0"/>
              <a:t>If VC want to invest Rs.4 lakhs today and expects 50% return in 5 years, her expected value is Rs.30 lakhs (4x1.5</a:t>
            </a:r>
            <a:r>
              <a:rPr lang="en-US" baseline="30000" dirty="0"/>
              <a:t>5</a:t>
            </a:r>
            <a:r>
              <a:rPr lang="en-US" dirty="0"/>
              <a:t>) approx.</a:t>
            </a:r>
          </a:p>
          <a:p>
            <a:pPr lvl="2" algn="just"/>
            <a:r>
              <a:rPr lang="en-US" dirty="0"/>
              <a:t>Hence VC will have to acquire (30/150) 20% stake </a:t>
            </a:r>
          </a:p>
          <a:p>
            <a:pPr lvl="2" algn="just"/>
            <a:r>
              <a:rPr lang="en-US" dirty="0"/>
              <a:t>In this case, </a:t>
            </a:r>
          </a:p>
          <a:p>
            <a:pPr lvl="3" algn="just"/>
            <a:r>
              <a:rPr lang="en-US" dirty="0"/>
              <a:t>Post-money value is Rs.20 lakhs ((4/20)*100)</a:t>
            </a:r>
          </a:p>
          <a:p>
            <a:pPr lvl="3" algn="just"/>
            <a:r>
              <a:rPr lang="en-US" dirty="0"/>
              <a:t>Pre-money value is Rs.16 lakhs (20-4).</a:t>
            </a:r>
          </a:p>
        </p:txBody>
      </p:sp>
    </p:spTree>
    <p:extLst>
      <p:ext uri="{BB962C8B-B14F-4D97-AF65-F5344CB8AC3E}">
        <p14:creationId xmlns:p14="http://schemas.microsoft.com/office/powerpoint/2010/main" val="265677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6723</TotalTime>
  <Words>1161</Words>
  <Application>Microsoft Office PowerPoint</Application>
  <PresentationFormat>On-screen Show (4:3)</PresentationFormat>
  <Paragraphs>227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Tw Cen MT</vt:lpstr>
      <vt:lpstr>Office Theme</vt:lpstr>
      <vt:lpstr>Venture capital contracts</vt:lpstr>
      <vt:lpstr>Balance sheet structure</vt:lpstr>
      <vt:lpstr>Income statement structure</vt:lpstr>
      <vt:lpstr>Concepts of value</vt:lpstr>
      <vt:lpstr>Concepts of value</vt:lpstr>
      <vt:lpstr>Valuation methods – Comparables</vt:lpstr>
      <vt:lpstr>Valuation methods – Comparables</vt:lpstr>
      <vt:lpstr>Valuation methods – Comparables</vt:lpstr>
      <vt:lpstr>Valuation methods – Discounted cash flow</vt:lpstr>
      <vt:lpstr>VC&amp;PE specific valuation needs</vt:lpstr>
      <vt:lpstr>The venture capital method</vt:lpstr>
      <vt:lpstr>A simple VC&amp;PE valuation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 Ragupathy</dc:creator>
  <cp:lastModifiedBy>MB Ragupathy</cp:lastModifiedBy>
  <cp:revision>653</cp:revision>
  <dcterms:created xsi:type="dcterms:W3CDTF">2015-12-18T15:11:17Z</dcterms:created>
  <dcterms:modified xsi:type="dcterms:W3CDTF">2020-03-30T15:52:41Z</dcterms:modified>
</cp:coreProperties>
</file>