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9" r:id="rId4"/>
    <p:sldId id="260" r:id="rId5"/>
    <p:sldId id="261" r:id="rId6"/>
    <p:sldId id="274" r:id="rId7"/>
    <p:sldId id="275" r:id="rId8"/>
    <p:sldId id="265" r:id="rId9"/>
    <p:sldId id="267" r:id="rId10"/>
    <p:sldId id="272" r:id="rId11"/>
    <p:sldId id="27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61" autoAdjust="0"/>
    <p:restoredTop sz="94660"/>
  </p:normalViewPr>
  <p:slideViewPr>
    <p:cSldViewPr snapToGrid="0">
      <p:cViewPr varScale="1">
        <p:scale>
          <a:sx n="74" d="100"/>
          <a:sy n="74" d="100"/>
        </p:scale>
        <p:origin x="5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0DCE54-3E3B-49D5-9875-8EC6C02E7C26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3304DC-A4AC-4FCF-A17E-902E91F60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572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40B3A6E-10FA-49EB-8DF3-550042384000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338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8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9410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13" name="Rounded Rectangle 12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10/30/2019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3909" y="1449304"/>
            <a:ext cx="12028716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909" y="1396720"/>
            <a:ext cx="12028716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3909" y="2976649"/>
            <a:ext cx="12028716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057364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10/30/2019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703997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10" name="Rounded Rectangle 9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10/30/2019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66800" y="6172200"/>
            <a:ext cx="5334000" cy="457200"/>
          </a:xfrm>
        </p:spPr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 flipV="1">
            <a:off x="92550" y="2376830"/>
            <a:ext cx="120180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2195" y="2341476"/>
            <a:ext cx="12018375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075" y="2468880"/>
            <a:ext cx="12019495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7207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10/30/2019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468910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10/30/2019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992202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10/30/2019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295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10/30/2019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40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9" name="Rounded Rectangle 8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10/30/2019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274829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10/30/2019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19200" y="6172200"/>
            <a:ext cx="5181600" cy="457200"/>
          </a:xfrm>
        </p:spPr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91076" y="4683555"/>
            <a:ext cx="120091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345" y="4650475"/>
            <a:ext cx="12008852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348" y="4773225"/>
            <a:ext cx="12008849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8477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10/30/2019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712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10/30/2019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4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8" name="Rounded Rectangle 7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10/30/2019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95072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467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Session </a:t>
            </a:r>
            <a:r>
              <a:rPr lang="en-US" sz="3200" dirty="0" smtClean="0"/>
              <a:t>9</a:t>
            </a:r>
            <a:endParaRPr lang="en-US" sz="3200" dirty="0" smtClean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CCC831 2019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578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884461"/>
          </a:xfrm>
        </p:spPr>
        <p:txBody>
          <a:bodyPr/>
          <a:lstStyle/>
          <a:p>
            <a:r>
              <a:rPr lang="en-US" dirty="0" smtClean="0"/>
              <a:t>Nonlinear Programming (NLP)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219200" y="1159099"/>
            <a:ext cx="10363200" cy="5370489"/>
          </a:xfrm>
        </p:spPr>
        <p:txBody>
          <a:bodyPr>
            <a:normAutofit/>
          </a:bodyPr>
          <a:lstStyle/>
          <a:p>
            <a:r>
              <a:rPr lang="en-US" dirty="0" smtClean="0"/>
              <a:t>NLP problems take the general form of LP problems, except the objective function and/or the constraint contain non-linear terms.</a:t>
            </a:r>
          </a:p>
          <a:p>
            <a:r>
              <a:rPr lang="en-US" dirty="0" smtClean="0"/>
              <a:t>It is generally very difficult to find an exact solution to NLP problems. The various algorithms generally reach an approximate solution within a certain acceptable error of the optimum.</a:t>
            </a:r>
          </a:p>
          <a:p>
            <a:r>
              <a:rPr lang="en-US" dirty="0" smtClean="0"/>
              <a:t>Some NLP problems, there is no reliable way to find the global maxima, existing algorithms often stop after reaching a local maxima.</a:t>
            </a:r>
          </a:p>
          <a:p>
            <a:r>
              <a:rPr lang="en-US" dirty="0" smtClean="0"/>
              <a:t>Real-life applications include – (a) Product-mix problems with price elasticity (b) Transportation problem with volume discounts (c) Minimizing risk with risky securities.</a:t>
            </a:r>
          </a:p>
          <a:p>
            <a:r>
              <a:rPr lang="en-US" dirty="0" smtClean="0"/>
              <a:t>Whether the objective function f(x) or the constraints </a:t>
            </a:r>
            <a:r>
              <a:rPr lang="en-US" b="1" dirty="0" smtClean="0"/>
              <a:t>g</a:t>
            </a:r>
            <a:r>
              <a:rPr lang="en-US" dirty="0" smtClean="0"/>
              <a:t>(x) are nonlinear, and how, leads to different types of NLP problems, each with different solving methods.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460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685800"/>
          </a:xfrm>
        </p:spPr>
        <p:txBody>
          <a:bodyPr>
            <a:normAutofit/>
          </a:bodyPr>
          <a:lstStyle/>
          <a:p>
            <a:r>
              <a:rPr lang="en-US" altLang="en-US" sz="3600" dirty="0">
                <a:solidFill>
                  <a:schemeClr val="tx1">
                    <a:lumMod val="50000"/>
                    <a:lumOff val="50000"/>
                  </a:schemeClr>
                </a:solidFill>
                <a:ea typeface="ＭＳ Ｐゴシック" panose="020B0600070205080204" pitchFamily="34" charset="-128"/>
              </a:rPr>
              <a:t>Graphical illustration of nonlinear programs</a:t>
            </a:r>
          </a:p>
        </p:txBody>
      </p:sp>
      <p:pic>
        <p:nvPicPr>
          <p:cNvPr id="6147" name="Content Placeholder 3" descr="graph1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405" r="-19405"/>
          <a:stretch>
            <a:fillRect/>
          </a:stretch>
        </p:blipFill>
        <p:spPr>
          <a:xfrm>
            <a:off x="1600200" y="1066800"/>
            <a:ext cx="9067800" cy="4800600"/>
          </a:xfrm>
        </p:spPr>
      </p:pic>
      <p:sp>
        <p:nvSpPr>
          <p:cNvPr id="6148" name="Title 1"/>
          <p:cNvSpPr txBox="1">
            <a:spLocks/>
          </p:cNvSpPr>
          <p:nvPr/>
        </p:nvSpPr>
        <p:spPr bwMode="auto">
          <a:xfrm>
            <a:off x="1752600" y="5943600"/>
            <a:ext cx="8915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chemeClr val="tx2"/>
                </a:solidFill>
              </a:rPr>
              <a:t>An example with nonlinear constraints when the optimal solution is </a:t>
            </a:r>
            <a:r>
              <a:rPr lang="en-US" altLang="en-US" sz="2800" b="1">
                <a:solidFill>
                  <a:schemeClr val="tx2"/>
                </a:solidFill>
              </a:rPr>
              <a:t>not</a:t>
            </a:r>
            <a:r>
              <a:rPr lang="en-US" altLang="en-US" sz="2800">
                <a:solidFill>
                  <a:schemeClr val="tx2"/>
                </a:solidFill>
              </a:rPr>
              <a:t> a corner point feasible solution.</a:t>
            </a:r>
          </a:p>
        </p:txBody>
      </p:sp>
    </p:spTree>
    <p:extLst>
      <p:ext uri="{BB962C8B-B14F-4D97-AF65-F5344CB8AC3E}">
        <p14:creationId xmlns:p14="http://schemas.microsoft.com/office/powerpoint/2010/main" val="1080230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Content Placeholder 3" descr="graph1a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226" r="-8226"/>
          <a:stretch>
            <a:fillRect/>
          </a:stretch>
        </p:blipFill>
        <p:spPr>
          <a:xfrm>
            <a:off x="1752601" y="838200"/>
            <a:ext cx="8780463" cy="4648200"/>
          </a:xfrm>
        </p:spPr>
      </p:pic>
      <p:sp>
        <p:nvSpPr>
          <p:cNvPr id="7171" name="Title 1"/>
          <p:cNvSpPr txBox="1">
            <a:spLocks/>
          </p:cNvSpPr>
          <p:nvPr/>
        </p:nvSpPr>
        <p:spPr bwMode="auto">
          <a:xfrm>
            <a:off x="1524000" y="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Graphical illustration of nonlinear programs</a:t>
            </a:r>
          </a:p>
        </p:txBody>
      </p:sp>
      <p:sp>
        <p:nvSpPr>
          <p:cNvPr id="7172" name="Title 1"/>
          <p:cNvSpPr txBox="1">
            <a:spLocks/>
          </p:cNvSpPr>
          <p:nvPr/>
        </p:nvSpPr>
        <p:spPr bwMode="auto">
          <a:xfrm>
            <a:off x="1752600" y="5715000"/>
            <a:ext cx="8915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chemeClr val="tx2"/>
                </a:solidFill>
              </a:rPr>
              <a:t>An example with linear constraints but nonlinear objective function when the optimal solution is </a:t>
            </a:r>
            <a:r>
              <a:rPr lang="en-US" altLang="en-US" sz="2800" b="1">
                <a:solidFill>
                  <a:schemeClr val="tx2"/>
                </a:solidFill>
              </a:rPr>
              <a:t>not</a:t>
            </a:r>
            <a:r>
              <a:rPr lang="en-US" altLang="en-US" sz="2800">
                <a:solidFill>
                  <a:schemeClr val="tx2"/>
                </a:solidFill>
              </a:rPr>
              <a:t> a corner point feasible solution.</a:t>
            </a:r>
          </a:p>
        </p:txBody>
      </p:sp>
    </p:spTree>
    <p:extLst>
      <p:ext uri="{BB962C8B-B14F-4D97-AF65-F5344CB8AC3E}">
        <p14:creationId xmlns:p14="http://schemas.microsoft.com/office/powerpoint/2010/main" val="2064612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Content Placeholder 3" descr="graph4.jpg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76" r="-32776"/>
          <a:stretch>
            <a:fillRect/>
          </a:stretch>
        </p:blipFill>
        <p:spPr>
          <a:xfrm>
            <a:off x="1524001" y="685800"/>
            <a:ext cx="9212263" cy="4876800"/>
          </a:xfrm>
        </p:spPr>
      </p:pic>
      <p:sp>
        <p:nvSpPr>
          <p:cNvPr id="9219" name="Title 1"/>
          <p:cNvSpPr txBox="1">
            <a:spLocks/>
          </p:cNvSpPr>
          <p:nvPr/>
        </p:nvSpPr>
        <p:spPr bwMode="auto">
          <a:xfrm>
            <a:off x="1524000" y="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Graphical illustration of nonlinear programs</a:t>
            </a:r>
          </a:p>
        </p:txBody>
      </p:sp>
      <p:sp>
        <p:nvSpPr>
          <p:cNvPr id="9220" name="Title 1"/>
          <p:cNvSpPr txBox="1">
            <a:spLocks/>
          </p:cNvSpPr>
          <p:nvPr/>
        </p:nvSpPr>
        <p:spPr bwMode="auto">
          <a:xfrm>
            <a:off x="1752600" y="5791200"/>
            <a:ext cx="8915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chemeClr val="tx2"/>
                </a:solidFill>
              </a:rPr>
              <a:t>An example when a local maximum is </a:t>
            </a:r>
            <a:r>
              <a:rPr lang="en-US" altLang="en-US" sz="2800" b="1">
                <a:solidFill>
                  <a:schemeClr val="tx2"/>
                </a:solidFill>
              </a:rPr>
              <a:t>not</a:t>
            </a:r>
            <a:r>
              <a:rPr lang="en-US" altLang="en-US" sz="2800">
                <a:solidFill>
                  <a:schemeClr val="tx2"/>
                </a:solidFill>
              </a:rPr>
              <a:t> a global maximum (the feasible region is </a:t>
            </a:r>
            <a:r>
              <a:rPr lang="en-US" altLang="en-US" sz="2800" b="1">
                <a:solidFill>
                  <a:schemeClr val="tx2"/>
                </a:solidFill>
              </a:rPr>
              <a:t>not</a:t>
            </a:r>
            <a:r>
              <a:rPr lang="en-US" altLang="en-US" sz="2800">
                <a:solidFill>
                  <a:schemeClr val="tx2"/>
                </a:solidFill>
              </a:rPr>
              <a:t> a convex set).</a:t>
            </a:r>
          </a:p>
        </p:txBody>
      </p:sp>
    </p:spTree>
    <p:extLst>
      <p:ext uri="{BB962C8B-B14F-4D97-AF65-F5344CB8AC3E}">
        <p14:creationId xmlns:p14="http://schemas.microsoft.com/office/powerpoint/2010/main" val="717454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799" y="228600"/>
            <a:ext cx="8428149" cy="814589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ea typeface="ＭＳ Ｐゴシック" panose="020B0600070205080204" pitchFamily="34" charset="-128"/>
              </a:rPr>
              <a:t>Types of </a:t>
            </a:r>
            <a:r>
              <a:rPr lang="en-US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ＭＳ Ｐゴシック" panose="020B0600070205080204" pitchFamily="34" charset="-128"/>
              </a:rPr>
              <a:t>NLP  </a:t>
            </a: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ea typeface="ＭＳ Ｐゴシック" panose="020B0600070205080204" pitchFamily="34" charset="-128"/>
              </a:rPr>
              <a:t>problems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799" y="1146220"/>
            <a:ext cx="8680361" cy="548318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b="1" dirty="0" smtClean="0">
                <a:ea typeface="ＭＳ Ｐゴシック" panose="020B0600070205080204" pitchFamily="34" charset="-128"/>
              </a:rPr>
              <a:t>Unconstrained optimization: </a:t>
            </a:r>
            <a:r>
              <a:rPr lang="en-US" altLang="en-US" i="1" dirty="0" smtClean="0">
                <a:solidFill>
                  <a:schemeClr val="accent2"/>
                </a:solidFill>
                <a:ea typeface="ＭＳ Ｐゴシック" panose="020B0600070205080204" pitchFamily="34" charset="-128"/>
              </a:rPr>
              <a:t>	</a:t>
            </a:r>
            <a:r>
              <a:rPr lang="en-US" altLang="en-US" i="1" dirty="0" smtClean="0">
                <a:ea typeface="ＭＳ Ｐゴシック" panose="020B0600070205080204" pitchFamily="34" charset="-128"/>
              </a:rPr>
              <a:t>min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or </a:t>
            </a:r>
            <a:r>
              <a:rPr lang="en-US" altLang="en-US" i="1" dirty="0" smtClean="0">
                <a:ea typeface="ＭＳ Ｐゴシック" panose="020B0600070205080204" pitchFamily="34" charset="-128"/>
              </a:rPr>
              <a:t>max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f(x</a:t>
            </a:r>
            <a:r>
              <a:rPr lang="en-US" altLang="en-US" baseline="-25000" dirty="0" smtClean="0">
                <a:ea typeface="ＭＳ Ｐゴシック" panose="020B0600070205080204" pitchFamily="34" charset="-128"/>
              </a:rPr>
              <a:t>1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,…,</a:t>
            </a:r>
            <a:r>
              <a:rPr lang="en-US" altLang="en-US" dirty="0" err="1" smtClean="0">
                <a:ea typeface="ＭＳ Ｐゴシック" panose="020B0600070205080204" pitchFamily="34" charset="-128"/>
              </a:rPr>
              <a:t>x</a:t>
            </a:r>
            <a:r>
              <a:rPr lang="en-US" altLang="en-US" baseline="-25000" dirty="0" err="1" smtClean="0">
                <a:ea typeface="ＭＳ Ｐゴシック" panose="020B0600070205080204" pitchFamily="34" charset="-128"/>
              </a:rPr>
              <a:t>n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), n</a:t>
            </a:r>
            <a:r>
              <a:rPr lang="en-US" altLang="en-US" dirty="0" smtClean="0">
                <a:solidFill>
                  <a:srgbClr val="000000"/>
                </a:solidFill>
                <a:ea typeface="ＭＳ Ｐゴシック" panose="020B0600070205080204" pitchFamily="34" charset="-128"/>
              </a:rPr>
              <a:t>o functional constraints.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b="1" dirty="0" smtClean="0">
                <a:ea typeface="ＭＳ Ｐゴシック" panose="020B0600070205080204" pitchFamily="34" charset="-128"/>
              </a:rPr>
              <a:t>Linearly constrained optimization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dirty="0" smtClean="0">
                <a:solidFill>
                  <a:srgbClr val="000000"/>
                </a:solidFill>
                <a:ea typeface="ＭＳ Ｐゴシック" panose="020B0600070205080204" pitchFamily="34" charset="-128"/>
              </a:rPr>
              <a:t>Objective function nonlinear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dirty="0" smtClean="0">
                <a:solidFill>
                  <a:srgbClr val="000000"/>
                </a:solidFill>
                <a:ea typeface="ＭＳ Ｐゴシック" panose="020B0600070205080204" pitchFamily="34" charset="-128"/>
              </a:rPr>
              <a:t>Functional constraints linear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dirty="0" smtClean="0">
                <a:solidFill>
                  <a:srgbClr val="000000"/>
                </a:solidFill>
                <a:ea typeface="ＭＳ Ｐゴシック" panose="020B0600070205080204" pitchFamily="34" charset="-128"/>
              </a:rPr>
              <a:t>Extensions of simplex method can be applied.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b="1" dirty="0" smtClean="0">
                <a:ea typeface="ＭＳ Ｐゴシック" panose="020B0600070205080204" pitchFamily="34" charset="-128"/>
              </a:rPr>
              <a:t>Quadratic programming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dirty="0" smtClean="0">
                <a:solidFill>
                  <a:srgbClr val="000000"/>
                </a:solidFill>
                <a:ea typeface="ＭＳ Ｐゴシック" panose="020B0600070205080204" pitchFamily="34" charset="-128"/>
              </a:rPr>
              <a:t>	Special case of linearly constrained optimization when the objective function is quadratic.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ea typeface="ＭＳ Ｐゴシック" panose="020B0600070205080204" pitchFamily="34" charset="-128"/>
              </a:rPr>
              <a:t>Convex programming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Objective function</a:t>
            </a:r>
            <a:r>
              <a:rPr lang="en-US" altLang="en-US" b="1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b="1" i="1" dirty="0">
                <a:ea typeface="ＭＳ Ｐゴシック" panose="020B0600070205080204" pitchFamily="34" charset="-128"/>
              </a:rPr>
              <a:t>f</a:t>
            </a:r>
            <a:r>
              <a:rPr lang="en-US" altLang="en-US" b="1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is </a:t>
            </a:r>
            <a:r>
              <a:rPr lang="en-US" altLang="en-US" dirty="0" smtClean="0">
                <a:solidFill>
                  <a:srgbClr val="000000"/>
                </a:solidFill>
                <a:ea typeface="ＭＳ Ｐゴシック" panose="020B0600070205080204" pitchFamily="34" charset="-128"/>
              </a:rPr>
              <a:t>concave and each constraint </a:t>
            </a:r>
            <a:r>
              <a:rPr lang="en-US" altLang="en-US" b="1" i="1" dirty="0" err="1" smtClean="0">
                <a:ea typeface="ＭＳ Ｐゴシック" panose="020B0600070205080204" pitchFamily="34" charset="-128"/>
              </a:rPr>
              <a:t>g</a:t>
            </a:r>
            <a:r>
              <a:rPr lang="en-US" altLang="en-US" b="1" i="1" baseline="-25000" dirty="0" err="1" smtClean="0">
                <a:ea typeface="ＭＳ Ｐゴシック" panose="020B0600070205080204" pitchFamily="34" charset="-128"/>
              </a:rPr>
              <a:t>i</a:t>
            </a:r>
            <a:r>
              <a:rPr lang="en-US" altLang="en-US" dirty="0" smtClean="0">
                <a:solidFill>
                  <a:schemeClr val="accent2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is </a:t>
            </a:r>
            <a:r>
              <a:rPr lang="en-US" altLang="en-US" dirty="0" smtClean="0">
                <a:solidFill>
                  <a:srgbClr val="000000"/>
                </a:solidFill>
                <a:ea typeface="ＭＳ Ｐゴシック" panose="020B0600070205080204" pitchFamily="34" charset="-128"/>
              </a:rPr>
              <a:t>convex</a:t>
            </a:r>
            <a:endParaRPr lang="en-US" altLang="en-US" dirty="0">
              <a:solidFill>
                <a:srgbClr val="000000"/>
              </a:solidFill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  <a:buFontTx/>
              <a:buChar char="-"/>
            </a:pPr>
            <a:r>
              <a:rPr lang="en-US" altLang="en-US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Covers a broad class of problems.</a:t>
            </a:r>
          </a:p>
          <a:p>
            <a:pPr lvl="1">
              <a:lnSpc>
                <a:spcPct val="90000"/>
              </a:lnSpc>
              <a:buFontTx/>
              <a:buChar char="-"/>
            </a:pPr>
            <a:r>
              <a:rPr lang="en-US" altLang="en-US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A local maximum is a global maximum</a:t>
            </a:r>
            <a:endParaRPr lang="en-US" altLang="en-US" dirty="0" smtClean="0">
              <a:solidFill>
                <a:srgbClr val="000000"/>
              </a:solidFill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dirty="0" smtClean="0">
              <a:solidFill>
                <a:srgbClr val="000000"/>
              </a:solidFill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en-US" dirty="0" smtClean="0">
              <a:solidFill>
                <a:srgbClr val="000000"/>
              </a:solidFill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37651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0614" y="218941"/>
            <a:ext cx="9942490" cy="6410459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b="1" dirty="0" smtClean="0">
                <a:ea typeface="ＭＳ Ｐゴシック" panose="020B0600070205080204" pitchFamily="34" charset="-128"/>
              </a:rPr>
              <a:t>Separable programming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dirty="0" smtClean="0">
                <a:solidFill>
                  <a:srgbClr val="000000"/>
                </a:solidFill>
                <a:ea typeface="ＭＳ Ｐゴシック" panose="020B0600070205080204" pitchFamily="34" charset="-128"/>
              </a:rPr>
              <a:t>A special case of convex programming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when </a:t>
            </a:r>
            <a:r>
              <a:rPr lang="en-US" altLang="en-US" b="1" i="1" dirty="0" smtClean="0">
                <a:ea typeface="ＭＳ Ｐゴシック" panose="020B0600070205080204" pitchFamily="34" charset="-128"/>
              </a:rPr>
              <a:t>f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and </a:t>
            </a:r>
            <a:r>
              <a:rPr lang="en-US" altLang="en-US" b="1" i="1" dirty="0" err="1" smtClean="0">
                <a:ea typeface="ＭＳ Ｐゴシック" panose="020B0600070205080204" pitchFamily="34" charset="-128"/>
              </a:rPr>
              <a:t>g</a:t>
            </a:r>
            <a:r>
              <a:rPr lang="en-US" altLang="en-US" b="1" i="1" baseline="-25000" dirty="0" err="1" smtClean="0">
                <a:ea typeface="ＭＳ Ｐゴシック" panose="020B0600070205080204" pitchFamily="34" charset="-128"/>
              </a:rPr>
              <a:t>i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are separable </a:t>
            </a:r>
            <a:r>
              <a:rPr lang="en-US" altLang="en-US" dirty="0" smtClean="0">
                <a:solidFill>
                  <a:srgbClr val="000000"/>
                </a:solidFill>
                <a:ea typeface="ＭＳ Ｐゴシック" panose="020B0600070205080204" pitchFamily="34" charset="-128"/>
              </a:rPr>
              <a:t>functions. In a separable function each term involves just a single variable.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dirty="0" smtClean="0">
                <a:solidFill>
                  <a:srgbClr val="000000"/>
                </a:solidFill>
                <a:ea typeface="ＭＳ Ｐゴシック" panose="020B0600070205080204" pitchFamily="34" charset="-128"/>
              </a:rPr>
              <a:t>E.g., </a:t>
            </a:r>
            <a:r>
              <a:rPr lang="en-US" altLang="en-US" b="1" i="1" dirty="0" smtClean="0">
                <a:ea typeface="ＭＳ Ｐゴシック" panose="020B0600070205080204" pitchFamily="34" charset="-128"/>
              </a:rPr>
              <a:t>f(x</a:t>
            </a:r>
            <a:r>
              <a:rPr lang="en-US" altLang="en-US" b="1" i="1" baseline="-25000" dirty="0" smtClean="0">
                <a:ea typeface="ＭＳ Ｐゴシック" panose="020B0600070205080204" pitchFamily="34" charset="-128"/>
              </a:rPr>
              <a:t>1</a:t>
            </a:r>
            <a:r>
              <a:rPr lang="en-US" altLang="en-US" b="1" i="1" dirty="0" smtClean="0">
                <a:ea typeface="ＭＳ Ｐゴシック" panose="020B0600070205080204" pitchFamily="34" charset="-128"/>
              </a:rPr>
              <a:t>, x</a:t>
            </a:r>
            <a:r>
              <a:rPr lang="en-US" altLang="en-US" b="1" i="1" baseline="-25000" dirty="0" smtClean="0">
                <a:ea typeface="ＭＳ Ｐゴシック" panose="020B0600070205080204" pitchFamily="34" charset="-128"/>
              </a:rPr>
              <a:t>2</a:t>
            </a:r>
            <a:r>
              <a:rPr lang="en-US" altLang="en-US" b="1" i="1" dirty="0" smtClean="0">
                <a:ea typeface="ＭＳ Ｐゴシック" panose="020B0600070205080204" pitchFamily="34" charset="-128"/>
              </a:rPr>
              <a:t>) = x</a:t>
            </a:r>
            <a:r>
              <a:rPr lang="en-US" altLang="en-US" b="1" i="1" baseline="-25000" dirty="0" smtClean="0">
                <a:ea typeface="ＭＳ Ｐゴシック" panose="020B0600070205080204" pitchFamily="34" charset="-128"/>
              </a:rPr>
              <a:t>1</a:t>
            </a:r>
            <a:r>
              <a:rPr lang="en-US" altLang="en-US" b="1" i="1" baseline="30000" dirty="0" smtClean="0">
                <a:ea typeface="ＭＳ Ｐゴシック" panose="020B0600070205080204" pitchFamily="34" charset="-128"/>
              </a:rPr>
              <a:t>2 </a:t>
            </a:r>
            <a:r>
              <a:rPr lang="en-US" altLang="en-US" b="1" i="1" dirty="0" smtClean="0">
                <a:ea typeface="ＭＳ Ｐゴシック" panose="020B0600070205080204" pitchFamily="34" charset="-128"/>
              </a:rPr>
              <a:t>+ 2x</a:t>
            </a:r>
            <a:r>
              <a:rPr lang="en-US" altLang="en-US" b="1" i="1" baseline="-25000" dirty="0" smtClean="0">
                <a:ea typeface="ＭＳ Ｐゴシック" panose="020B0600070205080204" pitchFamily="34" charset="-128"/>
              </a:rPr>
              <a:t>1</a:t>
            </a:r>
            <a:r>
              <a:rPr lang="en-US" altLang="en-US" b="1" i="1" dirty="0" smtClean="0">
                <a:ea typeface="ＭＳ Ｐゴシック" panose="020B0600070205080204" pitchFamily="34" charset="-128"/>
              </a:rPr>
              <a:t>- 4x</a:t>
            </a:r>
            <a:r>
              <a:rPr lang="en-US" altLang="en-US" b="1" i="1" baseline="-25000" dirty="0" smtClean="0">
                <a:ea typeface="ＭＳ Ｐゴシック" panose="020B0600070205080204" pitchFamily="34" charset="-128"/>
              </a:rPr>
              <a:t>2</a:t>
            </a:r>
            <a:r>
              <a:rPr lang="en-US" altLang="en-US" b="1" i="1" baseline="30000" dirty="0" smtClean="0">
                <a:ea typeface="ＭＳ Ｐゴシック" panose="020B0600070205080204" pitchFamily="34" charset="-128"/>
              </a:rPr>
              <a:t>2 </a:t>
            </a:r>
            <a:r>
              <a:rPr lang="en-US" altLang="en-US" b="1" i="1" dirty="0" smtClean="0">
                <a:ea typeface="ＭＳ Ｐゴシック" panose="020B0600070205080204" pitchFamily="34" charset="-128"/>
              </a:rPr>
              <a:t>+ 3x</a:t>
            </a:r>
            <a:r>
              <a:rPr lang="en-US" altLang="en-US" b="1" i="1" baseline="-25000" dirty="0" smtClean="0">
                <a:ea typeface="ＭＳ Ｐゴシック" panose="020B0600070205080204" pitchFamily="34" charset="-128"/>
              </a:rPr>
              <a:t>2</a:t>
            </a:r>
            <a:r>
              <a:rPr lang="en-US" altLang="en-US" b="1" i="1" dirty="0" smtClean="0">
                <a:ea typeface="ＭＳ Ｐゴシック" panose="020B0600070205080204" pitchFamily="34" charset="-128"/>
              </a:rPr>
              <a:t>,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dirty="0" smtClean="0">
                <a:ea typeface="ＭＳ Ｐゴシック" panose="020B0600070205080204" pitchFamily="34" charset="-128"/>
              </a:rPr>
              <a:t>Can be closely approximated by a linear programming problem.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 dirty="0" smtClean="0">
              <a:solidFill>
                <a:srgbClr val="000000"/>
              </a:solidFill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b="1" dirty="0" err="1">
                <a:ea typeface="ＭＳ Ｐゴシック" panose="020B0600070205080204" pitchFamily="34" charset="-128"/>
              </a:rPr>
              <a:t>Nonconvex</a:t>
            </a:r>
            <a:r>
              <a:rPr lang="en-US" altLang="en-US" b="1" dirty="0">
                <a:ea typeface="ＭＳ Ｐゴシック" panose="020B0600070205080204" pitchFamily="34" charset="-128"/>
              </a:rPr>
              <a:t> programming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Even if we are successful in finding a local maximum, there is no assurance that it also will be a global maximum.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In some special cases (Geometric programming, Fractional programming), the problem can be reduced to an equivalent convex programming problem</a:t>
            </a:r>
            <a:r>
              <a:rPr lang="en-US" altLang="en-US" dirty="0" smtClean="0">
                <a:solidFill>
                  <a:srgbClr val="000000"/>
                </a:solidFill>
                <a:ea typeface="ＭＳ Ｐゴシック" panose="020B0600070205080204" pitchFamily="34" charset="-128"/>
              </a:rPr>
              <a:t>.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dirty="0" smtClean="0">
                <a:solidFill>
                  <a:srgbClr val="000000"/>
                </a:solidFill>
                <a:ea typeface="ＭＳ Ｐゴシック" panose="020B0600070205080204" pitchFamily="34" charset="-128"/>
              </a:rPr>
              <a:t>In fractional programming, when both numerator and denominator are linear functions, it can be transformed into an LP problem.</a:t>
            </a:r>
          </a:p>
          <a:p>
            <a:pPr marL="320040" lvl="1" indent="0">
              <a:lnSpc>
                <a:spcPct val="90000"/>
              </a:lnSpc>
              <a:buNone/>
            </a:pPr>
            <a:endParaRPr lang="en-US" altLang="en-US" dirty="0">
              <a:solidFill>
                <a:srgbClr val="000000"/>
              </a:solidFill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endParaRPr lang="en-US" altLang="en-US" dirty="0" smtClean="0">
              <a:solidFill>
                <a:srgbClr val="000000"/>
              </a:solidFill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dirty="0" smtClean="0">
              <a:solidFill>
                <a:srgbClr val="000000"/>
              </a:solidFill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en-US" dirty="0" smtClean="0">
              <a:solidFill>
                <a:srgbClr val="000000"/>
              </a:solidFill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90114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Single-variable unconstrained optimization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219200" y="1447800"/>
                <a:ext cx="10363200" cy="4837090"/>
              </a:xfrm>
            </p:spPr>
            <p:txBody>
              <a:bodyPr/>
              <a:lstStyle/>
              <a:p>
                <a:r>
                  <a:rPr lang="en-US" dirty="0" smtClean="0"/>
                  <a:t>Objective is to maximize (or minimize) a non-linear function with a single variable f(x) with no other constraints.</a:t>
                </a:r>
              </a:p>
              <a:p>
                <a:r>
                  <a:rPr lang="en-US" dirty="0" smtClean="0"/>
                  <a:t>If f(x) is sufficiently simple, then we solve the equation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𝑑𝑓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 smtClean="0"/>
                  <a:t>. This method is only usable if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𝑑𝑓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US" dirty="0" smtClean="0"/>
                  <a:t> is a linear or quadratic function, as otherwise it may not be possible to solve the equation.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219200" y="1447800"/>
                <a:ext cx="10363200" cy="4837090"/>
              </a:xfrm>
              <a:blipFill rotWithShape="0">
                <a:blip r:embed="rId2"/>
                <a:stretch>
                  <a:fillRect l="-588" t="-1135" r="-1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6805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263F18-41C6-409E-BAA8-42043A1A9387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297992" name="Line 8"/>
          <p:cNvSpPr>
            <a:spLocks noChangeShapeType="1"/>
          </p:cNvSpPr>
          <p:nvPr/>
        </p:nvSpPr>
        <p:spPr bwMode="auto">
          <a:xfrm>
            <a:off x="1524000" y="877888"/>
            <a:ext cx="91440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7994" name="Rectangle 10"/>
          <p:cNvSpPr>
            <a:spLocks noChangeArrowheads="1"/>
          </p:cNvSpPr>
          <p:nvPr/>
        </p:nvSpPr>
        <p:spPr bwMode="auto">
          <a:xfrm>
            <a:off x="2019299" y="1004889"/>
            <a:ext cx="886334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400" b="1" dirty="0">
                <a:solidFill>
                  <a:schemeClr val="tx2"/>
                </a:solidFill>
                <a:latin typeface="Arial" panose="020B0604020202020204" pitchFamily="34" charset="0"/>
              </a:rPr>
              <a:t>F</a:t>
            </a:r>
            <a:r>
              <a:rPr lang="en-US" altLang="en-US" sz="2400" b="1" dirty="0" smtClean="0">
                <a:solidFill>
                  <a:schemeClr val="tx2"/>
                </a:solidFill>
                <a:latin typeface="Arial" panose="020B0604020202020204" pitchFamily="34" charset="0"/>
              </a:rPr>
              <a:t>ixed </a:t>
            </a:r>
            <a:r>
              <a:rPr lang="en-US" altLang="en-US" sz="2400" b="1" dirty="0">
                <a:solidFill>
                  <a:schemeClr val="tx2"/>
                </a:solidFill>
                <a:latin typeface="Arial" panose="020B0604020202020204" pitchFamily="34" charset="0"/>
              </a:rPr>
              <a:t>cost (</a:t>
            </a:r>
            <a:r>
              <a:rPr lang="en-US" altLang="en-US" sz="2400" b="1" dirty="0" err="1">
                <a:solidFill>
                  <a:schemeClr val="tx2"/>
                </a:solidFill>
                <a:latin typeface="Arial" panose="020B0604020202020204" pitchFamily="34" charset="0"/>
              </a:rPr>
              <a:t>cf</a:t>
            </a:r>
            <a:r>
              <a:rPr lang="en-US" altLang="en-US" sz="2400" b="1" dirty="0">
                <a:solidFill>
                  <a:schemeClr val="tx2"/>
                </a:solidFill>
                <a:latin typeface="Arial" panose="020B0604020202020204" pitchFamily="34" charset="0"/>
              </a:rPr>
              <a:t> = $</a:t>
            </a:r>
            <a:r>
              <a:rPr lang="tr-TR" altLang="en-US" sz="2400" b="1" dirty="0">
                <a:solidFill>
                  <a:schemeClr val="tx2"/>
                </a:solidFill>
                <a:latin typeface="Arial" panose="020B0604020202020204" pitchFamily="34" charset="0"/>
              </a:rPr>
              <a:t>7</a:t>
            </a:r>
            <a:r>
              <a:rPr lang="en-US" altLang="en-US" sz="2400" b="1" dirty="0">
                <a:solidFill>
                  <a:schemeClr val="tx2"/>
                </a:solidFill>
                <a:latin typeface="Arial" panose="020B0604020202020204" pitchFamily="34" charset="0"/>
              </a:rPr>
              <a:t>,</a:t>
            </a:r>
            <a:r>
              <a:rPr lang="tr-TR" altLang="en-US" sz="2400" b="1" dirty="0">
                <a:solidFill>
                  <a:schemeClr val="tx2"/>
                </a:solidFill>
                <a:latin typeface="Arial" panose="020B0604020202020204" pitchFamily="34" charset="0"/>
              </a:rPr>
              <a:t>5</a:t>
            </a:r>
            <a:r>
              <a:rPr lang="en-US" altLang="en-US" sz="2400" b="1" dirty="0">
                <a:solidFill>
                  <a:schemeClr val="tx2"/>
                </a:solidFill>
                <a:latin typeface="Arial" panose="020B0604020202020204" pitchFamily="34" charset="0"/>
              </a:rPr>
              <a:t>00) and variable </a:t>
            </a:r>
            <a:r>
              <a:rPr lang="en-US" altLang="en-US" sz="2400" b="1" dirty="0" smtClean="0">
                <a:solidFill>
                  <a:schemeClr val="tx2"/>
                </a:solidFill>
                <a:latin typeface="Arial" panose="020B0604020202020204" pitchFamily="34" charset="0"/>
              </a:rPr>
              <a:t>cost per unit </a:t>
            </a:r>
            <a:r>
              <a:rPr lang="en-US" altLang="en-US" sz="2400" b="1" dirty="0">
                <a:solidFill>
                  <a:schemeClr val="tx2"/>
                </a:solidFill>
                <a:latin typeface="Arial" panose="020B0604020202020204" pitchFamily="34" charset="0"/>
              </a:rPr>
              <a:t>(cv </a:t>
            </a:r>
            <a:r>
              <a:rPr lang="en-US" altLang="en-US" sz="2400" b="1" dirty="0" smtClean="0">
                <a:solidFill>
                  <a:schemeClr val="tx2"/>
                </a:solidFill>
                <a:latin typeface="Arial" panose="020B0604020202020204" pitchFamily="34" charset="0"/>
              </a:rPr>
              <a:t>=$</a:t>
            </a:r>
            <a:r>
              <a:rPr lang="tr-TR" altLang="en-US" sz="2400" b="1" dirty="0">
                <a:solidFill>
                  <a:schemeClr val="tx2"/>
                </a:solidFill>
                <a:latin typeface="Arial" panose="020B0604020202020204" pitchFamily="34" charset="0"/>
              </a:rPr>
              <a:t>40</a:t>
            </a:r>
            <a:r>
              <a:rPr lang="en-US" altLang="en-US" sz="2400" b="1" dirty="0" smtClean="0">
                <a:solidFill>
                  <a:schemeClr val="tx2"/>
                </a:solidFill>
                <a:latin typeface="Arial" panose="020B0604020202020204" pitchFamily="34" charset="0"/>
              </a:rPr>
              <a:t>); Price per unit p, </a:t>
            </a:r>
            <a:r>
              <a:rPr lang="en-US" altLang="en-US" sz="2400" b="1" dirty="0">
                <a:solidFill>
                  <a:schemeClr val="tx2"/>
                </a:solidFill>
                <a:latin typeface="Arial" panose="020B0604020202020204" pitchFamily="34" charset="0"/>
              </a:rPr>
              <a:t>Demand V=400-1.2p, </a:t>
            </a:r>
            <a:r>
              <a:rPr lang="en-US" altLang="en-US" sz="2400" b="1" dirty="0" smtClean="0">
                <a:solidFill>
                  <a:schemeClr val="tx2"/>
                </a:solidFill>
                <a:latin typeface="Arial" panose="020B0604020202020204" pitchFamily="34" charset="0"/>
              </a:rPr>
              <a:t>maximize profit.</a:t>
            </a:r>
            <a:endParaRPr lang="en-US" altLang="en-US" sz="2400" b="1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pic>
        <p:nvPicPr>
          <p:cNvPr id="297996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7001" y="1931988"/>
            <a:ext cx="4970463" cy="443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7998" name="Rectangle 14"/>
          <p:cNvSpPr>
            <a:spLocks noChangeArrowheads="1"/>
          </p:cNvSpPr>
          <p:nvPr/>
        </p:nvSpPr>
        <p:spPr bwMode="auto">
          <a:xfrm>
            <a:off x="1766888" y="1"/>
            <a:ext cx="890111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tr-TR" altLang="en-US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Furniture Company</a:t>
            </a:r>
            <a:r>
              <a:rPr lang="en-US" altLang="en-US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b="1" dirty="0" smtClean="0">
                <a:solidFill>
                  <a:schemeClr val="hlink"/>
                </a:solidFill>
                <a:latin typeface="Arial" panose="020B0604020202020204" pitchFamily="34" charset="0"/>
              </a:rPr>
              <a:t>Problem (simpler f(x) function)</a:t>
            </a:r>
          </a:p>
          <a:p>
            <a:r>
              <a:rPr lang="en-US" altLang="en-US" sz="2400" b="1" dirty="0" smtClean="0">
                <a:solidFill>
                  <a:schemeClr val="hlink"/>
                </a:solidFill>
                <a:latin typeface="Arial" panose="020B0604020202020204" pitchFamily="34" charset="0"/>
              </a:rPr>
              <a:t>(See “QTM 2 Session 3” for excel solution) </a:t>
            </a:r>
            <a:endParaRPr lang="en-US" altLang="en-US" sz="2400" b="1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1524000" y="1920245"/>
            <a:ext cx="3641725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Profit, Z = V*p-</a:t>
            </a:r>
            <a:r>
              <a:rPr lang="en-US" altLang="en-US" sz="2400" dirty="0" err="1">
                <a:solidFill>
                  <a:schemeClr val="tx2"/>
                </a:solidFill>
                <a:latin typeface="Arial" panose="020B0604020202020204" pitchFamily="34" charset="0"/>
              </a:rPr>
              <a:t>cf</a:t>
            </a:r>
            <a:r>
              <a:rPr lang="en-US" alt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-V*cv, </a:t>
            </a:r>
            <a:endParaRPr lang="en-US" altLang="en-US" sz="2400" dirty="0" smtClean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en-US" sz="2400" dirty="0" smtClean="0">
                <a:solidFill>
                  <a:schemeClr val="tx2"/>
                </a:solidFill>
                <a:latin typeface="Arial" panose="020B0604020202020204" pitchFamily="34" charset="0"/>
              </a:rPr>
              <a:t>Z </a:t>
            </a:r>
            <a:r>
              <a:rPr lang="en-US" alt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= </a:t>
            </a:r>
            <a:r>
              <a:rPr lang="tr-TR" alt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448</a:t>
            </a:r>
            <a:r>
              <a:rPr lang="en-US" alt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p – </a:t>
            </a:r>
            <a:r>
              <a:rPr lang="tr-TR" alt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1.2</a:t>
            </a:r>
            <a:r>
              <a:rPr lang="en-US" alt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p</a:t>
            </a:r>
            <a:r>
              <a:rPr lang="en-US" altLang="en-US" sz="2400" baseline="30000" dirty="0">
                <a:solidFill>
                  <a:schemeClr val="tx2"/>
                </a:solidFill>
                <a:latin typeface="Arial" panose="020B0604020202020204" pitchFamily="34" charset="0"/>
              </a:rPr>
              <a:t>2</a:t>
            </a:r>
            <a:r>
              <a:rPr lang="en-US" alt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 smtClean="0">
                <a:solidFill>
                  <a:schemeClr val="tx2"/>
                </a:solidFill>
                <a:latin typeface="Arial" panose="020B0604020202020204" pitchFamily="34" charset="0"/>
              </a:rPr>
              <a:t>-</a:t>
            </a:r>
            <a:r>
              <a:rPr lang="en-US" alt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2</a:t>
            </a:r>
            <a:r>
              <a:rPr lang="tr-TR" alt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3</a:t>
            </a:r>
            <a:r>
              <a:rPr lang="en-US" alt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,</a:t>
            </a:r>
            <a:r>
              <a:rPr lang="tr-TR" alt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5</a:t>
            </a:r>
            <a:r>
              <a:rPr lang="en-US" alt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00</a:t>
            </a:r>
          </a:p>
          <a:p>
            <a:pPr>
              <a:spcBef>
                <a:spcPct val="50000"/>
              </a:spcBef>
            </a:pPr>
            <a:r>
              <a:rPr lang="en-US" altLang="en-US" sz="2400" dirty="0" err="1">
                <a:solidFill>
                  <a:schemeClr val="tx2"/>
                </a:solidFill>
                <a:latin typeface="Arial" panose="020B0604020202020204" pitchFamily="34" charset="0"/>
              </a:rPr>
              <a:t>dZ</a:t>
            </a:r>
            <a:r>
              <a:rPr lang="en-US" alt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/</a:t>
            </a:r>
            <a:r>
              <a:rPr lang="en-US" altLang="en-US" sz="2400" dirty="0" err="1">
                <a:solidFill>
                  <a:schemeClr val="tx2"/>
                </a:solidFill>
                <a:latin typeface="Arial" panose="020B0604020202020204" pitchFamily="34" charset="0"/>
              </a:rPr>
              <a:t>dp</a:t>
            </a:r>
            <a:r>
              <a:rPr lang="en-US" alt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 = </a:t>
            </a:r>
            <a:r>
              <a:rPr lang="tr-TR" alt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448</a:t>
            </a:r>
            <a:r>
              <a:rPr lang="en-US" alt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 – </a:t>
            </a:r>
            <a:r>
              <a:rPr lang="tr-TR" alt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2.4</a:t>
            </a:r>
            <a:r>
              <a:rPr lang="en-US" altLang="en-US" sz="2400" dirty="0" smtClean="0">
                <a:solidFill>
                  <a:schemeClr val="tx2"/>
                </a:solidFill>
                <a:latin typeface="Arial" panose="020B0604020202020204" pitchFamily="34" charset="0"/>
              </a:rPr>
              <a:t>p= </a:t>
            </a:r>
            <a:r>
              <a:rPr lang="en-US" alt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0</a:t>
            </a:r>
          </a:p>
          <a:p>
            <a:pPr>
              <a:spcBef>
                <a:spcPct val="50000"/>
              </a:spcBef>
            </a:pPr>
            <a:r>
              <a:rPr lang="en-US" alt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p = </a:t>
            </a:r>
            <a:r>
              <a:rPr lang="tr-TR" alt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448</a:t>
            </a:r>
            <a:r>
              <a:rPr lang="en-US" alt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/</a:t>
            </a:r>
            <a:r>
              <a:rPr lang="tr-TR" alt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2.4</a:t>
            </a:r>
            <a:endParaRPr lang="en-US" altLang="en-US" sz="24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   = $</a:t>
            </a:r>
            <a:r>
              <a:rPr lang="tr-TR" alt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186.66</a:t>
            </a:r>
            <a:endParaRPr lang="en-US" altLang="en-US" sz="24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V</a:t>
            </a:r>
            <a:r>
              <a:rPr lang="en-US" altLang="en-US" sz="2400" dirty="0" smtClean="0">
                <a:solidFill>
                  <a:schemeClr val="tx2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= </a:t>
            </a:r>
            <a:r>
              <a:rPr lang="tr-TR" alt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400</a:t>
            </a:r>
            <a:r>
              <a:rPr lang="en-US" alt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 – </a:t>
            </a:r>
            <a:r>
              <a:rPr lang="tr-TR" alt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1.2</a:t>
            </a:r>
            <a:r>
              <a:rPr lang="en-US" altLang="en-US" sz="2400" dirty="0" smtClean="0">
                <a:solidFill>
                  <a:schemeClr val="tx2"/>
                </a:solidFill>
                <a:latin typeface="Arial" panose="020B0604020202020204" pitchFamily="34" charset="0"/>
              </a:rPr>
              <a:t>p </a:t>
            </a:r>
            <a:r>
              <a:rPr lang="en-US" alt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= </a:t>
            </a:r>
            <a:r>
              <a:rPr lang="tr-TR" alt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175.996 chairs</a:t>
            </a:r>
            <a:r>
              <a:rPr lang="en-US" alt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  </a:t>
            </a:r>
          </a:p>
          <a:p>
            <a:pPr>
              <a:spcBef>
                <a:spcPct val="50000"/>
              </a:spcBef>
            </a:pPr>
            <a:r>
              <a:rPr lang="en-US" alt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Z = $</a:t>
            </a:r>
            <a:r>
              <a:rPr lang="tr-TR" alt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18,313.87</a:t>
            </a:r>
            <a:endParaRPr lang="en-US" altLang="en-US" sz="240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341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A manufacturing plant has a cost per unit of manufacturing a product as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40+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(20−0.06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𝑤h𝑒𝑟𝑒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𝑡𝑜𝑡𝑎𝑙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𝑛𝑢𝑚𝑏𝑒𝑟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𝑢𝑛𝑖𝑡𝑠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𝑚𝑎𝑛𝑢𝑓𝑎𝑐𝑡𝑢𝑟𝑒𝑑</m:t>
                    </m:r>
                  </m:oMath>
                </a14:m>
                <a:r>
                  <a:rPr lang="en-US" dirty="0" smtClean="0"/>
                  <a:t>, and a fixed cost of </a:t>
                </a:r>
                <a:r>
                  <a:rPr lang="en-US" dirty="0" err="1" smtClean="0"/>
                  <a:t>Rs</a:t>
                </a:r>
                <a:r>
                  <a:rPr lang="en-US" dirty="0" smtClean="0"/>
                  <a:t>. 5000.</a:t>
                </a:r>
              </a:p>
              <a:p>
                <a:r>
                  <a:rPr lang="en-US" dirty="0" smtClean="0"/>
                  <a:t>The demand follows the function 5000-16p where p is the selling price per unit.</a:t>
                </a:r>
              </a:p>
              <a:p>
                <a:r>
                  <a:rPr lang="en-US" dirty="0" smtClean="0"/>
                  <a:t>What is the maximum profit? Assume manufactured supply equals demand. </a:t>
                </a:r>
                <a:br>
                  <a:rPr lang="en-US" dirty="0" smtClean="0"/>
                </a:br>
                <a:r>
                  <a:rPr lang="en-US" dirty="0"/>
                  <a:t>Profit Z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𝑀𝑎𝑥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5000−16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−5000−(40+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(20−0.06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5000−16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)(5000−16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≥0, 5000≥16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588" r="-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8824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46467" y="584915"/>
            <a:ext cx="11131639" cy="5828763"/>
          </a:xfrm>
        </p:spPr>
        <p:txBody>
          <a:bodyPr/>
          <a:lstStyle/>
          <a:p>
            <a:r>
              <a:rPr lang="en-CA" dirty="0" smtClean="0"/>
              <a:t>General NLP problems are solved using Excel Solver</a:t>
            </a:r>
          </a:p>
          <a:p>
            <a:r>
              <a:rPr lang="en-CA" dirty="0" smtClean="0"/>
              <a:t>General NLP problems often have local optima.</a:t>
            </a:r>
          </a:p>
          <a:p>
            <a:r>
              <a:rPr lang="en-CA" dirty="0" smtClean="0"/>
              <a:t>One way to find global optima instead of local optima is to use multiple starting values for the decision variables when using Excel solver</a:t>
            </a:r>
          </a:p>
          <a:p>
            <a:r>
              <a:rPr lang="en-CA" dirty="0" smtClean="0"/>
              <a:t>This can be done by manually entering different starting values for the variables before hitting the ‘solve’ button, or using the ‘Multi Start’ option in the advanced options of Solver.</a:t>
            </a:r>
          </a:p>
          <a:p>
            <a:r>
              <a:rPr lang="en-CA" dirty="0" smtClean="0"/>
              <a:t>This is not a perfect solution, but should be attempted in any general NLP problem.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4277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496</TotalTime>
  <Words>608</Words>
  <Application>Microsoft Office PowerPoint</Application>
  <PresentationFormat>Widescreen</PresentationFormat>
  <Paragraphs>62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ＭＳ Ｐゴシック</vt:lpstr>
      <vt:lpstr>Arial</vt:lpstr>
      <vt:lpstr>Calibri</vt:lpstr>
      <vt:lpstr>Cambria Math</vt:lpstr>
      <vt:lpstr>Franklin Gothic Book</vt:lpstr>
      <vt:lpstr>Perpetua</vt:lpstr>
      <vt:lpstr>Times New Roman</vt:lpstr>
      <vt:lpstr>Wingdings</vt:lpstr>
      <vt:lpstr>Wingdings 2</vt:lpstr>
      <vt:lpstr>Equity</vt:lpstr>
      <vt:lpstr>CCC831 2019</vt:lpstr>
      <vt:lpstr>Nonlinear Programming (NLP)</vt:lpstr>
      <vt:lpstr>Graphical illustration of nonlinear programs</vt:lpstr>
      <vt:lpstr>PowerPoint Presentation</vt:lpstr>
      <vt:lpstr>PowerPoint Presentation</vt:lpstr>
      <vt:lpstr>Types of NLP  problems</vt:lpstr>
      <vt:lpstr>PowerPoint Presentation</vt:lpstr>
      <vt:lpstr>Single-variable unconstrained optimization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Quantitative Techniques in Management - II</dc:title>
  <dc:creator>Surya Majumdar</dc:creator>
  <cp:lastModifiedBy>Surya Majumdar</cp:lastModifiedBy>
  <cp:revision>30</cp:revision>
  <dcterms:created xsi:type="dcterms:W3CDTF">2014-09-23T08:57:06Z</dcterms:created>
  <dcterms:modified xsi:type="dcterms:W3CDTF">2019-10-30T08:29:33Z</dcterms:modified>
</cp:coreProperties>
</file>