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63" r:id="rId5"/>
    <p:sldId id="264" r:id="rId6"/>
    <p:sldId id="265" r:id="rId7"/>
    <p:sldId id="266" r:id="rId8"/>
    <p:sldId id="267" r:id="rId9"/>
    <p:sldId id="273" r:id="rId10"/>
    <p:sldId id="268" r:id="rId11"/>
    <p:sldId id="269" r:id="rId12"/>
    <p:sldId id="270" r:id="rId13"/>
    <p:sldId id="272" r:id="rId14"/>
    <p:sldId id="274" r:id="rId15"/>
    <p:sldId id="294" r:id="rId16"/>
    <p:sldId id="289" r:id="rId17"/>
    <p:sldId id="290" r:id="rId18"/>
    <p:sldId id="291" r:id="rId19"/>
    <p:sldId id="292" r:id="rId20"/>
    <p:sldId id="29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696464"/>
                </a:solidFill>
              </a:rPr>
              <a:pPr/>
              <a:t>10/1/2019</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58341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696464"/>
                </a:solidFill>
              </a:rPr>
              <a:pPr/>
              <a:t>10/1/2019</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05011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696464"/>
                </a:solidFill>
              </a:rPr>
              <a:pPr/>
              <a:t>10/1/2019</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74292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srgbClr val="696464"/>
                </a:solidFill>
              </a:rPr>
              <a:pPr/>
              <a:t>10/1/2019</a:t>
            </a:fld>
            <a:endParaRPr lang="en-US">
              <a:solidFill>
                <a:srgbClr val="696464"/>
              </a:solidFill>
            </a:endParaRPr>
          </a:p>
        </p:txBody>
      </p:sp>
      <p:sp>
        <p:nvSpPr>
          <p:cNvPr id="6" name="Footer Placeholder 5"/>
          <p:cNvSpPr>
            <a:spLocks noGrp="1"/>
          </p:cNvSpPr>
          <p:nvPr>
            <p:ph type="ftr" sz="quarter" idx="11"/>
          </p:nvPr>
        </p:nvSpPr>
        <p:spPr/>
        <p:txBody>
          <a:bodyPr/>
          <a:lstStyle/>
          <a:p>
            <a:endParaRPr lang="en-US">
              <a:solidFill>
                <a:srgbClr val="696464"/>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36912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srgbClr val="696464"/>
                </a:solidFill>
              </a:rPr>
              <a:pPr/>
              <a:t>10/1/2019</a:t>
            </a:fld>
            <a:endParaRPr lang="en-US">
              <a:solidFill>
                <a:srgbClr val="696464"/>
              </a:solidFill>
            </a:endParaRPr>
          </a:p>
        </p:txBody>
      </p:sp>
      <p:sp>
        <p:nvSpPr>
          <p:cNvPr id="8" name="Footer Placeholder 7"/>
          <p:cNvSpPr>
            <a:spLocks noGrp="1"/>
          </p:cNvSpPr>
          <p:nvPr>
            <p:ph type="ftr" sz="quarter" idx="11"/>
          </p:nvPr>
        </p:nvSpPr>
        <p:spPr/>
        <p:txBody>
          <a:bodyPr/>
          <a:lstStyle/>
          <a:p>
            <a:endParaRPr lang="en-US">
              <a:solidFill>
                <a:srgbClr val="696464"/>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22004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solidFill>
                  <a:srgbClr val="696464"/>
                </a:solidFill>
              </a:rPr>
              <a:pPr/>
              <a:t>10/1/2019</a:t>
            </a:fld>
            <a:endParaRPr lang="en-US">
              <a:solidFill>
                <a:srgbClr val="696464"/>
              </a:solidFill>
            </a:endParaRPr>
          </a:p>
        </p:txBody>
      </p:sp>
      <p:sp>
        <p:nvSpPr>
          <p:cNvPr id="4" name="Footer Placeholder 3"/>
          <p:cNvSpPr>
            <a:spLocks noGrp="1"/>
          </p:cNvSpPr>
          <p:nvPr>
            <p:ph type="ftr" sz="quarter" idx="11"/>
          </p:nvPr>
        </p:nvSpPr>
        <p:spPr/>
        <p:txBody>
          <a:bodyPr/>
          <a:lstStyle/>
          <a:p>
            <a:endParaRPr lang="en-US">
              <a:solidFill>
                <a:srgbClr val="696464"/>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94528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srgbClr val="696464"/>
                </a:solidFill>
              </a:rPr>
              <a:pPr/>
              <a:t>10/1/2019</a:t>
            </a:fld>
            <a:endParaRPr lang="en-US">
              <a:solidFill>
                <a:srgbClr val="696464"/>
              </a:solidFill>
            </a:endParaRPr>
          </a:p>
        </p:txBody>
      </p:sp>
      <p:sp>
        <p:nvSpPr>
          <p:cNvPr id="3" name="Footer Placeholder 2"/>
          <p:cNvSpPr>
            <a:spLocks noGrp="1"/>
          </p:cNvSpPr>
          <p:nvPr>
            <p:ph type="ftr" sz="quarter" idx="11"/>
          </p:nvPr>
        </p:nvSpPr>
        <p:spPr/>
        <p:txBody>
          <a:bodyPr/>
          <a:lstStyle/>
          <a:p>
            <a:endParaRPr lang="en-US">
              <a:solidFill>
                <a:srgbClr val="696464"/>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121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srgbClr val="696464"/>
                </a:solidFill>
              </a:rPr>
              <a:pPr/>
              <a:t>10/1/2019</a:t>
            </a:fld>
            <a:endParaRPr lang="en-US">
              <a:solidFill>
                <a:srgbClr val="696464"/>
              </a:solidFill>
            </a:endParaRPr>
          </a:p>
        </p:txBody>
      </p:sp>
      <p:sp>
        <p:nvSpPr>
          <p:cNvPr id="6" name="Footer Placeholder 5"/>
          <p:cNvSpPr>
            <a:spLocks noGrp="1"/>
          </p:cNvSpPr>
          <p:nvPr>
            <p:ph type="ftr" sz="quarter" idx="11"/>
          </p:nvPr>
        </p:nvSpPr>
        <p:spPr/>
        <p:txBody>
          <a:bodyPr/>
          <a:lstStyle/>
          <a:p>
            <a:endParaRPr lang="en-US">
              <a:solidFill>
                <a:srgbClr val="696464"/>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21389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srgbClr val="696464"/>
                </a:solidFill>
              </a:rPr>
              <a:pPr/>
              <a:t>10/1/2019</a:t>
            </a:fld>
            <a:endParaRPr lang="en-US">
              <a:solidFill>
                <a:srgbClr val="696464"/>
              </a:solidFill>
            </a:endParaRPr>
          </a:p>
        </p:txBody>
      </p:sp>
      <p:sp>
        <p:nvSpPr>
          <p:cNvPr id="6" name="Footer Placeholder 5"/>
          <p:cNvSpPr>
            <a:spLocks noGrp="1"/>
          </p:cNvSpPr>
          <p:nvPr>
            <p:ph type="ftr" sz="quarter" idx="11"/>
          </p:nvPr>
        </p:nvSpPr>
        <p:spPr/>
        <p:txBody>
          <a:bodyPr/>
          <a:lstStyle/>
          <a:p>
            <a:endParaRPr lang="en-US">
              <a:solidFill>
                <a:srgbClr val="696464"/>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20865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696464"/>
                </a:solidFill>
              </a:rPr>
              <a:pPr/>
              <a:t>10/1/2019</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28398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696464"/>
                </a:solidFill>
              </a:rPr>
              <a:pPr/>
              <a:t>10/1/2019</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40677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solidFill>
                  <a:srgbClr val="696464"/>
                </a:solidFill>
              </a:rPr>
              <a:pPr/>
              <a:t>10/1/2019</a:t>
            </a:fld>
            <a:endParaRPr lang="en-US">
              <a:solidFill>
                <a:srgbClr val="696464"/>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srgbClr val="696464"/>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53647715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CCC831 2019</a:t>
            </a:r>
            <a:endParaRPr lang="en-IN" dirty="0"/>
          </a:p>
        </p:txBody>
      </p:sp>
      <p:sp>
        <p:nvSpPr>
          <p:cNvPr id="3" name="Subtitle 2"/>
          <p:cNvSpPr>
            <a:spLocks noGrp="1"/>
          </p:cNvSpPr>
          <p:nvPr>
            <p:ph type="subTitle" idx="1"/>
          </p:nvPr>
        </p:nvSpPr>
        <p:spPr/>
        <p:txBody>
          <a:bodyPr>
            <a:normAutofit/>
          </a:bodyPr>
          <a:lstStyle/>
          <a:p>
            <a:r>
              <a:rPr lang="en-US" sz="3200" dirty="0"/>
              <a:t>Session </a:t>
            </a:r>
            <a:r>
              <a:rPr lang="en-US" sz="3200" dirty="0" smtClean="0"/>
              <a:t>1-3</a:t>
            </a:r>
          </a:p>
          <a:p>
            <a:r>
              <a:rPr lang="en-US" sz="3200" dirty="0" smtClean="0"/>
              <a:t>Kothari </a:t>
            </a:r>
            <a:r>
              <a:rPr lang="en-US" sz="3200" dirty="0" err="1"/>
              <a:t>ch.</a:t>
            </a:r>
            <a:r>
              <a:rPr lang="en-US" sz="3200" dirty="0"/>
              <a:t> </a:t>
            </a:r>
            <a:r>
              <a:rPr lang="en-US" sz="3200" dirty="0" smtClean="0"/>
              <a:t>10</a:t>
            </a:r>
            <a:endParaRPr lang="en-IN" sz="3200" dirty="0"/>
          </a:p>
        </p:txBody>
      </p:sp>
    </p:spTree>
    <p:extLst>
      <p:ext uri="{BB962C8B-B14F-4D97-AF65-F5344CB8AC3E}">
        <p14:creationId xmlns:p14="http://schemas.microsoft.com/office/powerpoint/2010/main" val="271142118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a:srcRect l="10703" t="9062" r="25169" b="6563"/>
          <a:stretch/>
        </p:blipFill>
        <p:spPr>
          <a:xfrm>
            <a:off x="0" y="-667011"/>
            <a:ext cx="12192000" cy="7525011"/>
          </a:xfrm>
          <a:prstGeom prst="rect">
            <a:avLst/>
          </a:prstGeom>
        </p:spPr>
      </p:pic>
    </p:spTree>
    <p:extLst>
      <p:ext uri="{BB962C8B-B14F-4D97-AF65-F5344CB8AC3E}">
        <p14:creationId xmlns:p14="http://schemas.microsoft.com/office/powerpoint/2010/main" val="33613562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9312" t="10001" r="17438" b="16874"/>
          <a:stretch/>
        </p:blipFill>
        <p:spPr>
          <a:xfrm>
            <a:off x="0" y="-1"/>
            <a:ext cx="12192000" cy="6968871"/>
          </a:xfrm>
          <a:prstGeom prst="rect">
            <a:avLst/>
          </a:prstGeom>
        </p:spPr>
      </p:pic>
    </p:spTree>
    <p:extLst>
      <p:ext uri="{BB962C8B-B14F-4D97-AF65-F5344CB8AC3E}">
        <p14:creationId xmlns:p14="http://schemas.microsoft.com/office/powerpoint/2010/main" val="31858967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8770" t="12188" r="20600" b="13124"/>
          <a:stretch/>
        </p:blipFill>
        <p:spPr>
          <a:xfrm>
            <a:off x="-1" y="-14990"/>
            <a:ext cx="12230843" cy="6858000"/>
          </a:xfrm>
          <a:prstGeom prst="rect">
            <a:avLst/>
          </a:prstGeom>
        </p:spPr>
      </p:pic>
    </p:spTree>
    <p:extLst>
      <p:ext uri="{BB962C8B-B14F-4D97-AF65-F5344CB8AC3E}">
        <p14:creationId xmlns:p14="http://schemas.microsoft.com/office/powerpoint/2010/main" val="3268761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9121" t="9687" r="24290" b="12189"/>
          <a:stretch/>
        </p:blipFill>
        <p:spPr>
          <a:xfrm>
            <a:off x="0" y="274320"/>
            <a:ext cx="11887200" cy="6355080"/>
          </a:xfrm>
          <a:prstGeom prst="rect">
            <a:avLst/>
          </a:prstGeom>
        </p:spPr>
      </p:pic>
    </p:spTree>
    <p:extLst>
      <p:ext uri="{BB962C8B-B14F-4D97-AF65-F5344CB8AC3E}">
        <p14:creationId xmlns:p14="http://schemas.microsoft.com/office/powerpoint/2010/main" val="3939421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7652" t="9375" r="20502" b="12188"/>
          <a:stretch/>
        </p:blipFill>
        <p:spPr>
          <a:xfrm>
            <a:off x="0" y="205740"/>
            <a:ext cx="12192000" cy="6634846"/>
          </a:xfrm>
          <a:prstGeom prst="rect">
            <a:avLst/>
          </a:prstGeom>
        </p:spPr>
      </p:pic>
    </p:spTree>
    <p:extLst>
      <p:ext uri="{BB962C8B-B14F-4D97-AF65-F5344CB8AC3E}">
        <p14:creationId xmlns:p14="http://schemas.microsoft.com/office/powerpoint/2010/main" val="968601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9487" t="10313" r="15856" b="16250"/>
          <a:stretch/>
        </p:blipFill>
        <p:spPr>
          <a:xfrm>
            <a:off x="731520" y="142875"/>
            <a:ext cx="11269980" cy="6715125"/>
          </a:xfrm>
          <a:prstGeom prst="rect">
            <a:avLst/>
          </a:prstGeom>
        </p:spPr>
      </p:pic>
    </p:spTree>
    <p:extLst>
      <p:ext uri="{BB962C8B-B14F-4D97-AF65-F5344CB8AC3E}">
        <p14:creationId xmlns:p14="http://schemas.microsoft.com/office/powerpoint/2010/main" val="77358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8784" t="8750" r="17439" b="13438"/>
          <a:stretch/>
        </p:blipFill>
        <p:spPr>
          <a:xfrm>
            <a:off x="228600" y="0"/>
            <a:ext cx="11635740" cy="6946606"/>
          </a:xfrm>
          <a:prstGeom prst="rect">
            <a:avLst/>
          </a:prstGeom>
        </p:spPr>
      </p:pic>
    </p:spTree>
    <p:extLst>
      <p:ext uri="{BB962C8B-B14F-4D97-AF65-F5344CB8AC3E}">
        <p14:creationId xmlns:p14="http://schemas.microsoft.com/office/powerpoint/2010/main" val="3683442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Entering And Leaving Basic Variable</a:t>
            </a:r>
            <a:endParaRPr lang="en-US" dirty="0"/>
          </a:p>
        </p:txBody>
      </p:sp>
      <p:sp>
        <p:nvSpPr>
          <p:cNvPr id="3" name="Content Placeholder 2"/>
          <p:cNvSpPr>
            <a:spLocks noGrp="1"/>
          </p:cNvSpPr>
          <p:nvPr>
            <p:ph idx="1"/>
          </p:nvPr>
        </p:nvSpPr>
        <p:spPr>
          <a:xfrm>
            <a:off x="838200" y="1446663"/>
            <a:ext cx="10515600" cy="5268036"/>
          </a:xfrm>
        </p:spPr>
        <p:txBody>
          <a:bodyPr>
            <a:normAutofit/>
          </a:bodyPr>
          <a:lstStyle/>
          <a:p>
            <a:r>
              <a:rPr lang="en-US" dirty="0" smtClean="0"/>
              <a:t>The entering BV is the NBV which has the </a:t>
            </a:r>
            <a:r>
              <a:rPr lang="en-US" u="sng" dirty="0" smtClean="0"/>
              <a:t>lowest negative coefficient in the topmost row</a:t>
            </a:r>
            <a:r>
              <a:rPr lang="en-US" dirty="0" smtClean="0"/>
              <a:t> of the simplex tableau</a:t>
            </a:r>
          </a:p>
          <a:p>
            <a:r>
              <a:rPr lang="en-US" dirty="0" smtClean="0"/>
              <a:t>The Leaving BV is the BV with the </a:t>
            </a:r>
            <a:r>
              <a:rPr lang="en-US" u="sng" dirty="0" smtClean="0"/>
              <a:t>lowest</a:t>
            </a:r>
            <a:r>
              <a:rPr lang="en-US" dirty="0" smtClean="0"/>
              <a:t> </a:t>
            </a:r>
            <a:r>
              <a:rPr lang="en-US" u="sng" dirty="0" smtClean="0"/>
              <a:t>positive</a:t>
            </a:r>
            <a:r>
              <a:rPr lang="en-US" dirty="0" smtClean="0"/>
              <a:t> </a:t>
            </a:r>
            <a:r>
              <a:rPr lang="en-US" u="sng" dirty="0" smtClean="0"/>
              <a:t>RHS value to entering BV coefficient ratio</a:t>
            </a:r>
            <a:r>
              <a:rPr lang="en-US" dirty="0" smtClean="0"/>
              <a:t> out of all BVs in the current simplex tableau</a:t>
            </a:r>
          </a:p>
          <a:p>
            <a:r>
              <a:rPr lang="en-US" dirty="0" smtClean="0"/>
              <a:t>If a ratio is </a:t>
            </a:r>
            <a:r>
              <a:rPr lang="en-US" u="sng" dirty="0" smtClean="0"/>
              <a:t>zero</a:t>
            </a:r>
            <a:r>
              <a:rPr lang="en-US" dirty="0" smtClean="0"/>
              <a:t>, if it is a positive zero (</a:t>
            </a:r>
            <a:r>
              <a:rPr lang="en-US" dirty="0" err="1" smtClean="0"/>
              <a:t>eg</a:t>
            </a:r>
            <a:r>
              <a:rPr lang="en-US" dirty="0" smtClean="0"/>
              <a:t>. 0/2), it is acceptable for leaving BV, but a negative zero (</a:t>
            </a:r>
            <a:r>
              <a:rPr lang="en-US" dirty="0" err="1" smtClean="0"/>
              <a:t>eg</a:t>
            </a:r>
            <a:r>
              <a:rPr lang="en-US" dirty="0" smtClean="0"/>
              <a:t>. 0/-2) is considered a negative ratio and not acceptable for leaving BV. </a:t>
            </a:r>
          </a:p>
          <a:p>
            <a:r>
              <a:rPr lang="en-CA" dirty="0" smtClean="0"/>
              <a:t>Using zero ratios raises the probability of looping, in which case take lowest positive non-zero ratio.</a:t>
            </a:r>
            <a:endParaRPr lang="en-US" dirty="0" smtClean="0"/>
          </a:p>
          <a:p>
            <a:r>
              <a:rPr lang="en-CA" dirty="0" smtClean="0"/>
              <a:t>A Basic Variable has </a:t>
            </a:r>
            <a:r>
              <a:rPr lang="en-CA" dirty="0" err="1" smtClean="0"/>
              <a:t>coeff</a:t>
            </a:r>
            <a:r>
              <a:rPr lang="en-CA" dirty="0" smtClean="0"/>
              <a:t>. 1 for the constraint equation in which it acts as a BV, and 0 in all other constraints. </a:t>
            </a:r>
          </a:p>
          <a:p>
            <a:endParaRPr lang="en-US" dirty="0"/>
          </a:p>
        </p:txBody>
      </p:sp>
    </p:spTree>
    <p:extLst>
      <p:ext uri="{BB962C8B-B14F-4D97-AF65-F5344CB8AC3E}">
        <p14:creationId xmlns:p14="http://schemas.microsoft.com/office/powerpoint/2010/main" val="1588223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8609" t="8750" r="16910" b="7500"/>
          <a:stretch/>
        </p:blipFill>
        <p:spPr>
          <a:xfrm>
            <a:off x="388620" y="160020"/>
            <a:ext cx="11064240" cy="6469380"/>
          </a:xfrm>
          <a:prstGeom prst="rect">
            <a:avLst/>
          </a:prstGeom>
        </p:spPr>
      </p:pic>
    </p:spTree>
    <p:extLst>
      <p:ext uri="{BB962C8B-B14F-4D97-AF65-F5344CB8AC3E}">
        <p14:creationId xmlns:p14="http://schemas.microsoft.com/office/powerpoint/2010/main" val="1341598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9406" t="5789" r="17239" b="4872"/>
          <a:stretch/>
        </p:blipFill>
        <p:spPr>
          <a:xfrm>
            <a:off x="0" y="-1"/>
            <a:ext cx="11778018" cy="6726923"/>
          </a:xfrm>
          <a:prstGeom prst="rect">
            <a:avLst/>
          </a:prstGeom>
        </p:spPr>
      </p:pic>
    </p:spTree>
    <p:extLst>
      <p:ext uri="{BB962C8B-B14F-4D97-AF65-F5344CB8AC3E}">
        <p14:creationId xmlns:p14="http://schemas.microsoft.com/office/powerpoint/2010/main" val="2152729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8987" t="10214" r="17343" b="4711"/>
          <a:stretch/>
        </p:blipFill>
        <p:spPr>
          <a:xfrm>
            <a:off x="941696" y="0"/>
            <a:ext cx="10044753" cy="6664245"/>
          </a:xfrm>
          <a:prstGeom prst="rect">
            <a:avLst/>
          </a:prstGeom>
        </p:spPr>
      </p:pic>
    </p:spTree>
    <p:extLst>
      <p:ext uri="{BB962C8B-B14F-4D97-AF65-F5344CB8AC3E}">
        <p14:creationId xmlns:p14="http://schemas.microsoft.com/office/powerpoint/2010/main" val="724027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7098" t="8909" r="16609" b="4897"/>
          <a:stretch/>
        </p:blipFill>
        <p:spPr>
          <a:xfrm>
            <a:off x="1201001" y="109181"/>
            <a:ext cx="10017457" cy="6546061"/>
          </a:xfrm>
          <a:prstGeom prst="rect">
            <a:avLst/>
          </a:prstGeom>
        </p:spPr>
      </p:pic>
    </p:spTree>
    <p:extLst>
      <p:ext uri="{BB962C8B-B14F-4D97-AF65-F5344CB8AC3E}">
        <p14:creationId xmlns:p14="http://schemas.microsoft.com/office/powerpoint/2010/main" val="568652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8253" t="10588" r="15770" b="8816"/>
          <a:stretch/>
        </p:blipFill>
        <p:spPr>
          <a:xfrm>
            <a:off x="1269241" y="259307"/>
            <a:ext cx="9853684" cy="6387153"/>
          </a:xfrm>
          <a:prstGeom prst="rect">
            <a:avLst/>
          </a:prstGeom>
        </p:spPr>
      </p:pic>
    </p:spTree>
    <p:extLst>
      <p:ext uri="{BB962C8B-B14F-4D97-AF65-F5344CB8AC3E}">
        <p14:creationId xmlns:p14="http://schemas.microsoft.com/office/powerpoint/2010/main" val="571269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45660"/>
            <a:ext cx="10515600" cy="5931303"/>
          </a:xfrm>
        </p:spPr>
        <p:txBody>
          <a:bodyPr>
            <a:normAutofit/>
          </a:bodyPr>
          <a:lstStyle/>
          <a:p>
            <a:r>
              <a:rPr lang="en-US" sz="3200" dirty="0" smtClean="0"/>
              <a:t>In any simplex table, when starting, the </a:t>
            </a:r>
            <a:r>
              <a:rPr lang="en-US" sz="3200" i="1" dirty="0" smtClean="0"/>
              <a:t>slack</a:t>
            </a:r>
            <a:r>
              <a:rPr lang="en-US" sz="3200" dirty="0" smtClean="0"/>
              <a:t> and </a:t>
            </a:r>
            <a:r>
              <a:rPr lang="en-US" sz="3200" i="1" dirty="0" smtClean="0"/>
              <a:t>artificial</a:t>
            </a:r>
            <a:r>
              <a:rPr lang="en-US" sz="3200" dirty="0" smtClean="0"/>
              <a:t> variables form the starting Basic Variables. </a:t>
            </a:r>
            <a:endParaRPr lang="en-US" sz="3200" dirty="0"/>
          </a:p>
        </p:txBody>
      </p:sp>
    </p:spTree>
    <p:extLst>
      <p:ext uri="{BB962C8B-B14F-4D97-AF65-F5344CB8AC3E}">
        <p14:creationId xmlns:p14="http://schemas.microsoft.com/office/powerpoint/2010/main" val="4079306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8777" t="10401" r="16924" b="18144"/>
          <a:stretch/>
        </p:blipFill>
        <p:spPr>
          <a:xfrm>
            <a:off x="1214649" y="122829"/>
            <a:ext cx="10528591" cy="6578222"/>
          </a:xfrm>
          <a:prstGeom prst="rect">
            <a:avLst/>
          </a:prstGeom>
        </p:spPr>
      </p:pic>
    </p:spTree>
    <p:extLst>
      <p:ext uri="{BB962C8B-B14F-4D97-AF65-F5344CB8AC3E}">
        <p14:creationId xmlns:p14="http://schemas.microsoft.com/office/powerpoint/2010/main" val="34690876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9091" t="10214" r="17658" b="5084"/>
          <a:stretch/>
        </p:blipFill>
        <p:spPr>
          <a:xfrm>
            <a:off x="641444" y="0"/>
            <a:ext cx="9771798" cy="6792060"/>
          </a:xfrm>
          <a:prstGeom prst="rect">
            <a:avLst/>
          </a:prstGeom>
        </p:spPr>
      </p:pic>
    </p:spTree>
    <p:extLst>
      <p:ext uri="{BB962C8B-B14F-4D97-AF65-F5344CB8AC3E}">
        <p14:creationId xmlns:p14="http://schemas.microsoft.com/office/powerpoint/2010/main" val="4032890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Solving LP problems in Excel</a:t>
            </a:r>
            <a:endParaRPr lang="en-US" dirty="0"/>
          </a:p>
        </p:txBody>
      </p:sp>
      <p:sp>
        <p:nvSpPr>
          <p:cNvPr id="3" name="Content Placeholder 2"/>
          <p:cNvSpPr>
            <a:spLocks noGrp="1"/>
          </p:cNvSpPr>
          <p:nvPr>
            <p:ph idx="1"/>
          </p:nvPr>
        </p:nvSpPr>
        <p:spPr/>
        <p:txBody>
          <a:bodyPr/>
          <a:lstStyle/>
          <a:p>
            <a:r>
              <a:rPr lang="en-US" dirty="0" smtClean="0"/>
              <a:t>LP Problems can be solved in Excel using the Solver tool under the “Data” tab.</a:t>
            </a:r>
          </a:p>
          <a:p>
            <a:r>
              <a:rPr lang="en-US" dirty="0" smtClean="0"/>
              <a:t>First, set up the linear programming equations and constraints using the information given  in a problem, then implement those equations in Excel before solving them.</a:t>
            </a:r>
          </a:p>
          <a:p>
            <a:r>
              <a:rPr lang="en-US" dirty="0" smtClean="0"/>
              <a:t>Excel Solver gives the option of using Simplex method to solve the problem.</a:t>
            </a:r>
            <a:endParaRPr lang="en-US" dirty="0"/>
          </a:p>
        </p:txBody>
      </p:sp>
    </p:spTree>
    <p:extLst>
      <p:ext uri="{BB962C8B-B14F-4D97-AF65-F5344CB8AC3E}">
        <p14:creationId xmlns:p14="http://schemas.microsoft.com/office/powerpoint/2010/main" val="16145014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59558" y="286603"/>
                <a:ext cx="11022842" cy="6196084"/>
              </a:xfrm>
            </p:spPr>
            <p:txBody>
              <a:bodyPr>
                <a:normAutofit fontScale="92500" lnSpcReduction="10000"/>
              </a:bodyPr>
              <a:lstStyle/>
              <a:p>
                <a:pPr marL="0" indent="0">
                  <a:buNone/>
                </a:pPr>
                <a:r>
                  <a:rPr lang="en-US" dirty="0" smtClean="0"/>
                  <a:t>Q: A company can produce two different products.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𝑖</m:t>
                        </m:r>
                      </m:sub>
                    </m:sSub>
                  </m:oMath>
                </a14:m>
                <a:r>
                  <a:rPr lang="en-US" dirty="0" smtClean="0"/>
                  <a:t> represents the amount of labor put into the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𝑖</m:t>
                        </m:r>
                      </m:e>
                      <m:sup>
                        <m:r>
                          <a:rPr lang="en-US" b="0" i="1" smtClean="0">
                            <a:latin typeface="Cambria Math" panose="02040503050406030204" pitchFamily="18" charset="0"/>
                          </a:rPr>
                          <m:t>𝑡h</m:t>
                        </m:r>
                      </m:sup>
                    </m:sSup>
                  </m:oMath>
                </a14:m>
                <a:r>
                  <a:rPr lang="en-US" dirty="0" smtClean="0"/>
                  <a:t> product, and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𝑟</m:t>
                        </m:r>
                      </m:e>
                      <m:sub>
                        <m:r>
                          <a:rPr lang="en-US" i="1">
                            <a:latin typeface="Cambria Math" panose="02040503050406030204" pitchFamily="18" charset="0"/>
                          </a:rPr>
                          <m:t>𝑖</m:t>
                        </m:r>
                      </m:sub>
                    </m:sSub>
                  </m:oMath>
                </a14:m>
                <a:r>
                  <a:rPr lang="en-US" dirty="0" smtClean="0"/>
                  <a:t> represents raw materials. The earnings from each product are as follows:</a:t>
                </a:r>
              </a:p>
              <a:p>
                <a:pPr marL="0" indent="0">
                  <a:buNone/>
                </a:pPr>
                <a:r>
                  <a:rPr lang="en-US" dirty="0" smtClean="0"/>
                  <a:t>Product 1 earnings: </a:t>
                </a:r>
                <a14:m>
                  <m:oMath xmlns:m="http://schemas.openxmlformats.org/officeDocument/2006/math">
                    <m:r>
                      <a:rPr lang="en-US" b="0" i="1" smtClean="0">
                        <a:latin typeface="Cambria Math" panose="02040503050406030204" pitchFamily="18" charset="0"/>
                      </a:rPr>
                      <m:t>6</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5</m:t>
                        </m:r>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1" smtClean="0">
                        <a:latin typeface="Cambria Math" panose="02040503050406030204" pitchFamily="18" charset="0"/>
                      </a:rPr>
                      <m:t>−35</m:t>
                    </m:r>
                  </m:oMath>
                </a14:m>
                <a:endParaRPr lang="en-US" dirty="0" smtClean="0"/>
              </a:p>
              <a:p>
                <a:pPr marL="0" indent="0">
                  <a:buNone/>
                </a:pPr>
                <a:r>
                  <a:rPr lang="en-US" dirty="0"/>
                  <a:t>Product </a:t>
                </a:r>
                <a:r>
                  <a:rPr lang="en-US" dirty="0" smtClean="0"/>
                  <a:t>2 </a:t>
                </a:r>
                <a:r>
                  <a:rPr lang="en-US" dirty="0"/>
                  <a:t>earnings: </a:t>
                </a:r>
                <a14:m>
                  <m:oMath xmlns:m="http://schemas.openxmlformats.org/officeDocument/2006/math">
                    <m:r>
                      <a:rPr lang="en-US" i="1" smtClean="0">
                        <a:latin typeface="Cambria Math" panose="02040503050406030204" pitchFamily="18" charset="0"/>
                      </a:rPr>
                      <m:t>3</m:t>
                    </m:r>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7</m:t>
                        </m:r>
                        <m:r>
                          <a:rPr lang="en-US" i="1">
                            <a:latin typeface="Cambria Math" panose="02040503050406030204" pitchFamily="18" charset="0"/>
                          </a:rPr>
                          <m:t>𝑟</m:t>
                        </m:r>
                      </m:e>
                      <m:sub>
                        <m:r>
                          <a:rPr lang="en-US" b="0" i="1" smtClean="0">
                            <a:latin typeface="Cambria Math" panose="02040503050406030204" pitchFamily="18" charset="0"/>
                          </a:rPr>
                          <m:t>2</m:t>
                        </m:r>
                      </m:sub>
                    </m:sSub>
                    <m:r>
                      <a:rPr lang="en-US" i="1">
                        <a:latin typeface="Cambria Math" panose="02040503050406030204" pitchFamily="18" charset="0"/>
                      </a:rPr>
                      <m:t>−</m:t>
                    </m:r>
                    <m:r>
                      <a:rPr lang="en-US" b="0" i="1" smtClean="0">
                        <a:latin typeface="Cambria Math" panose="02040503050406030204" pitchFamily="18" charset="0"/>
                      </a:rPr>
                      <m:t>60</m:t>
                    </m:r>
                  </m:oMath>
                </a14:m>
                <a:endParaRPr lang="en-US" dirty="0" smtClean="0"/>
              </a:p>
              <a:p>
                <a:pPr marL="0" indent="0">
                  <a:buNone/>
                </a:pPr>
                <a:r>
                  <a:rPr lang="en-US" dirty="0" smtClean="0"/>
                  <a:t>Each product must have at least 30 labor and 20 raw materials.</a:t>
                </a:r>
              </a:p>
              <a:p>
                <a:pPr marL="0" indent="0">
                  <a:buNone/>
                </a:pPr>
                <a:r>
                  <a:rPr lang="en-US" dirty="0" smtClean="0"/>
                  <a:t>The total labor budget of the company is between 200 and 300, and the total raw materials budget is between 120 and 150. How much labor and raw materials must be assigned to each product to maximize total earnings? There cannot be less than 2 and more than 4 units of raw material assigned for every 5 units of labor, to either product. </a:t>
                </a:r>
              </a:p>
              <a:p>
                <a:pPr marL="0" indent="0">
                  <a:buNone/>
                </a:pPr>
                <a:endParaRPr lang="en-US" dirty="0"/>
              </a:p>
              <a:p>
                <a:pPr marL="0" indent="0">
                  <a:buNone/>
                </a:pPr>
                <a:r>
                  <a:rPr lang="en-US" dirty="0"/>
                  <a:t>Objective function: Maximize </a:t>
                </a:r>
                <a14:m>
                  <m:oMath xmlns:m="http://schemas.openxmlformats.org/officeDocument/2006/math">
                    <m:r>
                      <a:rPr lang="en-US" i="1">
                        <a:latin typeface="Cambria Math" panose="02040503050406030204" pitchFamily="18" charset="0"/>
                      </a:rPr>
                      <m:t>𝑍</m:t>
                    </m:r>
                    <m:r>
                      <a:rPr lang="en-US" i="1">
                        <a:latin typeface="Cambria Math" panose="02040503050406030204" pitchFamily="18" charset="0"/>
                      </a:rPr>
                      <m:t>=6</m:t>
                    </m:r>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5</m:t>
                        </m:r>
                        <m:r>
                          <a:rPr lang="en-US" i="1">
                            <a:latin typeface="Cambria Math" panose="02040503050406030204" pitchFamily="18" charset="0"/>
                          </a:rPr>
                          <m:t>𝑟</m:t>
                        </m:r>
                      </m:e>
                      <m:sub>
                        <m:r>
                          <a:rPr lang="en-US" i="1">
                            <a:latin typeface="Cambria Math" panose="02040503050406030204" pitchFamily="18" charset="0"/>
                          </a:rPr>
                          <m:t>1</m:t>
                        </m:r>
                      </m:sub>
                    </m:sSub>
                    <m:r>
                      <a:rPr lang="en-US" i="1">
                        <a:latin typeface="Cambria Math" panose="02040503050406030204" pitchFamily="18" charset="0"/>
                      </a:rPr>
                      <m:t>+3</m:t>
                    </m:r>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7</m:t>
                        </m:r>
                        <m:r>
                          <a:rPr lang="en-US" i="1">
                            <a:latin typeface="Cambria Math" panose="02040503050406030204" pitchFamily="18" charset="0"/>
                          </a:rPr>
                          <m:t>𝑟</m:t>
                        </m:r>
                      </m:e>
                      <m:sub>
                        <m:r>
                          <a:rPr lang="en-US" i="1">
                            <a:latin typeface="Cambria Math" panose="02040503050406030204" pitchFamily="18" charset="0"/>
                          </a:rPr>
                          <m:t>2</m:t>
                        </m:r>
                      </m:sub>
                    </m:sSub>
                    <m:r>
                      <a:rPr lang="en-US" i="1">
                        <a:latin typeface="Cambria Math" panose="02040503050406030204" pitchFamily="18" charset="0"/>
                      </a:rPr>
                      <m:t>−95</m:t>
                    </m:r>
                  </m:oMath>
                </a14:m>
                <a:endParaRPr lang="en-US" dirty="0"/>
              </a:p>
              <a:p>
                <a:pPr marL="0" indent="0">
                  <a:buNone/>
                </a:pPr>
                <a:r>
                  <a:rPr lang="en-US" dirty="0"/>
                  <a:t>Constraints: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i="1">
                            <a:latin typeface="Cambria Math" panose="02040503050406030204" pitchFamily="18" charset="0"/>
                          </a:rPr>
                          <m:t>2</m:t>
                        </m:r>
                      </m:sub>
                    </m:sSub>
                    <m:r>
                      <a:rPr lang="en-US" i="1">
                        <a:latin typeface="Cambria Math" panose="02040503050406030204" pitchFamily="18" charset="0"/>
                        <a:ea typeface="Cambria Math" panose="02040503050406030204" pitchFamily="18" charset="0"/>
                      </a:rPr>
                      <m:t>≥30</m:t>
                    </m:r>
                  </m:oMath>
                </a14:m>
                <a:endParaRPr lang="en-US" dirty="0">
                  <a:ea typeface="Cambria Math" panose="02040503050406030204" pitchFamily="18" charset="0"/>
                </a:endParaRPr>
              </a:p>
              <a:p>
                <a:pPr marL="0" indent="0">
                  <a:buNone/>
                </a:pP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2</m:t>
                        </m:r>
                      </m:sub>
                    </m:sSub>
                    <m:r>
                      <a:rPr lang="en-US" i="1">
                        <a:latin typeface="Cambria Math" panose="02040503050406030204" pitchFamily="18" charset="0"/>
                        <a:ea typeface="Cambria Math" panose="02040503050406030204" pitchFamily="18" charset="0"/>
                      </a:rPr>
                      <m:t>≥20</m:t>
                    </m:r>
                  </m:oMath>
                </a14:m>
                <a:r>
                  <a:rPr lang="en-US" dirty="0">
                    <a:ea typeface="Cambria Math" panose="02040503050406030204" pitchFamily="18" charset="0"/>
                  </a:rPr>
                  <a:t> (Minimum labor and raw materials)</a:t>
                </a:r>
              </a:p>
              <a:p>
                <a:pPr marL="0" indent="0">
                  <a:buNone/>
                </a:pPr>
                <a:endParaRPr lang="en-US" dirty="0"/>
              </a:p>
              <a:p>
                <a:pPr marL="0" indent="0">
                  <a:buNone/>
                </a:pP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59558" y="286603"/>
                <a:ext cx="11022842" cy="6196084"/>
              </a:xfrm>
              <a:blipFill rotWithShape="0">
                <a:blip r:embed="rId2"/>
                <a:stretch>
                  <a:fillRect l="-996" t="-1969" r="-774"/>
                </a:stretch>
              </a:blipFill>
            </p:spPr>
            <p:txBody>
              <a:bodyPr/>
              <a:lstStyle/>
              <a:p>
                <a:r>
                  <a:rPr lang="en-US">
                    <a:noFill/>
                  </a:rPr>
                  <a:t> </a:t>
                </a:r>
              </a:p>
            </p:txBody>
          </p:sp>
        </mc:Fallback>
      </mc:AlternateContent>
    </p:spTree>
    <p:extLst>
      <p:ext uri="{BB962C8B-B14F-4D97-AF65-F5344CB8AC3E}">
        <p14:creationId xmlns:p14="http://schemas.microsoft.com/office/powerpoint/2010/main" val="2012276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86603" y="341193"/>
                <a:ext cx="11295797" cy="6223379"/>
              </a:xfrm>
            </p:spPr>
            <p:txBody>
              <a:bodyPr/>
              <a:lstStyle/>
              <a:p>
                <a:pPr marL="0" indent="0">
                  <a:buNone/>
                </a:pPr>
                <a:r>
                  <a:rPr lang="en-US" dirty="0" smtClean="0"/>
                  <a:t>Labor and raw material budget constraints: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i="1">
                            <a:latin typeface="Cambria Math" panose="02040503050406030204" pitchFamily="18" charset="0"/>
                          </a:rPr>
                          <m:t>2</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30</m:t>
                    </m:r>
                    <m:r>
                      <a:rPr lang="en-US" i="1">
                        <a:latin typeface="Cambria Math" panose="02040503050406030204" pitchFamily="18" charset="0"/>
                        <a:ea typeface="Cambria Math" panose="02040503050406030204" pitchFamily="18" charset="0"/>
                      </a:rPr>
                      <m:t>0</m:t>
                    </m:r>
                  </m:oMath>
                </a14:m>
                <a:endParaRPr lang="en-US" dirty="0">
                  <a:ea typeface="Cambria Math" panose="02040503050406030204" pitchFamily="18" charset="0"/>
                </a:endParaRPr>
              </a:p>
              <a:p>
                <a:pPr marL="0" indent="0">
                  <a:buNone/>
                </a:pPr>
                <a:r>
                  <a:rPr lang="en-US" dirty="0" smtClean="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i="1">
                            <a:latin typeface="Cambria Math" panose="02040503050406030204" pitchFamily="18" charset="0"/>
                          </a:rPr>
                          <m:t>2</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00</m:t>
                    </m:r>
                  </m:oMath>
                </a14:m>
                <a:endParaRPr lang="en-US" dirty="0" smtClean="0"/>
              </a:p>
              <a:p>
                <a:pPr marL="0" indent="0">
                  <a:buNone/>
                </a:pPr>
                <a:r>
                  <a:rPr lang="en-US" dirty="0"/>
                  <a:t>	</a:t>
                </a:r>
                <a:r>
                  <a:rPr lang="en-US" dirty="0" smtClean="0"/>
                  <a:t>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𝑟</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𝑟</m:t>
                        </m:r>
                      </m:e>
                      <m:sub>
                        <m:r>
                          <a:rPr lang="en-US" i="1">
                            <a:latin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150</m:t>
                    </m:r>
                  </m:oMath>
                </a14:m>
                <a:endParaRPr lang="en-US" dirty="0">
                  <a:ea typeface="Cambria Math" panose="02040503050406030204" pitchFamily="18" charset="0"/>
                </a:endParaRPr>
              </a:p>
              <a:p>
                <a:pPr marL="0" indent="0">
                  <a:buNone/>
                </a:pPr>
                <a:r>
                  <a:rPr lang="en-US" dirty="0"/>
                  <a:t>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𝑟</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𝑟</m:t>
                        </m:r>
                      </m:e>
                      <m:sub>
                        <m:r>
                          <a:rPr lang="en-US" i="1">
                            <a:latin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12</m:t>
                    </m:r>
                    <m:r>
                      <a:rPr lang="en-US" i="1">
                        <a:latin typeface="Cambria Math" panose="02040503050406030204" pitchFamily="18" charset="0"/>
                        <a:ea typeface="Cambria Math" panose="02040503050406030204" pitchFamily="18" charset="0"/>
                      </a:rPr>
                      <m:t>0</m:t>
                    </m:r>
                  </m:oMath>
                </a14:m>
                <a:endParaRPr lang="en-US" dirty="0" smtClean="0"/>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num>
                        <m:den>
                          <m:sSub>
                            <m:sSubPr>
                              <m:ctrlPr>
                                <a:rPr lang="en-US"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1</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5</m:t>
                          </m:r>
                        </m:den>
                      </m:f>
                      <m:r>
                        <a:rPr lang="en-US" b="0" i="1" smtClean="0">
                          <a:latin typeface="Cambria Math" panose="02040503050406030204" pitchFamily="18" charset="0"/>
                          <a:ea typeface="Cambria Math" panose="02040503050406030204" pitchFamily="18" charset="0"/>
                        </a:rPr>
                        <m:t>→5</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𝑙</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≥0</m:t>
                      </m:r>
                    </m:oMath>
                  </m:oMathPara>
                </a14:m>
                <a:endParaRPr lang="en-US" b="0" dirty="0" smtClean="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5</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𝑙</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≥0</m:t>
                      </m:r>
                    </m:oMath>
                  </m:oMathPara>
                </a14:m>
                <a:endParaRPr lang="en-US" dirty="0" smtClean="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1</m:t>
                              </m:r>
                            </m:sub>
                          </m:sSub>
                        </m:num>
                        <m:den>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i="1">
                                  <a:latin typeface="Cambria Math" panose="02040503050406030204" pitchFamily="18" charset="0"/>
                                </a:rPr>
                                <m:t>1</m:t>
                              </m:r>
                            </m:sub>
                          </m:sSub>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4</m:t>
                          </m:r>
                        </m:num>
                        <m:den>
                          <m:r>
                            <a:rPr lang="en-US" i="1">
                              <a:latin typeface="Cambria Math" panose="02040503050406030204" pitchFamily="18" charset="0"/>
                            </a:rPr>
                            <m:t>5</m:t>
                          </m:r>
                        </m:den>
                      </m:f>
                      <m:r>
                        <a:rPr lang="en-US" i="1">
                          <a:latin typeface="Cambria Math" panose="02040503050406030204" pitchFamily="18" charset="0"/>
                          <a:ea typeface="Cambria Math" panose="02040503050406030204" pitchFamily="18" charset="0"/>
                        </a:rPr>
                        <m:t>→5</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𝑟</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4</m:t>
                          </m:r>
                          <m:r>
                            <a:rPr lang="en-US" i="1">
                              <a:latin typeface="Cambria Math" panose="02040503050406030204" pitchFamily="18" charset="0"/>
                              <a:ea typeface="Cambria Math" panose="02040503050406030204" pitchFamily="18" charset="0"/>
                            </a:rPr>
                            <m:t>𝑙</m:t>
                          </m:r>
                        </m:e>
                        <m:sub>
                          <m:r>
                            <a:rPr lang="en-US" i="1">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0</m:t>
                      </m:r>
                    </m:oMath>
                  </m:oMathPara>
                </a14:m>
                <a:endParaRPr lang="en-US" dirty="0" smtClean="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5</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4</m:t>
                          </m:r>
                          <m:r>
                            <a:rPr lang="en-US" i="1">
                              <a:latin typeface="Cambria Math" panose="02040503050406030204" pitchFamily="18" charset="0"/>
                              <a:ea typeface="Cambria Math" panose="02040503050406030204" pitchFamily="18" charset="0"/>
                            </a:rPr>
                            <m:t>𝑙</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≤0</m:t>
                      </m:r>
                    </m:oMath>
                  </m:oMathPara>
                </a14:m>
                <a:endParaRPr lang="en-US" dirty="0" smtClean="0"/>
              </a:p>
              <a:p>
                <a:pPr marL="0" indent="0">
                  <a:buNone/>
                </a:pPr>
                <a:r>
                  <a:rPr lang="en-US" dirty="0" smtClean="0"/>
                  <a:t>Set up the problem in excel, solve using solver</a:t>
                </a:r>
                <a:r>
                  <a:rPr lang="en-US" smtClean="0"/>
                  <a:t>. </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86603" y="341193"/>
                <a:ext cx="11295797" cy="6223379"/>
              </a:xfrm>
              <a:blipFill rotWithShape="0">
                <a:blip r:embed="rId2"/>
                <a:stretch>
                  <a:fillRect l="-1079" t="-1665"/>
                </a:stretch>
              </a:blipFill>
            </p:spPr>
            <p:txBody>
              <a:bodyPr/>
              <a:lstStyle/>
              <a:p>
                <a:r>
                  <a:rPr lang="en-US">
                    <a:noFill/>
                  </a:rPr>
                  <a:t> </a:t>
                </a:r>
              </a:p>
            </p:txBody>
          </p:sp>
        </mc:Fallback>
      </mc:AlternateContent>
    </p:spTree>
    <p:extLst>
      <p:ext uri="{BB962C8B-B14F-4D97-AF65-F5344CB8AC3E}">
        <p14:creationId xmlns:p14="http://schemas.microsoft.com/office/powerpoint/2010/main" val="16970336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7522</TotalTime>
  <Words>251</Words>
  <Application>Microsoft Office PowerPoint</Application>
  <PresentationFormat>Widescreen</PresentationFormat>
  <Paragraphs>33</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Cambria Math</vt:lpstr>
      <vt:lpstr>Office Theme</vt:lpstr>
      <vt:lpstr>CCC831 2019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Entering And Leaving Basic Variable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Solving LP problems in Excel</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Quantitative Techniques in Management - II</dc:title>
  <dc:creator>Surya Majumdar</dc:creator>
  <cp:lastModifiedBy>Surya Majumdar</cp:lastModifiedBy>
  <cp:revision>39</cp:revision>
  <dcterms:created xsi:type="dcterms:W3CDTF">2014-09-15T02:57:51Z</dcterms:created>
  <dcterms:modified xsi:type="dcterms:W3CDTF">2019-10-01T05:28:34Z</dcterms:modified>
</cp:coreProperties>
</file>