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04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8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8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7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6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8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2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2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3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4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02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77291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89708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05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0442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23798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66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32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90606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628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4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6CFC1-0363-4956-BDB5-E5068FB984C9}" type="datetimeFigureOut">
              <a:rPr lang="en-US" smtClean="0"/>
              <a:t>11/5/2019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097E4-9BCB-48CE-9DAC-E8E5D14AD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1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11/5/2019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0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</a:t>
            </a:r>
            <a:r>
              <a:rPr lang="en-US" sz="3200" dirty="0" smtClean="0"/>
              <a:t>10</a:t>
            </a:r>
            <a:endParaRPr lang="en-US" sz="3200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CCC831 </a:t>
            </a:r>
            <a:r>
              <a:rPr lang="en-US" dirty="0" smtClean="0"/>
              <a:t>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99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447799"/>
            <a:ext cx="10363200" cy="4761931"/>
          </a:xfrm>
        </p:spPr>
        <p:txBody>
          <a:bodyPr>
            <a:normAutofit/>
          </a:bodyPr>
          <a:lstStyle/>
          <a:p>
            <a:r>
              <a:rPr lang="en-US" dirty="0" smtClean="0"/>
              <a:t>It is a </a:t>
            </a:r>
            <a:r>
              <a:rPr lang="en-US" i="1" dirty="0" smtClean="0"/>
              <a:t>continuous probability distribution</a:t>
            </a:r>
            <a:r>
              <a:rPr lang="en-US" dirty="0" smtClean="0"/>
              <a:t>. Also called Gaussian distribution.</a:t>
            </a:r>
          </a:p>
          <a:p>
            <a:r>
              <a:rPr lang="en-US" dirty="0" smtClean="0"/>
              <a:t>Can be used to approximate discrete distributions, with sufficiently large samples. Can approximate Binomial distribution if </a:t>
            </a:r>
            <a:r>
              <a:rPr lang="en-US" i="1" dirty="0" err="1"/>
              <a:t>np,nq</a:t>
            </a:r>
            <a:r>
              <a:rPr lang="en-US" i="1" dirty="0"/>
              <a:t>&gt;</a:t>
            </a:r>
            <a:r>
              <a:rPr lang="en-US" dirty="0"/>
              <a:t>5</a:t>
            </a:r>
          </a:p>
          <a:p>
            <a:r>
              <a:rPr lang="en-US" dirty="0" smtClean="0"/>
              <a:t>It is symmetrical, bell-shaped in appearance, its interquartile range is from -0.67 standard deviations to +0.67 </a:t>
            </a:r>
            <a:r>
              <a:rPr lang="en-US" dirty="0" err="1" smtClean="0"/>
              <a:t>std.devs</a:t>
            </a:r>
            <a:r>
              <a:rPr lang="en-US" dirty="0" smtClean="0"/>
              <a:t>.</a:t>
            </a:r>
          </a:p>
          <a:p>
            <a:r>
              <a:rPr lang="en-US" dirty="0"/>
              <a:t>P(X&lt;X1)=</a:t>
            </a:r>
            <a:r>
              <a:rPr lang="en-US" i="1" dirty="0" smtClean="0"/>
              <a:t>P(X1</a:t>
            </a:r>
            <a:r>
              <a:rPr lang="en-US" i="1" dirty="0"/>
              <a:t>)</a:t>
            </a:r>
          </a:p>
          <a:p>
            <a:r>
              <a:rPr lang="en-US" dirty="0"/>
              <a:t>P(X&gt;X1)=</a:t>
            </a:r>
            <a:r>
              <a:rPr lang="en-US" i="1" dirty="0"/>
              <a:t> </a:t>
            </a:r>
            <a:r>
              <a:rPr lang="en-US" i="1" dirty="0" smtClean="0"/>
              <a:t>1-P(X1)</a:t>
            </a:r>
            <a:endParaRPr lang="en-US" dirty="0" smtClean="0"/>
          </a:p>
          <a:p>
            <a:r>
              <a:rPr lang="en-US" dirty="0"/>
              <a:t>To find the probability of the variable being between X1 and X2, P(X1&lt;X&lt;X2)= </a:t>
            </a:r>
            <a:r>
              <a:rPr lang="en-US" dirty="0" smtClean="0"/>
              <a:t>P</a:t>
            </a:r>
            <a:r>
              <a:rPr lang="en-US" i="1" dirty="0" smtClean="0"/>
              <a:t>(X2)-P(X1).</a:t>
            </a:r>
          </a:p>
          <a:p>
            <a:r>
              <a:rPr lang="en-CA" i="1" dirty="0" smtClean="0"/>
              <a:t>Probability is calculated based on mean and standard deviation of the distribution</a:t>
            </a:r>
            <a:endParaRPr lang="en-US" i="1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639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8699" y="587990"/>
                <a:ext cx="10859068" cy="5826457"/>
              </a:xfrm>
            </p:spPr>
            <p:txBody>
              <a:bodyPr/>
              <a:lstStyle/>
              <a:p>
                <a:r>
                  <a:rPr lang="en-CA" dirty="0" smtClean="0"/>
                  <a:t>Excel commands for Normal Distribution</a:t>
                </a:r>
              </a:p>
              <a:p>
                <a:r>
                  <a:rPr lang="en-CA" dirty="0" smtClean="0"/>
                  <a:t>NORM.DIST(x, Mean, </a:t>
                </a:r>
                <a:r>
                  <a:rPr lang="en-CA" dirty="0" err="1" smtClean="0"/>
                  <a:t>stdev</a:t>
                </a:r>
                <a:r>
                  <a:rPr lang="en-CA" dirty="0" smtClean="0"/>
                  <a:t>, 1): Returns the probability of a random variable being less than or equal to x, for a given Mean and </a:t>
                </a:r>
                <a:r>
                  <a:rPr lang="en-CA" dirty="0" err="1" smtClean="0"/>
                  <a:t>Stdev</a:t>
                </a:r>
                <a:r>
                  <a:rPr lang="en-CA" dirty="0" smtClean="0"/>
                  <a:t>.</a:t>
                </a:r>
              </a:p>
              <a:p>
                <a:r>
                  <a:rPr lang="en-CA" dirty="0" smtClean="0"/>
                  <a:t>NORM.INV(p, Mean, </a:t>
                </a:r>
                <a:r>
                  <a:rPr lang="en-CA" dirty="0" err="1" smtClean="0"/>
                  <a:t>Stdev</a:t>
                </a:r>
                <a:r>
                  <a:rPr lang="en-CA" dirty="0" smtClean="0"/>
                  <a:t>): Finds the value x for which (PX&lt;=x)=p, for a given mean and </a:t>
                </a:r>
                <a:r>
                  <a:rPr lang="en-CA" dirty="0" err="1" smtClean="0"/>
                  <a:t>stdev</a:t>
                </a:r>
                <a:r>
                  <a:rPr lang="en-CA" dirty="0" smtClean="0"/>
                  <a:t>.</a:t>
                </a:r>
              </a:p>
              <a:p>
                <a:r>
                  <a:rPr lang="en-US" dirty="0" smtClean="0"/>
                  <a:t>Z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CA" dirty="0"/>
                  <a:t>NORM.S.DIST(z,1): Returns the corresponding probability value for a certain Z-score (can act as substitute for Z-table)</a:t>
                </a:r>
              </a:p>
              <a:p>
                <a:r>
                  <a:rPr lang="en-CA" dirty="0"/>
                  <a:t>NORM.S.INV(p): Returns the Z-score for a certain probability (can act as substitute for Z-table)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8699" y="587990"/>
                <a:ext cx="10859068" cy="5826457"/>
              </a:xfrm>
              <a:blipFill rotWithShape="0">
                <a:blip r:embed="rId2"/>
                <a:stretch>
                  <a:fillRect l="-561" t="-837" r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73453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Franklin Gothic Book</vt:lpstr>
      <vt:lpstr>Perpetua</vt:lpstr>
      <vt:lpstr>Wingdings 2</vt:lpstr>
      <vt:lpstr>Office Theme</vt:lpstr>
      <vt:lpstr>Equity</vt:lpstr>
      <vt:lpstr>CCC831 2019</vt:lpstr>
      <vt:lpstr>The normal distribution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CCC831 2019</dc:title>
  <dc:creator>Surya Majumdar</dc:creator>
  <cp:lastModifiedBy>Surya Majumdar</cp:lastModifiedBy>
  <cp:revision>1</cp:revision>
  <dcterms:created xsi:type="dcterms:W3CDTF">2019-11-05T03:25:46Z</dcterms:created>
  <dcterms:modified xsi:type="dcterms:W3CDTF">2019-11-05T03:29:04Z</dcterms:modified>
</cp:coreProperties>
</file>