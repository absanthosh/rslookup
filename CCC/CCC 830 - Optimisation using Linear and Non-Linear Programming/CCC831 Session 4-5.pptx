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D431E-DAC0-472B-BADA-B2FA951D4AD6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D9BB-D1DC-4451-A558-BA18F6A89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190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D431E-DAC0-472B-BADA-B2FA951D4AD6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D9BB-D1DC-4451-A558-BA18F6A89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10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D431E-DAC0-472B-BADA-B2FA951D4AD6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D9BB-D1DC-4451-A558-BA18F6A89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34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D431E-DAC0-472B-BADA-B2FA951D4AD6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D9BB-D1DC-4451-A558-BA18F6A89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03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D431E-DAC0-472B-BADA-B2FA951D4AD6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D9BB-D1DC-4451-A558-BA18F6A89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368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D431E-DAC0-472B-BADA-B2FA951D4AD6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D9BB-D1DC-4451-A558-BA18F6A89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619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D431E-DAC0-472B-BADA-B2FA951D4AD6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D9BB-D1DC-4451-A558-BA18F6A89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20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D431E-DAC0-472B-BADA-B2FA951D4AD6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D9BB-D1DC-4451-A558-BA18F6A89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509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D431E-DAC0-472B-BADA-B2FA951D4AD6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D9BB-D1DC-4451-A558-BA18F6A89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59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D431E-DAC0-472B-BADA-B2FA951D4AD6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D9BB-D1DC-4451-A558-BA18F6A89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3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D431E-DAC0-472B-BADA-B2FA951D4AD6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FD9BB-D1DC-4451-A558-BA18F6A89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307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13" name="Rounded Rectangle 12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10/14/2019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1994974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10/14/2019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8087418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10" name="Rounded Rectangle 9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10/14/2019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flipV="1">
            <a:off x="92550" y="2376830"/>
            <a:ext cx="120180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6806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10/14/2019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9493818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10/14/2019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2942992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10/14/2019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5928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10/14/2019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7163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9" name="Rounded Rectangle 8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10/14/2019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4190885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10/14/2019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91076" y="4683555"/>
            <a:ext cx="120091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1258588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10/14/2019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7125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10/14/2019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654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D431E-DAC0-472B-BADA-B2FA951D4AD6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0FD9BB-D1DC-4451-A558-BA18F6A89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332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8" name="Rounded Rectangle 7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  <a:pPr/>
              <a:t>10/14/2019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22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Session </a:t>
            </a:r>
            <a:r>
              <a:rPr lang="en-US" sz="3200" dirty="0" smtClean="0"/>
              <a:t>4-5</a:t>
            </a:r>
            <a:endParaRPr lang="en-US" sz="3200" dirty="0" smtClean="0"/>
          </a:p>
          <a:p>
            <a:r>
              <a:rPr lang="en-US" sz="3200" dirty="0" smtClean="0"/>
              <a:t>Reference reading: Kothari </a:t>
            </a:r>
            <a:r>
              <a:rPr lang="en-US" sz="3200" dirty="0" err="1"/>
              <a:t>ch.</a:t>
            </a:r>
            <a:r>
              <a:rPr lang="en-US" sz="3200" dirty="0"/>
              <a:t> </a:t>
            </a:r>
            <a:r>
              <a:rPr lang="en-US" sz="3200" dirty="0" smtClean="0"/>
              <a:t>11</a:t>
            </a:r>
            <a:endParaRPr lang="en-IN" sz="32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CCC831 2019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3949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Dual of the Simplex 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Place the Simplex in Matrix form and then rotate the matrices to obtain the Dual LP problem. For details refer to QT pg. 229</a:t>
            </a:r>
          </a:p>
          <a:p>
            <a:r>
              <a:rPr lang="en-US" dirty="0" smtClean="0"/>
              <a:t>The Dual LP is useful because a problem with n unknowns and m constraints in the </a:t>
            </a:r>
            <a:r>
              <a:rPr lang="en-US" b="1" dirty="0" smtClean="0"/>
              <a:t>primal</a:t>
            </a:r>
            <a:r>
              <a:rPr lang="en-US" dirty="0" smtClean="0"/>
              <a:t> problem, becomes a Dual problem of m unknowns and n constraints.</a:t>
            </a:r>
          </a:p>
          <a:p>
            <a:r>
              <a:rPr lang="en-US" dirty="0" smtClean="0"/>
              <a:t>This is useful when the primal problem contains a large number of unknown variables. Fewer unknowns makes it easier to find an optimal solution.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048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9196" t="10214" r="17763" b="14039"/>
          <a:stretch/>
        </p:blipFill>
        <p:spPr>
          <a:xfrm>
            <a:off x="1009934" y="0"/>
            <a:ext cx="9949218" cy="6721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615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8776" t="10028" r="17553" b="4898"/>
          <a:stretch/>
        </p:blipFill>
        <p:spPr>
          <a:xfrm>
            <a:off x="1296537" y="0"/>
            <a:ext cx="9744502" cy="6787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32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9090" t="14691" r="16715" b="26353"/>
          <a:stretch/>
        </p:blipFill>
        <p:spPr>
          <a:xfrm>
            <a:off x="220548" y="733176"/>
            <a:ext cx="11101330" cy="573206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65341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Transportation problem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000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9406" t="11148" r="17344" b="23927"/>
          <a:stretch/>
        </p:blipFill>
        <p:spPr>
          <a:xfrm>
            <a:off x="559559" y="109182"/>
            <a:ext cx="11351172" cy="655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297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77624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 LP problem for the transportation problem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219200" y="1050878"/>
                <a:ext cx="10363200" cy="556828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300,300,200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={200,200,300,100}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𝑀𝑖𝑛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𝑠𝑢𝑏𝑗𝑒𝑐𝑡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𝑡𝑜</m:t>
                      </m:r>
                    </m:oMath>
                  </m:oMathPara>
                </a14:m>
                <a:endParaRPr lang="en-US" b="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𝑓𝑜𝑟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=1,2,3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b="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𝑓𝑜𝑟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=1,2,3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,4;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𝑎𝑙𝑙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219200" y="1050878"/>
                <a:ext cx="10363200" cy="5568286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7120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Assignment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problem involves the assignment of n facilities to n tasks, with associated cost (or profit) of assigning a particular facility to any particular task.</a:t>
            </a:r>
          </a:p>
          <a:p>
            <a:r>
              <a:rPr lang="en-US" dirty="0" smtClean="0"/>
              <a:t>No. of facilities and tasks must be equal. In case of inequality we assign dummy tasks or facilities, as appropriate.</a:t>
            </a:r>
          </a:p>
          <a:p>
            <a:r>
              <a:rPr lang="en-US" dirty="0" smtClean="0"/>
              <a:t>Dummies will have zero profit or </a:t>
            </a:r>
            <a:r>
              <a:rPr lang="en-US" dirty="0" smtClean="0"/>
              <a:t>cost.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302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4266" t="26632" r="28252" b="29151"/>
          <a:stretch/>
        </p:blipFill>
        <p:spPr>
          <a:xfrm>
            <a:off x="395786" y="600502"/>
            <a:ext cx="11518249" cy="509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693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65341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LP setup for assignment problem example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219200" y="928047"/>
                <a:ext cx="10363200" cy="5745707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 smtClean="0"/>
                  <a:t>Example data: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b="0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Problem: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𝑀𝑖𝑛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𝑠𝑢𝑏𝑗𝑒𝑐𝑡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𝑡𝑜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𝑓𝑜𝑟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=1,2,3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,4,5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𝑓𝑜𝑟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=1,2,3,4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,5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;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𝑓𝑜𝑟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𝑎𝑙𝑙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219200" y="928047"/>
                <a:ext cx="10363200" cy="5745707"/>
              </a:xfrm>
              <a:blipFill rotWithShape="0">
                <a:blip r:embed="rId2"/>
                <a:stretch>
                  <a:fillRect l="-588" t="-9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256" b="27902"/>
          <a:stretch/>
        </p:blipFill>
        <p:spPr bwMode="auto">
          <a:xfrm>
            <a:off x="3821328" y="928048"/>
            <a:ext cx="2183686" cy="1779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2309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2743200" y="1143001"/>
            <a:ext cx="7086600" cy="433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3200" b="1">
                <a:solidFill>
                  <a:prstClr val="black"/>
                </a:solidFill>
                <a:latin typeface="Times New Roman" panose="02020603050405020304" pitchFamily="18" charset="0"/>
                <a:ea typeface="JansonText-Roman" charset="-120"/>
              </a:rPr>
              <a:t>Profit Matrix:</a:t>
            </a:r>
          </a:p>
          <a:p>
            <a:pPr>
              <a:spcBef>
                <a:spcPct val="50000"/>
              </a:spcBef>
            </a:pPr>
            <a:r>
              <a:rPr lang="en-US" altLang="zh-TW" sz="2400" b="1">
                <a:solidFill>
                  <a:prstClr val="black"/>
                </a:solidFill>
                <a:latin typeface="Times New Roman" panose="02020603050405020304" pitchFamily="18" charset="0"/>
                <a:ea typeface="JansonText-Roman" charset="-120"/>
              </a:rPr>
              <a:t>       </a:t>
            </a:r>
            <a:r>
              <a:rPr lang="en-US" altLang="zh-TW" sz="2800" b="1">
                <a:solidFill>
                  <a:prstClr val="black"/>
                </a:solidFill>
                <a:latin typeface="Times New Roman" panose="02020603050405020304" pitchFamily="18" charset="0"/>
                <a:ea typeface="JansonText-Roman" charset="-120"/>
              </a:rPr>
              <a:t>	J1   J2   J3   J4</a:t>
            </a:r>
          </a:p>
          <a:p>
            <a:pPr>
              <a:spcBef>
                <a:spcPct val="50000"/>
              </a:spcBef>
            </a:pPr>
            <a:r>
              <a:rPr lang="en-US" altLang="zh-TW" sz="2800" b="1">
                <a:solidFill>
                  <a:prstClr val="black"/>
                </a:solidFill>
                <a:latin typeface="Times New Roman" panose="02020603050405020304" pitchFamily="18" charset="0"/>
                <a:ea typeface="JansonText-Roman" charset="-120"/>
              </a:rPr>
              <a:t>W1  	67   58   90    55</a:t>
            </a:r>
          </a:p>
          <a:p>
            <a:pPr>
              <a:spcBef>
                <a:spcPct val="50000"/>
              </a:spcBef>
            </a:pPr>
            <a:r>
              <a:rPr lang="en-US" altLang="zh-TW" sz="2800" b="1">
                <a:solidFill>
                  <a:prstClr val="black"/>
                </a:solidFill>
                <a:latin typeface="Times New Roman" panose="02020603050405020304" pitchFamily="18" charset="0"/>
                <a:ea typeface="JansonText-Roman" charset="-120"/>
              </a:rPr>
              <a:t>W2  	58   88   89    56</a:t>
            </a:r>
          </a:p>
          <a:p>
            <a:pPr>
              <a:spcBef>
                <a:spcPct val="50000"/>
              </a:spcBef>
            </a:pPr>
            <a:r>
              <a:rPr lang="en-US" altLang="zh-TW" sz="2800" b="1">
                <a:solidFill>
                  <a:prstClr val="black"/>
                </a:solidFill>
                <a:latin typeface="Times New Roman" panose="02020603050405020304" pitchFamily="18" charset="0"/>
                <a:ea typeface="JansonText-Roman" charset="-120"/>
              </a:rPr>
              <a:t>W3  	74   99   80    22</a:t>
            </a:r>
          </a:p>
          <a:p>
            <a:pPr>
              <a:spcBef>
                <a:spcPct val="50000"/>
              </a:spcBef>
            </a:pPr>
            <a:r>
              <a:rPr lang="en-US" altLang="zh-TW" sz="2800" b="1">
                <a:solidFill>
                  <a:prstClr val="black"/>
                </a:solidFill>
                <a:latin typeface="Times New Roman" panose="02020603050405020304" pitchFamily="18" charset="0"/>
                <a:ea typeface="JansonText-Roman" charset="-120"/>
              </a:rPr>
              <a:t>(D)	 0     0     0      0</a:t>
            </a:r>
          </a:p>
          <a:p>
            <a:pPr>
              <a:spcBef>
                <a:spcPct val="50000"/>
              </a:spcBef>
            </a:pPr>
            <a:endParaRPr lang="en-US" altLang="zh-TW" sz="2400" b="1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822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185</Words>
  <Application>Microsoft Office PowerPoint</Application>
  <PresentationFormat>Widescreen</PresentationFormat>
  <Paragraphs>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新細明體</vt:lpstr>
      <vt:lpstr>Arial</vt:lpstr>
      <vt:lpstr>Calibri</vt:lpstr>
      <vt:lpstr>Calibri Light</vt:lpstr>
      <vt:lpstr>Cambria Math</vt:lpstr>
      <vt:lpstr>Franklin Gothic Book</vt:lpstr>
      <vt:lpstr>JansonText-Roman</vt:lpstr>
      <vt:lpstr>Perpetua</vt:lpstr>
      <vt:lpstr>Times New Roman</vt:lpstr>
      <vt:lpstr>Wingdings 2</vt:lpstr>
      <vt:lpstr>Office Theme</vt:lpstr>
      <vt:lpstr>Equity</vt:lpstr>
      <vt:lpstr>CCC831 2019</vt:lpstr>
      <vt:lpstr>The Dual of the Simplex Form</vt:lpstr>
      <vt:lpstr>PowerPoint Presentation</vt:lpstr>
      <vt:lpstr>PowerPoint Presentation</vt:lpstr>
      <vt:lpstr>Transportation problem</vt:lpstr>
      <vt:lpstr>PowerPoint Presentation</vt:lpstr>
      <vt:lpstr>Example LP problem for the transportation problem</vt:lpstr>
      <vt:lpstr>The Assignment problem</vt:lpstr>
      <vt:lpstr>PowerPoint Presentation</vt:lpstr>
      <vt:lpstr>LP setup for assignment problem example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CCC831 2019</dc:title>
  <dc:creator>Surya Majumdar</dc:creator>
  <cp:lastModifiedBy>Surya Majumdar</cp:lastModifiedBy>
  <cp:revision>1</cp:revision>
  <dcterms:created xsi:type="dcterms:W3CDTF">2019-10-14T11:05:59Z</dcterms:created>
  <dcterms:modified xsi:type="dcterms:W3CDTF">2019-10-14T11:10:10Z</dcterms:modified>
</cp:coreProperties>
</file>