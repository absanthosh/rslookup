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s/slide5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Layouts/slideLayout7.xml" ContentType="application/vnd.openxmlformats-officedocument.presentationml.slideLayout+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Default Extension="gif" ContentType="image/gif"/>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9" r:id="rId3"/>
    <p:sldId id="260" r:id="rId4"/>
    <p:sldId id="261" r:id="rId5"/>
    <p:sldId id="262" r:id="rId6"/>
    <p:sldId id="263" r:id="rId7"/>
    <p:sldId id="264" r:id="rId8"/>
    <p:sldId id="265" r:id="rId9"/>
    <p:sldId id="266" r:id="rId10"/>
    <p:sldId id="267" r:id="rId11"/>
    <p:sldId id="268" r:id="rId12"/>
    <p:sldId id="270" r:id="rId13"/>
    <p:sldId id="271" r:id="rId14"/>
    <p:sldId id="272" r:id="rId15"/>
    <p:sldId id="273" r:id="rId16"/>
    <p:sldId id="274" r:id="rId17"/>
    <p:sldId id="275" r:id="rId18"/>
    <p:sldId id="276" r:id="rId19"/>
    <p:sldId id="277" r:id="rId20"/>
    <p:sldId id="278" r:id="rId21"/>
    <p:sldId id="279" r:id="rId22"/>
    <p:sldId id="280" r:id="rId23"/>
    <p:sldId id="281" r:id="rId24"/>
    <p:sldId id="282" r:id="rId25"/>
    <p:sldId id="283" r:id="rId26"/>
    <p:sldId id="284" r:id="rId27"/>
    <p:sldId id="285" r:id="rId28"/>
    <p:sldId id="286" r:id="rId29"/>
    <p:sldId id="287" r:id="rId30"/>
    <p:sldId id="288" r:id="rId31"/>
    <p:sldId id="289" r:id="rId32"/>
    <p:sldId id="290" r:id="rId33"/>
    <p:sldId id="291" r:id="rId34"/>
    <p:sldId id="292" r:id="rId35"/>
    <p:sldId id="317" r:id="rId36"/>
    <p:sldId id="293" r:id="rId37"/>
    <p:sldId id="294" r:id="rId38"/>
    <p:sldId id="295" r:id="rId39"/>
    <p:sldId id="296" r:id="rId40"/>
    <p:sldId id="297" r:id="rId41"/>
    <p:sldId id="319" r:id="rId42"/>
    <p:sldId id="298" r:id="rId43"/>
    <p:sldId id="299" r:id="rId44"/>
    <p:sldId id="320" r:id="rId45"/>
    <p:sldId id="300" r:id="rId46"/>
    <p:sldId id="316" r:id="rId47"/>
    <p:sldId id="301" r:id="rId48"/>
    <p:sldId id="302" r:id="rId49"/>
    <p:sldId id="303" r:id="rId50"/>
    <p:sldId id="321"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8" r:id="rId6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1434" y="-9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3210"/>
    </p:cViewPr>
  </p:sorter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9402275-67DC-458A-8D2B-D44E8F47F28E}" type="datetimeFigureOut">
              <a:rPr lang="en-US" smtClean="0"/>
              <a:pPr/>
              <a:t>11/9/2017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DAD53D-B160-4682-A816-A2E7BDBB45AE}"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9402275-67DC-458A-8D2B-D44E8F47F28E}" type="datetimeFigureOut">
              <a:rPr lang="en-US" smtClean="0"/>
              <a:pPr/>
              <a:t>11/9/2017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DAD53D-B160-4682-A816-A2E7BDBB45AE}"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9402275-67DC-458A-8D2B-D44E8F47F28E}" type="datetimeFigureOut">
              <a:rPr lang="en-US" smtClean="0"/>
              <a:pPr/>
              <a:t>11/9/2017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DAD53D-B160-4682-A816-A2E7BDBB45AE}"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9402275-67DC-458A-8D2B-D44E8F47F28E}" type="datetimeFigureOut">
              <a:rPr lang="en-US" smtClean="0"/>
              <a:pPr/>
              <a:t>11/9/2017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4DAD53D-B160-4682-A816-A2E7BDBB45AE}"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9402275-67DC-458A-8D2B-D44E8F47F28E}" type="datetimeFigureOut">
              <a:rPr lang="en-US" smtClean="0"/>
              <a:pPr/>
              <a:t>11/9/2017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4DAD53D-B160-4682-A816-A2E7BDBB45AE}"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9402275-67DC-458A-8D2B-D44E8F47F28E}" type="datetimeFigureOut">
              <a:rPr lang="en-US" smtClean="0"/>
              <a:pPr/>
              <a:t>11/9/2017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4DAD53D-B160-4682-A816-A2E7BDBB45AE}"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9402275-67DC-458A-8D2B-D44E8F47F28E}" type="datetimeFigureOut">
              <a:rPr lang="en-US" smtClean="0"/>
              <a:pPr/>
              <a:t>11/9/2017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4DAD53D-B160-4682-A816-A2E7BDBB45AE}"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9402275-67DC-458A-8D2B-D44E8F47F28E}" type="datetimeFigureOut">
              <a:rPr lang="en-US" smtClean="0"/>
              <a:pPr/>
              <a:t>11/9/2017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4DAD53D-B160-4682-A816-A2E7BDBB45AE}"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9402275-67DC-458A-8D2B-D44E8F47F28E}" type="datetimeFigureOut">
              <a:rPr lang="en-US" smtClean="0"/>
              <a:pPr/>
              <a:t>11/9/2017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4DAD53D-B160-4682-A816-A2E7BDBB45AE}"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9402275-67DC-458A-8D2B-D44E8F47F28E}" type="datetimeFigureOut">
              <a:rPr lang="en-US" smtClean="0"/>
              <a:pPr/>
              <a:t>11/9/2017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DAD53D-B160-4682-A816-A2E7BDBB45AE}"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9402275-67DC-458A-8D2B-D44E8F47F28E}" type="datetimeFigureOut">
              <a:rPr lang="en-US" smtClean="0"/>
              <a:pPr/>
              <a:t>11/9/2017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DAD53D-B160-4682-A816-A2E7BDBB45AE}"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9402275-67DC-458A-8D2B-D44E8F47F28E}" type="datetimeFigureOut">
              <a:rPr lang="en-US" smtClean="0"/>
              <a:pPr/>
              <a:t>11/9/2017</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4DAD53D-B160-4682-A816-A2E7BDBB45AE}"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hyperlink" Target="http://en.wikipedia.org/wiki/Environmental_geography" TargetMode="External"/><Relationship Id="rId3" Type="http://schemas.openxmlformats.org/officeDocument/2006/relationships/hyperlink" Target="http://en.wikipedia.org/wiki/Environmental_law" TargetMode="External"/><Relationship Id="rId7" Type="http://schemas.openxmlformats.org/officeDocument/2006/relationships/hyperlink" Target="http://en.wikipedia.org/wiki/Ecology" TargetMode="External"/><Relationship Id="rId2" Type="http://schemas.openxmlformats.org/officeDocument/2006/relationships/hyperlink" Target="http://en.wikipedia.org/wiki/Environmental_philosophy" TargetMode="External"/><Relationship Id="rId1" Type="http://schemas.openxmlformats.org/officeDocument/2006/relationships/slideLayout" Target="../slideLayouts/slideLayout2.xml"/><Relationship Id="rId6" Type="http://schemas.openxmlformats.org/officeDocument/2006/relationships/hyperlink" Target="http://en.wikipedia.org/wiki/Ecological_economics" TargetMode="External"/><Relationship Id="rId5" Type="http://schemas.openxmlformats.org/officeDocument/2006/relationships/hyperlink" Target="http://en.wikipedia.org/wiki/Ecotheology" TargetMode="External"/><Relationship Id="rId4" Type="http://schemas.openxmlformats.org/officeDocument/2006/relationships/hyperlink" Target="http://en.wikipedia.org/wiki/Environmental_sociology" TargetMode="External"/><Relationship Id="rId9" Type="http://schemas.openxmlformats.org/officeDocument/2006/relationships/image" Target="../media/image1.jpeg"/></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en.wikipedia.org/wiki/Earth_Day" TargetMode="External"/><Relationship Id="rId2" Type="http://schemas.openxmlformats.org/officeDocument/2006/relationships/hyperlink" Target="http://en.wikipedia.org/wiki/Rachel_Carson" TargetMode="External"/><Relationship Id="rId1" Type="http://schemas.openxmlformats.org/officeDocument/2006/relationships/slideLayout" Target="../slideLayouts/slideLayout2.xml"/><Relationship Id="rId6" Type="http://schemas.openxmlformats.org/officeDocument/2006/relationships/image" Target="../media/image1.jpeg"/><Relationship Id="rId5" Type="http://schemas.openxmlformats.org/officeDocument/2006/relationships/hyperlink" Target="http://en.wikipedia.org/wiki/Garrett_Hardin" TargetMode="External"/><Relationship Id="rId4" Type="http://schemas.openxmlformats.org/officeDocument/2006/relationships/hyperlink" Target="http://en.wikipedia.org/wiki/Lynn_White"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en.wikipedia.org/wiki/A_Sand_County_Almanac" TargetMode="External"/><Relationship Id="rId2" Type="http://schemas.openxmlformats.org/officeDocument/2006/relationships/hyperlink" Target="http://en.wikipedia.org/wiki/Aldo_Leopold" TargetMode="External"/><Relationship Id="rId1" Type="http://schemas.openxmlformats.org/officeDocument/2006/relationships/slideLayout" Target="../slideLayouts/slideLayout2.xml"/><Relationship Id="rId4" Type="http://schemas.openxmlformats.org/officeDocument/2006/relationships/image" Target="../media/image1.jpeg"/></Relationships>
</file>

<file path=ppt/slides/_rels/slide7.xml.rels><?xml version="1.0" encoding="UTF-8" standalone="yes"?>
<Relationships xmlns="http://schemas.openxmlformats.org/package/2006/relationships"><Relationship Id="rId3" Type="http://schemas.openxmlformats.org/officeDocument/2006/relationships/hyperlink" Target="http://en.wikipedia.org/w/index.php?title=The_Trumpeter:_Journal_of_Ecosophy&amp;action=edit&amp;redlink=1" TargetMode="External"/><Relationship Id="rId2" Type="http://schemas.openxmlformats.org/officeDocument/2006/relationships/hyperlink" Target="http://en.wikipedia.org/wiki/Environmental_Ethics_(journal)" TargetMode="External"/><Relationship Id="rId1" Type="http://schemas.openxmlformats.org/officeDocument/2006/relationships/slideLayout" Target="../slideLayouts/slideLayout2.xml"/><Relationship Id="rId5" Type="http://schemas.openxmlformats.org/officeDocument/2006/relationships/image" Target="../media/image1.jpeg"/><Relationship Id="rId4" Type="http://schemas.openxmlformats.org/officeDocument/2006/relationships/hyperlink" Target="http://en.wikipedia.org/wiki/Environmental_Values" TargetMode="Externa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74638"/>
            <a:ext cx="8763000" cy="6126162"/>
          </a:xfrm>
          <a:solidFill>
            <a:schemeClr val="tx2">
              <a:lumMod val="20000"/>
              <a:lumOff val="80000"/>
            </a:schemeClr>
          </a:solidFill>
        </p:spPr>
        <p:txBody>
          <a:bodyPr>
            <a:normAutofit/>
          </a:bodyPr>
          <a:lstStyle/>
          <a:p>
            <a:r>
              <a:rPr lang="en-US" sz="5400" b="1" dirty="0" smtClean="0">
                <a:solidFill>
                  <a:srgbClr val="008000"/>
                </a:solidFill>
                <a:latin typeface="Times New Roman" pitchFamily="18" charset="0"/>
                <a:cs typeface="Times New Roman" pitchFamily="18" charset="0"/>
              </a:rPr>
              <a:t>Environmental Ethics</a:t>
            </a:r>
            <a:r>
              <a:rPr lang="en-US" b="1" dirty="0" smtClean="0">
                <a:solidFill>
                  <a:srgbClr val="008000"/>
                </a:solidFill>
                <a:latin typeface="Times New Roman" pitchFamily="18" charset="0"/>
                <a:cs typeface="Times New Roman" pitchFamily="18" charset="0"/>
              </a:rPr>
              <a:t/>
            </a:r>
            <a:br>
              <a:rPr lang="en-US" b="1" dirty="0" smtClean="0">
                <a:solidFill>
                  <a:srgbClr val="008000"/>
                </a:solidFill>
                <a:latin typeface="Times New Roman" pitchFamily="18" charset="0"/>
                <a:cs typeface="Times New Roman" pitchFamily="18" charset="0"/>
              </a:rPr>
            </a:br>
            <a:r>
              <a:rPr lang="en-US" b="1" dirty="0" smtClean="0">
                <a:solidFill>
                  <a:srgbClr val="008000"/>
                </a:solidFill>
                <a:latin typeface="Times New Roman" pitchFamily="18" charset="0"/>
                <a:cs typeface="Times New Roman" pitchFamily="18" charset="0"/>
              </a:rPr>
              <a:t>Issues and possible Solutions</a:t>
            </a:r>
            <a:br>
              <a:rPr lang="en-US" b="1" dirty="0" smtClean="0">
                <a:solidFill>
                  <a:srgbClr val="008000"/>
                </a:solidFill>
                <a:latin typeface="Times New Roman" pitchFamily="18" charset="0"/>
                <a:cs typeface="Times New Roman" pitchFamily="18" charset="0"/>
              </a:rPr>
            </a:br>
            <a:r>
              <a:rPr lang="en-US" b="1" dirty="0" smtClean="0">
                <a:solidFill>
                  <a:srgbClr val="008000"/>
                </a:solidFill>
                <a:latin typeface="Times New Roman" pitchFamily="18" charset="0"/>
                <a:cs typeface="Times New Roman" pitchFamily="18" charset="0"/>
              </a:rPr>
              <a:t/>
            </a:r>
            <a:br>
              <a:rPr lang="en-US" b="1" dirty="0" smtClean="0">
                <a:solidFill>
                  <a:srgbClr val="008000"/>
                </a:solidFill>
                <a:latin typeface="Times New Roman" pitchFamily="18" charset="0"/>
                <a:cs typeface="Times New Roman" pitchFamily="18" charset="0"/>
              </a:rPr>
            </a:br>
            <a:r>
              <a:rPr lang="en-US" b="1" dirty="0" smtClean="0">
                <a:solidFill>
                  <a:srgbClr val="008000"/>
                </a:solidFill>
                <a:latin typeface="Times New Roman" pitchFamily="18" charset="0"/>
                <a:cs typeface="Times New Roman" pitchFamily="18" charset="0"/>
              </a:rPr>
              <a:t/>
            </a:r>
            <a:br>
              <a:rPr lang="en-US" b="1" dirty="0" smtClean="0">
                <a:solidFill>
                  <a:srgbClr val="008000"/>
                </a:solidFill>
                <a:latin typeface="Times New Roman" pitchFamily="18" charset="0"/>
                <a:cs typeface="Times New Roman" pitchFamily="18" charset="0"/>
              </a:rPr>
            </a:br>
            <a:r>
              <a:rPr lang="en-US" sz="2400" b="1" dirty="0" smtClean="0">
                <a:solidFill>
                  <a:srgbClr val="C00000"/>
                </a:solidFill>
                <a:latin typeface="Times New Roman" pitchFamily="18" charset="0"/>
                <a:cs typeface="Times New Roman" pitchFamily="18" charset="0"/>
              </a:rPr>
              <a:t>Dr Jyoti K Sharma</a:t>
            </a:r>
            <a:r>
              <a:rPr lang="en-US" sz="2400" b="1" dirty="0" smtClean="0">
                <a:solidFill>
                  <a:srgbClr val="008000"/>
                </a:solidFill>
                <a:latin typeface="Times New Roman" pitchFamily="18" charset="0"/>
                <a:cs typeface="Times New Roman" pitchFamily="18" charset="0"/>
              </a:rPr>
              <a:t/>
            </a:r>
            <a:br>
              <a:rPr lang="en-US" sz="2400" b="1" dirty="0" smtClean="0">
                <a:solidFill>
                  <a:srgbClr val="008000"/>
                </a:solidFill>
                <a:latin typeface="Times New Roman" pitchFamily="18" charset="0"/>
                <a:cs typeface="Times New Roman" pitchFamily="18" charset="0"/>
              </a:rPr>
            </a:br>
            <a:r>
              <a:rPr lang="en-US" sz="2400" b="1" i="1" dirty="0" smtClean="0">
                <a:latin typeface="Times New Roman" pitchFamily="18" charset="0"/>
                <a:cs typeface="Times New Roman" pitchFamily="18" charset="0"/>
              </a:rPr>
              <a:t>Professor &amp; Head</a:t>
            </a:r>
            <a:r>
              <a:rPr lang="en-US" sz="2400" b="1" dirty="0" smtClean="0">
                <a:solidFill>
                  <a:srgbClr val="008000"/>
                </a:solidFill>
                <a:latin typeface="Times New Roman" pitchFamily="18" charset="0"/>
                <a:cs typeface="Times New Roman" pitchFamily="18" charset="0"/>
              </a:rPr>
              <a:t/>
            </a:r>
            <a:br>
              <a:rPr lang="en-US" sz="2400" b="1" dirty="0" smtClean="0">
                <a:solidFill>
                  <a:srgbClr val="008000"/>
                </a:solidFill>
                <a:latin typeface="Times New Roman" pitchFamily="18" charset="0"/>
                <a:cs typeface="Times New Roman" pitchFamily="18" charset="0"/>
              </a:rPr>
            </a:br>
            <a:r>
              <a:rPr lang="en-US" sz="2400" b="1" dirty="0" smtClean="0">
                <a:solidFill>
                  <a:srgbClr val="008000"/>
                </a:solidFill>
                <a:latin typeface="Times New Roman" pitchFamily="18" charset="0"/>
                <a:cs typeface="Times New Roman" pitchFamily="18" charset="0"/>
              </a:rPr>
              <a:t>Center for Environment al Sciences &amp; Engineering</a:t>
            </a:r>
            <a:br>
              <a:rPr lang="en-US" sz="2400" b="1" dirty="0" smtClean="0">
                <a:solidFill>
                  <a:srgbClr val="008000"/>
                </a:solidFill>
                <a:latin typeface="Times New Roman" pitchFamily="18" charset="0"/>
                <a:cs typeface="Times New Roman" pitchFamily="18" charset="0"/>
              </a:rPr>
            </a:br>
            <a:r>
              <a:rPr lang="en-US" sz="2400" b="1" dirty="0" smtClean="0">
                <a:solidFill>
                  <a:srgbClr val="0033CC"/>
                </a:solidFill>
                <a:latin typeface="Times New Roman" pitchFamily="18" charset="0"/>
                <a:cs typeface="Times New Roman" pitchFamily="18" charset="0"/>
              </a:rPr>
              <a:t>School of Natural Sciences</a:t>
            </a:r>
            <a:br>
              <a:rPr lang="en-US" sz="2400" b="1" dirty="0" smtClean="0">
                <a:solidFill>
                  <a:srgbClr val="0033CC"/>
                </a:solidFill>
                <a:latin typeface="Times New Roman" pitchFamily="18" charset="0"/>
                <a:cs typeface="Times New Roman" pitchFamily="18" charset="0"/>
              </a:rPr>
            </a:br>
            <a:r>
              <a:rPr lang="en-US" sz="2800" b="1" dirty="0" smtClean="0">
                <a:solidFill>
                  <a:srgbClr val="0033CC"/>
                </a:solidFill>
                <a:latin typeface="Times New Roman" pitchFamily="18" charset="0"/>
                <a:cs typeface="Times New Roman" pitchFamily="18" charset="0"/>
              </a:rPr>
              <a:t>S</a:t>
            </a:r>
            <a:r>
              <a:rPr lang="en-US" sz="2400" b="1" dirty="0" smtClean="0">
                <a:solidFill>
                  <a:srgbClr val="0033CC"/>
                </a:solidFill>
                <a:latin typeface="Times New Roman" pitchFamily="18" charset="0"/>
                <a:cs typeface="Times New Roman" pitchFamily="18" charset="0"/>
              </a:rPr>
              <a:t>HIV </a:t>
            </a:r>
            <a:r>
              <a:rPr lang="en-US" sz="2800" b="1" dirty="0" smtClean="0">
                <a:solidFill>
                  <a:srgbClr val="0033CC"/>
                </a:solidFill>
                <a:latin typeface="Times New Roman" pitchFamily="18" charset="0"/>
                <a:cs typeface="Times New Roman" pitchFamily="18" charset="0"/>
              </a:rPr>
              <a:t>N</a:t>
            </a:r>
            <a:r>
              <a:rPr lang="en-US" sz="2400" b="1" dirty="0" smtClean="0">
                <a:solidFill>
                  <a:srgbClr val="0033CC"/>
                </a:solidFill>
                <a:latin typeface="Times New Roman" pitchFamily="18" charset="0"/>
                <a:cs typeface="Times New Roman" pitchFamily="18" charset="0"/>
              </a:rPr>
              <a:t>ADAR </a:t>
            </a:r>
            <a:r>
              <a:rPr lang="en-US" sz="2800" b="1" dirty="0" smtClean="0">
                <a:solidFill>
                  <a:srgbClr val="0033CC"/>
                </a:solidFill>
                <a:latin typeface="Times New Roman" pitchFamily="18" charset="0"/>
                <a:cs typeface="Times New Roman" pitchFamily="18" charset="0"/>
              </a:rPr>
              <a:t>U</a:t>
            </a:r>
            <a:r>
              <a:rPr lang="en-US" sz="2400" b="1" dirty="0" smtClean="0">
                <a:solidFill>
                  <a:srgbClr val="0033CC"/>
                </a:solidFill>
                <a:latin typeface="Times New Roman" pitchFamily="18" charset="0"/>
                <a:cs typeface="Times New Roman" pitchFamily="18" charset="0"/>
              </a:rPr>
              <a:t>NIVERSITY</a:t>
            </a:r>
            <a:r>
              <a:rPr lang="en-US" sz="3600" b="1" dirty="0" smtClean="0">
                <a:solidFill>
                  <a:srgbClr val="008000"/>
                </a:solidFill>
                <a:latin typeface="Times New Roman" pitchFamily="18" charset="0"/>
                <a:cs typeface="Times New Roman" pitchFamily="18" charset="0"/>
              </a:rPr>
              <a:t/>
            </a:r>
            <a:br>
              <a:rPr lang="en-US" sz="3600" b="1" dirty="0" smtClean="0">
                <a:solidFill>
                  <a:srgbClr val="008000"/>
                </a:solidFill>
                <a:latin typeface="Times New Roman" pitchFamily="18" charset="0"/>
                <a:cs typeface="Times New Roman" pitchFamily="18" charset="0"/>
              </a:rPr>
            </a:br>
            <a:endParaRPr lang="en-US" sz="3600" dirty="0"/>
          </a:p>
        </p:txBody>
      </p:sp>
      <p:sp>
        <p:nvSpPr>
          <p:cNvPr id="3" name="Date Placeholder 2"/>
          <p:cNvSpPr>
            <a:spLocks noGrp="1"/>
          </p:cNvSpPr>
          <p:nvPr>
            <p:ph type="dt" sz="half" idx="10"/>
          </p:nvPr>
        </p:nvSpPr>
        <p:spPr/>
        <p:txBody>
          <a:bodyPr/>
          <a:lstStyle/>
          <a:p>
            <a:fld id="{EE0393CF-4398-45F6-B631-6165B487F335}" type="datetime4">
              <a:rPr lang="en-US" smtClean="0"/>
              <a:pPr/>
              <a:t>November 9, 2017</a:t>
            </a:fld>
            <a:endParaRPr lang="en-US"/>
          </a:p>
        </p:txBody>
      </p:sp>
      <p:sp>
        <p:nvSpPr>
          <p:cNvPr id="4" name="Footer Placeholder 3"/>
          <p:cNvSpPr>
            <a:spLocks noGrp="1"/>
          </p:cNvSpPr>
          <p:nvPr>
            <p:ph type="ftr" sz="quarter" idx="11"/>
          </p:nvPr>
        </p:nvSpPr>
        <p:spPr/>
        <p:txBody>
          <a:bodyPr/>
          <a:lstStyle/>
          <a:p>
            <a:r>
              <a:rPr lang="en-US" smtClean="0"/>
              <a:t>Dr Jyoti K Sharma</a:t>
            </a:r>
            <a:endParaRPr lang="en-US"/>
          </a:p>
        </p:txBody>
      </p:sp>
      <p:sp>
        <p:nvSpPr>
          <p:cNvPr id="5" name="Slide Number Placeholder 4"/>
          <p:cNvSpPr>
            <a:spLocks noGrp="1"/>
          </p:cNvSpPr>
          <p:nvPr>
            <p:ph type="sldNum" sz="quarter" idx="12"/>
          </p:nvPr>
        </p:nvSpPr>
        <p:spPr/>
        <p:txBody>
          <a:bodyPr/>
          <a:lstStyle/>
          <a:p>
            <a:fld id="{F8BE4994-793F-4AF4-89A3-515E9DA12016}" type="slidenum">
              <a:rPr lang="en-US" smtClean="0"/>
              <a:pPr/>
              <a:t>1</a:t>
            </a:fld>
            <a:endParaRPr lang="en-US"/>
          </a:p>
        </p:txBody>
      </p:sp>
      <p:pic>
        <p:nvPicPr>
          <p:cNvPr id="6" name="Picture 5"/>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2">
              <a:lumMod val="20000"/>
              <a:lumOff val="80000"/>
            </a:schemeClr>
          </a:solidFill>
        </p:spPr>
        <p:txBody>
          <a:bodyPr>
            <a:normAutofit/>
          </a:bodyPr>
          <a:lstStyle/>
          <a:p>
            <a:r>
              <a:rPr lang="en-US" sz="3200" b="1" dirty="0" smtClean="0">
                <a:solidFill>
                  <a:srgbClr val="008000"/>
                </a:solidFill>
                <a:latin typeface="Times New Roman" pitchFamily="18" charset="0"/>
                <a:cs typeface="Times New Roman" pitchFamily="18" charset="0"/>
              </a:rPr>
              <a:t> Environmental Ethics: Issues and possible </a:t>
            </a:r>
            <a:br>
              <a:rPr lang="en-US" sz="3200" b="1" dirty="0" smtClean="0">
                <a:solidFill>
                  <a:srgbClr val="008000"/>
                </a:solidFill>
                <a:latin typeface="Times New Roman" pitchFamily="18" charset="0"/>
                <a:cs typeface="Times New Roman" pitchFamily="18" charset="0"/>
              </a:rPr>
            </a:br>
            <a:r>
              <a:rPr lang="en-US" sz="3200" b="1" dirty="0" smtClean="0">
                <a:solidFill>
                  <a:srgbClr val="008000"/>
                </a:solidFill>
                <a:latin typeface="Times New Roman" pitchFamily="18" charset="0"/>
                <a:cs typeface="Times New Roman" pitchFamily="18" charset="0"/>
              </a:rPr>
              <a:t>       Solutions</a:t>
            </a:r>
            <a:endParaRPr lang="en-US" sz="3200" dirty="0">
              <a:solidFill>
                <a:srgbClr val="008000"/>
              </a:solidFill>
            </a:endParaRPr>
          </a:p>
        </p:txBody>
      </p:sp>
      <p:sp>
        <p:nvSpPr>
          <p:cNvPr id="3" name="Content Placeholder 2"/>
          <p:cNvSpPr>
            <a:spLocks noGrp="1"/>
          </p:cNvSpPr>
          <p:nvPr>
            <p:ph idx="1"/>
          </p:nvPr>
        </p:nvSpPr>
        <p:spPr>
          <a:solidFill>
            <a:schemeClr val="accent6">
              <a:lumMod val="20000"/>
              <a:lumOff val="80000"/>
            </a:schemeClr>
          </a:solidFill>
        </p:spPr>
        <p:txBody>
          <a:bodyPr>
            <a:normAutofit/>
          </a:bodyPr>
          <a:lstStyle/>
          <a:p>
            <a:pPr marL="514350" indent="-514350">
              <a:buNone/>
            </a:pPr>
            <a:r>
              <a:rPr lang="en-US" sz="2800" b="1" dirty="0" smtClean="0">
                <a:solidFill>
                  <a:srgbClr val="006600"/>
                </a:solidFill>
                <a:latin typeface="Times New Roman" pitchFamily="18" charset="0"/>
                <a:cs typeface="Times New Roman" pitchFamily="18" charset="0"/>
              </a:rPr>
              <a:t>Term </a:t>
            </a:r>
            <a:r>
              <a:rPr lang="en-US" sz="2800" b="1" i="1" dirty="0" smtClean="0">
                <a:solidFill>
                  <a:srgbClr val="FF0000"/>
                </a:solidFill>
                <a:latin typeface="Times New Roman" pitchFamily="18" charset="0"/>
                <a:cs typeface="Times New Roman" pitchFamily="18" charset="0"/>
              </a:rPr>
              <a:t>Ethics</a:t>
            </a:r>
            <a:r>
              <a:rPr lang="en-US" sz="2800" b="1" dirty="0" smtClean="0">
                <a:solidFill>
                  <a:srgbClr val="006600"/>
                </a:solidFill>
                <a:latin typeface="Times New Roman" pitchFamily="18" charset="0"/>
                <a:cs typeface="Times New Roman" pitchFamily="18" charset="0"/>
              </a:rPr>
              <a:t> is derived from Greek word </a:t>
            </a:r>
            <a:r>
              <a:rPr lang="en-US" sz="2800" b="1" dirty="0" smtClean="0">
                <a:solidFill>
                  <a:srgbClr val="FF0000"/>
                </a:solidFill>
                <a:latin typeface="Times New Roman" pitchFamily="18" charset="0"/>
                <a:cs typeface="Times New Roman" pitchFamily="18" charset="0"/>
              </a:rPr>
              <a:t>“ETHOS” </a:t>
            </a:r>
            <a:r>
              <a:rPr lang="en-US" sz="2800" b="1" dirty="0" smtClean="0">
                <a:solidFill>
                  <a:srgbClr val="006600"/>
                </a:solidFill>
                <a:latin typeface="Times New Roman" pitchFamily="18" charset="0"/>
                <a:cs typeface="Times New Roman" pitchFamily="18" charset="0"/>
              </a:rPr>
              <a:t>– it refers to ones ability to distinguish the right from wrong, the values, beliefs and actions, which shape the character of a person and the society – moral philosophy-moral values – honesty, integrity, righteousness, being caring and compassionate, respect for human dignity, fair and open mind, willing to accept mistakes.</a:t>
            </a:r>
          </a:p>
          <a:p>
            <a:pPr marL="514350" indent="-514350">
              <a:buNone/>
            </a:pPr>
            <a:endParaRPr lang="en-US" sz="2000" b="1" dirty="0" smtClean="0">
              <a:solidFill>
                <a:srgbClr val="006600"/>
              </a:solidFill>
              <a:latin typeface="Times New Roman" pitchFamily="18" charset="0"/>
              <a:cs typeface="Times New Roman" pitchFamily="18" charset="0"/>
            </a:endParaRPr>
          </a:p>
          <a:p>
            <a:pPr marL="514350" indent="-514350">
              <a:buNone/>
            </a:pPr>
            <a:endParaRPr lang="en-US" sz="2000" b="1" i="1" dirty="0" smtClean="0">
              <a:solidFill>
                <a:srgbClr val="00B0F0"/>
              </a:solidFill>
              <a:latin typeface="Times New Roman" pitchFamily="18" charset="0"/>
              <a:cs typeface="Times New Roman" pitchFamily="18" charset="0"/>
            </a:endParaRPr>
          </a:p>
          <a:p>
            <a:pPr marL="514350" indent="-514350">
              <a:buNone/>
            </a:pPr>
            <a:endParaRPr lang="en-US" sz="2000" b="1" dirty="0" smtClean="0">
              <a:solidFill>
                <a:srgbClr val="006600"/>
              </a:solidFill>
              <a:latin typeface="Times New Roman" pitchFamily="18" charset="0"/>
              <a:cs typeface="Times New Roman" pitchFamily="18" charset="0"/>
            </a:endParaRPr>
          </a:p>
          <a:p>
            <a:endParaRPr lang="en-US" sz="2000" dirty="0"/>
          </a:p>
        </p:txBody>
      </p:sp>
      <p:sp>
        <p:nvSpPr>
          <p:cNvPr id="4" name="Date Placeholder 3"/>
          <p:cNvSpPr>
            <a:spLocks noGrp="1"/>
          </p:cNvSpPr>
          <p:nvPr>
            <p:ph type="dt" sz="half" idx="10"/>
          </p:nvPr>
        </p:nvSpPr>
        <p:spPr/>
        <p:txBody>
          <a:bodyPr/>
          <a:lstStyle/>
          <a:p>
            <a:fld id="{044632B6-A936-4C2A-98A9-23AC38D0C383}" type="datetime4">
              <a:rPr lang="en-US" smtClean="0"/>
              <a:pPr/>
              <a:t>November 9, 2017</a:t>
            </a:fld>
            <a:endParaRPr lang="en-US"/>
          </a:p>
        </p:txBody>
      </p:sp>
      <p:sp>
        <p:nvSpPr>
          <p:cNvPr id="5" name="Slide Number Placeholder 4"/>
          <p:cNvSpPr>
            <a:spLocks noGrp="1"/>
          </p:cNvSpPr>
          <p:nvPr>
            <p:ph type="sldNum" sz="quarter" idx="12"/>
          </p:nvPr>
        </p:nvSpPr>
        <p:spPr/>
        <p:txBody>
          <a:bodyPr/>
          <a:lstStyle/>
          <a:p>
            <a:fld id="{F8BE4994-793F-4AF4-89A3-515E9DA12016}" type="slidenum">
              <a:rPr lang="en-US" smtClean="0"/>
              <a:pPr/>
              <a:t>2</a:t>
            </a:fld>
            <a:endParaRPr lang="en-US"/>
          </a:p>
        </p:txBody>
      </p:sp>
      <p:sp>
        <p:nvSpPr>
          <p:cNvPr id="6" name="Footer Placeholder 5"/>
          <p:cNvSpPr>
            <a:spLocks noGrp="1"/>
          </p:cNvSpPr>
          <p:nvPr>
            <p:ph type="ftr" sz="quarter" idx="11"/>
          </p:nvPr>
        </p:nvSpPr>
        <p:spPr/>
        <p:txBody>
          <a:bodyPr/>
          <a:lstStyle/>
          <a:p>
            <a:r>
              <a:rPr lang="en-US" smtClean="0"/>
              <a:t>Dr Jyoti K Sharma</a:t>
            </a:r>
            <a:endParaRPr lang="en-US"/>
          </a:p>
        </p:txBody>
      </p:sp>
      <p:pic>
        <p:nvPicPr>
          <p:cNvPr id="7" name="Picture 6"/>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153400" cy="1143000"/>
          </a:xfrm>
          <a:solidFill>
            <a:schemeClr val="tx2">
              <a:lumMod val="20000"/>
              <a:lumOff val="80000"/>
            </a:schemeClr>
          </a:solidFill>
        </p:spPr>
        <p:txBody>
          <a:bodyPr/>
          <a:lstStyle/>
          <a:p>
            <a:r>
              <a:rPr lang="en-US" b="1" dirty="0" smtClean="0">
                <a:solidFill>
                  <a:srgbClr val="008000"/>
                </a:solidFill>
                <a:latin typeface="Times New Roman" pitchFamily="18" charset="0"/>
                <a:cs typeface="Times New Roman" pitchFamily="18" charset="0"/>
              </a:rPr>
              <a:t>Environmental Ethics</a:t>
            </a:r>
            <a:endParaRPr lang="en-US" dirty="0">
              <a:solidFill>
                <a:srgbClr val="008000"/>
              </a:solidFill>
            </a:endParaRPr>
          </a:p>
        </p:txBody>
      </p:sp>
      <p:sp>
        <p:nvSpPr>
          <p:cNvPr id="3" name="Content Placeholder 2"/>
          <p:cNvSpPr>
            <a:spLocks noGrp="1"/>
          </p:cNvSpPr>
          <p:nvPr>
            <p:ph idx="1"/>
          </p:nvPr>
        </p:nvSpPr>
        <p:spPr>
          <a:solidFill>
            <a:schemeClr val="accent6">
              <a:lumMod val="20000"/>
              <a:lumOff val="80000"/>
            </a:schemeClr>
          </a:solidFill>
        </p:spPr>
        <p:txBody>
          <a:bodyPr/>
          <a:lstStyle/>
          <a:p>
            <a:pPr>
              <a:buNone/>
            </a:pPr>
            <a:r>
              <a:rPr lang="en-IN" b="1" dirty="0" smtClean="0">
                <a:solidFill>
                  <a:srgbClr val="0033CC"/>
                </a:solidFill>
                <a:latin typeface="Times New Roman" pitchFamily="18" charset="0"/>
                <a:cs typeface="Times New Roman" pitchFamily="18" charset="0"/>
              </a:rPr>
              <a:t>Environmental ethics is the part of </a:t>
            </a:r>
            <a:r>
              <a:rPr lang="en-IN" b="1" dirty="0" smtClean="0">
                <a:solidFill>
                  <a:srgbClr val="0033CC"/>
                </a:solidFill>
                <a:latin typeface="Times New Roman" pitchFamily="18" charset="0"/>
                <a:cs typeface="Times New Roman" pitchFamily="18" charset="0"/>
                <a:hlinkClick r:id="rId2" tooltip="Environmental philosophy"/>
              </a:rPr>
              <a:t>environmental philosophy</a:t>
            </a:r>
            <a:r>
              <a:rPr lang="en-IN" b="1" dirty="0" smtClean="0">
                <a:solidFill>
                  <a:srgbClr val="0033CC"/>
                </a:solidFill>
                <a:latin typeface="Times New Roman" pitchFamily="18" charset="0"/>
                <a:cs typeface="Times New Roman" pitchFamily="18" charset="0"/>
              </a:rPr>
              <a:t> </a:t>
            </a:r>
            <a:r>
              <a:rPr lang="en-IN" b="1" i="1" dirty="0" smtClean="0">
                <a:solidFill>
                  <a:srgbClr val="FF0000"/>
                </a:solidFill>
                <a:latin typeface="Times New Roman" pitchFamily="18" charset="0"/>
                <a:cs typeface="Times New Roman" pitchFamily="18" charset="0"/>
              </a:rPr>
              <a:t>which considers extending the traditional boundaries of ethics from solely </a:t>
            </a:r>
            <a:r>
              <a:rPr lang="en-IN" b="1" i="1" u="sng" dirty="0" smtClean="0">
                <a:solidFill>
                  <a:srgbClr val="FF0000"/>
                </a:solidFill>
                <a:latin typeface="Times New Roman" pitchFamily="18" charset="0"/>
                <a:cs typeface="Times New Roman" pitchFamily="18" charset="0"/>
              </a:rPr>
              <a:t>including humans to including the non-human world.</a:t>
            </a:r>
            <a:r>
              <a:rPr lang="en-IN" b="1" u="sng" dirty="0" smtClean="0">
                <a:solidFill>
                  <a:srgbClr val="0033CC"/>
                </a:solidFill>
                <a:latin typeface="Times New Roman" pitchFamily="18" charset="0"/>
                <a:cs typeface="Times New Roman" pitchFamily="18" charset="0"/>
              </a:rPr>
              <a:t> </a:t>
            </a:r>
          </a:p>
          <a:p>
            <a:pPr>
              <a:buNone/>
            </a:pPr>
            <a:r>
              <a:rPr lang="en-IN" b="1" dirty="0" smtClean="0">
                <a:solidFill>
                  <a:srgbClr val="0033CC"/>
                </a:solidFill>
                <a:latin typeface="Times New Roman" pitchFamily="18" charset="0"/>
                <a:cs typeface="Times New Roman" pitchFamily="18" charset="0"/>
              </a:rPr>
              <a:t>It exerts influence on a large range of disciplines including </a:t>
            </a:r>
            <a:r>
              <a:rPr lang="en-IN" b="1" dirty="0" smtClean="0">
                <a:solidFill>
                  <a:srgbClr val="0033CC"/>
                </a:solidFill>
                <a:latin typeface="Times New Roman" pitchFamily="18" charset="0"/>
                <a:cs typeface="Times New Roman" pitchFamily="18" charset="0"/>
                <a:hlinkClick r:id="rId3" tooltip="Environmental law"/>
              </a:rPr>
              <a:t>law</a:t>
            </a:r>
            <a:r>
              <a:rPr lang="en-IN" b="1" dirty="0" smtClean="0">
                <a:solidFill>
                  <a:srgbClr val="0033CC"/>
                </a:solidFill>
                <a:latin typeface="Times New Roman" pitchFamily="18" charset="0"/>
                <a:cs typeface="Times New Roman" pitchFamily="18" charset="0"/>
              </a:rPr>
              <a:t>, </a:t>
            </a:r>
            <a:r>
              <a:rPr lang="en-IN" b="1" dirty="0" smtClean="0">
                <a:solidFill>
                  <a:srgbClr val="0033CC"/>
                </a:solidFill>
                <a:latin typeface="Times New Roman" pitchFamily="18" charset="0"/>
                <a:cs typeface="Times New Roman" pitchFamily="18" charset="0"/>
                <a:hlinkClick r:id="rId4" tooltip="Environmental sociology"/>
              </a:rPr>
              <a:t>sociology</a:t>
            </a:r>
            <a:r>
              <a:rPr lang="en-IN" b="1" dirty="0" smtClean="0">
                <a:solidFill>
                  <a:srgbClr val="0033CC"/>
                </a:solidFill>
                <a:latin typeface="Times New Roman" pitchFamily="18" charset="0"/>
                <a:cs typeface="Times New Roman" pitchFamily="18" charset="0"/>
              </a:rPr>
              <a:t>, </a:t>
            </a:r>
            <a:r>
              <a:rPr lang="en-IN" b="1" dirty="0" smtClean="0">
                <a:solidFill>
                  <a:srgbClr val="0033CC"/>
                </a:solidFill>
                <a:latin typeface="Times New Roman" pitchFamily="18" charset="0"/>
                <a:cs typeface="Times New Roman" pitchFamily="18" charset="0"/>
                <a:hlinkClick r:id="rId5" tooltip="Ecotheology"/>
              </a:rPr>
              <a:t>theology</a:t>
            </a:r>
            <a:r>
              <a:rPr lang="en-IN" b="1" dirty="0" smtClean="0">
                <a:solidFill>
                  <a:srgbClr val="0033CC"/>
                </a:solidFill>
                <a:latin typeface="Times New Roman" pitchFamily="18" charset="0"/>
                <a:cs typeface="Times New Roman" pitchFamily="18" charset="0"/>
              </a:rPr>
              <a:t>, </a:t>
            </a:r>
            <a:r>
              <a:rPr lang="en-IN" b="1" dirty="0" smtClean="0">
                <a:solidFill>
                  <a:srgbClr val="0033CC"/>
                </a:solidFill>
                <a:latin typeface="Times New Roman" pitchFamily="18" charset="0"/>
                <a:cs typeface="Times New Roman" pitchFamily="18" charset="0"/>
                <a:hlinkClick r:id="rId6" tooltip="Ecological economics"/>
              </a:rPr>
              <a:t>economics</a:t>
            </a:r>
            <a:r>
              <a:rPr lang="en-IN" b="1" dirty="0" smtClean="0">
                <a:solidFill>
                  <a:srgbClr val="0033CC"/>
                </a:solidFill>
                <a:latin typeface="Times New Roman" pitchFamily="18" charset="0"/>
                <a:cs typeface="Times New Roman" pitchFamily="18" charset="0"/>
              </a:rPr>
              <a:t>, </a:t>
            </a:r>
            <a:r>
              <a:rPr lang="en-IN" b="1" dirty="0" smtClean="0">
                <a:solidFill>
                  <a:srgbClr val="0033CC"/>
                </a:solidFill>
                <a:latin typeface="Times New Roman" pitchFamily="18" charset="0"/>
                <a:cs typeface="Times New Roman" pitchFamily="18" charset="0"/>
                <a:hlinkClick r:id="rId7" tooltip="Ecology"/>
              </a:rPr>
              <a:t>ecology</a:t>
            </a:r>
            <a:r>
              <a:rPr lang="en-IN" b="1" dirty="0" smtClean="0">
                <a:solidFill>
                  <a:srgbClr val="0033CC"/>
                </a:solidFill>
                <a:latin typeface="Times New Roman" pitchFamily="18" charset="0"/>
                <a:cs typeface="Times New Roman" pitchFamily="18" charset="0"/>
              </a:rPr>
              <a:t> and </a:t>
            </a:r>
            <a:r>
              <a:rPr lang="en-IN" b="1" dirty="0" smtClean="0">
                <a:solidFill>
                  <a:srgbClr val="0033CC"/>
                </a:solidFill>
                <a:latin typeface="Times New Roman" pitchFamily="18" charset="0"/>
                <a:cs typeface="Times New Roman" pitchFamily="18" charset="0"/>
                <a:hlinkClick r:id="rId8" tooltip="Environmental geography"/>
              </a:rPr>
              <a:t>geography</a:t>
            </a:r>
            <a:r>
              <a:rPr lang="en-IN" b="1" dirty="0" smtClean="0">
                <a:solidFill>
                  <a:srgbClr val="0033CC"/>
                </a:solidFill>
                <a:latin typeface="Times New Roman" pitchFamily="18" charset="0"/>
                <a:cs typeface="Times New Roman" pitchFamily="18" charset="0"/>
              </a:rPr>
              <a:t>.</a:t>
            </a:r>
            <a:endParaRPr lang="en-US" b="1" dirty="0" smtClean="0">
              <a:solidFill>
                <a:srgbClr val="0033CC"/>
              </a:solidFill>
              <a:latin typeface="Times New Roman" pitchFamily="18" charset="0"/>
              <a:cs typeface="Times New Roman" pitchFamily="18" charset="0"/>
            </a:endParaRPr>
          </a:p>
          <a:p>
            <a:endParaRPr lang="en-US" dirty="0"/>
          </a:p>
        </p:txBody>
      </p:sp>
      <p:sp>
        <p:nvSpPr>
          <p:cNvPr id="4" name="Date Placeholder 3"/>
          <p:cNvSpPr>
            <a:spLocks noGrp="1"/>
          </p:cNvSpPr>
          <p:nvPr>
            <p:ph type="dt" sz="half" idx="10"/>
          </p:nvPr>
        </p:nvSpPr>
        <p:spPr/>
        <p:txBody>
          <a:bodyPr/>
          <a:lstStyle/>
          <a:p>
            <a:fld id="{C5B78DA1-6DE4-4BCD-B225-64C836F96C47}" type="datetime4">
              <a:rPr lang="en-US" smtClean="0"/>
              <a:pPr/>
              <a:t>November 9, 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F8BE4994-793F-4AF4-89A3-515E9DA12016}" type="slidenum">
              <a:rPr lang="en-US" smtClean="0"/>
              <a:pPr/>
              <a:t>3</a:t>
            </a:fld>
            <a:endParaRPr lang="en-US"/>
          </a:p>
        </p:txBody>
      </p:sp>
      <p:pic>
        <p:nvPicPr>
          <p:cNvPr id="7" name="Picture 6"/>
          <p:cNvPicPr/>
          <p:nvPr/>
        </p:nvPicPr>
        <p:blipFill>
          <a:blip r:embed="rId9"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2">
              <a:lumMod val="20000"/>
              <a:lumOff val="80000"/>
            </a:schemeClr>
          </a:solidFill>
        </p:spPr>
        <p:txBody>
          <a:bodyPr>
            <a:normAutofit/>
          </a:bodyPr>
          <a:lstStyle/>
          <a:p>
            <a:r>
              <a:rPr lang="en-US" sz="4000" b="1" dirty="0" smtClean="0">
                <a:solidFill>
                  <a:srgbClr val="008000"/>
                </a:solidFill>
                <a:latin typeface="Times New Roman" pitchFamily="18" charset="0"/>
                <a:cs typeface="Times New Roman" pitchFamily="18" charset="0"/>
              </a:rPr>
              <a:t>Environmental Ethics</a:t>
            </a:r>
            <a:endParaRPr lang="en-US" sz="4000" dirty="0">
              <a:solidFill>
                <a:srgbClr val="008000"/>
              </a:solidFill>
            </a:endParaRPr>
          </a:p>
        </p:txBody>
      </p:sp>
      <p:sp>
        <p:nvSpPr>
          <p:cNvPr id="3" name="Content Placeholder 2"/>
          <p:cNvSpPr>
            <a:spLocks noGrp="1"/>
          </p:cNvSpPr>
          <p:nvPr>
            <p:ph idx="1"/>
          </p:nvPr>
        </p:nvSpPr>
        <p:spPr>
          <a:solidFill>
            <a:schemeClr val="accent6">
              <a:lumMod val="20000"/>
              <a:lumOff val="80000"/>
            </a:schemeClr>
          </a:solidFill>
        </p:spPr>
        <p:txBody>
          <a:bodyPr>
            <a:normAutofit/>
          </a:bodyPr>
          <a:lstStyle/>
          <a:p>
            <a:pPr>
              <a:buNone/>
            </a:pPr>
            <a:r>
              <a:rPr lang="en-US" b="1" i="1" dirty="0" smtClean="0">
                <a:solidFill>
                  <a:srgbClr val="0033CC"/>
                </a:solidFill>
                <a:latin typeface="Times New Roman" pitchFamily="18" charset="0"/>
                <a:cs typeface="Times New Roman" pitchFamily="18" charset="0"/>
              </a:rPr>
              <a:t>“ A system of ethical values, human reasoning and knowledge of nature which endeavors to forge a pattern of </a:t>
            </a:r>
            <a:r>
              <a:rPr lang="en-US" b="1" i="1" dirty="0" smtClean="0">
                <a:solidFill>
                  <a:srgbClr val="FF0000"/>
                </a:solidFill>
                <a:latin typeface="Times New Roman" pitchFamily="18" charset="0"/>
                <a:cs typeface="Times New Roman" pitchFamily="18" charset="0"/>
              </a:rPr>
              <a:t>right conduct towards environment </a:t>
            </a:r>
            <a:r>
              <a:rPr lang="en-US" b="1" i="1" dirty="0" smtClean="0">
                <a:solidFill>
                  <a:srgbClr val="0033CC"/>
                </a:solidFill>
                <a:latin typeface="Times New Roman" pitchFamily="18" charset="0"/>
                <a:cs typeface="Times New Roman" pitchFamily="18" charset="0"/>
              </a:rPr>
              <a:t>so that needs of living beings of the present generation are fulfilled without compromising the ability of the future generations to meet their own needs”</a:t>
            </a:r>
          </a:p>
          <a:p>
            <a:pPr>
              <a:buNone/>
            </a:pPr>
            <a:endParaRPr lang="en-US" b="1" dirty="0" smtClean="0">
              <a:solidFill>
                <a:srgbClr val="FF0000"/>
              </a:solidFill>
              <a:latin typeface="Times New Roman" pitchFamily="18" charset="0"/>
              <a:cs typeface="Times New Roman" pitchFamily="18" charset="0"/>
            </a:endParaRPr>
          </a:p>
          <a:p>
            <a:endParaRPr lang="en-US" dirty="0"/>
          </a:p>
        </p:txBody>
      </p:sp>
      <p:sp>
        <p:nvSpPr>
          <p:cNvPr id="4" name="Date Placeholder 3"/>
          <p:cNvSpPr>
            <a:spLocks noGrp="1"/>
          </p:cNvSpPr>
          <p:nvPr>
            <p:ph type="dt" sz="half" idx="10"/>
          </p:nvPr>
        </p:nvSpPr>
        <p:spPr/>
        <p:txBody>
          <a:bodyPr/>
          <a:lstStyle/>
          <a:p>
            <a:fld id="{94D5F490-F973-49D9-9479-222ACE82AEB1}" type="datetime4">
              <a:rPr lang="en-US" smtClean="0"/>
              <a:pPr/>
              <a:t>November 9, 2017</a:t>
            </a:fld>
            <a:endParaRPr lang="en-US"/>
          </a:p>
        </p:txBody>
      </p:sp>
      <p:sp>
        <p:nvSpPr>
          <p:cNvPr id="5" name="Slide Number Placeholder 4"/>
          <p:cNvSpPr>
            <a:spLocks noGrp="1"/>
          </p:cNvSpPr>
          <p:nvPr>
            <p:ph type="sldNum" sz="quarter" idx="12"/>
          </p:nvPr>
        </p:nvSpPr>
        <p:spPr/>
        <p:txBody>
          <a:bodyPr/>
          <a:lstStyle/>
          <a:p>
            <a:fld id="{F8BE4994-793F-4AF4-89A3-515E9DA12016}" type="slidenum">
              <a:rPr lang="en-US" smtClean="0"/>
              <a:pPr/>
              <a:t>4</a:t>
            </a:fld>
            <a:endParaRPr lang="en-US"/>
          </a:p>
        </p:txBody>
      </p:sp>
      <p:sp>
        <p:nvSpPr>
          <p:cNvPr id="6" name="Footer Placeholder 5"/>
          <p:cNvSpPr>
            <a:spLocks noGrp="1"/>
          </p:cNvSpPr>
          <p:nvPr>
            <p:ph type="ftr" sz="quarter" idx="11"/>
          </p:nvPr>
        </p:nvSpPr>
        <p:spPr/>
        <p:txBody>
          <a:bodyPr/>
          <a:lstStyle/>
          <a:p>
            <a:r>
              <a:rPr lang="en-US" smtClean="0"/>
              <a:t>Dr Jyoti K Sharma</a:t>
            </a:r>
            <a:endParaRPr lang="en-US"/>
          </a:p>
        </p:txBody>
      </p:sp>
      <p:pic>
        <p:nvPicPr>
          <p:cNvPr id="7" name="Picture 6"/>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2">
              <a:lumMod val="20000"/>
              <a:lumOff val="80000"/>
            </a:schemeClr>
          </a:solidFill>
        </p:spPr>
        <p:txBody>
          <a:bodyPr/>
          <a:lstStyle/>
          <a:p>
            <a:r>
              <a:rPr lang="en-US" b="1" dirty="0" smtClean="0">
                <a:solidFill>
                  <a:srgbClr val="008000"/>
                </a:solidFill>
                <a:latin typeface="Times New Roman" pitchFamily="18" charset="0"/>
                <a:cs typeface="Times New Roman" pitchFamily="18" charset="0"/>
              </a:rPr>
              <a:t>Environmental Ethics</a:t>
            </a:r>
            <a:endParaRPr lang="en-US" dirty="0">
              <a:solidFill>
                <a:srgbClr val="008000"/>
              </a:solidFill>
            </a:endParaRPr>
          </a:p>
        </p:txBody>
      </p:sp>
      <p:sp>
        <p:nvSpPr>
          <p:cNvPr id="3" name="Content Placeholder 2"/>
          <p:cNvSpPr>
            <a:spLocks noGrp="1"/>
          </p:cNvSpPr>
          <p:nvPr>
            <p:ph idx="1"/>
          </p:nvPr>
        </p:nvSpPr>
        <p:spPr>
          <a:solidFill>
            <a:schemeClr val="accent6">
              <a:lumMod val="20000"/>
              <a:lumOff val="80000"/>
            </a:schemeClr>
          </a:solidFill>
        </p:spPr>
        <p:txBody>
          <a:bodyPr>
            <a:normAutofit fontScale="85000" lnSpcReduction="10000"/>
          </a:bodyPr>
          <a:lstStyle/>
          <a:p>
            <a:pPr>
              <a:buNone/>
            </a:pPr>
            <a:r>
              <a:rPr lang="en-IN" b="1" dirty="0" smtClean="0">
                <a:solidFill>
                  <a:srgbClr val="0033CC"/>
                </a:solidFill>
                <a:latin typeface="Times New Roman" pitchFamily="18" charset="0"/>
                <a:cs typeface="Times New Roman" pitchFamily="18" charset="0"/>
              </a:rPr>
              <a:t>The academic field of environmental ethics grew up in response to the work of scientists such as </a:t>
            </a:r>
            <a:r>
              <a:rPr lang="en-IN" b="1" dirty="0" smtClean="0">
                <a:solidFill>
                  <a:srgbClr val="0033CC"/>
                </a:solidFill>
                <a:latin typeface="Times New Roman" pitchFamily="18" charset="0"/>
                <a:cs typeface="Times New Roman" pitchFamily="18" charset="0"/>
                <a:hlinkClick r:id="rId2" tooltip="Rachel Carson"/>
              </a:rPr>
              <a:t>Rachel Carson</a:t>
            </a:r>
            <a:r>
              <a:rPr lang="en-IN" b="1" dirty="0" smtClean="0">
                <a:solidFill>
                  <a:srgbClr val="0033CC"/>
                </a:solidFill>
                <a:latin typeface="Times New Roman" pitchFamily="18" charset="0"/>
                <a:cs typeface="Times New Roman" pitchFamily="18" charset="0"/>
              </a:rPr>
              <a:t> and events such as the first </a:t>
            </a:r>
            <a:r>
              <a:rPr lang="en-IN" b="1" dirty="0" smtClean="0">
                <a:solidFill>
                  <a:srgbClr val="0033CC"/>
                </a:solidFill>
                <a:latin typeface="Times New Roman" pitchFamily="18" charset="0"/>
                <a:cs typeface="Times New Roman" pitchFamily="18" charset="0"/>
                <a:hlinkClick r:id="rId3" tooltip="Earth Day"/>
              </a:rPr>
              <a:t>Earth Day</a:t>
            </a:r>
            <a:r>
              <a:rPr lang="en-IN" b="1" dirty="0" smtClean="0">
                <a:solidFill>
                  <a:srgbClr val="0033CC"/>
                </a:solidFill>
                <a:latin typeface="Times New Roman" pitchFamily="18" charset="0"/>
                <a:cs typeface="Times New Roman" pitchFamily="18" charset="0"/>
              </a:rPr>
              <a:t> in 1970, when environmentalists started urging philosophers to consider the philosophical aspects of environmental problems. </a:t>
            </a:r>
          </a:p>
          <a:p>
            <a:pPr>
              <a:buNone/>
            </a:pPr>
            <a:r>
              <a:rPr lang="en-IN" b="1" dirty="0" smtClean="0">
                <a:solidFill>
                  <a:srgbClr val="0033CC"/>
                </a:solidFill>
                <a:latin typeface="Times New Roman" pitchFamily="18" charset="0"/>
                <a:cs typeface="Times New Roman" pitchFamily="18" charset="0"/>
              </a:rPr>
              <a:t>Two papers published in </a:t>
            </a:r>
            <a:r>
              <a:rPr lang="en-IN" b="1" dirty="0" smtClean="0">
                <a:solidFill>
                  <a:srgbClr val="FF0000"/>
                </a:solidFill>
                <a:latin typeface="Times New Roman" pitchFamily="18" charset="0"/>
                <a:cs typeface="Times New Roman" pitchFamily="18" charset="0"/>
              </a:rPr>
              <a:t>Science</a:t>
            </a:r>
            <a:r>
              <a:rPr lang="en-IN" b="1" dirty="0" smtClean="0">
                <a:solidFill>
                  <a:srgbClr val="0033CC"/>
                </a:solidFill>
                <a:latin typeface="Times New Roman" pitchFamily="18" charset="0"/>
                <a:cs typeface="Times New Roman" pitchFamily="18" charset="0"/>
              </a:rPr>
              <a:t> had a crucial impact: </a:t>
            </a:r>
            <a:r>
              <a:rPr lang="en-IN" b="1" dirty="0" smtClean="0">
                <a:solidFill>
                  <a:srgbClr val="0033CC"/>
                </a:solidFill>
                <a:latin typeface="Times New Roman" pitchFamily="18" charset="0"/>
                <a:cs typeface="Times New Roman" pitchFamily="18" charset="0"/>
                <a:hlinkClick r:id="rId4" tooltip="Lynn White"/>
              </a:rPr>
              <a:t>Lynn White</a:t>
            </a:r>
            <a:r>
              <a:rPr lang="en-IN" b="1" dirty="0" smtClean="0">
                <a:solidFill>
                  <a:srgbClr val="0033CC"/>
                </a:solidFill>
                <a:latin typeface="Times New Roman" pitchFamily="18" charset="0"/>
                <a:cs typeface="Times New Roman" pitchFamily="18" charset="0"/>
              </a:rPr>
              <a:t>'s "The Historical Roots of our Ecologic Crisis" (March 1967) and </a:t>
            </a:r>
            <a:r>
              <a:rPr lang="en-IN" b="1" dirty="0" smtClean="0">
                <a:solidFill>
                  <a:srgbClr val="0033CC"/>
                </a:solidFill>
                <a:latin typeface="Times New Roman" pitchFamily="18" charset="0"/>
                <a:cs typeface="Times New Roman" pitchFamily="18" charset="0"/>
                <a:hlinkClick r:id="rId5" tooltip="Garrett Hardin"/>
              </a:rPr>
              <a:t>Garrett Hardin</a:t>
            </a:r>
            <a:r>
              <a:rPr lang="en-IN" b="1" dirty="0" smtClean="0">
                <a:solidFill>
                  <a:srgbClr val="0033CC"/>
                </a:solidFill>
                <a:latin typeface="Times New Roman" pitchFamily="18" charset="0"/>
                <a:cs typeface="Times New Roman" pitchFamily="18" charset="0"/>
              </a:rPr>
              <a:t>'s "The Tragedy of the Commons" (December 1968). </a:t>
            </a:r>
          </a:p>
          <a:p>
            <a:endParaRPr lang="en-US" dirty="0"/>
          </a:p>
        </p:txBody>
      </p:sp>
      <p:sp>
        <p:nvSpPr>
          <p:cNvPr id="4" name="Date Placeholder 3"/>
          <p:cNvSpPr>
            <a:spLocks noGrp="1"/>
          </p:cNvSpPr>
          <p:nvPr>
            <p:ph type="dt" sz="half" idx="10"/>
          </p:nvPr>
        </p:nvSpPr>
        <p:spPr/>
        <p:txBody>
          <a:bodyPr/>
          <a:lstStyle/>
          <a:p>
            <a:fld id="{C5B78DA1-6DE4-4BCD-B225-64C836F96C47}" type="datetime4">
              <a:rPr lang="en-US" smtClean="0"/>
              <a:pPr/>
              <a:t>November 9, 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F8BE4994-793F-4AF4-89A3-515E9DA12016}" type="slidenum">
              <a:rPr lang="en-US" smtClean="0"/>
              <a:pPr/>
              <a:t>5</a:t>
            </a:fld>
            <a:endParaRPr lang="en-US"/>
          </a:p>
        </p:txBody>
      </p:sp>
      <p:pic>
        <p:nvPicPr>
          <p:cNvPr id="7" name="Picture 6"/>
          <p:cNvPicPr/>
          <p:nvPr/>
        </p:nvPicPr>
        <p:blipFill>
          <a:blip r:embed="rId6"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2">
              <a:lumMod val="20000"/>
              <a:lumOff val="80000"/>
            </a:schemeClr>
          </a:solidFill>
        </p:spPr>
        <p:txBody>
          <a:bodyPr/>
          <a:lstStyle/>
          <a:p>
            <a:r>
              <a:rPr lang="en-US" b="1" dirty="0" smtClean="0">
                <a:solidFill>
                  <a:srgbClr val="008000"/>
                </a:solidFill>
                <a:latin typeface="Times New Roman" pitchFamily="18" charset="0"/>
                <a:cs typeface="Times New Roman" pitchFamily="18" charset="0"/>
              </a:rPr>
              <a:t>Environmental Ethics</a:t>
            </a:r>
            <a:endParaRPr lang="en-US" dirty="0"/>
          </a:p>
        </p:txBody>
      </p:sp>
      <p:sp>
        <p:nvSpPr>
          <p:cNvPr id="3" name="Content Placeholder 2"/>
          <p:cNvSpPr>
            <a:spLocks noGrp="1"/>
          </p:cNvSpPr>
          <p:nvPr>
            <p:ph idx="1"/>
          </p:nvPr>
        </p:nvSpPr>
        <p:spPr>
          <a:solidFill>
            <a:schemeClr val="accent6">
              <a:lumMod val="20000"/>
              <a:lumOff val="80000"/>
            </a:schemeClr>
          </a:solidFill>
        </p:spPr>
        <p:txBody>
          <a:bodyPr/>
          <a:lstStyle/>
          <a:p>
            <a:pPr>
              <a:buNone/>
            </a:pPr>
            <a:r>
              <a:rPr lang="en-IN" b="1" dirty="0" smtClean="0">
                <a:solidFill>
                  <a:srgbClr val="0033CC"/>
                </a:solidFill>
                <a:latin typeface="Times New Roman" pitchFamily="18" charset="0"/>
                <a:cs typeface="Times New Roman" pitchFamily="18" charset="0"/>
              </a:rPr>
              <a:t>Also influential was Garrett Hardin's later essay called "Exploring New Ethics for Survival", as well as an essay by </a:t>
            </a:r>
            <a:r>
              <a:rPr lang="en-IN" b="1" dirty="0" smtClean="0">
                <a:solidFill>
                  <a:srgbClr val="0033CC"/>
                </a:solidFill>
                <a:latin typeface="Times New Roman" pitchFamily="18" charset="0"/>
                <a:cs typeface="Times New Roman" pitchFamily="18" charset="0"/>
                <a:hlinkClick r:id="rId2" tooltip="Aldo Leopold"/>
              </a:rPr>
              <a:t>Aldo Leopold</a:t>
            </a:r>
            <a:r>
              <a:rPr lang="en-IN" b="1" dirty="0" smtClean="0">
                <a:solidFill>
                  <a:srgbClr val="0033CC"/>
                </a:solidFill>
                <a:latin typeface="Times New Roman" pitchFamily="18" charset="0"/>
                <a:cs typeface="Times New Roman" pitchFamily="18" charset="0"/>
              </a:rPr>
              <a:t> in his </a:t>
            </a:r>
            <a:r>
              <a:rPr lang="en-IN" b="1" i="1" dirty="0" smtClean="0">
                <a:solidFill>
                  <a:srgbClr val="0033CC"/>
                </a:solidFill>
                <a:latin typeface="Times New Roman" pitchFamily="18" charset="0"/>
                <a:cs typeface="Times New Roman" pitchFamily="18" charset="0"/>
                <a:hlinkClick r:id="rId3" tooltip="A Sand County Almanac"/>
              </a:rPr>
              <a:t>A Sand County Almanac</a:t>
            </a:r>
            <a:r>
              <a:rPr lang="en-IN" b="1" dirty="0" smtClean="0">
                <a:solidFill>
                  <a:srgbClr val="0033CC"/>
                </a:solidFill>
                <a:latin typeface="Times New Roman" pitchFamily="18" charset="0"/>
                <a:cs typeface="Times New Roman" pitchFamily="18" charset="0"/>
              </a:rPr>
              <a:t>, called "The Land Ethic," in which Leopold explicitly claimed that the roots of the ecological crisis were philosophical (1949).</a:t>
            </a:r>
            <a:endParaRPr lang="en-US" b="1" dirty="0" smtClean="0">
              <a:solidFill>
                <a:srgbClr val="0033CC"/>
              </a:solidFill>
              <a:latin typeface="Times New Roman" pitchFamily="18" charset="0"/>
              <a:cs typeface="Times New Roman" pitchFamily="18" charset="0"/>
            </a:endParaRPr>
          </a:p>
          <a:p>
            <a:endParaRPr lang="en-US" dirty="0"/>
          </a:p>
        </p:txBody>
      </p:sp>
      <p:sp>
        <p:nvSpPr>
          <p:cNvPr id="4" name="Date Placeholder 3"/>
          <p:cNvSpPr>
            <a:spLocks noGrp="1"/>
          </p:cNvSpPr>
          <p:nvPr>
            <p:ph type="dt" sz="half" idx="10"/>
          </p:nvPr>
        </p:nvSpPr>
        <p:spPr/>
        <p:txBody>
          <a:bodyPr/>
          <a:lstStyle/>
          <a:p>
            <a:fld id="{C5B78DA1-6DE4-4BCD-B225-64C836F96C47}" type="datetime4">
              <a:rPr lang="en-US" smtClean="0"/>
              <a:pPr/>
              <a:t>November 9, 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F8BE4994-793F-4AF4-89A3-515E9DA12016}" type="slidenum">
              <a:rPr lang="en-US" smtClean="0"/>
              <a:pPr/>
              <a:t>6</a:t>
            </a:fld>
            <a:endParaRPr lang="en-US"/>
          </a:p>
        </p:txBody>
      </p:sp>
      <p:pic>
        <p:nvPicPr>
          <p:cNvPr id="7" name="Picture 6"/>
          <p:cNvPicPr/>
          <p:nvPr/>
        </p:nvPicPr>
        <p:blipFill>
          <a:blip r:embed="rId4"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2">
              <a:lumMod val="20000"/>
              <a:lumOff val="80000"/>
            </a:schemeClr>
          </a:solidFill>
        </p:spPr>
        <p:txBody>
          <a:bodyPr/>
          <a:lstStyle/>
          <a:p>
            <a:r>
              <a:rPr lang="en-US" b="1" dirty="0" smtClean="0">
                <a:solidFill>
                  <a:srgbClr val="006600"/>
                </a:solidFill>
                <a:latin typeface="Times New Roman" pitchFamily="18" charset="0"/>
                <a:cs typeface="Times New Roman" pitchFamily="18" charset="0"/>
              </a:rPr>
              <a:t>Environmental Ethics</a:t>
            </a:r>
            <a:endParaRPr lang="en-US" dirty="0">
              <a:solidFill>
                <a:srgbClr val="006600"/>
              </a:solidFill>
            </a:endParaRPr>
          </a:p>
        </p:txBody>
      </p:sp>
      <p:sp>
        <p:nvSpPr>
          <p:cNvPr id="3" name="Content Placeholder 2"/>
          <p:cNvSpPr>
            <a:spLocks noGrp="1"/>
          </p:cNvSpPr>
          <p:nvPr>
            <p:ph idx="1"/>
          </p:nvPr>
        </p:nvSpPr>
        <p:spPr>
          <a:solidFill>
            <a:schemeClr val="accent6">
              <a:lumMod val="20000"/>
              <a:lumOff val="80000"/>
            </a:schemeClr>
          </a:solidFill>
        </p:spPr>
        <p:txBody>
          <a:bodyPr/>
          <a:lstStyle/>
          <a:p>
            <a:pPr>
              <a:buNone/>
            </a:pPr>
            <a:r>
              <a:rPr lang="en-IN" b="1" dirty="0" smtClean="0">
                <a:solidFill>
                  <a:srgbClr val="0033CC"/>
                </a:solidFill>
                <a:latin typeface="Times New Roman" pitchFamily="18" charset="0"/>
                <a:cs typeface="Times New Roman" pitchFamily="18" charset="0"/>
              </a:rPr>
              <a:t>The first international academic journal in this field emerged from North America in the late 1970s and early 1980s – the US-based journal </a:t>
            </a:r>
            <a:r>
              <a:rPr lang="en-IN" b="1" i="1" dirty="0" smtClean="0">
                <a:solidFill>
                  <a:srgbClr val="FF0000"/>
                </a:solidFill>
                <a:latin typeface="Times New Roman" pitchFamily="18" charset="0"/>
                <a:cs typeface="Times New Roman" pitchFamily="18" charset="0"/>
                <a:hlinkClick r:id="rId2" tooltip="Environmental Ethics (journal)"/>
              </a:rPr>
              <a:t>Environmental Ethics</a:t>
            </a:r>
            <a:r>
              <a:rPr lang="en-IN" b="1" dirty="0" smtClean="0">
                <a:solidFill>
                  <a:srgbClr val="FF0000"/>
                </a:solidFill>
                <a:latin typeface="Times New Roman" pitchFamily="18" charset="0"/>
                <a:cs typeface="Times New Roman" pitchFamily="18" charset="0"/>
              </a:rPr>
              <a:t> </a:t>
            </a:r>
            <a:r>
              <a:rPr lang="en-IN" b="1" dirty="0" smtClean="0">
                <a:solidFill>
                  <a:srgbClr val="0033CC"/>
                </a:solidFill>
                <a:latin typeface="Times New Roman" pitchFamily="18" charset="0"/>
                <a:cs typeface="Times New Roman" pitchFamily="18" charset="0"/>
              </a:rPr>
              <a:t>in 1979 and the Canadian based journal </a:t>
            </a:r>
            <a:r>
              <a:rPr lang="en-IN" b="1" i="1" dirty="0" smtClean="0">
                <a:solidFill>
                  <a:srgbClr val="0033CC"/>
                </a:solidFill>
                <a:latin typeface="Times New Roman" pitchFamily="18" charset="0"/>
                <a:cs typeface="Times New Roman" pitchFamily="18" charset="0"/>
                <a:hlinkClick r:id="rId3" tooltip="The Trumpeter: Journal of Ecosophy (page does not exist)"/>
              </a:rPr>
              <a:t>The Trumpeter: Journal of </a:t>
            </a:r>
            <a:r>
              <a:rPr lang="en-IN" b="1" i="1" dirty="0" err="1" smtClean="0">
                <a:solidFill>
                  <a:srgbClr val="0033CC"/>
                </a:solidFill>
                <a:latin typeface="Times New Roman" pitchFamily="18" charset="0"/>
                <a:cs typeface="Times New Roman" pitchFamily="18" charset="0"/>
                <a:hlinkClick r:id="rId3" tooltip="The Trumpeter: Journal of Ecosophy (page does not exist)"/>
              </a:rPr>
              <a:t>Ecosophy</a:t>
            </a:r>
            <a:r>
              <a:rPr lang="en-IN" b="1" dirty="0" smtClean="0">
                <a:solidFill>
                  <a:srgbClr val="0033CC"/>
                </a:solidFill>
                <a:latin typeface="Times New Roman" pitchFamily="18" charset="0"/>
                <a:cs typeface="Times New Roman" pitchFamily="18" charset="0"/>
              </a:rPr>
              <a:t> in 1983. The first British based journal of this kind, </a:t>
            </a:r>
            <a:r>
              <a:rPr lang="en-IN" b="1" i="1" dirty="0" smtClean="0">
                <a:solidFill>
                  <a:srgbClr val="0033CC"/>
                </a:solidFill>
                <a:latin typeface="Times New Roman" pitchFamily="18" charset="0"/>
                <a:cs typeface="Times New Roman" pitchFamily="18" charset="0"/>
                <a:hlinkClick r:id="rId4" tooltip="Environmental Values"/>
              </a:rPr>
              <a:t>Environmental Values</a:t>
            </a:r>
            <a:r>
              <a:rPr lang="en-IN" b="1" dirty="0" smtClean="0">
                <a:solidFill>
                  <a:srgbClr val="0033CC"/>
                </a:solidFill>
                <a:latin typeface="Times New Roman" pitchFamily="18" charset="0"/>
                <a:cs typeface="Times New Roman" pitchFamily="18" charset="0"/>
              </a:rPr>
              <a:t>, was launched in 1992.</a:t>
            </a:r>
            <a:endParaRPr lang="en-US" b="1" dirty="0" smtClean="0">
              <a:solidFill>
                <a:srgbClr val="0033CC"/>
              </a:solidFill>
              <a:latin typeface="Times New Roman" pitchFamily="18" charset="0"/>
              <a:cs typeface="Times New Roman" pitchFamily="18" charset="0"/>
            </a:endParaRPr>
          </a:p>
          <a:p>
            <a:endParaRPr lang="en-US" dirty="0"/>
          </a:p>
        </p:txBody>
      </p:sp>
      <p:sp>
        <p:nvSpPr>
          <p:cNvPr id="4" name="Date Placeholder 3"/>
          <p:cNvSpPr>
            <a:spLocks noGrp="1"/>
          </p:cNvSpPr>
          <p:nvPr>
            <p:ph type="dt" sz="half" idx="10"/>
          </p:nvPr>
        </p:nvSpPr>
        <p:spPr/>
        <p:txBody>
          <a:bodyPr/>
          <a:lstStyle/>
          <a:p>
            <a:fld id="{C5B78DA1-6DE4-4BCD-B225-64C836F96C47}" type="datetime4">
              <a:rPr lang="en-US" smtClean="0"/>
              <a:pPr/>
              <a:t>November 9, 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F8BE4994-793F-4AF4-89A3-515E9DA12016}" type="slidenum">
              <a:rPr lang="en-US" smtClean="0"/>
              <a:pPr/>
              <a:t>7</a:t>
            </a:fld>
            <a:endParaRPr lang="en-US" dirty="0"/>
          </a:p>
        </p:txBody>
      </p:sp>
      <p:pic>
        <p:nvPicPr>
          <p:cNvPr id="7" name="Picture 6"/>
          <p:cNvPicPr/>
          <p:nvPr/>
        </p:nvPicPr>
        <p:blipFill>
          <a:blip r:embed="rId5"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2">
              <a:lumMod val="20000"/>
              <a:lumOff val="80000"/>
            </a:schemeClr>
          </a:solidFill>
        </p:spPr>
        <p:txBody>
          <a:bodyPr/>
          <a:lstStyle/>
          <a:p>
            <a:r>
              <a:rPr lang="en-US" b="1" dirty="0" smtClean="0">
                <a:solidFill>
                  <a:srgbClr val="006600"/>
                </a:solidFill>
                <a:latin typeface="Times New Roman" pitchFamily="18" charset="0"/>
                <a:cs typeface="Times New Roman" pitchFamily="18" charset="0"/>
              </a:rPr>
              <a:t>Environmental Ethics</a:t>
            </a:r>
            <a:endParaRPr lang="en-US" dirty="0">
              <a:solidFill>
                <a:srgbClr val="006600"/>
              </a:solidFill>
            </a:endParaRPr>
          </a:p>
        </p:txBody>
      </p:sp>
      <p:sp>
        <p:nvSpPr>
          <p:cNvPr id="3" name="Content Placeholder 2"/>
          <p:cNvSpPr>
            <a:spLocks noGrp="1"/>
          </p:cNvSpPr>
          <p:nvPr>
            <p:ph idx="1"/>
          </p:nvPr>
        </p:nvSpPr>
        <p:spPr>
          <a:solidFill>
            <a:schemeClr val="accent6">
              <a:lumMod val="20000"/>
              <a:lumOff val="80000"/>
            </a:schemeClr>
          </a:solidFill>
        </p:spPr>
        <p:txBody>
          <a:bodyPr>
            <a:normAutofit/>
          </a:bodyPr>
          <a:lstStyle/>
          <a:p>
            <a:pPr>
              <a:buNone/>
            </a:pPr>
            <a:r>
              <a:rPr lang="en-IN" b="1" dirty="0" smtClean="0">
                <a:solidFill>
                  <a:srgbClr val="0033CC"/>
                </a:solidFill>
                <a:latin typeface="Times New Roman" pitchFamily="18" charset="0"/>
                <a:cs typeface="Times New Roman" pitchFamily="18" charset="0"/>
              </a:rPr>
              <a:t>Environmental Ethics became a subject of sustained academic philosophic reflection in the 1970s. Throughout the 1980s it remained marginalized within the discipline of philosophy, attracting the attention of a fairly small group of thinkers spread across the world.</a:t>
            </a:r>
            <a:endParaRPr lang="en-US" b="1" dirty="0" smtClean="0">
              <a:solidFill>
                <a:srgbClr val="0033CC"/>
              </a:solidFill>
              <a:latin typeface="Times New Roman" pitchFamily="18" charset="0"/>
              <a:cs typeface="Times New Roman" pitchFamily="18" charset="0"/>
            </a:endParaRPr>
          </a:p>
          <a:p>
            <a:endParaRPr lang="en-US" dirty="0"/>
          </a:p>
        </p:txBody>
      </p:sp>
      <p:sp>
        <p:nvSpPr>
          <p:cNvPr id="4" name="Date Placeholder 3"/>
          <p:cNvSpPr>
            <a:spLocks noGrp="1"/>
          </p:cNvSpPr>
          <p:nvPr>
            <p:ph type="dt" sz="half" idx="10"/>
          </p:nvPr>
        </p:nvSpPr>
        <p:spPr/>
        <p:txBody>
          <a:bodyPr/>
          <a:lstStyle/>
          <a:p>
            <a:fld id="{C5B78DA1-6DE4-4BCD-B225-64C836F96C47}" type="datetime4">
              <a:rPr lang="en-US" smtClean="0"/>
              <a:pPr/>
              <a:t>November 9, 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F8BE4994-793F-4AF4-89A3-515E9DA12016}" type="slidenum">
              <a:rPr lang="en-US" smtClean="0"/>
              <a:pPr/>
              <a:t>8</a:t>
            </a:fld>
            <a:endParaRPr lang="en-US"/>
          </a:p>
        </p:txBody>
      </p:sp>
      <p:pic>
        <p:nvPicPr>
          <p:cNvPr id="7" name="Picture 6"/>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2">
              <a:lumMod val="20000"/>
              <a:lumOff val="80000"/>
            </a:schemeClr>
          </a:solidFill>
        </p:spPr>
        <p:txBody>
          <a:bodyPr/>
          <a:lstStyle/>
          <a:p>
            <a:r>
              <a:rPr lang="en-US" b="1" dirty="0" smtClean="0">
                <a:solidFill>
                  <a:srgbClr val="006600"/>
                </a:solidFill>
                <a:latin typeface="Times New Roman" pitchFamily="18" charset="0"/>
                <a:cs typeface="Times New Roman" pitchFamily="18" charset="0"/>
              </a:rPr>
              <a:t>Environmental Ethics</a:t>
            </a:r>
            <a:endParaRPr lang="en-US" dirty="0"/>
          </a:p>
        </p:txBody>
      </p:sp>
      <p:sp>
        <p:nvSpPr>
          <p:cNvPr id="3" name="Content Placeholder 2"/>
          <p:cNvSpPr>
            <a:spLocks noGrp="1"/>
          </p:cNvSpPr>
          <p:nvPr>
            <p:ph idx="1"/>
          </p:nvPr>
        </p:nvSpPr>
        <p:spPr>
          <a:solidFill>
            <a:schemeClr val="accent6">
              <a:lumMod val="20000"/>
              <a:lumOff val="80000"/>
            </a:schemeClr>
          </a:solidFill>
        </p:spPr>
        <p:txBody>
          <a:bodyPr/>
          <a:lstStyle/>
          <a:p>
            <a:pPr>
              <a:buNone/>
            </a:pPr>
            <a:r>
              <a:rPr lang="en-IN" b="1" dirty="0" smtClean="0">
                <a:solidFill>
                  <a:srgbClr val="0033CC"/>
                </a:solidFill>
                <a:latin typeface="Times New Roman" pitchFamily="18" charset="0"/>
                <a:cs typeface="Times New Roman" pitchFamily="18" charset="0"/>
              </a:rPr>
              <a:t>Only after 1990 did the field gain institutional recognition at programs such as Colorado State, the University of Montana, Bowling Green State, and the University of North Texas. In 1991, Schumacher College of Darlington, England, was founded and now provides an MSc in Holistic Science.</a:t>
            </a:r>
            <a:endParaRPr lang="en-US" b="1" dirty="0" smtClean="0">
              <a:solidFill>
                <a:srgbClr val="0033CC"/>
              </a:solidFill>
              <a:latin typeface="Times New Roman" pitchFamily="18" charset="0"/>
              <a:cs typeface="Times New Roman" pitchFamily="18" charset="0"/>
            </a:endParaRPr>
          </a:p>
          <a:p>
            <a:endParaRPr lang="en-US" dirty="0"/>
          </a:p>
        </p:txBody>
      </p:sp>
      <p:sp>
        <p:nvSpPr>
          <p:cNvPr id="4" name="Date Placeholder 3"/>
          <p:cNvSpPr>
            <a:spLocks noGrp="1"/>
          </p:cNvSpPr>
          <p:nvPr>
            <p:ph type="dt" sz="half" idx="10"/>
          </p:nvPr>
        </p:nvSpPr>
        <p:spPr/>
        <p:txBody>
          <a:bodyPr/>
          <a:lstStyle/>
          <a:p>
            <a:fld id="{C5B78DA1-6DE4-4BCD-B225-64C836F96C47}" type="datetime4">
              <a:rPr lang="en-US" smtClean="0"/>
              <a:pPr/>
              <a:t>November 9, 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F8BE4994-793F-4AF4-89A3-515E9DA12016}" type="slidenum">
              <a:rPr lang="en-US" smtClean="0"/>
              <a:pPr/>
              <a:t>9</a:t>
            </a:fld>
            <a:endParaRPr lang="en-US"/>
          </a:p>
        </p:txBody>
      </p:sp>
      <p:pic>
        <p:nvPicPr>
          <p:cNvPr id="7" name="Picture 6"/>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blipFill>
            <a:blip r:embed="rId2" cstate="print"/>
            <a:tile tx="0" ty="0" sx="100000" sy="100000" flip="none" algn="tl"/>
          </a:blipFill>
        </p:spPr>
        <p:txBody>
          <a:bodyPr/>
          <a:lstStyle/>
          <a:p>
            <a:r>
              <a:rPr lang="en-US" b="1" dirty="0" smtClean="0">
                <a:solidFill>
                  <a:srgbClr val="006600"/>
                </a:solidFill>
                <a:latin typeface="Times New Roman" pitchFamily="18" charset="0"/>
                <a:cs typeface="Times New Roman" pitchFamily="18" charset="0"/>
              </a:rPr>
              <a:t>Environmental Ethics</a:t>
            </a:r>
            <a:endParaRPr lang="en-US" dirty="0">
              <a:solidFill>
                <a:srgbClr val="006600"/>
              </a:solidFill>
            </a:endParaRPr>
          </a:p>
        </p:txBody>
      </p:sp>
      <p:sp>
        <p:nvSpPr>
          <p:cNvPr id="3" name="Content Placeholder 2"/>
          <p:cNvSpPr>
            <a:spLocks noGrp="1"/>
          </p:cNvSpPr>
          <p:nvPr>
            <p:ph idx="1"/>
          </p:nvPr>
        </p:nvSpPr>
        <p:spPr>
          <a:solidFill>
            <a:schemeClr val="accent6">
              <a:lumMod val="20000"/>
              <a:lumOff val="80000"/>
            </a:schemeClr>
          </a:solidFill>
        </p:spPr>
        <p:txBody>
          <a:bodyPr/>
          <a:lstStyle/>
          <a:p>
            <a:pPr>
              <a:buNone/>
            </a:pPr>
            <a:r>
              <a:rPr lang="en-IN" b="1" dirty="0" smtClean="0">
                <a:solidFill>
                  <a:srgbClr val="0033CC"/>
                </a:solidFill>
                <a:latin typeface="Times New Roman" pitchFamily="18" charset="0"/>
                <a:cs typeface="Times New Roman" pitchFamily="18" charset="0"/>
              </a:rPr>
              <a:t>These programs began to offer a masters degree with a specialty in environmental ethics/philosophy. Beginning in 2005 the Dept of Philosophy and Religion Studies at the University of North Texas offered a PhD program with a concentration in environmental ethics/philosophy.</a:t>
            </a:r>
            <a:endParaRPr lang="en-US" b="1" dirty="0" smtClean="0">
              <a:solidFill>
                <a:srgbClr val="0033CC"/>
              </a:solidFill>
              <a:latin typeface="Times New Roman" pitchFamily="18" charset="0"/>
              <a:cs typeface="Times New Roman" pitchFamily="18" charset="0"/>
            </a:endParaRPr>
          </a:p>
          <a:p>
            <a:endParaRPr lang="en-US" dirty="0"/>
          </a:p>
        </p:txBody>
      </p:sp>
      <p:sp>
        <p:nvSpPr>
          <p:cNvPr id="4" name="Date Placeholder 3"/>
          <p:cNvSpPr>
            <a:spLocks noGrp="1"/>
          </p:cNvSpPr>
          <p:nvPr>
            <p:ph type="dt" sz="half" idx="10"/>
          </p:nvPr>
        </p:nvSpPr>
        <p:spPr/>
        <p:txBody>
          <a:bodyPr/>
          <a:lstStyle/>
          <a:p>
            <a:fld id="{C5B78DA1-6DE4-4BCD-B225-64C836F96C47}" type="datetime4">
              <a:rPr lang="en-US" smtClean="0"/>
              <a:pPr/>
              <a:t>November 9, 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F8BE4994-793F-4AF4-89A3-515E9DA12016}" type="slidenum">
              <a:rPr lang="en-US" smtClean="0"/>
              <a:pPr/>
              <a:t>10</a:t>
            </a:fld>
            <a:endParaRPr lang="en-US"/>
          </a:p>
        </p:txBody>
      </p:sp>
      <p:pic>
        <p:nvPicPr>
          <p:cNvPr id="7" name="Picture 6"/>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blipFill>
            <a:blip r:embed="rId2" cstate="print"/>
            <a:tile tx="0" ty="0" sx="100000" sy="100000" flip="none" algn="tl"/>
          </a:blipFill>
        </p:spPr>
        <p:txBody>
          <a:bodyPr/>
          <a:lstStyle/>
          <a:p>
            <a:r>
              <a:rPr lang="en-US" b="1" dirty="0" smtClean="0">
                <a:solidFill>
                  <a:srgbClr val="006600"/>
                </a:solidFill>
                <a:latin typeface="Times New Roman" pitchFamily="18" charset="0"/>
                <a:cs typeface="Times New Roman" pitchFamily="18" charset="0"/>
              </a:rPr>
              <a:t>Environmental Ethics</a:t>
            </a:r>
            <a:endParaRPr lang="en-US" dirty="0"/>
          </a:p>
        </p:txBody>
      </p:sp>
      <p:sp>
        <p:nvSpPr>
          <p:cNvPr id="3" name="Content Placeholder 2"/>
          <p:cNvSpPr>
            <a:spLocks noGrp="1"/>
          </p:cNvSpPr>
          <p:nvPr>
            <p:ph idx="1"/>
          </p:nvPr>
        </p:nvSpPr>
        <p:spPr>
          <a:xfrm>
            <a:off x="152400" y="1600200"/>
            <a:ext cx="8763000" cy="4724400"/>
          </a:xfrm>
          <a:solidFill>
            <a:schemeClr val="accent6">
              <a:lumMod val="20000"/>
              <a:lumOff val="80000"/>
            </a:schemeClr>
          </a:solidFill>
        </p:spPr>
        <p:txBody>
          <a:bodyPr>
            <a:normAutofit/>
          </a:bodyPr>
          <a:lstStyle/>
          <a:p>
            <a:pPr>
              <a:buNone/>
            </a:pPr>
            <a:r>
              <a:rPr lang="en-IN" b="1" dirty="0" smtClean="0">
                <a:latin typeface="Times New Roman" pitchFamily="18" charset="0"/>
                <a:cs typeface="Times New Roman" pitchFamily="18" charset="0"/>
              </a:rPr>
              <a:t>Environmental ethics is the discipline in philosophy that studies the </a:t>
            </a:r>
            <a:r>
              <a:rPr lang="en-IN" sz="3600" b="1" dirty="0" smtClean="0">
                <a:solidFill>
                  <a:srgbClr val="FF0000"/>
                </a:solidFill>
                <a:latin typeface="Times New Roman" pitchFamily="18" charset="0"/>
                <a:cs typeface="Times New Roman" pitchFamily="18" charset="0"/>
              </a:rPr>
              <a:t>moral relationship of human beings to, and also the value and moral status of, the environment and its nonhuman contents. </a:t>
            </a:r>
          </a:p>
          <a:p>
            <a:endParaRPr lang="en-US" dirty="0"/>
          </a:p>
        </p:txBody>
      </p:sp>
      <p:sp>
        <p:nvSpPr>
          <p:cNvPr id="4" name="Date Placeholder 3"/>
          <p:cNvSpPr>
            <a:spLocks noGrp="1"/>
          </p:cNvSpPr>
          <p:nvPr>
            <p:ph type="dt" sz="half" idx="10"/>
          </p:nvPr>
        </p:nvSpPr>
        <p:spPr/>
        <p:txBody>
          <a:bodyPr/>
          <a:lstStyle/>
          <a:p>
            <a:fld id="{C5B78DA1-6DE4-4BCD-B225-64C836F96C47}" type="datetime4">
              <a:rPr lang="en-US" smtClean="0"/>
              <a:pPr/>
              <a:t>November 9, 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F8BE4994-793F-4AF4-89A3-515E9DA12016}" type="slidenum">
              <a:rPr lang="en-US" smtClean="0"/>
              <a:pPr/>
              <a:t>11</a:t>
            </a:fld>
            <a:endParaRPr lang="en-US"/>
          </a:p>
        </p:txBody>
      </p:sp>
      <p:pic>
        <p:nvPicPr>
          <p:cNvPr id="7" name="Picture 6"/>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blipFill>
            <a:blip r:embed="rId2" cstate="print"/>
            <a:tile tx="0" ty="0" sx="100000" sy="100000" flip="none" algn="tl"/>
          </a:blipFill>
        </p:spPr>
        <p:txBody>
          <a:bodyPr/>
          <a:lstStyle/>
          <a:p>
            <a:r>
              <a:rPr lang="en-US" b="1" dirty="0" smtClean="0">
                <a:solidFill>
                  <a:srgbClr val="006600"/>
                </a:solidFill>
                <a:latin typeface="Times New Roman" pitchFamily="18" charset="0"/>
                <a:cs typeface="Times New Roman" pitchFamily="18" charset="0"/>
              </a:rPr>
              <a:t>Environmental Ethics</a:t>
            </a:r>
            <a:endParaRPr lang="en-US" dirty="0"/>
          </a:p>
        </p:txBody>
      </p:sp>
      <p:sp>
        <p:nvSpPr>
          <p:cNvPr id="3" name="Content Placeholder 2"/>
          <p:cNvSpPr>
            <a:spLocks noGrp="1"/>
          </p:cNvSpPr>
          <p:nvPr>
            <p:ph idx="1"/>
          </p:nvPr>
        </p:nvSpPr>
        <p:spPr>
          <a:solidFill>
            <a:schemeClr val="accent6">
              <a:lumMod val="20000"/>
              <a:lumOff val="80000"/>
            </a:schemeClr>
          </a:solidFill>
        </p:spPr>
        <p:txBody>
          <a:bodyPr/>
          <a:lstStyle/>
          <a:p>
            <a:r>
              <a:rPr lang="en-US" b="1" i="1" dirty="0" smtClean="0">
                <a:solidFill>
                  <a:srgbClr val="FF0000"/>
                </a:solidFill>
                <a:latin typeface="Times New Roman" pitchFamily="18" charset="0"/>
                <a:cs typeface="Times New Roman" pitchFamily="18" charset="0"/>
              </a:rPr>
              <a:t>Environmental Ethics </a:t>
            </a:r>
            <a:r>
              <a:rPr lang="en-US" b="1" dirty="0" smtClean="0">
                <a:solidFill>
                  <a:srgbClr val="0033CC"/>
                </a:solidFill>
                <a:latin typeface="Times New Roman" pitchFamily="18" charset="0"/>
                <a:cs typeface="Times New Roman" pitchFamily="18" charset="0"/>
              </a:rPr>
              <a:t>concerns itself with the moral relationship between humans and the world around us in contrast to the </a:t>
            </a:r>
            <a:r>
              <a:rPr lang="en-US" b="1" i="1" dirty="0" smtClean="0">
                <a:solidFill>
                  <a:srgbClr val="FF0000"/>
                </a:solidFill>
                <a:latin typeface="Times New Roman" pitchFamily="18" charset="0"/>
                <a:cs typeface="Times New Roman" pitchFamily="18" charset="0"/>
              </a:rPr>
              <a:t>Traditional Ethics </a:t>
            </a:r>
            <a:r>
              <a:rPr lang="en-US" b="1" dirty="0" smtClean="0">
                <a:solidFill>
                  <a:srgbClr val="0033CC"/>
                </a:solidFill>
                <a:latin typeface="Times New Roman" pitchFamily="18" charset="0"/>
                <a:cs typeface="Times New Roman" pitchFamily="18" charset="0"/>
              </a:rPr>
              <a:t>which deals primarily with relationship among peoples only (Milbredth, 1981)</a:t>
            </a:r>
          </a:p>
          <a:p>
            <a:pPr>
              <a:buNone/>
            </a:pPr>
            <a:endParaRPr lang="en-US" dirty="0"/>
          </a:p>
        </p:txBody>
      </p:sp>
      <p:sp>
        <p:nvSpPr>
          <p:cNvPr id="4" name="Date Placeholder 3"/>
          <p:cNvSpPr>
            <a:spLocks noGrp="1"/>
          </p:cNvSpPr>
          <p:nvPr>
            <p:ph type="dt" sz="half" idx="10"/>
          </p:nvPr>
        </p:nvSpPr>
        <p:spPr/>
        <p:txBody>
          <a:bodyPr/>
          <a:lstStyle/>
          <a:p>
            <a:fld id="{C5B78DA1-6DE4-4BCD-B225-64C836F96C47}" type="datetime4">
              <a:rPr lang="en-US" smtClean="0"/>
              <a:pPr/>
              <a:t>November 9, 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F8BE4994-793F-4AF4-89A3-515E9DA12016}" type="slidenum">
              <a:rPr lang="en-US" smtClean="0"/>
              <a:pPr/>
              <a:t>12</a:t>
            </a:fld>
            <a:endParaRPr lang="en-US"/>
          </a:p>
        </p:txBody>
      </p:sp>
      <p:pic>
        <p:nvPicPr>
          <p:cNvPr id="7" name="Picture 6"/>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blipFill>
            <a:blip r:embed="rId2" cstate="print"/>
            <a:tile tx="0" ty="0" sx="100000" sy="100000" flip="none" algn="tl"/>
          </a:blipFill>
        </p:spPr>
        <p:txBody>
          <a:bodyPr>
            <a:normAutofit/>
          </a:bodyPr>
          <a:lstStyle/>
          <a:p>
            <a:r>
              <a:rPr lang="en-US" b="1" dirty="0" smtClean="0">
                <a:solidFill>
                  <a:srgbClr val="008000"/>
                </a:solidFill>
                <a:latin typeface="Times New Roman" pitchFamily="18" charset="0"/>
                <a:cs typeface="Times New Roman" pitchFamily="18" charset="0"/>
              </a:rPr>
              <a:t>Environmental Ethics</a:t>
            </a:r>
            <a:endParaRPr lang="en-US" dirty="0">
              <a:solidFill>
                <a:srgbClr val="008000"/>
              </a:solidFill>
            </a:endParaRPr>
          </a:p>
        </p:txBody>
      </p:sp>
      <p:sp>
        <p:nvSpPr>
          <p:cNvPr id="3" name="Content Placeholder 2"/>
          <p:cNvSpPr>
            <a:spLocks noGrp="1"/>
          </p:cNvSpPr>
          <p:nvPr>
            <p:ph idx="1"/>
          </p:nvPr>
        </p:nvSpPr>
        <p:spPr>
          <a:solidFill>
            <a:schemeClr val="accent6">
              <a:lumMod val="20000"/>
              <a:lumOff val="80000"/>
            </a:schemeClr>
          </a:solidFill>
        </p:spPr>
        <p:txBody>
          <a:bodyPr>
            <a:normAutofit/>
          </a:bodyPr>
          <a:lstStyle/>
          <a:p>
            <a:pPr>
              <a:buNone/>
            </a:pPr>
            <a:r>
              <a:rPr lang="en-US" sz="2800" b="1" dirty="0" smtClean="0">
                <a:solidFill>
                  <a:srgbClr val="0033CC"/>
                </a:solidFill>
                <a:latin typeface="Times New Roman" pitchFamily="18" charset="0"/>
                <a:cs typeface="Times New Roman" pitchFamily="18" charset="0"/>
              </a:rPr>
              <a:t>I. The Need of Environmental Ethics</a:t>
            </a:r>
          </a:p>
          <a:p>
            <a:pPr>
              <a:buNone/>
            </a:pPr>
            <a:r>
              <a:rPr lang="en-US" sz="2400" b="1" dirty="0" smtClean="0">
                <a:latin typeface="Times New Roman" pitchFamily="18" charset="0"/>
                <a:cs typeface="Times New Roman" pitchFamily="18" charset="0"/>
              </a:rPr>
              <a:t>The scientific evidence indicates that because of human activities, the global environment is undergoing profound changes. Man has since long affected his local environment but it is only in 20</a:t>
            </a:r>
            <a:r>
              <a:rPr lang="en-US" sz="2400" b="1" baseline="30000" dirty="0" smtClean="0">
                <a:latin typeface="Times New Roman" pitchFamily="18" charset="0"/>
                <a:cs typeface="Times New Roman" pitchFamily="18" charset="0"/>
              </a:rPr>
              <a:t>th</a:t>
            </a:r>
            <a:r>
              <a:rPr lang="en-US" sz="2400" b="1" dirty="0" smtClean="0">
                <a:latin typeface="Times New Roman" pitchFamily="18" charset="0"/>
                <a:cs typeface="Times New Roman" pitchFamily="18" charset="0"/>
              </a:rPr>
              <a:t> century, especially in the last 50 years that the consequences of his actions have expanded on global scale.</a:t>
            </a:r>
          </a:p>
          <a:p>
            <a:pPr>
              <a:buNone/>
            </a:pPr>
            <a:r>
              <a:rPr lang="en-US" sz="2400" b="1" dirty="0" smtClean="0">
                <a:latin typeface="Times New Roman" pitchFamily="18" charset="0"/>
                <a:cs typeface="Times New Roman" pitchFamily="18" charset="0"/>
              </a:rPr>
              <a:t>The stage has reached to that critical phase that even emission from a car or cutting of a few trees can influence the physical and chemical systems which govern our planet earth.</a:t>
            </a:r>
          </a:p>
        </p:txBody>
      </p:sp>
      <p:sp>
        <p:nvSpPr>
          <p:cNvPr id="4" name="Date Placeholder 3"/>
          <p:cNvSpPr>
            <a:spLocks noGrp="1"/>
          </p:cNvSpPr>
          <p:nvPr>
            <p:ph type="dt" sz="half" idx="10"/>
          </p:nvPr>
        </p:nvSpPr>
        <p:spPr/>
        <p:txBody>
          <a:bodyPr/>
          <a:lstStyle/>
          <a:p>
            <a:fld id="{052EAB45-8501-4FAC-A8C4-AAFED241395B}" type="datetime4">
              <a:rPr lang="en-US" smtClean="0"/>
              <a:pPr/>
              <a:t>November 9, 2017</a:t>
            </a:fld>
            <a:endParaRPr lang="en-US"/>
          </a:p>
        </p:txBody>
      </p:sp>
      <p:sp>
        <p:nvSpPr>
          <p:cNvPr id="5" name="Slide Number Placeholder 4"/>
          <p:cNvSpPr>
            <a:spLocks noGrp="1"/>
          </p:cNvSpPr>
          <p:nvPr>
            <p:ph type="sldNum" sz="quarter" idx="12"/>
          </p:nvPr>
        </p:nvSpPr>
        <p:spPr/>
        <p:txBody>
          <a:bodyPr/>
          <a:lstStyle/>
          <a:p>
            <a:fld id="{F8BE4994-793F-4AF4-89A3-515E9DA12016}" type="slidenum">
              <a:rPr lang="en-US" smtClean="0"/>
              <a:pPr/>
              <a:t>13</a:t>
            </a:fld>
            <a:endParaRPr lang="en-US"/>
          </a:p>
        </p:txBody>
      </p:sp>
      <p:sp>
        <p:nvSpPr>
          <p:cNvPr id="6" name="Footer Placeholder 5"/>
          <p:cNvSpPr>
            <a:spLocks noGrp="1"/>
          </p:cNvSpPr>
          <p:nvPr>
            <p:ph type="ftr" sz="quarter" idx="11"/>
          </p:nvPr>
        </p:nvSpPr>
        <p:spPr/>
        <p:txBody>
          <a:bodyPr/>
          <a:lstStyle/>
          <a:p>
            <a:r>
              <a:rPr lang="en-US" smtClean="0"/>
              <a:t>Dr Jyoti K Sharma</a:t>
            </a:r>
            <a:endParaRPr lang="en-US"/>
          </a:p>
        </p:txBody>
      </p:sp>
      <p:pic>
        <p:nvPicPr>
          <p:cNvPr id="7" name="Picture 6"/>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blipFill>
            <a:blip r:embed="rId2" cstate="print"/>
            <a:tile tx="0" ty="0" sx="100000" sy="100000" flip="none" algn="tl"/>
          </a:blipFill>
        </p:spPr>
        <p:txBody>
          <a:bodyPr>
            <a:normAutofit/>
          </a:bodyPr>
          <a:lstStyle/>
          <a:p>
            <a:r>
              <a:rPr lang="en-US" b="1" dirty="0" smtClean="0">
                <a:solidFill>
                  <a:srgbClr val="008000"/>
                </a:solidFill>
                <a:latin typeface="Times New Roman" pitchFamily="18" charset="0"/>
                <a:cs typeface="Times New Roman" pitchFamily="18" charset="0"/>
              </a:rPr>
              <a:t>Environmental Ethics</a:t>
            </a:r>
            <a:endParaRPr lang="en-US" dirty="0">
              <a:solidFill>
                <a:srgbClr val="008000"/>
              </a:solidFill>
            </a:endParaRPr>
          </a:p>
        </p:txBody>
      </p:sp>
      <p:sp>
        <p:nvSpPr>
          <p:cNvPr id="3" name="Content Placeholder 2"/>
          <p:cNvSpPr>
            <a:spLocks noGrp="1"/>
          </p:cNvSpPr>
          <p:nvPr>
            <p:ph idx="1"/>
          </p:nvPr>
        </p:nvSpPr>
        <p:spPr>
          <a:solidFill>
            <a:schemeClr val="accent6">
              <a:lumMod val="20000"/>
              <a:lumOff val="80000"/>
            </a:schemeClr>
          </a:solidFill>
        </p:spPr>
        <p:txBody>
          <a:bodyPr>
            <a:normAutofit fontScale="92500" lnSpcReduction="20000"/>
          </a:bodyPr>
          <a:lstStyle/>
          <a:p>
            <a:pPr>
              <a:buNone/>
            </a:pPr>
            <a:r>
              <a:rPr lang="en-US" b="1" dirty="0" smtClean="0">
                <a:latin typeface="Times New Roman" pitchFamily="18" charset="0"/>
                <a:cs typeface="Times New Roman" pitchFamily="18" charset="0"/>
              </a:rPr>
              <a:t>Over the geologic past, conditions in the atmosphere, ocean and biosphere have largely followed natural cycles and patterns but today cumulative effect of human activities is a significant force driving the changes in the global environment.</a:t>
            </a:r>
          </a:p>
          <a:p>
            <a:pPr>
              <a:buNone/>
            </a:pPr>
            <a:r>
              <a:rPr lang="en-US" b="1" dirty="0" smtClean="0">
                <a:latin typeface="Times New Roman" pitchFamily="18" charset="0"/>
                <a:cs typeface="Times New Roman" pitchFamily="18" charset="0"/>
              </a:rPr>
              <a:t>The changes brought by human activity tend to make life more and more difficult every day as evident from extinction of species, global warming, decreasing crop productivity, decreasing water resources, etc.</a:t>
            </a:r>
          </a:p>
          <a:p>
            <a:endParaRPr lang="en-US" dirty="0"/>
          </a:p>
        </p:txBody>
      </p:sp>
      <p:sp>
        <p:nvSpPr>
          <p:cNvPr id="4" name="Date Placeholder 3"/>
          <p:cNvSpPr>
            <a:spLocks noGrp="1"/>
          </p:cNvSpPr>
          <p:nvPr>
            <p:ph type="dt" sz="half" idx="10"/>
          </p:nvPr>
        </p:nvSpPr>
        <p:spPr/>
        <p:txBody>
          <a:bodyPr/>
          <a:lstStyle/>
          <a:p>
            <a:fld id="{6BAA1DB4-95E8-42FB-9026-949075DBF2B5}" type="datetime4">
              <a:rPr lang="en-US" smtClean="0"/>
              <a:pPr/>
              <a:t>November 9, 2017</a:t>
            </a:fld>
            <a:endParaRPr lang="en-US"/>
          </a:p>
        </p:txBody>
      </p:sp>
      <p:sp>
        <p:nvSpPr>
          <p:cNvPr id="5" name="Slide Number Placeholder 4"/>
          <p:cNvSpPr>
            <a:spLocks noGrp="1"/>
          </p:cNvSpPr>
          <p:nvPr>
            <p:ph type="sldNum" sz="quarter" idx="12"/>
          </p:nvPr>
        </p:nvSpPr>
        <p:spPr/>
        <p:txBody>
          <a:bodyPr/>
          <a:lstStyle/>
          <a:p>
            <a:fld id="{F8BE4994-793F-4AF4-89A3-515E9DA12016}" type="slidenum">
              <a:rPr lang="en-US" smtClean="0"/>
              <a:pPr/>
              <a:t>14</a:t>
            </a:fld>
            <a:endParaRPr lang="en-US"/>
          </a:p>
        </p:txBody>
      </p:sp>
      <p:sp>
        <p:nvSpPr>
          <p:cNvPr id="6" name="Footer Placeholder 5"/>
          <p:cNvSpPr>
            <a:spLocks noGrp="1"/>
          </p:cNvSpPr>
          <p:nvPr>
            <p:ph type="ftr" sz="quarter" idx="11"/>
          </p:nvPr>
        </p:nvSpPr>
        <p:spPr/>
        <p:txBody>
          <a:bodyPr/>
          <a:lstStyle/>
          <a:p>
            <a:r>
              <a:rPr lang="en-US" smtClean="0"/>
              <a:t>Dr Jyoti K Sharma</a:t>
            </a:r>
            <a:endParaRPr lang="en-US"/>
          </a:p>
        </p:txBody>
      </p:sp>
      <p:pic>
        <p:nvPicPr>
          <p:cNvPr id="7" name="Picture 6"/>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blipFill>
            <a:blip r:embed="rId2" cstate="print"/>
            <a:tile tx="0" ty="0" sx="100000" sy="100000" flip="none" algn="tl"/>
          </a:blipFill>
        </p:spPr>
        <p:txBody>
          <a:bodyPr>
            <a:normAutofit/>
          </a:bodyPr>
          <a:lstStyle/>
          <a:p>
            <a:r>
              <a:rPr lang="en-US" b="1" dirty="0" smtClean="0">
                <a:solidFill>
                  <a:srgbClr val="008000"/>
                </a:solidFill>
                <a:latin typeface="Times New Roman" pitchFamily="18" charset="0"/>
                <a:cs typeface="Times New Roman" pitchFamily="18" charset="0"/>
              </a:rPr>
              <a:t>Environmental Ethics</a:t>
            </a:r>
            <a:endParaRPr lang="en-US" dirty="0">
              <a:solidFill>
                <a:srgbClr val="008000"/>
              </a:solidFill>
            </a:endParaRPr>
          </a:p>
        </p:txBody>
      </p:sp>
      <p:sp>
        <p:nvSpPr>
          <p:cNvPr id="3" name="Content Placeholder 2"/>
          <p:cNvSpPr>
            <a:spLocks noGrp="1"/>
          </p:cNvSpPr>
          <p:nvPr>
            <p:ph idx="1"/>
          </p:nvPr>
        </p:nvSpPr>
        <p:spPr>
          <a:solidFill>
            <a:schemeClr val="accent6">
              <a:lumMod val="20000"/>
              <a:lumOff val="80000"/>
            </a:schemeClr>
          </a:solidFill>
        </p:spPr>
        <p:txBody>
          <a:bodyPr>
            <a:noAutofit/>
          </a:bodyPr>
          <a:lstStyle/>
          <a:p>
            <a:pPr>
              <a:buNone/>
            </a:pPr>
            <a:r>
              <a:rPr lang="en-US" sz="2800" b="1" dirty="0" smtClean="0">
                <a:latin typeface="Times New Roman" pitchFamily="18" charset="0"/>
                <a:cs typeface="Times New Roman" pitchFamily="18" charset="0"/>
              </a:rPr>
              <a:t>We have to stop this damaging trend. We have to device the right code of conduct to regulate our behavior towards the environment and natural resources so that the quality of life we live is not compromised and the ability of our future generations to meet their own  ends is not affected.</a:t>
            </a:r>
          </a:p>
          <a:p>
            <a:pPr>
              <a:buNone/>
            </a:pPr>
            <a:r>
              <a:rPr lang="en-US" sz="2800" b="1" dirty="0" smtClean="0">
                <a:solidFill>
                  <a:srgbClr val="FF0000"/>
                </a:solidFill>
                <a:latin typeface="Times New Roman" pitchFamily="18" charset="0"/>
                <a:cs typeface="Times New Roman" pitchFamily="18" charset="0"/>
              </a:rPr>
              <a:t>As a concern of  human conscience, his ethical convictions about the good and the bad, the right or wrong  every body should made to practice an effective way to control unmanageable problems.</a:t>
            </a:r>
          </a:p>
        </p:txBody>
      </p:sp>
      <p:sp>
        <p:nvSpPr>
          <p:cNvPr id="4" name="Date Placeholder 3"/>
          <p:cNvSpPr>
            <a:spLocks noGrp="1"/>
          </p:cNvSpPr>
          <p:nvPr>
            <p:ph type="dt" sz="half" idx="10"/>
          </p:nvPr>
        </p:nvSpPr>
        <p:spPr/>
        <p:txBody>
          <a:bodyPr/>
          <a:lstStyle/>
          <a:p>
            <a:fld id="{D9B5F73E-3DE2-45A2-AFB0-B16A96D1049E}" type="datetime4">
              <a:rPr lang="en-US" smtClean="0"/>
              <a:pPr/>
              <a:t>November 9, 2017</a:t>
            </a:fld>
            <a:endParaRPr lang="en-US"/>
          </a:p>
        </p:txBody>
      </p:sp>
      <p:sp>
        <p:nvSpPr>
          <p:cNvPr id="5" name="Slide Number Placeholder 4"/>
          <p:cNvSpPr>
            <a:spLocks noGrp="1"/>
          </p:cNvSpPr>
          <p:nvPr>
            <p:ph type="sldNum" sz="quarter" idx="12"/>
          </p:nvPr>
        </p:nvSpPr>
        <p:spPr/>
        <p:txBody>
          <a:bodyPr/>
          <a:lstStyle/>
          <a:p>
            <a:fld id="{F8BE4994-793F-4AF4-89A3-515E9DA12016}" type="slidenum">
              <a:rPr lang="en-US" smtClean="0"/>
              <a:pPr/>
              <a:t>15</a:t>
            </a:fld>
            <a:endParaRPr lang="en-US"/>
          </a:p>
        </p:txBody>
      </p:sp>
      <p:sp>
        <p:nvSpPr>
          <p:cNvPr id="6" name="Footer Placeholder 5"/>
          <p:cNvSpPr>
            <a:spLocks noGrp="1"/>
          </p:cNvSpPr>
          <p:nvPr>
            <p:ph type="ftr" sz="quarter" idx="11"/>
          </p:nvPr>
        </p:nvSpPr>
        <p:spPr/>
        <p:txBody>
          <a:bodyPr/>
          <a:lstStyle/>
          <a:p>
            <a:r>
              <a:rPr lang="en-US" smtClean="0"/>
              <a:t>Dr Jyoti K Sharma</a:t>
            </a:r>
            <a:endParaRPr lang="en-US"/>
          </a:p>
        </p:txBody>
      </p:sp>
      <p:pic>
        <p:nvPicPr>
          <p:cNvPr id="7" name="Picture 6"/>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blipFill>
            <a:blip r:embed="rId2" cstate="print"/>
            <a:tile tx="0" ty="0" sx="100000" sy="100000" flip="none" algn="tl"/>
          </a:blipFill>
        </p:spPr>
        <p:txBody>
          <a:bodyPr>
            <a:normAutofit/>
          </a:bodyPr>
          <a:lstStyle/>
          <a:p>
            <a:r>
              <a:rPr lang="en-US" b="1" dirty="0" smtClean="0">
                <a:solidFill>
                  <a:srgbClr val="008000"/>
                </a:solidFill>
                <a:latin typeface="Times New Roman" pitchFamily="18" charset="0"/>
                <a:cs typeface="Times New Roman" pitchFamily="18" charset="0"/>
              </a:rPr>
              <a:t>Environmental Ethics</a:t>
            </a:r>
            <a:endParaRPr lang="en-US" dirty="0">
              <a:solidFill>
                <a:srgbClr val="008000"/>
              </a:solidFill>
            </a:endParaRPr>
          </a:p>
        </p:txBody>
      </p:sp>
      <p:sp>
        <p:nvSpPr>
          <p:cNvPr id="3" name="Content Placeholder 2"/>
          <p:cNvSpPr>
            <a:spLocks noGrp="1"/>
          </p:cNvSpPr>
          <p:nvPr>
            <p:ph idx="1"/>
          </p:nvPr>
        </p:nvSpPr>
        <p:spPr>
          <a:solidFill>
            <a:schemeClr val="accent6">
              <a:lumMod val="20000"/>
              <a:lumOff val="80000"/>
            </a:schemeClr>
          </a:solidFill>
        </p:spPr>
        <p:txBody>
          <a:bodyPr/>
          <a:lstStyle/>
          <a:p>
            <a:pPr>
              <a:buNone/>
            </a:pPr>
            <a:r>
              <a:rPr lang="en-US" sz="3600" b="1" dirty="0" smtClean="0">
                <a:latin typeface="Times New Roman" pitchFamily="18" charset="0"/>
                <a:cs typeface="Times New Roman" pitchFamily="18" charset="0"/>
              </a:rPr>
              <a:t>In this context, </a:t>
            </a:r>
            <a:r>
              <a:rPr lang="en-US" sz="3600" b="1" dirty="0" smtClean="0">
                <a:solidFill>
                  <a:srgbClr val="FF0000"/>
                </a:solidFill>
                <a:latin typeface="Times New Roman" pitchFamily="18" charset="0"/>
                <a:cs typeface="Times New Roman" pitchFamily="18" charset="0"/>
              </a:rPr>
              <a:t>Environmental Ethics </a:t>
            </a:r>
            <a:r>
              <a:rPr lang="en-US" sz="3600" b="1" dirty="0" smtClean="0">
                <a:latin typeface="Times New Roman" pitchFamily="18" charset="0"/>
                <a:cs typeface="Times New Roman" pitchFamily="18" charset="0"/>
              </a:rPr>
              <a:t>assumes  a pivotal role in our efforts to slacken or halt  the damages that we are causing to our own environment, wildlife and natural resources (</a:t>
            </a:r>
            <a:r>
              <a:rPr lang="en-US" sz="3600" b="1" dirty="0" err="1" smtClean="0">
                <a:latin typeface="Times New Roman" pitchFamily="18" charset="0"/>
                <a:cs typeface="Times New Roman" pitchFamily="18" charset="0"/>
              </a:rPr>
              <a:t>Ison</a:t>
            </a:r>
            <a:r>
              <a:rPr lang="en-US" sz="3600" b="1" dirty="0" smtClean="0">
                <a:latin typeface="Times New Roman" pitchFamily="18" charset="0"/>
                <a:cs typeface="Times New Roman" pitchFamily="18" charset="0"/>
              </a:rPr>
              <a:t> </a:t>
            </a:r>
            <a:r>
              <a:rPr lang="en-US" sz="3600" b="1" i="1" dirty="0" smtClean="0">
                <a:latin typeface="Times New Roman" pitchFamily="18" charset="0"/>
                <a:cs typeface="Times New Roman" pitchFamily="18" charset="0"/>
              </a:rPr>
              <a:t>et al.,</a:t>
            </a:r>
            <a:r>
              <a:rPr lang="en-US" sz="3600" b="1" dirty="0" smtClean="0">
                <a:latin typeface="Times New Roman" pitchFamily="18" charset="0"/>
                <a:cs typeface="Times New Roman" pitchFamily="18" charset="0"/>
              </a:rPr>
              <a:t> 2002; </a:t>
            </a:r>
            <a:r>
              <a:rPr lang="en-US" sz="3600" b="1" dirty="0" err="1" smtClean="0">
                <a:latin typeface="Times New Roman" pitchFamily="18" charset="0"/>
                <a:cs typeface="Times New Roman" pitchFamily="18" charset="0"/>
              </a:rPr>
              <a:t>Ridker</a:t>
            </a:r>
            <a:r>
              <a:rPr lang="en-US" sz="3600" b="1" dirty="0" smtClean="0">
                <a:latin typeface="Times New Roman" pitchFamily="18" charset="0"/>
                <a:cs typeface="Times New Roman" pitchFamily="18" charset="0"/>
              </a:rPr>
              <a:t> &amp; Watson, 1980; Scientific, 1989). </a:t>
            </a:r>
          </a:p>
          <a:p>
            <a:endParaRPr lang="en-US" dirty="0"/>
          </a:p>
        </p:txBody>
      </p:sp>
      <p:sp>
        <p:nvSpPr>
          <p:cNvPr id="4" name="Date Placeholder 3"/>
          <p:cNvSpPr>
            <a:spLocks noGrp="1"/>
          </p:cNvSpPr>
          <p:nvPr>
            <p:ph type="dt" sz="half" idx="10"/>
          </p:nvPr>
        </p:nvSpPr>
        <p:spPr/>
        <p:txBody>
          <a:bodyPr/>
          <a:lstStyle/>
          <a:p>
            <a:fld id="{B7B1F712-44A2-4AB1-BA4A-83B927EA7E85}" type="datetime4">
              <a:rPr lang="en-US" smtClean="0"/>
              <a:pPr/>
              <a:t>November 9, 2017</a:t>
            </a:fld>
            <a:endParaRPr lang="en-US"/>
          </a:p>
        </p:txBody>
      </p:sp>
      <p:sp>
        <p:nvSpPr>
          <p:cNvPr id="5" name="Slide Number Placeholder 4"/>
          <p:cNvSpPr>
            <a:spLocks noGrp="1"/>
          </p:cNvSpPr>
          <p:nvPr>
            <p:ph type="sldNum" sz="quarter" idx="12"/>
          </p:nvPr>
        </p:nvSpPr>
        <p:spPr/>
        <p:txBody>
          <a:bodyPr/>
          <a:lstStyle/>
          <a:p>
            <a:fld id="{F8BE4994-793F-4AF4-89A3-515E9DA12016}" type="slidenum">
              <a:rPr lang="en-US" smtClean="0"/>
              <a:pPr/>
              <a:t>16</a:t>
            </a:fld>
            <a:endParaRPr lang="en-US"/>
          </a:p>
        </p:txBody>
      </p:sp>
      <p:sp>
        <p:nvSpPr>
          <p:cNvPr id="6" name="Footer Placeholder 5"/>
          <p:cNvSpPr>
            <a:spLocks noGrp="1"/>
          </p:cNvSpPr>
          <p:nvPr>
            <p:ph type="ftr" sz="quarter" idx="11"/>
          </p:nvPr>
        </p:nvSpPr>
        <p:spPr/>
        <p:txBody>
          <a:bodyPr/>
          <a:lstStyle/>
          <a:p>
            <a:r>
              <a:rPr lang="en-US" smtClean="0"/>
              <a:t>Dr Jyoti K Sharma</a:t>
            </a:r>
            <a:endParaRPr lang="en-US"/>
          </a:p>
        </p:txBody>
      </p:sp>
      <p:pic>
        <p:nvPicPr>
          <p:cNvPr id="7" name="Picture 6"/>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a:blipFill>
            <a:blip r:embed="rId2" cstate="print"/>
            <a:tile tx="0" ty="0" sx="100000" sy="100000" flip="none" algn="tl"/>
          </a:blipFill>
        </p:spPr>
        <p:txBody>
          <a:bodyPr>
            <a:normAutofit/>
          </a:bodyPr>
          <a:lstStyle/>
          <a:p>
            <a:r>
              <a:rPr lang="en-US" b="1" dirty="0" smtClean="0">
                <a:solidFill>
                  <a:srgbClr val="008000"/>
                </a:solidFill>
                <a:latin typeface="Times New Roman" pitchFamily="18" charset="0"/>
                <a:cs typeface="Times New Roman" pitchFamily="18" charset="0"/>
              </a:rPr>
              <a:t>Environmental Ethics</a:t>
            </a:r>
            <a:endParaRPr lang="en-US" dirty="0">
              <a:solidFill>
                <a:srgbClr val="008000"/>
              </a:solidFill>
            </a:endParaRPr>
          </a:p>
        </p:txBody>
      </p:sp>
      <p:sp>
        <p:nvSpPr>
          <p:cNvPr id="3" name="Content Placeholder 2"/>
          <p:cNvSpPr>
            <a:spLocks noGrp="1"/>
          </p:cNvSpPr>
          <p:nvPr>
            <p:ph idx="1"/>
          </p:nvPr>
        </p:nvSpPr>
        <p:spPr>
          <a:solidFill>
            <a:schemeClr val="accent5">
              <a:lumMod val="20000"/>
              <a:lumOff val="80000"/>
            </a:schemeClr>
          </a:solidFill>
        </p:spPr>
        <p:txBody>
          <a:bodyPr>
            <a:normAutofit/>
          </a:bodyPr>
          <a:lstStyle/>
          <a:p>
            <a:pPr>
              <a:buNone/>
            </a:pPr>
            <a:r>
              <a:rPr lang="en-US" sz="2800" b="1" dirty="0" smtClean="0">
                <a:solidFill>
                  <a:srgbClr val="0033CC"/>
                </a:solidFill>
                <a:latin typeface="Times New Roman" pitchFamily="18" charset="0"/>
                <a:cs typeface="Times New Roman" pitchFamily="18" charset="0"/>
              </a:rPr>
              <a:t>II. Guiding Principles of Environmental Ethics</a:t>
            </a:r>
          </a:p>
          <a:p>
            <a:pPr>
              <a:buNone/>
            </a:pPr>
            <a:r>
              <a:rPr lang="en-US" sz="2400" b="1" dirty="0" smtClean="0">
                <a:solidFill>
                  <a:srgbClr val="FF0000"/>
                </a:solidFill>
                <a:latin typeface="Times New Roman" pitchFamily="18" charset="0"/>
                <a:cs typeface="Times New Roman" pitchFamily="18" charset="0"/>
              </a:rPr>
              <a:t>(Milbredth, 1981;Delors, 1996;Schrader-Frechte,1991)</a:t>
            </a:r>
          </a:p>
          <a:p>
            <a:pPr marL="457200" indent="-457200">
              <a:buAutoNum type="arabicPeriod"/>
            </a:pPr>
            <a:r>
              <a:rPr lang="en-US" sz="2400" b="1" dirty="0" smtClean="0">
                <a:latin typeface="Times New Roman" pitchFamily="18" charset="0"/>
                <a:cs typeface="Times New Roman" pitchFamily="18" charset="0"/>
              </a:rPr>
              <a:t>The distribution of the resources of the world should be egalitarian as far as possible. All human beings are equal. For all there should be equal opportunities to compete for the comforts and riches of the world.</a:t>
            </a:r>
          </a:p>
          <a:p>
            <a:pPr marL="457200" indent="-457200">
              <a:buAutoNum type="arabicPeriod"/>
            </a:pPr>
            <a:r>
              <a:rPr lang="en-US" sz="2400" b="1" dirty="0" smtClean="0">
                <a:latin typeface="Times New Roman" pitchFamily="18" charset="0"/>
                <a:cs typeface="Times New Roman" pitchFamily="18" charset="0"/>
              </a:rPr>
              <a:t>The ‘rights’ of the environment and natural resources should take precedence over the right of individuals as they are linked to the welfare of the </a:t>
            </a:r>
            <a:r>
              <a:rPr lang="en-US" sz="2400" b="1" dirty="0" err="1" smtClean="0">
                <a:latin typeface="Times New Roman" pitchFamily="18" charset="0"/>
                <a:cs typeface="Times New Roman" pitchFamily="18" charset="0"/>
              </a:rPr>
              <a:t>socity</a:t>
            </a:r>
            <a:r>
              <a:rPr lang="en-US" sz="2400" b="1" dirty="0" smtClean="0">
                <a:latin typeface="Times New Roman" pitchFamily="18" charset="0"/>
                <a:cs typeface="Times New Roman" pitchFamily="18" charset="0"/>
              </a:rPr>
              <a:t> and the entire biosphere.</a:t>
            </a:r>
          </a:p>
          <a:p>
            <a:endParaRPr lang="en-US" sz="2400" dirty="0"/>
          </a:p>
        </p:txBody>
      </p:sp>
      <p:sp>
        <p:nvSpPr>
          <p:cNvPr id="4" name="Date Placeholder 3"/>
          <p:cNvSpPr>
            <a:spLocks noGrp="1"/>
          </p:cNvSpPr>
          <p:nvPr>
            <p:ph type="dt" sz="half" idx="10"/>
          </p:nvPr>
        </p:nvSpPr>
        <p:spPr/>
        <p:txBody>
          <a:bodyPr/>
          <a:lstStyle/>
          <a:p>
            <a:fld id="{63C9943B-D32D-474D-9A05-8523AE346B80}" type="datetime4">
              <a:rPr lang="en-US" smtClean="0"/>
              <a:pPr/>
              <a:t>November 9, 2017</a:t>
            </a:fld>
            <a:endParaRPr lang="en-US"/>
          </a:p>
        </p:txBody>
      </p:sp>
      <p:sp>
        <p:nvSpPr>
          <p:cNvPr id="5" name="Slide Number Placeholder 4"/>
          <p:cNvSpPr>
            <a:spLocks noGrp="1"/>
          </p:cNvSpPr>
          <p:nvPr>
            <p:ph type="sldNum" sz="quarter" idx="12"/>
          </p:nvPr>
        </p:nvSpPr>
        <p:spPr/>
        <p:txBody>
          <a:bodyPr/>
          <a:lstStyle/>
          <a:p>
            <a:fld id="{F8BE4994-793F-4AF4-89A3-515E9DA12016}" type="slidenum">
              <a:rPr lang="en-US" smtClean="0"/>
              <a:pPr/>
              <a:t>17</a:t>
            </a:fld>
            <a:endParaRPr lang="en-US"/>
          </a:p>
        </p:txBody>
      </p:sp>
      <p:sp>
        <p:nvSpPr>
          <p:cNvPr id="6" name="Footer Placeholder 5"/>
          <p:cNvSpPr>
            <a:spLocks noGrp="1"/>
          </p:cNvSpPr>
          <p:nvPr>
            <p:ph type="ftr" sz="quarter" idx="11"/>
          </p:nvPr>
        </p:nvSpPr>
        <p:spPr/>
        <p:txBody>
          <a:bodyPr/>
          <a:lstStyle/>
          <a:p>
            <a:r>
              <a:rPr lang="en-US" smtClean="0"/>
              <a:t>Dr Jyoti K Sharma</a:t>
            </a:r>
            <a:endParaRPr lang="en-US"/>
          </a:p>
        </p:txBody>
      </p:sp>
      <p:pic>
        <p:nvPicPr>
          <p:cNvPr id="7" name="Picture 6"/>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blipFill>
            <a:blip r:embed="rId2" cstate="print"/>
            <a:tile tx="0" ty="0" sx="100000" sy="100000" flip="none" algn="tl"/>
          </a:blipFill>
        </p:spPr>
        <p:txBody>
          <a:bodyPr>
            <a:normAutofit/>
          </a:bodyPr>
          <a:lstStyle/>
          <a:p>
            <a:r>
              <a:rPr lang="en-US" b="1" dirty="0" smtClean="0">
                <a:solidFill>
                  <a:srgbClr val="008000"/>
                </a:solidFill>
                <a:latin typeface="Times New Roman" pitchFamily="18" charset="0"/>
                <a:cs typeface="Times New Roman" pitchFamily="18" charset="0"/>
              </a:rPr>
              <a:t>Environmental Ethics</a:t>
            </a:r>
            <a:endParaRPr lang="en-US" dirty="0">
              <a:solidFill>
                <a:srgbClr val="008000"/>
              </a:solidFill>
            </a:endParaRPr>
          </a:p>
        </p:txBody>
      </p:sp>
      <p:sp>
        <p:nvSpPr>
          <p:cNvPr id="3" name="Content Placeholder 2"/>
          <p:cNvSpPr>
            <a:spLocks noGrp="1"/>
          </p:cNvSpPr>
          <p:nvPr>
            <p:ph idx="1"/>
          </p:nvPr>
        </p:nvSpPr>
        <p:spPr>
          <a:solidFill>
            <a:schemeClr val="accent1">
              <a:lumMod val="20000"/>
              <a:lumOff val="80000"/>
            </a:schemeClr>
          </a:solidFill>
        </p:spPr>
        <p:txBody>
          <a:bodyPr>
            <a:normAutofit/>
          </a:bodyPr>
          <a:lstStyle/>
          <a:p>
            <a:pPr>
              <a:buNone/>
            </a:pPr>
            <a:r>
              <a:rPr lang="en-US" b="1" dirty="0" smtClean="0">
                <a:solidFill>
                  <a:srgbClr val="0033CC"/>
                </a:solidFill>
                <a:latin typeface="Times New Roman" pitchFamily="18" charset="0"/>
                <a:cs typeface="Times New Roman" pitchFamily="18" charset="0"/>
              </a:rPr>
              <a:t>III. Basic Directives of Environmental Ethics</a:t>
            </a:r>
          </a:p>
          <a:p>
            <a:pPr>
              <a:buNone/>
            </a:pPr>
            <a:r>
              <a:rPr lang="en-US" sz="2800" b="1" dirty="0" smtClean="0">
                <a:latin typeface="Times New Roman" pitchFamily="18" charset="0"/>
                <a:cs typeface="Times New Roman" pitchFamily="18" charset="0"/>
              </a:rPr>
              <a:t>Environmental issues raise many difficult ethical questions. We are living in a transient world. Every living being is born to die some day. Man is a temporary resident custodian of the living and non-living resources of this planet. He shall be failing in his duties if does not hand over the riches of the world in a usable state to his successors or the spoils of the environment with the waste he discharges. </a:t>
            </a:r>
          </a:p>
          <a:p>
            <a:pPr>
              <a:buNone/>
            </a:pPr>
            <a:endParaRPr lang="en-US" dirty="0"/>
          </a:p>
        </p:txBody>
      </p:sp>
      <p:sp>
        <p:nvSpPr>
          <p:cNvPr id="4" name="Date Placeholder 3"/>
          <p:cNvSpPr>
            <a:spLocks noGrp="1"/>
          </p:cNvSpPr>
          <p:nvPr>
            <p:ph type="dt" sz="half" idx="10"/>
          </p:nvPr>
        </p:nvSpPr>
        <p:spPr/>
        <p:txBody>
          <a:bodyPr/>
          <a:lstStyle/>
          <a:p>
            <a:fld id="{8AF5F00D-0155-4D94-9538-A866FD443F06}" type="datetime4">
              <a:rPr lang="en-US" smtClean="0"/>
              <a:pPr/>
              <a:t>November 9, 2017</a:t>
            </a:fld>
            <a:endParaRPr lang="en-US"/>
          </a:p>
        </p:txBody>
      </p:sp>
      <p:sp>
        <p:nvSpPr>
          <p:cNvPr id="5" name="Slide Number Placeholder 4"/>
          <p:cNvSpPr>
            <a:spLocks noGrp="1"/>
          </p:cNvSpPr>
          <p:nvPr>
            <p:ph type="sldNum" sz="quarter" idx="12"/>
          </p:nvPr>
        </p:nvSpPr>
        <p:spPr/>
        <p:txBody>
          <a:bodyPr/>
          <a:lstStyle/>
          <a:p>
            <a:fld id="{F8BE4994-793F-4AF4-89A3-515E9DA12016}" type="slidenum">
              <a:rPr lang="en-US" smtClean="0"/>
              <a:pPr/>
              <a:t>18</a:t>
            </a:fld>
            <a:endParaRPr lang="en-US"/>
          </a:p>
        </p:txBody>
      </p:sp>
      <p:sp>
        <p:nvSpPr>
          <p:cNvPr id="6" name="Footer Placeholder 5"/>
          <p:cNvSpPr>
            <a:spLocks noGrp="1"/>
          </p:cNvSpPr>
          <p:nvPr>
            <p:ph type="ftr" sz="quarter" idx="11"/>
          </p:nvPr>
        </p:nvSpPr>
        <p:spPr/>
        <p:txBody>
          <a:bodyPr/>
          <a:lstStyle/>
          <a:p>
            <a:r>
              <a:rPr lang="en-US" smtClean="0"/>
              <a:t>Dr Jyoti K Sharma</a:t>
            </a:r>
            <a:endParaRPr lang="en-US"/>
          </a:p>
        </p:txBody>
      </p:sp>
      <p:pic>
        <p:nvPicPr>
          <p:cNvPr id="7" name="Picture 6"/>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blipFill>
            <a:blip r:embed="rId2" cstate="print"/>
            <a:tile tx="0" ty="0" sx="100000" sy="100000" flip="none" algn="tl"/>
          </a:blipFill>
        </p:spPr>
        <p:txBody>
          <a:bodyPr/>
          <a:lstStyle/>
          <a:p>
            <a:r>
              <a:rPr lang="en-US" b="1" dirty="0" smtClean="0">
                <a:solidFill>
                  <a:srgbClr val="008000"/>
                </a:solidFill>
                <a:latin typeface="Times New Roman" pitchFamily="18" charset="0"/>
                <a:cs typeface="Times New Roman" pitchFamily="18" charset="0"/>
              </a:rPr>
              <a:t>Environmental Ethics</a:t>
            </a:r>
            <a:endParaRPr lang="en-US" dirty="0">
              <a:solidFill>
                <a:srgbClr val="008000"/>
              </a:solidFill>
            </a:endParaRPr>
          </a:p>
        </p:txBody>
      </p:sp>
      <p:sp>
        <p:nvSpPr>
          <p:cNvPr id="3" name="Content Placeholder 2"/>
          <p:cNvSpPr>
            <a:spLocks noGrp="1"/>
          </p:cNvSpPr>
          <p:nvPr>
            <p:ph idx="1"/>
          </p:nvPr>
        </p:nvSpPr>
        <p:spPr>
          <a:solidFill>
            <a:schemeClr val="accent1">
              <a:lumMod val="20000"/>
              <a:lumOff val="80000"/>
            </a:schemeClr>
          </a:solidFill>
        </p:spPr>
        <p:txBody>
          <a:bodyPr>
            <a:normAutofit fontScale="92500" lnSpcReduction="20000"/>
          </a:bodyPr>
          <a:lstStyle/>
          <a:p>
            <a:pPr>
              <a:buNone/>
            </a:pPr>
            <a:r>
              <a:rPr lang="en-US" b="1" dirty="0" smtClean="0">
                <a:latin typeface="Times New Roman" pitchFamily="18" charset="0"/>
                <a:cs typeface="Times New Roman" pitchFamily="18" charset="0"/>
              </a:rPr>
              <a:t>In  doing so his rights may be compromised but that is a small price to pay for carrying out obligations he has to the society, nature and the residents which shall occupy this planet in future (Blackstone, 1974; Milbredth, 1981; </a:t>
            </a:r>
            <a:r>
              <a:rPr lang="en-US" b="1" dirty="0" err="1" smtClean="0">
                <a:latin typeface="Times New Roman" pitchFamily="18" charset="0"/>
                <a:cs typeface="Times New Roman" pitchFamily="18" charset="0"/>
              </a:rPr>
              <a:t>Delors</a:t>
            </a:r>
            <a:r>
              <a:rPr lang="en-US" b="1" dirty="0" smtClean="0">
                <a:latin typeface="Times New Roman" pitchFamily="18" charset="0"/>
                <a:cs typeface="Times New Roman" pitchFamily="18" charset="0"/>
              </a:rPr>
              <a:t>, 1996; Schrader-</a:t>
            </a:r>
            <a:r>
              <a:rPr lang="en-US" b="1" dirty="0" err="1" smtClean="0">
                <a:latin typeface="Times New Roman" pitchFamily="18" charset="0"/>
                <a:cs typeface="Times New Roman" pitchFamily="18" charset="0"/>
              </a:rPr>
              <a:t>Frechete</a:t>
            </a:r>
            <a:r>
              <a:rPr lang="en-US" b="1" dirty="0" smtClean="0">
                <a:latin typeface="Times New Roman" pitchFamily="18" charset="0"/>
                <a:cs typeface="Times New Roman" pitchFamily="18" charset="0"/>
              </a:rPr>
              <a:t>, 1991).</a:t>
            </a:r>
          </a:p>
          <a:p>
            <a:pPr>
              <a:buNone/>
            </a:pPr>
            <a:r>
              <a:rPr lang="en-US" b="1" dirty="0" smtClean="0">
                <a:latin typeface="Times New Roman" pitchFamily="18" charset="0"/>
                <a:cs typeface="Times New Roman" pitchFamily="18" charset="0"/>
              </a:rPr>
              <a:t>From the study of the current perspective of </a:t>
            </a:r>
            <a:r>
              <a:rPr lang="en-US" b="1" i="1" dirty="0" smtClean="0">
                <a:solidFill>
                  <a:srgbClr val="FF0000"/>
                </a:solidFill>
                <a:latin typeface="Times New Roman" pitchFamily="18" charset="0"/>
                <a:cs typeface="Times New Roman" pitchFamily="18" charset="0"/>
              </a:rPr>
              <a:t>Environmental Ethics </a:t>
            </a:r>
            <a:r>
              <a:rPr lang="en-US" b="1" dirty="0" smtClean="0">
                <a:latin typeface="Times New Roman" pitchFamily="18" charset="0"/>
                <a:cs typeface="Times New Roman" pitchFamily="18" charset="0"/>
              </a:rPr>
              <a:t>certain directives crystallize out to regulate our conduct towards the human society, the nature and our future generations which are yet to come. These are: </a:t>
            </a:r>
          </a:p>
          <a:p>
            <a:endParaRPr lang="en-US" dirty="0"/>
          </a:p>
        </p:txBody>
      </p:sp>
      <p:sp>
        <p:nvSpPr>
          <p:cNvPr id="4" name="Date Placeholder 3"/>
          <p:cNvSpPr>
            <a:spLocks noGrp="1"/>
          </p:cNvSpPr>
          <p:nvPr>
            <p:ph type="dt" sz="half" idx="10"/>
          </p:nvPr>
        </p:nvSpPr>
        <p:spPr/>
        <p:txBody>
          <a:bodyPr/>
          <a:lstStyle/>
          <a:p>
            <a:fld id="{C5B78DA1-6DE4-4BCD-B225-64C836F96C47}" type="datetime4">
              <a:rPr lang="en-US" smtClean="0"/>
              <a:pPr/>
              <a:t>November 9, 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F8BE4994-793F-4AF4-89A3-515E9DA12016}" type="slidenum">
              <a:rPr lang="en-US" smtClean="0"/>
              <a:pPr/>
              <a:t>19</a:t>
            </a:fld>
            <a:endParaRPr lang="en-US"/>
          </a:p>
        </p:txBody>
      </p:sp>
      <p:pic>
        <p:nvPicPr>
          <p:cNvPr id="7" name="Picture 6"/>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blipFill>
            <a:blip r:embed="rId2" cstate="print"/>
            <a:tile tx="0" ty="0" sx="100000" sy="100000" flip="none" algn="tl"/>
          </a:blipFill>
        </p:spPr>
        <p:txBody>
          <a:bodyPr/>
          <a:lstStyle/>
          <a:p>
            <a:r>
              <a:rPr lang="en-US" b="1" dirty="0" smtClean="0">
                <a:solidFill>
                  <a:srgbClr val="008000"/>
                </a:solidFill>
                <a:latin typeface="Times New Roman" pitchFamily="18" charset="0"/>
                <a:cs typeface="Times New Roman" pitchFamily="18" charset="0"/>
              </a:rPr>
              <a:t>Environmental Ethics</a:t>
            </a:r>
            <a:endParaRPr lang="en-US" dirty="0">
              <a:solidFill>
                <a:srgbClr val="008000"/>
              </a:solidFill>
            </a:endParaRPr>
          </a:p>
        </p:txBody>
      </p:sp>
      <p:sp>
        <p:nvSpPr>
          <p:cNvPr id="3" name="Content Placeholder 2"/>
          <p:cNvSpPr>
            <a:spLocks noGrp="1"/>
          </p:cNvSpPr>
          <p:nvPr>
            <p:ph idx="1"/>
          </p:nvPr>
        </p:nvSpPr>
        <p:spPr>
          <a:solidFill>
            <a:schemeClr val="accent1">
              <a:lumMod val="20000"/>
              <a:lumOff val="80000"/>
            </a:schemeClr>
          </a:solidFill>
        </p:spPr>
        <p:txBody>
          <a:bodyPr>
            <a:normAutofit fontScale="92500" lnSpcReduction="20000"/>
          </a:bodyPr>
          <a:lstStyle/>
          <a:p>
            <a:pPr>
              <a:buNone/>
            </a:pPr>
            <a:r>
              <a:rPr lang="en-US" sz="2400" b="1" i="1" dirty="0" smtClean="0">
                <a:solidFill>
                  <a:srgbClr val="0033CC"/>
                </a:solidFill>
                <a:latin typeface="Times New Roman" pitchFamily="18" charset="0"/>
                <a:cs typeface="Times New Roman" pitchFamily="18" charset="0"/>
              </a:rPr>
              <a:t>1</a:t>
            </a:r>
            <a:r>
              <a:rPr lang="en-US" sz="3000" b="1" i="1" dirty="0" smtClean="0">
                <a:solidFill>
                  <a:srgbClr val="0033CC"/>
                </a:solidFill>
                <a:latin typeface="Times New Roman" pitchFamily="18" charset="0"/>
                <a:cs typeface="Times New Roman" pitchFamily="18" charset="0"/>
              </a:rPr>
              <a:t>. Individual’s Obligations to the Community and the Society</a:t>
            </a:r>
          </a:p>
          <a:p>
            <a:pPr>
              <a:buNone/>
            </a:pPr>
            <a:r>
              <a:rPr lang="en-US" sz="2800" b="1" dirty="0" smtClean="0">
                <a:latin typeface="Times New Roman" pitchFamily="18" charset="0"/>
                <a:cs typeface="Times New Roman" pitchFamily="18" charset="0"/>
              </a:rPr>
              <a:t>Every one has certain obligations to the society. If an individual has rights, he has duties also. He should refrain from such actions, which create difficulties or damage life and property of fellow citizens or the community or the country. </a:t>
            </a:r>
          </a:p>
          <a:p>
            <a:pPr>
              <a:buNone/>
            </a:pPr>
            <a:r>
              <a:rPr lang="en-US" sz="2800" b="1" dirty="0" smtClean="0">
                <a:latin typeface="Times New Roman" pitchFamily="18" charset="0"/>
                <a:cs typeface="Times New Roman" pitchFamily="18" charset="0"/>
              </a:rPr>
              <a:t>If his seemingly innocuous actions, repeated several times and by so many people add up to sizable problems, </a:t>
            </a:r>
            <a:r>
              <a:rPr lang="en-US" sz="2800" b="1" i="1" dirty="0" smtClean="0">
                <a:solidFill>
                  <a:srgbClr val="FF0000"/>
                </a:solidFill>
                <a:latin typeface="Times New Roman" pitchFamily="18" charset="0"/>
                <a:cs typeface="Times New Roman" pitchFamily="18" charset="0"/>
              </a:rPr>
              <a:t>Environmental Ethics </a:t>
            </a:r>
            <a:r>
              <a:rPr lang="en-US" sz="2800" b="1" dirty="0" smtClean="0">
                <a:latin typeface="Times New Roman" pitchFamily="18" charset="0"/>
                <a:cs typeface="Times New Roman" pitchFamily="18" charset="0"/>
              </a:rPr>
              <a:t>directs him to place a check on such practices so that a little restrain on the part of every one may </a:t>
            </a:r>
            <a:r>
              <a:rPr lang="en-US" sz="2800" b="1" dirty="0" smtClean="0">
                <a:solidFill>
                  <a:srgbClr val="0033CC"/>
                </a:solidFill>
                <a:latin typeface="Times New Roman" pitchFamily="18" charset="0"/>
                <a:cs typeface="Times New Roman" pitchFamily="18" charset="0"/>
              </a:rPr>
              <a:t>reduce the over all impact.</a:t>
            </a:r>
          </a:p>
        </p:txBody>
      </p:sp>
      <p:sp>
        <p:nvSpPr>
          <p:cNvPr id="4" name="Date Placeholder 3"/>
          <p:cNvSpPr>
            <a:spLocks noGrp="1"/>
          </p:cNvSpPr>
          <p:nvPr>
            <p:ph type="dt" sz="half" idx="10"/>
          </p:nvPr>
        </p:nvSpPr>
        <p:spPr/>
        <p:txBody>
          <a:bodyPr/>
          <a:lstStyle/>
          <a:p>
            <a:fld id="{C5B78DA1-6DE4-4BCD-B225-64C836F96C47}" type="datetime4">
              <a:rPr lang="en-US" smtClean="0"/>
              <a:pPr/>
              <a:t>November 9, 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F8BE4994-793F-4AF4-89A3-515E9DA12016}" type="slidenum">
              <a:rPr lang="en-US" smtClean="0"/>
              <a:pPr/>
              <a:t>20</a:t>
            </a:fld>
            <a:endParaRPr lang="en-US"/>
          </a:p>
        </p:txBody>
      </p:sp>
      <p:pic>
        <p:nvPicPr>
          <p:cNvPr id="7" name="Picture 6"/>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blipFill>
            <a:blip r:embed="rId2" cstate="print"/>
            <a:tile tx="0" ty="0" sx="100000" sy="100000" flip="none" algn="tl"/>
          </a:blipFill>
        </p:spPr>
        <p:txBody>
          <a:bodyPr/>
          <a:lstStyle/>
          <a:p>
            <a:r>
              <a:rPr lang="en-US" b="1" dirty="0" smtClean="0">
                <a:solidFill>
                  <a:srgbClr val="008000"/>
                </a:solidFill>
                <a:latin typeface="Times New Roman" pitchFamily="18" charset="0"/>
                <a:cs typeface="Times New Roman" pitchFamily="18" charset="0"/>
              </a:rPr>
              <a:t>Environmental Ethics</a:t>
            </a:r>
            <a:endParaRPr lang="en-US" dirty="0">
              <a:solidFill>
                <a:srgbClr val="008000"/>
              </a:solidFill>
            </a:endParaRPr>
          </a:p>
        </p:txBody>
      </p:sp>
      <p:sp>
        <p:nvSpPr>
          <p:cNvPr id="3" name="Content Placeholder 2"/>
          <p:cNvSpPr>
            <a:spLocks noGrp="1"/>
          </p:cNvSpPr>
          <p:nvPr>
            <p:ph idx="1"/>
          </p:nvPr>
        </p:nvSpPr>
        <p:spPr>
          <a:solidFill>
            <a:schemeClr val="accent1">
              <a:lumMod val="20000"/>
              <a:lumOff val="80000"/>
            </a:schemeClr>
          </a:solidFill>
        </p:spPr>
        <p:txBody>
          <a:bodyPr>
            <a:normAutofit fontScale="85000" lnSpcReduction="10000"/>
          </a:bodyPr>
          <a:lstStyle/>
          <a:p>
            <a:pPr>
              <a:buNone/>
            </a:pPr>
            <a:r>
              <a:rPr lang="en-US" b="1" dirty="0" smtClean="0">
                <a:latin typeface="Times New Roman" pitchFamily="18" charset="0"/>
                <a:cs typeface="Times New Roman" pitchFamily="18" charset="0"/>
              </a:rPr>
              <a:t>Many global environmental problems are there simply because of cumulative effect as so many people at so many places contribute small bits and pieces to a particular problem.</a:t>
            </a:r>
          </a:p>
          <a:p>
            <a:pPr>
              <a:buNone/>
            </a:pPr>
            <a:r>
              <a:rPr lang="en-US" b="1" dirty="0" smtClean="0">
                <a:latin typeface="Times New Roman" pitchFamily="18" charset="0"/>
                <a:cs typeface="Times New Roman" pitchFamily="18" charset="0"/>
              </a:rPr>
              <a:t>A few examples: </a:t>
            </a:r>
          </a:p>
          <a:p>
            <a:pPr>
              <a:buNone/>
            </a:pPr>
            <a:r>
              <a:rPr lang="en-US" b="1" dirty="0" smtClean="0">
                <a:solidFill>
                  <a:srgbClr val="006600"/>
                </a:solidFill>
                <a:latin typeface="Times New Roman" pitchFamily="18" charset="0"/>
                <a:cs typeface="Times New Roman" pitchFamily="18" charset="0"/>
              </a:rPr>
              <a:t>Use of a bike instead of a car, avoiding the use of plastic, unscientific disposal of waste, use of kitchen waste and waste water – recycling, excessive dependence on air conditioners/ heaters, overgrowing population – couple to decide to have only two children ………………(Blackstone, 1974).</a:t>
            </a:r>
          </a:p>
          <a:p>
            <a:endParaRPr lang="en-US" sz="3600" dirty="0" smtClean="0"/>
          </a:p>
          <a:p>
            <a:endParaRPr lang="en-US" dirty="0"/>
          </a:p>
        </p:txBody>
      </p:sp>
      <p:sp>
        <p:nvSpPr>
          <p:cNvPr id="4" name="Date Placeholder 3"/>
          <p:cNvSpPr>
            <a:spLocks noGrp="1"/>
          </p:cNvSpPr>
          <p:nvPr>
            <p:ph type="dt" sz="half" idx="10"/>
          </p:nvPr>
        </p:nvSpPr>
        <p:spPr/>
        <p:txBody>
          <a:bodyPr/>
          <a:lstStyle/>
          <a:p>
            <a:fld id="{C5B78DA1-6DE4-4BCD-B225-64C836F96C47}" type="datetime4">
              <a:rPr lang="en-US" smtClean="0"/>
              <a:pPr/>
              <a:t>November 9, 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F8BE4994-793F-4AF4-89A3-515E9DA12016}" type="slidenum">
              <a:rPr lang="en-US" smtClean="0"/>
              <a:pPr/>
              <a:t>21</a:t>
            </a:fld>
            <a:endParaRPr lang="en-US" dirty="0"/>
          </a:p>
        </p:txBody>
      </p:sp>
      <p:pic>
        <p:nvPicPr>
          <p:cNvPr id="7" name="Picture 6"/>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blipFill>
            <a:blip r:embed="rId2" cstate="print"/>
            <a:tile tx="0" ty="0" sx="100000" sy="100000" flip="none" algn="tl"/>
          </a:blipFill>
        </p:spPr>
        <p:txBody>
          <a:bodyPr/>
          <a:lstStyle/>
          <a:p>
            <a:r>
              <a:rPr lang="en-US" b="1" dirty="0" smtClean="0">
                <a:solidFill>
                  <a:srgbClr val="008000"/>
                </a:solidFill>
                <a:latin typeface="Times New Roman" pitchFamily="18" charset="0"/>
                <a:cs typeface="Times New Roman" pitchFamily="18" charset="0"/>
              </a:rPr>
              <a:t>Environmental Ethics</a:t>
            </a:r>
            <a:endParaRPr lang="en-US" dirty="0">
              <a:solidFill>
                <a:srgbClr val="008000"/>
              </a:solidFill>
            </a:endParaRPr>
          </a:p>
        </p:txBody>
      </p:sp>
      <p:sp>
        <p:nvSpPr>
          <p:cNvPr id="3" name="Content Placeholder 2"/>
          <p:cNvSpPr>
            <a:spLocks noGrp="1"/>
          </p:cNvSpPr>
          <p:nvPr>
            <p:ph idx="1"/>
          </p:nvPr>
        </p:nvSpPr>
        <p:spPr>
          <a:solidFill>
            <a:schemeClr val="accent1">
              <a:lumMod val="20000"/>
              <a:lumOff val="80000"/>
            </a:schemeClr>
          </a:solidFill>
        </p:spPr>
        <p:txBody>
          <a:bodyPr>
            <a:normAutofit lnSpcReduction="10000"/>
          </a:bodyPr>
          <a:lstStyle/>
          <a:p>
            <a:pPr>
              <a:buNone/>
            </a:pPr>
            <a:r>
              <a:rPr lang="en-US" sz="2800" b="1" i="1" dirty="0" smtClean="0">
                <a:solidFill>
                  <a:srgbClr val="0033CC"/>
                </a:solidFill>
                <a:latin typeface="Times New Roman" pitchFamily="18" charset="0"/>
                <a:cs typeface="Times New Roman" pitchFamily="18" charset="0"/>
              </a:rPr>
              <a:t>2. The rights of Nature</a:t>
            </a:r>
          </a:p>
          <a:p>
            <a:pPr>
              <a:buNone/>
            </a:pPr>
            <a:r>
              <a:rPr lang="en-US" sz="2800" b="1" dirty="0" smtClean="0">
                <a:latin typeface="Times New Roman" pitchFamily="18" charset="0"/>
                <a:cs typeface="Times New Roman" pitchFamily="18" charset="0"/>
              </a:rPr>
              <a:t>Does nature has rights? Do other species have rights too?</a:t>
            </a:r>
          </a:p>
          <a:p>
            <a:pPr>
              <a:buNone/>
            </a:pPr>
            <a:r>
              <a:rPr lang="en-US" sz="2800" b="1" dirty="0" smtClean="0">
                <a:latin typeface="Times New Roman" pitchFamily="18" charset="0"/>
                <a:cs typeface="Times New Roman" pitchFamily="18" charset="0"/>
              </a:rPr>
              <a:t>The view that the environment and its resources are exclusively created for man to use or abuse has been replaced by a more realistic concept that </a:t>
            </a:r>
            <a:r>
              <a:rPr lang="en-US" sz="2800" b="1" i="1" dirty="0" smtClean="0">
                <a:latin typeface="Times New Roman" pitchFamily="18" charset="0"/>
                <a:cs typeface="Times New Roman" pitchFamily="18" charset="0"/>
              </a:rPr>
              <a:t>“ man is just a single species among millions of species, which live on this planet and hence, the natural resources have to be equitably shared among all the living beings and not man alone”. Mind you He cannot live alone on this planet!</a:t>
            </a:r>
          </a:p>
          <a:p>
            <a:pPr>
              <a:buNone/>
            </a:pPr>
            <a:endParaRPr lang="en-US" sz="2800" b="1" i="1" dirty="0" smtClean="0">
              <a:solidFill>
                <a:srgbClr val="0033CC"/>
              </a:solidFill>
              <a:latin typeface="Times New Roman" pitchFamily="18" charset="0"/>
              <a:cs typeface="Times New Roman" pitchFamily="18" charset="0"/>
            </a:endParaRPr>
          </a:p>
          <a:p>
            <a:endParaRPr lang="en-US" dirty="0"/>
          </a:p>
        </p:txBody>
      </p:sp>
      <p:sp>
        <p:nvSpPr>
          <p:cNvPr id="4" name="Date Placeholder 3"/>
          <p:cNvSpPr>
            <a:spLocks noGrp="1"/>
          </p:cNvSpPr>
          <p:nvPr>
            <p:ph type="dt" sz="half" idx="10"/>
          </p:nvPr>
        </p:nvSpPr>
        <p:spPr/>
        <p:txBody>
          <a:bodyPr/>
          <a:lstStyle/>
          <a:p>
            <a:fld id="{C5B78DA1-6DE4-4BCD-B225-64C836F96C47}" type="datetime4">
              <a:rPr lang="en-US" smtClean="0"/>
              <a:pPr/>
              <a:t>November 9, 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F8BE4994-793F-4AF4-89A3-515E9DA12016}" type="slidenum">
              <a:rPr lang="en-US" smtClean="0"/>
              <a:pPr/>
              <a:t>22</a:t>
            </a:fld>
            <a:endParaRPr lang="en-US" dirty="0"/>
          </a:p>
        </p:txBody>
      </p:sp>
      <p:pic>
        <p:nvPicPr>
          <p:cNvPr id="7" name="Picture 6"/>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blipFill>
            <a:blip r:embed="rId2" cstate="print"/>
            <a:tile tx="0" ty="0" sx="100000" sy="100000" flip="none" algn="tl"/>
          </a:blipFill>
        </p:spPr>
        <p:txBody>
          <a:bodyPr/>
          <a:lstStyle/>
          <a:p>
            <a:r>
              <a:rPr lang="en-US" b="1" dirty="0" smtClean="0">
                <a:solidFill>
                  <a:srgbClr val="008000"/>
                </a:solidFill>
                <a:latin typeface="Times New Roman" pitchFamily="18" charset="0"/>
                <a:cs typeface="Times New Roman" pitchFamily="18" charset="0"/>
              </a:rPr>
              <a:t>Environmental Ethics</a:t>
            </a:r>
            <a:endParaRPr lang="en-US" dirty="0"/>
          </a:p>
        </p:txBody>
      </p:sp>
      <p:sp>
        <p:nvSpPr>
          <p:cNvPr id="3" name="Content Placeholder 2"/>
          <p:cNvSpPr>
            <a:spLocks noGrp="1"/>
          </p:cNvSpPr>
          <p:nvPr>
            <p:ph idx="1"/>
          </p:nvPr>
        </p:nvSpPr>
        <p:spPr>
          <a:solidFill>
            <a:schemeClr val="accent1">
              <a:lumMod val="20000"/>
              <a:lumOff val="80000"/>
            </a:schemeClr>
          </a:solidFill>
        </p:spPr>
        <p:txBody>
          <a:bodyPr/>
          <a:lstStyle/>
          <a:p>
            <a:pPr>
              <a:buNone/>
            </a:pPr>
            <a:r>
              <a:rPr lang="en-US" b="1" dirty="0" smtClean="0">
                <a:latin typeface="Times New Roman" pitchFamily="18" charset="0"/>
                <a:cs typeface="Times New Roman" pitchFamily="18" charset="0"/>
              </a:rPr>
              <a:t>The realization that the biosphere on earth forms a life support system changes in which shall endanger his life also compels man to expand his moral concern and ethical values to cover other life forms as well.</a:t>
            </a:r>
          </a:p>
          <a:p>
            <a:endParaRPr lang="en-US" dirty="0"/>
          </a:p>
        </p:txBody>
      </p:sp>
      <p:sp>
        <p:nvSpPr>
          <p:cNvPr id="4" name="Date Placeholder 3"/>
          <p:cNvSpPr>
            <a:spLocks noGrp="1"/>
          </p:cNvSpPr>
          <p:nvPr>
            <p:ph type="dt" sz="half" idx="10"/>
          </p:nvPr>
        </p:nvSpPr>
        <p:spPr/>
        <p:txBody>
          <a:bodyPr/>
          <a:lstStyle/>
          <a:p>
            <a:fld id="{C5B78DA1-6DE4-4BCD-B225-64C836F96C47}" type="datetime4">
              <a:rPr lang="en-US" smtClean="0"/>
              <a:pPr/>
              <a:t>November 9, 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F8BE4994-793F-4AF4-89A3-515E9DA12016}" type="slidenum">
              <a:rPr lang="en-US" smtClean="0"/>
              <a:pPr/>
              <a:t>23</a:t>
            </a:fld>
            <a:endParaRPr lang="en-US"/>
          </a:p>
        </p:txBody>
      </p:sp>
      <p:pic>
        <p:nvPicPr>
          <p:cNvPr id="7" name="Picture 6"/>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blipFill>
            <a:blip r:embed="rId2" cstate="print"/>
            <a:tile tx="0" ty="0" sx="100000" sy="100000" flip="none" algn="tl"/>
          </a:blipFill>
        </p:spPr>
        <p:txBody>
          <a:bodyPr/>
          <a:lstStyle/>
          <a:p>
            <a:r>
              <a:rPr lang="en-US" b="1" dirty="0" smtClean="0">
                <a:solidFill>
                  <a:srgbClr val="008000"/>
                </a:solidFill>
                <a:latin typeface="Times New Roman" pitchFamily="18" charset="0"/>
                <a:cs typeface="Times New Roman" pitchFamily="18" charset="0"/>
              </a:rPr>
              <a:t>Environmental Ethics</a:t>
            </a:r>
            <a:endParaRPr lang="en-US" dirty="0">
              <a:solidFill>
                <a:srgbClr val="008000"/>
              </a:solidFill>
            </a:endParaRPr>
          </a:p>
        </p:txBody>
      </p:sp>
      <p:sp>
        <p:nvSpPr>
          <p:cNvPr id="3" name="Content Placeholder 2"/>
          <p:cNvSpPr>
            <a:spLocks noGrp="1"/>
          </p:cNvSpPr>
          <p:nvPr>
            <p:ph idx="1"/>
          </p:nvPr>
        </p:nvSpPr>
        <p:spPr>
          <a:solidFill>
            <a:schemeClr val="accent1">
              <a:lumMod val="20000"/>
              <a:lumOff val="80000"/>
            </a:schemeClr>
          </a:solidFill>
        </p:spPr>
        <p:txBody>
          <a:bodyPr>
            <a:normAutofit fontScale="85000" lnSpcReduction="10000"/>
          </a:bodyPr>
          <a:lstStyle/>
          <a:p>
            <a:pPr>
              <a:buNone/>
            </a:pPr>
            <a:r>
              <a:rPr lang="en-US" b="1" dirty="0" smtClean="0">
                <a:latin typeface="Times New Roman" pitchFamily="18" charset="0"/>
                <a:cs typeface="Times New Roman" pitchFamily="18" charset="0"/>
              </a:rPr>
              <a:t>If the pleasure and pains of humans have some intrinsic significance, why not those of non-humans? What if a species becomes extinct? Or a rain forest is cut down? Are these things to be regretted only because of the loss to humans?</a:t>
            </a:r>
          </a:p>
          <a:p>
            <a:pPr>
              <a:buNone/>
            </a:pPr>
            <a:r>
              <a:rPr lang="en-US" b="1" dirty="0" smtClean="0">
                <a:latin typeface="Times New Roman" pitchFamily="18" charset="0"/>
                <a:cs typeface="Times New Roman" pitchFamily="18" charset="0"/>
              </a:rPr>
              <a:t>Human conscience provokes man to respect the pleasure and pains on non-humans also, simply not because they are useful to us but because they are also part of biosphere as man is (Davis, 1972; Regan &amp; Singer, 1976; Stone, 1974).</a:t>
            </a:r>
          </a:p>
          <a:p>
            <a:endParaRPr lang="en-US" dirty="0"/>
          </a:p>
        </p:txBody>
      </p:sp>
      <p:sp>
        <p:nvSpPr>
          <p:cNvPr id="4" name="Date Placeholder 3"/>
          <p:cNvSpPr>
            <a:spLocks noGrp="1"/>
          </p:cNvSpPr>
          <p:nvPr>
            <p:ph type="dt" sz="half" idx="10"/>
          </p:nvPr>
        </p:nvSpPr>
        <p:spPr/>
        <p:txBody>
          <a:bodyPr/>
          <a:lstStyle/>
          <a:p>
            <a:fld id="{C5B78DA1-6DE4-4BCD-B225-64C836F96C47}" type="datetime4">
              <a:rPr lang="en-US" smtClean="0"/>
              <a:pPr/>
              <a:t>November 9, 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F8BE4994-793F-4AF4-89A3-515E9DA12016}" type="slidenum">
              <a:rPr lang="en-US" smtClean="0"/>
              <a:pPr/>
              <a:t>24</a:t>
            </a:fld>
            <a:endParaRPr lang="en-US"/>
          </a:p>
        </p:txBody>
      </p:sp>
      <p:pic>
        <p:nvPicPr>
          <p:cNvPr id="7" name="Picture 6"/>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blipFill>
            <a:blip r:embed="rId2" cstate="print"/>
            <a:tile tx="0" ty="0" sx="100000" sy="100000" flip="none" algn="tl"/>
          </a:blipFill>
        </p:spPr>
        <p:txBody>
          <a:bodyPr/>
          <a:lstStyle/>
          <a:p>
            <a:r>
              <a:rPr lang="en-US" b="1" dirty="0" smtClean="0">
                <a:solidFill>
                  <a:srgbClr val="008000"/>
                </a:solidFill>
                <a:latin typeface="Times New Roman" pitchFamily="18" charset="0"/>
                <a:cs typeface="Times New Roman" pitchFamily="18" charset="0"/>
              </a:rPr>
              <a:t>Environmental Ethics</a:t>
            </a:r>
            <a:endParaRPr lang="en-US" dirty="0">
              <a:solidFill>
                <a:srgbClr val="008000"/>
              </a:solidFill>
            </a:endParaRPr>
          </a:p>
        </p:txBody>
      </p:sp>
      <p:sp>
        <p:nvSpPr>
          <p:cNvPr id="3" name="Content Placeholder 2"/>
          <p:cNvSpPr>
            <a:spLocks noGrp="1"/>
          </p:cNvSpPr>
          <p:nvPr>
            <p:ph idx="1"/>
          </p:nvPr>
        </p:nvSpPr>
        <p:spPr>
          <a:solidFill>
            <a:schemeClr val="accent1">
              <a:lumMod val="20000"/>
              <a:lumOff val="80000"/>
            </a:schemeClr>
          </a:solidFill>
        </p:spPr>
        <p:txBody>
          <a:bodyPr>
            <a:normAutofit lnSpcReduction="10000"/>
          </a:bodyPr>
          <a:lstStyle/>
          <a:p>
            <a:pPr>
              <a:buNone/>
            </a:pPr>
            <a:r>
              <a:rPr lang="en-US" sz="2800" b="1" i="1" dirty="0" smtClean="0">
                <a:solidFill>
                  <a:srgbClr val="0033CC"/>
                </a:solidFill>
                <a:latin typeface="Times New Roman" pitchFamily="18" charset="0"/>
                <a:cs typeface="Times New Roman" pitchFamily="18" charset="0"/>
              </a:rPr>
              <a:t>3.Our obligations to the future generations</a:t>
            </a:r>
          </a:p>
          <a:p>
            <a:pPr>
              <a:buNone/>
            </a:pPr>
            <a:r>
              <a:rPr lang="en-US" b="1" dirty="0" smtClean="0">
                <a:latin typeface="Times New Roman" pitchFamily="18" charset="0"/>
                <a:cs typeface="Times New Roman" pitchFamily="18" charset="0"/>
              </a:rPr>
              <a:t>Our concern  for the environment also raises the question of our obligations to future generations. How much do we owe to the future?</a:t>
            </a:r>
          </a:p>
          <a:p>
            <a:pPr>
              <a:buNone/>
            </a:pPr>
            <a:r>
              <a:rPr lang="en-US" b="1" dirty="0" smtClean="0">
                <a:latin typeface="Times New Roman" pitchFamily="18" charset="0"/>
                <a:cs typeface="Times New Roman" pitchFamily="18" charset="0"/>
              </a:rPr>
              <a:t>From the ‘</a:t>
            </a:r>
            <a:r>
              <a:rPr lang="en-US" b="1" i="1" dirty="0" smtClean="0">
                <a:latin typeface="Times New Roman" pitchFamily="18" charset="0"/>
                <a:cs typeface="Times New Roman" pitchFamily="18" charset="0"/>
              </a:rPr>
              <a:t>social contract’  </a:t>
            </a:r>
            <a:r>
              <a:rPr lang="en-US" b="1" dirty="0" smtClean="0">
                <a:latin typeface="Times New Roman" pitchFamily="18" charset="0"/>
                <a:cs typeface="Times New Roman" pitchFamily="18" charset="0"/>
              </a:rPr>
              <a:t>view of ethics, the answer would seem to be </a:t>
            </a:r>
            <a:r>
              <a:rPr lang="en-US" b="1" dirty="0" smtClean="0">
                <a:solidFill>
                  <a:srgbClr val="FF0000"/>
                </a:solidFill>
                <a:latin typeface="Times New Roman" pitchFamily="18" charset="0"/>
                <a:cs typeface="Times New Roman" pitchFamily="18" charset="0"/>
              </a:rPr>
              <a:t>‘nothing’! </a:t>
            </a:r>
            <a:r>
              <a:rPr lang="en-US" b="1" dirty="0" smtClean="0">
                <a:latin typeface="Times New Roman" pitchFamily="18" charset="0"/>
                <a:cs typeface="Times New Roman" pitchFamily="18" charset="0"/>
              </a:rPr>
              <a:t>Because  we can benefit them. But  they are unable to reciprocate. </a:t>
            </a:r>
          </a:p>
          <a:p>
            <a:pPr>
              <a:buNone/>
            </a:pPr>
            <a:endParaRPr lang="en-US" sz="2000" b="1" dirty="0" smtClean="0">
              <a:solidFill>
                <a:srgbClr val="FF0000"/>
              </a:solidFill>
              <a:latin typeface="Times New Roman" pitchFamily="18" charset="0"/>
              <a:cs typeface="Times New Roman" pitchFamily="18" charset="0"/>
            </a:endParaRPr>
          </a:p>
          <a:p>
            <a:pPr>
              <a:buNone/>
            </a:pPr>
            <a:endParaRPr lang="en-US" sz="2000" dirty="0"/>
          </a:p>
        </p:txBody>
      </p:sp>
      <p:sp>
        <p:nvSpPr>
          <p:cNvPr id="4" name="Date Placeholder 3"/>
          <p:cNvSpPr>
            <a:spLocks noGrp="1"/>
          </p:cNvSpPr>
          <p:nvPr>
            <p:ph type="dt" sz="half" idx="10"/>
          </p:nvPr>
        </p:nvSpPr>
        <p:spPr/>
        <p:txBody>
          <a:bodyPr/>
          <a:lstStyle/>
          <a:p>
            <a:fld id="{C5B78DA1-6DE4-4BCD-B225-64C836F96C47}" type="datetime4">
              <a:rPr lang="en-US" smtClean="0"/>
              <a:pPr/>
              <a:t>November 9, 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F8BE4994-793F-4AF4-89A3-515E9DA12016}" type="slidenum">
              <a:rPr lang="en-US" smtClean="0"/>
              <a:pPr/>
              <a:t>25</a:t>
            </a:fld>
            <a:endParaRPr lang="en-US"/>
          </a:p>
        </p:txBody>
      </p:sp>
      <p:pic>
        <p:nvPicPr>
          <p:cNvPr id="7" name="Picture 6"/>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blipFill>
            <a:blip r:embed="rId2" cstate="print"/>
            <a:tile tx="0" ty="0" sx="100000" sy="100000" flip="none" algn="tl"/>
          </a:blipFill>
        </p:spPr>
        <p:txBody>
          <a:bodyPr/>
          <a:lstStyle/>
          <a:p>
            <a:r>
              <a:rPr lang="en-US" b="1" dirty="0" smtClean="0">
                <a:solidFill>
                  <a:srgbClr val="008000"/>
                </a:solidFill>
                <a:latin typeface="Times New Roman" pitchFamily="18" charset="0"/>
                <a:cs typeface="Times New Roman" pitchFamily="18" charset="0"/>
              </a:rPr>
              <a:t>Environmental Ethics</a:t>
            </a:r>
            <a:endParaRPr lang="en-US" dirty="0"/>
          </a:p>
        </p:txBody>
      </p:sp>
      <p:sp>
        <p:nvSpPr>
          <p:cNvPr id="3" name="Content Placeholder 2"/>
          <p:cNvSpPr>
            <a:spLocks noGrp="1"/>
          </p:cNvSpPr>
          <p:nvPr>
            <p:ph idx="1"/>
          </p:nvPr>
        </p:nvSpPr>
        <p:spPr>
          <a:xfrm>
            <a:off x="228600" y="1600200"/>
            <a:ext cx="8686800" cy="4648200"/>
          </a:xfrm>
          <a:solidFill>
            <a:schemeClr val="accent1">
              <a:lumMod val="20000"/>
              <a:lumOff val="80000"/>
            </a:schemeClr>
          </a:solidFill>
        </p:spPr>
        <p:txBody>
          <a:bodyPr>
            <a:normAutofit fontScale="92500"/>
          </a:bodyPr>
          <a:lstStyle/>
          <a:p>
            <a:pPr>
              <a:buNone/>
            </a:pPr>
            <a:r>
              <a:rPr lang="en-US" b="1" dirty="0" smtClean="0">
                <a:latin typeface="Times New Roman" pitchFamily="18" charset="0"/>
                <a:cs typeface="Times New Roman" pitchFamily="18" charset="0"/>
              </a:rPr>
              <a:t>Most of the ethical theories, however, do give weightage to the interests of coming generations. </a:t>
            </a:r>
          </a:p>
          <a:p>
            <a:pPr>
              <a:buNone/>
            </a:pPr>
            <a:r>
              <a:rPr lang="en-US" b="1" dirty="0" smtClean="0">
                <a:solidFill>
                  <a:srgbClr val="FF0000"/>
                </a:solidFill>
                <a:latin typeface="Times New Roman" pitchFamily="18" charset="0"/>
                <a:cs typeface="Times New Roman" pitchFamily="18" charset="0"/>
              </a:rPr>
              <a:t>The fact that members of future generations do not yet exist is no reason for giving less consideration to their interests than we give to our own. </a:t>
            </a:r>
          </a:p>
          <a:p>
            <a:pPr>
              <a:buFontTx/>
              <a:buChar char="-"/>
            </a:pPr>
            <a:r>
              <a:rPr lang="en-US" b="1" i="1" dirty="0" smtClean="0">
                <a:latin typeface="Times New Roman" pitchFamily="18" charset="0"/>
                <a:cs typeface="Times New Roman" pitchFamily="18" charset="0"/>
              </a:rPr>
              <a:t>Storage of radioactive waste has long-term effects</a:t>
            </a:r>
          </a:p>
          <a:p>
            <a:pPr>
              <a:buFontTx/>
              <a:buChar char="-"/>
            </a:pPr>
            <a:r>
              <a:rPr lang="en-US" b="1" i="1" dirty="0" smtClean="0">
                <a:latin typeface="Times New Roman" pitchFamily="18" charset="0"/>
                <a:cs typeface="Times New Roman" pitchFamily="18" charset="0"/>
              </a:rPr>
              <a:t>Effect of Population Policies   on future generations to come.</a:t>
            </a:r>
          </a:p>
          <a:p>
            <a:endParaRPr lang="en-US" dirty="0"/>
          </a:p>
        </p:txBody>
      </p:sp>
      <p:sp>
        <p:nvSpPr>
          <p:cNvPr id="4" name="Date Placeholder 3"/>
          <p:cNvSpPr>
            <a:spLocks noGrp="1"/>
          </p:cNvSpPr>
          <p:nvPr>
            <p:ph type="dt" sz="half" idx="10"/>
          </p:nvPr>
        </p:nvSpPr>
        <p:spPr/>
        <p:txBody>
          <a:bodyPr/>
          <a:lstStyle/>
          <a:p>
            <a:fld id="{C5B78DA1-6DE4-4BCD-B225-64C836F96C47}" type="datetime4">
              <a:rPr lang="en-US" smtClean="0"/>
              <a:pPr/>
              <a:t>November 9, 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F8BE4994-793F-4AF4-89A3-515E9DA12016}" type="slidenum">
              <a:rPr lang="en-US" smtClean="0"/>
              <a:pPr/>
              <a:t>26</a:t>
            </a:fld>
            <a:endParaRPr lang="en-US"/>
          </a:p>
        </p:txBody>
      </p:sp>
      <p:pic>
        <p:nvPicPr>
          <p:cNvPr id="7" name="Picture 6"/>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blipFill>
            <a:blip r:embed="rId2" cstate="print"/>
            <a:tile tx="0" ty="0" sx="100000" sy="100000" flip="none" algn="tl"/>
          </a:blipFill>
        </p:spPr>
        <p:txBody>
          <a:bodyPr/>
          <a:lstStyle/>
          <a:p>
            <a:r>
              <a:rPr lang="en-US" b="1" dirty="0" smtClean="0">
                <a:solidFill>
                  <a:srgbClr val="008000"/>
                </a:solidFill>
                <a:latin typeface="Times New Roman" pitchFamily="18" charset="0"/>
                <a:cs typeface="Times New Roman" pitchFamily="18" charset="0"/>
              </a:rPr>
              <a:t>Environmental Ethics</a:t>
            </a:r>
            <a:endParaRPr lang="en-US" dirty="0"/>
          </a:p>
        </p:txBody>
      </p:sp>
      <p:sp>
        <p:nvSpPr>
          <p:cNvPr id="3" name="Content Placeholder 2"/>
          <p:cNvSpPr>
            <a:spLocks noGrp="1"/>
          </p:cNvSpPr>
          <p:nvPr>
            <p:ph idx="1"/>
          </p:nvPr>
        </p:nvSpPr>
        <p:spPr>
          <a:xfrm>
            <a:off x="228600" y="1600200"/>
            <a:ext cx="8686800" cy="4724400"/>
          </a:xfrm>
          <a:solidFill>
            <a:schemeClr val="accent1">
              <a:lumMod val="20000"/>
              <a:lumOff val="80000"/>
            </a:schemeClr>
          </a:solidFill>
        </p:spPr>
        <p:txBody>
          <a:bodyPr>
            <a:noAutofit/>
          </a:bodyPr>
          <a:lstStyle/>
          <a:p>
            <a:pPr>
              <a:buNone/>
            </a:pPr>
            <a:r>
              <a:rPr lang="en-US" sz="2400" b="1" dirty="0" smtClean="0">
                <a:latin typeface="Times New Roman" pitchFamily="18" charset="0"/>
                <a:cs typeface="Times New Roman" pitchFamily="18" charset="0"/>
              </a:rPr>
              <a:t>Man is a temporary resident custodian of this planet, simply a link in the cycle of events, which has been operating since times immemorial.</a:t>
            </a:r>
          </a:p>
          <a:p>
            <a:pPr>
              <a:buNone/>
            </a:pPr>
            <a:r>
              <a:rPr lang="en-US" sz="2400" b="1" dirty="0" smtClean="0">
                <a:solidFill>
                  <a:srgbClr val="FF0000"/>
                </a:solidFill>
                <a:latin typeface="Times New Roman" pitchFamily="18" charset="0"/>
                <a:cs typeface="Times New Roman" pitchFamily="18" charset="0"/>
              </a:rPr>
              <a:t>We do not have the rights to spoil the resources, pollute the environment and disrupt the very cycle of life of which we form a simple insignificant link.</a:t>
            </a:r>
          </a:p>
          <a:p>
            <a:pPr>
              <a:buNone/>
            </a:pPr>
            <a:r>
              <a:rPr lang="en-US" sz="2400" b="1" dirty="0" smtClean="0">
                <a:latin typeface="Times New Roman" pitchFamily="18" charset="0"/>
                <a:cs typeface="Times New Roman" pitchFamily="18" charset="0"/>
              </a:rPr>
              <a:t>It will affect the future generations whether small or large.</a:t>
            </a:r>
          </a:p>
          <a:p>
            <a:pPr>
              <a:buNone/>
            </a:pPr>
            <a:r>
              <a:rPr lang="en-US" sz="2400" b="1" dirty="0" smtClean="0">
                <a:solidFill>
                  <a:srgbClr val="FF0000"/>
                </a:solidFill>
                <a:latin typeface="Times New Roman" pitchFamily="18" charset="0"/>
                <a:cs typeface="Times New Roman" pitchFamily="18" charset="0"/>
              </a:rPr>
              <a:t>Just as we have inherited the resources of the earth from our predecessors, should we not pas it on to future generations in a clean and usable state.</a:t>
            </a:r>
          </a:p>
        </p:txBody>
      </p:sp>
      <p:sp>
        <p:nvSpPr>
          <p:cNvPr id="4" name="Date Placeholder 3"/>
          <p:cNvSpPr>
            <a:spLocks noGrp="1"/>
          </p:cNvSpPr>
          <p:nvPr>
            <p:ph type="dt" sz="half" idx="10"/>
          </p:nvPr>
        </p:nvSpPr>
        <p:spPr/>
        <p:txBody>
          <a:bodyPr/>
          <a:lstStyle/>
          <a:p>
            <a:fld id="{C5B78DA1-6DE4-4BCD-B225-64C836F96C47}" type="datetime4">
              <a:rPr lang="en-US" smtClean="0"/>
              <a:pPr/>
              <a:t>November 9, 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F8BE4994-793F-4AF4-89A3-515E9DA12016}" type="slidenum">
              <a:rPr lang="en-US" smtClean="0"/>
              <a:pPr/>
              <a:t>27</a:t>
            </a:fld>
            <a:endParaRPr lang="en-US"/>
          </a:p>
        </p:txBody>
      </p:sp>
      <p:pic>
        <p:nvPicPr>
          <p:cNvPr id="7" name="Picture 6"/>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blipFill>
            <a:blip r:embed="rId2" cstate="print"/>
            <a:tile tx="0" ty="0" sx="100000" sy="100000" flip="none" algn="tl"/>
          </a:blipFill>
        </p:spPr>
        <p:txBody>
          <a:bodyPr/>
          <a:lstStyle/>
          <a:p>
            <a:r>
              <a:rPr lang="en-US" b="1" dirty="0" smtClean="0">
                <a:solidFill>
                  <a:srgbClr val="008000"/>
                </a:solidFill>
                <a:latin typeface="Times New Roman" pitchFamily="18" charset="0"/>
                <a:cs typeface="Times New Roman" pitchFamily="18" charset="0"/>
              </a:rPr>
              <a:t>Environmental Ethics</a:t>
            </a:r>
            <a:endParaRPr lang="en-US" dirty="0"/>
          </a:p>
        </p:txBody>
      </p:sp>
      <p:sp>
        <p:nvSpPr>
          <p:cNvPr id="3" name="Content Placeholder 2"/>
          <p:cNvSpPr>
            <a:spLocks noGrp="1"/>
          </p:cNvSpPr>
          <p:nvPr>
            <p:ph idx="1"/>
          </p:nvPr>
        </p:nvSpPr>
        <p:spPr>
          <a:xfrm>
            <a:off x="228600" y="1600200"/>
            <a:ext cx="8686800" cy="4648200"/>
          </a:xfrm>
          <a:solidFill>
            <a:schemeClr val="accent1">
              <a:lumMod val="20000"/>
              <a:lumOff val="80000"/>
            </a:schemeClr>
          </a:solidFill>
        </p:spPr>
        <p:txBody>
          <a:bodyPr/>
          <a:lstStyle/>
          <a:p>
            <a:pPr>
              <a:buNone/>
            </a:pPr>
            <a:r>
              <a:rPr lang="en-US" b="1" dirty="0" smtClean="0">
                <a:solidFill>
                  <a:srgbClr val="FF0000"/>
                </a:solidFill>
                <a:latin typeface="Times New Roman" pitchFamily="18" charset="0"/>
                <a:cs typeface="Times New Roman" pitchFamily="18" charset="0"/>
              </a:rPr>
              <a:t>Land Ethics: which affirms the right of all resources, including microbes, plants, animals and earth materials as well to continued existence in a natural state.</a:t>
            </a:r>
          </a:p>
          <a:p>
            <a:pPr>
              <a:buNone/>
            </a:pPr>
            <a:r>
              <a:rPr lang="en-US" b="1" dirty="0" smtClean="0">
                <a:solidFill>
                  <a:srgbClr val="0070C0"/>
                </a:solidFill>
                <a:latin typeface="Times New Roman" pitchFamily="18" charset="0"/>
                <a:cs typeface="Times New Roman" pitchFamily="18" charset="0"/>
              </a:rPr>
              <a:t>Humans have the ethical responsibility of preservation and maintenance of the biosphere, the atmosphere, the hydrosphere and the lithosphere (Leopold, 1949)</a:t>
            </a:r>
          </a:p>
          <a:p>
            <a:endParaRPr lang="en-US" dirty="0"/>
          </a:p>
        </p:txBody>
      </p:sp>
      <p:sp>
        <p:nvSpPr>
          <p:cNvPr id="4" name="Date Placeholder 3"/>
          <p:cNvSpPr>
            <a:spLocks noGrp="1"/>
          </p:cNvSpPr>
          <p:nvPr>
            <p:ph type="dt" sz="half" idx="10"/>
          </p:nvPr>
        </p:nvSpPr>
        <p:spPr/>
        <p:txBody>
          <a:bodyPr/>
          <a:lstStyle/>
          <a:p>
            <a:fld id="{C5B78DA1-6DE4-4BCD-B225-64C836F96C47}" type="datetime4">
              <a:rPr lang="en-US" smtClean="0"/>
              <a:pPr/>
              <a:t>November 9, 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F8BE4994-793F-4AF4-89A3-515E9DA12016}" type="slidenum">
              <a:rPr lang="en-US" smtClean="0"/>
              <a:pPr/>
              <a:t>28</a:t>
            </a:fld>
            <a:endParaRPr lang="en-US"/>
          </a:p>
        </p:txBody>
      </p:sp>
      <p:pic>
        <p:nvPicPr>
          <p:cNvPr id="7" name="Picture 6"/>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blipFill>
            <a:blip r:embed="rId2" cstate="print"/>
            <a:tile tx="0" ty="0" sx="100000" sy="100000" flip="none" algn="tl"/>
          </a:blipFill>
        </p:spPr>
        <p:txBody>
          <a:bodyPr/>
          <a:lstStyle/>
          <a:p>
            <a:r>
              <a:rPr lang="en-US" b="1" dirty="0" smtClean="0">
                <a:solidFill>
                  <a:srgbClr val="008000"/>
                </a:solidFill>
                <a:latin typeface="Times New Roman" pitchFamily="18" charset="0"/>
                <a:cs typeface="Times New Roman" pitchFamily="18" charset="0"/>
              </a:rPr>
              <a:t>Environmental Ethics</a:t>
            </a:r>
            <a:endParaRPr lang="en-US" dirty="0">
              <a:solidFill>
                <a:srgbClr val="008000"/>
              </a:solidFill>
            </a:endParaRPr>
          </a:p>
        </p:txBody>
      </p:sp>
      <p:sp>
        <p:nvSpPr>
          <p:cNvPr id="3" name="Content Placeholder 2"/>
          <p:cNvSpPr>
            <a:spLocks noGrp="1"/>
          </p:cNvSpPr>
          <p:nvPr>
            <p:ph idx="1"/>
          </p:nvPr>
        </p:nvSpPr>
        <p:spPr>
          <a:xfrm>
            <a:off x="228600" y="1600200"/>
            <a:ext cx="8763000" cy="4724400"/>
          </a:xfrm>
          <a:solidFill>
            <a:schemeClr val="accent6">
              <a:lumMod val="20000"/>
              <a:lumOff val="80000"/>
            </a:schemeClr>
          </a:solidFill>
        </p:spPr>
        <p:txBody>
          <a:bodyPr>
            <a:normAutofit/>
          </a:bodyPr>
          <a:lstStyle/>
          <a:p>
            <a:pPr>
              <a:buNone/>
            </a:pPr>
            <a:r>
              <a:rPr lang="en-US" sz="2800" b="1" dirty="0" smtClean="0">
                <a:solidFill>
                  <a:srgbClr val="0033CC"/>
                </a:solidFill>
                <a:latin typeface="Times New Roman" pitchFamily="18" charset="0"/>
                <a:cs typeface="Times New Roman" pitchFamily="18" charset="0"/>
              </a:rPr>
              <a:t>(IV) ETHICS AND ENVIRONMENTAL ISSUES</a:t>
            </a:r>
          </a:p>
          <a:p>
            <a:pPr>
              <a:buNone/>
            </a:pPr>
            <a:r>
              <a:rPr lang="en-US" sz="2800" b="1" dirty="0" smtClean="0">
                <a:solidFill>
                  <a:srgbClr val="FF0000"/>
                </a:solidFill>
                <a:latin typeface="Times New Roman" pitchFamily="18" charset="0"/>
                <a:cs typeface="Times New Roman" pitchFamily="18" charset="0"/>
              </a:rPr>
              <a:t>Environmental issues are the most pressing national and international issues of the present century. </a:t>
            </a:r>
          </a:p>
          <a:p>
            <a:pPr>
              <a:buNone/>
            </a:pPr>
            <a:r>
              <a:rPr lang="en-US" sz="2800" b="1" dirty="0" smtClean="0">
                <a:latin typeface="Times New Roman" pitchFamily="18" charset="0"/>
                <a:cs typeface="Times New Roman" pitchFamily="18" charset="0"/>
              </a:rPr>
              <a:t>We have already committed our planet to a major environmental change in the years ahead.</a:t>
            </a:r>
          </a:p>
          <a:p>
            <a:pPr>
              <a:buFont typeface="Wingdings" pitchFamily="2" charset="2"/>
              <a:buChar char="v"/>
            </a:pPr>
            <a:r>
              <a:rPr lang="en-US" sz="2800" b="1" i="1" dirty="0" smtClean="0">
                <a:solidFill>
                  <a:srgbClr val="008000"/>
                </a:solidFill>
                <a:latin typeface="Times New Roman" pitchFamily="18" charset="0"/>
                <a:cs typeface="Times New Roman" pitchFamily="18" charset="0"/>
              </a:rPr>
              <a:t>Elevated concentrations of green house gases already emitted will persist for many centuries</a:t>
            </a:r>
          </a:p>
          <a:p>
            <a:pPr>
              <a:buFont typeface="Wingdings" pitchFamily="2" charset="2"/>
              <a:buChar char="v"/>
            </a:pPr>
            <a:r>
              <a:rPr lang="en-US" sz="2800" b="1" i="1" dirty="0" smtClean="0">
                <a:solidFill>
                  <a:srgbClr val="008000"/>
                </a:solidFill>
                <a:latin typeface="Times New Roman" pitchFamily="18" charset="0"/>
                <a:cs typeface="Times New Roman" pitchFamily="18" charset="0"/>
              </a:rPr>
              <a:t>The chlorofluorocarbons in the atmosphere will continue to deplete the ozone shield for centuries</a:t>
            </a:r>
          </a:p>
          <a:p>
            <a:pPr>
              <a:buNone/>
            </a:pPr>
            <a:endParaRPr lang="en-US" sz="2000" b="1" dirty="0" smtClean="0">
              <a:latin typeface="Times New Roman" pitchFamily="18" charset="0"/>
              <a:cs typeface="Times New Roman" pitchFamily="18" charset="0"/>
            </a:endParaRPr>
          </a:p>
          <a:p>
            <a:pPr>
              <a:buNone/>
            </a:pPr>
            <a:endParaRPr lang="en-US" sz="2800" b="1" dirty="0" smtClean="0">
              <a:solidFill>
                <a:srgbClr val="0033CC"/>
              </a:solidFill>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C5B78DA1-6DE4-4BCD-B225-64C836F96C47}" type="datetime4">
              <a:rPr lang="en-US" smtClean="0"/>
              <a:pPr/>
              <a:t>November 9, 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F8BE4994-793F-4AF4-89A3-515E9DA12016}" type="slidenum">
              <a:rPr lang="en-US" smtClean="0"/>
              <a:pPr/>
              <a:t>29</a:t>
            </a:fld>
            <a:endParaRPr lang="en-US"/>
          </a:p>
        </p:txBody>
      </p:sp>
      <p:pic>
        <p:nvPicPr>
          <p:cNvPr id="7" name="Picture 6"/>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blipFill>
            <a:blip r:embed="rId2" cstate="print"/>
            <a:tile tx="0" ty="0" sx="100000" sy="100000" flip="none" algn="tl"/>
          </a:blipFill>
        </p:spPr>
        <p:txBody>
          <a:bodyPr/>
          <a:lstStyle/>
          <a:p>
            <a:r>
              <a:rPr lang="en-US" b="1" dirty="0" smtClean="0">
                <a:solidFill>
                  <a:srgbClr val="008000"/>
                </a:solidFill>
                <a:latin typeface="Times New Roman" pitchFamily="18" charset="0"/>
                <a:cs typeface="Times New Roman" pitchFamily="18" charset="0"/>
              </a:rPr>
              <a:t>Environmental Ethics</a:t>
            </a:r>
            <a:endParaRPr lang="en-US" dirty="0"/>
          </a:p>
        </p:txBody>
      </p:sp>
      <p:sp>
        <p:nvSpPr>
          <p:cNvPr id="3" name="Content Placeholder 2"/>
          <p:cNvSpPr>
            <a:spLocks noGrp="1"/>
          </p:cNvSpPr>
          <p:nvPr>
            <p:ph idx="1"/>
          </p:nvPr>
        </p:nvSpPr>
        <p:spPr>
          <a:xfrm>
            <a:off x="228600" y="1600200"/>
            <a:ext cx="8686800" cy="4724400"/>
          </a:xfrm>
          <a:solidFill>
            <a:schemeClr val="accent6">
              <a:lumMod val="20000"/>
              <a:lumOff val="80000"/>
            </a:schemeClr>
          </a:solidFill>
        </p:spPr>
        <p:txBody>
          <a:bodyPr>
            <a:normAutofit/>
          </a:bodyPr>
          <a:lstStyle/>
          <a:p>
            <a:pPr>
              <a:buFont typeface="Wingdings" pitchFamily="2" charset="2"/>
              <a:buChar char="v"/>
            </a:pPr>
            <a:r>
              <a:rPr lang="en-US" b="1" i="1" dirty="0" smtClean="0">
                <a:solidFill>
                  <a:srgbClr val="008000"/>
                </a:solidFill>
                <a:latin typeface="Times New Roman" pitchFamily="18" charset="0"/>
                <a:cs typeface="Times New Roman" pitchFamily="18" charset="0"/>
              </a:rPr>
              <a:t>Complex tropical forest ecosystems once cleared shall take many decades to generate</a:t>
            </a:r>
          </a:p>
          <a:p>
            <a:pPr>
              <a:buNone/>
            </a:pPr>
            <a:r>
              <a:rPr lang="en-US" b="1" i="1" u="sng" dirty="0" smtClean="0">
                <a:solidFill>
                  <a:srgbClr val="0033CC"/>
                </a:solidFill>
                <a:latin typeface="Times New Roman" pitchFamily="18" charset="0"/>
                <a:cs typeface="Times New Roman" pitchFamily="18" charset="0"/>
              </a:rPr>
              <a:t>We cannot halt these changes altogether but we can reduce the pace of these changes.</a:t>
            </a:r>
          </a:p>
          <a:p>
            <a:pPr>
              <a:buNone/>
            </a:pPr>
            <a:r>
              <a:rPr lang="en-US" b="1" dirty="0" smtClean="0">
                <a:latin typeface="Times New Roman" pitchFamily="18" charset="0"/>
                <a:cs typeface="Times New Roman" pitchFamily="18" charset="0"/>
              </a:rPr>
              <a:t>Environmental problems like </a:t>
            </a:r>
            <a:r>
              <a:rPr lang="en-US" b="1" dirty="0" smtClean="0">
                <a:solidFill>
                  <a:srgbClr val="FF0000"/>
                </a:solidFill>
                <a:latin typeface="Times New Roman" pitchFamily="18" charset="0"/>
                <a:cs typeface="Times New Roman" pitchFamily="18" charset="0"/>
              </a:rPr>
              <a:t>fog, smog, acid rains, thermal and noise pollution</a:t>
            </a:r>
            <a:r>
              <a:rPr lang="en-US" b="1" dirty="0" smtClean="0">
                <a:latin typeface="Times New Roman" pitchFamily="18" charset="0"/>
                <a:cs typeface="Times New Roman" pitchFamily="18" charset="0"/>
              </a:rPr>
              <a:t> have affected our existence before the global issues which now threaten man with drastic consequences.</a:t>
            </a:r>
          </a:p>
          <a:p>
            <a:endParaRPr lang="en-US" dirty="0"/>
          </a:p>
        </p:txBody>
      </p:sp>
      <p:sp>
        <p:nvSpPr>
          <p:cNvPr id="4" name="Date Placeholder 3"/>
          <p:cNvSpPr>
            <a:spLocks noGrp="1"/>
          </p:cNvSpPr>
          <p:nvPr>
            <p:ph type="dt" sz="half" idx="10"/>
          </p:nvPr>
        </p:nvSpPr>
        <p:spPr/>
        <p:txBody>
          <a:bodyPr/>
          <a:lstStyle/>
          <a:p>
            <a:fld id="{C5B78DA1-6DE4-4BCD-B225-64C836F96C47}" type="datetime4">
              <a:rPr lang="en-US" smtClean="0"/>
              <a:pPr/>
              <a:t>November 9, 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F8BE4994-793F-4AF4-89A3-515E9DA12016}" type="slidenum">
              <a:rPr lang="en-US" smtClean="0"/>
              <a:pPr/>
              <a:t>30</a:t>
            </a:fld>
            <a:endParaRPr lang="en-US"/>
          </a:p>
        </p:txBody>
      </p:sp>
      <p:pic>
        <p:nvPicPr>
          <p:cNvPr id="7" name="Picture 6"/>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blipFill>
            <a:blip r:embed="rId2" cstate="print"/>
            <a:tile tx="0" ty="0" sx="100000" sy="100000" flip="none" algn="tl"/>
          </a:blipFill>
        </p:spPr>
        <p:txBody>
          <a:bodyPr/>
          <a:lstStyle/>
          <a:p>
            <a:r>
              <a:rPr lang="en-US" b="1" dirty="0" smtClean="0">
                <a:solidFill>
                  <a:srgbClr val="008000"/>
                </a:solidFill>
                <a:latin typeface="Times New Roman" pitchFamily="18" charset="0"/>
                <a:cs typeface="Times New Roman" pitchFamily="18" charset="0"/>
              </a:rPr>
              <a:t>Environmental Ethics</a:t>
            </a:r>
            <a:endParaRPr lang="en-US" dirty="0">
              <a:solidFill>
                <a:srgbClr val="008000"/>
              </a:solidFill>
            </a:endParaRPr>
          </a:p>
        </p:txBody>
      </p:sp>
      <p:sp>
        <p:nvSpPr>
          <p:cNvPr id="3" name="Content Placeholder 2"/>
          <p:cNvSpPr>
            <a:spLocks noGrp="1"/>
          </p:cNvSpPr>
          <p:nvPr>
            <p:ph idx="1"/>
          </p:nvPr>
        </p:nvSpPr>
        <p:spPr>
          <a:xfrm>
            <a:off x="228600" y="1600200"/>
            <a:ext cx="8686800" cy="4724400"/>
          </a:xfrm>
          <a:solidFill>
            <a:schemeClr val="accent6">
              <a:lumMod val="20000"/>
              <a:lumOff val="80000"/>
            </a:schemeClr>
          </a:solidFill>
        </p:spPr>
        <p:txBody>
          <a:bodyPr>
            <a:normAutofit/>
          </a:bodyPr>
          <a:lstStyle/>
          <a:p>
            <a:pPr>
              <a:buNone/>
            </a:pPr>
            <a:r>
              <a:rPr lang="en-US" sz="2400" b="1" dirty="0" smtClean="0">
                <a:latin typeface="Times New Roman" pitchFamily="18" charset="0"/>
                <a:cs typeface="Times New Roman" pitchFamily="18" charset="0"/>
              </a:rPr>
              <a:t>Major environmental issues which humanity faces today are:</a:t>
            </a:r>
          </a:p>
          <a:p>
            <a:pPr>
              <a:buNone/>
            </a:pPr>
            <a:r>
              <a:rPr lang="en-US" sz="2400" b="1" i="1" dirty="0" smtClean="0">
                <a:solidFill>
                  <a:srgbClr val="0033CC"/>
                </a:solidFill>
                <a:latin typeface="Times New Roman" pitchFamily="18" charset="0"/>
                <a:cs typeface="Times New Roman" pitchFamily="18" charset="0"/>
              </a:rPr>
              <a:t>1. Global climate change: global warming and stratospheric ozone depletion</a:t>
            </a:r>
          </a:p>
          <a:p>
            <a:pPr>
              <a:buNone/>
            </a:pPr>
            <a:r>
              <a:rPr lang="en-US" sz="2400" b="1" i="1" dirty="0" smtClean="0">
                <a:solidFill>
                  <a:srgbClr val="0033CC"/>
                </a:solidFill>
                <a:latin typeface="Times New Roman" pitchFamily="18" charset="0"/>
                <a:cs typeface="Times New Roman" pitchFamily="18" charset="0"/>
              </a:rPr>
              <a:t>2. Diminishing biological capital: disappearing wild life   and forest resources</a:t>
            </a:r>
          </a:p>
          <a:p>
            <a:pPr>
              <a:buNone/>
            </a:pPr>
            <a:r>
              <a:rPr lang="en-US" sz="2400" b="1" i="1" dirty="0" smtClean="0">
                <a:solidFill>
                  <a:srgbClr val="0033CC"/>
                </a:solidFill>
                <a:latin typeface="Times New Roman" pitchFamily="18" charset="0"/>
                <a:cs typeface="Times New Roman" pitchFamily="18" charset="0"/>
              </a:rPr>
              <a:t>3. Diminishing fertile land and freshwater resources: threat to future food security</a:t>
            </a:r>
          </a:p>
          <a:p>
            <a:pPr>
              <a:buNone/>
            </a:pPr>
            <a:r>
              <a:rPr lang="en-US" sz="2800" b="1" dirty="0" smtClean="0">
                <a:latin typeface="Times New Roman" pitchFamily="18" charset="0"/>
                <a:cs typeface="Times New Roman" pitchFamily="18" charset="0"/>
              </a:rPr>
              <a:t>While population has shot up and increasing at a faster pace, so have the standards of living for many of world’s people, the consumption of fossil fuels and expansion of world economy.</a:t>
            </a:r>
          </a:p>
        </p:txBody>
      </p:sp>
      <p:sp>
        <p:nvSpPr>
          <p:cNvPr id="4" name="Date Placeholder 3"/>
          <p:cNvSpPr>
            <a:spLocks noGrp="1"/>
          </p:cNvSpPr>
          <p:nvPr>
            <p:ph type="dt" sz="half" idx="10"/>
          </p:nvPr>
        </p:nvSpPr>
        <p:spPr/>
        <p:txBody>
          <a:bodyPr/>
          <a:lstStyle/>
          <a:p>
            <a:fld id="{C5B78DA1-6DE4-4BCD-B225-64C836F96C47}" type="datetime4">
              <a:rPr lang="en-US" smtClean="0"/>
              <a:pPr/>
              <a:t>November 9, 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F8BE4994-793F-4AF4-89A3-515E9DA12016}" type="slidenum">
              <a:rPr lang="en-US" smtClean="0"/>
              <a:pPr/>
              <a:t>31</a:t>
            </a:fld>
            <a:endParaRPr lang="en-US"/>
          </a:p>
        </p:txBody>
      </p:sp>
      <p:pic>
        <p:nvPicPr>
          <p:cNvPr id="7" name="Picture 6"/>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blipFill>
            <a:blip r:embed="rId2" cstate="print"/>
            <a:tile tx="0" ty="0" sx="100000" sy="100000" flip="none" algn="tl"/>
          </a:blipFill>
        </p:spPr>
        <p:txBody>
          <a:bodyPr/>
          <a:lstStyle/>
          <a:p>
            <a:r>
              <a:rPr lang="en-US" b="1" dirty="0" smtClean="0">
                <a:solidFill>
                  <a:srgbClr val="008000"/>
                </a:solidFill>
                <a:latin typeface="Times New Roman" pitchFamily="18" charset="0"/>
                <a:cs typeface="Times New Roman" pitchFamily="18" charset="0"/>
              </a:rPr>
              <a:t>Environmental Ethics</a:t>
            </a:r>
            <a:endParaRPr lang="en-US" dirty="0"/>
          </a:p>
        </p:txBody>
      </p:sp>
      <p:sp>
        <p:nvSpPr>
          <p:cNvPr id="3" name="Content Placeholder 2"/>
          <p:cNvSpPr>
            <a:spLocks noGrp="1"/>
          </p:cNvSpPr>
          <p:nvPr>
            <p:ph idx="1"/>
          </p:nvPr>
        </p:nvSpPr>
        <p:spPr>
          <a:xfrm>
            <a:off x="228600" y="1600200"/>
            <a:ext cx="8686800" cy="4724400"/>
          </a:xfrm>
          <a:solidFill>
            <a:schemeClr val="accent6">
              <a:lumMod val="20000"/>
              <a:lumOff val="80000"/>
            </a:schemeClr>
          </a:solidFill>
        </p:spPr>
        <p:txBody>
          <a:bodyPr/>
          <a:lstStyle/>
          <a:p>
            <a:r>
              <a:rPr lang="en-US" b="1" dirty="0" smtClean="0">
                <a:latin typeface="Times New Roman" pitchFamily="18" charset="0"/>
                <a:cs typeface="Times New Roman" pitchFamily="18" charset="0"/>
              </a:rPr>
              <a:t>Yes ! these changes have caused astonishing improvements in human welfare but unfortunately, many of these processes that produce gains </a:t>
            </a:r>
            <a:r>
              <a:rPr lang="en-US" b="1" dirty="0" smtClean="0">
                <a:solidFill>
                  <a:srgbClr val="FF0000"/>
                </a:solidFill>
                <a:latin typeface="Times New Roman" pitchFamily="18" charset="0"/>
                <a:cs typeface="Times New Roman" pitchFamily="18" charset="0"/>
              </a:rPr>
              <a:t>degrade the environment and deplete the ecological capital </a:t>
            </a:r>
            <a:r>
              <a:rPr lang="en-US" b="1" dirty="0" smtClean="0">
                <a:latin typeface="Times New Roman" pitchFamily="18" charset="0"/>
                <a:cs typeface="Times New Roman" pitchFamily="18" charset="0"/>
              </a:rPr>
              <a:t>– </a:t>
            </a:r>
          </a:p>
          <a:p>
            <a:pPr>
              <a:buNone/>
            </a:pPr>
            <a:r>
              <a:rPr lang="en-US" b="1" dirty="0" smtClean="0">
                <a:latin typeface="Times New Roman" pitchFamily="18" charset="0"/>
                <a:cs typeface="Times New Roman" pitchFamily="18" charset="0"/>
              </a:rPr>
              <a:t>    </a:t>
            </a:r>
            <a:r>
              <a:rPr lang="en-US" b="1" i="1" dirty="0" smtClean="0">
                <a:solidFill>
                  <a:srgbClr val="0070C0"/>
                </a:solidFill>
                <a:latin typeface="Times New Roman" pitchFamily="18" charset="0"/>
                <a:cs typeface="Times New Roman" pitchFamily="18" charset="0"/>
              </a:rPr>
              <a:t>the soil, forests, biodiversity and freshwater resources – </a:t>
            </a:r>
          </a:p>
          <a:p>
            <a:pPr>
              <a:buNone/>
            </a:pPr>
            <a:r>
              <a:rPr lang="en-US" b="1" i="1" dirty="0" smtClean="0">
                <a:solidFill>
                  <a:srgbClr val="0070C0"/>
                </a:solidFill>
                <a:latin typeface="Times New Roman" pitchFamily="18" charset="0"/>
                <a:cs typeface="Times New Roman" pitchFamily="18" charset="0"/>
              </a:rPr>
              <a:t>    on which humanity subsists.</a:t>
            </a:r>
          </a:p>
          <a:p>
            <a:endParaRPr lang="en-US" dirty="0"/>
          </a:p>
        </p:txBody>
      </p:sp>
      <p:sp>
        <p:nvSpPr>
          <p:cNvPr id="4" name="Date Placeholder 3"/>
          <p:cNvSpPr>
            <a:spLocks noGrp="1"/>
          </p:cNvSpPr>
          <p:nvPr>
            <p:ph type="dt" sz="half" idx="10"/>
          </p:nvPr>
        </p:nvSpPr>
        <p:spPr/>
        <p:txBody>
          <a:bodyPr/>
          <a:lstStyle/>
          <a:p>
            <a:fld id="{C5B78DA1-6DE4-4BCD-B225-64C836F96C47}" type="datetime4">
              <a:rPr lang="en-US" smtClean="0"/>
              <a:pPr/>
              <a:t>November 9, 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F8BE4994-793F-4AF4-89A3-515E9DA12016}" type="slidenum">
              <a:rPr lang="en-US" smtClean="0"/>
              <a:pPr/>
              <a:t>32</a:t>
            </a:fld>
            <a:endParaRPr lang="en-US"/>
          </a:p>
        </p:txBody>
      </p:sp>
      <p:pic>
        <p:nvPicPr>
          <p:cNvPr id="7" name="Picture 6"/>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blipFill>
            <a:blip r:embed="rId2" cstate="print"/>
            <a:tile tx="0" ty="0" sx="100000" sy="100000" flip="none" algn="tl"/>
          </a:blipFill>
        </p:spPr>
        <p:txBody>
          <a:bodyPr/>
          <a:lstStyle/>
          <a:p>
            <a:r>
              <a:rPr lang="en-US" b="1" dirty="0" smtClean="0">
                <a:solidFill>
                  <a:srgbClr val="008000"/>
                </a:solidFill>
                <a:latin typeface="Times New Roman" pitchFamily="18" charset="0"/>
                <a:cs typeface="Times New Roman" pitchFamily="18" charset="0"/>
              </a:rPr>
              <a:t>Environmental Ethics</a:t>
            </a:r>
            <a:endParaRPr lang="en-US" dirty="0"/>
          </a:p>
        </p:txBody>
      </p:sp>
      <p:sp>
        <p:nvSpPr>
          <p:cNvPr id="3" name="Content Placeholder 2"/>
          <p:cNvSpPr>
            <a:spLocks noGrp="1"/>
          </p:cNvSpPr>
          <p:nvPr>
            <p:ph idx="1"/>
          </p:nvPr>
        </p:nvSpPr>
        <p:spPr>
          <a:xfrm>
            <a:off x="228600" y="1447800"/>
            <a:ext cx="8763000" cy="4876800"/>
          </a:xfrm>
          <a:solidFill>
            <a:schemeClr val="accent6">
              <a:lumMod val="20000"/>
              <a:lumOff val="80000"/>
            </a:schemeClr>
          </a:solidFill>
        </p:spPr>
        <p:txBody>
          <a:bodyPr>
            <a:noAutofit/>
          </a:bodyPr>
          <a:lstStyle/>
          <a:p>
            <a:pPr>
              <a:buNone/>
            </a:pPr>
            <a:r>
              <a:rPr lang="en-US" sz="2800" b="1" dirty="0" smtClean="0">
                <a:solidFill>
                  <a:srgbClr val="FF0000"/>
                </a:solidFill>
                <a:latin typeface="Times New Roman" pitchFamily="18" charset="0"/>
                <a:cs typeface="Times New Roman" pitchFamily="18" charset="0"/>
              </a:rPr>
              <a:t>People are richer in developed countries – with nearly one quarter of global population consuming most of the world’s energy.</a:t>
            </a:r>
          </a:p>
          <a:p>
            <a:pPr>
              <a:buNone/>
            </a:pPr>
            <a:r>
              <a:rPr lang="en-US" sz="2800" b="1" dirty="0" smtClean="0">
                <a:solidFill>
                  <a:srgbClr val="FF0000"/>
                </a:solidFill>
                <a:latin typeface="Times New Roman" pitchFamily="18" charset="0"/>
                <a:cs typeface="Times New Roman" pitchFamily="18" charset="0"/>
              </a:rPr>
              <a:t>They have at their command about 80% of world’s riches, </a:t>
            </a:r>
            <a:r>
              <a:rPr lang="en-US" sz="2800" b="1" u="sng" dirty="0" smtClean="0">
                <a:latin typeface="Times New Roman" pitchFamily="18" charset="0"/>
                <a:cs typeface="Times New Roman" pitchFamily="18" charset="0"/>
              </a:rPr>
              <a:t>use most of world’s natural resources </a:t>
            </a:r>
            <a:r>
              <a:rPr lang="en-US" sz="2800" b="1" dirty="0" smtClean="0">
                <a:solidFill>
                  <a:srgbClr val="FF0000"/>
                </a:solidFill>
                <a:latin typeface="Times New Roman" pitchFamily="18" charset="0"/>
                <a:cs typeface="Times New Roman" pitchFamily="18" charset="0"/>
              </a:rPr>
              <a:t>and </a:t>
            </a:r>
            <a:r>
              <a:rPr lang="en-US" sz="2800" b="1" u="sng" dirty="0" smtClean="0">
                <a:latin typeface="Times New Roman" pitchFamily="18" charset="0"/>
                <a:cs typeface="Times New Roman" pitchFamily="18" charset="0"/>
              </a:rPr>
              <a:t>generate most of the total waste produced on global scale.</a:t>
            </a:r>
          </a:p>
          <a:p>
            <a:pPr>
              <a:buNone/>
            </a:pPr>
            <a:r>
              <a:rPr lang="en-US" sz="2800" b="1" dirty="0" smtClean="0">
                <a:solidFill>
                  <a:srgbClr val="0070C0"/>
                </a:solidFill>
                <a:latin typeface="Times New Roman" pitchFamily="18" charset="0"/>
                <a:cs typeface="Times New Roman" pitchFamily="18" charset="0"/>
              </a:rPr>
              <a:t>People in developing and poor countries, with three quarters of world’s population have less than one quarter of world’s riches. </a:t>
            </a:r>
            <a:r>
              <a:rPr lang="en-US" sz="2800" b="1" u="sng" dirty="0" smtClean="0">
                <a:latin typeface="Times New Roman" pitchFamily="18" charset="0"/>
                <a:cs typeface="Times New Roman" pitchFamily="18" charset="0"/>
              </a:rPr>
              <a:t>They are often compelled to destroy their environment simply to survive.</a:t>
            </a:r>
          </a:p>
        </p:txBody>
      </p:sp>
      <p:sp>
        <p:nvSpPr>
          <p:cNvPr id="4" name="Date Placeholder 3"/>
          <p:cNvSpPr>
            <a:spLocks noGrp="1"/>
          </p:cNvSpPr>
          <p:nvPr>
            <p:ph type="dt" sz="half" idx="10"/>
          </p:nvPr>
        </p:nvSpPr>
        <p:spPr/>
        <p:txBody>
          <a:bodyPr/>
          <a:lstStyle/>
          <a:p>
            <a:fld id="{C5B78DA1-6DE4-4BCD-B225-64C836F96C47}" type="datetime4">
              <a:rPr lang="en-US" smtClean="0"/>
              <a:pPr/>
              <a:t>November 9, 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F8BE4994-793F-4AF4-89A3-515E9DA12016}" type="slidenum">
              <a:rPr lang="en-US" smtClean="0"/>
              <a:pPr/>
              <a:t>33</a:t>
            </a:fld>
            <a:endParaRPr lang="en-US"/>
          </a:p>
        </p:txBody>
      </p:sp>
      <p:pic>
        <p:nvPicPr>
          <p:cNvPr id="7" name="Picture 6"/>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blipFill>
            <a:blip r:embed="rId2" cstate="print"/>
            <a:tile tx="0" ty="0" sx="100000" sy="100000" flip="none" algn="tl"/>
          </a:blipFill>
        </p:spPr>
        <p:txBody>
          <a:bodyPr/>
          <a:lstStyle/>
          <a:p>
            <a:r>
              <a:rPr lang="en-US" b="1" dirty="0" smtClean="0">
                <a:solidFill>
                  <a:srgbClr val="008000"/>
                </a:solidFill>
                <a:latin typeface="Times New Roman" pitchFamily="18" charset="0"/>
                <a:cs typeface="Times New Roman" pitchFamily="18" charset="0"/>
              </a:rPr>
              <a:t>Environmental Ethics</a:t>
            </a:r>
            <a:endParaRPr lang="en-US" dirty="0"/>
          </a:p>
        </p:txBody>
      </p:sp>
      <p:sp>
        <p:nvSpPr>
          <p:cNvPr id="3" name="Content Placeholder 2"/>
          <p:cNvSpPr>
            <a:spLocks noGrp="1"/>
          </p:cNvSpPr>
          <p:nvPr>
            <p:ph idx="1"/>
          </p:nvPr>
        </p:nvSpPr>
        <p:spPr>
          <a:xfrm>
            <a:off x="304800" y="1600200"/>
            <a:ext cx="8610600" cy="4525963"/>
          </a:xfrm>
          <a:solidFill>
            <a:schemeClr val="accent6">
              <a:lumMod val="20000"/>
              <a:lumOff val="80000"/>
            </a:schemeClr>
          </a:solidFill>
        </p:spPr>
        <p:txBody>
          <a:bodyPr>
            <a:normAutofit/>
          </a:bodyPr>
          <a:lstStyle/>
          <a:p>
            <a:pPr>
              <a:buNone/>
            </a:pPr>
            <a:r>
              <a:rPr lang="en-US" sz="3600" b="1" dirty="0" smtClean="0">
                <a:latin typeface="Times New Roman" pitchFamily="18" charset="0"/>
                <a:cs typeface="Times New Roman" pitchFamily="18" charset="0"/>
              </a:rPr>
              <a:t>Forests are cut down, biodiversity, which is a very important biological capital in these countries, is degenerating at a fast rate and their agricultural practices deplete more and more fertile soil every year.</a:t>
            </a:r>
          </a:p>
          <a:p>
            <a:endParaRPr lang="en-US" dirty="0"/>
          </a:p>
        </p:txBody>
      </p:sp>
      <p:sp>
        <p:nvSpPr>
          <p:cNvPr id="4" name="Date Placeholder 3"/>
          <p:cNvSpPr>
            <a:spLocks noGrp="1"/>
          </p:cNvSpPr>
          <p:nvPr>
            <p:ph type="dt" sz="half" idx="10"/>
          </p:nvPr>
        </p:nvSpPr>
        <p:spPr/>
        <p:txBody>
          <a:bodyPr/>
          <a:lstStyle/>
          <a:p>
            <a:fld id="{C5B78DA1-6DE4-4BCD-B225-64C836F96C47}" type="datetime4">
              <a:rPr lang="en-US" smtClean="0"/>
              <a:pPr/>
              <a:t>November 9, 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F8BE4994-793F-4AF4-89A3-515E9DA12016}" type="slidenum">
              <a:rPr lang="en-US" smtClean="0"/>
              <a:pPr/>
              <a:t>34</a:t>
            </a:fld>
            <a:endParaRPr lang="en-US"/>
          </a:p>
        </p:txBody>
      </p:sp>
      <p:pic>
        <p:nvPicPr>
          <p:cNvPr id="7" name="Picture 6"/>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blipFill>
            <a:blip r:embed="rId2" cstate="print"/>
            <a:tile tx="0" ty="0" sx="100000" sy="100000" flip="none" algn="tl"/>
          </a:blipFill>
        </p:spPr>
        <p:txBody>
          <a:bodyPr/>
          <a:lstStyle/>
          <a:p>
            <a:r>
              <a:rPr lang="en-US" b="1" dirty="0" smtClean="0">
                <a:solidFill>
                  <a:srgbClr val="008000"/>
                </a:solidFill>
                <a:latin typeface="Times New Roman" pitchFamily="18" charset="0"/>
                <a:cs typeface="Times New Roman" pitchFamily="18" charset="0"/>
              </a:rPr>
              <a:t>Environmental Ethics</a:t>
            </a:r>
            <a:endParaRPr lang="en-IN" dirty="0"/>
          </a:p>
        </p:txBody>
      </p:sp>
      <p:sp>
        <p:nvSpPr>
          <p:cNvPr id="3" name="Content Placeholder 2"/>
          <p:cNvSpPr>
            <a:spLocks noGrp="1"/>
          </p:cNvSpPr>
          <p:nvPr>
            <p:ph idx="1"/>
          </p:nvPr>
        </p:nvSpPr>
        <p:spPr>
          <a:xfrm>
            <a:off x="381000" y="1600200"/>
            <a:ext cx="8458200" cy="4876800"/>
          </a:xfrm>
          <a:solidFill>
            <a:schemeClr val="accent6">
              <a:lumMod val="20000"/>
              <a:lumOff val="80000"/>
            </a:schemeClr>
          </a:solidFill>
        </p:spPr>
        <p:txBody>
          <a:bodyPr/>
          <a:lstStyle/>
          <a:p>
            <a:pPr>
              <a:buNone/>
            </a:pPr>
            <a:r>
              <a:rPr lang="en-US" b="1" dirty="0" smtClean="0">
                <a:latin typeface="Times New Roman" pitchFamily="18" charset="0"/>
                <a:cs typeface="Times New Roman" pitchFamily="18" charset="0"/>
              </a:rPr>
              <a:t>The three major global environmental issues listed above arise from our daily activities, the cumulative effects of which have  reached a scale and pace sufficient to disrupt the natural systems that took millions of years to evolve (</a:t>
            </a:r>
            <a:r>
              <a:rPr lang="en-US" b="1" dirty="0" err="1" smtClean="0">
                <a:latin typeface="Times New Roman" pitchFamily="18" charset="0"/>
                <a:cs typeface="Times New Roman" pitchFamily="18" charset="0"/>
              </a:rPr>
              <a:t>Milbredth</a:t>
            </a:r>
            <a:r>
              <a:rPr lang="en-US" b="1" dirty="0" smtClean="0">
                <a:latin typeface="Times New Roman" pitchFamily="18" charset="0"/>
                <a:cs typeface="Times New Roman" pitchFamily="18" charset="0"/>
              </a:rPr>
              <a:t>, 1989; Cunningham &amp; Cunningham,2003)</a:t>
            </a:r>
          </a:p>
          <a:p>
            <a:endParaRPr lang="en-IN"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blipFill>
            <a:blip r:embed="rId2" cstate="print"/>
            <a:tile tx="0" ty="0" sx="100000" sy="100000" flip="none" algn="tl"/>
          </a:blipFill>
        </p:spPr>
        <p:txBody>
          <a:bodyPr/>
          <a:lstStyle/>
          <a:p>
            <a:r>
              <a:rPr lang="en-US" b="1" dirty="0" smtClean="0">
                <a:solidFill>
                  <a:srgbClr val="008000"/>
                </a:solidFill>
                <a:latin typeface="Times New Roman" pitchFamily="18" charset="0"/>
                <a:cs typeface="Times New Roman" pitchFamily="18" charset="0"/>
              </a:rPr>
              <a:t>Environmental Ethics</a:t>
            </a:r>
            <a:endParaRPr lang="en-US" dirty="0"/>
          </a:p>
        </p:txBody>
      </p:sp>
      <p:sp>
        <p:nvSpPr>
          <p:cNvPr id="3" name="Content Placeholder 2"/>
          <p:cNvSpPr>
            <a:spLocks noGrp="1"/>
          </p:cNvSpPr>
          <p:nvPr>
            <p:ph idx="1"/>
          </p:nvPr>
        </p:nvSpPr>
        <p:spPr>
          <a:solidFill>
            <a:schemeClr val="accent6">
              <a:lumMod val="20000"/>
              <a:lumOff val="80000"/>
            </a:schemeClr>
          </a:solidFill>
        </p:spPr>
        <p:txBody>
          <a:bodyPr>
            <a:noAutofit/>
          </a:bodyPr>
          <a:lstStyle/>
          <a:p>
            <a:pPr marL="457200" indent="-457200">
              <a:buAutoNum type="arabicPeriod"/>
            </a:pPr>
            <a:r>
              <a:rPr lang="en-US" sz="2400" b="1" i="1" dirty="0" smtClean="0">
                <a:solidFill>
                  <a:srgbClr val="0033CC"/>
                </a:solidFill>
                <a:latin typeface="Times New Roman" pitchFamily="18" charset="0"/>
                <a:cs typeface="Times New Roman" pitchFamily="18" charset="0"/>
              </a:rPr>
              <a:t>When we drive a car, when we cut down a tree, put an over-dose of chemical fertilizer to raise our crops or use a hand full of insecticides to kill insects and pests, we are adding our share, howsoever small, to the global problems;</a:t>
            </a:r>
          </a:p>
          <a:p>
            <a:pPr marL="457200" indent="-457200">
              <a:buAutoNum type="arabicPeriod"/>
            </a:pPr>
            <a:r>
              <a:rPr lang="en-US" sz="2400" b="1" i="1" dirty="0" smtClean="0">
                <a:solidFill>
                  <a:srgbClr val="0033CC"/>
                </a:solidFill>
                <a:latin typeface="Times New Roman" pitchFamily="18" charset="0"/>
                <a:cs typeface="Times New Roman" pitchFamily="18" charset="0"/>
              </a:rPr>
              <a:t>The thriving “markets” and the “black markets” of wild life products exist because we decorate our houses with ivory, fur, animal trophies and use other animal products. Our efforts to conserve wildlife and biodiversity is often thwarted by numerous people who are engaged in collection of firewood and other plant products;</a:t>
            </a:r>
          </a:p>
        </p:txBody>
      </p:sp>
      <p:sp>
        <p:nvSpPr>
          <p:cNvPr id="4" name="Date Placeholder 3"/>
          <p:cNvSpPr>
            <a:spLocks noGrp="1"/>
          </p:cNvSpPr>
          <p:nvPr>
            <p:ph type="dt" sz="half" idx="10"/>
          </p:nvPr>
        </p:nvSpPr>
        <p:spPr/>
        <p:txBody>
          <a:bodyPr/>
          <a:lstStyle/>
          <a:p>
            <a:fld id="{C5B78DA1-6DE4-4BCD-B225-64C836F96C47}" type="datetime4">
              <a:rPr lang="en-US" smtClean="0"/>
              <a:pPr/>
              <a:t>November 9, 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F8BE4994-793F-4AF4-89A3-515E9DA12016}" type="slidenum">
              <a:rPr lang="en-US" smtClean="0"/>
              <a:pPr/>
              <a:t>36</a:t>
            </a:fld>
            <a:endParaRPr lang="en-US"/>
          </a:p>
        </p:txBody>
      </p:sp>
      <p:pic>
        <p:nvPicPr>
          <p:cNvPr id="7" name="Picture 6"/>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blipFill>
            <a:blip r:embed="rId2" cstate="print"/>
            <a:tile tx="0" ty="0" sx="100000" sy="100000" flip="none" algn="tl"/>
          </a:blipFill>
        </p:spPr>
        <p:txBody>
          <a:bodyPr/>
          <a:lstStyle/>
          <a:p>
            <a:r>
              <a:rPr lang="en-US" b="1" dirty="0" smtClean="0">
                <a:solidFill>
                  <a:srgbClr val="008000"/>
                </a:solidFill>
                <a:latin typeface="Times New Roman" pitchFamily="18" charset="0"/>
                <a:cs typeface="Times New Roman" pitchFamily="18" charset="0"/>
              </a:rPr>
              <a:t>Environmental Ethics</a:t>
            </a:r>
            <a:endParaRPr lang="en-US" dirty="0"/>
          </a:p>
        </p:txBody>
      </p:sp>
      <p:sp>
        <p:nvSpPr>
          <p:cNvPr id="3" name="Content Placeholder 2"/>
          <p:cNvSpPr>
            <a:spLocks noGrp="1"/>
          </p:cNvSpPr>
          <p:nvPr>
            <p:ph idx="1"/>
          </p:nvPr>
        </p:nvSpPr>
        <p:spPr>
          <a:xfrm>
            <a:off x="381000" y="1600200"/>
            <a:ext cx="8229600" cy="4525963"/>
          </a:xfrm>
          <a:solidFill>
            <a:schemeClr val="accent6">
              <a:lumMod val="20000"/>
              <a:lumOff val="80000"/>
            </a:schemeClr>
          </a:solidFill>
        </p:spPr>
        <p:txBody>
          <a:bodyPr>
            <a:normAutofit fontScale="77500" lnSpcReduction="20000"/>
          </a:bodyPr>
          <a:lstStyle/>
          <a:p>
            <a:pPr>
              <a:buNone/>
            </a:pPr>
            <a:r>
              <a:rPr lang="en-US" b="1" dirty="0" smtClean="0">
                <a:solidFill>
                  <a:srgbClr val="0033CC"/>
                </a:solidFill>
                <a:latin typeface="Times New Roman" pitchFamily="18" charset="0"/>
                <a:cs typeface="Times New Roman" pitchFamily="18" charset="0"/>
              </a:rPr>
              <a:t>3. </a:t>
            </a:r>
            <a:r>
              <a:rPr lang="en-US" b="1" i="1" dirty="0" smtClean="0">
                <a:solidFill>
                  <a:srgbClr val="0033CC"/>
                </a:solidFill>
                <a:latin typeface="Times New Roman" pitchFamily="18" charset="0"/>
                <a:cs typeface="Times New Roman" pitchFamily="18" charset="0"/>
              </a:rPr>
              <a:t>The smoke, fumes and waste gases from our domestic and industrial establishments adversely affect plant and animal life;</a:t>
            </a:r>
            <a:endParaRPr lang="en-US" i="1" dirty="0" smtClean="0">
              <a:solidFill>
                <a:srgbClr val="0033CC"/>
              </a:solidFill>
            </a:endParaRPr>
          </a:p>
          <a:p>
            <a:pPr>
              <a:buNone/>
            </a:pPr>
            <a:r>
              <a:rPr lang="en-US" b="1" i="1" dirty="0" smtClean="0">
                <a:solidFill>
                  <a:srgbClr val="0033CC"/>
                </a:solidFill>
                <a:latin typeface="Times New Roman" pitchFamily="18" charset="0"/>
                <a:cs typeface="Times New Roman" pitchFamily="18" charset="0"/>
              </a:rPr>
              <a:t>4. When we cut down a tree it adds to the global problem of deforestation. Fertile land covered with vegetation, crops, grasses, bushes or trees act as sponge to soak up enough water deposited by rains to serve the man as well as plants and animals during drier seasons. </a:t>
            </a:r>
          </a:p>
          <a:p>
            <a:pPr>
              <a:buNone/>
            </a:pPr>
            <a:r>
              <a:rPr lang="en-US" b="1" i="1" dirty="0" smtClean="0">
                <a:latin typeface="Times New Roman" pitchFamily="18" charset="0"/>
                <a:cs typeface="Times New Roman" pitchFamily="18" charset="0"/>
              </a:rPr>
              <a:t>The absence of plant cover causes rainwater to flow down to the sea quickly  without having much time to go deeper down the soil strata to recharge the ground water table. When the water table recedes beyond the reach of plant roots, greenery disappears and desertification follows.</a:t>
            </a:r>
          </a:p>
          <a:p>
            <a:endParaRPr lang="en-US" dirty="0"/>
          </a:p>
        </p:txBody>
      </p:sp>
      <p:sp>
        <p:nvSpPr>
          <p:cNvPr id="4" name="Date Placeholder 3"/>
          <p:cNvSpPr>
            <a:spLocks noGrp="1"/>
          </p:cNvSpPr>
          <p:nvPr>
            <p:ph type="dt" sz="half" idx="10"/>
          </p:nvPr>
        </p:nvSpPr>
        <p:spPr/>
        <p:txBody>
          <a:bodyPr/>
          <a:lstStyle/>
          <a:p>
            <a:fld id="{C5B78DA1-6DE4-4BCD-B225-64C836F96C47}" type="datetime4">
              <a:rPr lang="en-US" smtClean="0"/>
              <a:pPr/>
              <a:t>November 9, 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F8BE4994-793F-4AF4-89A3-515E9DA12016}" type="slidenum">
              <a:rPr lang="en-US" smtClean="0"/>
              <a:pPr/>
              <a:t>37</a:t>
            </a:fld>
            <a:endParaRPr lang="en-US"/>
          </a:p>
        </p:txBody>
      </p:sp>
      <p:pic>
        <p:nvPicPr>
          <p:cNvPr id="7" name="Picture 6"/>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blipFill>
            <a:blip r:embed="rId2" cstate="print"/>
            <a:tile tx="0" ty="0" sx="100000" sy="100000" flip="none" algn="tl"/>
          </a:blipFill>
        </p:spPr>
        <p:txBody>
          <a:bodyPr/>
          <a:lstStyle/>
          <a:p>
            <a:r>
              <a:rPr lang="en-US" b="1" dirty="0" smtClean="0">
                <a:solidFill>
                  <a:srgbClr val="008000"/>
                </a:solidFill>
                <a:latin typeface="Times New Roman" pitchFamily="18" charset="0"/>
                <a:cs typeface="Times New Roman" pitchFamily="18" charset="0"/>
              </a:rPr>
              <a:t>Environmental Ethics</a:t>
            </a:r>
            <a:endParaRPr lang="en-US" dirty="0"/>
          </a:p>
        </p:txBody>
      </p:sp>
      <p:sp>
        <p:nvSpPr>
          <p:cNvPr id="3" name="Content Placeholder 2"/>
          <p:cNvSpPr>
            <a:spLocks noGrp="1"/>
          </p:cNvSpPr>
          <p:nvPr>
            <p:ph idx="1"/>
          </p:nvPr>
        </p:nvSpPr>
        <p:spPr>
          <a:xfrm>
            <a:off x="304800" y="1600200"/>
            <a:ext cx="8610600" cy="4648200"/>
          </a:xfrm>
          <a:solidFill>
            <a:schemeClr val="accent6">
              <a:lumMod val="20000"/>
              <a:lumOff val="80000"/>
            </a:schemeClr>
          </a:solidFill>
        </p:spPr>
        <p:txBody>
          <a:bodyPr>
            <a:normAutofit/>
          </a:bodyPr>
          <a:lstStyle/>
          <a:p>
            <a:pPr>
              <a:buNone/>
            </a:pPr>
            <a:r>
              <a:rPr lang="en-US" sz="2000" b="1" i="1" dirty="0" smtClean="0"/>
              <a:t>5</a:t>
            </a:r>
            <a:r>
              <a:rPr lang="en-US" sz="2400" b="1" i="1" dirty="0" smtClean="0"/>
              <a:t>. </a:t>
            </a:r>
            <a:r>
              <a:rPr lang="en-US" sz="2400" b="1" i="1" dirty="0" smtClean="0">
                <a:latin typeface="Times New Roman" pitchFamily="18" charset="0"/>
                <a:cs typeface="Times New Roman" pitchFamily="18" charset="0"/>
              </a:rPr>
              <a:t>To raise productivity we provide chemical fertilizers and river or ground water for irrigation. In the long run salts accumulate and problems of salinity and alkalinity appear in poorly drained soils.</a:t>
            </a:r>
          </a:p>
          <a:p>
            <a:pPr>
              <a:buNone/>
            </a:pPr>
            <a:endParaRPr lang="en-US" sz="2400" b="1" dirty="0" smtClean="0">
              <a:latin typeface="Times New Roman" pitchFamily="18" charset="0"/>
              <a:cs typeface="Times New Roman" pitchFamily="18" charset="0"/>
            </a:endParaRPr>
          </a:p>
          <a:p>
            <a:pPr>
              <a:buNone/>
            </a:pPr>
            <a:r>
              <a:rPr lang="en-US" sz="2400" b="1" dirty="0" smtClean="0">
                <a:latin typeface="Times New Roman" pitchFamily="18" charset="0"/>
                <a:cs typeface="Times New Roman" pitchFamily="18" charset="0"/>
              </a:rPr>
              <a:t>Much can be achieved only by an appeal to individual’s conscience.  It is not force or authority but gentle persuasion and an appeal to one’s conscience, which can make people realize that just as development is detrimental, lack of development also contributes much of the degradation of natural resources and the environment.</a:t>
            </a:r>
          </a:p>
        </p:txBody>
      </p:sp>
      <p:sp>
        <p:nvSpPr>
          <p:cNvPr id="4" name="Date Placeholder 3"/>
          <p:cNvSpPr>
            <a:spLocks noGrp="1"/>
          </p:cNvSpPr>
          <p:nvPr>
            <p:ph type="dt" sz="half" idx="10"/>
          </p:nvPr>
        </p:nvSpPr>
        <p:spPr/>
        <p:txBody>
          <a:bodyPr/>
          <a:lstStyle/>
          <a:p>
            <a:fld id="{C5B78DA1-6DE4-4BCD-B225-64C836F96C47}" type="datetime4">
              <a:rPr lang="en-US" smtClean="0"/>
              <a:pPr/>
              <a:t>November 9, 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F8BE4994-793F-4AF4-89A3-515E9DA12016}" type="slidenum">
              <a:rPr lang="en-US" smtClean="0"/>
              <a:pPr/>
              <a:t>38</a:t>
            </a:fld>
            <a:endParaRPr lang="en-US"/>
          </a:p>
        </p:txBody>
      </p:sp>
      <p:pic>
        <p:nvPicPr>
          <p:cNvPr id="7" name="Picture 6"/>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blipFill>
            <a:blip r:embed="rId2" cstate="print"/>
            <a:tile tx="0" ty="0" sx="100000" sy="100000" flip="none" algn="tl"/>
          </a:blipFill>
        </p:spPr>
        <p:txBody>
          <a:bodyPr/>
          <a:lstStyle/>
          <a:p>
            <a:r>
              <a:rPr lang="en-US" b="1" dirty="0" smtClean="0">
                <a:solidFill>
                  <a:srgbClr val="008000"/>
                </a:solidFill>
                <a:latin typeface="Times New Roman" pitchFamily="18" charset="0"/>
                <a:cs typeface="Times New Roman" pitchFamily="18" charset="0"/>
              </a:rPr>
              <a:t>Environmental Ethics</a:t>
            </a:r>
            <a:endParaRPr lang="en-US" dirty="0"/>
          </a:p>
        </p:txBody>
      </p:sp>
      <p:sp>
        <p:nvSpPr>
          <p:cNvPr id="3" name="Content Placeholder 2"/>
          <p:cNvSpPr>
            <a:spLocks noGrp="1"/>
          </p:cNvSpPr>
          <p:nvPr>
            <p:ph idx="1"/>
          </p:nvPr>
        </p:nvSpPr>
        <p:spPr>
          <a:xfrm>
            <a:off x="304800" y="1600200"/>
            <a:ext cx="8610600" cy="4525963"/>
          </a:xfrm>
          <a:solidFill>
            <a:schemeClr val="accent6">
              <a:lumMod val="20000"/>
              <a:lumOff val="80000"/>
            </a:schemeClr>
          </a:solidFill>
        </p:spPr>
        <p:txBody>
          <a:bodyPr/>
          <a:lstStyle/>
          <a:p>
            <a:pPr>
              <a:buNone/>
            </a:pPr>
            <a:r>
              <a:rPr lang="en-US" b="1" dirty="0" smtClean="0">
                <a:latin typeface="Times New Roman" pitchFamily="18" charset="0"/>
                <a:cs typeface="Times New Roman" pitchFamily="18" charset="0"/>
              </a:rPr>
              <a:t>If most of the people believe that by their actions they are adding something to worldwide problems, many shall try to limit such activities.</a:t>
            </a:r>
          </a:p>
          <a:p>
            <a:pPr>
              <a:buNone/>
            </a:pPr>
            <a:r>
              <a:rPr lang="en-US" sz="3600" b="1" dirty="0" smtClean="0">
                <a:solidFill>
                  <a:srgbClr val="FF0000"/>
                </a:solidFill>
                <a:latin typeface="Times New Roman" pitchFamily="18" charset="0"/>
                <a:cs typeface="Times New Roman" pitchFamily="18" charset="0"/>
              </a:rPr>
              <a:t>A little restrain on the part of most of the individuals shall help the cause of environment tremendously.</a:t>
            </a:r>
          </a:p>
          <a:p>
            <a:endParaRPr lang="en-US" dirty="0"/>
          </a:p>
        </p:txBody>
      </p:sp>
      <p:sp>
        <p:nvSpPr>
          <p:cNvPr id="4" name="Date Placeholder 3"/>
          <p:cNvSpPr>
            <a:spLocks noGrp="1"/>
          </p:cNvSpPr>
          <p:nvPr>
            <p:ph type="dt" sz="half" idx="10"/>
          </p:nvPr>
        </p:nvSpPr>
        <p:spPr/>
        <p:txBody>
          <a:bodyPr/>
          <a:lstStyle/>
          <a:p>
            <a:fld id="{C5B78DA1-6DE4-4BCD-B225-64C836F96C47}" type="datetime4">
              <a:rPr lang="en-US" smtClean="0"/>
              <a:pPr/>
              <a:t>November 9, 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F8BE4994-793F-4AF4-89A3-515E9DA12016}" type="slidenum">
              <a:rPr lang="en-US" smtClean="0"/>
              <a:pPr/>
              <a:t>39</a:t>
            </a:fld>
            <a:endParaRPr lang="en-US"/>
          </a:p>
        </p:txBody>
      </p:sp>
      <p:pic>
        <p:nvPicPr>
          <p:cNvPr id="7" name="Picture 6"/>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blipFill>
            <a:blip r:embed="rId2" cstate="print"/>
            <a:tile tx="0" ty="0" sx="100000" sy="100000" flip="none" algn="tl"/>
          </a:blipFill>
        </p:spPr>
        <p:txBody>
          <a:bodyPr/>
          <a:lstStyle/>
          <a:p>
            <a:r>
              <a:rPr lang="en-US" b="1" dirty="0" smtClean="0">
                <a:solidFill>
                  <a:srgbClr val="008000"/>
                </a:solidFill>
                <a:latin typeface="Times New Roman" pitchFamily="18" charset="0"/>
                <a:cs typeface="Times New Roman" pitchFamily="18" charset="0"/>
              </a:rPr>
              <a:t>Environmental Ethics</a:t>
            </a:r>
            <a:endParaRPr lang="en-US" dirty="0"/>
          </a:p>
        </p:txBody>
      </p:sp>
      <p:sp>
        <p:nvSpPr>
          <p:cNvPr id="3" name="Content Placeholder 2"/>
          <p:cNvSpPr>
            <a:spLocks noGrp="1"/>
          </p:cNvSpPr>
          <p:nvPr>
            <p:ph idx="1"/>
          </p:nvPr>
        </p:nvSpPr>
        <p:spPr>
          <a:xfrm>
            <a:off x="228600" y="1447800"/>
            <a:ext cx="8686800" cy="4876800"/>
          </a:xfrm>
          <a:solidFill>
            <a:schemeClr val="accent6">
              <a:lumMod val="20000"/>
              <a:lumOff val="80000"/>
            </a:schemeClr>
          </a:solidFill>
        </p:spPr>
        <p:txBody>
          <a:bodyPr>
            <a:normAutofit fontScale="85000" lnSpcReduction="20000"/>
          </a:bodyPr>
          <a:lstStyle/>
          <a:p>
            <a:pPr>
              <a:buNone/>
            </a:pPr>
            <a:r>
              <a:rPr lang="en-US" b="1" dirty="0" smtClean="0">
                <a:solidFill>
                  <a:srgbClr val="0070C0"/>
                </a:solidFill>
                <a:latin typeface="Times New Roman" pitchFamily="18" charset="0"/>
                <a:cs typeface="Times New Roman" pitchFamily="18" charset="0"/>
              </a:rPr>
              <a:t>Global environmental policies, if they are to be successful require long-term changes in believes and perception of the people at large.</a:t>
            </a:r>
          </a:p>
          <a:p>
            <a:pPr>
              <a:buNone/>
            </a:pPr>
            <a:r>
              <a:rPr lang="en-US" b="1" dirty="0" smtClean="0">
                <a:solidFill>
                  <a:srgbClr val="FF0000"/>
                </a:solidFill>
                <a:latin typeface="Times New Roman" pitchFamily="18" charset="0"/>
                <a:cs typeface="Times New Roman" pitchFamily="18" charset="0"/>
              </a:rPr>
              <a:t>To save our physical environment from degradation, we shall have to alter our conceptual environment and for that ethics or moral philosophy plays a major role. </a:t>
            </a:r>
          </a:p>
          <a:p>
            <a:pPr>
              <a:buNone/>
            </a:pPr>
            <a:r>
              <a:rPr lang="en-US" b="1" dirty="0" smtClean="0">
                <a:solidFill>
                  <a:srgbClr val="0070C0"/>
                </a:solidFill>
                <a:latin typeface="Times New Roman" pitchFamily="18" charset="0"/>
                <a:cs typeface="Times New Roman" pitchFamily="18" charset="0"/>
              </a:rPr>
              <a:t>This is because </a:t>
            </a:r>
            <a:r>
              <a:rPr lang="en-US" b="1" dirty="0" smtClean="0">
                <a:solidFill>
                  <a:srgbClr val="FF0000"/>
                </a:solidFill>
                <a:latin typeface="Times New Roman" pitchFamily="18" charset="0"/>
                <a:cs typeface="Times New Roman" pitchFamily="18" charset="0"/>
              </a:rPr>
              <a:t>ethics</a:t>
            </a:r>
            <a:r>
              <a:rPr lang="en-US" b="1" dirty="0" smtClean="0">
                <a:latin typeface="Times New Roman" pitchFamily="18" charset="0"/>
                <a:cs typeface="Times New Roman" pitchFamily="18" charset="0"/>
              </a:rPr>
              <a:t> </a:t>
            </a:r>
            <a:r>
              <a:rPr lang="en-US" b="1" dirty="0" smtClean="0">
                <a:solidFill>
                  <a:srgbClr val="0070C0"/>
                </a:solidFill>
                <a:latin typeface="Times New Roman" pitchFamily="18" charset="0"/>
                <a:cs typeface="Times New Roman" pitchFamily="18" charset="0"/>
              </a:rPr>
              <a:t>helps people to determine the decisions we make – right or wrong. The way people answer ethical questions affects the way they live their lives.</a:t>
            </a:r>
          </a:p>
          <a:p>
            <a:pPr>
              <a:buNone/>
            </a:pPr>
            <a:r>
              <a:rPr lang="en-US" b="1" dirty="0" smtClean="0">
                <a:latin typeface="Times New Roman" pitchFamily="18" charset="0"/>
                <a:cs typeface="Times New Roman" pitchFamily="18" charset="0"/>
              </a:rPr>
              <a:t>The worst form of environmental pollution is the </a:t>
            </a:r>
            <a:r>
              <a:rPr lang="en-US" sz="4200" b="1" dirty="0" smtClean="0">
                <a:solidFill>
                  <a:srgbClr val="FF0000"/>
                </a:solidFill>
                <a:latin typeface="Times New Roman" pitchFamily="18" charset="0"/>
                <a:cs typeface="Times New Roman" pitchFamily="18" charset="0"/>
              </a:rPr>
              <a:t>“pollution of mind”.</a:t>
            </a:r>
          </a:p>
          <a:p>
            <a:endParaRPr lang="en-US" dirty="0"/>
          </a:p>
        </p:txBody>
      </p:sp>
      <p:sp>
        <p:nvSpPr>
          <p:cNvPr id="4" name="Date Placeholder 3"/>
          <p:cNvSpPr>
            <a:spLocks noGrp="1"/>
          </p:cNvSpPr>
          <p:nvPr>
            <p:ph type="dt" sz="half" idx="10"/>
          </p:nvPr>
        </p:nvSpPr>
        <p:spPr/>
        <p:txBody>
          <a:bodyPr/>
          <a:lstStyle/>
          <a:p>
            <a:fld id="{C5B78DA1-6DE4-4BCD-B225-64C836F96C47}" type="datetime4">
              <a:rPr lang="en-US" smtClean="0"/>
              <a:pPr/>
              <a:t>November 9, 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F8BE4994-793F-4AF4-89A3-515E9DA12016}" type="slidenum">
              <a:rPr lang="en-US" smtClean="0"/>
              <a:pPr/>
              <a:t>40</a:t>
            </a:fld>
            <a:endParaRPr lang="en-US"/>
          </a:p>
        </p:txBody>
      </p:sp>
      <p:pic>
        <p:nvPicPr>
          <p:cNvPr id="7" name="Picture 6"/>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135562"/>
          </a:xfrm>
        </p:spPr>
        <p:txBody>
          <a:bodyPr>
            <a:normAutofit/>
          </a:bodyPr>
          <a:lstStyle/>
          <a:p>
            <a:r>
              <a:rPr lang="en-US" sz="4800" b="1" dirty="0" smtClean="0">
                <a:solidFill>
                  <a:srgbClr val="002060"/>
                </a:solidFill>
              </a:rPr>
              <a:t>VALUE EDUCATION</a:t>
            </a:r>
            <a:endParaRPr lang="en-IN" sz="4800" b="1" dirty="0">
              <a:solidFill>
                <a:srgbClr val="002060"/>
              </a:solidFill>
            </a:endParaRPr>
          </a:p>
        </p:txBody>
      </p:sp>
      <p:sp>
        <p:nvSpPr>
          <p:cNvPr id="2050" name="AutoShape 2" descr="Image result for Value educa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2052" name="AutoShape 4" descr="Image result for Value educa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blipFill>
            <a:blip r:embed="rId2" cstate="print"/>
            <a:tile tx="0" ty="0" sx="100000" sy="100000" flip="none" algn="tl"/>
          </a:blipFill>
        </p:spPr>
        <p:txBody>
          <a:bodyPr>
            <a:normAutofit fontScale="90000"/>
          </a:bodyPr>
          <a:lstStyle/>
          <a:p>
            <a:r>
              <a:rPr lang="en-US" b="1" dirty="0" smtClean="0">
                <a:solidFill>
                  <a:srgbClr val="006600"/>
                </a:solidFill>
                <a:latin typeface="Times New Roman" pitchFamily="18" charset="0"/>
                <a:cs typeface="Times New Roman" pitchFamily="18" charset="0"/>
              </a:rPr>
              <a:t/>
            </a:r>
            <a:br>
              <a:rPr lang="en-US" b="1" dirty="0" smtClean="0">
                <a:solidFill>
                  <a:srgbClr val="006600"/>
                </a:solidFill>
                <a:latin typeface="Times New Roman" pitchFamily="18" charset="0"/>
                <a:cs typeface="Times New Roman" pitchFamily="18" charset="0"/>
              </a:rPr>
            </a:br>
            <a:r>
              <a:rPr lang="en-US" b="1" dirty="0" smtClean="0">
                <a:solidFill>
                  <a:srgbClr val="006600"/>
                </a:solidFill>
                <a:latin typeface="Times New Roman" pitchFamily="18" charset="0"/>
                <a:cs typeface="Times New Roman" pitchFamily="18" charset="0"/>
              </a:rPr>
              <a:t>Environmental Ethics-</a:t>
            </a:r>
            <a:r>
              <a:rPr lang="en-US" b="1" dirty="0" smtClean="0">
                <a:solidFill>
                  <a:srgbClr val="0070C0"/>
                </a:solidFill>
                <a:latin typeface="Times New Roman" pitchFamily="18" charset="0"/>
                <a:cs typeface="Times New Roman" pitchFamily="18" charset="0"/>
              </a:rPr>
              <a:t>Value Education</a:t>
            </a:r>
            <a:br>
              <a:rPr lang="en-US" b="1" dirty="0" smtClean="0">
                <a:solidFill>
                  <a:srgbClr val="0070C0"/>
                </a:solidFill>
                <a:latin typeface="Times New Roman" pitchFamily="18" charset="0"/>
                <a:cs typeface="Times New Roman" pitchFamily="18" charset="0"/>
              </a:rPr>
            </a:br>
            <a:endParaRPr lang="en-US" b="1" dirty="0">
              <a:solidFill>
                <a:srgbClr val="006600"/>
              </a:solidFill>
              <a:latin typeface="Times New Roman" pitchFamily="18" charset="0"/>
              <a:cs typeface="Times New Roman" pitchFamily="18" charset="0"/>
            </a:endParaRPr>
          </a:p>
        </p:txBody>
      </p:sp>
      <p:sp>
        <p:nvSpPr>
          <p:cNvPr id="3" name="Content Placeholder 2"/>
          <p:cNvSpPr>
            <a:spLocks noGrp="1"/>
          </p:cNvSpPr>
          <p:nvPr>
            <p:ph idx="1"/>
          </p:nvPr>
        </p:nvSpPr>
        <p:spPr>
          <a:xfrm>
            <a:off x="152400" y="1447800"/>
            <a:ext cx="8763000" cy="4876800"/>
          </a:xfrm>
          <a:solidFill>
            <a:schemeClr val="accent6">
              <a:lumMod val="20000"/>
              <a:lumOff val="80000"/>
            </a:schemeClr>
          </a:solidFill>
        </p:spPr>
        <p:txBody>
          <a:bodyPr>
            <a:noAutofit/>
          </a:bodyPr>
          <a:lstStyle/>
          <a:p>
            <a:pPr>
              <a:buNone/>
            </a:pPr>
            <a:r>
              <a:rPr lang="en-US" b="1" dirty="0" smtClean="0">
                <a:latin typeface="Times New Roman" pitchFamily="18" charset="0"/>
                <a:cs typeface="Times New Roman" pitchFamily="18" charset="0"/>
              </a:rPr>
              <a:t>Education is a process of learning which continues throughout ones life. </a:t>
            </a:r>
          </a:p>
          <a:p>
            <a:pPr>
              <a:buNone/>
            </a:pPr>
            <a:r>
              <a:rPr lang="en-US" b="1" dirty="0" smtClean="0">
                <a:solidFill>
                  <a:srgbClr val="0070C0"/>
                </a:solidFill>
                <a:latin typeface="Times New Roman" pitchFamily="18" charset="0"/>
                <a:cs typeface="Times New Roman" pitchFamily="18" charset="0"/>
              </a:rPr>
              <a:t>It  is </a:t>
            </a:r>
            <a:r>
              <a:rPr lang="en-US" b="1" u="sng" dirty="0" smtClean="0">
                <a:solidFill>
                  <a:srgbClr val="0070C0"/>
                </a:solidFill>
                <a:latin typeface="Times New Roman" pitchFamily="18" charset="0"/>
                <a:cs typeface="Times New Roman" pitchFamily="18" charset="0"/>
              </a:rPr>
              <a:t>Education</a:t>
            </a:r>
            <a:r>
              <a:rPr lang="en-US" b="1" dirty="0" smtClean="0">
                <a:solidFill>
                  <a:srgbClr val="0070C0"/>
                </a:solidFill>
                <a:latin typeface="Times New Roman" pitchFamily="18" charset="0"/>
                <a:cs typeface="Times New Roman" pitchFamily="18" charset="0"/>
              </a:rPr>
              <a:t> only, which forges the </a:t>
            </a:r>
            <a:r>
              <a:rPr lang="en-US" b="1" dirty="0" smtClean="0">
                <a:solidFill>
                  <a:srgbClr val="FF0000"/>
                </a:solidFill>
                <a:latin typeface="Times New Roman" pitchFamily="18" charset="0"/>
                <a:cs typeface="Times New Roman" pitchFamily="18" charset="0"/>
              </a:rPr>
              <a:t>pattern of right conduct and behavior, like truthfulness, honesty, sincerity, integrity, righteousness, etc.</a:t>
            </a:r>
            <a:r>
              <a:rPr lang="en-US" b="1" dirty="0" smtClean="0">
                <a:solidFill>
                  <a:srgbClr val="0070C0"/>
                </a:solidFill>
                <a:latin typeface="Times New Roman" pitchFamily="18" charset="0"/>
                <a:cs typeface="Times New Roman" pitchFamily="18" charset="0"/>
              </a:rPr>
              <a:t> towards the family, the society and country at large. </a:t>
            </a:r>
          </a:p>
          <a:p>
            <a:pPr>
              <a:buNone/>
            </a:pPr>
            <a:r>
              <a:rPr lang="en-US" b="1" dirty="0" smtClean="0">
                <a:solidFill>
                  <a:srgbClr val="0070C0"/>
                </a:solidFill>
                <a:latin typeface="Times New Roman" pitchFamily="18" charset="0"/>
                <a:cs typeface="Times New Roman" pitchFamily="18" charset="0"/>
              </a:rPr>
              <a:t>No education can be considered adequate if it fails to inculcate </a:t>
            </a:r>
            <a:r>
              <a:rPr lang="en-US" b="1" dirty="0" smtClean="0">
                <a:solidFill>
                  <a:srgbClr val="FF0000"/>
                </a:solidFill>
                <a:latin typeface="Times New Roman" pitchFamily="18" charset="0"/>
                <a:cs typeface="Times New Roman" pitchFamily="18" charset="0"/>
              </a:rPr>
              <a:t>these values </a:t>
            </a:r>
            <a:r>
              <a:rPr lang="en-US" b="1" dirty="0" smtClean="0">
                <a:solidFill>
                  <a:srgbClr val="0070C0"/>
                </a:solidFill>
                <a:latin typeface="Times New Roman" pitchFamily="18" charset="0"/>
                <a:cs typeface="Times New Roman" pitchFamily="18" charset="0"/>
              </a:rPr>
              <a:t>among its citizens.</a:t>
            </a:r>
          </a:p>
        </p:txBody>
      </p:sp>
      <p:pic>
        <p:nvPicPr>
          <p:cNvPr id="4" name="Picture 3"/>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blipFill>
            <a:blip r:embed="rId2" cstate="print"/>
            <a:tile tx="0" ty="0" sx="100000" sy="100000" flip="none" algn="tl"/>
          </a:blipFill>
        </p:spPr>
        <p:txBody>
          <a:bodyPr>
            <a:normAutofit/>
          </a:bodyPr>
          <a:lstStyle/>
          <a:p>
            <a:r>
              <a:rPr lang="en-US" b="1" dirty="0" smtClean="0">
                <a:solidFill>
                  <a:srgbClr val="0070C0"/>
                </a:solidFill>
                <a:latin typeface="Times New Roman" pitchFamily="18" charset="0"/>
                <a:cs typeface="Times New Roman" pitchFamily="18" charset="0"/>
              </a:rPr>
              <a:t>Value Education</a:t>
            </a:r>
            <a:endParaRPr lang="en-US" dirty="0"/>
          </a:p>
        </p:txBody>
      </p:sp>
      <p:sp>
        <p:nvSpPr>
          <p:cNvPr id="3" name="Content Placeholder 2"/>
          <p:cNvSpPr>
            <a:spLocks noGrp="1"/>
          </p:cNvSpPr>
          <p:nvPr>
            <p:ph idx="1"/>
          </p:nvPr>
        </p:nvSpPr>
        <p:spPr>
          <a:xfrm>
            <a:off x="228600" y="1600200"/>
            <a:ext cx="8686800" cy="4724400"/>
          </a:xfrm>
          <a:solidFill>
            <a:schemeClr val="accent6">
              <a:lumMod val="20000"/>
              <a:lumOff val="80000"/>
            </a:schemeClr>
          </a:solidFill>
        </p:spPr>
        <p:txBody>
          <a:bodyPr>
            <a:normAutofit/>
          </a:bodyPr>
          <a:lstStyle/>
          <a:p>
            <a:pPr>
              <a:buNone/>
            </a:pPr>
            <a:r>
              <a:rPr lang="en-US" b="1" dirty="0" smtClean="0">
                <a:latin typeface="Times New Roman" pitchFamily="18" charset="0"/>
                <a:cs typeface="Times New Roman" pitchFamily="18" charset="0"/>
              </a:rPr>
              <a:t>The </a:t>
            </a:r>
            <a:r>
              <a:rPr lang="en-US" b="1" dirty="0" smtClean="0">
                <a:solidFill>
                  <a:srgbClr val="0070C0"/>
                </a:solidFill>
                <a:latin typeface="Times New Roman" pitchFamily="18" charset="0"/>
                <a:cs typeface="Times New Roman" pitchFamily="18" charset="0"/>
              </a:rPr>
              <a:t>character of a person </a:t>
            </a:r>
            <a:r>
              <a:rPr lang="en-US" b="1" dirty="0" smtClean="0">
                <a:latin typeface="Times New Roman" pitchFamily="18" charset="0"/>
                <a:cs typeface="Times New Roman" pitchFamily="18" charset="0"/>
              </a:rPr>
              <a:t>and the society have been changing over the past two millennium. </a:t>
            </a:r>
          </a:p>
          <a:p>
            <a:pPr>
              <a:buNone/>
            </a:pPr>
            <a:r>
              <a:rPr lang="en-US" b="1" dirty="0" smtClean="0">
                <a:latin typeface="Times New Roman" pitchFamily="18" charset="0"/>
                <a:cs typeface="Times New Roman" pitchFamily="18" charset="0"/>
              </a:rPr>
              <a:t>Today , the constitution of  most of the countries </a:t>
            </a:r>
            <a:r>
              <a:rPr lang="en-US" b="1" dirty="0" smtClean="0">
                <a:solidFill>
                  <a:srgbClr val="FF0000"/>
                </a:solidFill>
                <a:latin typeface="Times New Roman" pitchFamily="18" charset="0"/>
                <a:cs typeface="Times New Roman" pitchFamily="18" charset="0"/>
              </a:rPr>
              <a:t>ensure justice, liberty, equality and fraternity to all their citizens. </a:t>
            </a:r>
          </a:p>
          <a:p>
            <a:pPr>
              <a:buNone/>
            </a:pPr>
            <a:r>
              <a:rPr lang="en-US" b="1" dirty="0" smtClean="0">
                <a:latin typeface="Times New Roman" pitchFamily="18" charset="0"/>
                <a:cs typeface="Times New Roman" pitchFamily="18" charset="0"/>
              </a:rPr>
              <a:t>In India we have struggled for freedom, liberty, equality and social justice for a long period and have finally accepted and enshrined </a:t>
            </a:r>
            <a:r>
              <a:rPr lang="en-US" b="1" u="sng" dirty="0" smtClean="0">
                <a:solidFill>
                  <a:srgbClr val="FF0000"/>
                </a:solidFill>
                <a:latin typeface="Times New Roman" pitchFamily="18" charset="0"/>
                <a:cs typeface="Times New Roman" pitchFamily="18" charset="0"/>
              </a:rPr>
              <a:t>these values in our Constitution.</a:t>
            </a:r>
          </a:p>
          <a:p>
            <a:pPr>
              <a:buNone/>
            </a:pPr>
            <a:endParaRPr lang="en-US" b="1" dirty="0" smtClean="0">
              <a:solidFill>
                <a:srgbClr val="002060"/>
              </a:solidFill>
              <a:latin typeface="Times New Roman" pitchFamily="18" charset="0"/>
              <a:cs typeface="Times New Roman" pitchFamily="18" charset="0"/>
            </a:endParaRPr>
          </a:p>
          <a:p>
            <a:endParaRPr lang="en-US" dirty="0"/>
          </a:p>
        </p:txBody>
      </p:sp>
      <p:sp>
        <p:nvSpPr>
          <p:cNvPr id="4" name="Date Placeholder 3"/>
          <p:cNvSpPr>
            <a:spLocks noGrp="1"/>
          </p:cNvSpPr>
          <p:nvPr>
            <p:ph type="dt" sz="half" idx="10"/>
          </p:nvPr>
        </p:nvSpPr>
        <p:spPr/>
        <p:txBody>
          <a:bodyPr/>
          <a:lstStyle/>
          <a:p>
            <a:fld id="{C5B78DA1-6DE4-4BCD-B225-64C836F96C47}" type="datetime4">
              <a:rPr lang="en-US" smtClean="0"/>
              <a:pPr/>
              <a:t>November 9, 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F8BE4994-793F-4AF4-89A3-515E9DA12016}" type="slidenum">
              <a:rPr lang="en-US" smtClean="0"/>
              <a:pPr/>
              <a:t>43</a:t>
            </a:fld>
            <a:endParaRPr lang="en-US" dirty="0"/>
          </a:p>
        </p:txBody>
      </p:sp>
      <p:pic>
        <p:nvPicPr>
          <p:cNvPr id="7" name="Picture 6"/>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1026" name="Picture 2" descr="Image result for Value education"/>
          <p:cNvPicPr>
            <a:picLocks noChangeAspect="1" noChangeArrowheads="1"/>
          </p:cNvPicPr>
          <p:nvPr/>
        </p:nvPicPr>
        <p:blipFill>
          <a:blip r:embed="rId2" cstate="print"/>
          <a:srcRect/>
          <a:stretch>
            <a:fillRect/>
          </a:stretch>
        </p:blipFill>
        <p:spPr bwMode="auto">
          <a:xfrm>
            <a:off x="304800" y="304800"/>
            <a:ext cx="8610600" cy="6019800"/>
          </a:xfrm>
          <a:prstGeom prst="rect">
            <a:avLst/>
          </a:prstGeom>
          <a:noFill/>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blipFill>
            <a:blip r:embed="rId2" cstate="print"/>
            <a:tile tx="0" ty="0" sx="100000" sy="100000" flip="none" algn="tl"/>
          </a:blipFill>
        </p:spPr>
        <p:txBody>
          <a:bodyPr>
            <a:normAutofit/>
          </a:bodyPr>
          <a:lstStyle/>
          <a:p>
            <a:r>
              <a:rPr lang="en-US" b="1" dirty="0" smtClean="0">
                <a:solidFill>
                  <a:srgbClr val="0070C0"/>
                </a:solidFill>
                <a:latin typeface="Times New Roman" pitchFamily="18" charset="0"/>
                <a:cs typeface="Times New Roman" pitchFamily="18" charset="0"/>
              </a:rPr>
              <a:t>Value Education</a:t>
            </a:r>
            <a:endParaRPr lang="en-US" dirty="0">
              <a:solidFill>
                <a:srgbClr val="006600"/>
              </a:solidFill>
              <a:latin typeface="Times New Roman" pitchFamily="18" charset="0"/>
              <a:cs typeface="Times New Roman" pitchFamily="18" charset="0"/>
            </a:endParaRPr>
          </a:p>
        </p:txBody>
      </p:sp>
      <p:sp>
        <p:nvSpPr>
          <p:cNvPr id="3" name="Content Placeholder 2"/>
          <p:cNvSpPr>
            <a:spLocks noGrp="1"/>
          </p:cNvSpPr>
          <p:nvPr>
            <p:ph idx="1"/>
          </p:nvPr>
        </p:nvSpPr>
        <p:spPr>
          <a:xfrm>
            <a:off x="228600" y="1600200"/>
            <a:ext cx="8686800" cy="4724400"/>
          </a:xfrm>
          <a:solidFill>
            <a:schemeClr val="accent6">
              <a:lumMod val="20000"/>
              <a:lumOff val="80000"/>
            </a:schemeClr>
          </a:solidFill>
        </p:spPr>
        <p:txBody>
          <a:bodyPr>
            <a:normAutofit/>
          </a:bodyPr>
          <a:lstStyle/>
          <a:p>
            <a:pPr>
              <a:buNone/>
            </a:pPr>
            <a:r>
              <a:rPr lang="en-US" sz="3600" b="1" dirty="0" smtClean="0">
                <a:latin typeface="Times New Roman" pitchFamily="18" charset="0"/>
                <a:cs typeface="Times New Roman" pitchFamily="18" charset="0"/>
              </a:rPr>
              <a:t>However, as we look around us, the national scenario is </a:t>
            </a:r>
            <a:r>
              <a:rPr lang="en-US" sz="3600" b="1" u="sng" dirty="0" smtClean="0">
                <a:solidFill>
                  <a:srgbClr val="FF0000"/>
                </a:solidFill>
                <a:latin typeface="Times New Roman" pitchFamily="18" charset="0"/>
                <a:cs typeface="Times New Roman" pitchFamily="18" charset="0"/>
              </a:rPr>
              <a:t>both disturbing and distressing. </a:t>
            </a:r>
          </a:p>
          <a:p>
            <a:pPr>
              <a:buNone/>
            </a:pPr>
            <a:r>
              <a:rPr lang="en-US" sz="3600" b="1" dirty="0" smtClean="0">
                <a:latin typeface="Times New Roman" pitchFamily="18" charset="0"/>
                <a:cs typeface="Times New Roman" pitchFamily="18" charset="0"/>
              </a:rPr>
              <a:t>The tragedy today seems to be that  we are </a:t>
            </a:r>
            <a:r>
              <a:rPr lang="en-US" sz="3600" b="1" u="sng" dirty="0" smtClean="0">
                <a:solidFill>
                  <a:srgbClr val="FF0000"/>
                </a:solidFill>
                <a:latin typeface="Times New Roman" pitchFamily="18" charset="0"/>
                <a:cs typeface="Times New Roman" pitchFamily="18" charset="0"/>
              </a:rPr>
              <a:t>not committed to any value system </a:t>
            </a:r>
            <a:r>
              <a:rPr lang="en-US" sz="3600" b="1" dirty="0" smtClean="0">
                <a:latin typeface="Times New Roman" pitchFamily="18" charset="0"/>
                <a:cs typeface="Times New Roman" pitchFamily="18" charset="0"/>
              </a:rPr>
              <a:t>at all and have little regard to any values beyond </a:t>
            </a:r>
            <a:r>
              <a:rPr lang="en-US" sz="3600" b="1" u="sng" dirty="0" smtClean="0">
                <a:solidFill>
                  <a:srgbClr val="0070C0"/>
                </a:solidFill>
                <a:latin typeface="Times New Roman" pitchFamily="18" charset="0"/>
                <a:cs typeface="Times New Roman" pitchFamily="18" charset="0"/>
              </a:rPr>
              <a:t>our crude self-interests.</a:t>
            </a:r>
          </a:p>
        </p:txBody>
      </p:sp>
      <p:pic>
        <p:nvPicPr>
          <p:cNvPr id="4" name="Picture 3"/>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96962"/>
          </a:xfrm>
          <a:blipFill>
            <a:blip r:embed="rId2" cstate="print"/>
            <a:tile tx="0" ty="0" sx="100000" sy="100000" flip="none" algn="tl"/>
          </a:blipFill>
        </p:spPr>
        <p:txBody>
          <a:bodyPr>
            <a:normAutofit fontScale="90000"/>
          </a:bodyPr>
          <a:lstStyle/>
          <a:p>
            <a:r>
              <a:rPr lang="en-US" b="1" dirty="0" smtClean="0">
                <a:solidFill>
                  <a:srgbClr val="0070C0"/>
                </a:solidFill>
                <a:latin typeface="Times New Roman" pitchFamily="18" charset="0"/>
                <a:cs typeface="Times New Roman" pitchFamily="18" charset="0"/>
              </a:rPr>
              <a:t/>
            </a:r>
            <a:br>
              <a:rPr lang="en-US" b="1" dirty="0" smtClean="0">
                <a:solidFill>
                  <a:srgbClr val="0070C0"/>
                </a:solidFill>
                <a:latin typeface="Times New Roman" pitchFamily="18" charset="0"/>
                <a:cs typeface="Times New Roman" pitchFamily="18" charset="0"/>
              </a:rPr>
            </a:br>
            <a:r>
              <a:rPr lang="en-US" b="1" dirty="0" smtClean="0">
                <a:solidFill>
                  <a:srgbClr val="0070C0"/>
                </a:solidFill>
                <a:latin typeface="Times New Roman" pitchFamily="18" charset="0"/>
                <a:cs typeface="Times New Roman" pitchFamily="18" charset="0"/>
              </a:rPr>
              <a:t>Value Education</a:t>
            </a:r>
            <a:br>
              <a:rPr lang="en-US" b="1" dirty="0" smtClean="0">
                <a:solidFill>
                  <a:srgbClr val="0070C0"/>
                </a:solidFill>
                <a:latin typeface="Times New Roman" pitchFamily="18" charset="0"/>
                <a:cs typeface="Times New Roman" pitchFamily="18" charset="0"/>
              </a:rPr>
            </a:br>
            <a:endParaRPr lang="en-IN" dirty="0"/>
          </a:p>
        </p:txBody>
      </p:sp>
      <p:sp>
        <p:nvSpPr>
          <p:cNvPr id="3" name="Content Placeholder 2"/>
          <p:cNvSpPr>
            <a:spLocks noGrp="1"/>
          </p:cNvSpPr>
          <p:nvPr>
            <p:ph idx="1"/>
          </p:nvPr>
        </p:nvSpPr>
        <p:spPr>
          <a:xfrm>
            <a:off x="228600" y="1600200"/>
            <a:ext cx="8686800" cy="4800600"/>
          </a:xfrm>
          <a:solidFill>
            <a:schemeClr val="accent6">
              <a:lumMod val="20000"/>
              <a:lumOff val="80000"/>
            </a:schemeClr>
          </a:solidFill>
        </p:spPr>
        <p:txBody>
          <a:bodyPr>
            <a:normAutofit/>
          </a:bodyPr>
          <a:lstStyle/>
          <a:p>
            <a:r>
              <a:rPr lang="en-US" b="1" u="sng" dirty="0" smtClean="0">
                <a:solidFill>
                  <a:srgbClr val="0070C0"/>
                </a:solidFill>
                <a:latin typeface="Times New Roman" pitchFamily="18" charset="0"/>
                <a:cs typeface="Times New Roman" pitchFamily="18" charset="0"/>
              </a:rPr>
              <a:t>Money and power </a:t>
            </a:r>
            <a:r>
              <a:rPr lang="en-US" b="1" u="sng" dirty="0" smtClean="0">
                <a:latin typeface="Times New Roman" pitchFamily="18" charset="0"/>
                <a:cs typeface="Times New Roman" pitchFamily="18" charset="0"/>
              </a:rPr>
              <a:t>have become the </a:t>
            </a:r>
            <a:r>
              <a:rPr lang="en-US" b="1" u="sng" dirty="0" smtClean="0">
                <a:solidFill>
                  <a:srgbClr val="FF0000"/>
                </a:solidFill>
                <a:latin typeface="Times New Roman" pitchFamily="18" charset="0"/>
                <a:cs typeface="Times New Roman" pitchFamily="18" charset="0"/>
              </a:rPr>
              <a:t>highest values </a:t>
            </a:r>
            <a:r>
              <a:rPr lang="en-US" b="1" dirty="0" smtClean="0">
                <a:latin typeface="Times New Roman" pitchFamily="18" charset="0"/>
                <a:cs typeface="Times New Roman" pitchFamily="18" charset="0"/>
              </a:rPr>
              <a:t>regardless of the well being of fellow citizens and the interests of the nation as a whole. </a:t>
            </a:r>
          </a:p>
          <a:p>
            <a:r>
              <a:rPr lang="en-US" b="1" dirty="0" smtClean="0">
                <a:latin typeface="Times New Roman" pitchFamily="18" charset="0"/>
                <a:cs typeface="Times New Roman" pitchFamily="18" charset="0"/>
              </a:rPr>
              <a:t>In such a situation the only hope of building up a unified and integrated country in which the </a:t>
            </a:r>
            <a:r>
              <a:rPr lang="en-US" b="1" dirty="0" smtClean="0">
                <a:solidFill>
                  <a:srgbClr val="FF0000"/>
                </a:solidFill>
                <a:latin typeface="Times New Roman" pitchFamily="18" charset="0"/>
                <a:cs typeface="Times New Roman" pitchFamily="18" charset="0"/>
              </a:rPr>
              <a:t>rights of individuals are respected </a:t>
            </a:r>
            <a:r>
              <a:rPr lang="en-US" b="1" dirty="0" smtClean="0">
                <a:latin typeface="Times New Roman" pitchFamily="18" charset="0"/>
                <a:cs typeface="Times New Roman" pitchFamily="18" charset="0"/>
              </a:rPr>
              <a:t>lies in the </a:t>
            </a:r>
            <a:r>
              <a:rPr lang="en-US" b="1" u="sng" dirty="0" smtClean="0">
                <a:solidFill>
                  <a:srgbClr val="FF0000"/>
                </a:solidFill>
                <a:latin typeface="Times New Roman" pitchFamily="18" charset="0"/>
                <a:cs typeface="Times New Roman" pitchFamily="18" charset="0"/>
              </a:rPr>
              <a:t>growth of civil institutions, the people of India.</a:t>
            </a:r>
          </a:p>
          <a:p>
            <a:endParaRPr lang="en-IN"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blipFill>
            <a:blip r:embed="rId2" cstate="print"/>
            <a:tile tx="0" ty="0" sx="100000" sy="100000" flip="none" algn="tl"/>
          </a:blipFill>
        </p:spPr>
        <p:txBody>
          <a:bodyPr>
            <a:normAutofit/>
          </a:bodyPr>
          <a:lstStyle/>
          <a:p>
            <a:r>
              <a:rPr lang="en-US" b="1" dirty="0" smtClean="0">
                <a:solidFill>
                  <a:srgbClr val="0070C0"/>
                </a:solidFill>
                <a:latin typeface="Times New Roman" pitchFamily="18" charset="0"/>
                <a:cs typeface="Times New Roman" pitchFamily="18" charset="0"/>
              </a:rPr>
              <a:t>Value Education</a:t>
            </a:r>
            <a:endParaRPr lang="en-US" dirty="0"/>
          </a:p>
        </p:txBody>
      </p:sp>
      <p:sp>
        <p:nvSpPr>
          <p:cNvPr id="3" name="Content Placeholder 2"/>
          <p:cNvSpPr>
            <a:spLocks noGrp="1"/>
          </p:cNvSpPr>
          <p:nvPr>
            <p:ph idx="1"/>
          </p:nvPr>
        </p:nvSpPr>
        <p:spPr>
          <a:xfrm>
            <a:off x="228600" y="1600200"/>
            <a:ext cx="8686800" cy="4724400"/>
          </a:xfrm>
          <a:solidFill>
            <a:schemeClr val="accent6">
              <a:lumMod val="20000"/>
              <a:lumOff val="80000"/>
            </a:schemeClr>
          </a:solidFill>
        </p:spPr>
        <p:txBody>
          <a:bodyPr/>
          <a:lstStyle/>
          <a:p>
            <a:pPr>
              <a:buNone/>
            </a:pPr>
            <a:r>
              <a:rPr lang="en-US" sz="3600" b="1" dirty="0" smtClean="0">
                <a:latin typeface="Times New Roman" pitchFamily="18" charset="0"/>
                <a:cs typeface="Times New Roman" pitchFamily="18" charset="0"/>
              </a:rPr>
              <a:t>If the </a:t>
            </a:r>
            <a:r>
              <a:rPr lang="en-US" sz="3600" b="1" u="sng" dirty="0" smtClean="0">
                <a:solidFill>
                  <a:srgbClr val="0070C0"/>
                </a:solidFill>
                <a:latin typeface="Times New Roman" pitchFamily="18" charset="0"/>
                <a:cs typeface="Times New Roman" pitchFamily="18" charset="0"/>
              </a:rPr>
              <a:t>people rise above petty self interests, </a:t>
            </a:r>
            <a:r>
              <a:rPr lang="en-US" sz="3600" b="1" dirty="0" smtClean="0">
                <a:latin typeface="Times New Roman" pitchFamily="18" charset="0"/>
                <a:cs typeface="Times New Roman" pitchFamily="18" charset="0"/>
              </a:rPr>
              <a:t>recognizing the benevolent spirit of our constitution and make a determined effort to protect and promote the </a:t>
            </a:r>
            <a:r>
              <a:rPr lang="en-US" sz="3600" b="1" dirty="0" smtClean="0">
                <a:solidFill>
                  <a:srgbClr val="FF0000"/>
                </a:solidFill>
                <a:latin typeface="Times New Roman" pitchFamily="18" charset="0"/>
                <a:cs typeface="Times New Roman" pitchFamily="18" charset="0"/>
              </a:rPr>
              <a:t>inherent values, </a:t>
            </a:r>
            <a:r>
              <a:rPr lang="en-US" sz="3600" b="1" dirty="0" smtClean="0">
                <a:solidFill>
                  <a:srgbClr val="0070C0"/>
                </a:solidFill>
                <a:latin typeface="Times New Roman" pitchFamily="18" charset="0"/>
                <a:cs typeface="Times New Roman" pitchFamily="18" charset="0"/>
              </a:rPr>
              <a:t>nothing can prevent us from making a just society and country of our dreams.</a:t>
            </a:r>
          </a:p>
          <a:p>
            <a:endParaRPr lang="en-US" dirty="0"/>
          </a:p>
        </p:txBody>
      </p:sp>
      <p:sp>
        <p:nvSpPr>
          <p:cNvPr id="4" name="Date Placeholder 3"/>
          <p:cNvSpPr>
            <a:spLocks noGrp="1"/>
          </p:cNvSpPr>
          <p:nvPr>
            <p:ph type="dt" sz="half" idx="10"/>
          </p:nvPr>
        </p:nvSpPr>
        <p:spPr/>
        <p:txBody>
          <a:bodyPr/>
          <a:lstStyle/>
          <a:p>
            <a:fld id="{C5B78DA1-6DE4-4BCD-B225-64C836F96C47}" type="datetime4">
              <a:rPr lang="en-US" smtClean="0"/>
              <a:pPr/>
              <a:t>November 9, 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F8BE4994-793F-4AF4-89A3-515E9DA12016}" type="slidenum">
              <a:rPr lang="en-US" smtClean="0"/>
              <a:pPr/>
              <a:t>47</a:t>
            </a:fld>
            <a:endParaRPr lang="en-US"/>
          </a:p>
        </p:txBody>
      </p:sp>
      <p:pic>
        <p:nvPicPr>
          <p:cNvPr id="7" name="Picture 6"/>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blipFill>
            <a:blip r:embed="rId2" cstate="print"/>
            <a:tile tx="0" ty="0" sx="100000" sy="100000" flip="none" algn="tl"/>
          </a:blipFill>
        </p:spPr>
        <p:txBody>
          <a:bodyPr>
            <a:normAutofit/>
          </a:bodyPr>
          <a:lstStyle/>
          <a:p>
            <a:r>
              <a:rPr lang="en-US" b="1" dirty="0" smtClean="0">
                <a:solidFill>
                  <a:srgbClr val="0070C0"/>
                </a:solidFill>
                <a:latin typeface="Times New Roman" pitchFamily="18" charset="0"/>
                <a:cs typeface="Times New Roman" pitchFamily="18" charset="0"/>
              </a:rPr>
              <a:t>Value Education</a:t>
            </a:r>
            <a:endParaRPr lang="en-US" dirty="0">
              <a:solidFill>
                <a:srgbClr val="006600"/>
              </a:solidFill>
              <a:latin typeface="Times New Roman" pitchFamily="18" charset="0"/>
              <a:cs typeface="Times New Roman" pitchFamily="18" charset="0"/>
            </a:endParaRPr>
          </a:p>
        </p:txBody>
      </p:sp>
      <p:sp>
        <p:nvSpPr>
          <p:cNvPr id="3" name="Content Placeholder 2"/>
          <p:cNvSpPr>
            <a:spLocks noGrp="1"/>
          </p:cNvSpPr>
          <p:nvPr>
            <p:ph idx="1"/>
          </p:nvPr>
        </p:nvSpPr>
        <p:spPr>
          <a:xfrm>
            <a:off x="152400" y="1600200"/>
            <a:ext cx="8763000" cy="4648200"/>
          </a:xfrm>
          <a:solidFill>
            <a:schemeClr val="accent6">
              <a:lumMod val="20000"/>
              <a:lumOff val="80000"/>
            </a:schemeClr>
          </a:solidFill>
        </p:spPr>
        <p:txBody>
          <a:bodyPr>
            <a:normAutofit/>
          </a:bodyPr>
          <a:lstStyle/>
          <a:p>
            <a:pPr>
              <a:buNone/>
            </a:pPr>
            <a:r>
              <a:rPr lang="en-US" sz="3600" b="1" i="1" dirty="0" smtClean="0">
                <a:solidFill>
                  <a:srgbClr val="0070C0"/>
                </a:solidFill>
                <a:latin typeface="Times New Roman" pitchFamily="18" charset="0"/>
                <a:cs typeface="Times New Roman" pitchFamily="18" charset="0"/>
              </a:rPr>
              <a:t>What is Value Education?</a:t>
            </a:r>
          </a:p>
          <a:p>
            <a:pPr>
              <a:buNone/>
            </a:pPr>
            <a:r>
              <a:rPr lang="en-US" b="1" dirty="0" smtClean="0">
                <a:latin typeface="Times New Roman" pitchFamily="18" charset="0"/>
                <a:cs typeface="Times New Roman" pitchFamily="18" charset="0"/>
              </a:rPr>
              <a:t>Value education refers to wide range of learning process, which builds the character of  its citizens by inculcating </a:t>
            </a:r>
            <a:r>
              <a:rPr lang="en-US" b="1" dirty="0" smtClean="0">
                <a:solidFill>
                  <a:srgbClr val="FF0000"/>
                </a:solidFill>
                <a:latin typeface="Times New Roman" pitchFamily="18" charset="0"/>
                <a:cs typeface="Times New Roman" pitchFamily="18" charset="0"/>
              </a:rPr>
              <a:t>values</a:t>
            </a:r>
            <a:r>
              <a:rPr lang="en-US" b="1" dirty="0" smtClean="0">
                <a:latin typeface="Times New Roman" pitchFamily="18" charset="0"/>
                <a:cs typeface="Times New Roman" pitchFamily="18" charset="0"/>
              </a:rPr>
              <a:t> like </a:t>
            </a:r>
            <a:r>
              <a:rPr lang="en-US" b="1" dirty="0" smtClean="0">
                <a:solidFill>
                  <a:srgbClr val="0070C0"/>
                </a:solidFill>
                <a:latin typeface="Times New Roman" pitchFamily="18" charset="0"/>
                <a:cs typeface="Times New Roman" pitchFamily="18" charset="0"/>
              </a:rPr>
              <a:t>truthfulness, honesty, sincerity, integrity, righteousness, civic sense, a respect for the principles of equality, liberty, fraternity </a:t>
            </a:r>
            <a:r>
              <a:rPr lang="en-US" b="1" dirty="0" smtClean="0">
                <a:latin typeface="Times New Roman" pitchFamily="18" charset="0"/>
                <a:cs typeface="Times New Roman" pitchFamily="18" charset="0"/>
              </a:rPr>
              <a:t>and </a:t>
            </a:r>
            <a:r>
              <a:rPr lang="en-US" b="1" i="1" dirty="0" smtClean="0">
                <a:solidFill>
                  <a:srgbClr val="FF0000"/>
                </a:solidFill>
                <a:latin typeface="Times New Roman" pitchFamily="18" charset="0"/>
                <a:cs typeface="Times New Roman" pitchFamily="18" charset="0"/>
              </a:rPr>
              <a:t>compassion for all living creatures, our environment, </a:t>
            </a:r>
            <a:r>
              <a:rPr lang="en-US" b="1" dirty="0" smtClean="0">
                <a:latin typeface="Times New Roman" pitchFamily="18" charset="0"/>
                <a:cs typeface="Times New Roman" pitchFamily="18" charset="0"/>
              </a:rPr>
              <a:t>etc.  </a:t>
            </a:r>
          </a:p>
          <a:p>
            <a:pPr>
              <a:buNone/>
            </a:pPr>
            <a:endParaRPr lang="en-US" b="1" i="1" dirty="0"/>
          </a:p>
        </p:txBody>
      </p:sp>
      <p:pic>
        <p:nvPicPr>
          <p:cNvPr id="4" name="Picture 3"/>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blipFill>
            <a:blip r:embed="rId2" cstate="print"/>
            <a:tile tx="0" ty="0" sx="100000" sy="100000" flip="none" algn="tl"/>
          </a:blipFill>
        </p:spPr>
        <p:txBody>
          <a:bodyPr>
            <a:normAutofit/>
          </a:bodyPr>
          <a:lstStyle/>
          <a:p>
            <a:r>
              <a:rPr lang="en-US" b="1" dirty="0" smtClean="0">
                <a:solidFill>
                  <a:srgbClr val="0070C0"/>
                </a:solidFill>
                <a:latin typeface="Times New Roman" pitchFamily="18" charset="0"/>
                <a:cs typeface="Times New Roman" pitchFamily="18" charset="0"/>
              </a:rPr>
              <a:t>Value Education</a:t>
            </a:r>
            <a:endParaRPr lang="en-US" dirty="0"/>
          </a:p>
        </p:txBody>
      </p:sp>
      <p:sp>
        <p:nvSpPr>
          <p:cNvPr id="3" name="Content Placeholder 2"/>
          <p:cNvSpPr>
            <a:spLocks noGrp="1"/>
          </p:cNvSpPr>
          <p:nvPr>
            <p:ph idx="1"/>
          </p:nvPr>
        </p:nvSpPr>
        <p:spPr>
          <a:xfrm>
            <a:off x="304800" y="1447800"/>
            <a:ext cx="8610600" cy="4876800"/>
          </a:xfrm>
          <a:solidFill>
            <a:schemeClr val="accent6">
              <a:lumMod val="20000"/>
              <a:lumOff val="80000"/>
            </a:schemeClr>
          </a:solidFill>
        </p:spPr>
        <p:txBody>
          <a:bodyPr>
            <a:normAutofit fontScale="92500" lnSpcReduction="10000"/>
          </a:bodyPr>
          <a:lstStyle/>
          <a:p>
            <a:pPr>
              <a:buNone/>
            </a:pPr>
            <a:r>
              <a:rPr lang="en-US" sz="3500" b="1" dirty="0" smtClean="0">
                <a:solidFill>
                  <a:srgbClr val="FF0000"/>
                </a:solidFill>
                <a:latin typeface="Times New Roman" pitchFamily="18" charset="0"/>
                <a:cs typeface="Times New Roman" pitchFamily="18" charset="0"/>
              </a:rPr>
              <a:t>Values </a:t>
            </a:r>
            <a:r>
              <a:rPr lang="en-US" sz="3500" b="1" dirty="0" smtClean="0">
                <a:latin typeface="Times New Roman" pitchFamily="18" charset="0"/>
                <a:cs typeface="Times New Roman" pitchFamily="18" charset="0"/>
              </a:rPr>
              <a:t>are intrinsic principles, which direct our actions. </a:t>
            </a:r>
            <a:r>
              <a:rPr lang="en-US" sz="3500" b="1" dirty="0" smtClean="0">
                <a:solidFill>
                  <a:srgbClr val="0070C0"/>
                </a:solidFill>
                <a:latin typeface="Times New Roman" pitchFamily="18" charset="0"/>
                <a:cs typeface="Times New Roman" pitchFamily="18" charset="0"/>
              </a:rPr>
              <a:t>They are the virtues of an individual.</a:t>
            </a:r>
          </a:p>
          <a:p>
            <a:pPr>
              <a:buNone/>
            </a:pPr>
            <a:r>
              <a:rPr lang="en-US" sz="3500" b="1" dirty="0" smtClean="0">
                <a:solidFill>
                  <a:srgbClr val="FF0000"/>
                </a:solidFill>
                <a:latin typeface="Times New Roman" pitchFamily="18" charset="0"/>
                <a:cs typeface="Times New Roman" pitchFamily="18" charset="0"/>
              </a:rPr>
              <a:t>Value education touches every aspect of life, personality and learning. </a:t>
            </a:r>
          </a:p>
          <a:p>
            <a:pPr>
              <a:buNone/>
            </a:pPr>
            <a:r>
              <a:rPr lang="en-US" sz="3500" b="1" dirty="0" smtClean="0">
                <a:latin typeface="Times New Roman" pitchFamily="18" charset="0"/>
                <a:cs typeface="Times New Roman" pitchFamily="18" charset="0"/>
              </a:rPr>
              <a:t>It includes cultivation of appropriate sensibilities – </a:t>
            </a:r>
            <a:r>
              <a:rPr lang="en-US" sz="3500" b="1" dirty="0" smtClean="0">
                <a:solidFill>
                  <a:srgbClr val="0070C0"/>
                </a:solidFill>
                <a:latin typeface="Times New Roman" pitchFamily="18" charset="0"/>
                <a:cs typeface="Times New Roman" pitchFamily="18" charset="0"/>
              </a:rPr>
              <a:t>physical, moral and cultural </a:t>
            </a:r>
            <a:r>
              <a:rPr lang="en-US" sz="3500" b="1" dirty="0" smtClean="0">
                <a:latin typeface="Times New Roman" pitchFamily="18" charset="0"/>
                <a:cs typeface="Times New Roman" pitchFamily="18" charset="0"/>
              </a:rPr>
              <a:t>– in the personality of its citizens and develops the capacity to take </a:t>
            </a:r>
            <a:r>
              <a:rPr lang="en-US" sz="3500" b="1" dirty="0" smtClean="0">
                <a:solidFill>
                  <a:srgbClr val="FF0000"/>
                </a:solidFill>
                <a:latin typeface="Times New Roman" pitchFamily="18" charset="0"/>
                <a:cs typeface="Times New Roman" pitchFamily="18" charset="0"/>
              </a:rPr>
              <a:t>just and right decisions in times of need.</a:t>
            </a:r>
          </a:p>
          <a:p>
            <a:pPr>
              <a:buNone/>
            </a:pPr>
            <a:r>
              <a:rPr lang="en-US" sz="3500" b="1" i="1" dirty="0" smtClean="0">
                <a:solidFill>
                  <a:srgbClr val="002060"/>
                </a:solidFill>
              </a:rPr>
              <a:t> </a:t>
            </a:r>
          </a:p>
          <a:p>
            <a:endParaRPr lang="en-US" dirty="0"/>
          </a:p>
        </p:txBody>
      </p:sp>
      <p:sp>
        <p:nvSpPr>
          <p:cNvPr id="4" name="Date Placeholder 3"/>
          <p:cNvSpPr>
            <a:spLocks noGrp="1"/>
          </p:cNvSpPr>
          <p:nvPr>
            <p:ph type="dt" sz="half" idx="10"/>
          </p:nvPr>
        </p:nvSpPr>
        <p:spPr/>
        <p:txBody>
          <a:bodyPr/>
          <a:lstStyle/>
          <a:p>
            <a:fld id="{C5B78DA1-6DE4-4BCD-B225-64C836F96C47}" type="datetime4">
              <a:rPr lang="en-US" smtClean="0"/>
              <a:pPr/>
              <a:t>November 9, 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F8BE4994-793F-4AF4-89A3-515E9DA12016}" type="slidenum">
              <a:rPr lang="en-US" smtClean="0"/>
              <a:pPr/>
              <a:t>49</a:t>
            </a:fld>
            <a:endParaRPr lang="en-US"/>
          </a:p>
        </p:txBody>
      </p:sp>
      <p:pic>
        <p:nvPicPr>
          <p:cNvPr id="7" name="Picture 6"/>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77826" name="Picture 2" descr="Image result for Value education"/>
          <p:cNvPicPr>
            <a:picLocks noChangeAspect="1" noChangeArrowheads="1"/>
          </p:cNvPicPr>
          <p:nvPr/>
        </p:nvPicPr>
        <p:blipFill>
          <a:blip r:embed="rId2" cstate="print"/>
          <a:srcRect/>
          <a:stretch>
            <a:fillRect/>
          </a:stretch>
        </p:blipFill>
        <p:spPr bwMode="auto">
          <a:xfrm>
            <a:off x="457200" y="304800"/>
            <a:ext cx="8382000" cy="6019800"/>
          </a:xfrm>
          <a:prstGeom prst="rect">
            <a:avLst/>
          </a:prstGeom>
          <a:noFill/>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blipFill>
            <a:blip r:embed="rId2" cstate="print"/>
            <a:tile tx="0" ty="0" sx="100000" sy="100000" flip="none" algn="tl"/>
          </a:blipFill>
        </p:spPr>
        <p:txBody>
          <a:bodyPr>
            <a:normAutofit fontScale="90000"/>
          </a:bodyPr>
          <a:lstStyle/>
          <a:p>
            <a:r>
              <a:rPr lang="en-US" b="1" dirty="0" smtClean="0">
                <a:solidFill>
                  <a:srgbClr val="0070C0"/>
                </a:solidFill>
                <a:latin typeface="Times New Roman" pitchFamily="18" charset="0"/>
                <a:cs typeface="Times New Roman" pitchFamily="18" charset="0"/>
              </a:rPr>
              <a:t>Value Education</a:t>
            </a:r>
            <a:br>
              <a:rPr lang="en-US" b="1" dirty="0" smtClean="0">
                <a:solidFill>
                  <a:srgbClr val="0070C0"/>
                </a:solidFill>
                <a:latin typeface="Times New Roman" pitchFamily="18" charset="0"/>
                <a:cs typeface="Times New Roman" pitchFamily="18" charset="0"/>
              </a:rPr>
            </a:br>
            <a:r>
              <a:rPr lang="en-US" b="1" i="1" dirty="0" smtClean="0">
                <a:solidFill>
                  <a:srgbClr val="002060"/>
                </a:solidFill>
                <a:latin typeface="Times New Roman" pitchFamily="18" charset="0"/>
                <a:cs typeface="Times New Roman" pitchFamily="18" charset="0"/>
              </a:rPr>
              <a:t>Erosion of Values</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228600" y="1600200"/>
            <a:ext cx="8686800" cy="4724400"/>
          </a:xfrm>
          <a:solidFill>
            <a:schemeClr val="accent6">
              <a:lumMod val="20000"/>
              <a:lumOff val="80000"/>
            </a:schemeClr>
          </a:solidFill>
        </p:spPr>
        <p:txBody>
          <a:bodyPr>
            <a:normAutofit/>
          </a:bodyPr>
          <a:lstStyle/>
          <a:p>
            <a:pPr>
              <a:buNone/>
            </a:pPr>
            <a:r>
              <a:rPr lang="en-US" sz="2800" b="1" dirty="0" smtClean="0">
                <a:latin typeface="Times New Roman" pitchFamily="18" charset="0"/>
                <a:cs typeface="Times New Roman" pitchFamily="18" charset="0"/>
              </a:rPr>
              <a:t>There have been great advancement in the field of science &amp; technology. </a:t>
            </a:r>
          </a:p>
          <a:p>
            <a:pPr>
              <a:buNone/>
            </a:pPr>
            <a:r>
              <a:rPr lang="en-US" sz="2800" b="1" dirty="0" smtClean="0">
                <a:latin typeface="Times New Roman" pitchFamily="18" charset="0"/>
                <a:cs typeface="Times New Roman" pitchFamily="18" charset="0"/>
              </a:rPr>
              <a:t>However, wisdom languishes and </a:t>
            </a:r>
            <a:r>
              <a:rPr lang="en-US" sz="2800" b="1" dirty="0" smtClean="0">
                <a:solidFill>
                  <a:srgbClr val="FF0000"/>
                </a:solidFill>
                <a:latin typeface="Times New Roman" pitchFamily="18" charset="0"/>
                <a:cs typeface="Times New Roman" pitchFamily="18" charset="0"/>
              </a:rPr>
              <a:t>there has been gradual erosion of values,</a:t>
            </a:r>
            <a:r>
              <a:rPr lang="en-US" sz="2800" b="1" dirty="0" smtClean="0">
                <a:latin typeface="Times New Roman" pitchFamily="18" charset="0"/>
                <a:cs typeface="Times New Roman" pitchFamily="18" charset="0"/>
              </a:rPr>
              <a:t> which is reflected in day-today life of a large section of our society. </a:t>
            </a:r>
          </a:p>
          <a:p>
            <a:pPr>
              <a:buNone/>
            </a:pPr>
            <a:r>
              <a:rPr lang="en-US" sz="2800" b="1" dirty="0" smtClean="0">
                <a:solidFill>
                  <a:srgbClr val="FF0000"/>
                </a:solidFill>
                <a:latin typeface="Times New Roman" pitchFamily="18" charset="0"/>
                <a:cs typeface="Times New Roman" pitchFamily="18" charset="0"/>
              </a:rPr>
              <a:t>Erosion of values causes rapid breakdown of families, the society and the nation as a whole.</a:t>
            </a:r>
          </a:p>
          <a:p>
            <a:pPr>
              <a:buNone/>
            </a:pPr>
            <a:r>
              <a:rPr lang="en-US" sz="2800" b="1" dirty="0" smtClean="0">
                <a:solidFill>
                  <a:srgbClr val="0070C0"/>
                </a:solidFill>
                <a:latin typeface="Times New Roman" pitchFamily="18" charset="0"/>
                <a:cs typeface="Times New Roman" pitchFamily="18" charset="0"/>
              </a:rPr>
              <a:t>The present political and unsustainable development processes are themselves acting as a catalyst to the collective degeneration of our society.</a:t>
            </a:r>
          </a:p>
          <a:p>
            <a:pPr>
              <a:buNone/>
            </a:pPr>
            <a:endParaRPr lang="en-US" sz="2000" dirty="0">
              <a:latin typeface="Times New Roman" pitchFamily="18" charset="0"/>
              <a:cs typeface="Times New Roman" pitchFamily="18" charset="0"/>
            </a:endParaRPr>
          </a:p>
        </p:txBody>
      </p:sp>
      <p:pic>
        <p:nvPicPr>
          <p:cNvPr id="4" name="Picture 3"/>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blipFill>
            <a:blip r:embed="rId2" cstate="print"/>
            <a:tile tx="0" ty="0" sx="100000" sy="100000" flip="none" algn="tl"/>
          </a:blipFill>
        </p:spPr>
        <p:txBody>
          <a:bodyPr>
            <a:normAutofit/>
          </a:bodyPr>
          <a:lstStyle/>
          <a:p>
            <a:r>
              <a:rPr lang="en-US" b="1" dirty="0" smtClean="0">
                <a:solidFill>
                  <a:srgbClr val="0070C0"/>
                </a:solidFill>
                <a:latin typeface="Times New Roman" pitchFamily="18" charset="0"/>
                <a:cs typeface="Times New Roman" pitchFamily="18" charset="0"/>
              </a:rPr>
              <a:t>Value Education</a:t>
            </a:r>
            <a:endParaRPr lang="en-US" dirty="0"/>
          </a:p>
        </p:txBody>
      </p:sp>
      <p:sp>
        <p:nvSpPr>
          <p:cNvPr id="3" name="Content Placeholder 2"/>
          <p:cNvSpPr>
            <a:spLocks noGrp="1"/>
          </p:cNvSpPr>
          <p:nvPr>
            <p:ph idx="1"/>
          </p:nvPr>
        </p:nvSpPr>
        <p:spPr>
          <a:xfrm>
            <a:off x="228600" y="1600200"/>
            <a:ext cx="8610600" cy="4800600"/>
          </a:xfrm>
          <a:solidFill>
            <a:schemeClr val="accent6">
              <a:lumMod val="20000"/>
              <a:lumOff val="80000"/>
            </a:schemeClr>
          </a:solidFill>
        </p:spPr>
        <p:txBody>
          <a:bodyPr/>
          <a:lstStyle/>
          <a:p>
            <a:pPr>
              <a:buNone/>
            </a:pPr>
            <a:r>
              <a:rPr lang="en-US" b="1" dirty="0" smtClean="0">
                <a:solidFill>
                  <a:srgbClr val="FF0000"/>
                </a:solidFill>
                <a:latin typeface="Times New Roman" pitchFamily="18" charset="0"/>
                <a:cs typeface="Times New Roman" pitchFamily="18" charset="0"/>
              </a:rPr>
              <a:t>Social stresses </a:t>
            </a:r>
            <a:r>
              <a:rPr lang="en-US" b="1" dirty="0" smtClean="0">
                <a:latin typeface="Times New Roman" pitchFamily="18" charset="0"/>
                <a:cs typeface="Times New Roman" pitchFamily="18" charset="0"/>
              </a:rPr>
              <a:t>tend to pitch individuals against individuals,  groups against groups, communities against communities.</a:t>
            </a:r>
          </a:p>
          <a:p>
            <a:pPr>
              <a:buNone/>
            </a:pPr>
            <a:r>
              <a:rPr lang="en-US" b="1" dirty="0" smtClean="0">
                <a:solidFill>
                  <a:srgbClr val="0070C0"/>
                </a:solidFill>
                <a:latin typeface="Times New Roman" pitchFamily="18" charset="0"/>
                <a:cs typeface="Times New Roman" pitchFamily="18" charset="0"/>
              </a:rPr>
              <a:t>Such horizontal and vertical cleavage in our society are further enhanced by the so called </a:t>
            </a:r>
            <a:r>
              <a:rPr lang="en-US" b="1" dirty="0" smtClean="0">
                <a:solidFill>
                  <a:srgbClr val="FF0000"/>
                </a:solidFill>
                <a:latin typeface="Times New Roman" pitchFamily="18" charset="0"/>
                <a:cs typeface="Times New Roman" pitchFamily="18" charset="0"/>
              </a:rPr>
              <a:t>‘elites’ </a:t>
            </a:r>
            <a:r>
              <a:rPr lang="en-US" b="1" dirty="0" smtClean="0">
                <a:solidFill>
                  <a:srgbClr val="0070C0"/>
                </a:solidFill>
                <a:latin typeface="Times New Roman" pitchFamily="18" charset="0"/>
                <a:cs typeface="Times New Roman" pitchFamily="18" charset="0"/>
              </a:rPr>
              <a:t>who show a tendency to amass wealth (especially, Black money) and power at the cost of ETHICS and morality (</a:t>
            </a:r>
            <a:r>
              <a:rPr lang="en-US" b="1" dirty="0" err="1" smtClean="0">
                <a:solidFill>
                  <a:srgbClr val="0070C0"/>
                </a:solidFill>
                <a:latin typeface="Times New Roman" pitchFamily="18" charset="0"/>
                <a:cs typeface="Times New Roman" pitchFamily="18" charset="0"/>
              </a:rPr>
              <a:t>Gangrade</a:t>
            </a:r>
            <a:r>
              <a:rPr lang="en-US" b="1" dirty="0" smtClean="0">
                <a:solidFill>
                  <a:srgbClr val="0070C0"/>
                </a:solidFill>
                <a:latin typeface="Times New Roman" pitchFamily="18" charset="0"/>
                <a:cs typeface="Times New Roman" pitchFamily="18" charset="0"/>
              </a:rPr>
              <a:t>, 2004)</a:t>
            </a:r>
          </a:p>
          <a:p>
            <a:endParaRPr lang="en-US" dirty="0"/>
          </a:p>
        </p:txBody>
      </p:sp>
      <p:sp>
        <p:nvSpPr>
          <p:cNvPr id="4" name="Date Placeholder 3"/>
          <p:cNvSpPr>
            <a:spLocks noGrp="1"/>
          </p:cNvSpPr>
          <p:nvPr>
            <p:ph type="dt" sz="half" idx="10"/>
          </p:nvPr>
        </p:nvSpPr>
        <p:spPr/>
        <p:txBody>
          <a:bodyPr/>
          <a:lstStyle/>
          <a:p>
            <a:fld id="{C5B78DA1-6DE4-4BCD-B225-64C836F96C47}" type="datetime4">
              <a:rPr lang="en-US" smtClean="0"/>
              <a:pPr/>
              <a:t>November 9, 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F8BE4994-793F-4AF4-89A3-515E9DA12016}" type="slidenum">
              <a:rPr lang="en-US" smtClean="0"/>
              <a:pPr/>
              <a:t>52</a:t>
            </a:fld>
            <a:endParaRPr lang="en-US"/>
          </a:p>
        </p:txBody>
      </p:sp>
      <p:pic>
        <p:nvPicPr>
          <p:cNvPr id="7" name="Picture 6"/>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blipFill>
            <a:blip r:embed="rId2" cstate="print"/>
            <a:tile tx="0" ty="0" sx="100000" sy="100000" flip="none" algn="tl"/>
          </a:blipFill>
        </p:spPr>
        <p:txBody>
          <a:bodyPr>
            <a:normAutofit/>
          </a:bodyPr>
          <a:lstStyle/>
          <a:p>
            <a:r>
              <a:rPr lang="en-US" b="1" dirty="0" smtClean="0">
                <a:solidFill>
                  <a:srgbClr val="0070C0"/>
                </a:solidFill>
                <a:latin typeface="Times New Roman" pitchFamily="18" charset="0"/>
                <a:cs typeface="Times New Roman" pitchFamily="18" charset="0"/>
              </a:rPr>
              <a:t>Value Education</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228600" y="1600200"/>
            <a:ext cx="8686800" cy="4724400"/>
          </a:xfrm>
          <a:solidFill>
            <a:schemeClr val="accent6">
              <a:lumMod val="20000"/>
              <a:lumOff val="80000"/>
            </a:schemeClr>
          </a:solidFill>
        </p:spPr>
        <p:txBody>
          <a:bodyPr>
            <a:normAutofit lnSpcReduction="10000"/>
          </a:bodyPr>
          <a:lstStyle/>
          <a:p>
            <a:pPr>
              <a:buNone/>
            </a:pPr>
            <a:r>
              <a:rPr lang="en-US" sz="2000" b="1" dirty="0" smtClean="0">
                <a:latin typeface="Times New Roman" pitchFamily="18" charset="0"/>
                <a:cs typeface="Times New Roman" pitchFamily="18" charset="0"/>
              </a:rPr>
              <a:t>Since independence, a number of high-powered commissions and committees have been set up to advice the government on matters connected with EDUCATION.</a:t>
            </a:r>
          </a:p>
          <a:p>
            <a:pPr marL="457200" indent="-457200">
              <a:buAutoNum type="arabicPeriod"/>
            </a:pPr>
            <a:r>
              <a:rPr lang="en-US" sz="2000" b="1" i="1" dirty="0" err="1" smtClean="0">
                <a:solidFill>
                  <a:srgbClr val="0033CC"/>
                </a:solidFill>
                <a:latin typeface="Times New Roman" pitchFamily="18" charset="0"/>
                <a:cs typeface="Times New Roman" pitchFamily="18" charset="0"/>
              </a:rPr>
              <a:t>Radhakrishnan</a:t>
            </a:r>
            <a:r>
              <a:rPr lang="en-US" sz="2000" b="1" i="1" dirty="0" smtClean="0">
                <a:solidFill>
                  <a:srgbClr val="0033CC"/>
                </a:solidFill>
                <a:latin typeface="Times New Roman" pitchFamily="18" charset="0"/>
                <a:cs typeface="Times New Roman" pitchFamily="18" charset="0"/>
              </a:rPr>
              <a:t> Commission (1948-49)</a:t>
            </a:r>
          </a:p>
          <a:p>
            <a:pPr marL="457200" indent="-457200">
              <a:buAutoNum type="arabicPeriod"/>
            </a:pPr>
            <a:r>
              <a:rPr lang="en-US" sz="2000" b="1" i="1" dirty="0" smtClean="0">
                <a:solidFill>
                  <a:srgbClr val="0033CC"/>
                </a:solidFill>
                <a:latin typeface="Times New Roman" pitchFamily="18" charset="0"/>
                <a:cs typeface="Times New Roman" pitchFamily="18" charset="0"/>
              </a:rPr>
              <a:t>Kothari Commission (1964-66)</a:t>
            </a:r>
          </a:p>
          <a:p>
            <a:pPr marL="457200" indent="-457200">
              <a:buAutoNum type="arabicPeriod"/>
            </a:pPr>
            <a:r>
              <a:rPr lang="en-US" sz="2000" b="1" i="1" dirty="0" smtClean="0">
                <a:solidFill>
                  <a:srgbClr val="0033CC"/>
                </a:solidFill>
                <a:latin typeface="Times New Roman" pitchFamily="18" charset="0"/>
                <a:cs typeface="Times New Roman" pitchFamily="18" charset="0"/>
              </a:rPr>
              <a:t>Rama </a:t>
            </a:r>
            <a:r>
              <a:rPr lang="en-US" sz="2000" b="1" i="1" dirty="0" err="1" smtClean="0">
                <a:solidFill>
                  <a:srgbClr val="0033CC"/>
                </a:solidFill>
                <a:latin typeface="Times New Roman" pitchFamily="18" charset="0"/>
                <a:cs typeface="Times New Roman" pitchFamily="18" charset="0"/>
              </a:rPr>
              <a:t>Murti</a:t>
            </a:r>
            <a:r>
              <a:rPr lang="en-US" sz="2000" b="1" i="1" dirty="0" smtClean="0">
                <a:solidFill>
                  <a:srgbClr val="0033CC"/>
                </a:solidFill>
                <a:latin typeface="Times New Roman" pitchFamily="18" charset="0"/>
                <a:cs typeface="Times New Roman" pitchFamily="18" charset="0"/>
              </a:rPr>
              <a:t> Committee (1990)</a:t>
            </a:r>
          </a:p>
          <a:p>
            <a:pPr marL="457200" indent="-457200">
              <a:buAutoNum type="arabicPeriod"/>
            </a:pPr>
            <a:r>
              <a:rPr lang="en-US" sz="2000" b="1" i="1" dirty="0" smtClean="0">
                <a:solidFill>
                  <a:srgbClr val="0033CC"/>
                </a:solidFill>
                <a:latin typeface="Times New Roman" pitchFamily="18" charset="0"/>
                <a:cs typeface="Times New Roman" pitchFamily="18" charset="0"/>
              </a:rPr>
              <a:t>Prof  </a:t>
            </a:r>
            <a:r>
              <a:rPr lang="en-US" sz="2000" b="1" i="1" dirty="0" err="1" smtClean="0">
                <a:solidFill>
                  <a:srgbClr val="0033CC"/>
                </a:solidFill>
                <a:latin typeface="Times New Roman" pitchFamily="18" charset="0"/>
                <a:cs typeface="Times New Roman" pitchFamily="18" charset="0"/>
              </a:rPr>
              <a:t>Yashpal</a:t>
            </a:r>
            <a:r>
              <a:rPr lang="en-US" sz="2000" b="1" i="1" dirty="0" smtClean="0">
                <a:solidFill>
                  <a:srgbClr val="0033CC"/>
                </a:solidFill>
                <a:latin typeface="Times New Roman" pitchFamily="18" charset="0"/>
                <a:cs typeface="Times New Roman" pitchFamily="18" charset="0"/>
              </a:rPr>
              <a:t> Commission (2006)</a:t>
            </a:r>
          </a:p>
          <a:p>
            <a:pPr marL="457200" indent="-457200">
              <a:buNone/>
            </a:pPr>
            <a:r>
              <a:rPr lang="en-US" sz="2400" b="1" dirty="0" smtClean="0">
                <a:latin typeface="Times New Roman" pitchFamily="18" charset="0"/>
                <a:cs typeface="Times New Roman" pitchFamily="18" charset="0"/>
              </a:rPr>
              <a:t>Planning Commission Core Group on Value    Orientation of Education (1992) emphasized the urgent need of making our education system </a:t>
            </a:r>
            <a:r>
              <a:rPr lang="en-US" sz="2400" b="1" dirty="0" smtClean="0">
                <a:solidFill>
                  <a:srgbClr val="FF0000"/>
                </a:solidFill>
                <a:latin typeface="Times New Roman" pitchFamily="18" charset="0"/>
                <a:cs typeface="Times New Roman" pitchFamily="18" charset="0"/>
              </a:rPr>
              <a:t>VALUE ORIENTED.</a:t>
            </a:r>
          </a:p>
          <a:p>
            <a:pPr marL="457200" indent="-457200">
              <a:buNone/>
            </a:pPr>
            <a:r>
              <a:rPr lang="en-US" sz="2800" b="1" dirty="0" smtClean="0">
                <a:latin typeface="Times New Roman" pitchFamily="18" charset="0"/>
                <a:cs typeface="Times New Roman" pitchFamily="18" charset="0"/>
              </a:rPr>
              <a:t>It is disappointing that such well-concerted efforts of over six decades have failed to achieve the desired results.</a:t>
            </a:r>
          </a:p>
          <a:p>
            <a:pPr>
              <a:buNone/>
            </a:pPr>
            <a:endParaRPr lang="en-US" sz="2000" dirty="0"/>
          </a:p>
        </p:txBody>
      </p:sp>
      <p:pic>
        <p:nvPicPr>
          <p:cNvPr id="4" name="Picture 3"/>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blipFill>
            <a:blip r:embed="rId2" cstate="print"/>
            <a:tile tx="0" ty="0" sx="100000" sy="100000" flip="none" algn="tl"/>
          </a:blipFill>
        </p:spPr>
        <p:txBody>
          <a:bodyPr>
            <a:normAutofit/>
          </a:bodyPr>
          <a:lstStyle/>
          <a:p>
            <a:r>
              <a:rPr lang="en-US" b="1" dirty="0" smtClean="0">
                <a:solidFill>
                  <a:srgbClr val="0070C0"/>
                </a:solidFill>
                <a:latin typeface="Times New Roman" pitchFamily="18" charset="0"/>
                <a:cs typeface="Times New Roman" pitchFamily="18" charset="0"/>
              </a:rPr>
              <a:t>Value Education</a:t>
            </a:r>
            <a:endParaRPr lang="en-US" b="1" dirty="0">
              <a:solidFill>
                <a:srgbClr val="008000"/>
              </a:solidFill>
              <a:latin typeface="Times New Roman" pitchFamily="18" charset="0"/>
              <a:cs typeface="Times New Roman" pitchFamily="18" charset="0"/>
            </a:endParaRPr>
          </a:p>
        </p:txBody>
      </p:sp>
      <p:sp>
        <p:nvSpPr>
          <p:cNvPr id="3" name="Content Placeholder 2"/>
          <p:cNvSpPr>
            <a:spLocks noGrp="1"/>
          </p:cNvSpPr>
          <p:nvPr>
            <p:ph idx="1"/>
          </p:nvPr>
        </p:nvSpPr>
        <p:spPr>
          <a:solidFill>
            <a:schemeClr val="accent6">
              <a:lumMod val="20000"/>
              <a:lumOff val="80000"/>
            </a:schemeClr>
          </a:solidFill>
        </p:spPr>
        <p:txBody>
          <a:bodyPr>
            <a:normAutofit/>
          </a:bodyPr>
          <a:lstStyle/>
          <a:p>
            <a:pPr>
              <a:buNone/>
            </a:pPr>
            <a:r>
              <a:rPr lang="en-US" sz="2800" b="1" dirty="0" smtClean="0">
                <a:latin typeface="Times New Roman" pitchFamily="18" charset="0"/>
                <a:cs typeface="Times New Roman" pitchFamily="18" charset="0"/>
              </a:rPr>
              <a:t>Justice J S </a:t>
            </a:r>
            <a:r>
              <a:rPr lang="en-US" sz="2800" b="1" dirty="0" err="1" smtClean="0">
                <a:latin typeface="Times New Roman" pitchFamily="18" charset="0"/>
                <a:cs typeface="Times New Roman" pitchFamily="18" charset="0"/>
              </a:rPr>
              <a:t>Verma</a:t>
            </a:r>
            <a:r>
              <a:rPr lang="en-US" sz="2800" b="1" dirty="0" smtClean="0">
                <a:latin typeface="Times New Roman" pitchFamily="18" charset="0"/>
                <a:cs typeface="Times New Roman" pitchFamily="18" charset="0"/>
              </a:rPr>
              <a:t> (1999) identified the following basic VALUES from the text of Preamble of the Constitution of INDIA:</a:t>
            </a:r>
          </a:p>
          <a:p>
            <a:pPr>
              <a:buNone/>
            </a:pPr>
            <a:r>
              <a:rPr lang="en-US" sz="3600" b="1" i="1" dirty="0" smtClean="0">
                <a:solidFill>
                  <a:srgbClr val="FF0000"/>
                </a:solidFill>
                <a:latin typeface="Times New Roman" pitchFamily="18" charset="0"/>
                <a:cs typeface="Times New Roman" pitchFamily="18" charset="0"/>
              </a:rPr>
              <a:t>Sovereignty, secularism, republican character, liberty, fraternity, unity &amp; integrity of the nation, socialism, democracy, justice, equality, dignity of an individual.</a:t>
            </a:r>
          </a:p>
          <a:p>
            <a:pPr marL="457200" indent="-457200">
              <a:buNone/>
            </a:pPr>
            <a:endParaRPr lang="en-US" sz="2800" i="1" dirty="0" smtClean="0">
              <a:solidFill>
                <a:srgbClr val="FF0000"/>
              </a:solidFill>
            </a:endParaRPr>
          </a:p>
          <a:p>
            <a:pPr>
              <a:buNone/>
            </a:pPr>
            <a:endParaRPr lang="en-US" sz="2800" b="1" dirty="0" smtClean="0"/>
          </a:p>
        </p:txBody>
      </p:sp>
      <p:sp>
        <p:nvSpPr>
          <p:cNvPr id="4" name="Date Placeholder 3"/>
          <p:cNvSpPr>
            <a:spLocks noGrp="1"/>
          </p:cNvSpPr>
          <p:nvPr>
            <p:ph type="dt" sz="half" idx="10"/>
          </p:nvPr>
        </p:nvSpPr>
        <p:spPr/>
        <p:txBody>
          <a:bodyPr/>
          <a:lstStyle/>
          <a:p>
            <a:fld id="{C5B78DA1-6DE4-4BCD-B225-64C836F96C47}" type="datetime4">
              <a:rPr lang="en-US" smtClean="0"/>
              <a:pPr/>
              <a:t>November 9, 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F8BE4994-793F-4AF4-89A3-515E9DA12016}" type="slidenum">
              <a:rPr lang="en-US" smtClean="0"/>
              <a:pPr/>
              <a:t>54</a:t>
            </a:fld>
            <a:endParaRPr lang="en-US"/>
          </a:p>
        </p:txBody>
      </p:sp>
      <p:pic>
        <p:nvPicPr>
          <p:cNvPr id="7" name="Picture 6"/>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blipFill>
            <a:blip r:embed="rId2" cstate="print"/>
            <a:tile tx="0" ty="0" sx="100000" sy="100000" flip="none" algn="tl"/>
          </a:blipFill>
        </p:spPr>
        <p:txBody>
          <a:bodyPr>
            <a:normAutofit/>
          </a:bodyPr>
          <a:lstStyle/>
          <a:p>
            <a:r>
              <a:rPr lang="en-US" b="1" dirty="0" smtClean="0">
                <a:solidFill>
                  <a:srgbClr val="0070C0"/>
                </a:solidFill>
                <a:latin typeface="Times New Roman" pitchFamily="18" charset="0"/>
                <a:cs typeface="Times New Roman" pitchFamily="18" charset="0"/>
              </a:rPr>
              <a:t>Value Education</a:t>
            </a:r>
            <a:endParaRPr lang="en-US" dirty="0"/>
          </a:p>
        </p:txBody>
      </p:sp>
      <p:sp>
        <p:nvSpPr>
          <p:cNvPr id="3" name="Content Placeholder 2"/>
          <p:cNvSpPr>
            <a:spLocks noGrp="1"/>
          </p:cNvSpPr>
          <p:nvPr>
            <p:ph idx="1"/>
          </p:nvPr>
        </p:nvSpPr>
        <p:spPr>
          <a:xfrm>
            <a:off x="228600" y="1600200"/>
            <a:ext cx="8686800" cy="4648200"/>
          </a:xfrm>
          <a:solidFill>
            <a:schemeClr val="accent6">
              <a:lumMod val="20000"/>
              <a:lumOff val="80000"/>
            </a:schemeClr>
          </a:solidFill>
        </p:spPr>
        <p:txBody>
          <a:bodyPr>
            <a:normAutofit fontScale="85000" lnSpcReduction="10000"/>
          </a:bodyPr>
          <a:lstStyle/>
          <a:p>
            <a:pPr>
              <a:buNone/>
            </a:pPr>
            <a:r>
              <a:rPr lang="en-US" b="1" dirty="0" smtClean="0">
                <a:latin typeface="Times New Roman" pitchFamily="18" charset="0"/>
                <a:cs typeface="Times New Roman" pitchFamily="18" charset="0"/>
              </a:rPr>
              <a:t>The Constitution of INDIA guarantees </a:t>
            </a:r>
            <a:r>
              <a:rPr lang="en-US" b="1" u="sng" dirty="0" smtClean="0">
                <a:solidFill>
                  <a:srgbClr val="0070C0"/>
                </a:solidFill>
                <a:latin typeface="Times New Roman" pitchFamily="18" charset="0"/>
                <a:cs typeface="Times New Roman" pitchFamily="18" charset="0"/>
              </a:rPr>
              <a:t>SIX FUNDAMENTAL RIGHTS </a:t>
            </a:r>
            <a:r>
              <a:rPr lang="en-US" b="1" dirty="0" smtClean="0">
                <a:latin typeface="Times New Roman" pitchFamily="18" charset="0"/>
                <a:cs typeface="Times New Roman" pitchFamily="18" charset="0"/>
              </a:rPr>
              <a:t>to all Indian citizens, which are:</a:t>
            </a:r>
          </a:p>
          <a:p>
            <a:pPr marL="457200" indent="-457200">
              <a:buAutoNum type="arabicPeriod"/>
            </a:pPr>
            <a:r>
              <a:rPr lang="en-US" b="1" i="1" dirty="0" smtClean="0">
                <a:solidFill>
                  <a:srgbClr val="FF0000"/>
                </a:solidFill>
                <a:latin typeface="Times New Roman" pitchFamily="18" charset="0"/>
                <a:cs typeface="Times New Roman" pitchFamily="18" charset="0"/>
              </a:rPr>
              <a:t>The right to equality </a:t>
            </a:r>
            <a:r>
              <a:rPr lang="en-US" b="1" i="1" dirty="0" smtClean="0">
                <a:latin typeface="Times New Roman" pitchFamily="18" charset="0"/>
                <a:cs typeface="Times New Roman" pitchFamily="18" charset="0"/>
              </a:rPr>
              <a:t>(Articles 14,15,16,17)</a:t>
            </a:r>
          </a:p>
          <a:p>
            <a:pPr marL="457200" indent="-457200">
              <a:buFont typeface="Arial" pitchFamily="34" charset="0"/>
              <a:buAutoNum type="arabicPeriod"/>
            </a:pPr>
            <a:r>
              <a:rPr lang="en-US" b="1" i="1" dirty="0" smtClean="0">
                <a:solidFill>
                  <a:srgbClr val="FF0000"/>
                </a:solidFill>
                <a:latin typeface="Times New Roman" pitchFamily="18" charset="0"/>
                <a:cs typeface="Times New Roman" pitchFamily="18" charset="0"/>
              </a:rPr>
              <a:t>The right to  freedom </a:t>
            </a:r>
            <a:r>
              <a:rPr lang="en-US" b="1" i="1" dirty="0" smtClean="0">
                <a:latin typeface="Times New Roman" pitchFamily="18" charset="0"/>
                <a:cs typeface="Times New Roman" pitchFamily="18" charset="0"/>
              </a:rPr>
              <a:t>(Articles 19 (1-6),20, 21, 22)</a:t>
            </a:r>
          </a:p>
          <a:p>
            <a:pPr marL="457200" indent="-457200">
              <a:buFont typeface="Arial" pitchFamily="34" charset="0"/>
              <a:buAutoNum type="arabicPeriod"/>
            </a:pPr>
            <a:r>
              <a:rPr lang="en-US" b="1" i="1" dirty="0" smtClean="0">
                <a:solidFill>
                  <a:srgbClr val="FF0000"/>
                </a:solidFill>
                <a:latin typeface="Times New Roman" pitchFamily="18" charset="0"/>
                <a:cs typeface="Times New Roman" pitchFamily="18" charset="0"/>
              </a:rPr>
              <a:t>The right against exploitation </a:t>
            </a:r>
            <a:r>
              <a:rPr lang="en-US" b="1" i="1" dirty="0" smtClean="0">
                <a:latin typeface="Times New Roman" pitchFamily="18" charset="0"/>
                <a:cs typeface="Times New Roman" pitchFamily="18" charset="0"/>
              </a:rPr>
              <a:t>(Articles 23, 24)</a:t>
            </a:r>
          </a:p>
          <a:p>
            <a:pPr marL="457200" indent="-457200">
              <a:buFont typeface="Arial" pitchFamily="34" charset="0"/>
              <a:buAutoNum type="arabicPeriod"/>
            </a:pPr>
            <a:r>
              <a:rPr lang="en-US" b="1" i="1" dirty="0" smtClean="0">
                <a:solidFill>
                  <a:srgbClr val="FF0000"/>
                </a:solidFill>
                <a:latin typeface="Times New Roman" pitchFamily="18" charset="0"/>
                <a:cs typeface="Times New Roman" pitchFamily="18" charset="0"/>
              </a:rPr>
              <a:t>The right to freedom of religion </a:t>
            </a:r>
            <a:r>
              <a:rPr lang="en-US" b="1" i="1" dirty="0" smtClean="0">
                <a:latin typeface="Times New Roman" pitchFamily="18" charset="0"/>
                <a:cs typeface="Times New Roman" pitchFamily="18" charset="0"/>
              </a:rPr>
              <a:t>(Articles 25, 26, 27, 28)</a:t>
            </a:r>
          </a:p>
          <a:p>
            <a:pPr marL="457200" indent="-457200">
              <a:buFont typeface="Arial" pitchFamily="34" charset="0"/>
              <a:buAutoNum type="arabicPeriod"/>
            </a:pPr>
            <a:r>
              <a:rPr lang="en-US" b="1" i="1" dirty="0" smtClean="0">
                <a:solidFill>
                  <a:srgbClr val="FF0000"/>
                </a:solidFill>
                <a:latin typeface="Times New Roman" pitchFamily="18" charset="0"/>
                <a:cs typeface="Times New Roman" pitchFamily="18" charset="0"/>
              </a:rPr>
              <a:t>The cultural and educational rights  </a:t>
            </a:r>
            <a:r>
              <a:rPr lang="en-US" b="1" i="1" dirty="0" smtClean="0">
                <a:latin typeface="Times New Roman" pitchFamily="18" charset="0"/>
                <a:cs typeface="Times New Roman" pitchFamily="18" charset="0"/>
              </a:rPr>
              <a:t>(Articles  29, 30)</a:t>
            </a:r>
          </a:p>
          <a:p>
            <a:pPr marL="457200" indent="-457200">
              <a:buFont typeface="Arial" pitchFamily="34" charset="0"/>
              <a:buAutoNum type="arabicPeriod"/>
            </a:pPr>
            <a:r>
              <a:rPr lang="en-US" b="1" i="1" dirty="0" smtClean="0">
                <a:solidFill>
                  <a:srgbClr val="FF0000"/>
                </a:solidFill>
                <a:latin typeface="Times New Roman" pitchFamily="18" charset="0"/>
                <a:cs typeface="Times New Roman" pitchFamily="18" charset="0"/>
              </a:rPr>
              <a:t>The right to constitutional remedies  </a:t>
            </a:r>
            <a:r>
              <a:rPr lang="en-US" b="1" i="1" dirty="0" smtClean="0">
                <a:latin typeface="Times New Roman" pitchFamily="18" charset="0"/>
                <a:cs typeface="Times New Roman" pitchFamily="18" charset="0"/>
              </a:rPr>
              <a:t>(Articles 32, 33, 34, 35)</a:t>
            </a:r>
          </a:p>
          <a:p>
            <a:endParaRPr lang="en-US" dirty="0"/>
          </a:p>
        </p:txBody>
      </p:sp>
      <p:sp>
        <p:nvSpPr>
          <p:cNvPr id="4" name="Date Placeholder 3"/>
          <p:cNvSpPr>
            <a:spLocks noGrp="1"/>
          </p:cNvSpPr>
          <p:nvPr>
            <p:ph type="dt" sz="half" idx="10"/>
          </p:nvPr>
        </p:nvSpPr>
        <p:spPr/>
        <p:txBody>
          <a:bodyPr/>
          <a:lstStyle/>
          <a:p>
            <a:fld id="{C5B78DA1-6DE4-4BCD-B225-64C836F96C47}" type="datetime4">
              <a:rPr lang="en-US" smtClean="0"/>
              <a:pPr/>
              <a:t>November 9, 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F8BE4994-793F-4AF4-89A3-515E9DA12016}" type="slidenum">
              <a:rPr lang="en-US" smtClean="0"/>
              <a:pPr/>
              <a:t>55</a:t>
            </a:fld>
            <a:endParaRPr lang="en-US"/>
          </a:p>
        </p:txBody>
      </p:sp>
      <p:pic>
        <p:nvPicPr>
          <p:cNvPr id="7" name="Picture 6"/>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blipFill>
            <a:blip r:embed="rId2" cstate="print"/>
            <a:tile tx="0" ty="0" sx="100000" sy="100000" flip="none" algn="tl"/>
          </a:blipFill>
        </p:spPr>
        <p:txBody>
          <a:bodyPr>
            <a:normAutofit/>
          </a:bodyPr>
          <a:lstStyle/>
          <a:p>
            <a:r>
              <a:rPr lang="en-US" b="1" dirty="0" smtClean="0">
                <a:solidFill>
                  <a:srgbClr val="0070C0"/>
                </a:solidFill>
                <a:latin typeface="Times New Roman" pitchFamily="18" charset="0"/>
                <a:cs typeface="Times New Roman" pitchFamily="18" charset="0"/>
              </a:rPr>
              <a:t>Value Education</a:t>
            </a:r>
            <a:endParaRPr lang="en-US" dirty="0">
              <a:solidFill>
                <a:srgbClr val="008000"/>
              </a:solidFill>
            </a:endParaRPr>
          </a:p>
        </p:txBody>
      </p:sp>
      <p:sp>
        <p:nvSpPr>
          <p:cNvPr id="3" name="Content Placeholder 2"/>
          <p:cNvSpPr>
            <a:spLocks noGrp="1"/>
          </p:cNvSpPr>
          <p:nvPr>
            <p:ph idx="1"/>
          </p:nvPr>
        </p:nvSpPr>
        <p:spPr>
          <a:solidFill>
            <a:schemeClr val="accent6">
              <a:lumMod val="20000"/>
              <a:lumOff val="80000"/>
            </a:schemeClr>
          </a:solidFill>
        </p:spPr>
        <p:txBody>
          <a:bodyPr>
            <a:normAutofit/>
          </a:bodyPr>
          <a:lstStyle/>
          <a:p>
            <a:pPr>
              <a:buNone/>
            </a:pPr>
            <a:r>
              <a:rPr lang="en-US" b="1" dirty="0" smtClean="0">
                <a:latin typeface="Times New Roman" pitchFamily="18" charset="0"/>
                <a:cs typeface="Times New Roman" pitchFamily="18" charset="0"/>
              </a:rPr>
              <a:t>In addition to </a:t>
            </a:r>
            <a:r>
              <a:rPr lang="en-US" b="1" dirty="0" smtClean="0">
                <a:solidFill>
                  <a:srgbClr val="FF0000"/>
                </a:solidFill>
                <a:latin typeface="Times New Roman" pitchFamily="18" charset="0"/>
                <a:cs typeface="Times New Roman" pitchFamily="18" charset="0"/>
              </a:rPr>
              <a:t>fundamental rights, </a:t>
            </a:r>
            <a:r>
              <a:rPr lang="en-US" b="1" dirty="0" smtClean="0">
                <a:latin typeface="Times New Roman" pitchFamily="18" charset="0"/>
                <a:cs typeface="Times New Roman" pitchFamily="18" charset="0"/>
              </a:rPr>
              <a:t>the Constitution also prescribes a set of </a:t>
            </a:r>
            <a:r>
              <a:rPr lang="en-US" b="1" dirty="0" smtClean="0">
                <a:solidFill>
                  <a:srgbClr val="0033CC"/>
                </a:solidFill>
                <a:latin typeface="Times New Roman" pitchFamily="18" charset="0"/>
                <a:cs typeface="Times New Roman" pitchFamily="18" charset="0"/>
              </a:rPr>
              <a:t>FUNDAMENTAL DUTIES </a:t>
            </a:r>
            <a:r>
              <a:rPr lang="en-US" b="1" dirty="0" smtClean="0">
                <a:latin typeface="Times New Roman" pitchFamily="18" charset="0"/>
                <a:cs typeface="Times New Roman" pitchFamily="18" charset="0"/>
              </a:rPr>
              <a:t>to every citizen of India. Article 51A, Part IV states that </a:t>
            </a:r>
          </a:p>
          <a:p>
            <a:pPr>
              <a:buNone/>
            </a:pPr>
            <a:r>
              <a:rPr lang="en-US" b="1" i="1" dirty="0" smtClean="0">
                <a:solidFill>
                  <a:srgbClr val="0033CC"/>
                </a:solidFill>
                <a:latin typeface="Times New Roman" pitchFamily="18" charset="0"/>
                <a:cs typeface="Times New Roman" pitchFamily="18" charset="0"/>
              </a:rPr>
              <a:t>“it shall be the duty of every citizen of India, to abide by the constitution and respect its ideals and institutions, the National Flag and the National Anthem.”</a:t>
            </a:r>
          </a:p>
          <a:p>
            <a:pPr>
              <a:buNone/>
            </a:pPr>
            <a:endParaRPr lang="en-US" b="1" dirty="0" smtClean="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C5B78DA1-6DE4-4BCD-B225-64C836F96C47}" type="datetime4">
              <a:rPr lang="en-US" smtClean="0"/>
              <a:pPr/>
              <a:t>November 9, 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F8BE4994-793F-4AF4-89A3-515E9DA12016}" type="slidenum">
              <a:rPr lang="en-US" smtClean="0"/>
              <a:pPr/>
              <a:t>56</a:t>
            </a:fld>
            <a:endParaRPr lang="en-US" dirty="0"/>
          </a:p>
        </p:txBody>
      </p:sp>
      <p:pic>
        <p:nvPicPr>
          <p:cNvPr id="7" name="Picture 6"/>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blipFill>
            <a:blip r:embed="rId2" cstate="print"/>
            <a:tile tx="0" ty="0" sx="100000" sy="100000" flip="none" algn="tl"/>
          </a:blipFill>
        </p:spPr>
        <p:txBody>
          <a:bodyPr>
            <a:normAutofit/>
          </a:bodyPr>
          <a:lstStyle/>
          <a:p>
            <a:r>
              <a:rPr lang="en-US" b="1" dirty="0" smtClean="0">
                <a:solidFill>
                  <a:srgbClr val="0070C0"/>
                </a:solidFill>
                <a:latin typeface="Times New Roman" pitchFamily="18" charset="0"/>
                <a:cs typeface="Times New Roman" pitchFamily="18" charset="0"/>
              </a:rPr>
              <a:t>Value Education</a:t>
            </a:r>
            <a:endParaRPr lang="en-US" dirty="0"/>
          </a:p>
        </p:txBody>
      </p:sp>
      <p:sp>
        <p:nvSpPr>
          <p:cNvPr id="3" name="Content Placeholder 2"/>
          <p:cNvSpPr>
            <a:spLocks noGrp="1"/>
          </p:cNvSpPr>
          <p:nvPr>
            <p:ph idx="1"/>
          </p:nvPr>
        </p:nvSpPr>
        <p:spPr>
          <a:xfrm>
            <a:off x="228600" y="1600200"/>
            <a:ext cx="8686800" cy="4648200"/>
          </a:xfrm>
        </p:spPr>
        <p:txBody>
          <a:bodyPr>
            <a:normAutofit fontScale="85000" lnSpcReduction="20000"/>
          </a:bodyPr>
          <a:lstStyle/>
          <a:p>
            <a:pPr marL="457200" indent="-457200">
              <a:buAutoNum type="arabicPeriod"/>
            </a:pPr>
            <a:r>
              <a:rPr lang="en-US" b="1" i="1" dirty="0" smtClean="0">
                <a:solidFill>
                  <a:srgbClr val="FF0000"/>
                </a:solidFill>
                <a:latin typeface="Times New Roman" pitchFamily="18" charset="0"/>
                <a:cs typeface="Times New Roman" pitchFamily="18" charset="0"/>
              </a:rPr>
              <a:t>To cherish and follow the noble ideals which inspired our national struggle for freedom.</a:t>
            </a:r>
          </a:p>
          <a:p>
            <a:pPr marL="457200" indent="-457200">
              <a:buAutoNum type="arabicPeriod"/>
            </a:pPr>
            <a:r>
              <a:rPr lang="en-US" b="1" i="1" dirty="0" smtClean="0">
                <a:solidFill>
                  <a:srgbClr val="0070C0"/>
                </a:solidFill>
                <a:latin typeface="Times New Roman" pitchFamily="18" charset="0"/>
                <a:cs typeface="Times New Roman" pitchFamily="18" charset="0"/>
              </a:rPr>
              <a:t>To uphold and protect the sovereignty, unity and integrity of India</a:t>
            </a:r>
          </a:p>
          <a:p>
            <a:pPr marL="457200" indent="-457200">
              <a:buAutoNum type="arabicPeriod"/>
            </a:pPr>
            <a:r>
              <a:rPr lang="en-US" b="1" i="1" dirty="0" smtClean="0">
                <a:solidFill>
                  <a:srgbClr val="FF0000"/>
                </a:solidFill>
                <a:latin typeface="Times New Roman" pitchFamily="18" charset="0"/>
                <a:cs typeface="Times New Roman" pitchFamily="18" charset="0"/>
              </a:rPr>
              <a:t>To defend the country and render national service when called to do so</a:t>
            </a:r>
          </a:p>
          <a:p>
            <a:pPr marL="457200" indent="-457200">
              <a:buAutoNum type="arabicPeriod"/>
            </a:pPr>
            <a:r>
              <a:rPr lang="en-US" b="1" i="1" dirty="0" smtClean="0">
                <a:solidFill>
                  <a:srgbClr val="0070C0"/>
                </a:solidFill>
                <a:latin typeface="Times New Roman" pitchFamily="18" charset="0"/>
                <a:cs typeface="Times New Roman" pitchFamily="18" charset="0"/>
              </a:rPr>
              <a:t>To promote harmony and spirit of common brotherhood amongst all the people  of India transcending religion, linguistic and regional or sectional diversities and to renounce practices derogatory to the dignity of women.</a:t>
            </a:r>
          </a:p>
          <a:p>
            <a:pPr marL="457200" indent="-457200">
              <a:buAutoNum type="arabicPeriod"/>
            </a:pPr>
            <a:r>
              <a:rPr lang="en-US" b="1" i="1" dirty="0" smtClean="0">
                <a:solidFill>
                  <a:srgbClr val="FF0000"/>
                </a:solidFill>
                <a:latin typeface="Times New Roman" pitchFamily="18" charset="0"/>
                <a:cs typeface="Times New Roman" pitchFamily="18" charset="0"/>
              </a:rPr>
              <a:t>To value and preserve the rich heritage of our composite culture </a:t>
            </a:r>
          </a:p>
          <a:p>
            <a:endParaRPr lang="en-US" dirty="0"/>
          </a:p>
        </p:txBody>
      </p:sp>
      <p:sp>
        <p:nvSpPr>
          <p:cNvPr id="4" name="Date Placeholder 3"/>
          <p:cNvSpPr>
            <a:spLocks noGrp="1"/>
          </p:cNvSpPr>
          <p:nvPr>
            <p:ph type="dt" sz="half" idx="10"/>
          </p:nvPr>
        </p:nvSpPr>
        <p:spPr/>
        <p:txBody>
          <a:bodyPr/>
          <a:lstStyle/>
          <a:p>
            <a:fld id="{C5B78DA1-6DE4-4BCD-B225-64C836F96C47}" type="datetime4">
              <a:rPr lang="en-US" smtClean="0"/>
              <a:pPr/>
              <a:t>November 9, 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F8BE4994-793F-4AF4-89A3-515E9DA12016}" type="slidenum">
              <a:rPr lang="en-US" smtClean="0"/>
              <a:pPr/>
              <a:t>57</a:t>
            </a:fld>
            <a:endParaRPr lang="en-US"/>
          </a:p>
        </p:txBody>
      </p:sp>
      <p:pic>
        <p:nvPicPr>
          <p:cNvPr id="7" name="Picture 6"/>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blipFill>
            <a:blip r:embed="rId2" cstate="print"/>
            <a:tile tx="0" ty="0" sx="100000" sy="100000" flip="none" algn="tl"/>
          </a:blipFill>
        </p:spPr>
        <p:txBody>
          <a:bodyPr>
            <a:normAutofit/>
          </a:bodyPr>
          <a:lstStyle/>
          <a:p>
            <a:r>
              <a:rPr lang="en-US" b="1" dirty="0" smtClean="0">
                <a:solidFill>
                  <a:srgbClr val="0070C0"/>
                </a:solidFill>
                <a:latin typeface="Times New Roman" pitchFamily="18" charset="0"/>
                <a:cs typeface="Times New Roman" pitchFamily="18" charset="0"/>
              </a:rPr>
              <a:t>Value Education</a:t>
            </a:r>
            <a:endParaRPr lang="en-US" dirty="0">
              <a:solidFill>
                <a:srgbClr val="008000"/>
              </a:solidFill>
            </a:endParaRPr>
          </a:p>
        </p:txBody>
      </p:sp>
      <p:sp>
        <p:nvSpPr>
          <p:cNvPr id="3" name="Content Placeholder 2"/>
          <p:cNvSpPr>
            <a:spLocks noGrp="1"/>
          </p:cNvSpPr>
          <p:nvPr>
            <p:ph idx="1"/>
          </p:nvPr>
        </p:nvSpPr>
        <p:spPr>
          <a:solidFill>
            <a:schemeClr val="accent6">
              <a:lumMod val="20000"/>
              <a:lumOff val="80000"/>
            </a:schemeClr>
          </a:solidFill>
        </p:spPr>
        <p:txBody>
          <a:bodyPr>
            <a:normAutofit fontScale="85000" lnSpcReduction="10000"/>
          </a:bodyPr>
          <a:lstStyle/>
          <a:p>
            <a:pPr>
              <a:buNone/>
            </a:pPr>
            <a:r>
              <a:rPr lang="en-US" b="1" dirty="0" smtClean="0">
                <a:solidFill>
                  <a:srgbClr val="008000"/>
                </a:solidFill>
                <a:latin typeface="Times New Roman" pitchFamily="18" charset="0"/>
                <a:cs typeface="Times New Roman" pitchFamily="18" charset="0"/>
              </a:rPr>
              <a:t>6</a:t>
            </a:r>
            <a:r>
              <a:rPr lang="en-US" b="1" i="1" dirty="0" smtClean="0">
                <a:solidFill>
                  <a:srgbClr val="008000"/>
                </a:solidFill>
                <a:latin typeface="Times New Roman" pitchFamily="18" charset="0"/>
                <a:cs typeface="Times New Roman" pitchFamily="18" charset="0"/>
              </a:rPr>
              <a:t>. TO PROTECT AND IMPROVE THE NATURAL ENVIRONMENT INCLUDING FORESTS, LAKES, RIVERS AND WILDLIFE AND TO HAVE COMPASSION FOR CREATURES.</a:t>
            </a:r>
          </a:p>
          <a:p>
            <a:pPr>
              <a:buNone/>
            </a:pPr>
            <a:r>
              <a:rPr lang="en-US" b="1" i="1" dirty="0" smtClean="0">
                <a:solidFill>
                  <a:srgbClr val="FF0000"/>
                </a:solidFill>
                <a:latin typeface="Times New Roman" pitchFamily="18" charset="0"/>
                <a:cs typeface="Times New Roman" pitchFamily="18" charset="0"/>
              </a:rPr>
              <a:t>7. </a:t>
            </a:r>
            <a:r>
              <a:rPr lang="en-US" b="1" i="1" dirty="0" smtClean="0">
                <a:solidFill>
                  <a:srgbClr val="0070C0"/>
                </a:solidFill>
                <a:latin typeface="Times New Roman" pitchFamily="18" charset="0"/>
                <a:cs typeface="Times New Roman" pitchFamily="18" charset="0"/>
              </a:rPr>
              <a:t>To develop scientific temper, humanism and the spirit of inquiry and reform</a:t>
            </a:r>
          </a:p>
          <a:p>
            <a:pPr>
              <a:buNone/>
            </a:pPr>
            <a:r>
              <a:rPr lang="en-US" b="1" i="1" dirty="0" smtClean="0">
                <a:solidFill>
                  <a:srgbClr val="FF0000"/>
                </a:solidFill>
                <a:latin typeface="Times New Roman" pitchFamily="18" charset="0"/>
                <a:cs typeface="Times New Roman" pitchFamily="18" charset="0"/>
              </a:rPr>
              <a:t>8. To safeguard public property and abjure violence</a:t>
            </a:r>
          </a:p>
          <a:p>
            <a:pPr>
              <a:buNone/>
            </a:pPr>
            <a:r>
              <a:rPr lang="en-US" b="1" i="1" dirty="0" smtClean="0">
                <a:solidFill>
                  <a:srgbClr val="FF0000"/>
                </a:solidFill>
                <a:latin typeface="Times New Roman" pitchFamily="18" charset="0"/>
                <a:cs typeface="Times New Roman" pitchFamily="18" charset="0"/>
              </a:rPr>
              <a:t>9. </a:t>
            </a:r>
            <a:r>
              <a:rPr lang="en-US" b="1" i="1" dirty="0" smtClean="0">
                <a:solidFill>
                  <a:srgbClr val="0070C0"/>
                </a:solidFill>
                <a:latin typeface="Times New Roman" pitchFamily="18" charset="0"/>
                <a:cs typeface="Times New Roman" pitchFamily="18" charset="0"/>
              </a:rPr>
              <a:t>To strive towards excellence in all spheres of individuals and collective activity so that nation constantly rises to higher levels of endeavors and achievement.</a:t>
            </a:r>
          </a:p>
        </p:txBody>
      </p:sp>
      <p:sp>
        <p:nvSpPr>
          <p:cNvPr id="4" name="Date Placeholder 3"/>
          <p:cNvSpPr>
            <a:spLocks noGrp="1"/>
          </p:cNvSpPr>
          <p:nvPr>
            <p:ph type="dt" sz="half" idx="10"/>
          </p:nvPr>
        </p:nvSpPr>
        <p:spPr/>
        <p:txBody>
          <a:bodyPr/>
          <a:lstStyle/>
          <a:p>
            <a:fld id="{C5B78DA1-6DE4-4BCD-B225-64C836F96C47}" type="datetime4">
              <a:rPr lang="en-US" smtClean="0"/>
              <a:pPr/>
              <a:t>November 9, 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F8BE4994-793F-4AF4-89A3-515E9DA12016}" type="slidenum">
              <a:rPr lang="en-US" smtClean="0"/>
              <a:pPr/>
              <a:t>58</a:t>
            </a:fld>
            <a:endParaRPr lang="en-US"/>
          </a:p>
        </p:txBody>
      </p:sp>
      <p:pic>
        <p:nvPicPr>
          <p:cNvPr id="7" name="Picture 6"/>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blipFill>
            <a:blip r:embed="rId2" cstate="print"/>
            <a:tile tx="0" ty="0" sx="100000" sy="100000" flip="none" algn="tl"/>
          </a:blipFill>
        </p:spPr>
        <p:txBody>
          <a:bodyPr>
            <a:normAutofit/>
          </a:bodyPr>
          <a:lstStyle/>
          <a:p>
            <a:r>
              <a:rPr lang="en-US" b="1" dirty="0" smtClean="0">
                <a:solidFill>
                  <a:srgbClr val="0070C0"/>
                </a:solidFill>
                <a:latin typeface="Times New Roman" pitchFamily="18" charset="0"/>
                <a:cs typeface="Times New Roman" pitchFamily="18" charset="0"/>
              </a:rPr>
              <a:t>Value Education</a:t>
            </a:r>
            <a:endParaRPr lang="en-US" dirty="0"/>
          </a:p>
        </p:txBody>
      </p:sp>
      <p:sp>
        <p:nvSpPr>
          <p:cNvPr id="3" name="Content Placeholder 2"/>
          <p:cNvSpPr>
            <a:spLocks noGrp="1"/>
          </p:cNvSpPr>
          <p:nvPr>
            <p:ph idx="1"/>
          </p:nvPr>
        </p:nvSpPr>
        <p:spPr>
          <a:solidFill>
            <a:schemeClr val="accent6">
              <a:lumMod val="20000"/>
              <a:lumOff val="80000"/>
            </a:schemeClr>
          </a:solidFill>
        </p:spPr>
        <p:txBody>
          <a:bodyPr>
            <a:normAutofit lnSpcReduction="10000"/>
          </a:bodyPr>
          <a:lstStyle/>
          <a:p>
            <a:pPr>
              <a:buNone/>
            </a:pPr>
            <a:r>
              <a:rPr lang="en-US" b="1" dirty="0" smtClean="0">
                <a:latin typeface="Times New Roman" pitchFamily="18" charset="0"/>
                <a:cs typeface="Times New Roman" pitchFamily="18" charset="0"/>
              </a:rPr>
              <a:t>A Committee  was set up by </a:t>
            </a:r>
            <a:r>
              <a:rPr lang="en-US" b="1" dirty="0" err="1" smtClean="0">
                <a:latin typeface="Times New Roman" pitchFamily="18" charset="0"/>
                <a:cs typeface="Times New Roman" pitchFamily="18" charset="0"/>
              </a:rPr>
              <a:t>Shri</a:t>
            </a:r>
            <a:r>
              <a:rPr lang="en-US" b="1" dirty="0" smtClean="0">
                <a:latin typeface="Times New Roman" pitchFamily="18" charset="0"/>
                <a:cs typeface="Times New Roman" pitchFamily="18" charset="0"/>
              </a:rPr>
              <a:t> S B </a:t>
            </a:r>
            <a:r>
              <a:rPr lang="en-US" b="1" dirty="0" err="1" smtClean="0">
                <a:latin typeface="Times New Roman" pitchFamily="18" charset="0"/>
                <a:cs typeface="Times New Roman" pitchFamily="18" charset="0"/>
              </a:rPr>
              <a:t>Chavan</a:t>
            </a:r>
            <a:r>
              <a:rPr lang="en-US" b="1" dirty="0" smtClean="0">
                <a:latin typeface="Times New Roman" pitchFamily="18" charset="0"/>
                <a:cs typeface="Times New Roman" pitchFamily="18" charset="0"/>
              </a:rPr>
              <a:t> to Report the Value-Based Education, which was tabled in </a:t>
            </a:r>
            <a:r>
              <a:rPr lang="en-US" b="1" dirty="0" err="1" smtClean="0">
                <a:latin typeface="Times New Roman" pitchFamily="18" charset="0"/>
                <a:cs typeface="Times New Roman" pitchFamily="18" charset="0"/>
              </a:rPr>
              <a:t>Rajya</a:t>
            </a:r>
            <a:r>
              <a:rPr lang="en-US" b="1" dirty="0" smtClean="0">
                <a:latin typeface="Times New Roman" pitchFamily="18" charset="0"/>
                <a:cs typeface="Times New Roman" pitchFamily="18" charset="0"/>
              </a:rPr>
              <a:t> </a:t>
            </a:r>
            <a:r>
              <a:rPr lang="en-US" b="1" dirty="0" err="1" smtClean="0">
                <a:latin typeface="Times New Roman" pitchFamily="18" charset="0"/>
                <a:cs typeface="Times New Roman" pitchFamily="18" charset="0"/>
              </a:rPr>
              <a:t>Sabha</a:t>
            </a:r>
            <a:r>
              <a:rPr lang="en-US" b="1" dirty="0" smtClean="0">
                <a:latin typeface="Times New Roman" pitchFamily="18" charset="0"/>
                <a:cs typeface="Times New Roman" pitchFamily="18" charset="0"/>
              </a:rPr>
              <a:t> on February 26, 1999. The Report emphasized:</a:t>
            </a:r>
          </a:p>
          <a:p>
            <a:pPr>
              <a:buNone/>
            </a:pPr>
            <a:r>
              <a:rPr lang="en-US" b="1" i="1" dirty="0" smtClean="0">
                <a:solidFill>
                  <a:srgbClr val="0033CC"/>
                </a:solidFill>
                <a:latin typeface="Times New Roman" pitchFamily="18" charset="0"/>
                <a:cs typeface="Times New Roman" pitchFamily="18" charset="0"/>
              </a:rPr>
              <a:t>1. That </a:t>
            </a:r>
            <a:r>
              <a:rPr lang="en-US" b="1" i="1" dirty="0" smtClean="0">
                <a:solidFill>
                  <a:srgbClr val="FF0000"/>
                </a:solidFill>
                <a:latin typeface="Times New Roman" pitchFamily="18" charset="0"/>
                <a:cs typeface="Times New Roman" pitchFamily="18" charset="0"/>
              </a:rPr>
              <a:t>truth, righteous conduct, peace, love and non-violence </a:t>
            </a:r>
            <a:r>
              <a:rPr lang="en-US" b="1" i="1" dirty="0" smtClean="0">
                <a:solidFill>
                  <a:srgbClr val="0033CC"/>
                </a:solidFill>
                <a:latin typeface="Times New Roman" pitchFamily="18" charset="0"/>
                <a:cs typeface="Times New Roman" pitchFamily="18" charset="0"/>
              </a:rPr>
              <a:t>are the </a:t>
            </a:r>
            <a:r>
              <a:rPr lang="en-US" b="1" i="1" u="sng" dirty="0" smtClean="0">
                <a:solidFill>
                  <a:srgbClr val="0033CC"/>
                </a:solidFill>
                <a:latin typeface="Times New Roman" pitchFamily="18" charset="0"/>
                <a:cs typeface="Times New Roman" pitchFamily="18" charset="0"/>
              </a:rPr>
              <a:t>core values </a:t>
            </a:r>
            <a:r>
              <a:rPr lang="en-US" b="1" i="1" dirty="0" smtClean="0">
                <a:solidFill>
                  <a:srgbClr val="0033CC"/>
                </a:solidFill>
                <a:latin typeface="Times New Roman" pitchFamily="18" charset="0"/>
                <a:cs typeface="Times New Roman" pitchFamily="18" charset="0"/>
              </a:rPr>
              <a:t>which can be correlated with five major objectives of education, namely, </a:t>
            </a:r>
            <a:r>
              <a:rPr lang="en-US" b="1" i="1" dirty="0" smtClean="0">
                <a:solidFill>
                  <a:srgbClr val="FF0000"/>
                </a:solidFill>
                <a:latin typeface="Times New Roman" pitchFamily="18" charset="0"/>
                <a:cs typeface="Times New Roman" pitchFamily="18" charset="0"/>
              </a:rPr>
              <a:t>knowledge, skill, balance, vision and identity.</a:t>
            </a:r>
          </a:p>
          <a:p>
            <a:endParaRPr lang="en-US" dirty="0" smtClean="0"/>
          </a:p>
          <a:p>
            <a:endParaRPr lang="en-US" dirty="0"/>
          </a:p>
        </p:txBody>
      </p:sp>
      <p:sp>
        <p:nvSpPr>
          <p:cNvPr id="4" name="Date Placeholder 3"/>
          <p:cNvSpPr>
            <a:spLocks noGrp="1"/>
          </p:cNvSpPr>
          <p:nvPr>
            <p:ph type="dt" sz="half" idx="10"/>
          </p:nvPr>
        </p:nvSpPr>
        <p:spPr/>
        <p:txBody>
          <a:bodyPr/>
          <a:lstStyle/>
          <a:p>
            <a:fld id="{C5B78DA1-6DE4-4BCD-B225-64C836F96C47}" type="datetime4">
              <a:rPr lang="en-US" smtClean="0"/>
              <a:pPr/>
              <a:t>November 9, 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F8BE4994-793F-4AF4-89A3-515E9DA12016}" type="slidenum">
              <a:rPr lang="en-US" smtClean="0"/>
              <a:pPr/>
              <a:t>59</a:t>
            </a:fld>
            <a:endParaRPr lang="en-US" dirty="0"/>
          </a:p>
        </p:txBody>
      </p:sp>
      <p:pic>
        <p:nvPicPr>
          <p:cNvPr id="7" name="Picture 6"/>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blipFill>
            <a:blip r:embed="rId2" cstate="print"/>
            <a:tile tx="0" ty="0" sx="100000" sy="100000" flip="none" algn="tl"/>
          </a:blipFill>
        </p:spPr>
        <p:txBody>
          <a:bodyPr>
            <a:normAutofit/>
          </a:bodyPr>
          <a:lstStyle/>
          <a:p>
            <a:r>
              <a:rPr lang="en-US" b="1" dirty="0" smtClean="0">
                <a:solidFill>
                  <a:srgbClr val="0070C0"/>
                </a:solidFill>
                <a:latin typeface="Times New Roman" pitchFamily="18" charset="0"/>
                <a:cs typeface="Times New Roman" pitchFamily="18" charset="0"/>
              </a:rPr>
              <a:t>Value Education</a:t>
            </a:r>
            <a:endParaRPr lang="en-US" dirty="0">
              <a:solidFill>
                <a:srgbClr val="008000"/>
              </a:solidFill>
            </a:endParaRPr>
          </a:p>
        </p:txBody>
      </p:sp>
      <p:sp>
        <p:nvSpPr>
          <p:cNvPr id="3" name="Content Placeholder 2"/>
          <p:cNvSpPr>
            <a:spLocks noGrp="1"/>
          </p:cNvSpPr>
          <p:nvPr>
            <p:ph idx="1"/>
          </p:nvPr>
        </p:nvSpPr>
        <p:spPr>
          <a:xfrm>
            <a:off x="228600" y="1600200"/>
            <a:ext cx="8686800" cy="4724400"/>
          </a:xfrm>
          <a:solidFill>
            <a:schemeClr val="accent6">
              <a:lumMod val="20000"/>
              <a:lumOff val="80000"/>
            </a:schemeClr>
          </a:solidFill>
        </p:spPr>
        <p:txBody>
          <a:bodyPr>
            <a:normAutofit fontScale="85000" lnSpcReduction="20000"/>
          </a:bodyPr>
          <a:lstStyle/>
          <a:p>
            <a:pPr>
              <a:buNone/>
            </a:pPr>
            <a:r>
              <a:rPr lang="en-US" sz="3800" b="1" i="1" dirty="0" smtClean="0">
                <a:solidFill>
                  <a:srgbClr val="0033CC"/>
                </a:solidFill>
                <a:latin typeface="Times New Roman" pitchFamily="18" charset="0"/>
                <a:cs typeface="Times New Roman" pitchFamily="18" charset="0"/>
              </a:rPr>
              <a:t>2. Commencing from primary school level-based education should be extended to the school, college, and university level while its purview should be enlarged to provide an understanding of the </a:t>
            </a:r>
            <a:r>
              <a:rPr lang="en-US" sz="3800" b="1" i="1" dirty="0" smtClean="0">
                <a:solidFill>
                  <a:srgbClr val="FF0000"/>
                </a:solidFill>
                <a:latin typeface="Times New Roman" pitchFamily="18" charset="0"/>
                <a:cs typeface="Times New Roman" pitchFamily="18" charset="0"/>
              </a:rPr>
              <a:t>constitution, fundamental rights and duties as enshrined in the constitution of India.</a:t>
            </a:r>
          </a:p>
          <a:p>
            <a:pPr>
              <a:buNone/>
            </a:pPr>
            <a:r>
              <a:rPr lang="en-US" sz="3800" b="1" i="1" dirty="0" smtClean="0">
                <a:solidFill>
                  <a:srgbClr val="0033CC"/>
                </a:solidFill>
                <a:latin typeface="Times New Roman" pitchFamily="18" charset="0"/>
                <a:cs typeface="Times New Roman" pitchFamily="18" charset="0"/>
              </a:rPr>
              <a:t>3. That in view of the diverse character of our country, it is necessary that students should be acquainted with the </a:t>
            </a:r>
            <a:r>
              <a:rPr lang="en-US" sz="3800" b="1" i="1" dirty="0" smtClean="0">
                <a:solidFill>
                  <a:srgbClr val="FF0000"/>
                </a:solidFill>
                <a:latin typeface="Times New Roman" pitchFamily="18" charset="0"/>
                <a:cs typeface="Times New Roman" pitchFamily="18" charset="0"/>
              </a:rPr>
              <a:t>history of India’s Freedom Struggle, cultural heritage and features compromising our national identity.</a:t>
            </a:r>
          </a:p>
          <a:p>
            <a:endParaRPr lang="en-US" dirty="0"/>
          </a:p>
        </p:txBody>
      </p:sp>
      <p:sp>
        <p:nvSpPr>
          <p:cNvPr id="4" name="Date Placeholder 3"/>
          <p:cNvSpPr>
            <a:spLocks noGrp="1"/>
          </p:cNvSpPr>
          <p:nvPr>
            <p:ph type="dt" sz="half" idx="10"/>
          </p:nvPr>
        </p:nvSpPr>
        <p:spPr/>
        <p:txBody>
          <a:bodyPr/>
          <a:lstStyle/>
          <a:p>
            <a:fld id="{C5B78DA1-6DE4-4BCD-B225-64C836F96C47}" type="datetime4">
              <a:rPr lang="en-US" smtClean="0"/>
              <a:pPr/>
              <a:t>November 9, 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F8BE4994-793F-4AF4-89A3-515E9DA12016}" type="slidenum">
              <a:rPr lang="en-US" smtClean="0"/>
              <a:pPr/>
              <a:t>60</a:t>
            </a:fld>
            <a:endParaRPr lang="en-US"/>
          </a:p>
        </p:txBody>
      </p:sp>
      <p:pic>
        <p:nvPicPr>
          <p:cNvPr id="7" name="Picture 6"/>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blipFill>
            <a:blip r:embed="rId2" cstate="print"/>
            <a:tile tx="0" ty="0" sx="100000" sy="100000" flip="none" algn="tl"/>
          </a:blipFill>
        </p:spPr>
        <p:txBody>
          <a:bodyPr>
            <a:normAutofit/>
          </a:bodyPr>
          <a:lstStyle/>
          <a:p>
            <a:r>
              <a:rPr lang="en-US" b="1" dirty="0" smtClean="0">
                <a:solidFill>
                  <a:srgbClr val="0070C0"/>
                </a:solidFill>
                <a:latin typeface="Times New Roman" pitchFamily="18" charset="0"/>
                <a:cs typeface="Times New Roman" pitchFamily="18" charset="0"/>
              </a:rPr>
              <a:t>Value Education</a:t>
            </a:r>
            <a:endParaRPr lang="en-US" dirty="0"/>
          </a:p>
        </p:txBody>
      </p:sp>
      <p:sp>
        <p:nvSpPr>
          <p:cNvPr id="3" name="Content Placeholder 2"/>
          <p:cNvSpPr>
            <a:spLocks noGrp="1"/>
          </p:cNvSpPr>
          <p:nvPr>
            <p:ph idx="1"/>
          </p:nvPr>
        </p:nvSpPr>
        <p:spPr>
          <a:xfrm>
            <a:off x="152400" y="1600200"/>
            <a:ext cx="8763000" cy="4724400"/>
          </a:xfrm>
          <a:solidFill>
            <a:schemeClr val="accent6">
              <a:lumMod val="20000"/>
              <a:lumOff val="80000"/>
            </a:schemeClr>
          </a:solidFill>
        </p:spPr>
        <p:txBody>
          <a:bodyPr>
            <a:normAutofit lnSpcReduction="10000"/>
          </a:bodyPr>
          <a:lstStyle/>
          <a:p>
            <a:pPr>
              <a:buNone/>
            </a:pPr>
            <a:r>
              <a:rPr lang="en-US" b="1" i="1" dirty="0" smtClean="0">
                <a:solidFill>
                  <a:srgbClr val="0033CC"/>
                </a:solidFill>
                <a:latin typeface="Times New Roman" pitchFamily="18" charset="0"/>
                <a:cs typeface="Times New Roman" pitchFamily="18" charset="0"/>
              </a:rPr>
              <a:t>4. That due to thought should be given to the religion which is the most misused and misunderstood concept. </a:t>
            </a:r>
            <a:r>
              <a:rPr lang="en-US" b="1" i="1" u="sng" dirty="0" smtClean="0">
                <a:solidFill>
                  <a:srgbClr val="0033CC"/>
                </a:solidFill>
                <a:latin typeface="Times New Roman" pitchFamily="18" charset="0"/>
                <a:cs typeface="Times New Roman" pitchFamily="18" charset="0"/>
              </a:rPr>
              <a:t>Basics of all the religions should be taught, including values inherent therein and a comparative study of philosophy of all religions at all levels of education.</a:t>
            </a:r>
          </a:p>
          <a:p>
            <a:pPr>
              <a:buNone/>
            </a:pPr>
            <a:r>
              <a:rPr lang="en-US" b="1" dirty="0" smtClean="0">
                <a:latin typeface="Times New Roman" pitchFamily="18" charset="0"/>
                <a:cs typeface="Times New Roman" pitchFamily="18" charset="0"/>
              </a:rPr>
              <a:t>NCERT has introduced a book </a:t>
            </a:r>
            <a:r>
              <a:rPr lang="en-US" b="1" dirty="0" smtClean="0">
                <a:solidFill>
                  <a:srgbClr val="FF0000"/>
                </a:solidFill>
                <a:latin typeface="Times New Roman" pitchFamily="18" charset="0"/>
                <a:cs typeface="Times New Roman" pitchFamily="18" charset="0"/>
              </a:rPr>
              <a:t>EDUCATION IN VALUES- A SOURCE BOOK</a:t>
            </a:r>
            <a:r>
              <a:rPr lang="en-US" b="1" dirty="0" smtClean="0">
                <a:latin typeface="Times New Roman" pitchFamily="18" charset="0"/>
                <a:cs typeface="Times New Roman" pitchFamily="18" charset="0"/>
              </a:rPr>
              <a:t> on the basis of these recommendations in 1992.</a:t>
            </a:r>
          </a:p>
          <a:p>
            <a:endParaRPr lang="en-US" dirty="0"/>
          </a:p>
        </p:txBody>
      </p:sp>
      <p:sp>
        <p:nvSpPr>
          <p:cNvPr id="4" name="Date Placeholder 3"/>
          <p:cNvSpPr>
            <a:spLocks noGrp="1"/>
          </p:cNvSpPr>
          <p:nvPr>
            <p:ph type="dt" sz="half" idx="10"/>
          </p:nvPr>
        </p:nvSpPr>
        <p:spPr/>
        <p:txBody>
          <a:bodyPr/>
          <a:lstStyle/>
          <a:p>
            <a:fld id="{C5B78DA1-6DE4-4BCD-B225-64C836F96C47}" type="datetime4">
              <a:rPr lang="en-US" smtClean="0"/>
              <a:pPr/>
              <a:t>November 9, 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F8BE4994-793F-4AF4-89A3-515E9DA12016}" type="slidenum">
              <a:rPr lang="en-US" smtClean="0"/>
              <a:pPr/>
              <a:t>61</a:t>
            </a:fld>
            <a:endParaRPr lang="en-US"/>
          </a:p>
        </p:txBody>
      </p:sp>
      <p:pic>
        <p:nvPicPr>
          <p:cNvPr id="7" name="Picture 6"/>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97562"/>
          </a:xfrm>
        </p:spPr>
        <p:txBody>
          <a:bodyPr>
            <a:normAutofit/>
          </a:bodyPr>
          <a:lstStyle/>
          <a:p>
            <a:r>
              <a:rPr lang="en-US" sz="8800" b="1" dirty="0" smtClean="0">
                <a:solidFill>
                  <a:srgbClr val="0070C0"/>
                </a:solidFill>
                <a:latin typeface="Blackadder ITC" pitchFamily="82" charset="0"/>
              </a:rPr>
              <a:t>Thanks !</a:t>
            </a:r>
            <a:endParaRPr lang="en-US" sz="8800" b="1" dirty="0">
              <a:solidFill>
                <a:srgbClr val="0070C0"/>
              </a:solidFill>
              <a:latin typeface="Blackadder ITC" pitchFamily="82" charset="0"/>
            </a:endParaRPr>
          </a:p>
        </p:txBody>
      </p:sp>
      <p:pic>
        <p:nvPicPr>
          <p:cNvPr id="5122" name="Picture 2" descr="Image result for Value education"/>
          <p:cNvPicPr>
            <a:picLocks noChangeAspect="1" noChangeArrowheads="1"/>
          </p:cNvPicPr>
          <p:nvPr/>
        </p:nvPicPr>
        <p:blipFill>
          <a:blip r:embed="rId2" cstate="print"/>
          <a:srcRect/>
          <a:stretch>
            <a:fillRect/>
          </a:stretch>
        </p:blipFill>
        <p:spPr bwMode="auto">
          <a:xfrm>
            <a:off x="381000" y="304800"/>
            <a:ext cx="8305800" cy="6172200"/>
          </a:xfrm>
          <a:prstGeom prst="rect">
            <a:avLst/>
          </a:prstGeom>
          <a:noFill/>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blipFill>
            <a:blip r:embed="rId2" cstate="print"/>
            <a:tile tx="0" ty="0" sx="100000" sy="100000" flip="none" algn="tl"/>
          </a:blipFill>
        </p:spPr>
        <p:txBody>
          <a:bodyPr/>
          <a:lstStyle/>
          <a:p>
            <a:r>
              <a:rPr lang="en-US" b="1" dirty="0" smtClean="0">
                <a:solidFill>
                  <a:srgbClr val="008000"/>
                </a:solidFill>
                <a:latin typeface="Times New Roman" pitchFamily="18" charset="0"/>
                <a:cs typeface="Times New Roman" pitchFamily="18" charset="0"/>
              </a:rPr>
              <a:t>Environmental Ethics</a:t>
            </a:r>
            <a:endParaRPr lang="en-US" dirty="0">
              <a:solidFill>
                <a:srgbClr val="008000"/>
              </a:solidFill>
            </a:endParaRPr>
          </a:p>
        </p:txBody>
      </p:sp>
      <p:sp>
        <p:nvSpPr>
          <p:cNvPr id="3" name="Content Placeholder 2"/>
          <p:cNvSpPr>
            <a:spLocks noGrp="1"/>
          </p:cNvSpPr>
          <p:nvPr>
            <p:ph idx="1"/>
          </p:nvPr>
        </p:nvSpPr>
        <p:spPr>
          <a:solidFill>
            <a:schemeClr val="accent6">
              <a:lumMod val="20000"/>
              <a:lumOff val="80000"/>
            </a:schemeClr>
          </a:solidFill>
        </p:spPr>
        <p:txBody>
          <a:bodyPr>
            <a:normAutofit fontScale="55000" lnSpcReduction="20000"/>
          </a:bodyPr>
          <a:lstStyle/>
          <a:p>
            <a:pPr>
              <a:buNone/>
            </a:pPr>
            <a:r>
              <a:rPr lang="en-IN" b="1" dirty="0" smtClean="0">
                <a:latin typeface="Times New Roman" pitchFamily="18" charset="0"/>
                <a:cs typeface="Times New Roman" pitchFamily="18" charset="0"/>
              </a:rPr>
              <a:t> This covers: </a:t>
            </a:r>
          </a:p>
          <a:p>
            <a:pPr>
              <a:buNone/>
            </a:pPr>
            <a:r>
              <a:rPr lang="en-IN" b="1" dirty="0" smtClean="0">
                <a:latin typeface="Times New Roman" pitchFamily="18" charset="0"/>
                <a:cs typeface="Times New Roman" pitchFamily="18" charset="0"/>
              </a:rPr>
              <a:t>      (1) the challenge of environmental ethics to the </a:t>
            </a:r>
          </a:p>
          <a:p>
            <a:pPr>
              <a:buNone/>
            </a:pPr>
            <a:r>
              <a:rPr lang="en-IN" b="1" dirty="0" smtClean="0">
                <a:latin typeface="Times New Roman" pitchFamily="18" charset="0"/>
                <a:cs typeface="Times New Roman" pitchFamily="18" charset="0"/>
              </a:rPr>
              <a:t>            anthropocentrism (i.e., human-centeredness) </a:t>
            </a:r>
          </a:p>
          <a:p>
            <a:pPr>
              <a:buNone/>
            </a:pPr>
            <a:r>
              <a:rPr lang="en-IN" b="1" dirty="0" smtClean="0">
                <a:latin typeface="Times New Roman" pitchFamily="18" charset="0"/>
                <a:cs typeface="Times New Roman" pitchFamily="18" charset="0"/>
              </a:rPr>
              <a:t>            embedded in  traditional western ethical </a:t>
            </a:r>
          </a:p>
          <a:p>
            <a:pPr>
              <a:buNone/>
            </a:pPr>
            <a:r>
              <a:rPr lang="en-IN" b="1" dirty="0" smtClean="0">
                <a:latin typeface="Times New Roman" pitchFamily="18" charset="0"/>
                <a:cs typeface="Times New Roman" pitchFamily="18" charset="0"/>
              </a:rPr>
              <a:t>            thinking; </a:t>
            </a:r>
          </a:p>
          <a:p>
            <a:pPr>
              <a:buNone/>
            </a:pPr>
            <a:r>
              <a:rPr lang="en-IN" b="1" dirty="0" smtClean="0">
                <a:latin typeface="Times New Roman" pitchFamily="18" charset="0"/>
                <a:cs typeface="Times New Roman" pitchFamily="18" charset="0"/>
              </a:rPr>
              <a:t>      (2) the early development of the discipline in the 1960s </a:t>
            </a:r>
          </a:p>
          <a:p>
            <a:pPr>
              <a:buNone/>
            </a:pPr>
            <a:r>
              <a:rPr lang="en-IN" b="1" dirty="0" smtClean="0">
                <a:latin typeface="Times New Roman" pitchFamily="18" charset="0"/>
                <a:cs typeface="Times New Roman" pitchFamily="18" charset="0"/>
              </a:rPr>
              <a:t>            and 1970s; </a:t>
            </a:r>
          </a:p>
          <a:p>
            <a:pPr>
              <a:buNone/>
            </a:pPr>
            <a:r>
              <a:rPr lang="en-IN" b="1" dirty="0" smtClean="0">
                <a:solidFill>
                  <a:srgbClr val="0033CC"/>
                </a:solidFill>
                <a:latin typeface="Times New Roman" pitchFamily="18" charset="0"/>
                <a:cs typeface="Times New Roman" pitchFamily="18" charset="0"/>
              </a:rPr>
              <a:t>(3) the connection of deep ecology, feminist   </a:t>
            </a:r>
          </a:p>
          <a:p>
            <a:pPr>
              <a:buNone/>
            </a:pPr>
            <a:r>
              <a:rPr lang="en-IN" b="1" dirty="0" smtClean="0">
                <a:solidFill>
                  <a:srgbClr val="0033CC"/>
                </a:solidFill>
                <a:latin typeface="Times New Roman" pitchFamily="18" charset="0"/>
                <a:cs typeface="Times New Roman" pitchFamily="18" charset="0"/>
              </a:rPr>
              <a:t>       environmental ethics, and social ecology to  </a:t>
            </a:r>
          </a:p>
          <a:p>
            <a:pPr>
              <a:buNone/>
            </a:pPr>
            <a:r>
              <a:rPr lang="en-IN" b="1" dirty="0" smtClean="0">
                <a:solidFill>
                  <a:srgbClr val="0033CC"/>
                </a:solidFill>
                <a:latin typeface="Times New Roman" pitchFamily="18" charset="0"/>
                <a:cs typeface="Times New Roman" pitchFamily="18" charset="0"/>
              </a:rPr>
              <a:t>       politics; </a:t>
            </a:r>
          </a:p>
          <a:p>
            <a:pPr>
              <a:buNone/>
            </a:pPr>
            <a:r>
              <a:rPr lang="en-IN" b="1" dirty="0" smtClean="0">
                <a:solidFill>
                  <a:srgbClr val="0033CC"/>
                </a:solidFill>
                <a:latin typeface="Times New Roman" pitchFamily="18" charset="0"/>
                <a:cs typeface="Times New Roman" pitchFamily="18" charset="0"/>
              </a:rPr>
              <a:t> (4) the attempt to apply traditional ethical theories,   </a:t>
            </a:r>
          </a:p>
          <a:p>
            <a:pPr>
              <a:buNone/>
            </a:pPr>
            <a:r>
              <a:rPr lang="en-IN" b="1" dirty="0" smtClean="0">
                <a:solidFill>
                  <a:srgbClr val="0033CC"/>
                </a:solidFill>
                <a:latin typeface="Times New Roman" pitchFamily="18" charset="0"/>
                <a:cs typeface="Times New Roman" pitchFamily="18" charset="0"/>
              </a:rPr>
              <a:t>       including consequentialism, deontology, and virtue </a:t>
            </a:r>
          </a:p>
          <a:p>
            <a:pPr>
              <a:buNone/>
            </a:pPr>
            <a:r>
              <a:rPr lang="en-IN" b="1" dirty="0" smtClean="0">
                <a:solidFill>
                  <a:srgbClr val="0033CC"/>
                </a:solidFill>
                <a:latin typeface="Times New Roman" pitchFamily="18" charset="0"/>
                <a:cs typeface="Times New Roman" pitchFamily="18" charset="0"/>
              </a:rPr>
              <a:t>       ethics, to support contemporary environmental  </a:t>
            </a:r>
          </a:p>
          <a:p>
            <a:pPr>
              <a:buNone/>
            </a:pPr>
            <a:r>
              <a:rPr lang="en-IN" b="1" dirty="0" smtClean="0">
                <a:solidFill>
                  <a:srgbClr val="0033CC"/>
                </a:solidFill>
                <a:latin typeface="Times New Roman" pitchFamily="18" charset="0"/>
                <a:cs typeface="Times New Roman" pitchFamily="18" charset="0"/>
              </a:rPr>
              <a:t>       concerns; and </a:t>
            </a:r>
          </a:p>
          <a:p>
            <a:pPr>
              <a:buNone/>
            </a:pPr>
            <a:r>
              <a:rPr lang="en-IN" b="1" dirty="0" smtClean="0">
                <a:solidFill>
                  <a:srgbClr val="0033CC"/>
                </a:solidFill>
                <a:latin typeface="Times New Roman" pitchFamily="18" charset="0"/>
                <a:cs typeface="Times New Roman" pitchFamily="18" charset="0"/>
              </a:rPr>
              <a:t>(5) the focus of environmental literature on wilderness,   </a:t>
            </a:r>
          </a:p>
          <a:p>
            <a:pPr>
              <a:buNone/>
            </a:pPr>
            <a:r>
              <a:rPr lang="en-IN" b="1" dirty="0" smtClean="0">
                <a:solidFill>
                  <a:srgbClr val="0033CC"/>
                </a:solidFill>
                <a:latin typeface="Times New Roman" pitchFamily="18" charset="0"/>
                <a:cs typeface="Times New Roman" pitchFamily="18" charset="0"/>
              </a:rPr>
              <a:t>      and possible future developments of the discipline. </a:t>
            </a:r>
            <a:endParaRPr lang="en-US" dirty="0">
              <a:solidFill>
                <a:srgbClr val="0033CC"/>
              </a:solidFill>
            </a:endParaRPr>
          </a:p>
        </p:txBody>
      </p:sp>
      <p:sp>
        <p:nvSpPr>
          <p:cNvPr id="4" name="Date Placeholder 3"/>
          <p:cNvSpPr>
            <a:spLocks noGrp="1"/>
          </p:cNvSpPr>
          <p:nvPr>
            <p:ph type="dt" sz="half" idx="10"/>
          </p:nvPr>
        </p:nvSpPr>
        <p:spPr/>
        <p:txBody>
          <a:bodyPr/>
          <a:lstStyle/>
          <a:p>
            <a:fld id="{C5B78DA1-6DE4-4BCD-B225-64C836F96C47}" type="datetime4">
              <a:rPr lang="en-US" smtClean="0"/>
              <a:pPr/>
              <a:t>November 9, 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F8BE4994-793F-4AF4-89A3-515E9DA12016}" type="slidenum">
              <a:rPr lang="en-US" smtClean="0"/>
              <a:pPr/>
              <a:t>63</a:t>
            </a:fld>
            <a:endParaRPr lang="en-US"/>
          </a:p>
        </p:txBody>
      </p:sp>
      <p:pic>
        <p:nvPicPr>
          <p:cNvPr id="7" name="Picture 6"/>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4288</TotalTime>
  <Words>4511</Words>
  <Application>Microsoft Office PowerPoint</Application>
  <PresentationFormat>On-screen Show (4:3)</PresentationFormat>
  <Paragraphs>380</Paragraphs>
  <Slides>63</Slides>
  <Notes>0</Notes>
  <HiddenSlides>0</HiddenSlides>
  <MMClips>0</MMClips>
  <ScaleCrop>false</ScaleCrop>
  <HeadingPairs>
    <vt:vector size="4" baseType="variant">
      <vt:variant>
        <vt:lpstr>Theme</vt:lpstr>
      </vt:variant>
      <vt:variant>
        <vt:i4>1</vt:i4>
      </vt:variant>
      <vt:variant>
        <vt:lpstr>Slide Titles</vt:lpstr>
      </vt:variant>
      <vt:variant>
        <vt:i4>63</vt:i4>
      </vt:variant>
    </vt:vector>
  </HeadingPairs>
  <TitlesOfParts>
    <vt:vector size="64" baseType="lpstr">
      <vt:lpstr>Office Theme</vt:lpstr>
      <vt:lpstr>Environmental Ethics Issues and possible Solutions   Dr Jyoti K Sharma Professor &amp; Head Center for Environment al Sciences &amp; Engineering School of Natural Sciences SHIV NADAR UNIVERSITY </vt:lpstr>
      <vt:lpstr> Environmental Ethics: Issues and possible         Solutions</vt:lpstr>
      <vt:lpstr>Environmental Ethics</vt:lpstr>
      <vt:lpstr>Environmental Ethics</vt:lpstr>
      <vt:lpstr>Environmental Ethics</vt:lpstr>
      <vt:lpstr>Environmental Ethics</vt:lpstr>
      <vt:lpstr>Environmental Ethics</vt:lpstr>
      <vt:lpstr>Environmental Ethics</vt:lpstr>
      <vt:lpstr>Environmental Ethics</vt:lpstr>
      <vt:lpstr>Environmental Ethics</vt:lpstr>
      <vt:lpstr>Environmental Ethics</vt:lpstr>
      <vt:lpstr>Environmental Ethics</vt:lpstr>
      <vt:lpstr>Environmental Ethics</vt:lpstr>
      <vt:lpstr>Environmental Ethics</vt:lpstr>
      <vt:lpstr>Environmental Ethics</vt:lpstr>
      <vt:lpstr>Environmental Ethics</vt:lpstr>
      <vt:lpstr>Environmental Ethics</vt:lpstr>
      <vt:lpstr>Environmental Ethics</vt:lpstr>
      <vt:lpstr>Environmental Ethics</vt:lpstr>
      <vt:lpstr>Environmental Ethics</vt:lpstr>
      <vt:lpstr>Environmental Ethics</vt:lpstr>
      <vt:lpstr>Environmental Ethics</vt:lpstr>
      <vt:lpstr>Environmental Ethics</vt:lpstr>
      <vt:lpstr>Environmental Ethics</vt:lpstr>
      <vt:lpstr>Environmental Ethics</vt:lpstr>
      <vt:lpstr>Environmental Ethics</vt:lpstr>
      <vt:lpstr>Environmental Ethics</vt:lpstr>
      <vt:lpstr>Environmental Ethics</vt:lpstr>
      <vt:lpstr>Environmental Ethics</vt:lpstr>
      <vt:lpstr>Environmental Ethics</vt:lpstr>
      <vt:lpstr>Environmental Ethics</vt:lpstr>
      <vt:lpstr>Environmental Ethics</vt:lpstr>
      <vt:lpstr>Environmental Ethics</vt:lpstr>
      <vt:lpstr>Environmental Ethics</vt:lpstr>
      <vt:lpstr>Environmental Ethics</vt:lpstr>
      <vt:lpstr>Environmental Ethics</vt:lpstr>
      <vt:lpstr>Environmental Ethics</vt:lpstr>
      <vt:lpstr>Environmental Ethics</vt:lpstr>
      <vt:lpstr>Environmental Ethics</vt:lpstr>
      <vt:lpstr>Environmental Ethics</vt:lpstr>
      <vt:lpstr>VALUE EDUCATION</vt:lpstr>
      <vt:lpstr> Environmental Ethics-Value Education </vt:lpstr>
      <vt:lpstr>Value Education</vt:lpstr>
      <vt:lpstr>Slide 44</vt:lpstr>
      <vt:lpstr>Value Education</vt:lpstr>
      <vt:lpstr> Value Education </vt:lpstr>
      <vt:lpstr>Value Education</vt:lpstr>
      <vt:lpstr>Value Education</vt:lpstr>
      <vt:lpstr>Value Education</vt:lpstr>
      <vt:lpstr>Slide 50</vt:lpstr>
      <vt:lpstr>Value Education Erosion of Values</vt:lpstr>
      <vt:lpstr>Value Education</vt:lpstr>
      <vt:lpstr>Value Education</vt:lpstr>
      <vt:lpstr>Value Education</vt:lpstr>
      <vt:lpstr>Value Education</vt:lpstr>
      <vt:lpstr>Value Education</vt:lpstr>
      <vt:lpstr>Value Education</vt:lpstr>
      <vt:lpstr>Value Education</vt:lpstr>
      <vt:lpstr>Value Education</vt:lpstr>
      <vt:lpstr>Value Education</vt:lpstr>
      <vt:lpstr>Value Education</vt:lpstr>
      <vt:lpstr>Thanks !</vt:lpstr>
      <vt:lpstr>Environmental Ethics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Environmental Ethics Issues and possible Solutions   Dr Jyoti K Sharma Professor Environment al Sciences &amp; Natural Resource Management School of Natural Sciences</dc:title>
  <dc:creator>J K Sharma</dc:creator>
  <cp:lastModifiedBy>jksharma</cp:lastModifiedBy>
  <cp:revision>20</cp:revision>
  <dcterms:created xsi:type="dcterms:W3CDTF">2015-04-14T17:40:52Z</dcterms:created>
  <dcterms:modified xsi:type="dcterms:W3CDTF">2017-11-10T04:23:52Z</dcterms:modified>
</cp:coreProperties>
</file>