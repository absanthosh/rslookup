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379" r:id="rId3"/>
    <p:sldId id="362" r:id="rId4"/>
    <p:sldId id="376" r:id="rId5"/>
    <p:sldId id="383" r:id="rId6"/>
    <p:sldId id="365" r:id="rId7"/>
    <p:sldId id="366" r:id="rId8"/>
    <p:sldId id="377" r:id="rId9"/>
    <p:sldId id="364" r:id="rId10"/>
    <p:sldId id="361" r:id="rId11"/>
    <p:sldId id="369" r:id="rId12"/>
    <p:sldId id="312" r:id="rId13"/>
    <p:sldId id="378" r:id="rId14"/>
    <p:sldId id="370" r:id="rId15"/>
    <p:sldId id="316" r:id="rId16"/>
    <p:sldId id="367" r:id="rId17"/>
    <p:sldId id="384" r:id="rId18"/>
    <p:sldId id="318" r:id="rId19"/>
    <p:sldId id="327" r:id="rId20"/>
    <p:sldId id="328" r:id="rId21"/>
    <p:sldId id="329" r:id="rId22"/>
    <p:sldId id="330" r:id="rId23"/>
    <p:sldId id="331" r:id="rId24"/>
    <p:sldId id="332" r:id="rId25"/>
    <p:sldId id="333" r:id="rId26"/>
    <p:sldId id="374" r:id="rId27"/>
    <p:sldId id="375" r:id="rId28"/>
    <p:sldId id="380" r:id="rId29"/>
    <p:sldId id="334"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003399"/>
    <a:srgbClr val="0066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34"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991FA1D-7911-4DCB-AC49-9C944425BE95}" type="datetimeFigureOut">
              <a:rPr lang="en-US" smtClean="0"/>
              <a:pPr/>
              <a:t>11/13/2017</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56B9E2E-5C88-45F1-86CB-D239817AB209}" type="slidenum">
              <a:rPr lang="en-IN" smtClean="0"/>
              <a:pPr/>
              <a:t>‹#›</a:t>
            </a:fld>
            <a:endParaRPr lang="en-IN"/>
          </a:p>
        </p:txBody>
      </p:sp>
    </p:spTree>
    <p:extLst>
      <p:ext uri="{BB962C8B-B14F-4D97-AF65-F5344CB8AC3E}">
        <p14:creationId xmlns:p14="http://schemas.microsoft.com/office/powerpoint/2010/main" xmlns="" val="2225027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82F24E0F-009F-4581-9151-88894F2793BA}" type="datetime1">
              <a:rPr lang="en-IN" smtClean="0"/>
              <a:pPr/>
              <a:t>13-11-2017</a:t>
            </a:fld>
            <a:endParaRPr lang="en-IN"/>
          </a:p>
        </p:txBody>
      </p:sp>
      <p:sp>
        <p:nvSpPr>
          <p:cNvPr id="5" name="Footer Placeholder 4"/>
          <p:cNvSpPr>
            <a:spLocks noGrp="1"/>
          </p:cNvSpPr>
          <p:nvPr>
            <p:ph type="ftr" sz="quarter" idx="11"/>
          </p:nvPr>
        </p:nvSpPr>
        <p:spPr/>
        <p:txBody>
          <a:bodyPr/>
          <a:lstStyle/>
          <a:p>
            <a:r>
              <a:rPr lang="en-IN" smtClean="0"/>
              <a:t>Dr Jyoti K Sharma</a:t>
            </a:r>
            <a:endParaRPr lang="en-IN"/>
          </a:p>
        </p:txBody>
      </p:sp>
      <p:sp>
        <p:nvSpPr>
          <p:cNvPr id="6" name="Slide Number Placeholder 5"/>
          <p:cNvSpPr>
            <a:spLocks noGrp="1"/>
          </p:cNvSpPr>
          <p:nvPr>
            <p:ph type="sldNum" sz="quarter" idx="12"/>
          </p:nvPr>
        </p:nvSpPr>
        <p:spPr/>
        <p:txBody>
          <a:bodyPr/>
          <a:lstStyle/>
          <a:p>
            <a:fld id="{49DA5783-7B05-41EA-B994-A0D58367EB40}"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752294C-30C0-4924-A94E-7D712056415E}" type="datetime1">
              <a:rPr lang="en-IN" smtClean="0"/>
              <a:pPr/>
              <a:t>13-11-2017</a:t>
            </a:fld>
            <a:endParaRPr lang="en-IN"/>
          </a:p>
        </p:txBody>
      </p:sp>
      <p:sp>
        <p:nvSpPr>
          <p:cNvPr id="5" name="Footer Placeholder 4"/>
          <p:cNvSpPr>
            <a:spLocks noGrp="1"/>
          </p:cNvSpPr>
          <p:nvPr>
            <p:ph type="ftr" sz="quarter" idx="11"/>
          </p:nvPr>
        </p:nvSpPr>
        <p:spPr/>
        <p:txBody>
          <a:bodyPr/>
          <a:lstStyle/>
          <a:p>
            <a:r>
              <a:rPr lang="en-IN" smtClean="0"/>
              <a:t>Dr Jyoti K Sharma</a:t>
            </a:r>
            <a:endParaRPr lang="en-IN"/>
          </a:p>
        </p:txBody>
      </p:sp>
      <p:sp>
        <p:nvSpPr>
          <p:cNvPr id="6" name="Slide Number Placeholder 5"/>
          <p:cNvSpPr>
            <a:spLocks noGrp="1"/>
          </p:cNvSpPr>
          <p:nvPr>
            <p:ph type="sldNum" sz="quarter" idx="12"/>
          </p:nvPr>
        </p:nvSpPr>
        <p:spPr/>
        <p:txBody>
          <a:bodyPr/>
          <a:lstStyle/>
          <a:p>
            <a:fld id="{49DA5783-7B05-41EA-B994-A0D58367EB40}"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0210971-3897-49D5-9C96-D87F873567AF}" type="datetime1">
              <a:rPr lang="en-IN" smtClean="0"/>
              <a:pPr/>
              <a:t>13-11-2017</a:t>
            </a:fld>
            <a:endParaRPr lang="en-IN"/>
          </a:p>
        </p:txBody>
      </p:sp>
      <p:sp>
        <p:nvSpPr>
          <p:cNvPr id="5" name="Footer Placeholder 4"/>
          <p:cNvSpPr>
            <a:spLocks noGrp="1"/>
          </p:cNvSpPr>
          <p:nvPr>
            <p:ph type="ftr" sz="quarter" idx="11"/>
          </p:nvPr>
        </p:nvSpPr>
        <p:spPr/>
        <p:txBody>
          <a:bodyPr/>
          <a:lstStyle/>
          <a:p>
            <a:r>
              <a:rPr lang="en-IN" smtClean="0"/>
              <a:t>Dr Jyoti K Sharma</a:t>
            </a:r>
            <a:endParaRPr lang="en-IN"/>
          </a:p>
        </p:txBody>
      </p:sp>
      <p:sp>
        <p:nvSpPr>
          <p:cNvPr id="6" name="Slide Number Placeholder 5"/>
          <p:cNvSpPr>
            <a:spLocks noGrp="1"/>
          </p:cNvSpPr>
          <p:nvPr>
            <p:ph type="sldNum" sz="quarter" idx="12"/>
          </p:nvPr>
        </p:nvSpPr>
        <p:spPr/>
        <p:txBody>
          <a:bodyPr/>
          <a:lstStyle/>
          <a:p>
            <a:fld id="{49DA5783-7B05-41EA-B994-A0D58367EB40}"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E85A762D-05D9-47AC-9388-D1EB7E3458FB}" type="datetime1">
              <a:rPr lang="en-IN" smtClean="0"/>
              <a:pPr/>
              <a:t>13-11-2017</a:t>
            </a:fld>
            <a:endParaRPr lang="en-IN"/>
          </a:p>
        </p:txBody>
      </p:sp>
      <p:sp>
        <p:nvSpPr>
          <p:cNvPr id="6" name="Footer Placeholder 5"/>
          <p:cNvSpPr>
            <a:spLocks noGrp="1"/>
          </p:cNvSpPr>
          <p:nvPr>
            <p:ph type="ftr" sz="quarter" idx="11"/>
          </p:nvPr>
        </p:nvSpPr>
        <p:spPr/>
        <p:txBody>
          <a:bodyPr/>
          <a:lstStyle/>
          <a:p>
            <a:r>
              <a:rPr lang="en-IN" smtClean="0"/>
              <a:t>Dr Jyoti K Sharma</a:t>
            </a:r>
            <a:endParaRPr lang="en-IN"/>
          </a:p>
        </p:txBody>
      </p:sp>
      <p:sp>
        <p:nvSpPr>
          <p:cNvPr id="7" name="Slide Number Placeholder 6"/>
          <p:cNvSpPr>
            <a:spLocks noGrp="1"/>
          </p:cNvSpPr>
          <p:nvPr>
            <p:ph type="sldNum" sz="quarter" idx="12"/>
          </p:nvPr>
        </p:nvSpPr>
        <p:spPr/>
        <p:txBody>
          <a:bodyPr/>
          <a:lstStyle/>
          <a:p>
            <a:fld id="{49DA5783-7B05-41EA-B994-A0D58367EB40}"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6D205975-87CA-4A15-8F79-7C9CFA935B2D}" type="datetime1">
              <a:rPr lang="en-IN" smtClean="0"/>
              <a:pPr/>
              <a:t>13-11-2017</a:t>
            </a:fld>
            <a:endParaRPr lang="en-IN"/>
          </a:p>
        </p:txBody>
      </p:sp>
      <p:sp>
        <p:nvSpPr>
          <p:cNvPr id="8" name="Footer Placeholder 7"/>
          <p:cNvSpPr>
            <a:spLocks noGrp="1"/>
          </p:cNvSpPr>
          <p:nvPr>
            <p:ph type="ftr" sz="quarter" idx="11"/>
          </p:nvPr>
        </p:nvSpPr>
        <p:spPr/>
        <p:txBody>
          <a:bodyPr/>
          <a:lstStyle/>
          <a:p>
            <a:r>
              <a:rPr lang="en-IN" smtClean="0"/>
              <a:t>Dr Jyoti K Sharma</a:t>
            </a:r>
            <a:endParaRPr lang="en-IN"/>
          </a:p>
        </p:txBody>
      </p:sp>
      <p:sp>
        <p:nvSpPr>
          <p:cNvPr id="9" name="Slide Number Placeholder 8"/>
          <p:cNvSpPr>
            <a:spLocks noGrp="1"/>
          </p:cNvSpPr>
          <p:nvPr>
            <p:ph type="sldNum" sz="quarter" idx="12"/>
          </p:nvPr>
        </p:nvSpPr>
        <p:spPr/>
        <p:txBody>
          <a:bodyPr/>
          <a:lstStyle/>
          <a:p>
            <a:fld id="{49DA5783-7B05-41EA-B994-A0D58367EB40}"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B06FB686-99C4-450E-B595-1A9BB4FBE002}" type="datetime1">
              <a:rPr lang="en-IN" smtClean="0"/>
              <a:pPr/>
              <a:t>13-11-2017</a:t>
            </a:fld>
            <a:endParaRPr lang="en-IN"/>
          </a:p>
        </p:txBody>
      </p:sp>
      <p:sp>
        <p:nvSpPr>
          <p:cNvPr id="4" name="Footer Placeholder 3"/>
          <p:cNvSpPr>
            <a:spLocks noGrp="1"/>
          </p:cNvSpPr>
          <p:nvPr>
            <p:ph type="ftr" sz="quarter" idx="11"/>
          </p:nvPr>
        </p:nvSpPr>
        <p:spPr/>
        <p:txBody>
          <a:bodyPr/>
          <a:lstStyle/>
          <a:p>
            <a:r>
              <a:rPr lang="en-IN" smtClean="0"/>
              <a:t>Dr Jyoti K Sharma</a:t>
            </a:r>
            <a:endParaRPr lang="en-IN"/>
          </a:p>
        </p:txBody>
      </p:sp>
      <p:sp>
        <p:nvSpPr>
          <p:cNvPr id="5" name="Slide Number Placeholder 4"/>
          <p:cNvSpPr>
            <a:spLocks noGrp="1"/>
          </p:cNvSpPr>
          <p:nvPr>
            <p:ph type="sldNum" sz="quarter" idx="12"/>
          </p:nvPr>
        </p:nvSpPr>
        <p:spPr/>
        <p:txBody>
          <a:bodyPr/>
          <a:lstStyle/>
          <a:p>
            <a:fld id="{49DA5783-7B05-41EA-B994-A0D58367EB40}"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A58953-7E83-417D-93B7-42E5D103296B}" type="datetime1">
              <a:rPr lang="en-IN" smtClean="0"/>
              <a:pPr/>
              <a:t>13-11-2017</a:t>
            </a:fld>
            <a:endParaRPr lang="en-IN"/>
          </a:p>
        </p:txBody>
      </p:sp>
      <p:sp>
        <p:nvSpPr>
          <p:cNvPr id="3" name="Footer Placeholder 2"/>
          <p:cNvSpPr>
            <a:spLocks noGrp="1"/>
          </p:cNvSpPr>
          <p:nvPr>
            <p:ph type="ftr" sz="quarter" idx="11"/>
          </p:nvPr>
        </p:nvSpPr>
        <p:spPr/>
        <p:txBody>
          <a:bodyPr/>
          <a:lstStyle/>
          <a:p>
            <a:r>
              <a:rPr lang="en-IN" smtClean="0"/>
              <a:t>Dr Jyoti K Sharma</a:t>
            </a:r>
            <a:endParaRPr lang="en-IN"/>
          </a:p>
        </p:txBody>
      </p:sp>
      <p:sp>
        <p:nvSpPr>
          <p:cNvPr id="4" name="Slide Number Placeholder 3"/>
          <p:cNvSpPr>
            <a:spLocks noGrp="1"/>
          </p:cNvSpPr>
          <p:nvPr>
            <p:ph type="sldNum" sz="quarter" idx="12"/>
          </p:nvPr>
        </p:nvSpPr>
        <p:spPr/>
        <p:txBody>
          <a:bodyPr/>
          <a:lstStyle/>
          <a:p>
            <a:fld id="{49DA5783-7B05-41EA-B994-A0D58367EB40}"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682B42-A570-405B-8F9F-B362E7FD1DA3}" type="datetime1">
              <a:rPr lang="en-IN" smtClean="0"/>
              <a:pPr/>
              <a:t>13-11-2017</a:t>
            </a:fld>
            <a:endParaRPr lang="en-IN"/>
          </a:p>
        </p:txBody>
      </p:sp>
      <p:sp>
        <p:nvSpPr>
          <p:cNvPr id="6" name="Footer Placeholder 5"/>
          <p:cNvSpPr>
            <a:spLocks noGrp="1"/>
          </p:cNvSpPr>
          <p:nvPr>
            <p:ph type="ftr" sz="quarter" idx="11"/>
          </p:nvPr>
        </p:nvSpPr>
        <p:spPr/>
        <p:txBody>
          <a:bodyPr/>
          <a:lstStyle/>
          <a:p>
            <a:r>
              <a:rPr lang="en-IN" smtClean="0"/>
              <a:t>Dr Jyoti K Sharma</a:t>
            </a:r>
            <a:endParaRPr lang="en-IN"/>
          </a:p>
        </p:txBody>
      </p:sp>
      <p:sp>
        <p:nvSpPr>
          <p:cNvPr id="7" name="Slide Number Placeholder 6"/>
          <p:cNvSpPr>
            <a:spLocks noGrp="1"/>
          </p:cNvSpPr>
          <p:nvPr>
            <p:ph type="sldNum" sz="quarter" idx="12"/>
          </p:nvPr>
        </p:nvSpPr>
        <p:spPr/>
        <p:txBody>
          <a:bodyPr/>
          <a:lstStyle/>
          <a:p>
            <a:fld id="{49DA5783-7B05-41EA-B994-A0D58367EB40}"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7966D2D-C3EC-4D97-8FBD-327436A01430}" type="datetime1">
              <a:rPr lang="en-IN" smtClean="0"/>
              <a:pPr/>
              <a:t>13-11-2017</a:t>
            </a:fld>
            <a:endParaRPr lang="en-IN"/>
          </a:p>
        </p:txBody>
      </p:sp>
      <p:sp>
        <p:nvSpPr>
          <p:cNvPr id="6" name="Footer Placeholder 5"/>
          <p:cNvSpPr>
            <a:spLocks noGrp="1"/>
          </p:cNvSpPr>
          <p:nvPr>
            <p:ph type="ftr" sz="quarter" idx="11"/>
          </p:nvPr>
        </p:nvSpPr>
        <p:spPr/>
        <p:txBody>
          <a:bodyPr/>
          <a:lstStyle/>
          <a:p>
            <a:r>
              <a:rPr lang="en-IN" smtClean="0"/>
              <a:t>Dr Jyoti K Sharma</a:t>
            </a:r>
            <a:endParaRPr lang="en-IN"/>
          </a:p>
        </p:txBody>
      </p:sp>
      <p:sp>
        <p:nvSpPr>
          <p:cNvPr id="7" name="Slide Number Placeholder 6"/>
          <p:cNvSpPr>
            <a:spLocks noGrp="1"/>
          </p:cNvSpPr>
          <p:nvPr>
            <p:ph type="sldNum" sz="quarter" idx="12"/>
          </p:nvPr>
        </p:nvSpPr>
        <p:spPr/>
        <p:txBody>
          <a:bodyPr/>
          <a:lstStyle/>
          <a:p>
            <a:fld id="{49DA5783-7B05-41EA-B994-A0D58367EB40}"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CBDF194-85B9-4DB4-A62E-49935CCAE944}" type="datetime1">
              <a:rPr lang="en-IN" smtClean="0"/>
              <a:pPr/>
              <a:t>13-11-2017</a:t>
            </a:fld>
            <a:endParaRPr lang="en-IN"/>
          </a:p>
        </p:txBody>
      </p:sp>
      <p:sp>
        <p:nvSpPr>
          <p:cNvPr id="5" name="Footer Placeholder 4"/>
          <p:cNvSpPr>
            <a:spLocks noGrp="1"/>
          </p:cNvSpPr>
          <p:nvPr>
            <p:ph type="ftr" sz="quarter" idx="11"/>
          </p:nvPr>
        </p:nvSpPr>
        <p:spPr/>
        <p:txBody>
          <a:bodyPr/>
          <a:lstStyle/>
          <a:p>
            <a:r>
              <a:rPr lang="en-IN" smtClean="0"/>
              <a:t>Dr Jyoti K Sharma</a:t>
            </a:r>
            <a:endParaRPr lang="en-IN"/>
          </a:p>
        </p:txBody>
      </p:sp>
      <p:sp>
        <p:nvSpPr>
          <p:cNvPr id="6" name="Slide Number Placeholder 5"/>
          <p:cNvSpPr>
            <a:spLocks noGrp="1"/>
          </p:cNvSpPr>
          <p:nvPr>
            <p:ph type="sldNum" sz="quarter" idx="12"/>
          </p:nvPr>
        </p:nvSpPr>
        <p:spPr/>
        <p:txBody>
          <a:bodyPr/>
          <a:lstStyle/>
          <a:p>
            <a:fld id="{49DA5783-7B05-41EA-B994-A0D58367EB40}"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C029195-6A36-41A4-B544-409B138F44C2}" type="datetime1">
              <a:rPr lang="en-IN" smtClean="0"/>
              <a:pPr/>
              <a:t>13-11-2017</a:t>
            </a:fld>
            <a:endParaRPr lang="en-IN"/>
          </a:p>
        </p:txBody>
      </p:sp>
      <p:sp>
        <p:nvSpPr>
          <p:cNvPr id="5" name="Footer Placeholder 4"/>
          <p:cNvSpPr>
            <a:spLocks noGrp="1"/>
          </p:cNvSpPr>
          <p:nvPr>
            <p:ph type="ftr" sz="quarter" idx="11"/>
          </p:nvPr>
        </p:nvSpPr>
        <p:spPr/>
        <p:txBody>
          <a:bodyPr/>
          <a:lstStyle/>
          <a:p>
            <a:r>
              <a:rPr lang="en-IN" smtClean="0"/>
              <a:t>Dr Jyoti K Sharma</a:t>
            </a:r>
            <a:endParaRPr lang="en-IN"/>
          </a:p>
        </p:txBody>
      </p:sp>
      <p:sp>
        <p:nvSpPr>
          <p:cNvPr id="6" name="Slide Number Placeholder 5"/>
          <p:cNvSpPr>
            <a:spLocks noGrp="1"/>
          </p:cNvSpPr>
          <p:nvPr>
            <p:ph type="sldNum" sz="quarter" idx="12"/>
          </p:nvPr>
        </p:nvSpPr>
        <p:spPr/>
        <p:txBody>
          <a:bodyPr/>
          <a:lstStyle/>
          <a:p>
            <a:fld id="{49DA5783-7B05-41EA-B994-A0D58367EB40}"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8BB25B-0093-4875-A8DB-269520173B78}" type="datetime1">
              <a:rPr lang="en-IN" smtClean="0"/>
              <a:pPr/>
              <a:t>13-11-2017</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smtClean="0"/>
              <a:t>Dr Jyoti K Sharma</a:t>
            </a:r>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DA5783-7B05-41EA-B994-A0D58367EB40}"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en.wikipedia.org/wiki/Environmental_philosophy"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en.wikipedia.org/wiki/Internal_combustion_engine" TargetMode="External"/><Relationship Id="rId2" Type="http://schemas.openxmlformats.org/officeDocument/2006/relationships/hyperlink" Target="http://en.wikipedia.org/wiki/Clear_cut" TargetMode="External"/><Relationship Id="rId1" Type="http://schemas.openxmlformats.org/officeDocument/2006/relationships/slideLayout" Target="../slideLayouts/slideLayout2.xml"/><Relationship Id="rId5" Type="http://schemas.openxmlformats.org/officeDocument/2006/relationships/image" Target="../media/image1.jpeg"/><Relationship Id="rId4" Type="http://schemas.openxmlformats.org/officeDocument/2006/relationships/hyperlink" Target="http://en.wikipedia.org/wiki/Extinction"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infochangeindia.org/education/features/environmental-education-finally-finds-a-place-in-indias-school-textbooks.html"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1472" y="642919"/>
            <a:ext cx="8001056" cy="2282025"/>
          </a:xfrm>
          <a:solidFill>
            <a:schemeClr val="accent6">
              <a:lumMod val="20000"/>
              <a:lumOff val="80000"/>
            </a:schemeClr>
          </a:solidFill>
        </p:spPr>
        <p:txBody>
          <a:bodyPr>
            <a:normAutofit/>
          </a:bodyPr>
          <a:lstStyle/>
          <a:p>
            <a:r>
              <a:rPr lang="en-US" sz="4000" b="1" dirty="0" smtClean="0">
                <a:solidFill>
                  <a:srgbClr val="006600"/>
                </a:solidFill>
                <a:latin typeface="Times New Roman" pitchFamily="18" charset="0"/>
                <a:cs typeface="Times New Roman" pitchFamily="18" charset="0"/>
              </a:rPr>
              <a:t>Environmental Awareness &amp; Education</a:t>
            </a:r>
            <a:endParaRPr lang="en-IN" sz="4000" b="1" dirty="0">
              <a:solidFill>
                <a:srgbClr val="006600"/>
              </a:solidFill>
              <a:latin typeface="Times New Roman" pitchFamily="18" charset="0"/>
              <a:cs typeface="Times New Roman" pitchFamily="18" charset="0"/>
            </a:endParaRPr>
          </a:p>
        </p:txBody>
      </p:sp>
      <p:sp>
        <p:nvSpPr>
          <p:cNvPr id="3" name="Subtitle 2"/>
          <p:cNvSpPr>
            <a:spLocks noGrp="1"/>
          </p:cNvSpPr>
          <p:nvPr>
            <p:ph type="subTitle" idx="1"/>
          </p:nvPr>
        </p:nvSpPr>
        <p:spPr>
          <a:xfrm>
            <a:off x="571472" y="2852936"/>
            <a:ext cx="8001056" cy="3240360"/>
          </a:xfrm>
          <a:solidFill>
            <a:schemeClr val="accent6">
              <a:lumMod val="20000"/>
              <a:lumOff val="80000"/>
            </a:schemeClr>
          </a:solidFill>
        </p:spPr>
        <p:txBody>
          <a:bodyPr>
            <a:normAutofit lnSpcReduction="10000"/>
          </a:bodyPr>
          <a:lstStyle/>
          <a:p>
            <a:endParaRPr lang="en-US" sz="2800" b="1" dirty="0" smtClean="0">
              <a:solidFill>
                <a:schemeClr val="tx1"/>
              </a:solidFill>
            </a:endParaRPr>
          </a:p>
          <a:p>
            <a:endParaRPr lang="en-US" sz="2800" b="1" dirty="0" smtClean="0">
              <a:solidFill>
                <a:schemeClr val="tx1"/>
              </a:solidFill>
            </a:endParaRPr>
          </a:p>
          <a:p>
            <a:endParaRPr lang="en-US" sz="2800" b="1" dirty="0" smtClean="0">
              <a:solidFill>
                <a:schemeClr val="tx1"/>
              </a:solidFill>
            </a:endParaRPr>
          </a:p>
          <a:p>
            <a:r>
              <a:rPr lang="en-US" sz="2800" b="1" dirty="0" smtClean="0">
                <a:solidFill>
                  <a:schemeClr val="tx1"/>
                </a:solidFill>
                <a:latin typeface="Times New Roman" pitchFamily="18" charset="0"/>
                <a:cs typeface="Times New Roman" pitchFamily="18" charset="0"/>
              </a:rPr>
              <a:t>Dr J K Sharma</a:t>
            </a:r>
          </a:p>
          <a:p>
            <a:r>
              <a:rPr lang="en-US" sz="2600" i="1" dirty="0" smtClean="0">
                <a:solidFill>
                  <a:schemeClr val="tx1"/>
                </a:solidFill>
                <a:latin typeface="Times New Roman" pitchFamily="18" charset="0"/>
                <a:cs typeface="Times New Roman" pitchFamily="18" charset="0"/>
              </a:rPr>
              <a:t>Professor &amp; Head</a:t>
            </a:r>
            <a:endParaRPr lang="en-US" sz="2600" i="1" dirty="0" smtClean="0">
              <a:solidFill>
                <a:schemeClr val="tx1"/>
              </a:solidFill>
              <a:latin typeface="Times New Roman" pitchFamily="18" charset="0"/>
              <a:cs typeface="Times New Roman" pitchFamily="18" charset="0"/>
            </a:endParaRPr>
          </a:p>
          <a:p>
            <a:r>
              <a:rPr lang="en-US" sz="2600" b="1" smtClean="0">
                <a:solidFill>
                  <a:srgbClr val="006600"/>
                </a:solidFill>
                <a:latin typeface="Times New Roman" pitchFamily="18" charset="0"/>
                <a:cs typeface="Times New Roman" pitchFamily="18" charset="0"/>
              </a:rPr>
              <a:t>Center for Environmental </a:t>
            </a:r>
            <a:r>
              <a:rPr lang="en-US" sz="2600" b="1" dirty="0" smtClean="0">
                <a:solidFill>
                  <a:srgbClr val="006600"/>
                </a:solidFill>
                <a:latin typeface="Times New Roman" pitchFamily="18" charset="0"/>
                <a:cs typeface="Times New Roman" pitchFamily="18" charset="0"/>
              </a:rPr>
              <a:t>Sciences &amp; </a:t>
            </a:r>
            <a:r>
              <a:rPr lang="en-US" sz="2600" b="1" dirty="0" smtClean="0">
                <a:solidFill>
                  <a:srgbClr val="006600"/>
                </a:solidFill>
                <a:latin typeface="Times New Roman" pitchFamily="18" charset="0"/>
                <a:cs typeface="Times New Roman" pitchFamily="18" charset="0"/>
              </a:rPr>
              <a:t>Engineering</a:t>
            </a:r>
            <a:endParaRPr lang="en-US" sz="2600" b="1" dirty="0" smtClean="0">
              <a:solidFill>
                <a:srgbClr val="006600"/>
              </a:solidFill>
              <a:latin typeface="Times New Roman" pitchFamily="18" charset="0"/>
              <a:cs typeface="Times New Roman" pitchFamily="18" charset="0"/>
            </a:endParaRPr>
          </a:p>
          <a:p>
            <a:r>
              <a:rPr lang="en-US" sz="2600" b="1" dirty="0" smtClean="0">
                <a:solidFill>
                  <a:srgbClr val="0070C0"/>
                </a:solidFill>
                <a:latin typeface="Times New Roman" pitchFamily="18" charset="0"/>
                <a:cs typeface="Times New Roman" pitchFamily="18" charset="0"/>
              </a:rPr>
              <a:t>School of Natural Sciences</a:t>
            </a:r>
            <a:endParaRPr lang="en-IN" sz="2600" b="1" dirty="0">
              <a:solidFill>
                <a:srgbClr val="0070C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5382F44A-36B9-484A-8B52-1EE010394637}" type="datetime1">
              <a:rPr lang="en-IN" smtClean="0"/>
              <a:pPr/>
              <a:t>13-11-2017</a:t>
            </a:fld>
            <a:endParaRPr lang="en-IN"/>
          </a:p>
        </p:txBody>
      </p:sp>
      <p:sp>
        <p:nvSpPr>
          <p:cNvPr id="5" name="Slide Number Placeholder 4"/>
          <p:cNvSpPr>
            <a:spLocks noGrp="1"/>
          </p:cNvSpPr>
          <p:nvPr>
            <p:ph type="sldNum" sz="quarter" idx="12"/>
          </p:nvPr>
        </p:nvSpPr>
        <p:spPr/>
        <p:txBody>
          <a:bodyPr/>
          <a:lstStyle/>
          <a:p>
            <a:fld id="{49DA5783-7B05-41EA-B994-A0D58367EB40}" type="slidenum">
              <a:rPr lang="en-IN" smtClean="0"/>
              <a:pPr/>
              <a:t>1</a:t>
            </a:fld>
            <a:endParaRPr lang="en-IN"/>
          </a:p>
        </p:txBody>
      </p:sp>
      <p:sp>
        <p:nvSpPr>
          <p:cNvPr id="6" name="Footer Placeholder 5"/>
          <p:cNvSpPr>
            <a:spLocks noGrp="1"/>
          </p:cNvSpPr>
          <p:nvPr>
            <p:ph type="ftr" sz="quarter" idx="11"/>
          </p:nvPr>
        </p:nvSpPr>
        <p:spPr/>
        <p:txBody>
          <a:bodyPr/>
          <a:lstStyle/>
          <a:p>
            <a:r>
              <a:rPr lang="en-IN" smtClean="0"/>
              <a:t>Dr Jyoti K Sharma</a:t>
            </a:r>
            <a:endParaRPr lang="en-IN"/>
          </a:p>
        </p:txBody>
      </p:sp>
      <p:pic>
        <p:nvPicPr>
          <p:cNvPr id="7" name="Picture 6"/>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smtClean="0">
                <a:latin typeface="Times New Roman" pitchFamily="18" charset="0"/>
                <a:cs typeface="Times New Roman" pitchFamily="18" charset="0"/>
              </a:rPr>
              <a:t/>
            </a:r>
            <a:br>
              <a:rPr lang="en-US" sz="3600" b="1" dirty="0" smtClean="0">
                <a:latin typeface="Times New Roman" pitchFamily="18" charset="0"/>
                <a:cs typeface="Times New Roman" pitchFamily="18" charset="0"/>
              </a:rPr>
            </a:br>
            <a:r>
              <a:rPr lang="en-US" sz="3600" b="1" dirty="0" smtClean="0">
                <a:solidFill>
                  <a:srgbClr val="006600"/>
                </a:solidFill>
                <a:latin typeface="Times New Roman" pitchFamily="18" charset="0"/>
                <a:cs typeface="Times New Roman" pitchFamily="18" charset="0"/>
              </a:rPr>
              <a:t>Reasons </a:t>
            </a:r>
            <a:r>
              <a:rPr lang="en-US" sz="3600" b="1" dirty="0">
                <a:solidFill>
                  <a:srgbClr val="006600"/>
                </a:solidFill>
                <a:latin typeface="Times New Roman" pitchFamily="18" charset="0"/>
                <a:cs typeface="Times New Roman" pitchFamily="18" charset="0"/>
              </a:rPr>
              <a:t>to Learn About the Environment</a:t>
            </a:r>
            <a:r>
              <a:rPr lang="en-US" sz="3600" b="1" dirty="0">
                <a:latin typeface="Times New Roman" pitchFamily="18" charset="0"/>
                <a:cs typeface="Times New Roman" pitchFamily="18" charset="0"/>
              </a:rPr>
              <a:t/>
            </a:r>
            <a:br>
              <a:rPr lang="en-US" sz="3600" b="1" dirty="0">
                <a:latin typeface="Times New Roman" pitchFamily="18" charset="0"/>
                <a:cs typeface="Times New Roman" pitchFamily="18" charset="0"/>
              </a:rPr>
            </a:b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251520" y="1600200"/>
            <a:ext cx="8640960" cy="4525963"/>
          </a:xfrm>
        </p:spPr>
        <p:txBody>
          <a:bodyPr>
            <a:noAutofit/>
          </a:bodyPr>
          <a:lstStyle/>
          <a:p>
            <a:pPr fontAlgn="base">
              <a:buFont typeface="Wingdings" pitchFamily="2" charset="2"/>
              <a:buChar char="v"/>
            </a:pPr>
            <a:r>
              <a:rPr lang="en-US" sz="2400" dirty="0" smtClean="0">
                <a:latin typeface="Times New Roman" pitchFamily="18" charset="0"/>
                <a:cs typeface="Times New Roman" pitchFamily="18" charset="0"/>
              </a:rPr>
              <a:t>We </a:t>
            </a:r>
            <a:r>
              <a:rPr lang="en-US" sz="2400" dirty="0">
                <a:latin typeface="Times New Roman" pitchFamily="18" charset="0"/>
                <a:cs typeface="Times New Roman" pitchFamily="18" charset="0"/>
              </a:rPr>
              <a:t>are integrally linked with all living things on our </a:t>
            </a:r>
            <a:r>
              <a:rPr lang="en-US" sz="2400" dirty="0" smtClean="0">
                <a:latin typeface="Times New Roman" pitchFamily="18" charset="0"/>
                <a:cs typeface="Times New Roman" pitchFamily="18" charset="0"/>
              </a:rPr>
              <a:t>planet</a:t>
            </a:r>
            <a:r>
              <a:rPr lang="en-US" sz="2400" dirty="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pPr fontAlgn="base">
              <a:buFont typeface="Wingdings" pitchFamily="2" charset="2"/>
              <a:buChar char="v"/>
            </a:pPr>
            <a:r>
              <a:rPr lang="en-US" sz="2400" dirty="0" smtClean="0">
                <a:latin typeface="Times New Roman" pitchFamily="18" charset="0"/>
                <a:cs typeface="Times New Roman" pitchFamily="18" charset="0"/>
              </a:rPr>
              <a:t>However</a:t>
            </a:r>
            <a:r>
              <a:rPr lang="en-US" sz="2400" dirty="0">
                <a:latin typeface="Times New Roman" pitchFamily="18" charset="0"/>
                <a:cs typeface="Times New Roman" pitchFamily="18" charset="0"/>
              </a:rPr>
              <a:t>, recent events show </a:t>
            </a:r>
            <a:r>
              <a:rPr lang="en-US" sz="2400" dirty="0" smtClean="0">
                <a:latin typeface="Times New Roman" pitchFamily="18" charset="0"/>
                <a:cs typeface="Times New Roman" pitchFamily="18" charset="0"/>
              </a:rPr>
              <a:t>that  our </a:t>
            </a:r>
            <a:r>
              <a:rPr lang="en-US" sz="2400" dirty="0">
                <a:latin typeface="Times New Roman" pitchFamily="18" charset="0"/>
                <a:cs typeface="Times New Roman" pitchFamily="18" charset="0"/>
              </a:rPr>
              <a:t>day-today existence severely impacts the </a:t>
            </a:r>
            <a:r>
              <a:rPr lang="en-US" sz="2400" b="1" dirty="0" smtClean="0">
                <a:solidFill>
                  <a:srgbClr val="006600"/>
                </a:solidFill>
                <a:latin typeface="Times New Roman" pitchFamily="18" charset="0"/>
                <a:cs typeface="Times New Roman" pitchFamily="18" charset="0"/>
              </a:rPr>
              <a:t>Biosphere</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that </a:t>
            </a:r>
            <a:r>
              <a:rPr lang="en-US" sz="2400" dirty="0" smtClean="0">
                <a:latin typeface="Times New Roman" pitchFamily="18" charset="0"/>
                <a:cs typeface="Times New Roman" pitchFamily="18" charset="0"/>
              </a:rPr>
              <a:t>we </a:t>
            </a:r>
            <a:r>
              <a:rPr lang="en-US" sz="2400" dirty="0">
                <a:latin typeface="Times New Roman" pitchFamily="18" charset="0"/>
                <a:cs typeface="Times New Roman" pitchFamily="18" charset="0"/>
              </a:rPr>
              <a:t>share with all other organisms. </a:t>
            </a:r>
          </a:p>
          <a:p>
            <a:pPr fontAlgn="base">
              <a:buFont typeface="Wingdings" pitchFamily="2" charset="2"/>
              <a:buChar char="v"/>
            </a:pPr>
            <a:r>
              <a:rPr lang="en-US" sz="2400" b="1" dirty="0" smtClean="0">
                <a:latin typeface="Times New Roman" pitchFamily="18" charset="0"/>
                <a:cs typeface="Times New Roman" pitchFamily="18" charset="0"/>
              </a:rPr>
              <a:t>The </a:t>
            </a:r>
            <a:r>
              <a:rPr lang="en-US" sz="2400" b="1" dirty="0">
                <a:latin typeface="Times New Roman" pitchFamily="18" charset="0"/>
                <a:cs typeface="Times New Roman" pitchFamily="18" charset="0"/>
              </a:rPr>
              <a:t>study of </a:t>
            </a:r>
            <a:r>
              <a:rPr lang="en-US" sz="2400" b="1" dirty="0" smtClean="0">
                <a:solidFill>
                  <a:srgbClr val="00B050"/>
                </a:solidFill>
                <a:latin typeface="Times New Roman" pitchFamily="18" charset="0"/>
                <a:cs typeface="Times New Roman" pitchFamily="18" charset="0"/>
              </a:rPr>
              <a:t>Environment </a:t>
            </a:r>
            <a:r>
              <a:rPr lang="en-US" sz="2400" b="1" dirty="0">
                <a:latin typeface="Times New Roman" pitchFamily="18" charset="0"/>
                <a:cs typeface="Times New Roman" pitchFamily="18" charset="0"/>
              </a:rPr>
              <a:t>promotes the development of problem-solving skills. </a:t>
            </a:r>
            <a:endParaRPr lang="en-US" sz="2400" b="1" dirty="0" smtClean="0">
              <a:latin typeface="Times New Roman" pitchFamily="18" charset="0"/>
              <a:cs typeface="Times New Roman" pitchFamily="18" charset="0"/>
            </a:endParaRPr>
          </a:p>
          <a:p>
            <a:pPr fontAlgn="base">
              <a:buFont typeface="Wingdings" pitchFamily="2" charset="2"/>
              <a:buChar char="v"/>
            </a:pPr>
            <a:r>
              <a:rPr lang="en-US" sz="2400" dirty="0">
                <a:latin typeface="Times New Roman" pitchFamily="18" charset="0"/>
                <a:cs typeface="Times New Roman" pitchFamily="18" charset="0"/>
              </a:rPr>
              <a:t>There are alternatives to the way we live today. By studying about the </a:t>
            </a:r>
            <a:r>
              <a:rPr lang="en-US" sz="2400" b="1" dirty="0">
                <a:solidFill>
                  <a:srgbClr val="006600"/>
                </a:solidFill>
                <a:latin typeface="Times New Roman" pitchFamily="18" charset="0"/>
                <a:cs typeface="Times New Roman" pitchFamily="18" charset="0"/>
              </a:rPr>
              <a:t>Environment</a:t>
            </a:r>
            <a:r>
              <a:rPr lang="en-US" sz="2400" dirty="0">
                <a:latin typeface="Times New Roman" pitchFamily="18" charset="0"/>
                <a:cs typeface="Times New Roman" pitchFamily="18" charset="0"/>
              </a:rPr>
              <a:t>  we can learn </a:t>
            </a:r>
            <a:r>
              <a:rPr lang="en-US" sz="2800" b="1" dirty="0">
                <a:solidFill>
                  <a:srgbClr val="FF0000"/>
                </a:solidFill>
                <a:latin typeface="Times New Roman" pitchFamily="18" charset="0"/>
                <a:cs typeface="Times New Roman" pitchFamily="18" charset="0"/>
              </a:rPr>
              <a:t>why we need to change</a:t>
            </a:r>
            <a:r>
              <a:rPr lang="en-US" sz="2800" dirty="0">
                <a:latin typeface="Times New Roman" pitchFamily="18" charset="0"/>
                <a:cs typeface="Times New Roman" pitchFamily="18" charset="0"/>
              </a:rPr>
              <a:t>, </a:t>
            </a:r>
            <a:r>
              <a:rPr lang="en-US" sz="2800" b="1" dirty="0">
                <a:solidFill>
                  <a:srgbClr val="7030A0"/>
                </a:solidFill>
                <a:latin typeface="Times New Roman" pitchFamily="18" charset="0"/>
                <a:cs typeface="Times New Roman" pitchFamily="18" charset="0"/>
              </a:rPr>
              <a:t>what we need to change</a:t>
            </a:r>
            <a:r>
              <a:rPr lang="en-US" sz="2800" dirty="0">
                <a:latin typeface="Times New Roman" pitchFamily="18" charset="0"/>
                <a:cs typeface="Times New Roman" pitchFamily="18" charset="0"/>
              </a:rPr>
              <a:t>, and </a:t>
            </a:r>
            <a:r>
              <a:rPr lang="en-US" sz="2800" b="1" dirty="0">
                <a:solidFill>
                  <a:srgbClr val="006600"/>
                </a:solidFill>
                <a:latin typeface="Times New Roman" pitchFamily="18" charset="0"/>
                <a:cs typeface="Times New Roman" pitchFamily="18" charset="0"/>
              </a:rPr>
              <a:t>how we can change </a:t>
            </a:r>
            <a:r>
              <a:rPr lang="en-US" sz="2400" dirty="0">
                <a:latin typeface="Times New Roman" pitchFamily="18" charset="0"/>
                <a:cs typeface="Times New Roman" pitchFamily="18" charset="0"/>
              </a:rPr>
              <a:t>so that we can all live </a:t>
            </a:r>
            <a:r>
              <a:rPr lang="en-US" sz="2400" b="1" u="sng" dirty="0">
                <a:latin typeface="Times New Roman" pitchFamily="18" charset="0"/>
                <a:cs typeface="Times New Roman" pitchFamily="18" charset="0"/>
              </a:rPr>
              <a:t>in an environmentally sustainable </a:t>
            </a:r>
            <a:r>
              <a:rPr lang="en-US" sz="2400" b="1" u="sng" dirty="0" smtClean="0">
                <a:latin typeface="Times New Roman" pitchFamily="18" charset="0"/>
                <a:cs typeface="Times New Roman" pitchFamily="18" charset="0"/>
              </a:rPr>
              <a:t>way </a:t>
            </a:r>
            <a:r>
              <a:rPr lang="en-US" sz="2400" dirty="0" smtClean="0">
                <a:latin typeface="Times New Roman" pitchFamily="18" charset="0"/>
                <a:cs typeface="Times New Roman" pitchFamily="18" charset="0"/>
              </a:rPr>
              <a:t>improving </a:t>
            </a:r>
            <a:r>
              <a:rPr lang="en-US" sz="2400" dirty="0">
                <a:latin typeface="Times New Roman" pitchFamily="18" charset="0"/>
                <a:cs typeface="Times New Roman" pitchFamily="18" charset="0"/>
              </a:rPr>
              <a:t>the quality of our lives and of the planet.</a:t>
            </a:r>
          </a:p>
          <a:p>
            <a:pPr marL="0" indent="0" fontAlgn="base">
              <a:buNone/>
            </a:pPr>
            <a:endParaRPr lang="en-US" sz="2800"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CA85DE8-3CDF-4FCF-857E-F4D2B0FA7E72}" type="datetime1">
              <a:rPr lang="en-IN" smtClean="0"/>
              <a:pPr/>
              <a:t>13-11-2017</a:t>
            </a:fld>
            <a:endParaRPr lang="en-IN"/>
          </a:p>
        </p:txBody>
      </p:sp>
      <p:sp>
        <p:nvSpPr>
          <p:cNvPr id="5" name="Footer Placeholder 4"/>
          <p:cNvSpPr>
            <a:spLocks noGrp="1"/>
          </p:cNvSpPr>
          <p:nvPr>
            <p:ph type="ftr" sz="quarter" idx="11"/>
          </p:nvPr>
        </p:nvSpPr>
        <p:spPr/>
        <p:txBody>
          <a:bodyPr/>
          <a:lstStyle/>
          <a:p>
            <a:r>
              <a:rPr lang="en-IN" smtClean="0"/>
              <a:t>Dr Jyoti K Sharma</a:t>
            </a:r>
            <a:endParaRPr lang="en-IN"/>
          </a:p>
        </p:txBody>
      </p:sp>
      <p:sp>
        <p:nvSpPr>
          <p:cNvPr id="6" name="Slide Number Placeholder 5"/>
          <p:cNvSpPr>
            <a:spLocks noGrp="1"/>
          </p:cNvSpPr>
          <p:nvPr>
            <p:ph type="sldNum" sz="quarter" idx="12"/>
          </p:nvPr>
        </p:nvSpPr>
        <p:spPr/>
        <p:txBody>
          <a:bodyPr/>
          <a:lstStyle/>
          <a:p>
            <a:fld id="{D6C5837E-F6E0-453C-8D70-64F1AAD8BC05}" type="slidenum">
              <a:rPr lang="en-IN" smtClean="0"/>
              <a:pPr/>
              <a:t>2</a:t>
            </a:fld>
            <a:endParaRPr lang="en-IN"/>
          </a:p>
        </p:txBody>
      </p:sp>
    </p:spTree>
    <p:extLst>
      <p:ext uri="{BB962C8B-B14F-4D97-AF65-F5344CB8AC3E}">
        <p14:creationId xmlns:p14="http://schemas.microsoft.com/office/powerpoint/2010/main" xmlns="" val="3167259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solidFill>
                  <a:srgbClr val="006600"/>
                </a:solidFill>
                <a:latin typeface="Times New Roman" pitchFamily="18" charset="0"/>
                <a:cs typeface="Times New Roman" pitchFamily="18" charset="0"/>
              </a:rPr>
              <a:t>Environmental Ethics-Awareness</a:t>
            </a:r>
            <a:endParaRPr lang="en-IN" sz="4000" b="1" dirty="0">
              <a:solidFill>
                <a:srgbClr val="006600"/>
              </a:solidFill>
              <a:latin typeface="Times New Roman" pitchFamily="18" charset="0"/>
              <a:cs typeface="Times New Roman" pitchFamily="18" charset="0"/>
            </a:endParaRPr>
          </a:p>
        </p:txBody>
      </p:sp>
      <p:sp>
        <p:nvSpPr>
          <p:cNvPr id="3" name="Content Placeholder 2"/>
          <p:cNvSpPr>
            <a:spLocks noGrp="1"/>
          </p:cNvSpPr>
          <p:nvPr>
            <p:ph idx="1"/>
          </p:nvPr>
        </p:nvSpPr>
        <p:spPr>
          <a:xfrm>
            <a:off x="251520" y="1340768"/>
            <a:ext cx="8712968" cy="4968552"/>
          </a:xfrm>
        </p:spPr>
        <p:txBody>
          <a:bodyPr>
            <a:normAutofit/>
          </a:bodyPr>
          <a:lstStyle/>
          <a:p>
            <a:r>
              <a:rPr lang="en-IN" sz="3600" b="1" dirty="0">
                <a:latin typeface="Times New Roman" pitchFamily="18" charset="0"/>
                <a:cs typeface="Times New Roman" pitchFamily="18" charset="0"/>
              </a:rPr>
              <a:t>Environmental ethics</a:t>
            </a:r>
            <a:r>
              <a:rPr lang="en-IN" sz="3600" dirty="0">
                <a:latin typeface="Times New Roman" pitchFamily="18" charset="0"/>
                <a:cs typeface="Times New Roman" pitchFamily="18" charset="0"/>
              </a:rPr>
              <a:t> is the part of </a:t>
            </a:r>
            <a:r>
              <a:rPr lang="en-IN" sz="3600" dirty="0">
                <a:latin typeface="Times New Roman" pitchFamily="18" charset="0"/>
                <a:cs typeface="Times New Roman" pitchFamily="18" charset="0"/>
                <a:hlinkClick r:id="rId2" tooltip="Environmental philosophy"/>
              </a:rPr>
              <a:t>environmental philosophy</a:t>
            </a:r>
            <a:r>
              <a:rPr lang="en-IN" sz="3600" dirty="0">
                <a:latin typeface="Times New Roman" pitchFamily="18" charset="0"/>
                <a:cs typeface="Times New Roman" pitchFamily="18" charset="0"/>
              </a:rPr>
              <a:t> which considers extending the traditional boundaries of ethics from solely </a:t>
            </a:r>
            <a:r>
              <a:rPr lang="en-IN" sz="3600" u="sng" dirty="0">
                <a:latin typeface="Times New Roman" pitchFamily="18" charset="0"/>
                <a:cs typeface="Times New Roman" pitchFamily="18" charset="0"/>
              </a:rPr>
              <a:t>including humans to including the non-human world</a:t>
            </a:r>
            <a:r>
              <a:rPr lang="en-IN" sz="3600" u="sng" dirty="0" smtClean="0">
                <a:latin typeface="Times New Roman" pitchFamily="18" charset="0"/>
                <a:cs typeface="Times New Roman" pitchFamily="18" charset="0"/>
              </a:rPr>
              <a:t>.</a:t>
            </a:r>
            <a:endParaRPr lang="en-IN" sz="3600" u="sng" dirty="0">
              <a:latin typeface="Times New Roman" pitchFamily="18" charset="0"/>
              <a:cs typeface="Times New Roman" pitchFamily="18" charset="0"/>
            </a:endParaRPr>
          </a:p>
          <a:p>
            <a:r>
              <a:rPr lang="en-IN" sz="3600" dirty="0">
                <a:latin typeface="Times New Roman" pitchFamily="18" charset="0"/>
                <a:cs typeface="Times New Roman" pitchFamily="18" charset="0"/>
              </a:rPr>
              <a:t>There are many ethical decisions that human beings </a:t>
            </a:r>
            <a:r>
              <a:rPr lang="en-IN" sz="3600" dirty="0" smtClean="0">
                <a:latin typeface="Times New Roman" pitchFamily="18" charset="0"/>
                <a:cs typeface="Times New Roman" pitchFamily="18" charset="0"/>
              </a:rPr>
              <a:t>may have to make </a:t>
            </a:r>
            <a:r>
              <a:rPr lang="en-IN" sz="3600" dirty="0">
                <a:latin typeface="Times New Roman" pitchFamily="18" charset="0"/>
                <a:cs typeface="Times New Roman" pitchFamily="18" charset="0"/>
              </a:rPr>
              <a:t>with respect to the environment. For example</a:t>
            </a:r>
            <a:r>
              <a:rPr lang="en-IN" sz="3600" dirty="0" smtClean="0">
                <a:latin typeface="Times New Roman" pitchFamily="18" charset="0"/>
                <a:cs typeface="Times New Roman" pitchFamily="18" charset="0"/>
              </a:rPr>
              <a:t>:</a:t>
            </a:r>
          </a:p>
          <a:p>
            <a:endParaRPr lang="en-IN" dirty="0">
              <a:latin typeface="Times New Roman" pitchFamily="18" charset="0"/>
              <a:cs typeface="Times New Roman" pitchFamily="18" charset="0"/>
            </a:endParaRPr>
          </a:p>
        </p:txBody>
      </p:sp>
      <p:pic>
        <p:nvPicPr>
          <p:cNvPr id="4" name="Picture 3"/>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FCF365DC-51DC-43DF-93D6-7CB9EB1BC187}" type="datetime1">
              <a:rPr lang="en-IN" smtClean="0"/>
              <a:pPr/>
              <a:t>13-11-2017</a:t>
            </a:fld>
            <a:endParaRPr lang="en-IN"/>
          </a:p>
        </p:txBody>
      </p:sp>
      <p:sp>
        <p:nvSpPr>
          <p:cNvPr id="6" name="Slide Number Placeholder 5"/>
          <p:cNvSpPr>
            <a:spLocks noGrp="1"/>
          </p:cNvSpPr>
          <p:nvPr>
            <p:ph type="sldNum" sz="quarter" idx="12"/>
          </p:nvPr>
        </p:nvSpPr>
        <p:spPr/>
        <p:txBody>
          <a:bodyPr/>
          <a:lstStyle/>
          <a:p>
            <a:fld id="{49DA5783-7B05-41EA-B994-A0D58367EB40}" type="slidenum">
              <a:rPr lang="en-IN" smtClean="0"/>
              <a:pPr/>
              <a:t>3</a:t>
            </a:fld>
            <a:endParaRPr lang="en-IN"/>
          </a:p>
        </p:txBody>
      </p:sp>
      <p:sp>
        <p:nvSpPr>
          <p:cNvPr id="7" name="Footer Placeholder 6"/>
          <p:cNvSpPr>
            <a:spLocks noGrp="1"/>
          </p:cNvSpPr>
          <p:nvPr>
            <p:ph type="ftr" sz="quarter" idx="11"/>
          </p:nvPr>
        </p:nvSpPr>
        <p:spPr/>
        <p:txBody>
          <a:bodyPr/>
          <a:lstStyle/>
          <a:p>
            <a:r>
              <a:rPr lang="en-IN" smtClean="0"/>
              <a:t>Dr Jyoti K Sharma</a:t>
            </a:r>
            <a:endParaRPr lang="en-IN"/>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6600"/>
                </a:solidFill>
                <a:latin typeface="Times New Roman" pitchFamily="18" charset="0"/>
                <a:cs typeface="Times New Roman" pitchFamily="18" charset="0"/>
              </a:rPr>
              <a:t>Environmental Ethics-Awareness</a:t>
            </a:r>
            <a:endParaRPr lang="en-IN" dirty="0"/>
          </a:p>
        </p:txBody>
      </p:sp>
      <p:sp>
        <p:nvSpPr>
          <p:cNvPr id="3" name="Content Placeholder 2"/>
          <p:cNvSpPr>
            <a:spLocks noGrp="1"/>
          </p:cNvSpPr>
          <p:nvPr>
            <p:ph idx="1"/>
          </p:nvPr>
        </p:nvSpPr>
        <p:spPr>
          <a:xfrm>
            <a:off x="251520" y="1268760"/>
            <a:ext cx="8640960" cy="4968552"/>
          </a:xfrm>
        </p:spPr>
        <p:txBody>
          <a:bodyPr>
            <a:normAutofit fontScale="85000" lnSpcReduction="20000"/>
          </a:bodyPr>
          <a:lstStyle/>
          <a:p>
            <a:pPr lvl="0">
              <a:buFont typeface="Wingdings" pitchFamily="2" charset="2"/>
              <a:buChar char="Ø"/>
            </a:pPr>
            <a:r>
              <a:rPr lang="en-IN" i="1" dirty="0" smtClean="0">
                <a:solidFill>
                  <a:srgbClr val="003399"/>
                </a:solidFill>
                <a:latin typeface="Times New Roman" pitchFamily="18" charset="0"/>
                <a:cs typeface="Times New Roman" pitchFamily="18" charset="0"/>
              </a:rPr>
              <a:t>Should we continue to </a:t>
            </a:r>
            <a:r>
              <a:rPr lang="en-IN" i="1" dirty="0" smtClean="0">
                <a:solidFill>
                  <a:srgbClr val="003399"/>
                </a:solidFill>
                <a:latin typeface="Times New Roman" pitchFamily="18" charset="0"/>
                <a:cs typeface="Times New Roman" pitchFamily="18" charset="0"/>
                <a:hlinkClick r:id="rId2" tooltip="Clear cut"/>
              </a:rPr>
              <a:t>clear cut</a:t>
            </a:r>
            <a:r>
              <a:rPr lang="en-IN" i="1" dirty="0" smtClean="0">
                <a:solidFill>
                  <a:srgbClr val="003399"/>
                </a:solidFill>
                <a:latin typeface="Times New Roman" pitchFamily="18" charset="0"/>
                <a:cs typeface="Times New Roman" pitchFamily="18" charset="0"/>
              </a:rPr>
              <a:t> forests for the sake of human consumption , hydroelectric dams and other developmental activities?</a:t>
            </a:r>
          </a:p>
          <a:p>
            <a:pPr lvl="0">
              <a:buFont typeface="Wingdings" pitchFamily="2" charset="2"/>
              <a:buChar char="Ø"/>
            </a:pPr>
            <a:r>
              <a:rPr lang="en-IN" i="1" dirty="0" smtClean="0">
                <a:solidFill>
                  <a:srgbClr val="FF0000"/>
                </a:solidFill>
                <a:latin typeface="Times New Roman" pitchFamily="18" charset="0"/>
                <a:cs typeface="Times New Roman" pitchFamily="18" charset="0"/>
              </a:rPr>
              <a:t>Should we continue to make </a:t>
            </a:r>
            <a:r>
              <a:rPr lang="en-IN" i="1" u="sng" dirty="0" smtClean="0">
                <a:solidFill>
                  <a:srgbClr val="FF0000"/>
                </a:solidFill>
                <a:latin typeface="Times New Roman" pitchFamily="18" charset="0"/>
                <a:cs typeface="Times New Roman" pitchFamily="18" charset="0"/>
              </a:rPr>
              <a:t>diesel</a:t>
            </a:r>
            <a:r>
              <a:rPr lang="en-IN" i="1" u="sng" dirty="0" smtClean="0">
                <a:solidFill>
                  <a:srgbClr val="FF0000"/>
                </a:solidFill>
                <a:latin typeface="Times New Roman" pitchFamily="18" charset="0"/>
                <a:cs typeface="Times New Roman" pitchFamily="18" charset="0"/>
                <a:hlinkClick r:id="rId3" tooltip="Internal combustion engine"/>
              </a:rPr>
              <a:t> p</a:t>
            </a:r>
            <a:r>
              <a:rPr lang="en-IN" i="1" dirty="0" smtClean="0">
                <a:solidFill>
                  <a:srgbClr val="FF0000"/>
                </a:solidFill>
                <a:latin typeface="Times New Roman" pitchFamily="18" charset="0"/>
                <a:cs typeface="Times New Roman" pitchFamily="18" charset="0"/>
                <a:hlinkClick r:id="rId3" tooltip="Internal combustion engine"/>
              </a:rPr>
              <a:t>owered vehicles</a:t>
            </a:r>
            <a:r>
              <a:rPr lang="en-IN" i="1" dirty="0" smtClean="0">
                <a:solidFill>
                  <a:srgbClr val="FF0000"/>
                </a:solidFill>
                <a:latin typeface="Times New Roman" pitchFamily="18" charset="0"/>
                <a:cs typeface="Times New Roman" pitchFamily="18" charset="0"/>
              </a:rPr>
              <a:t> when they are so much polluting the atmosphere?</a:t>
            </a:r>
          </a:p>
          <a:p>
            <a:pPr lvl="0">
              <a:buFont typeface="Wingdings" pitchFamily="2" charset="2"/>
              <a:buChar char="Ø"/>
            </a:pPr>
            <a:r>
              <a:rPr lang="en-IN" i="1" dirty="0" smtClean="0">
                <a:solidFill>
                  <a:srgbClr val="003399"/>
                </a:solidFill>
                <a:latin typeface="Times New Roman" pitchFamily="18" charset="0"/>
                <a:cs typeface="Times New Roman" pitchFamily="18" charset="0"/>
              </a:rPr>
              <a:t>Is it right for humans to knowingly cause the </a:t>
            </a:r>
            <a:r>
              <a:rPr lang="en-IN" i="1" dirty="0" smtClean="0">
                <a:solidFill>
                  <a:srgbClr val="003399"/>
                </a:solidFill>
                <a:latin typeface="Times New Roman" pitchFamily="18" charset="0"/>
                <a:cs typeface="Times New Roman" pitchFamily="18" charset="0"/>
                <a:hlinkClick r:id="rId4" tooltip="Extinction"/>
              </a:rPr>
              <a:t>extinction</a:t>
            </a:r>
            <a:r>
              <a:rPr lang="en-IN" i="1" dirty="0" smtClean="0">
                <a:solidFill>
                  <a:srgbClr val="003399"/>
                </a:solidFill>
                <a:latin typeface="Times New Roman" pitchFamily="18" charset="0"/>
                <a:cs typeface="Times New Roman" pitchFamily="18" charset="0"/>
              </a:rPr>
              <a:t> of a species for the convenience of humanity?</a:t>
            </a:r>
          </a:p>
          <a:p>
            <a:pPr lvl="0">
              <a:buFont typeface="Wingdings" pitchFamily="2" charset="2"/>
              <a:buChar char="Ø"/>
            </a:pPr>
            <a:r>
              <a:rPr lang="en-US" i="1" dirty="0" smtClean="0">
                <a:solidFill>
                  <a:srgbClr val="FF0000"/>
                </a:solidFill>
                <a:latin typeface="Times New Roman" pitchFamily="18" charset="0"/>
                <a:cs typeface="Times New Roman" pitchFamily="18" charset="0"/>
              </a:rPr>
              <a:t>Should we clear agriculture lands for urban expansion?</a:t>
            </a:r>
          </a:p>
          <a:p>
            <a:pPr lvl="0">
              <a:buFont typeface="Wingdings" pitchFamily="2" charset="2"/>
              <a:buChar char="Ø"/>
            </a:pPr>
            <a:r>
              <a:rPr lang="en-US" i="1" dirty="0" smtClean="0">
                <a:solidFill>
                  <a:srgbClr val="FF0000"/>
                </a:solidFill>
                <a:latin typeface="Times New Roman" pitchFamily="18" charset="0"/>
                <a:cs typeface="Times New Roman" pitchFamily="18" charset="0"/>
              </a:rPr>
              <a:t>Should we convert wetlands in to agriculture lands?</a:t>
            </a:r>
          </a:p>
          <a:p>
            <a:pPr>
              <a:buFont typeface="Wingdings" pitchFamily="2" charset="2"/>
              <a:buChar char="Ø"/>
            </a:pPr>
            <a:r>
              <a:rPr lang="en-IN" i="1" dirty="0" smtClean="0">
                <a:solidFill>
                  <a:srgbClr val="003399"/>
                </a:solidFill>
                <a:latin typeface="Times New Roman" pitchFamily="18" charset="0"/>
                <a:cs typeface="Times New Roman" pitchFamily="18" charset="0"/>
              </a:rPr>
              <a:t>What environmental obligations do we need to keep for future generations?</a:t>
            </a:r>
          </a:p>
          <a:p>
            <a:pPr lvl="0">
              <a:buFont typeface="Wingdings" pitchFamily="2" charset="2"/>
              <a:buChar char="Ø"/>
            </a:pPr>
            <a:r>
              <a:rPr lang="en-US" i="1" dirty="0" smtClean="0">
                <a:solidFill>
                  <a:srgbClr val="FF0000"/>
                </a:solidFill>
                <a:latin typeface="Times New Roman" pitchFamily="18" charset="0"/>
                <a:cs typeface="Times New Roman" pitchFamily="18" charset="0"/>
              </a:rPr>
              <a:t>Should we continue pollute rivers by immersing idols in large numbers?</a:t>
            </a:r>
            <a:endParaRPr lang="en-IN" i="1" dirty="0" smtClean="0">
              <a:solidFill>
                <a:srgbClr val="FF0000"/>
              </a:solidFill>
              <a:latin typeface="Times New Roman" pitchFamily="18" charset="0"/>
              <a:cs typeface="Times New Roman" pitchFamily="18" charset="0"/>
            </a:endParaRPr>
          </a:p>
          <a:p>
            <a:endParaRPr lang="en-IN" dirty="0"/>
          </a:p>
        </p:txBody>
      </p:sp>
      <p:pic>
        <p:nvPicPr>
          <p:cNvPr id="4" name="Picture 3"/>
          <p:cNvPicPr/>
          <p:nvPr/>
        </p:nvPicPr>
        <p:blipFill>
          <a:blip r:embed="rId5"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07CEF58C-4B8B-48EA-8D95-100C849EE64E}" type="datetime1">
              <a:rPr lang="en-IN" smtClean="0"/>
              <a:pPr/>
              <a:t>13-11-2017</a:t>
            </a:fld>
            <a:endParaRPr lang="en-IN"/>
          </a:p>
        </p:txBody>
      </p:sp>
      <p:sp>
        <p:nvSpPr>
          <p:cNvPr id="6" name="Slide Number Placeholder 5"/>
          <p:cNvSpPr>
            <a:spLocks noGrp="1"/>
          </p:cNvSpPr>
          <p:nvPr>
            <p:ph type="sldNum" sz="quarter" idx="12"/>
          </p:nvPr>
        </p:nvSpPr>
        <p:spPr/>
        <p:txBody>
          <a:bodyPr/>
          <a:lstStyle/>
          <a:p>
            <a:fld id="{49DA5783-7B05-41EA-B994-A0D58367EB40}" type="slidenum">
              <a:rPr lang="en-IN" smtClean="0"/>
              <a:pPr/>
              <a:t>4</a:t>
            </a:fld>
            <a:endParaRPr lang="en-IN"/>
          </a:p>
        </p:txBody>
      </p:sp>
      <p:sp>
        <p:nvSpPr>
          <p:cNvPr id="7" name="Footer Placeholder 6"/>
          <p:cNvSpPr>
            <a:spLocks noGrp="1"/>
          </p:cNvSpPr>
          <p:nvPr>
            <p:ph type="ftr" sz="quarter" idx="11"/>
          </p:nvPr>
        </p:nvSpPr>
        <p:spPr/>
        <p:txBody>
          <a:bodyPr/>
          <a:lstStyle/>
          <a:p>
            <a:r>
              <a:rPr lang="en-IN" smtClean="0"/>
              <a:t>Dr Jyoti K Sharma</a:t>
            </a: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sz="4000" b="1" dirty="0" smtClean="0">
                <a:solidFill>
                  <a:srgbClr val="006600"/>
                </a:solidFill>
                <a:latin typeface="Times New Roman" pitchFamily="18" charset="0"/>
                <a:cs typeface="Times New Roman" pitchFamily="18" charset="0"/>
              </a:rPr>
              <a:t>Environmental Awareness</a:t>
            </a:r>
            <a:endParaRPr lang="en-US" sz="4000" b="1" dirty="0">
              <a:solidFill>
                <a:srgbClr val="006600"/>
              </a:solidFill>
              <a:latin typeface="Times New Roman" pitchFamily="18" charset="0"/>
              <a:cs typeface="Times New Roman" pitchFamily="18" charset="0"/>
            </a:endParaRPr>
          </a:p>
        </p:txBody>
      </p:sp>
      <p:pic>
        <p:nvPicPr>
          <p:cNvPr id="4"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1520" y="1196752"/>
            <a:ext cx="5295900" cy="35718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3" name="Date Placeholder 2"/>
          <p:cNvSpPr>
            <a:spLocks noGrp="1"/>
          </p:cNvSpPr>
          <p:nvPr>
            <p:ph type="dt" sz="half" idx="10"/>
          </p:nvPr>
        </p:nvSpPr>
        <p:spPr/>
        <p:txBody>
          <a:bodyPr/>
          <a:lstStyle/>
          <a:p>
            <a:fld id="{0097E781-B962-47B0-A3AB-C9357DDF7C8D}" type="datetime1">
              <a:rPr lang="en-IN" smtClean="0"/>
              <a:pPr/>
              <a:t>13-11-2017</a:t>
            </a:fld>
            <a:endParaRPr lang="en-IN"/>
          </a:p>
        </p:txBody>
      </p:sp>
      <p:sp>
        <p:nvSpPr>
          <p:cNvPr id="5" name="Footer Placeholder 4"/>
          <p:cNvSpPr>
            <a:spLocks noGrp="1"/>
          </p:cNvSpPr>
          <p:nvPr>
            <p:ph type="ftr" sz="quarter" idx="11"/>
          </p:nvPr>
        </p:nvSpPr>
        <p:spPr/>
        <p:txBody>
          <a:bodyPr/>
          <a:lstStyle/>
          <a:p>
            <a:r>
              <a:rPr lang="en-IN" smtClean="0"/>
              <a:t>Dr Jyoti K Sharma</a:t>
            </a:r>
            <a:endParaRPr lang="en-IN"/>
          </a:p>
        </p:txBody>
      </p:sp>
      <p:sp>
        <p:nvSpPr>
          <p:cNvPr id="6" name="Slide Number Placeholder 5"/>
          <p:cNvSpPr>
            <a:spLocks noGrp="1"/>
          </p:cNvSpPr>
          <p:nvPr>
            <p:ph type="sldNum" sz="quarter" idx="12"/>
          </p:nvPr>
        </p:nvSpPr>
        <p:spPr/>
        <p:txBody>
          <a:bodyPr/>
          <a:lstStyle/>
          <a:p>
            <a:fld id="{D6C5837E-F6E0-453C-8D70-64F1AAD8BC05}" type="slidenum">
              <a:rPr lang="en-IN" smtClean="0"/>
              <a:pPr/>
              <a:t>5</a:t>
            </a:fld>
            <a:endParaRPr lang="en-IN"/>
          </a:p>
        </p:txBody>
      </p:sp>
      <p:sp>
        <p:nvSpPr>
          <p:cNvPr id="7" name="Rectangle 6"/>
          <p:cNvSpPr/>
          <p:nvPr/>
        </p:nvSpPr>
        <p:spPr>
          <a:xfrm>
            <a:off x="378325" y="4929779"/>
            <a:ext cx="8442147" cy="461665"/>
          </a:xfrm>
          <a:prstGeom prst="rect">
            <a:avLst/>
          </a:prstGeom>
        </p:spPr>
        <p:txBody>
          <a:bodyPr wrap="square">
            <a:spAutoFit/>
          </a:bodyPr>
          <a:lstStyle/>
          <a:p>
            <a:r>
              <a:rPr lang="en-US" sz="2400" b="1" dirty="0" smtClean="0">
                <a:latin typeface="Times New Roman" pitchFamily="18" charset="0"/>
                <a:cs typeface="Times New Roman" pitchFamily="18" charset="0"/>
              </a:rPr>
              <a:t>.</a:t>
            </a:r>
            <a:endParaRPr lang="en-US" sz="2400" b="1" dirty="0">
              <a:latin typeface="Times New Roman" pitchFamily="18" charset="0"/>
              <a:cs typeface="Times New Roman" pitchFamily="18" charset="0"/>
            </a:endParaRPr>
          </a:p>
        </p:txBody>
      </p:sp>
      <p:sp>
        <p:nvSpPr>
          <p:cNvPr id="9" name="TextBox 8"/>
          <p:cNvSpPr txBox="1"/>
          <p:nvPr/>
        </p:nvSpPr>
        <p:spPr>
          <a:xfrm>
            <a:off x="5724128" y="1052736"/>
            <a:ext cx="3096344" cy="4031873"/>
          </a:xfrm>
          <a:prstGeom prst="rect">
            <a:avLst/>
          </a:prstGeom>
          <a:noFill/>
        </p:spPr>
        <p:txBody>
          <a:bodyPr wrap="square" rtlCol="0">
            <a:spAutoFit/>
          </a:bodyPr>
          <a:lstStyle/>
          <a:p>
            <a:r>
              <a:rPr lang="en-US" sz="2000" b="1" dirty="0">
                <a:latin typeface="Times New Roman" pitchFamily="18" charset="0"/>
                <a:cs typeface="Times New Roman" pitchFamily="18" charset="0"/>
              </a:rPr>
              <a:t>It is extremely important that each individual realize his/her responsibility for preserving the environment, to make it a part of daily life, create the same attitude in their families, and spread it to the </a:t>
            </a:r>
            <a:r>
              <a:rPr lang="en-US" sz="2000" b="1" dirty="0" smtClean="0">
                <a:latin typeface="Times New Roman" pitchFamily="18" charset="0"/>
                <a:cs typeface="Times New Roman" pitchFamily="18" charset="0"/>
              </a:rPr>
              <a:t>community – </a:t>
            </a:r>
            <a:r>
              <a:rPr lang="en-US" sz="2800" b="1" dirty="0" smtClean="0">
                <a:solidFill>
                  <a:srgbClr val="006600"/>
                </a:solidFill>
                <a:latin typeface="Times New Roman" pitchFamily="18" charset="0"/>
                <a:cs typeface="Times New Roman" pitchFamily="18" charset="0"/>
              </a:rPr>
              <a:t>Environmental Ethics</a:t>
            </a:r>
            <a:endParaRPr lang="en-US" sz="2800" dirty="0">
              <a:solidFill>
                <a:srgbClr val="006600"/>
              </a:solidFill>
            </a:endParaRPr>
          </a:p>
        </p:txBody>
      </p:sp>
      <p:sp>
        <p:nvSpPr>
          <p:cNvPr id="10" name="TextBox 9"/>
          <p:cNvSpPr txBox="1"/>
          <p:nvPr/>
        </p:nvSpPr>
        <p:spPr>
          <a:xfrm>
            <a:off x="251520" y="5160611"/>
            <a:ext cx="8712968" cy="1569660"/>
          </a:xfrm>
          <a:prstGeom prst="rect">
            <a:avLst/>
          </a:prstGeom>
          <a:noFill/>
        </p:spPr>
        <p:txBody>
          <a:bodyPr wrap="square" rtlCol="0">
            <a:spAutoFit/>
          </a:bodyPr>
          <a:lstStyle/>
          <a:p>
            <a:pPr lvl="0"/>
            <a:r>
              <a:rPr lang="en-US" sz="2400" b="1" i="1" dirty="0" smtClean="0">
                <a:solidFill>
                  <a:srgbClr val="FF0000"/>
                </a:solidFill>
                <a:latin typeface="Times New Roman" pitchFamily="18" charset="0"/>
                <a:cs typeface="Times New Roman" pitchFamily="18" charset="0"/>
              </a:rPr>
              <a:t>Environmental </a:t>
            </a:r>
            <a:r>
              <a:rPr lang="en-US" sz="2400" b="1" i="1" dirty="0">
                <a:solidFill>
                  <a:srgbClr val="FF0000"/>
                </a:solidFill>
                <a:latin typeface="Times New Roman" pitchFamily="18" charset="0"/>
                <a:cs typeface="Times New Roman" pitchFamily="18" charset="0"/>
              </a:rPr>
              <a:t>Awareness </a:t>
            </a:r>
            <a:r>
              <a:rPr lang="en-US" sz="2400" b="1" dirty="0">
                <a:solidFill>
                  <a:prstClr val="black"/>
                </a:solidFill>
                <a:latin typeface="Times New Roman" pitchFamily="18" charset="0"/>
                <a:cs typeface="Times New Roman" pitchFamily="18" charset="0"/>
              </a:rPr>
              <a:t>is important because it helps </a:t>
            </a:r>
            <a:r>
              <a:rPr lang="en-US" sz="2400" b="1" dirty="0">
                <a:solidFill>
                  <a:srgbClr val="FF0000"/>
                </a:solidFill>
                <a:latin typeface="Times New Roman" pitchFamily="18" charset="0"/>
                <a:cs typeface="Times New Roman" pitchFamily="18" charset="0"/>
              </a:rPr>
              <a:t>to spread </a:t>
            </a:r>
            <a:r>
              <a:rPr lang="en-US" sz="2400" b="1" dirty="0" smtClean="0">
                <a:solidFill>
                  <a:prstClr val="black"/>
                </a:solidFill>
                <a:latin typeface="Times New Roman" pitchFamily="18" charset="0"/>
                <a:cs typeface="Times New Roman" pitchFamily="18" charset="0"/>
              </a:rPr>
              <a:t>environmental </a:t>
            </a:r>
            <a:r>
              <a:rPr lang="en-US" sz="2400" b="1" dirty="0">
                <a:solidFill>
                  <a:prstClr val="black"/>
                </a:solidFill>
                <a:latin typeface="Times New Roman" pitchFamily="18" charset="0"/>
                <a:cs typeface="Times New Roman" pitchFamily="18" charset="0"/>
              </a:rPr>
              <a:t>education, especially in the non-formal system among different sections of the society. </a:t>
            </a:r>
            <a:r>
              <a:rPr lang="en-US" sz="2400" b="1" dirty="0"/>
              <a:t/>
            </a:r>
            <a:br>
              <a:rPr lang="en-US" sz="2400" b="1" dirty="0"/>
            </a:br>
            <a:endParaRPr lang="en-US" sz="2400" b="1" dirty="0"/>
          </a:p>
        </p:txBody>
      </p:sp>
      <p:pic>
        <p:nvPicPr>
          <p:cNvPr id="11" name="Picture 10"/>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extLst>
      <p:ext uri="{BB962C8B-B14F-4D97-AF65-F5344CB8AC3E}">
        <p14:creationId xmlns:p14="http://schemas.microsoft.com/office/powerpoint/2010/main" xmlns="" val="1092140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6600"/>
                </a:solidFill>
                <a:latin typeface="Times New Roman" pitchFamily="18" charset="0"/>
                <a:cs typeface="Times New Roman" pitchFamily="18" charset="0"/>
              </a:rPr>
              <a:t>Environmental Education</a:t>
            </a:r>
            <a:br>
              <a:rPr lang="en-US" b="1" dirty="0" smtClean="0">
                <a:solidFill>
                  <a:srgbClr val="006600"/>
                </a:solidFill>
                <a:latin typeface="Times New Roman" pitchFamily="18" charset="0"/>
                <a:cs typeface="Times New Roman" pitchFamily="18" charset="0"/>
              </a:rPr>
            </a:br>
            <a:endParaRPr lang="en-US" dirty="0"/>
          </a:p>
        </p:txBody>
      </p:sp>
      <p:sp>
        <p:nvSpPr>
          <p:cNvPr id="3" name="Content Placeholder 2"/>
          <p:cNvSpPr>
            <a:spLocks noGrp="1"/>
          </p:cNvSpPr>
          <p:nvPr>
            <p:ph idx="1"/>
          </p:nvPr>
        </p:nvSpPr>
        <p:spPr>
          <a:xfrm>
            <a:off x="457200" y="1219200"/>
            <a:ext cx="8229600" cy="4906963"/>
          </a:xfrm>
        </p:spPr>
        <p:txBody>
          <a:bodyPr>
            <a:normAutofit lnSpcReduction="10000"/>
          </a:bodyPr>
          <a:lstStyle/>
          <a:p>
            <a:pPr>
              <a:buNone/>
            </a:pPr>
            <a:r>
              <a:rPr lang="en-US" sz="3600" b="1" dirty="0" smtClean="0">
                <a:latin typeface="Times New Roman" pitchFamily="18" charset="0"/>
                <a:cs typeface="Times New Roman" pitchFamily="18" charset="0"/>
              </a:rPr>
              <a:t>A </a:t>
            </a:r>
            <a:r>
              <a:rPr lang="en-US" sz="3600" b="1" dirty="0" smtClean="0">
                <a:solidFill>
                  <a:srgbClr val="0033CC"/>
                </a:solidFill>
                <a:latin typeface="Times New Roman" pitchFamily="18" charset="0"/>
                <a:cs typeface="Times New Roman" pitchFamily="18" charset="0"/>
              </a:rPr>
              <a:t>better understanding of our environment </a:t>
            </a:r>
            <a:r>
              <a:rPr lang="en-US" sz="3600" b="1" dirty="0" smtClean="0">
                <a:latin typeface="Times New Roman" pitchFamily="18" charset="0"/>
                <a:cs typeface="Times New Roman" pitchFamily="18" charset="0"/>
              </a:rPr>
              <a:t>is indispensable for its rational management </a:t>
            </a:r>
          </a:p>
          <a:p>
            <a:pPr>
              <a:buNone/>
            </a:pPr>
            <a:r>
              <a:rPr lang="en-US" sz="3600" b="1" dirty="0" smtClean="0">
                <a:latin typeface="Times New Roman" pitchFamily="18" charset="0"/>
                <a:cs typeface="Times New Roman" pitchFamily="18" charset="0"/>
              </a:rPr>
              <a:t>because ……</a:t>
            </a:r>
          </a:p>
          <a:p>
            <a:pPr>
              <a:buNone/>
            </a:pPr>
            <a:r>
              <a:rPr lang="en-US" sz="3600" b="1" dirty="0" smtClean="0">
                <a:latin typeface="Times New Roman" pitchFamily="18" charset="0"/>
                <a:cs typeface="Times New Roman" pitchFamily="18" charset="0"/>
              </a:rPr>
              <a:t>it would enable us to comprehend the environment’s resilience to man’s action and the maximum potential it may offer for sustained development of mankind.</a:t>
            </a:r>
          </a:p>
          <a:p>
            <a:endParaRPr lang="en-US" dirty="0"/>
          </a:p>
        </p:txBody>
      </p:sp>
      <p:sp>
        <p:nvSpPr>
          <p:cNvPr id="4" name="Date Placeholder 3"/>
          <p:cNvSpPr>
            <a:spLocks noGrp="1"/>
          </p:cNvSpPr>
          <p:nvPr>
            <p:ph type="dt" sz="half" idx="10"/>
          </p:nvPr>
        </p:nvSpPr>
        <p:spPr/>
        <p:txBody>
          <a:bodyPr/>
          <a:lstStyle/>
          <a:p>
            <a:fld id="{97034442-DC4E-4428-8B30-A9D0CA31ADF5}" type="datetime1">
              <a:rPr lang="en-IN" smtClean="0"/>
              <a:pPr/>
              <a:t>13-11-2017</a:t>
            </a:fld>
            <a:endParaRPr lang="en-IN"/>
          </a:p>
        </p:txBody>
      </p:sp>
      <p:sp>
        <p:nvSpPr>
          <p:cNvPr id="5" name="Footer Placeholder 4"/>
          <p:cNvSpPr>
            <a:spLocks noGrp="1"/>
          </p:cNvSpPr>
          <p:nvPr>
            <p:ph type="ftr" sz="quarter" idx="11"/>
          </p:nvPr>
        </p:nvSpPr>
        <p:spPr/>
        <p:txBody>
          <a:bodyPr/>
          <a:lstStyle/>
          <a:p>
            <a:r>
              <a:rPr lang="en-IN" smtClean="0"/>
              <a:t>Dr Jyoti K Sharma</a:t>
            </a:r>
            <a:endParaRPr lang="en-IN"/>
          </a:p>
        </p:txBody>
      </p:sp>
      <p:sp>
        <p:nvSpPr>
          <p:cNvPr id="6" name="Slide Number Placeholder 5"/>
          <p:cNvSpPr>
            <a:spLocks noGrp="1"/>
          </p:cNvSpPr>
          <p:nvPr>
            <p:ph type="sldNum" sz="quarter" idx="12"/>
          </p:nvPr>
        </p:nvSpPr>
        <p:spPr/>
        <p:txBody>
          <a:bodyPr/>
          <a:lstStyle/>
          <a:p>
            <a:fld id="{D6C5837E-F6E0-453C-8D70-64F1AAD8BC05}" type="slidenum">
              <a:rPr lang="en-IN" smtClean="0"/>
              <a:pPr/>
              <a:t>6</a:t>
            </a:fld>
            <a:endParaRPr lang="en-IN" dirty="0"/>
          </a:p>
        </p:txBody>
      </p:sp>
      <p:pic>
        <p:nvPicPr>
          <p:cNvPr id="7" name="Picture 6"/>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ChangeArrowheads="1"/>
          </p:cNvSpPr>
          <p:nvPr/>
        </p:nvSpPr>
        <p:spPr bwMode="auto">
          <a:xfrm>
            <a:off x="539552" y="457200"/>
            <a:ext cx="8208912" cy="5232202"/>
          </a:xfrm>
          <a:prstGeom prst="rect">
            <a:avLst/>
          </a:prstGeom>
          <a:noFill/>
          <a:ln w="9525">
            <a:noFill/>
            <a:miter lim="800000"/>
            <a:headEnd/>
            <a:tailEnd/>
          </a:ln>
        </p:spPr>
        <p:txBody>
          <a:bodyPr wrap="square" lIns="0" tIns="0" rIns="0" bIns="0">
            <a:spAutoFit/>
          </a:bodyPr>
          <a:lstStyle/>
          <a:p>
            <a:pPr indent="-342900" algn="ctr">
              <a:tabLst>
                <a:tab pos="342900" algn="l"/>
              </a:tabLst>
            </a:pPr>
            <a:r>
              <a:rPr lang="en-US" sz="2400" b="1" dirty="0" smtClean="0">
                <a:solidFill>
                  <a:srgbClr val="C00000"/>
                </a:solidFill>
                <a:effectLst/>
                <a:latin typeface="Times New Roman" pitchFamily="18" charset="0"/>
                <a:cs typeface="Times New Roman" pitchFamily="18" charset="0"/>
              </a:rPr>
              <a:t> </a:t>
            </a:r>
            <a:r>
              <a:rPr lang="en-US" sz="3600" b="1" dirty="0">
                <a:solidFill>
                  <a:srgbClr val="006600"/>
                </a:solidFill>
                <a:effectLst/>
                <a:latin typeface="Times New Roman" pitchFamily="18" charset="0"/>
                <a:cs typeface="Times New Roman" pitchFamily="18" charset="0"/>
              </a:rPr>
              <a:t>ENVIRONMENTAL </a:t>
            </a:r>
            <a:r>
              <a:rPr lang="en-US" sz="3600" b="1" dirty="0" smtClean="0">
                <a:solidFill>
                  <a:srgbClr val="006600"/>
                </a:solidFill>
                <a:effectLst/>
                <a:latin typeface="Times New Roman" pitchFamily="18" charset="0"/>
                <a:cs typeface="Times New Roman" pitchFamily="18" charset="0"/>
              </a:rPr>
              <a:t>EDUCATION</a:t>
            </a:r>
          </a:p>
          <a:p>
            <a:pPr indent="-342900" algn="ctr">
              <a:tabLst>
                <a:tab pos="342900" algn="l"/>
              </a:tabLst>
            </a:pPr>
            <a:endParaRPr lang="en-US" sz="3200" b="1" dirty="0">
              <a:solidFill>
                <a:srgbClr val="006600"/>
              </a:solidFill>
              <a:effectLst/>
              <a:latin typeface="Times New Roman" pitchFamily="18" charset="0"/>
              <a:cs typeface="Times New Roman" pitchFamily="18" charset="0"/>
            </a:endParaRPr>
          </a:p>
          <a:p>
            <a:pPr indent="-342900" eaLnBrk="0" hangingPunct="0">
              <a:tabLst>
                <a:tab pos="342900" algn="l"/>
              </a:tabLst>
            </a:pPr>
            <a:r>
              <a:rPr lang="en-US" sz="1200" dirty="0">
                <a:solidFill>
                  <a:srgbClr val="FFFF00"/>
                </a:solidFill>
                <a:effectLst/>
                <a:latin typeface="Times New Roman" pitchFamily="18" charset="0"/>
                <a:cs typeface="Times New Roman" pitchFamily="18" charset="0"/>
              </a:rPr>
              <a:t> </a:t>
            </a:r>
          </a:p>
          <a:p>
            <a:pPr indent="-342900" algn="just" eaLnBrk="0" hangingPunct="0">
              <a:tabLst>
                <a:tab pos="342900" algn="l"/>
              </a:tabLst>
            </a:pPr>
            <a:r>
              <a:rPr lang="en-US" sz="1200" dirty="0">
                <a:solidFill>
                  <a:srgbClr val="FFFF00"/>
                </a:solidFill>
                <a:effectLst/>
                <a:latin typeface="Times New Roman" pitchFamily="18" charset="0"/>
                <a:cs typeface="Times New Roman" pitchFamily="18" charset="0"/>
              </a:rPr>
              <a:t>·</a:t>
            </a:r>
            <a:r>
              <a:rPr lang="en-US" sz="2400" b="1" dirty="0">
                <a:effectLst/>
                <a:latin typeface="Times New Roman" pitchFamily="18" charset="0"/>
                <a:cs typeface="Times New Roman" pitchFamily="18" charset="0"/>
              </a:rPr>
              <a:t> </a:t>
            </a:r>
            <a:r>
              <a:rPr lang="en-US" sz="3600" b="1" dirty="0" smtClean="0">
                <a:effectLst/>
                <a:latin typeface="Times New Roman" pitchFamily="18" charset="0"/>
                <a:cs typeface="Times New Roman" pitchFamily="18" charset="0"/>
              </a:rPr>
              <a:t>The </a:t>
            </a:r>
            <a:r>
              <a:rPr lang="en-US" sz="3600" b="1" dirty="0">
                <a:effectLst/>
                <a:latin typeface="Times New Roman" pitchFamily="18" charset="0"/>
                <a:cs typeface="Times New Roman" pitchFamily="18" charset="0"/>
              </a:rPr>
              <a:t>protection of environment is a matter of national concern to all of us and </a:t>
            </a:r>
            <a:r>
              <a:rPr lang="en-US" sz="3600" b="1" dirty="0">
                <a:solidFill>
                  <a:srgbClr val="FF0000"/>
                </a:solidFill>
                <a:effectLst/>
                <a:latin typeface="Times New Roman" pitchFamily="18" charset="0"/>
                <a:cs typeface="Times New Roman" pitchFamily="18" charset="0"/>
              </a:rPr>
              <a:t>biodiversity</a:t>
            </a:r>
            <a:r>
              <a:rPr lang="en-US" sz="3600" b="1" dirty="0">
                <a:effectLst/>
                <a:latin typeface="Times New Roman" pitchFamily="18" charset="0"/>
                <a:cs typeface="Times New Roman" pitchFamily="18" charset="0"/>
              </a:rPr>
              <a:t> is the most important component of environment that deserves special </a:t>
            </a:r>
            <a:r>
              <a:rPr lang="en-US" sz="3600" b="1" dirty="0" smtClean="0">
                <a:effectLst/>
                <a:latin typeface="Times New Roman" pitchFamily="18" charset="0"/>
                <a:cs typeface="Times New Roman" pitchFamily="18" charset="0"/>
              </a:rPr>
              <a:t>attention as we are completely dependent on it for our survival.</a:t>
            </a:r>
          </a:p>
          <a:p>
            <a:pPr indent="-342900" algn="just" eaLnBrk="0" hangingPunct="0">
              <a:tabLst>
                <a:tab pos="342900" algn="l"/>
              </a:tabLst>
            </a:pPr>
            <a:endParaRPr lang="en-US" sz="2400" b="1" dirty="0">
              <a:effectLst/>
              <a:latin typeface="Times New Roman" pitchFamily="18" charset="0"/>
              <a:cs typeface="Times New Roman" pitchFamily="18" charset="0"/>
            </a:endParaRPr>
          </a:p>
          <a:p>
            <a:pPr indent="-342900" algn="just" eaLnBrk="0" hangingPunct="0">
              <a:tabLst>
                <a:tab pos="342900" algn="l"/>
              </a:tabLst>
            </a:pPr>
            <a:r>
              <a:rPr lang="en-US" sz="2000" b="1" dirty="0">
                <a:effectLst/>
                <a:latin typeface="Times New Roman" pitchFamily="18" charset="0"/>
                <a:cs typeface="Times New Roman" pitchFamily="18" charset="0"/>
              </a:rPr>
              <a:t>       </a:t>
            </a:r>
            <a:endParaRPr lang="en-US" sz="2000" b="1" dirty="0">
              <a:effectLst/>
              <a:latin typeface="Times New Roman" pitchFamily="18" charset="0"/>
            </a:endParaRPr>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9FA05108-1183-435E-A426-4089FC3508FE}" type="datetime1">
              <a:rPr lang="en-IN" smtClean="0"/>
              <a:pPr/>
              <a:t>13-11-2017</a:t>
            </a:fld>
            <a:endParaRPr lang="en-IN"/>
          </a:p>
        </p:txBody>
      </p:sp>
      <p:sp>
        <p:nvSpPr>
          <p:cNvPr id="6" name="Slide Number Placeholder 5"/>
          <p:cNvSpPr>
            <a:spLocks noGrp="1"/>
          </p:cNvSpPr>
          <p:nvPr>
            <p:ph type="sldNum" sz="quarter" idx="12"/>
          </p:nvPr>
        </p:nvSpPr>
        <p:spPr/>
        <p:txBody>
          <a:bodyPr/>
          <a:lstStyle/>
          <a:p>
            <a:fld id="{49DA5783-7B05-41EA-B994-A0D58367EB40}" type="slidenum">
              <a:rPr lang="en-IN" smtClean="0"/>
              <a:pPr/>
              <a:t>7</a:t>
            </a:fld>
            <a:endParaRPr lang="en-IN"/>
          </a:p>
        </p:txBody>
      </p:sp>
      <p:sp>
        <p:nvSpPr>
          <p:cNvPr id="7" name="Footer Placeholder 6"/>
          <p:cNvSpPr>
            <a:spLocks noGrp="1"/>
          </p:cNvSpPr>
          <p:nvPr>
            <p:ph type="ftr" sz="quarter" idx="11"/>
          </p:nvPr>
        </p:nvSpPr>
        <p:spPr/>
        <p:txBody>
          <a:bodyPr/>
          <a:lstStyle/>
          <a:p>
            <a:r>
              <a:rPr lang="en-IN" smtClean="0"/>
              <a:t>Dr Jyoti K Sharma</a:t>
            </a: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03426"/>
                                        </p:tgtEl>
                                        <p:attrNameLst>
                                          <p:attrName>style.visibility</p:attrName>
                                        </p:attrNameLst>
                                      </p:cBhvr>
                                      <p:to>
                                        <p:strVal val="visible"/>
                                      </p:to>
                                    </p:set>
                                    <p:animEffect transition="in" filter="blinds(horizontal)">
                                      <p:cBhvr>
                                        <p:cTn id="7" dur="500"/>
                                        <p:tgtEl>
                                          <p:spTgt spid="1034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6"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normAutofit fontScale="90000"/>
          </a:bodyPr>
          <a:lstStyle/>
          <a:p>
            <a:r>
              <a:rPr lang="en-US" sz="4000" b="1" dirty="0" smtClean="0">
                <a:solidFill>
                  <a:srgbClr val="006600"/>
                </a:solidFill>
                <a:latin typeface="Comic Sans MS" pitchFamily="66" charset="0"/>
                <a:cs typeface="Arial" charset="0"/>
              </a:rPr>
              <a:t/>
            </a:r>
            <a:br>
              <a:rPr lang="en-US" sz="4000" b="1" dirty="0" smtClean="0">
                <a:solidFill>
                  <a:srgbClr val="006600"/>
                </a:solidFill>
                <a:latin typeface="Comic Sans MS" pitchFamily="66" charset="0"/>
                <a:cs typeface="Arial" charset="0"/>
              </a:rPr>
            </a:br>
            <a:r>
              <a:rPr lang="en-US" sz="4000" b="1" dirty="0" smtClean="0">
                <a:solidFill>
                  <a:srgbClr val="006600"/>
                </a:solidFill>
                <a:latin typeface="Comic Sans MS" pitchFamily="66" charset="0"/>
                <a:cs typeface="Arial" charset="0"/>
              </a:rPr>
              <a:t>ENVIRONMENTAL EDUCATION- Biodiversity</a:t>
            </a:r>
            <a:r>
              <a:rPr lang="en-US" b="1" dirty="0" smtClean="0">
                <a:solidFill>
                  <a:srgbClr val="006600"/>
                </a:solidFill>
                <a:latin typeface="Comic Sans MS" pitchFamily="66" charset="0"/>
                <a:cs typeface="Arial" charset="0"/>
              </a:rPr>
              <a:t/>
            </a:r>
            <a:br>
              <a:rPr lang="en-US" b="1" dirty="0" smtClean="0">
                <a:solidFill>
                  <a:srgbClr val="006600"/>
                </a:solidFill>
                <a:latin typeface="Comic Sans MS" pitchFamily="66" charset="0"/>
                <a:cs typeface="Arial" charset="0"/>
              </a:rPr>
            </a:br>
            <a:endParaRPr lang="en-IN" dirty="0"/>
          </a:p>
        </p:txBody>
      </p:sp>
      <p:sp>
        <p:nvSpPr>
          <p:cNvPr id="3" name="Content Placeholder 2"/>
          <p:cNvSpPr>
            <a:spLocks noGrp="1"/>
          </p:cNvSpPr>
          <p:nvPr>
            <p:ph idx="1"/>
          </p:nvPr>
        </p:nvSpPr>
        <p:spPr>
          <a:xfrm>
            <a:off x="457200" y="1268760"/>
            <a:ext cx="8229600" cy="5112568"/>
          </a:xfrm>
        </p:spPr>
        <p:txBody>
          <a:bodyPr>
            <a:normAutofit fontScale="92500" lnSpcReduction="20000"/>
          </a:bodyPr>
          <a:lstStyle/>
          <a:p>
            <a:pPr algn="just" eaLnBrk="0" hangingPunct="0">
              <a:tabLst>
                <a:tab pos="342900" algn="l"/>
              </a:tabLst>
            </a:pPr>
            <a:r>
              <a:rPr lang="en-US" sz="3500" b="1" dirty="0" smtClean="0">
                <a:solidFill>
                  <a:srgbClr val="003399"/>
                </a:solidFill>
                <a:latin typeface="Times New Roman" pitchFamily="18" charset="0"/>
                <a:cs typeface="Times New Roman" pitchFamily="18" charset="0"/>
              </a:rPr>
              <a:t>Better understanding of </a:t>
            </a:r>
            <a:r>
              <a:rPr lang="en-US" sz="3500" b="1" dirty="0" smtClean="0">
                <a:solidFill>
                  <a:srgbClr val="FF0000"/>
                </a:solidFill>
                <a:latin typeface="Times New Roman" pitchFamily="18" charset="0"/>
                <a:cs typeface="Times New Roman" pitchFamily="18" charset="0"/>
              </a:rPr>
              <a:t>biodiversity conservation </a:t>
            </a:r>
            <a:r>
              <a:rPr lang="en-US" sz="3500" b="1" dirty="0" smtClean="0">
                <a:solidFill>
                  <a:srgbClr val="003399"/>
                </a:solidFill>
                <a:latin typeface="Times New Roman" pitchFamily="18" charset="0"/>
                <a:cs typeface="Times New Roman" pitchFamily="18" charset="0"/>
              </a:rPr>
              <a:t>can only come through </a:t>
            </a:r>
            <a:r>
              <a:rPr lang="en-US" sz="3500" b="1" dirty="0" smtClean="0">
                <a:solidFill>
                  <a:srgbClr val="FF0000"/>
                </a:solidFill>
                <a:latin typeface="Times New Roman" pitchFamily="18" charset="0"/>
                <a:cs typeface="Times New Roman" pitchFamily="18" charset="0"/>
              </a:rPr>
              <a:t>environmental education</a:t>
            </a:r>
            <a:r>
              <a:rPr lang="en-US" sz="3500" b="1" dirty="0" smtClean="0">
                <a:solidFill>
                  <a:srgbClr val="003399"/>
                </a:solidFill>
                <a:latin typeface="Times New Roman" pitchFamily="18" charset="0"/>
                <a:cs typeface="Times New Roman" pitchFamily="18" charset="0"/>
              </a:rPr>
              <a:t>, and this is why environmental education is so important and essential.</a:t>
            </a:r>
          </a:p>
          <a:p>
            <a:pPr algn="just" eaLnBrk="0" hangingPunct="0">
              <a:tabLst>
                <a:tab pos="342900" algn="l"/>
              </a:tabLst>
            </a:pPr>
            <a:r>
              <a:rPr lang="en-US" sz="3500" b="1" dirty="0" smtClean="0">
                <a:solidFill>
                  <a:srgbClr val="003399"/>
                </a:solidFill>
                <a:latin typeface="Times New Roman" pitchFamily="18" charset="0"/>
                <a:cs typeface="Times New Roman" pitchFamily="18" charset="0"/>
              </a:rPr>
              <a:t>·   Biodiversity should be part of environmental education in educational curricula.</a:t>
            </a:r>
          </a:p>
          <a:p>
            <a:pPr algn="just" eaLnBrk="0" hangingPunct="0">
              <a:tabLst>
                <a:tab pos="342900" algn="l"/>
              </a:tabLst>
            </a:pPr>
            <a:r>
              <a:rPr lang="en-US" sz="3500" b="1" dirty="0" smtClean="0">
                <a:solidFill>
                  <a:srgbClr val="003399"/>
                </a:solidFill>
                <a:latin typeface="Times New Roman" pitchFamily="18" charset="0"/>
                <a:cs typeface="Times New Roman" pitchFamily="18" charset="0"/>
              </a:rPr>
              <a:t>·   Biodiversity should be part of environmental education for all sections of the society.</a:t>
            </a:r>
          </a:p>
          <a:p>
            <a:pPr eaLnBrk="0" hangingPunct="0">
              <a:buNone/>
              <a:tabLst>
                <a:tab pos="342900" algn="l"/>
              </a:tabLst>
            </a:pPr>
            <a:endParaRPr lang="en-US" sz="3500" b="1" dirty="0" smtClean="0">
              <a:solidFill>
                <a:srgbClr val="003399"/>
              </a:solidFill>
              <a:latin typeface="Times New Roman" pitchFamily="18" charset="0"/>
              <a:cs typeface="Times New Roman" pitchFamily="18" charset="0"/>
            </a:endParaRPr>
          </a:p>
          <a:p>
            <a:endParaRPr lang="en-IN" dirty="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5866B2AF-F527-404C-9294-735CBBA23E61}" type="datetime1">
              <a:rPr lang="en-IN" smtClean="0"/>
              <a:pPr/>
              <a:t>13-11-2017</a:t>
            </a:fld>
            <a:endParaRPr lang="en-IN"/>
          </a:p>
        </p:txBody>
      </p:sp>
      <p:sp>
        <p:nvSpPr>
          <p:cNvPr id="6" name="Slide Number Placeholder 5"/>
          <p:cNvSpPr>
            <a:spLocks noGrp="1"/>
          </p:cNvSpPr>
          <p:nvPr>
            <p:ph type="sldNum" sz="quarter" idx="12"/>
          </p:nvPr>
        </p:nvSpPr>
        <p:spPr/>
        <p:txBody>
          <a:bodyPr/>
          <a:lstStyle/>
          <a:p>
            <a:fld id="{49DA5783-7B05-41EA-B994-A0D58367EB40}" type="slidenum">
              <a:rPr lang="en-IN" smtClean="0"/>
              <a:pPr/>
              <a:t>8</a:t>
            </a:fld>
            <a:endParaRPr lang="en-IN"/>
          </a:p>
        </p:txBody>
      </p:sp>
      <p:sp>
        <p:nvSpPr>
          <p:cNvPr id="7" name="Footer Placeholder 6"/>
          <p:cNvSpPr>
            <a:spLocks noGrp="1"/>
          </p:cNvSpPr>
          <p:nvPr>
            <p:ph type="ftr" sz="quarter" idx="11"/>
          </p:nvPr>
        </p:nvSpPr>
        <p:spPr/>
        <p:txBody>
          <a:bodyPr/>
          <a:lstStyle/>
          <a:p>
            <a:r>
              <a:rPr lang="en-IN" smtClean="0"/>
              <a:t>Dr Jyoti K Sharma</a:t>
            </a: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fontScale="90000"/>
          </a:bodyPr>
          <a:lstStyle/>
          <a:p>
            <a:r>
              <a:rPr lang="en-US" b="1" dirty="0" smtClean="0">
                <a:solidFill>
                  <a:srgbClr val="C00000"/>
                </a:solidFill>
                <a:latin typeface="Arial" charset="0"/>
                <a:cs typeface="Arial" charset="0"/>
              </a:rPr>
              <a:t/>
            </a:r>
            <a:br>
              <a:rPr lang="en-US" b="1" dirty="0" smtClean="0">
                <a:solidFill>
                  <a:srgbClr val="C00000"/>
                </a:solidFill>
                <a:latin typeface="Arial" charset="0"/>
                <a:cs typeface="Arial" charset="0"/>
              </a:rPr>
            </a:br>
            <a:r>
              <a:rPr lang="en-US" b="1" dirty="0" smtClean="0">
                <a:solidFill>
                  <a:srgbClr val="C00000"/>
                </a:solidFill>
                <a:latin typeface="Arial" charset="0"/>
                <a:cs typeface="Arial" charset="0"/>
              </a:rPr>
              <a:t/>
            </a:r>
            <a:br>
              <a:rPr lang="en-US" b="1" dirty="0" smtClean="0">
                <a:solidFill>
                  <a:srgbClr val="C00000"/>
                </a:solidFill>
                <a:latin typeface="Arial" charset="0"/>
                <a:cs typeface="Arial" charset="0"/>
              </a:rPr>
            </a:br>
            <a:r>
              <a:rPr lang="en-US" b="1" dirty="0" smtClean="0">
                <a:solidFill>
                  <a:srgbClr val="006600"/>
                </a:solidFill>
                <a:latin typeface="Times New Roman" pitchFamily="18" charset="0"/>
                <a:cs typeface="Times New Roman" pitchFamily="18" charset="0"/>
              </a:rPr>
              <a:t>Environmental Education</a:t>
            </a:r>
            <a:br>
              <a:rPr lang="en-US" b="1" dirty="0" smtClean="0">
                <a:solidFill>
                  <a:srgbClr val="006600"/>
                </a:solidFill>
                <a:latin typeface="Times New Roman" pitchFamily="18" charset="0"/>
                <a:cs typeface="Times New Roman" pitchFamily="18" charset="0"/>
              </a:rPr>
            </a:br>
            <a:r>
              <a:rPr lang="en-US" dirty="0" smtClean="0">
                <a:solidFill>
                  <a:srgbClr val="006600"/>
                </a:solidFill>
                <a:latin typeface="Times New Roman" pitchFamily="18" charset="0"/>
                <a:cs typeface="Times New Roman" pitchFamily="18" charset="0"/>
              </a:rPr>
              <a:t> </a:t>
            </a:r>
            <a:r>
              <a:rPr lang="en-US" dirty="0">
                <a:solidFill>
                  <a:srgbClr val="006600"/>
                </a:solidFill>
                <a:latin typeface="Times New Roman" pitchFamily="18" charset="0"/>
                <a:cs typeface="Times New Roman" pitchFamily="18" charset="0"/>
              </a:rPr>
              <a:t/>
            </a:r>
            <a:br>
              <a:rPr lang="en-US" dirty="0">
                <a:solidFill>
                  <a:srgbClr val="006600"/>
                </a:solidFill>
                <a:latin typeface="Times New Roman" pitchFamily="18" charset="0"/>
                <a:cs typeface="Times New Roman" pitchFamily="18" charset="0"/>
              </a:rPr>
            </a:br>
            <a:endParaRPr lang="en-US" dirty="0">
              <a:solidFill>
                <a:srgbClr val="00660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1066800"/>
            <a:ext cx="8610600" cy="5257800"/>
          </a:xfrm>
        </p:spPr>
        <p:txBody>
          <a:bodyPr>
            <a:normAutofit fontScale="85000" lnSpcReduction="20000"/>
          </a:bodyPr>
          <a:lstStyle/>
          <a:p>
            <a:pPr marL="0" indent="0">
              <a:buNone/>
            </a:pPr>
            <a:r>
              <a:rPr lang="en-US" b="1" dirty="0" smtClean="0">
                <a:solidFill>
                  <a:srgbClr val="0033CC"/>
                </a:solidFill>
                <a:latin typeface="Times New Roman" pitchFamily="18" charset="0"/>
                <a:cs typeface="Times New Roman" pitchFamily="18" charset="0"/>
              </a:rPr>
              <a:t>There is no precise and universally acceptable definition.  </a:t>
            </a:r>
            <a:endParaRPr lang="en-US" b="1" dirty="0" smtClean="0">
              <a:solidFill>
                <a:srgbClr val="006600"/>
              </a:solidFill>
              <a:latin typeface="Times New Roman" pitchFamily="18" charset="0"/>
              <a:cs typeface="Times New Roman" pitchFamily="18" charset="0"/>
            </a:endParaRPr>
          </a:p>
          <a:p>
            <a:pPr marL="0" indent="0">
              <a:buNone/>
            </a:pPr>
            <a:r>
              <a:rPr lang="en-US" sz="3300" b="1" dirty="0" smtClean="0">
                <a:solidFill>
                  <a:srgbClr val="006600"/>
                </a:solidFill>
                <a:latin typeface="Times New Roman" pitchFamily="18" charset="0"/>
                <a:cs typeface="Times New Roman" pitchFamily="18" charset="0"/>
              </a:rPr>
              <a:t>“</a:t>
            </a:r>
            <a:r>
              <a:rPr lang="en-US" sz="3300" b="1" dirty="0" smtClean="0">
                <a:solidFill>
                  <a:srgbClr val="006600"/>
                </a:solidFill>
                <a:latin typeface="Times New Roman" pitchFamily="18" charset="0"/>
                <a:cs typeface="Times New Roman" pitchFamily="18" charset="0"/>
              </a:rPr>
              <a:t>The </a:t>
            </a:r>
            <a:r>
              <a:rPr lang="en-US" sz="3300" b="1" dirty="0">
                <a:solidFill>
                  <a:srgbClr val="006600"/>
                </a:solidFill>
                <a:latin typeface="Times New Roman" pitchFamily="18" charset="0"/>
                <a:cs typeface="Times New Roman" pitchFamily="18" charset="0"/>
              </a:rPr>
              <a:t>basic aim of </a:t>
            </a:r>
            <a:r>
              <a:rPr lang="en-US" sz="3300" b="1" u="sng" dirty="0">
                <a:solidFill>
                  <a:srgbClr val="C00000"/>
                </a:solidFill>
                <a:latin typeface="Times New Roman" pitchFamily="18" charset="0"/>
                <a:cs typeface="Times New Roman" pitchFamily="18" charset="0"/>
              </a:rPr>
              <a:t>environmental education </a:t>
            </a:r>
            <a:r>
              <a:rPr lang="en-US" sz="3300" b="1" dirty="0" smtClean="0">
                <a:solidFill>
                  <a:srgbClr val="006600"/>
                </a:solidFill>
                <a:latin typeface="Times New Roman" pitchFamily="18" charset="0"/>
                <a:cs typeface="Times New Roman" pitchFamily="18" charset="0"/>
              </a:rPr>
              <a:t>is</a:t>
            </a:r>
            <a:r>
              <a:rPr lang="en-US" sz="3300" b="1" dirty="0" smtClean="0">
                <a:solidFill>
                  <a:srgbClr val="006600"/>
                </a:solidFill>
                <a:latin typeface="Times New Roman" pitchFamily="18" charset="0"/>
                <a:cs typeface="Times New Roman" pitchFamily="18" charset="0"/>
              </a:rPr>
              <a:t>:</a:t>
            </a:r>
            <a:endParaRPr lang="en-US" sz="3300" b="1" dirty="0" smtClean="0">
              <a:solidFill>
                <a:srgbClr val="006600"/>
              </a:solidFill>
              <a:latin typeface="Times New Roman" pitchFamily="18" charset="0"/>
              <a:cs typeface="Times New Roman" pitchFamily="18" charset="0"/>
            </a:endParaRPr>
          </a:p>
          <a:p>
            <a:pPr marL="0" indent="0">
              <a:buFont typeface="Wingdings" pitchFamily="2" charset="2"/>
              <a:buChar char="Ø"/>
            </a:pPr>
            <a:r>
              <a:rPr lang="en-US" sz="3300" b="1" dirty="0" smtClean="0">
                <a:solidFill>
                  <a:srgbClr val="006600"/>
                </a:solidFill>
                <a:latin typeface="Times New Roman" pitchFamily="18" charset="0"/>
                <a:cs typeface="Times New Roman" pitchFamily="18" charset="0"/>
              </a:rPr>
              <a:t>To  </a:t>
            </a:r>
            <a:r>
              <a:rPr lang="en-US" sz="3300" b="1" dirty="0">
                <a:solidFill>
                  <a:srgbClr val="006600"/>
                </a:solidFill>
                <a:latin typeface="Times New Roman" pitchFamily="18" charset="0"/>
                <a:cs typeface="Times New Roman" pitchFamily="18" charset="0"/>
              </a:rPr>
              <a:t>succeed in making individuals and communities understand the complex nature of the </a:t>
            </a:r>
            <a:r>
              <a:rPr lang="en-US" sz="3300" b="1" u="sng" dirty="0">
                <a:solidFill>
                  <a:srgbClr val="0000FF"/>
                </a:solidFill>
                <a:latin typeface="Times New Roman" pitchFamily="18" charset="0"/>
                <a:cs typeface="Times New Roman" pitchFamily="18" charset="0"/>
              </a:rPr>
              <a:t>natural and the built environments </a:t>
            </a:r>
            <a:r>
              <a:rPr lang="en-US" sz="3300" b="1" dirty="0">
                <a:solidFill>
                  <a:srgbClr val="006600"/>
                </a:solidFill>
                <a:latin typeface="Times New Roman" pitchFamily="18" charset="0"/>
                <a:cs typeface="Times New Roman" pitchFamily="18" charset="0"/>
              </a:rPr>
              <a:t>resulting from the interaction of their </a:t>
            </a:r>
            <a:r>
              <a:rPr lang="en-US" sz="3300" b="1" u="sng" dirty="0">
                <a:solidFill>
                  <a:srgbClr val="FF0000"/>
                </a:solidFill>
                <a:latin typeface="Times New Roman" pitchFamily="18" charset="0"/>
                <a:cs typeface="Times New Roman" pitchFamily="18" charset="0"/>
              </a:rPr>
              <a:t>biological, physical, social, economic and cultural aspects, </a:t>
            </a:r>
            <a:endParaRPr lang="en-US" sz="3300" b="1" u="sng" dirty="0" smtClean="0">
              <a:solidFill>
                <a:srgbClr val="FF0000"/>
              </a:solidFill>
              <a:latin typeface="Times New Roman" pitchFamily="18" charset="0"/>
              <a:cs typeface="Times New Roman" pitchFamily="18" charset="0"/>
            </a:endParaRPr>
          </a:p>
          <a:p>
            <a:pPr marL="0" indent="0">
              <a:buFont typeface="Wingdings" pitchFamily="2" charset="2"/>
              <a:buChar char="Ø"/>
            </a:pPr>
            <a:r>
              <a:rPr lang="en-US" sz="3300" b="1" dirty="0" smtClean="0">
                <a:solidFill>
                  <a:srgbClr val="FF0000"/>
                </a:solidFill>
                <a:latin typeface="Times New Roman" pitchFamily="18" charset="0"/>
                <a:cs typeface="Times New Roman" pitchFamily="18" charset="0"/>
              </a:rPr>
              <a:t>To acquire </a:t>
            </a:r>
            <a:r>
              <a:rPr lang="en-US" sz="3300" b="1" dirty="0">
                <a:solidFill>
                  <a:srgbClr val="FF0000"/>
                </a:solidFill>
                <a:latin typeface="Times New Roman" pitchFamily="18" charset="0"/>
                <a:cs typeface="Times New Roman" pitchFamily="18" charset="0"/>
              </a:rPr>
              <a:t>the knowledge, values, attitudes and practical skills to participate in a responsible and effective way in anticipating and solving social problems, </a:t>
            </a:r>
            <a:endParaRPr lang="en-US" sz="3300" b="1" dirty="0" smtClean="0">
              <a:solidFill>
                <a:srgbClr val="FF0000"/>
              </a:solidFill>
              <a:latin typeface="Times New Roman" pitchFamily="18" charset="0"/>
              <a:cs typeface="Times New Roman" pitchFamily="18" charset="0"/>
            </a:endParaRPr>
          </a:p>
          <a:p>
            <a:pPr marL="0" indent="0">
              <a:buFont typeface="Wingdings" pitchFamily="2" charset="2"/>
              <a:buChar char="Ø"/>
            </a:pPr>
            <a:r>
              <a:rPr lang="en-US" sz="3300" b="1" dirty="0" smtClean="0">
                <a:solidFill>
                  <a:srgbClr val="006600"/>
                </a:solidFill>
                <a:latin typeface="Times New Roman" pitchFamily="18" charset="0"/>
                <a:cs typeface="Times New Roman" pitchFamily="18" charset="0"/>
              </a:rPr>
              <a:t>And  </a:t>
            </a:r>
            <a:r>
              <a:rPr lang="en-US" sz="3300" b="1" dirty="0">
                <a:solidFill>
                  <a:srgbClr val="006600"/>
                </a:solidFill>
                <a:latin typeface="Times New Roman" pitchFamily="18" charset="0"/>
                <a:cs typeface="Times New Roman" pitchFamily="18" charset="0"/>
              </a:rPr>
              <a:t>in the management of the quality of environment</a:t>
            </a:r>
            <a:r>
              <a:rPr lang="en-US" sz="3300" b="1" dirty="0" smtClean="0">
                <a:solidFill>
                  <a:srgbClr val="006600"/>
                </a:solidFill>
                <a:latin typeface="Times New Roman" pitchFamily="18" charset="0"/>
                <a:cs typeface="Times New Roman" pitchFamily="18" charset="0"/>
              </a:rPr>
              <a:t>”.</a:t>
            </a:r>
          </a:p>
          <a:p>
            <a:pPr marL="0" indent="0">
              <a:buNone/>
            </a:pPr>
            <a:endParaRPr lang="en-US" sz="2400" b="1" dirty="0">
              <a:solidFill>
                <a:srgbClr val="006600"/>
              </a:solidFill>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EB18040-8339-40E5-BE41-EE17FF5ED45D}" type="datetime1">
              <a:rPr lang="en-IN" smtClean="0"/>
              <a:pPr/>
              <a:t>13-11-2017</a:t>
            </a:fld>
            <a:endParaRPr lang="en-IN"/>
          </a:p>
        </p:txBody>
      </p:sp>
      <p:sp>
        <p:nvSpPr>
          <p:cNvPr id="5" name="Footer Placeholder 4"/>
          <p:cNvSpPr>
            <a:spLocks noGrp="1"/>
          </p:cNvSpPr>
          <p:nvPr>
            <p:ph type="ftr" sz="quarter" idx="11"/>
          </p:nvPr>
        </p:nvSpPr>
        <p:spPr/>
        <p:txBody>
          <a:bodyPr/>
          <a:lstStyle/>
          <a:p>
            <a:r>
              <a:rPr lang="en-IN" smtClean="0"/>
              <a:t>Dr Jyoti K Sharma</a:t>
            </a:r>
            <a:endParaRPr lang="en-IN"/>
          </a:p>
        </p:txBody>
      </p:sp>
      <p:sp>
        <p:nvSpPr>
          <p:cNvPr id="6" name="Slide Number Placeholder 5"/>
          <p:cNvSpPr>
            <a:spLocks noGrp="1"/>
          </p:cNvSpPr>
          <p:nvPr>
            <p:ph type="sldNum" sz="quarter" idx="12"/>
          </p:nvPr>
        </p:nvSpPr>
        <p:spPr/>
        <p:txBody>
          <a:bodyPr/>
          <a:lstStyle/>
          <a:p>
            <a:fld id="{D6C5837E-F6E0-453C-8D70-64F1AAD8BC05}" type="slidenum">
              <a:rPr lang="en-IN" smtClean="0"/>
              <a:pPr/>
              <a:t>9</a:t>
            </a:fld>
            <a:endParaRPr lang="en-IN"/>
          </a:p>
        </p:txBody>
      </p:sp>
      <p:pic>
        <p:nvPicPr>
          <p:cNvPr id="7" name="Picture 6"/>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extLst>
      <p:ext uri="{BB962C8B-B14F-4D97-AF65-F5344CB8AC3E}">
        <p14:creationId xmlns:p14="http://schemas.microsoft.com/office/powerpoint/2010/main" xmlns="" val="34842154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smtClean="0">
                <a:solidFill>
                  <a:srgbClr val="C00000"/>
                </a:solidFill>
                <a:effectLst/>
                <a:latin typeface="Comic Sans MS" pitchFamily="66" charset="0"/>
                <a:cs typeface="Arial" charset="0"/>
              </a:rPr>
              <a:t/>
            </a:r>
            <a:br>
              <a:rPr lang="en-US" sz="3600" b="1" dirty="0" smtClean="0">
                <a:solidFill>
                  <a:srgbClr val="C00000"/>
                </a:solidFill>
                <a:effectLst/>
                <a:latin typeface="Comic Sans MS" pitchFamily="66" charset="0"/>
                <a:cs typeface="Arial" charset="0"/>
              </a:rPr>
            </a:br>
            <a:r>
              <a:rPr lang="en-US" sz="3600" dirty="0" smtClean="0">
                <a:solidFill>
                  <a:srgbClr val="006600"/>
                </a:solidFill>
                <a:effectLst/>
                <a:latin typeface="Broadway" pitchFamily="82" charset="0"/>
                <a:cs typeface="Arial" charset="0"/>
              </a:rPr>
              <a:t>WHAT IS ENVIRONMENTAL EDUCATION</a:t>
            </a:r>
            <a:r>
              <a:rPr lang="en-US" dirty="0" smtClean="0">
                <a:solidFill>
                  <a:srgbClr val="006600"/>
                </a:solidFill>
                <a:effectLst/>
                <a:latin typeface="Broadway" pitchFamily="82" charset="0"/>
                <a:cs typeface="Times New Roman" pitchFamily="18" charset="0"/>
              </a:rPr>
              <a:t/>
            </a:r>
            <a:br>
              <a:rPr lang="en-US" dirty="0" smtClean="0">
                <a:solidFill>
                  <a:srgbClr val="006600"/>
                </a:solidFill>
                <a:effectLst/>
                <a:latin typeface="Broadway" pitchFamily="82" charset="0"/>
                <a:cs typeface="Times New Roman" pitchFamily="18" charset="0"/>
              </a:rPr>
            </a:br>
            <a:endParaRPr lang="en-IN" dirty="0">
              <a:solidFill>
                <a:srgbClr val="006600"/>
              </a:solidFill>
              <a:latin typeface="Broadway" pitchFamily="82" charset="0"/>
            </a:endParaRPr>
          </a:p>
        </p:txBody>
      </p:sp>
      <p:sp>
        <p:nvSpPr>
          <p:cNvPr id="3" name="Content Placeholder 2"/>
          <p:cNvSpPr>
            <a:spLocks noGrp="1"/>
          </p:cNvSpPr>
          <p:nvPr>
            <p:ph idx="1"/>
          </p:nvPr>
        </p:nvSpPr>
        <p:spPr/>
        <p:txBody>
          <a:bodyPr/>
          <a:lstStyle/>
          <a:p>
            <a:pPr>
              <a:buNone/>
            </a:pPr>
            <a:r>
              <a:rPr lang="en-US" b="1" i="1" dirty="0" smtClean="0">
                <a:solidFill>
                  <a:srgbClr val="0070C0"/>
                </a:solidFill>
                <a:effectLst/>
                <a:cs typeface="Times New Roman" pitchFamily="18" charset="0"/>
              </a:rPr>
              <a:t>By </a:t>
            </a:r>
          </a:p>
          <a:p>
            <a:r>
              <a:rPr lang="en-US" b="1" i="1" dirty="0" smtClean="0">
                <a:solidFill>
                  <a:srgbClr val="003399"/>
                </a:solidFill>
                <a:effectLst/>
                <a:latin typeface="Times New Roman" pitchFamily="18" charset="0"/>
                <a:cs typeface="Times New Roman" pitchFamily="18" charset="0"/>
              </a:rPr>
              <a:t>“Environmental Education” we understand all kind of education and information which aim at </a:t>
            </a:r>
            <a:r>
              <a:rPr lang="en-US" b="1" i="1" dirty="0" smtClean="0">
                <a:solidFill>
                  <a:srgbClr val="FF0000"/>
                </a:solidFill>
                <a:effectLst/>
                <a:latin typeface="Times New Roman" pitchFamily="18" charset="0"/>
                <a:cs typeface="Times New Roman" pitchFamily="18" charset="0"/>
              </a:rPr>
              <a:t>creating the correct approach of human being to his/her natural environment in the sense of </a:t>
            </a:r>
            <a:r>
              <a:rPr lang="en-US" b="1" i="1" u="sng" dirty="0" smtClean="0">
                <a:solidFill>
                  <a:srgbClr val="FF0000"/>
                </a:solidFill>
                <a:effectLst/>
                <a:latin typeface="Times New Roman" pitchFamily="18" charset="0"/>
                <a:cs typeface="Times New Roman" pitchFamily="18" charset="0"/>
              </a:rPr>
              <a:t>conservation, wise use and management of natural resources</a:t>
            </a:r>
            <a:r>
              <a:rPr lang="en-US" b="1" i="1" dirty="0" smtClean="0">
                <a:solidFill>
                  <a:srgbClr val="FF0000"/>
                </a:solidFill>
                <a:effectLst/>
                <a:latin typeface="Times New Roman" pitchFamily="18" charset="0"/>
                <a:cs typeface="Times New Roman" pitchFamily="18" charset="0"/>
              </a:rPr>
              <a:t>, especially biodiversity.</a:t>
            </a:r>
          </a:p>
          <a:p>
            <a:endParaRPr lang="en-IN" dirty="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892DD62A-343E-4618-8E72-459D5B6CF3AA}" type="datetime1">
              <a:rPr lang="en-IN" smtClean="0"/>
              <a:pPr/>
              <a:t>13-11-2017</a:t>
            </a:fld>
            <a:endParaRPr lang="en-IN"/>
          </a:p>
        </p:txBody>
      </p:sp>
      <p:sp>
        <p:nvSpPr>
          <p:cNvPr id="6" name="Slide Number Placeholder 5"/>
          <p:cNvSpPr>
            <a:spLocks noGrp="1"/>
          </p:cNvSpPr>
          <p:nvPr>
            <p:ph type="sldNum" sz="quarter" idx="12"/>
          </p:nvPr>
        </p:nvSpPr>
        <p:spPr/>
        <p:txBody>
          <a:bodyPr/>
          <a:lstStyle/>
          <a:p>
            <a:fld id="{49DA5783-7B05-41EA-B994-A0D58367EB40}" type="slidenum">
              <a:rPr lang="en-IN" smtClean="0"/>
              <a:pPr/>
              <a:t>10</a:t>
            </a:fld>
            <a:endParaRPr lang="en-IN"/>
          </a:p>
        </p:txBody>
      </p:sp>
      <p:sp>
        <p:nvSpPr>
          <p:cNvPr id="7" name="Footer Placeholder 6"/>
          <p:cNvSpPr>
            <a:spLocks noGrp="1"/>
          </p:cNvSpPr>
          <p:nvPr>
            <p:ph type="ftr" sz="quarter" idx="11"/>
          </p:nvPr>
        </p:nvSpPr>
        <p:spPr/>
        <p:txBody>
          <a:bodyPr/>
          <a:lstStyle/>
          <a:p>
            <a:r>
              <a:rPr lang="en-IN" smtClean="0"/>
              <a:t>Dr Jyoti K Sharma</a:t>
            </a:r>
            <a:endParaRPr lang="en-IN"/>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indent="-800100">
              <a:tabLst>
                <a:tab pos="914400" algn="l"/>
              </a:tabLst>
            </a:pPr>
            <a:r>
              <a:rPr lang="en-US" sz="3200" b="1" dirty="0" smtClean="0">
                <a:solidFill>
                  <a:srgbClr val="006600"/>
                </a:solidFill>
                <a:latin typeface="Times New Roman" pitchFamily="18" charset="0"/>
                <a:cs typeface="Times New Roman" pitchFamily="18" charset="0"/>
              </a:rPr>
              <a:t>MAJOR REQUIREMENTS FOR ENVIRONMENTAL EDUCATION</a:t>
            </a:r>
            <a:br>
              <a:rPr lang="en-US" sz="3200" b="1" dirty="0" smtClean="0">
                <a:solidFill>
                  <a:srgbClr val="006600"/>
                </a:solidFill>
                <a:latin typeface="Times New Roman" pitchFamily="18" charset="0"/>
                <a:cs typeface="Times New Roman" pitchFamily="18" charset="0"/>
              </a:rPr>
            </a:br>
            <a:r>
              <a:rPr lang="en-US" sz="3200" dirty="0" smtClean="0">
                <a:solidFill>
                  <a:srgbClr val="00FF00"/>
                </a:solidFill>
                <a:latin typeface="Times New Roman" pitchFamily="18" charset="0"/>
                <a:cs typeface="Times New Roman" pitchFamily="18" charset="0"/>
              </a:rPr>
              <a:t> </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323528" y="1412776"/>
            <a:ext cx="8568952" cy="4968552"/>
          </a:xfrm>
        </p:spPr>
        <p:txBody>
          <a:bodyPr>
            <a:normAutofit fontScale="85000" lnSpcReduction="20000"/>
          </a:bodyPr>
          <a:lstStyle/>
          <a:p>
            <a:pPr indent="-800100" eaLnBrk="0" hangingPunct="0">
              <a:buNone/>
              <a:tabLst>
                <a:tab pos="914400" algn="l"/>
              </a:tabLst>
            </a:pPr>
            <a:r>
              <a:rPr lang="en-US" b="1" dirty="0" smtClean="0">
                <a:latin typeface="Times New Roman" pitchFamily="18" charset="0"/>
                <a:cs typeface="Times New Roman" pitchFamily="18" charset="0"/>
              </a:rPr>
              <a:t>Within the general framework of environmental education, there are </a:t>
            </a:r>
            <a:r>
              <a:rPr lang="en-US" b="1" u="sng" dirty="0" smtClean="0">
                <a:solidFill>
                  <a:srgbClr val="FF0000"/>
                </a:solidFill>
                <a:latin typeface="Times New Roman" pitchFamily="18" charset="0"/>
                <a:cs typeface="Times New Roman" pitchFamily="18" charset="0"/>
              </a:rPr>
              <a:t>several major requirements which are likely to contribute to its success.  </a:t>
            </a:r>
            <a:r>
              <a:rPr lang="en-US" b="1" dirty="0" smtClean="0">
                <a:latin typeface="Times New Roman" pitchFamily="18" charset="0"/>
                <a:cs typeface="Times New Roman" pitchFamily="18" charset="0"/>
              </a:rPr>
              <a:t>Six major factors are:</a:t>
            </a:r>
          </a:p>
          <a:p>
            <a:pPr indent="-800100" eaLnBrk="0" hangingPunct="0">
              <a:buNone/>
              <a:tabLst>
                <a:tab pos="914400" algn="l"/>
              </a:tabLst>
            </a:pPr>
            <a:r>
              <a:rPr lang="en-US" b="1" dirty="0" smtClean="0">
                <a:latin typeface="Times New Roman" pitchFamily="18" charset="0"/>
                <a:cs typeface="Times New Roman" pitchFamily="18" charset="0"/>
              </a:rPr>
              <a:t> </a:t>
            </a:r>
          </a:p>
          <a:p>
            <a:pPr indent="-800100" eaLnBrk="0" hangingPunct="0">
              <a:buNone/>
              <a:tabLst>
                <a:tab pos="914400" algn="l"/>
              </a:tabLst>
            </a:pPr>
            <a:r>
              <a:rPr lang="en-US" b="1" dirty="0" smtClean="0">
                <a:solidFill>
                  <a:srgbClr val="003399"/>
                </a:solidFill>
                <a:latin typeface="Times New Roman" pitchFamily="18" charset="0"/>
                <a:cs typeface="Times New Roman" pitchFamily="18" charset="0"/>
              </a:rPr>
              <a:t>1.</a:t>
            </a:r>
            <a:r>
              <a:rPr lang="en-US" sz="1800" b="1" dirty="0" smtClean="0">
                <a:solidFill>
                  <a:srgbClr val="003399"/>
                </a:solidFill>
                <a:latin typeface="Times New Roman" pitchFamily="18" charset="0"/>
                <a:cs typeface="Times New Roman" pitchFamily="18" charset="0"/>
              </a:rPr>
              <a:t>     </a:t>
            </a:r>
            <a:r>
              <a:rPr lang="en-US" b="1" dirty="0" smtClean="0">
                <a:solidFill>
                  <a:srgbClr val="003399"/>
                </a:solidFill>
                <a:latin typeface="Times New Roman" pitchFamily="18" charset="0"/>
                <a:cs typeface="Times New Roman" pitchFamily="18" charset="0"/>
              </a:rPr>
              <a:t>Inter-</a:t>
            </a:r>
            <a:r>
              <a:rPr lang="en-US" b="1" dirty="0" err="1" smtClean="0">
                <a:solidFill>
                  <a:srgbClr val="003399"/>
                </a:solidFill>
                <a:latin typeface="Times New Roman" pitchFamily="18" charset="0"/>
                <a:cs typeface="Times New Roman" pitchFamily="18" charset="0"/>
              </a:rPr>
              <a:t>disciplinarity</a:t>
            </a:r>
            <a:endParaRPr lang="en-US" b="1" dirty="0" smtClean="0">
              <a:solidFill>
                <a:srgbClr val="003399"/>
              </a:solidFill>
              <a:latin typeface="Times New Roman" pitchFamily="18" charset="0"/>
              <a:cs typeface="Times New Roman" pitchFamily="18" charset="0"/>
            </a:endParaRPr>
          </a:p>
          <a:p>
            <a:pPr indent="-800100" eaLnBrk="0" hangingPunct="0">
              <a:buNone/>
              <a:tabLst>
                <a:tab pos="914400" algn="l"/>
              </a:tabLst>
            </a:pPr>
            <a:r>
              <a:rPr lang="en-US" b="1" dirty="0" smtClean="0">
                <a:solidFill>
                  <a:srgbClr val="003399"/>
                </a:solidFill>
                <a:latin typeface="Times New Roman" pitchFamily="18" charset="0"/>
                <a:cs typeface="Times New Roman" pitchFamily="18" charset="0"/>
              </a:rPr>
              <a:t>2.</a:t>
            </a:r>
            <a:r>
              <a:rPr lang="en-US" sz="1800" b="1" dirty="0" smtClean="0">
                <a:solidFill>
                  <a:srgbClr val="003399"/>
                </a:solidFill>
                <a:latin typeface="Times New Roman" pitchFamily="18" charset="0"/>
                <a:cs typeface="Times New Roman" pitchFamily="18" charset="0"/>
              </a:rPr>
              <a:t>     </a:t>
            </a:r>
            <a:r>
              <a:rPr lang="en-US" b="1" dirty="0" smtClean="0">
                <a:solidFill>
                  <a:srgbClr val="003399"/>
                </a:solidFill>
                <a:latin typeface="Times New Roman" pitchFamily="18" charset="0"/>
                <a:cs typeface="Times New Roman" pitchFamily="18" charset="0"/>
              </a:rPr>
              <a:t>Interrelated disciplines/ case studies/virtual examples</a:t>
            </a:r>
          </a:p>
          <a:p>
            <a:pPr indent="-800100" eaLnBrk="0" hangingPunct="0">
              <a:buNone/>
              <a:tabLst>
                <a:tab pos="914400" algn="l"/>
              </a:tabLst>
            </a:pPr>
            <a:r>
              <a:rPr lang="en-US" b="1" dirty="0" smtClean="0">
                <a:solidFill>
                  <a:srgbClr val="003399"/>
                </a:solidFill>
                <a:latin typeface="Times New Roman" pitchFamily="18" charset="0"/>
                <a:cs typeface="Times New Roman" pitchFamily="18" charset="0"/>
              </a:rPr>
              <a:t>3.</a:t>
            </a:r>
            <a:r>
              <a:rPr lang="en-US" sz="1800" b="1" dirty="0" smtClean="0">
                <a:solidFill>
                  <a:srgbClr val="003399"/>
                </a:solidFill>
                <a:latin typeface="Times New Roman" pitchFamily="18" charset="0"/>
                <a:cs typeface="Times New Roman" pitchFamily="18" charset="0"/>
              </a:rPr>
              <a:t>     </a:t>
            </a:r>
            <a:r>
              <a:rPr lang="en-US" b="1" dirty="0" smtClean="0">
                <a:solidFill>
                  <a:srgbClr val="003399"/>
                </a:solidFill>
                <a:latin typeface="Times New Roman" pitchFamily="18" charset="0"/>
                <a:cs typeface="Times New Roman" pitchFamily="18" charset="0"/>
              </a:rPr>
              <a:t>Flexibility</a:t>
            </a:r>
          </a:p>
          <a:p>
            <a:pPr indent="-800100" eaLnBrk="0" hangingPunct="0">
              <a:buNone/>
              <a:tabLst>
                <a:tab pos="914400" algn="l"/>
              </a:tabLst>
            </a:pPr>
            <a:r>
              <a:rPr lang="en-US" b="1" dirty="0" smtClean="0">
                <a:solidFill>
                  <a:srgbClr val="003399"/>
                </a:solidFill>
                <a:latin typeface="Times New Roman" pitchFamily="18" charset="0"/>
                <a:cs typeface="Times New Roman" pitchFamily="18" charset="0"/>
              </a:rPr>
              <a:t>4.</a:t>
            </a:r>
            <a:r>
              <a:rPr lang="en-US" sz="1800" b="1" dirty="0" smtClean="0">
                <a:solidFill>
                  <a:srgbClr val="003399"/>
                </a:solidFill>
                <a:latin typeface="Times New Roman" pitchFamily="18" charset="0"/>
                <a:cs typeface="Times New Roman" pitchFamily="18" charset="0"/>
              </a:rPr>
              <a:t>     </a:t>
            </a:r>
            <a:r>
              <a:rPr lang="en-US" b="1" dirty="0" smtClean="0">
                <a:solidFill>
                  <a:srgbClr val="003399"/>
                </a:solidFill>
                <a:latin typeface="Times New Roman" pitchFamily="18" charset="0"/>
                <a:cs typeface="Times New Roman" pitchFamily="18" charset="0"/>
              </a:rPr>
              <a:t>Non-dogmatic</a:t>
            </a:r>
          </a:p>
          <a:p>
            <a:pPr indent="-800100" eaLnBrk="0" hangingPunct="0">
              <a:buNone/>
              <a:tabLst>
                <a:tab pos="914400" algn="l"/>
              </a:tabLst>
            </a:pPr>
            <a:r>
              <a:rPr lang="en-US" b="1" dirty="0" smtClean="0">
                <a:solidFill>
                  <a:srgbClr val="003399"/>
                </a:solidFill>
                <a:latin typeface="Times New Roman" pitchFamily="18" charset="0"/>
                <a:cs typeface="Times New Roman" pitchFamily="18" charset="0"/>
              </a:rPr>
              <a:t>5.</a:t>
            </a:r>
            <a:r>
              <a:rPr lang="en-US" sz="1800" b="1" dirty="0" smtClean="0">
                <a:solidFill>
                  <a:srgbClr val="003399"/>
                </a:solidFill>
                <a:latin typeface="Times New Roman" pitchFamily="18" charset="0"/>
                <a:cs typeface="Times New Roman" pitchFamily="18" charset="0"/>
              </a:rPr>
              <a:t>     </a:t>
            </a:r>
            <a:r>
              <a:rPr lang="en-US" b="1" dirty="0" smtClean="0">
                <a:solidFill>
                  <a:srgbClr val="003399"/>
                </a:solidFill>
                <a:latin typeface="Times New Roman" pitchFamily="18" charset="0"/>
                <a:cs typeface="Times New Roman" pitchFamily="18" charset="0"/>
              </a:rPr>
              <a:t>Emphasis on problem solving</a:t>
            </a:r>
          </a:p>
          <a:p>
            <a:pPr indent="-800100" eaLnBrk="0" hangingPunct="0">
              <a:buNone/>
              <a:tabLst>
                <a:tab pos="914400" algn="l"/>
              </a:tabLst>
            </a:pPr>
            <a:r>
              <a:rPr lang="en-US" b="1" dirty="0" smtClean="0">
                <a:solidFill>
                  <a:srgbClr val="003399"/>
                </a:solidFill>
                <a:latin typeface="Times New Roman" pitchFamily="18" charset="0"/>
                <a:cs typeface="Times New Roman" pitchFamily="18" charset="0"/>
              </a:rPr>
              <a:t>6.</a:t>
            </a:r>
            <a:r>
              <a:rPr lang="en-US" sz="1800" b="1" dirty="0" smtClean="0">
                <a:solidFill>
                  <a:srgbClr val="003399"/>
                </a:solidFill>
                <a:latin typeface="Times New Roman" pitchFamily="18" charset="0"/>
                <a:cs typeface="Times New Roman" pitchFamily="18" charset="0"/>
              </a:rPr>
              <a:t>     </a:t>
            </a:r>
            <a:r>
              <a:rPr lang="en-US" b="1" dirty="0" smtClean="0">
                <a:solidFill>
                  <a:srgbClr val="003399"/>
                </a:solidFill>
                <a:latin typeface="Times New Roman" pitchFamily="18" charset="0"/>
                <a:cs typeface="Times New Roman" pitchFamily="18" charset="0"/>
              </a:rPr>
              <a:t>Practice what you preach – use of plastic bags/bottles</a:t>
            </a:r>
          </a:p>
          <a:p>
            <a:pPr indent="-800100" eaLnBrk="0" hangingPunct="0">
              <a:buNone/>
              <a:tabLst>
                <a:tab pos="914400" algn="l"/>
              </a:tabLst>
            </a:pPr>
            <a:r>
              <a:rPr lang="en-US" b="1" dirty="0" smtClean="0">
                <a:solidFill>
                  <a:srgbClr val="003399"/>
                </a:solidFill>
                <a:latin typeface="Times New Roman" pitchFamily="18" charset="0"/>
                <a:cs typeface="Times New Roman" pitchFamily="18" charset="0"/>
              </a:rPr>
              <a:t>7.   Environmental Ethics</a:t>
            </a:r>
          </a:p>
          <a:p>
            <a:endParaRPr lang="en-US" dirty="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FF55CC60-B367-496E-9D19-FAE1D5D0FC60}" type="datetime1">
              <a:rPr lang="en-IN" smtClean="0"/>
              <a:pPr/>
              <a:t>13-11-2017</a:t>
            </a:fld>
            <a:endParaRPr lang="en-IN"/>
          </a:p>
        </p:txBody>
      </p:sp>
      <p:sp>
        <p:nvSpPr>
          <p:cNvPr id="6" name="Slide Number Placeholder 5"/>
          <p:cNvSpPr>
            <a:spLocks noGrp="1"/>
          </p:cNvSpPr>
          <p:nvPr>
            <p:ph type="sldNum" sz="quarter" idx="12"/>
          </p:nvPr>
        </p:nvSpPr>
        <p:spPr/>
        <p:txBody>
          <a:bodyPr/>
          <a:lstStyle/>
          <a:p>
            <a:fld id="{49DA5783-7B05-41EA-B994-A0D58367EB40}" type="slidenum">
              <a:rPr lang="en-IN" smtClean="0"/>
              <a:pPr/>
              <a:t>11</a:t>
            </a:fld>
            <a:endParaRPr lang="en-IN"/>
          </a:p>
        </p:txBody>
      </p:sp>
      <p:sp>
        <p:nvSpPr>
          <p:cNvPr id="7" name="Footer Placeholder 6"/>
          <p:cNvSpPr>
            <a:spLocks noGrp="1"/>
          </p:cNvSpPr>
          <p:nvPr>
            <p:ph type="ftr" sz="quarter" idx="11"/>
          </p:nvPr>
        </p:nvSpPr>
        <p:spPr/>
        <p:txBody>
          <a:bodyPr/>
          <a:lstStyle/>
          <a:p>
            <a:r>
              <a:rPr lang="en-IN" smtClean="0"/>
              <a:t>Dr Jyoti K Sharma</a:t>
            </a:r>
            <a:endParaRPr lang="en-IN"/>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006600"/>
                </a:solidFill>
                <a:effectLst/>
                <a:latin typeface="Comic Sans MS" pitchFamily="66" charset="0"/>
                <a:cs typeface="Arial" charset="0"/>
              </a:rPr>
              <a:t>ENVIRONMENTAL EDUCATION</a:t>
            </a:r>
            <a:endParaRPr lang="en-IN" sz="3600" dirty="0">
              <a:solidFill>
                <a:srgbClr val="006600"/>
              </a:solidFill>
            </a:endParaRPr>
          </a:p>
        </p:txBody>
      </p:sp>
      <p:sp>
        <p:nvSpPr>
          <p:cNvPr id="3" name="Content Placeholder 2"/>
          <p:cNvSpPr>
            <a:spLocks noGrp="1"/>
          </p:cNvSpPr>
          <p:nvPr>
            <p:ph idx="1"/>
          </p:nvPr>
        </p:nvSpPr>
        <p:spPr>
          <a:xfrm>
            <a:off x="179512" y="1196752"/>
            <a:ext cx="8712968" cy="5112568"/>
          </a:xfrm>
        </p:spPr>
        <p:txBody>
          <a:bodyPr>
            <a:normAutofit fontScale="25000" lnSpcReduction="20000"/>
          </a:bodyPr>
          <a:lstStyle/>
          <a:p>
            <a:pPr eaLnBrk="0" hangingPunct="0">
              <a:buNone/>
              <a:tabLst>
                <a:tab pos="342900" algn="l"/>
              </a:tabLst>
            </a:pPr>
            <a:r>
              <a:rPr lang="en-US" sz="11200" b="1" dirty="0" smtClean="0">
                <a:solidFill>
                  <a:srgbClr val="FF0000"/>
                </a:solidFill>
                <a:latin typeface="Times New Roman" pitchFamily="18" charset="0"/>
                <a:cs typeface="Times New Roman" pitchFamily="18" charset="0"/>
              </a:rPr>
              <a:t>Who to be involved:</a:t>
            </a:r>
          </a:p>
          <a:p>
            <a:pPr eaLnBrk="0" hangingPunct="0">
              <a:buNone/>
              <a:tabLst>
                <a:tab pos="342900" algn="l"/>
              </a:tabLst>
            </a:pPr>
            <a:endParaRPr lang="en-US" sz="11200" b="1" dirty="0" smtClean="0">
              <a:solidFill>
                <a:srgbClr val="FF0000"/>
              </a:solidFill>
              <a:latin typeface="Times New Roman" pitchFamily="18" charset="0"/>
              <a:cs typeface="Times New Roman" pitchFamily="18" charset="0"/>
            </a:endParaRPr>
          </a:p>
          <a:p>
            <a:pPr eaLnBrk="0" hangingPunct="0">
              <a:buNone/>
              <a:tabLst>
                <a:tab pos="342900" algn="l"/>
              </a:tabLst>
            </a:pPr>
            <a:r>
              <a:rPr lang="en-US" sz="11200" b="1" dirty="0" smtClean="0">
                <a:solidFill>
                  <a:srgbClr val="003399"/>
                </a:solidFill>
                <a:latin typeface="Times New Roman" pitchFamily="18" charset="0"/>
                <a:cs typeface="Times New Roman" pitchFamily="18" charset="0"/>
              </a:rPr>
              <a:t>-         </a:t>
            </a:r>
            <a:r>
              <a:rPr lang="en-US" sz="11200" b="1" dirty="0" smtClean="0">
                <a:solidFill>
                  <a:srgbClr val="003399"/>
                </a:solidFill>
                <a:effectLst/>
                <a:latin typeface="Times New Roman" pitchFamily="18" charset="0"/>
                <a:cs typeface="Times New Roman" pitchFamily="18" charset="0"/>
              </a:rPr>
              <a:t>School children</a:t>
            </a:r>
          </a:p>
          <a:p>
            <a:pPr eaLnBrk="0" hangingPunct="0">
              <a:buNone/>
              <a:tabLst>
                <a:tab pos="342900" algn="l"/>
              </a:tabLst>
            </a:pPr>
            <a:r>
              <a:rPr lang="en-US" sz="11200" b="1" dirty="0" smtClean="0">
                <a:solidFill>
                  <a:srgbClr val="003399"/>
                </a:solidFill>
                <a:effectLst/>
                <a:latin typeface="Times New Roman" pitchFamily="18" charset="0"/>
                <a:cs typeface="Times New Roman" pitchFamily="18" charset="0"/>
              </a:rPr>
              <a:t>-         College/University students</a:t>
            </a:r>
          </a:p>
          <a:p>
            <a:pPr eaLnBrk="0" hangingPunct="0">
              <a:buNone/>
              <a:tabLst>
                <a:tab pos="342900" algn="l"/>
              </a:tabLst>
            </a:pPr>
            <a:r>
              <a:rPr lang="en-US" sz="11200" b="1" dirty="0" smtClean="0">
                <a:solidFill>
                  <a:srgbClr val="003399"/>
                </a:solidFill>
                <a:effectLst/>
                <a:latin typeface="Times New Roman" pitchFamily="18" charset="0"/>
                <a:cs typeface="Times New Roman" pitchFamily="18" charset="0"/>
              </a:rPr>
              <a:t>-         Legislators and Administrators</a:t>
            </a:r>
          </a:p>
          <a:p>
            <a:pPr eaLnBrk="0" hangingPunct="0">
              <a:buNone/>
              <a:tabLst>
                <a:tab pos="342900" algn="l"/>
              </a:tabLst>
            </a:pPr>
            <a:r>
              <a:rPr lang="en-US" sz="11200" b="1" dirty="0" smtClean="0">
                <a:solidFill>
                  <a:srgbClr val="003399"/>
                </a:solidFill>
                <a:effectLst/>
                <a:latin typeface="Times New Roman" pitchFamily="18" charset="0"/>
                <a:cs typeface="Times New Roman" pitchFamily="18" charset="0"/>
              </a:rPr>
              <a:t>-         Professional Bodies and special interest groups</a:t>
            </a:r>
          </a:p>
          <a:p>
            <a:pPr eaLnBrk="0" hangingPunct="0">
              <a:buNone/>
              <a:tabLst>
                <a:tab pos="342900" algn="l"/>
              </a:tabLst>
            </a:pPr>
            <a:r>
              <a:rPr lang="en-US" sz="11200" b="1" dirty="0" smtClean="0">
                <a:solidFill>
                  <a:srgbClr val="003399"/>
                </a:solidFill>
                <a:effectLst/>
                <a:latin typeface="Times New Roman" pitchFamily="18" charset="0"/>
                <a:cs typeface="Times New Roman" pitchFamily="18" charset="0"/>
              </a:rPr>
              <a:t>-         Communities affected by developmental projects</a:t>
            </a:r>
          </a:p>
          <a:p>
            <a:pPr eaLnBrk="0" hangingPunct="0">
              <a:buFontTx/>
              <a:buChar char="-"/>
              <a:tabLst>
                <a:tab pos="342900" algn="l"/>
              </a:tabLst>
            </a:pPr>
            <a:r>
              <a:rPr lang="en-US" sz="11200" b="1" dirty="0" smtClean="0">
                <a:solidFill>
                  <a:srgbClr val="003399"/>
                </a:solidFill>
                <a:latin typeface="Times New Roman" pitchFamily="18" charset="0"/>
                <a:cs typeface="Times New Roman" pitchFamily="18" charset="0"/>
              </a:rPr>
              <a:t>       NGOs</a:t>
            </a:r>
          </a:p>
          <a:p>
            <a:pPr eaLnBrk="0" hangingPunct="0">
              <a:buFontTx/>
              <a:buChar char="-"/>
              <a:tabLst>
                <a:tab pos="342900" algn="l"/>
              </a:tabLst>
            </a:pPr>
            <a:r>
              <a:rPr lang="en-US" sz="11200" b="1" dirty="0" smtClean="0">
                <a:solidFill>
                  <a:srgbClr val="003399"/>
                </a:solidFill>
                <a:latin typeface="Times New Roman" pitchFamily="18" charset="0"/>
                <a:cs typeface="Times New Roman" pitchFamily="18" charset="0"/>
              </a:rPr>
              <a:t>       Corporate bodies as part of  Corporate Social     </a:t>
            </a:r>
          </a:p>
          <a:p>
            <a:pPr eaLnBrk="0" hangingPunct="0">
              <a:buNone/>
              <a:tabLst>
                <a:tab pos="342900" algn="l"/>
              </a:tabLst>
            </a:pPr>
            <a:r>
              <a:rPr lang="en-US" sz="11200" b="1" dirty="0" smtClean="0">
                <a:solidFill>
                  <a:srgbClr val="003399"/>
                </a:solidFill>
                <a:latin typeface="Times New Roman" pitchFamily="18" charset="0"/>
                <a:cs typeface="Times New Roman" pitchFamily="18" charset="0"/>
              </a:rPr>
              <a:t>           responsibilities (CSR)</a:t>
            </a:r>
          </a:p>
          <a:p>
            <a:pPr eaLnBrk="0" hangingPunct="0">
              <a:buFontTx/>
              <a:buChar char="-"/>
              <a:tabLst>
                <a:tab pos="342900" algn="l"/>
              </a:tabLst>
            </a:pPr>
            <a:endParaRPr lang="en-US" sz="9800" b="1" dirty="0" smtClean="0">
              <a:solidFill>
                <a:srgbClr val="003399"/>
              </a:solidFill>
              <a:effectLst/>
              <a:latin typeface="Times New Roman" pitchFamily="18" charset="0"/>
              <a:cs typeface="Times New Roman" pitchFamily="18" charset="0"/>
            </a:endParaRPr>
          </a:p>
          <a:p>
            <a:pPr eaLnBrk="0" hangingPunct="0">
              <a:buNone/>
              <a:tabLst>
                <a:tab pos="342900" algn="l"/>
              </a:tabLst>
            </a:pPr>
            <a:endParaRPr lang="en-US" sz="9800" b="1" dirty="0" smtClean="0">
              <a:solidFill>
                <a:srgbClr val="003399"/>
              </a:solidFill>
              <a:effectLst/>
              <a:latin typeface="Times New Roman" pitchFamily="18" charset="0"/>
              <a:cs typeface="Times New Roman" pitchFamily="18" charset="0"/>
            </a:endParaRPr>
          </a:p>
          <a:p>
            <a:pPr eaLnBrk="0" hangingPunct="0">
              <a:buNone/>
              <a:tabLst>
                <a:tab pos="342900" algn="l"/>
              </a:tabLst>
            </a:pPr>
            <a:r>
              <a:rPr lang="en-US" sz="9800" b="1" dirty="0" smtClean="0">
                <a:solidFill>
                  <a:srgbClr val="003399"/>
                </a:solidFill>
                <a:effectLst/>
                <a:latin typeface="Times New Roman" pitchFamily="18" charset="0"/>
                <a:cs typeface="Times New Roman" pitchFamily="18" charset="0"/>
              </a:rPr>
              <a:t> </a:t>
            </a:r>
            <a:r>
              <a:rPr lang="en-US" sz="9800" b="1" dirty="0" smtClean="0">
                <a:solidFill>
                  <a:srgbClr val="006600"/>
                </a:solidFill>
                <a:effectLst/>
                <a:latin typeface="Times New Roman" pitchFamily="18" charset="0"/>
                <a:cs typeface="Times New Roman" pitchFamily="18" charset="0"/>
              </a:rPr>
              <a:t/>
            </a:r>
            <a:br>
              <a:rPr lang="en-US" sz="9800" b="1" dirty="0" smtClean="0">
                <a:solidFill>
                  <a:srgbClr val="006600"/>
                </a:solidFill>
                <a:effectLst/>
                <a:latin typeface="Times New Roman" pitchFamily="18" charset="0"/>
                <a:cs typeface="Times New Roman" pitchFamily="18" charset="0"/>
              </a:rPr>
            </a:br>
            <a:endParaRPr lang="en-US" sz="9800" b="1" dirty="0">
              <a:solidFill>
                <a:srgbClr val="006600"/>
              </a:solidFill>
              <a:effectLst/>
              <a:latin typeface="Times New Roman" pitchFamily="18" charset="0"/>
              <a:cs typeface="Times New Roman" pitchFamily="18" charset="0"/>
            </a:endParaRPr>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52041058-F9F0-4A62-BBA9-FAC8E9A39786}" type="datetime1">
              <a:rPr lang="en-IN" smtClean="0"/>
              <a:pPr/>
              <a:t>13-11-2017</a:t>
            </a:fld>
            <a:endParaRPr lang="en-IN"/>
          </a:p>
        </p:txBody>
      </p:sp>
      <p:sp>
        <p:nvSpPr>
          <p:cNvPr id="6" name="Slide Number Placeholder 5"/>
          <p:cNvSpPr>
            <a:spLocks noGrp="1"/>
          </p:cNvSpPr>
          <p:nvPr>
            <p:ph type="sldNum" sz="quarter" idx="12"/>
          </p:nvPr>
        </p:nvSpPr>
        <p:spPr/>
        <p:txBody>
          <a:bodyPr/>
          <a:lstStyle/>
          <a:p>
            <a:fld id="{49DA5783-7B05-41EA-B994-A0D58367EB40}" type="slidenum">
              <a:rPr lang="en-IN" smtClean="0"/>
              <a:pPr/>
              <a:t>12</a:t>
            </a:fld>
            <a:endParaRPr lang="en-IN"/>
          </a:p>
        </p:txBody>
      </p:sp>
      <p:sp>
        <p:nvSpPr>
          <p:cNvPr id="7" name="Footer Placeholder 6"/>
          <p:cNvSpPr>
            <a:spLocks noGrp="1"/>
          </p:cNvSpPr>
          <p:nvPr>
            <p:ph type="ftr" sz="quarter" idx="11"/>
          </p:nvPr>
        </p:nvSpPr>
        <p:spPr/>
        <p:txBody>
          <a:bodyPr/>
          <a:lstStyle/>
          <a:p>
            <a:r>
              <a:rPr lang="en-IN" smtClean="0"/>
              <a:t>Dr Jyoti K Sharma</a:t>
            </a:r>
            <a:endParaRPr lang="en-IN"/>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latin typeface="Times New Roman" pitchFamily="18" charset="0"/>
                <a:cs typeface="Times New Roman" pitchFamily="18" charset="0"/>
              </a:rPr>
              <a:t/>
            </a:r>
            <a:br>
              <a:rPr lang="en-US" b="1" dirty="0" smtClean="0">
                <a:latin typeface="Times New Roman" pitchFamily="18" charset="0"/>
                <a:cs typeface="Times New Roman" pitchFamily="18" charset="0"/>
              </a:rPr>
            </a:br>
            <a:r>
              <a:rPr lang="en-US" b="1" dirty="0" smtClean="0">
                <a:latin typeface="Times New Roman" pitchFamily="18" charset="0"/>
                <a:cs typeface="Times New Roman" pitchFamily="18" charset="0"/>
              </a:rPr>
              <a:t>Environmental Education in Curriculum</a:t>
            </a:r>
            <a:br>
              <a:rPr lang="en-US" b="1" dirty="0" smtClean="0">
                <a:latin typeface="Times New Roman" pitchFamily="18" charset="0"/>
                <a:cs typeface="Times New Roman" pitchFamily="18" charset="0"/>
              </a:rPr>
            </a:br>
            <a:endParaRPr lang="en-IN" dirty="0"/>
          </a:p>
        </p:txBody>
      </p:sp>
      <p:sp>
        <p:nvSpPr>
          <p:cNvPr id="3" name="Content Placeholder 2"/>
          <p:cNvSpPr>
            <a:spLocks noGrp="1"/>
          </p:cNvSpPr>
          <p:nvPr>
            <p:ph idx="1"/>
          </p:nvPr>
        </p:nvSpPr>
        <p:spPr/>
        <p:txBody>
          <a:bodyPr>
            <a:normAutofit fontScale="85000" lnSpcReduction="10000"/>
          </a:bodyPr>
          <a:lstStyle/>
          <a:p>
            <a:pPr algn="just" eaLnBrk="0" hangingPunct="0">
              <a:buNone/>
              <a:tabLst>
                <a:tab pos="342900" algn="l"/>
              </a:tabLst>
            </a:pPr>
            <a:r>
              <a:rPr lang="en-US" b="1" dirty="0" smtClean="0">
                <a:latin typeface="Symbol" pitchFamily="18" charset="2"/>
                <a:cs typeface="Times New Roman" pitchFamily="18" charset="0"/>
              </a:rPr>
              <a:t>·</a:t>
            </a:r>
            <a:r>
              <a:rPr lang="en-US" b="1" dirty="0" smtClean="0">
                <a:latin typeface="Times New Roman" pitchFamily="18" charset="0"/>
                <a:cs typeface="Times New Roman" pitchFamily="18" charset="0"/>
              </a:rPr>
              <a:t>  </a:t>
            </a:r>
            <a:r>
              <a:rPr lang="en-US" b="1" dirty="0" smtClean="0">
                <a:solidFill>
                  <a:srgbClr val="006600"/>
                </a:solidFill>
                <a:latin typeface="Times New Roman" pitchFamily="18" charset="0"/>
                <a:cs typeface="Times New Roman" pitchFamily="18" charset="0"/>
              </a:rPr>
              <a:t>To be effective environmental education should be both through formal curricula in schools and colleges/universities and through continuing education with the assistance of mass media.</a:t>
            </a:r>
          </a:p>
          <a:p>
            <a:pPr algn="just" eaLnBrk="0" hangingPunct="0">
              <a:buNone/>
              <a:tabLst>
                <a:tab pos="342900" algn="l"/>
              </a:tabLst>
            </a:pPr>
            <a:r>
              <a:rPr lang="en-US" b="1" dirty="0" smtClean="0">
                <a:solidFill>
                  <a:srgbClr val="006600"/>
                </a:solidFill>
                <a:latin typeface="Times New Roman" pitchFamily="18" charset="0"/>
                <a:cs typeface="Times New Roman" pitchFamily="18" charset="0"/>
              </a:rPr>
              <a:t> </a:t>
            </a:r>
          </a:p>
          <a:p>
            <a:pPr algn="just" eaLnBrk="0" hangingPunct="0">
              <a:tabLst>
                <a:tab pos="342900" algn="l"/>
              </a:tabLst>
            </a:pPr>
            <a:r>
              <a:rPr lang="en-US" b="1" dirty="0" smtClean="0">
                <a:solidFill>
                  <a:srgbClr val="006600"/>
                </a:solidFill>
                <a:latin typeface="Times New Roman" pitchFamily="18" charset="0"/>
                <a:cs typeface="Times New Roman" pitchFamily="18" charset="0"/>
              </a:rPr>
              <a:t>There is vital need for suitable books, brochures, pamphlets, video films to support many kinds and levels of environmental education related to biodiversity that is necessary for ensuring an effective and enlightened handling of biodiversity related problems, especially conservation aspects.</a:t>
            </a:r>
          </a:p>
          <a:p>
            <a:endParaRPr lang="en-IN" dirty="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18DF6206-D660-4CD2-B14B-0346F151A7FF}" type="datetime1">
              <a:rPr lang="en-IN" smtClean="0"/>
              <a:pPr/>
              <a:t>13-11-2017</a:t>
            </a:fld>
            <a:endParaRPr lang="en-IN"/>
          </a:p>
        </p:txBody>
      </p:sp>
      <p:sp>
        <p:nvSpPr>
          <p:cNvPr id="6" name="Slide Number Placeholder 5"/>
          <p:cNvSpPr>
            <a:spLocks noGrp="1"/>
          </p:cNvSpPr>
          <p:nvPr>
            <p:ph type="sldNum" sz="quarter" idx="12"/>
          </p:nvPr>
        </p:nvSpPr>
        <p:spPr/>
        <p:txBody>
          <a:bodyPr/>
          <a:lstStyle/>
          <a:p>
            <a:fld id="{49DA5783-7B05-41EA-B994-A0D58367EB40}" type="slidenum">
              <a:rPr lang="en-IN" smtClean="0"/>
              <a:pPr/>
              <a:t>13</a:t>
            </a:fld>
            <a:endParaRPr lang="en-IN"/>
          </a:p>
        </p:txBody>
      </p:sp>
      <p:sp>
        <p:nvSpPr>
          <p:cNvPr id="7" name="Footer Placeholder 6"/>
          <p:cNvSpPr>
            <a:spLocks noGrp="1"/>
          </p:cNvSpPr>
          <p:nvPr>
            <p:ph type="ftr" sz="quarter" idx="11"/>
          </p:nvPr>
        </p:nvSpPr>
        <p:spPr/>
        <p:txBody>
          <a:bodyPr/>
          <a:lstStyle/>
          <a:p>
            <a:r>
              <a:rPr lang="en-IN" smtClean="0"/>
              <a:t>Dr Jyoti K Sharma</a:t>
            </a:r>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114"/>
          </a:xfrm>
        </p:spPr>
        <p:txBody>
          <a:bodyPr>
            <a:normAutofit fontScale="90000"/>
          </a:bodyPr>
          <a:lstStyle/>
          <a:p>
            <a:r>
              <a:rPr lang="en-US" b="1" dirty="0" smtClean="0">
                <a:solidFill>
                  <a:srgbClr val="006600"/>
                </a:solidFill>
                <a:latin typeface="Times New Roman" pitchFamily="18" charset="0"/>
                <a:cs typeface="Times New Roman" pitchFamily="18" charset="0"/>
              </a:rPr>
              <a:t>ENVIRONMENTAL EDUCATION</a:t>
            </a:r>
            <a:endParaRPr lang="en-US" dirty="0"/>
          </a:p>
        </p:txBody>
      </p:sp>
      <p:sp>
        <p:nvSpPr>
          <p:cNvPr id="3" name="Content Placeholder 2"/>
          <p:cNvSpPr>
            <a:spLocks noGrp="1"/>
          </p:cNvSpPr>
          <p:nvPr>
            <p:ph idx="1"/>
          </p:nvPr>
        </p:nvSpPr>
        <p:spPr>
          <a:xfrm>
            <a:off x="251520" y="1196752"/>
            <a:ext cx="8640960" cy="5256584"/>
          </a:xfrm>
        </p:spPr>
        <p:txBody>
          <a:bodyPr>
            <a:normAutofit fontScale="77500" lnSpcReduction="20000"/>
          </a:bodyPr>
          <a:lstStyle/>
          <a:p>
            <a:pPr>
              <a:buNone/>
            </a:pPr>
            <a:r>
              <a:rPr lang="en-US" sz="3400" b="1" i="1" dirty="0" smtClean="0">
                <a:solidFill>
                  <a:srgbClr val="C00000"/>
                </a:solidFill>
                <a:latin typeface="Times New Roman" pitchFamily="18" charset="0"/>
                <a:cs typeface="Times New Roman" pitchFamily="18" charset="0"/>
              </a:rPr>
              <a:t>Language:</a:t>
            </a:r>
            <a:r>
              <a:rPr lang="en-US" sz="3400" b="1" dirty="0" smtClean="0">
                <a:solidFill>
                  <a:srgbClr val="C00000"/>
                </a:solidFill>
                <a:latin typeface="Times New Roman" pitchFamily="18" charset="0"/>
                <a:cs typeface="Times New Roman" pitchFamily="18" charset="0"/>
              </a:rPr>
              <a:t> </a:t>
            </a:r>
            <a:r>
              <a:rPr lang="en-US" sz="3400" b="1" dirty="0" smtClean="0">
                <a:solidFill>
                  <a:srgbClr val="003399"/>
                </a:solidFill>
                <a:latin typeface="Times New Roman" pitchFamily="18" charset="0"/>
                <a:cs typeface="Times New Roman" pitchFamily="18" charset="0"/>
              </a:rPr>
              <a:t>Local language to be used</a:t>
            </a:r>
          </a:p>
          <a:p>
            <a:pPr indent="-457200" eaLnBrk="0" hangingPunct="0">
              <a:buNone/>
              <a:tabLst>
                <a:tab pos="228600" algn="l"/>
              </a:tabLst>
            </a:pPr>
            <a:r>
              <a:rPr lang="en-US" sz="3400" b="1" i="1" dirty="0" err="1" smtClean="0">
                <a:solidFill>
                  <a:srgbClr val="FF0000"/>
                </a:solidFill>
                <a:latin typeface="Times New Roman" pitchFamily="18" charset="0"/>
                <a:cs typeface="Times New Roman" pitchFamily="18" charset="0"/>
              </a:rPr>
              <a:t>Objectives:</a:t>
            </a:r>
            <a:r>
              <a:rPr lang="en-US" sz="3400" b="1" dirty="0" err="1" smtClean="0">
                <a:solidFill>
                  <a:srgbClr val="003399"/>
                </a:solidFill>
                <a:latin typeface="Times New Roman" pitchFamily="18" charset="0"/>
                <a:cs typeface="Times New Roman" pitchFamily="18" charset="0"/>
              </a:rPr>
              <a:t>Well</a:t>
            </a:r>
            <a:r>
              <a:rPr lang="en-US" sz="3400" b="1" dirty="0" smtClean="0">
                <a:solidFill>
                  <a:srgbClr val="003399"/>
                </a:solidFill>
                <a:latin typeface="Times New Roman" pitchFamily="18" charset="0"/>
                <a:cs typeface="Times New Roman" pitchFamily="18" charset="0"/>
              </a:rPr>
              <a:t> defined objectives addressing a specific problem of the area/region.</a:t>
            </a:r>
          </a:p>
          <a:p>
            <a:pPr indent="-457200" eaLnBrk="0" hangingPunct="0">
              <a:buNone/>
              <a:tabLst>
                <a:tab pos="228600" algn="l"/>
              </a:tabLst>
            </a:pPr>
            <a:r>
              <a:rPr lang="en-US" sz="3400" b="1" i="1" dirty="0" smtClean="0">
                <a:solidFill>
                  <a:srgbClr val="FF0000"/>
                </a:solidFill>
                <a:latin typeface="Times New Roman" pitchFamily="18" charset="0"/>
                <a:cs typeface="Times New Roman" pitchFamily="18" charset="0"/>
              </a:rPr>
              <a:t>Methods:</a:t>
            </a:r>
            <a:endParaRPr lang="en-US" sz="3400" i="1" dirty="0" smtClean="0">
              <a:solidFill>
                <a:srgbClr val="0070C0"/>
              </a:solidFill>
              <a:latin typeface="Times New Roman" pitchFamily="18" charset="0"/>
              <a:cs typeface="Times New Roman" pitchFamily="18" charset="0"/>
            </a:endParaRPr>
          </a:p>
          <a:p>
            <a:pPr indent="-228600" eaLnBrk="0" hangingPunct="0">
              <a:buNone/>
              <a:tabLst>
                <a:tab pos="571500" algn="l"/>
              </a:tabLst>
            </a:pPr>
            <a:r>
              <a:rPr lang="en-US" sz="3400" b="1" dirty="0" err="1" smtClean="0">
                <a:solidFill>
                  <a:srgbClr val="0070C0"/>
                </a:solidFill>
                <a:latin typeface="Times New Roman" pitchFamily="18" charset="0"/>
                <a:cs typeface="Times New Roman" pitchFamily="18" charset="0"/>
              </a:rPr>
              <a:t>i</a:t>
            </a:r>
            <a:r>
              <a:rPr lang="en-US" sz="3400" b="1" dirty="0" smtClean="0">
                <a:solidFill>
                  <a:srgbClr val="0070C0"/>
                </a:solidFill>
                <a:latin typeface="Times New Roman" pitchFamily="18" charset="0"/>
                <a:cs typeface="Times New Roman" pitchFamily="18" charset="0"/>
              </a:rPr>
              <a:t>.            </a:t>
            </a:r>
            <a:r>
              <a:rPr lang="en-US" sz="3100" b="1" dirty="0" smtClean="0">
                <a:solidFill>
                  <a:srgbClr val="003399"/>
                </a:solidFill>
                <a:latin typeface="Times New Roman" pitchFamily="18" charset="0"/>
                <a:cs typeface="Times New Roman" pitchFamily="18" charset="0"/>
              </a:rPr>
              <a:t>School/college curricula</a:t>
            </a:r>
          </a:p>
          <a:p>
            <a:pPr indent="-228600" eaLnBrk="0" hangingPunct="0">
              <a:buNone/>
              <a:tabLst>
                <a:tab pos="571500" algn="l"/>
              </a:tabLst>
            </a:pPr>
            <a:r>
              <a:rPr lang="en-US" sz="3100" b="1" dirty="0" smtClean="0">
                <a:solidFill>
                  <a:srgbClr val="003399"/>
                </a:solidFill>
                <a:latin typeface="Times New Roman" pitchFamily="18" charset="0"/>
                <a:cs typeface="Times New Roman" pitchFamily="18" charset="0"/>
              </a:rPr>
              <a:t>ii.            Charts, posters, dumb shows</a:t>
            </a:r>
          </a:p>
          <a:p>
            <a:pPr indent="-228600" eaLnBrk="0" hangingPunct="0">
              <a:buNone/>
              <a:tabLst>
                <a:tab pos="571500" algn="l"/>
              </a:tabLst>
            </a:pPr>
            <a:r>
              <a:rPr lang="en-US" sz="3100" b="1" dirty="0" smtClean="0">
                <a:solidFill>
                  <a:srgbClr val="003399"/>
                </a:solidFill>
                <a:latin typeface="Times New Roman" pitchFamily="18" charset="0"/>
                <a:cs typeface="Times New Roman" pitchFamily="18" charset="0"/>
              </a:rPr>
              <a:t>iii.          Talks, drama</a:t>
            </a:r>
          </a:p>
          <a:p>
            <a:pPr indent="-228600" eaLnBrk="0" hangingPunct="0">
              <a:buNone/>
              <a:tabLst>
                <a:tab pos="571500" algn="l"/>
              </a:tabLst>
            </a:pPr>
            <a:r>
              <a:rPr lang="en-US" sz="3100" b="1" dirty="0" smtClean="0">
                <a:solidFill>
                  <a:srgbClr val="003399"/>
                </a:solidFill>
                <a:latin typeface="Times New Roman" pitchFamily="18" charset="0"/>
                <a:cs typeface="Times New Roman" pitchFamily="18" charset="0"/>
              </a:rPr>
              <a:t>iv.           Quiz competitions</a:t>
            </a:r>
          </a:p>
          <a:p>
            <a:pPr indent="-228600" eaLnBrk="0" hangingPunct="0">
              <a:buNone/>
              <a:tabLst>
                <a:tab pos="571500" algn="l"/>
              </a:tabLst>
            </a:pPr>
            <a:r>
              <a:rPr lang="en-US" sz="3100" b="1" dirty="0" smtClean="0">
                <a:solidFill>
                  <a:srgbClr val="003399"/>
                </a:solidFill>
                <a:latin typeface="Times New Roman" pitchFamily="18" charset="0"/>
                <a:cs typeface="Times New Roman" pitchFamily="18" charset="0"/>
              </a:rPr>
              <a:t>v.             Essay writing</a:t>
            </a:r>
          </a:p>
          <a:p>
            <a:pPr indent="-228600" eaLnBrk="0" hangingPunct="0">
              <a:buNone/>
              <a:tabLst>
                <a:tab pos="571500" algn="l"/>
              </a:tabLst>
            </a:pPr>
            <a:r>
              <a:rPr lang="en-US" sz="3100" b="1" dirty="0" smtClean="0">
                <a:solidFill>
                  <a:srgbClr val="003399"/>
                </a:solidFill>
                <a:latin typeface="Times New Roman" pitchFamily="18" charset="0"/>
                <a:cs typeface="Times New Roman" pitchFamily="18" charset="0"/>
              </a:rPr>
              <a:t>vi.           Video film shows</a:t>
            </a:r>
          </a:p>
          <a:p>
            <a:pPr indent="-228600" eaLnBrk="0" hangingPunct="0">
              <a:buNone/>
              <a:tabLst>
                <a:tab pos="571500" algn="l"/>
              </a:tabLst>
            </a:pPr>
            <a:r>
              <a:rPr lang="en-US" sz="3100" b="1" dirty="0" smtClean="0">
                <a:solidFill>
                  <a:srgbClr val="003399"/>
                </a:solidFill>
                <a:latin typeface="Times New Roman" pitchFamily="18" charset="0"/>
                <a:cs typeface="Times New Roman" pitchFamily="18" charset="0"/>
              </a:rPr>
              <a:t>vii.          Exhibitions</a:t>
            </a:r>
          </a:p>
          <a:p>
            <a:pPr marL="171450" indent="-400050" eaLnBrk="0" hangingPunct="0">
              <a:buAutoNum type="romanLcPeriod" startAt="8"/>
              <a:tabLst>
                <a:tab pos="571500" algn="l"/>
              </a:tabLst>
            </a:pPr>
            <a:r>
              <a:rPr lang="en-US" sz="3100" b="1" dirty="0" smtClean="0">
                <a:solidFill>
                  <a:srgbClr val="003399"/>
                </a:solidFill>
                <a:latin typeface="Times New Roman" pitchFamily="18" charset="0"/>
                <a:cs typeface="Times New Roman" pitchFamily="18" charset="0"/>
              </a:rPr>
              <a:t>           Pilot studies</a:t>
            </a:r>
          </a:p>
          <a:p>
            <a:pPr marL="171450" indent="-400050" eaLnBrk="0" hangingPunct="0">
              <a:buAutoNum type="romanLcPeriod" startAt="8"/>
              <a:tabLst>
                <a:tab pos="571500" algn="l"/>
              </a:tabLst>
            </a:pPr>
            <a:r>
              <a:rPr lang="en-US" sz="3100" b="1" dirty="0" smtClean="0">
                <a:solidFill>
                  <a:srgbClr val="003399"/>
                </a:solidFill>
                <a:latin typeface="Times New Roman" pitchFamily="18" charset="0"/>
                <a:cs typeface="Times New Roman" pitchFamily="18" charset="0"/>
              </a:rPr>
              <a:t>            Field Excursions/field visit - Assignments/Report              </a:t>
            </a:r>
          </a:p>
          <a:p>
            <a:pPr marL="171450" indent="-400050" eaLnBrk="0" hangingPunct="0">
              <a:buNone/>
              <a:tabLst>
                <a:tab pos="571500" algn="l"/>
              </a:tabLst>
            </a:pPr>
            <a:r>
              <a:rPr lang="en-US" sz="3100" b="1" dirty="0" smtClean="0">
                <a:solidFill>
                  <a:srgbClr val="003399"/>
                </a:solidFill>
                <a:latin typeface="Times New Roman" pitchFamily="18" charset="0"/>
                <a:cs typeface="Times New Roman" pitchFamily="18" charset="0"/>
              </a:rPr>
              <a:t>                  writing</a:t>
            </a:r>
          </a:p>
          <a:p>
            <a:pPr indent="-457200" eaLnBrk="0" hangingPunct="0">
              <a:tabLst>
                <a:tab pos="228600" algn="l"/>
              </a:tabLst>
            </a:pPr>
            <a:endParaRPr lang="en-US" b="1" dirty="0" smtClean="0">
              <a:solidFill>
                <a:srgbClr val="003399"/>
              </a:solidFill>
              <a:latin typeface="Times New Roman" pitchFamily="18" charset="0"/>
              <a:cs typeface="Times New Roman" pitchFamily="18" charset="0"/>
            </a:endParaRPr>
          </a:p>
          <a:p>
            <a:endParaRPr lang="en-US" dirty="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D4F6B459-C0C6-4752-9534-A262F539E28B}" type="datetime1">
              <a:rPr lang="en-IN" smtClean="0"/>
              <a:pPr/>
              <a:t>13-11-2017</a:t>
            </a:fld>
            <a:endParaRPr lang="en-IN"/>
          </a:p>
        </p:txBody>
      </p:sp>
      <p:sp>
        <p:nvSpPr>
          <p:cNvPr id="6" name="Slide Number Placeholder 5"/>
          <p:cNvSpPr>
            <a:spLocks noGrp="1"/>
          </p:cNvSpPr>
          <p:nvPr>
            <p:ph type="sldNum" sz="quarter" idx="12"/>
          </p:nvPr>
        </p:nvSpPr>
        <p:spPr/>
        <p:txBody>
          <a:bodyPr/>
          <a:lstStyle/>
          <a:p>
            <a:fld id="{49DA5783-7B05-41EA-B994-A0D58367EB40}" type="slidenum">
              <a:rPr lang="en-IN" smtClean="0"/>
              <a:pPr/>
              <a:t>14</a:t>
            </a:fld>
            <a:endParaRPr lang="en-IN"/>
          </a:p>
        </p:txBody>
      </p:sp>
      <p:sp>
        <p:nvSpPr>
          <p:cNvPr id="7" name="Footer Placeholder 6"/>
          <p:cNvSpPr>
            <a:spLocks noGrp="1"/>
          </p:cNvSpPr>
          <p:nvPr>
            <p:ph type="ftr" sz="quarter" idx="11"/>
          </p:nvPr>
        </p:nvSpPr>
        <p:spPr/>
        <p:txBody>
          <a:bodyPr/>
          <a:lstStyle/>
          <a:p>
            <a:r>
              <a:rPr lang="en-IN" smtClean="0"/>
              <a:t>Dr Jyoti K Sharma</a:t>
            </a:r>
            <a:endParaRPr lang="en-IN"/>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ChangeArrowheads="1"/>
          </p:cNvSpPr>
          <p:nvPr/>
        </p:nvSpPr>
        <p:spPr bwMode="auto">
          <a:xfrm>
            <a:off x="251520" y="260648"/>
            <a:ext cx="8568952" cy="6463308"/>
          </a:xfrm>
          <a:prstGeom prst="rect">
            <a:avLst/>
          </a:prstGeom>
          <a:noFill/>
          <a:ln w="9525">
            <a:noFill/>
            <a:miter lim="800000"/>
            <a:headEnd/>
            <a:tailEnd/>
          </a:ln>
        </p:spPr>
        <p:txBody>
          <a:bodyPr wrap="square" lIns="0" tIns="0" rIns="0" bIns="0">
            <a:spAutoFit/>
          </a:bodyPr>
          <a:lstStyle/>
          <a:p>
            <a:pPr indent="-342900" algn="ctr">
              <a:tabLst>
                <a:tab pos="571500" algn="l"/>
              </a:tabLst>
            </a:pPr>
            <a:r>
              <a:rPr lang="en-US" sz="1800" b="1" dirty="0" smtClean="0">
                <a:solidFill>
                  <a:srgbClr val="00FF00"/>
                </a:solidFill>
                <a:effectLst/>
                <a:latin typeface="Times New Roman" pitchFamily="18" charset="0"/>
                <a:cs typeface="Times New Roman" pitchFamily="18" charset="0"/>
              </a:rPr>
              <a:t> </a:t>
            </a:r>
            <a:r>
              <a:rPr lang="en-US" sz="3600" b="1" dirty="0">
                <a:solidFill>
                  <a:srgbClr val="006600"/>
                </a:solidFill>
                <a:effectLst/>
                <a:latin typeface="Times New Roman" pitchFamily="18" charset="0"/>
                <a:cs typeface="Times New Roman" pitchFamily="18" charset="0"/>
              </a:rPr>
              <a:t>ENVIRONMENTAL EDUCATION</a:t>
            </a:r>
          </a:p>
          <a:p>
            <a:pPr indent="-342900" eaLnBrk="0" hangingPunct="0">
              <a:tabLst>
                <a:tab pos="571500" algn="l"/>
              </a:tabLst>
            </a:pPr>
            <a:r>
              <a:rPr lang="en-US" sz="1600" dirty="0">
                <a:solidFill>
                  <a:srgbClr val="FFFF00"/>
                </a:solidFill>
                <a:effectLst/>
                <a:latin typeface="Times New Roman" pitchFamily="18" charset="0"/>
                <a:cs typeface="Times New Roman" pitchFamily="18" charset="0"/>
              </a:rPr>
              <a:t> </a:t>
            </a:r>
          </a:p>
          <a:p>
            <a:pPr indent="-342900" eaLnBrk="0" hangingPunct="0">
              <a:tabLst>
                <a:tab pos="571500" algn="l"/>
              </a:tabLst>
            </a:pPr>
            <a:r>
              <a:rPr lang="en-US" sz="2800" b="1" dirty="0" smtClean="0">
                <a:solidFill>
                  <a:srgbClr val="003399"/>
                </a:solidFill>
                <a:effectLst/>
                <a:latin typeface="Times New Roman" pitchFamily="18" charset="0"/>
                <a:cs typeface="Times New Roman" pitchFamily="18" charset="0"/>
              </a:rPr>
              <a:t>Pilots </a:t>
            </a:r>
            <a:r>
              <a:rPr lang="en-US" sz="2800" b="1" dirty="0">
                <a:solidFill>
                  <a:srgbClr val="003399"/>
                </a:solidFill>
                <a:effectLst/>
                <a:latin typeface="Times New Roman" pitchFamily="18" charset="0"/>
                <a:cs typeface="Times New Roman" pitchFamily="18" charset="0"/>
              </a:rPr>
              <a:t>studies – </a:t>
            </a:r>
            <a:r>
              <a:rPr lang="en-US" sz="2800" b="1" dirty="0">
                <a:effectLst/>
                <a:latin typeface="Times New Roman" pitchFamily="18" charset="0"/>
                <a:cs typeface="Times New Roman" pitchFamily="18" charset="0"/>
              </a:rPr>
              <a:t>real life situations dealing with plants, </a:t>
            </a:r>
            <a:r>
              <a:rPr lang="en-US" sz="2800" b="1" dirty="0" smtClean="0">
                <a:effectLst/>
                <a:latin typeface="Times New Roman" pitchFamily="18" charset="0"/>
                <a:cs typeface="Times New Roman" pitchFamily="18" charset="0"/>
              </a:rPr>
              <a:t>animals, pollution </a:t>
            </a:r>
            <a:r>
              <a:rPr lang="en-US" sz="2800" b="1" dirty="0">
                <a:effectLst/>
                <a:latin typeface="Times New Roman" pitchFamily="18" charset="0"/>
                <a:cs typeface="Times New Roman" pitchFamily="18" charset="0"/>
              </a:rPr>
              <a:t>and microorganisms.</a:t>
            </a:r>
          </a:p>
          <a:p>
            <a:pPr indent="-342900" eaLnBrk="0" hangingPunct="0">
              <a:tabLst>
                <a:tab pos="571500" algn="l"/>
              </a:tabLst>
            </a:pPr>
            <a:r>
              <a:rPr lang="en-US" sz="2800" b="1" dirty="0">
                <a:effectLst/>
                <a:latin typeface="Times New Roman" pitchFamily="18" charset="0"/>
                <a:cs typeface="Times New Roman" pitchFamily="18" charset="0"/>
              </a:rPr>
              <a:t> </a:t>
            </a:r>
            <a:r>
              <a:rPr lang="en-US" sz="2800" b="1" u="sng" dirty="0" smtClean="0">
                <a:solidFill>
                  <a:srgbClr val="FF0000"/>
                </a:solidFill>
                <a:effectLst/>
                <a:latin typeface="Times New Roman" pitchFamily="18" charset="0"/>
                <a:cs typeface="Times New Roman" pitchFamily="18" charset="0"/>
              </a:rPr>
              <a:t>A </a:t>
            </a:r>
            <a:r>
              <a:rPr lang="en-US" sz="2800" b="1" u="sng" dirty="0">
                <a:solidFill>
                  <a:srgbClr val="FF0000"/>
                </a:solidFill>
                <a:effectLst/>
                <a:latin typeface="Times New Roman" pitchFamily="18" charset="0"/>
                <a:cs typeface="Times New Roman" pitchFamily="18" charset="0"/>
              </a:rPr>
              <a:t>few examples:</a:t>
            </a:r>
            <a:endParaRPr lang="en-US" sz="2800" b="1" dirty="0">
              <a:solidFill>
                <a:srgbClr val="FF0000"/>
              </a:solidFill>
              <a:effectLst/>
              <a:latin typeface="Times New Roman" pitchFamily="18" charset="0"/>
              <a:cs typeface="Times New Roman" pitchFamily="18" charset="0"/>
            </a:endParaRPr>
          </a:p>
          <a:p>
            <a:pPr indent="-342900" eaLnBrk="0" hangingPunct="0">
              <a:tabLst>
                <a:tab pos="571500" algn="l"/>
              </a:tabLst>
            </a:pPr>
            <a:r>
              <a:rPr lang="en-US" sz="2800" b="1" dirty="0">
                <a:solidFill>
                  <a:srgbClr val="0070C0"/>
                </a:solidFill>
                <a:effectLst/>
                <a:latin typeface="Times New Roman" pitchFamily="18" charset="0"/>
                <a:cs typeface="Times New Roman" pitchFamily="18" charset="0"/>
              </a:rPr>
              <a:t> </a:t>
            </a:r>
          </a:p>
          <a:p>
            <a:pPr indent="-342900" eaLnBrk="0" hangingPunct="0">
              <a:tabLst>
                <a:tab pos="571500" algn="l"/>
              </a:tabLst>
            </a:pPr>
            <a:r>
              <a:rPr lang="en-US" sz="2800" b="1" dirty="0" err="1">
                <a:solidFill>
                  <a:srgbClr val="0070C0"/>
                </a:solidFill>
                <a:effectLst/>
                <a:latin typeface="Times New Roman" pitchFamily="18" charset="0"/>
                <a:cs typeface="Times New Roman" pitchFamily="18" charset="0"/>
              </a:rPr>
              <a:t>i</a:t>
            </a:r>
            <a:r>
              <a:rPr lang="en-US" sz="2800" b="1" dirty="0">
                <a:solidFill>
                  <a:srgbClr val="003399"/>
                </a:solidFill>
                <a:effectLst/>
                <a:latin typeface="Times New Roman" pitchFamily="18" charset="0"/>
                <a:cs typeface="Times New Roman" pitchFamily="18" charset="0"/>
              </a:rPr>
              <a:t>. </a:t>
            </a:r>
            <a:r>
              <a:rPr lang="en-US" sz="2800" b="1" dirty="0" smtClean="0">
                <a:solidFill>
                  <a:srgbClr val="003399"/>
                </a:solidFill>
                <a:effectLst/>
                <a:latin typeface="Times New Roman" pitchFamily="18" charset="0"/>
                <a:cs typeface="Times New Roman" pitchFamily="18" charset="0"/>
              </a:rPr>
              <a:t>Diversion </a:t>
            </a:r>
            <a:r>
              <a:rPr lang="en-US" sz="2800" b="1" dirty="0">
                <a:solidFill>
                  <a:srgbClr val="003399"/>
                </a:solidFill>
                <a:effectLst/>
                <a:latin typeface="Times New Roman" pitchFamily="18" charset="0"/>
                <a:cs typeface="Times New Roman" pitchFamily="18" charset="0"/>
              </a:rPr>
              <a:t>of paddy fields for construction or other purposes adversely </a:t>
            </a:r>
            <a:r>
              <a:rPr lang="en-US" sz="2800" b="1" dirty="0" smtClean="0">
                <a:solidFill>
                  <a:srgbClr val="003399"/>
                </a:solidFill>
                <a:effectLst/>
                <a:latin typeface="Times New Roman" pitchFamily="18" charset="0"/>
                <a:cs typeface="Times New Roman" pitchFamily="18" charset="0"/>
              </a:rPr>
              <a:t>affect </a:t>
            </a:r>
            <a:r>
              <a:rPr lang="en-US" sz="2800" b="1" dirty="0">
                <a:solidFill>
                  <a:srgbClr val="003399"/>
                </a:solidFill>
                <a:effectLst/>
                <a:latin typeface="Times New Roman" pitchFamily="18" charset="0"/>
                <a:cs typeface="Times New Roman" pitchFamily="18" charset="0"/>
              </a:rPr>
              <a:t>the aquatic biodiversity and ecosystem.</a:t>
            </a:r>
          </a:p>
          <a:p>
            <a:pPr indent="-342900" eaLnBrk="0" hangingPunct="0">
              <a:tabLst>
                <a:tab pos="571500" algn="l"/>
              </a:tabLst>
            </a:pPr>
            <a:r>
              <a:rPr lang="en-US" sz="2800" b="1" dirty="0" smtClean="0">
                <a:effectLst/>
                <a:latin typeface="Times New Roman" pitchFamily="18" charset="0"/>
                <a:cs typeface="Times New Roman" pitchFamily="18" charset="0"/>
              </a:rPr>
              <a:t>ii </a:t>
            </a:r>
            <a:r>
              <a:rPr lang="en-US" sz="2800" b="1" dirty="0">
                <a:effectLst/>
                <a:latin typeface="Times New Roman" pitchFamily="18" charset="0"/>
                <a:cs typeface="Times New Roman" pitchFamily="18" charset="0"/>
              </a:rPr>
              <a:t>Removal of natural flora/forest and replaced by monoculture plantations can benefit industries and not local people.</a:t>
            </a:r>
          </a:p>
          <a:p>
            <a:pPr indent="-342900" eaLnBrk="0" hangingPunct="0">
              <a:tabLst>
                <a:tab pos="571500" algn="l"/>
              </a:tabLst>
            </a:pPr>
            <a:r>
              <a:rPr lang="en-US" sz="2800" b="1" dirty="0" smtClean="0">
                <a:solidFill>
                  <a:srgbClr val="003399"/>
                </a:solidFill>
                <a:effectLst/>
                <a:latin typeface="Times New Roman" pitchFamily="18" charset="0"/>
                <a:cs typeface="Times New Roman" pitchFamily="18" charset="0"/>
              </a:rPr>
              <a:t>iii. Diversion of agricultural lands for urban expansion </a:t>
            </a:r>
            <a:r>
              <a:rPr lang="en-US" sz="2800" b="1" dirty="0">
                <a:solidFill>
                  <a:srgbClr val="003399"/>
                </a:solidFill>
                <a:effectLst/>
                <a:latin typeface="Times New Roman" pitchFamily="18" charset="0"/>
                <a:cs typeface="Times New Roman" pitchFamily="18" charset="0"/>
              </a:rPr>
              <a:t>adversely affects </a:t>
            </a:r>
            <a:r>
              <a:rPr lang="en-US" sz="2800" b="1" dirty="0" smtClean="0">
                <a:solidFill>
                  <a:srgbClr val="003399"/>
                </a:solidFill>
                <a:effectLst/>
                <a:latin typeface="Times New Roman" pitchFamily="18" charset="0"/>
                <a:cs typeface="Times New Roman" pitchFamily="18" charset="0"/>
              </a:rPr>
              <a:t>cultivated and wild biodiversity</a:t>
            </a:r>
            <a:r>
              <a:rPr lang="en-US" sz="2800" b="1" dirty="0">
                <a:solidFill>
                  <a:srgbClr val="003399"/>
                </a:solidFill>
                <a:effectLst/>
                <a:latin typeface="Times New Roman" pitchFamily="18" charset="0"/>
                <a:cs typeface="Times New Roman" pitchFamily="18" charset="0"/>
              </a:rPr>
              <a:t>.</a:t>
            </a:r>
          </a:p>
          <a:p>
            <a:pPr indent="-342900" eaLnBrk="0" hangingPunct="0">
              <a:tabLst>
                <a:tab pos="571500" algn="l"/>
              </a:tabLst>
            </a:pPr>
            <a:endParaRPr lang="en-US" sz="3200" dirty="0">
              <a:solidFill>
                <a:srgbClr val="FFFF00"/>
              </a:solidFill>
              <a:effectLst/>
              <a:latin typeface="Times New Roman" pitchFamily="18" charset="0"/>
            </a:endParaRPr>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3EC557F8-4627-4819-9862-FC93DEA08380}" type="datetime1">
              <a:rPr lang="en-IN" smtClean="0"/>
              <a:pPr/>
              <a:t>13-11-2017</a:t>
            </a:fld>
            <a:endParaRPr lang="en-IN"/>
          </a:p>
        </p:txBody>
      </p:sp>
      <p:sp>
        <p:nvSpPr>
          <p:cNvPr id="6" name="Slide Number Placeholder 5"/>
          <p:cNvSpPr>
            <a:spLocks noGrp="1"/>
          </p:cNvSpPr>
          <p:nvPr>
            <p:ph type="sldNum" sz="quarter" idx="12"/>
          </p:nvPr>
        </p:nvSpPr>
        <p:spPr/>
        <p:txBody>
          <a:bodyPr/>
          <a:lstStyle/>
          <a:p>
            <a:fld id="{49DA5783-7B05-41EA-B994-A0D58367EB40}" type="slidenum">
              <a:rPr lang="en-IN" smtClean="0"/>
              <a:pPr/>
              <a:t>15</a:t>
            </a:fld>
            <a:endParaRPr lang="en-IN"/>
          </a:p>
        </p:txBody>
      </p:sp>
      <p:sp>
        <p:nvSpPr>
          <p:cNvPr id="7" name="Footer Placeholder 6"/>
          <p:cNvSpPr>
            <a:spLocks noGrp="1"/>
          </p:cNvSpPr>
          <p:nvPr>
            <p:ph type="ftr" sz="quarter" idx="11"/>
          </p:nvPr>
        </p:nvSpPr>
        <p:spPr/>
        <p:txBody>
          <a:bodyPr/>
          <a:lstStyle/>
          <a:p>
            <a:r>
              <a:rPr lang="en-IN" smtClean="0"/>
              <a:t>Dr Jyoti K Sharma</a:t>
            </a: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064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8"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006600"/>
                </a:solidFill>
                <a:latin typeface="Times New Roman" pitchFamily="18" charset="0"/>
                <a:cs typeface="Times New Roman" pitchFamily="18" charset="0"/>
              </a:rPr>
              <a:t>ENVIRONMENTAL EDUCATION</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96752"/>
            <a:ext cx="8229600" cy="4929411"/>
          </a:xfrm>
        </p:spPr>
        <p:txBody>
          <a:bodyPr>
            <a:normAutofit/>
          </a:bodyPr>
          <a:lstStyle/>
          <a:p>
            <a:pPr eaLnBrk="0" hangingPunct="0">
              <a:buNone/>
              <a:tabLst>
                <a:tab pos="571500" algn="l"/>
              </a:tabLst>
            </a:pPr>
            <a:r>
              <a:rPr lang="en-US" sz="2800" b="1" dirty="0" smtClean="0">
                <a:latin typeface="Times New Roman" pitchFamily="18" charset="0"/>
                <a:cs typeface="Times New Roman" pitchFamily="18" charset="0"/>
              </a:rPr>
              <a:t>iv. Damage caused by rats, monkeys and other wild animals in agricultural crops – gregarious flowering of bamboos in NE.</a:t>
            </a:r>
          </a:p>
          <a:p>
            <a:pPr eaLnBrk="0" hangingPunct="0">
              <a:buNone/>
              <a:tabLst>
                <a:tab pos="571500" algn="l"/>
              </a:tabLst>
            </a:pPr>
            <a:r>
              <a:rPr lang="en-US" sz="2800" b="1" dirty="0" smtClean="0">
                <a:solidFill>
                  <a:srgbClr val="003399"/>
                </a:solidFill>
                <a:latin typeface="Times New Roman" pitchFamily="18" charset="0"/>
                <a:cs typeface="Times New Roman" pitchFamily="18" charset="0"/>
              </a:rPr>
              <a:t>v.  Grazing by cattle/goats adversely affects the natural ecosystem.</a:t>
            </a:r>
          </a:p>
          <a:p>
            <a:pPr eaLnBrk="0" hangingPunct="0">
              <a:buNone/>
              <a:tabLst>
                <a:tab pos="571500" algn="l"/>
              </a:tabLst>
            </a:pPr>
            <a:r>
              <a:rPr lang="en-US" sz="2800" b="1" dirty="0" smtClean="0">
                <a:latin typeface="Times New Roman" pitchFamily="18" charset="0"/>
                <a:cs typeface="Times New Roman" pitchFamily="18" charset="0"/>
              </a:rPr>
              <a:t>vi. Use of excessive pesticides on biodiversity – flora and fauna.</a:t>
            </a:r>
          </a:p>
          <a:p>
            <a:pPr eaLnBrk="0" hangingPunct="0">
              <a:buNone/>
              <a:tabLst>
                <a:tab pos="571500" algn="l"/>
              </a:tabLst>
            </a:pPr>
            <a:r>
              <a:rPr lang="en-US" sz="2800" b="1" dirty="0" smtClean="0">
                <a:solidFill>
                  <a:srgbClr val="003399"/>
                </a:solidFill>
                <a:latin typeface="Times New Roman" pitchFamily="18" charset="0"/>
                <a:cs typeface="Times New Roman" pitchFamily="18" charset="0"/>
              </a:rPr>
              <a:t>vii. Effect of environmental pollution on plant health – physiological parameters.</a:t>
            </a:r>
          </a:p>
          <a:p>
            <a:endParaRPr lang="en-US" dirty="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974D6A81-2D61-479E-A347-E608AEDAFCB2}" type="datetime1">
              <a:rPr lang="en-IN" smtClean="0"/>
              <a:pPr/>
              <a:t>13-11-2017</a:t>
            </a:fld>
            <a:endParaRPr lang="en-IN"/>
          </a:p>
        </p:txBody>
      </p:sp>
      <p:sp>
        <p:nvSpPr>
          <p:cNvPr id="6" name="Slide Number Placeholder 5"/>
          <p:cNvSpPr>
            <a:spLocks noGrp="1"/>
          </p:cNvSpPr>
          <p:nvPr>
            <p:ph type="sldNum" sz="quarter" idx="12"/>
          </p:nvPr>
        </p:nvSpPr>
        <p:spPr/>
        <p:txBody>
          <a:bodyPr/>
          <a:lstStyle/>
          <a:p>
            <a:fld id="{49DA5783-7B05-41EA-B994-A0D58367EB40}" type="slidenum">
              <a:rPr lang="en-IN" smtClean="0"/>
              <a:pPr/>
              <a:t>16</a:t>
            </a:fld>
            <a:endParaRPr lang="en-IN"/>
          </a:p>
        </p:txBody>
      </p:sp>
      <p:sp>
        <p:nvSpPr>
          <p:cNvPr id="7" name="Footer Placeholder 6"/>
          <p:cNvSpPr>
            <a:spLocks noGrp="1"/>
          </p:cNvSpPr>
          <p:nvPr>
            <p:ph type="ftr" sz="quarter" idx="11"/>
          </p:nvPr>
        </p:nvSpPr>
        <p:spPr/>
        <p:txBody>
          <a:bodyPr/>
          <a:lstStyle/>
          <a:p>
            <a:r>
              <a:rPr lang="en-IN" smtClean="0"/>
              <a:t>Dr Jyoti K Sharma</a:t>
            </a:r>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normAutofit fontScale="90000"/>
          </a:bodyPr>
          <a:lstStyle/>
          <a:p>
            <a:r>
              <a:rPr lang="en-US" b="1" dirty="0" smtClean="0">
                <a:solidFill>
                  <a:srgbClr val="006600"/>
                </a:solidFill>
                <a:latin typeface="Times New Roman" pitchFamily="18" charset="0"/>
                <a:cs typeface="Times New Roman" pitchFamily="18" charset="0"/>
              </a:rPr>
              <a:t>ENVIRONMENTAL EDUCATION</a:t>
            </a:r>
            <a:endParaRPr lang="en-IN" dirty="0"/>
          </a:p>
        </p:txBody>
      </p:sp>
      <p:sp>
        <p:nvSpPr>
          <p:cNvPr id="3" name="Content Placeholder 2"/>
          <p:cNvSpPr>
            <a:spLocks noGrp="1"/>
          </p:cNvSpPr>
          <p:nvPr>
            <p:ph idx="1"/>
          </p:nvPr>
        </p:nvSpPr>
        <p:spPr>
          <a:xfrm>
            <a:off x="457200" y="1124744"/>
            <a:ext cx="8229600" cy="5001419"/>
          </a:xfrm>
        </p:spPr>
        <p:txBody>
          <a:bodyPr>
            <a:normAutofit fontScale="92500" lnSpcReduction="20000"/>
          </a:bodyPr>
          <a:lstStyle/>
          <a:p>
            <a:pPr eaLnBrk="0" hangingPunct="0">
              <a:buNone/>
              <a:tabLst>
                <a:tab pos="571500" algn="l"/>
              </a:tabLst>
            </a:pPr>
            <a:r>
              <a:rPr lang="en-US" b="1" dirty="0" smtClean="0">
                <a:latin typeface="Times New Roman" pitchFamily="18" charset="0"/>
                <a:cs typeface="Times New Roman" pitchFamily="18" charset="0"/>
              </a:rPr>
              <a:t>viii. Mushroom flora of an area – identifying useful/edible and poisonous mushrooms in disturbed and undisturbed forest ecosystem.</a:t>
            </a:r>
          </a:p>
          <a:p>
            <a:pPr eaLnBrk="0" hangingPunct="0">
              <a:buNone/>
              <a:tabLst>
                <a:tab pos="571500" algn="l"/>
              </a:tabLst>
            </a:pPr>
            <a:r>
              <a:rPr lang="en-US" b="1" dirty="0" smtClean="0">
                <a:solidFill>
                  <a:srgbClr val="0033CC"/>
                </a:solidFill>
                <a:latin typeface="Times New Roman" pitchFamily="18" charset="0"/>
                <a:cs typeface="Times New Roman" pitchFamily="18" charset="0"/>
              </a:rPr>
              <a:t>ix. Waste generated in your locality and its disposal</a:t>
            </a:r>
          </a:p>
          <a:p>
            <a:pPr eaLnBrk="0" hangingPunct="0">
              <a:buNone/>
              <a:tabLst>
                <a:tab pos="571500" algn="l"/>
              </a:tabLst>
            </a:pPr>
            <a:r>
              <a:rPr lang="en-US" b="1" dirty="0" smtClean="0">
                <a:latin typeface="Times New Roman" pitchFamily="18" charset="0"/>
                <a:cs typeface="Times New Roman" pitchFamily="18" charset="0"/>
              </a:rPr>
              <a:t>x. Water pollution in irrigation water canals</a:t>
            </a:r>
          </a:p>
          <a:p>
            <a:pPr eaLnBrk="0" hangingPunct="0">
              <a:buNone/>
              <a:tabLst>
                <a:tab pos="571500" algn="l"/>
              </a:tabLst>
            </a:pPr>
            <a:r>
              <a:rPr lang="en-US" b="1" dirty="0" smtClean="0">
                <a:solidFill>
                  <a:srgbClr val="0033CC"/>
                </a:solidFill>
                <a:latin typeface="Times New Roman" pitchFamily="18" charset="0"/>
                <a:cs typeface="Times New Roman" pitchFamily="18" charset="0"/>
              </a:rPr>
              <a:t>xi. Plants of your locality and identification of medicinal plants and their uses.</a:t>
            </a:r>
          </a:p>
          <a:p>
            <a:pPr eaLnBrk="0" hangingPunct="0">
              <a:buNone/>
              <a:tabLst>
                <a:tab pos="571500" algn="l"/>
              </a:tabLst>
            </a:pPr>
            <a:r>
              <a:rPr lang="en-US" b="1" dirty="0" smtClean="0">
                <a:latin typeface="Times New Roman" pitchFamily="18" charset="0"/>
                <a:cs typeface="Times New Roman" pitchFamily="18" charset="0"/>
              </a:rPr>
              <a:t>xii. Effect of Dust pollution on agriculture plants and their productivity</a:t>
            </a:r>
          </a:p>
          <a:p>
            <a:pPr eaLnBrk="0" hangingPunct="0">
              <a:buNone/>
              <a:tabLst>
                <a:tab pos="571500" algn="l"/>
              </a:tabLst>
            </a:pPr>
            <a:r>
              <a:rPr lang="en-US" b="1" dirty="0" smtClean="0">
                <a:latin typeface="Times New Roman" pitchFamily="18" charset="0"/>
                <a:cs typeface="Times New Roman" pitchFamily="18" charset="0"/>
              </a:rPr>
              <a:t>xiii. Organizing fares/</a:t>
            </a:r>
            <a:r>
              <a:rPr lang="en-US" b="1" dirty="0" err="1" smtClean="0">
                <a:latin typeface="Times New Roman" pitchFamily="18" charset="0"/>
                <a:cs typeface="Times New Roman" pitchFamily="18" charset="0"/>
              </a:rPr>
              <a:t>melas</a:t>
            </a:r>
            <a:r>
              <a:rPr lang="en-US" b="1" dirty="0" smtClean="0">
                <a:latin typeface="Times New Roman" pitchFamily="18" charset="0"/>
                <a:cs typeface="Times New Roman" pitchFamily="18" charset="0"/>
              </a:rPr>
              <a:t> of agricultural biodiversity (through seeds) of a region</a:t>
            </a:r>
          </a:p>
          <a:p>
            <a:endParaRPr lang="en-IN" dirty="0"/>
          </a:p>
        </p:txBody>
      </p:sp>
      <p:sp>
        <p:nvSpPr>
          <p:cNvPr id="4" name="Date Placeholder 3"/>
          <p:cNvSpPr>
            <a:spLocks noGrp="1"/>
          </p:cNvSpPr>
          <p:nvPr>
            <p:ph type="dt" sz="half" idx="10"/>
          </p:nvPr>
        </p:nvSpPr>
        <p:spPr/>
        <p:txBody>
          <a:bodyPr/>
          <a:lstStyle/>
          <a:p>
            <a:fld id="{5752294C-30C0-4924-A94E-7D712056415E}" type="datetime1">
              <a:rPr lang="en-IN" smtClean="0"/>
              <a:pPr/>
              <a:t>13-11-2017</a:t>
            </a:fld>
            <a:endParaRPr lang="en-IN"/>
          </a:p>
        </p:txBody>
      </p:sp>
      <p:sp>
        <p:nvSpPr>
          <p:cNvPr id="5" name="Footer Placeholder 4"/>
          <p:cNvSpPr>
            <a:spLocks noGrp="1"/>
          </p:cNvSpPr>
          <p:nvPr>
            <p:ph type="ftr" sz="quarter" idx="11"/>
          </p:nvPr>
        </p:nvSpPr>
        <p:spPr/>
        <p:txBody>
          <a:bodyPr/>
          <a:lstStyle/>
          <a:p>
            <a:r>
              <a:rPr lang="en-IN" smtClean="0"/>
              <a:t>Dr Jyoti K Sharma</a:t>
            </a:r>
            <a:endParaRPr lang="en-IN"/>
          </a:p>
        </p:txBody>
      </p:sp>
      <p:sp>
        <p:nvSpPr>
          <p:cNvPr id="6" name="Slide Number Placeholder 5"/>
          <p:cNvSpPr>
            <a:spLocks noGrp="1"/>
          </p:cNvSpPr>
          <p:nvPr>
            <p:ph type="sldNum" sz="quarter" idx="12"/>
          </p:nvPr>
        </p:nvSpPr>
        <p:spPr/>
        <p:txBody>
          <a:bodyPr/>
          <a:lstStyle/>
          <a:p>
            <a:fld id="{49DA5783-7B05-41EA-B994-A0D58367EB40}" type="slidenum">
              <a:rPr lang="en-IN" smtClean="0"/>
              <a:pPr/>
              <a:t>17</a:t>
            </a:fld>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834" name="Picture 2" descr="efig0001"/>
          <p:cNvPicPr>
            <a:picLocks noChangeAspect="1" noChangeArrowheads="1"/>
          </p:cNvPicPr>
          <p:nvPr/>
        </p:nvPicPr>
        <p:blipFill>
          <a:blip r:embed="rId2" cstate="print">
            <a:lum bright="-4000" contrast="24000"/>
          </a:blip>
          <a:srcRect/>
          <a:stretch>
            <a:fillRect/>
          </a:stretch>
        </p:blipFill>
        <p:spPr bwMode="auto">
          <a:xfrm>
            <a:off x="4237038" y="1371600"/>
            <a:ext cx="4906962" cy="5486400"/>
          </a:xfrm>
          <a:prstGeom prst="rect">
            <a:avLst/>
          </a:prstGeom>
          <a:noFill/>
          <a:ln w="9525">
            <a:noFill/>
            <a:miter lim="800000"/>
            <a:headEnd/>
            <a:tailEnd/>
          </a:ln>
        </p:spPr>
      </p:pic>
      <p:sp>
        <p:nvSpPr>
          <p:cNvPr id="120835" name="Text Box 3"/>
          <p:cNvSpPr txBox="1">
            <a:spLocks noChangeArrowheads="1"/>
          </p:cNvSpPr>
          <p:nvPr/>
        </p:nvSpPr>
        <p:spPr bwMode="auto">
          <a:xfrm>
            <a:off x="609600" y="304800"/>
            <a:ext cx="8534400" cy="579438"/>
          </a:xfrm>
          <a:prstGeom prst="rect">
            <a:avLst/>
          </a:prstGeom>
          <a:noFill/>
          <a:ln w="9525">
            <a:noFill/>
            <a:miter lim="800000"/>
            <a:headEnd/>
            <a:tailEnd/>
          </a:ln>
          <a:effectLst/>
        </p:spPr>
        <p:txBody>
          <a:bodyPr>
            <a:spAutoFit/>
          </a:bodyPr>
          <a:lstStyle/>
          <a:p>
            <a:pPr>
              <a:spcBef>
                <a:spcPct val="50000"/>
              </a:spcBef>
              <a:defRPr/>
            </a:pPr>
            <a:r>
              <a:rPr lang="en-US" sz="3200" b="1" dirty="0">
                <a:solidFill>
                  <a:srgbClr val="FFFF00"/>
                </a:solidFill>
                <a:effectLst>
                  <a:outerShdw blurRad="38100" dist="38100" dir="2700000" algn="tl">
                    <a:srgbClr val="000000"/>
                  </a:outerShdw>
                </a:effectLst>
                <a:latin typeface="Comic Sans MS" pitchFamily="66" charset="0"/>
              </a:rPr>
              <a:t>Biodiversity and Environmental  Education</a:t>
            </a:r>
          </a:p>
        </p:txBody>
      </p:sp>
      <p:sp>
        <p:nvSpPr>
          <p:cNvPr id="120836" name="Oval 4"/>
          <p:cNvSpPr>
            <a:spLocks noChangeArrowheads="1"/>
          </p:cNvSpPr>
          <p:nvPr/>
        </p:nvSpPr>
        <p:spPr bwMode="auto">
          <a:xfrm>
            <a:off x="0" y="838200"/>
            <a:ext cx="4191000" cy="1905000"/>
          </a:xfrm>
          <a:prstGeom prst="ellipse">
            <a:avLst/>
          </a:prstGeom>
          <a:solidFill>
            <a:srgbClr val="666633"/>
          </a:solidFill>
          <a:ln w="9525">
            <a:noFill/>
            <a:round/>
            <a:headEnd/>
            <a:tailEnd/>
          </a:ln>
        </p:spPr>
        <p:txBody>
          <a:bodyPr wrap="none" anchor="ctr"/>
          <a:lstStyle/>
          <a:p>
            <a:pPr algn="ctr"/>
            <a:r>
              <a:rPr lang="en-US" sz="2400" b="1">
                <a:solidFill>
                  <a:srgbClr val="00FF00"/>
                </a:solidFill>
                <a:effectLst/>
              </a:rPr>
              <a:t>A few illustrated examples</a:t>
            </a:r>
          </a:p>
          <a:p>
            <a:pPr algn="ctr"/>
            <a:r>
              <a:rPr lang="en-US" sz="2400" b="1">
                <a:solidFill>
                  <a:srgbClr val="00FF00"/>
                </a:solidFill>
                <a:effectLst/>
              </a:rPr>
              <a:t> of pilot studies with </a:t>
            </a:r>
          </a:p>
          <a:p>
            <a:pPr algn="ctr"/>
            <a:r>
              <a:rPr lang="en-US" sz="2400" b="1">
                <a:solidFill>
                  <a:srgbClr val="00FF00"/>
                </a:solidFill>
                <a:effectLst/>
              </a:rPr>
              <a:t>reference to forests</a:t>
            </a:r>
          </a:p>
        </p:txBody>
      </p:sp>
      <p:sp>
        <p:nvSpPr>
          <p:cNvPr id="120838" name="Text Box 6"/>
          <p:cNvSpPr txBox="1">
            <a:spLocks noChangeArrowheads="1"/>
          </p:cNvSpPr>
          <p:nvPr/>
        </p:nvSpPr>
        <p:spPr bwMode="auto">
          <a:xfrm>
            <a:off x="381000" y="3352800"/>
            <a:ext cx="3657600" cy="3416320"/>
          </a:xfrm>
          <a:prstGeom prst="rect">
            <a:avLst/>
          </a:prstGeom>
          <a:noFill/>
          <a:ln w="9525">
            <a:noFill/>
            <a:miter lim="800000"/>
            <a:headEnd/>
            <a:tailEnd/>
          </a:ln>
          <a:effectLst/>
        </p:spPr>
        <p:txBody>
          <a:bodyPr>
            <a:spAutoFit/>
          </a:bodyPr>
          <a:lstStyle/>
          <a:p>
            <a:pPr marL="457200" indent="-457200">
              <a:spcBef>
                <a:spcPct val="50000"/>
              </a:spcBef>
              <a:buFontTx/>
              <a:buAutoNum type="arabicPeriod"/>
              <a:defRPr/>
            </a:pPr>
            <a:r>
              <a:rPr lang="en-US" sz="2400" b="1" dirty="0">
                <a:solidFill>
                  <a:srgbClr val="0070C0"/>
                </a:solidFill>
                <a:effectLst>
                  <a:outerShdw blurRad="38100" dist="38100" dir="2700000" algn="tl">
                    <a:srgbClr val="000000"/>
                  </a:outerShdw>
                </a:effectLst>
                <a:cs typeface="Times New Roman" pitchFamily="18" charset="0"/>
              </a:rPr>
              <a:t>Biodiversity of an ecosystem is related to its  species richness. </a:t>
            </a:r>
            <a:endParaRPr lang="en-US" sz="2400" b="1" dirty="0" smtClean="0">
              <a:solidFill>
                <a:srgbClr val="0070C0"/>
              </a:solidFill>
              <a:effectLst>
                <a:outerShdw blurRad="38100" dist="38100" dir="2700000" algn="tl">
                  <a:srgbClr val="000000"/>
                </a:outerShdw>
              </a:effectLst>
              <a:cs typeface="Times New Roman" pitchFamily="18" charset="0"/>
            </a:endParaRPr>
          </a:p>
          <a:p>
            <a:pPr marL="457200" indent="-457200">
              <a:spcBef>
                <a:spcPct val="50000"/>
              </a:spcBef>
              <a:buFontTx/>
              <a:buAutoNum type="arabicPeriod"/>
              <a:defRPr/>
            </a:pPr>
            <a:r>
              <a:rPr lang="en-US" sz="2400" b="1" dirty="0" smtClean="0">
                <a:solidFill>
                  <a:srgbClr val="0070C0"/>
                </a:solidFill>
                <a:effectLst>
                  <a:outerShdw blurRad="38100" dist="38100" dir="2700000" algn="tl">
                    <a:srgbClr val="000000"/>
                  </a:outerShdw>
                </a:effectLst>
                <a:cs typeface="Times New Roman" pitchFamily="18" charset="0"/>
              </a:rPr>
              <a:t> </a:t>
            </a:r>
            <a:r>
              <a:rPr lang="en-US" sz="2400" b="1" dirty="0">
                <a:solidFill>
                  <a:srgbClr val="0070C0"/>
                </a:solidFill>
                <a:effectLst>
                  <a:outerShdw blurRad="38100" dist="38100" dir="2700000" algn="tl">
                    <a:srgbClr val="000000"/>
                  </a:outerShdw>
                </a:effectLst>
                <a:cs typeface="Times New Roman" pitchFamily="18" charset="0"/>
              </a:rPr>
              <a:t>Large number of species in an area is an indication of stable ecosystem.</a:t>
            </a:r>
            <a:endParaRPr lang="en-US" sz="2400" dirty="0">
              <a:solidFill>
                <a:srgbClr val="0070C0"/>
              </a:solidFill>
              <a:effectLst>
                <a:outerShdw blurRad="38100" dist="38100" dir="2700000" algn="tl">
                  <a:srgbClr val="000000"/>
                </a:outerShdw>
              </a:effectLst>
            </a:endParaRPr>
          </a:p>
          <a:p>
            <a:pPr marL="457200" indent="-457200">
              <a:spcBef>
                <a:spcPct val="50000"/>
              </a:spcBef>
              <a:defRPr/>
            </a:pPr>
            <a:endParaRPr lang="en-US" sz="2400" dirty="0">
              <a:solidFill>
                <a:srgbClr val="FFFF00"/>
              </a:solidFill>
              <a:effectLst>
                <a:outerShdw blurRad="38100" dist="38100" dir="2700000" algn="tl">
                  <a:srgbClr val="000000"/>
                </a:outerShdw>
              </a:effectLst>
            </a:endParaRPr>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8" name="Date Placeholder 7"/>
          <p:cNvSpPr>
            <a:spLocks noGrp="1"/>
          </p:cNvSpPr>
          <p:nvPr>
            <p:ph type="dt" sz="half" idx="10"/>
          </p:nvPr>
        </p:nvSpPr>
        <p:spPr/>
        <p:txBody>
          <a:bodyPr/>
          <a:lstStyle/>
          <a:p>
            <a:fld id="{5FBFE964-1BFD-4C15-957F-5F1698587B29}" type="datetime1">
              <a:rPr lang="en-IN" smtClean="0"/>
              <a:pPr/>
              <a:t>13-11-2017</a:t>
            </a:fld>
            <a:endParaRPr lang="en-IN"/>
          </a:p>
        </p:txBody>
      </p:sp>
      <p:sp>
        <p:nvSpPr>
          <p:cNvPr id="9" name="Slide Number Placeholder 8"/>
          <p:cNvSpPr>
            <a:spLocks noGrp="1"/>
          </p:cNvSpPr>
          <p:nvPr>
            <p:ph type="sldNum" sz="quarter" idx="12"/>
          </p:nvPr>
        </p:nvSpPr>
        <p:spPr/>
        <p:txBody>
          <a:bodyPr/>
          <a:lstStyle/>
          <a:p>
            <a:fld id="{49DA5783-7B05-41EA-B994-A0D58367EB40}" type="slidenum">
              <a:rPr lang="en-IN" smtClean="0"/>
              <a:pPr/>
              <a:t>18</a:t>
            </a:fld>
            <a:endParaRPr lang="en-IN"/>
          </a:p>
        </p:txBody>
      </p:sp>
      <p:sp>
        <p:nvSpPr>
          <p:cNvPr id="10" name="Footer Placeholder 9"/>
          <p:cNvSpPr>
            <a:spLocks noGrp="1"/>
          </p:cNvSpPr>
          <p:nvPr>
            <p:ph type="ftr" sz="quarter" idx="11"/>
          </p:nvPr>
        </p:nvSpPr>
        <p:spPr/>
        <p:txBody>
          <a:bodyPr/>
          <a:lstStyle/>
          <a:p>
            <a:r>
              <a:rPr lang="en-IN" smtClean="0"/>
              <a:t>Dr Jyoti K Sharma</a:t>
            </a: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20836"/>
                                        </p:tgtEl>
                                        <p:attrNameLst>
                                          <p:attrName>style.visibility</p:attrName>
                                        </p:attrNameLst>
                                      </p:cBhvr>
                                      <p:to>
                                        <p:strVal val="visible"/>
                                      </p:to>
                                    </p:set>
                                    <p:anim calcmode="lin" valueType="num">
                                      <p:cBhvr additive="base">
                                        <p:cTn id="7" dur="500" fill="hold"/>
                                        <p:tgtEl>
                                          <p:spTgt spid="120836"/>
                                        </p:tgtEl>
                                        <p:attrNameLst>
                                          <p:attrName>ppt_x</p:attrName>
                                        </p:attrNameLst>
                                      </p:cBhvr>
                                      <p:tavLst>
                                        <p:tav tm="0">
                                          <p:val>
                                            <p:strVal val="0-#ppt_w/2"/>
                                          </p:val>
                                        </p:tav>
                                        <p:tav tm="100000">
                                          <p:val>
                                            <p:strVal val="#ppt_x"/>
                                          </p:val>
                                        </p:tav>
                                      </p:tavLst>
                                    </p:anim>
                                    <p:anim calcmode="lin" valueType="num">
                                      <p:cBhvr additive="base">
                                        <p:cTn id="8" dur="500" fill="hold"/>
                                        <p:tgtEl>
                                          <p:spTgt spid="12083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20838"/>
                                        </p:tgtEl>
                                        <p:attrNameLst>
                                          <p:attrName>style.visibility</p:attrName>
                                        </p:attrNameLst>
                                      </p:cBhvr>
                                      <p:to>
                                        <p:strVal val="visible"/>
                                      </p:to>
                                    </p:set>
                                    <p:anim calcmode="lin" valueType="num">
                                      <p:cBhvr additive="base">
                                        <p:cTn id="12" dur="500" fill="hold"/>
                                        <p:tgtEl>
                                          <p:spTgt spid="120838"/>
                                        </p:tgtEl>
                                        <p:attrNameLst>
                                          <p:attrName>ppt_x</p:attrName>
                                        </p:attrNameLst>
                                      </p:cBhvr>
                                      <p:tavLst>
                                        <p:tav tm="0">
                                          <p:val>
                                            <p:strVal val="#ppt_x"/>
                                          </p:val>
                                        </p:tav>
                                        <p:tav tm="100000">
                                          <p:val>
                                            <p:strVal val="#ppt_x"/>
                                          </p:val>
                                        </p:tav>
                                      </p:tavLst>
                                    </p:anim>
                                    <p:anim calcmode="lin" valueType="num">
                                      <p:cBhvr additive="base">
                                        <p:cTn id="13" dur="500" fill="hold"/>
                                        <p:tgtEl>
                                          <p:spTgt spid="120838"/>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17" presetClass="entr" presetSubtype="10" fill="hold" nodeType="afterEffect">
                                  <p:stCondLst>
                                    <p:cond delay="0"/>
                                  </p:stCondLst>
                                  <p:childTnLst>
                                    <p:set>
                                      <p:cBhvr>
                                        <p:cTn id="16" dur="1" fill="hold">
                                          <p:stCondLst>
                                            <p:cond delay="0"/>
                                          </p:stCondLst>
                                        </p:cTn>
                                        <p:tgtEl>
                                          <p:spTgt spid="120834"/>
                                        </p:tgtEl>
                                        <p:attrNameLst>
                                          <p:attrName>style.visibility</p:attrName>
                                        </p:attrNameLst>
                                      </p:cBhvr>
                                      <p:to>
                                        <p:strVal val="visible"/>
                                      </p:to>
                                    </p:set>
                                    <p:anim calcmode="lin" valueType="num">
                                      <p:cBhvr>
                                        <p:cTn id="17" dur="500" fill="hold"/>
                                        <p:tgtEl>
                                          <p:spTgt spid="120834"/>
                                        </p:tgtEl>
                                        <p:attrNameLst>
                                          <p:attrName>ppt_w</p:attrName>
                                        </p:attrNameLst>
                                      </p:cBhvr>
                                      <p:tavLst>
                                        <p:tav tm="0">
                                          <p:val>
                                            <p:fltVal val="0"/>
                                          </p:val>
                                        </p:tav>
                                        <p:tav tm="100000">
                                          <p:val>
                                            <p:strVal val="#ppt_w"/>
                                          </p:val>
                                        </p:tav>
                                      </p:tavLst>
                                    </p:anim>
                                    <p:anim calcmode="lin" valueType="num">
                                      <p:cBhvr>
                                        <p:cTn id="18" dur="500" fill="hold"/>
                                        <p:tgtEl>
                                          <p:spTgt spid="12083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6" grpId="0" animBg="1" autoUpdateAnimBg="0"/>
      <p:bldP spid="120838"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0" name="Picture 2" descr="scan0002"/>
          <p:cNvPicPr>
            <a:picLocks noChangeAspect="1" noChangeArrowheads="1"/>
          </p:cNvPicPr>
          <p:nvPr/>
        </p:nvPicPr>
        <p:blipFill>
          <a:blip r:embed="rId2" cstate="print"/>
          <a:srcRect/>
          <a:stretch>
            <a:fillRect/>
          </a:stretch>
        </p:blipFill>
        <p:spPr bwMode="auto">
          <a:xfrm>
            <a:off x="3851275" y="0"/>
            <a:ext cx="5292725" cy="6858000"/>
          </a:xfrm>
          <a:prstGeom prst="rect">
            <a:avLst/>
          </a:prstGeom>
          <a:noFill/>
          <a:ln w="76200">
            <a:solidFill>
              <a:srgbClr val="FF00FF"/>
            </a:solidFill>
            <a:miter lim="800000"/>
            <a:headEnd/>
            <a:tailEnd/>
          </a:ln>
        </p:spPr>
      </p:pic>
      <p:sp>
        <p:nvSpPr>
          <p:cNvPr id="109571" name="Text Box 3"/>
          <p:cNvSpPr txBox="1">
            <a:spLocks noChangeArrowheads="1"/>
          </p:cNvSpPr>
          <p:nvPr/>
        </p:nvSpPr>
        <p:spPr bwMode="auto">
          <a:xfrm>
            <a:off x="0" y="914400"/>
            <a:ext cx="3810000" cy="3462486"/>
          </a:xfrm>
          <a:prstGeom prst="rect">
            <a:avLst/>
          </a:prstGeom>
          <a:noFill/>
          <a:ln w="9525">
            <a:noFill/>
            <a:miter lim="800000"/>
            <a:headEnd/>
            <a:tailEnd/>
          </a:ln>
          <a:effectLst/>
        </p:spPr>
        <p:txBody>
          <a:bodyPr>
            <a:spAutoFit/>
          </a:bodyPr>
          <a:lstStyle/>
          <a:p>
            <a:pPr marL="457200" indent="-457200">
              <a:spcBef>
                <a:spcPct val="50000"/>
              </a:spcBef>
              <a:buFontTx/>
              <a:buChar char="•"/>
              <a:defRPr/>
            </a:pPr>
            <a:r>
              <a:rPr lang="en-US" sz="2400" b="1" dirty="0">
                <a:solidFill>
                  <a:srgbClr val="0070C0"/>
                </a:solidFill>
                <a:effectLst>
                  <a:outerShdw blurRad="38100" dist="38100" dir="2700000" algn="tl">
                    <a:srgbClr val="000000"/>
                  </a:outerShdw>
                </a:effectLst>
                <a:cs typeface="Times New Roman" pitchFamily="18" charset="0"/>
              </a:rPr>
              <a:t>Uncontrolled human activities, felling of trees, poaching of animals result in the loss of habitat for many plants and animals and consequently loss of biodiversity.</a:t>
            </a:r>
            <a:endParaRPr lang="en-US" sz="2400" dirty="0">
              <a:solidFill>
                <a:srgbClr val="0070C0"/>
              </a:solidFill>
              <a:effectLst>
                <a:outerShdw blurRad="38100" dist="38100" dir="2700000" algn="tl">
                  <a:srgbClr val="000000"/>
                </a:outerShdw>
              </a:effectLst>
            </a:endParaRPr>
          </a:p>
          <a:p>
            <a:pPr marL="457200" indent="-457200">
              <a:spcBef>
                <a:spcPct val="50000"/>
              </a:spcBef>
              <a:defRPr/>
            </a:pPr>
            <a:endParaRPr lang="en-US" dirty="0">
              <a:effectLst>
                <a:outerShdw blurRad="38100" dist="38100" dir="2700000" algn="tl">
                  <a:srgbClr val="FFFFFF"/>
                </a:outerShdw>
              </a:effectLst>
            </a:endParaRPr>
          </a:p>
        </p:txBody>
      </p:sp>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D3D1F5F2-3B5D-4789-9C93-5F663E1C4362}" type="datetime1">
              <a:rPr lang="en-IN" smtClean="0"/>
              <a:pPr/>
              <a:t>13-11-2017</a:t>
            </a:fld>
            <a:endParaRPr lang="en-IN"/>
          </a:p>
        </p:txBody>
      </p:sp>
      <p:sp>
        <p:nvSpPr>
          <p:cNvPr id="7" name="Slide Number Placeholder 6"/>
          <p:cNvSpPr>
            <a:spLocks noGrp="1"/>
          </p:cNvSpPr>
          <p:nvPr>
            <p:ph type="sldNum" sz="quarter" idx="12"/>
          </p:nvPr>
        </p:nvSpPr>
        <p:spPr/>
        <p:txBody>
          <a:bodyPr/>
          <a:lstStyle/>
          <a:p>
            <a:fld id="{49DA5783-7B05-41EA-B994-A0D58367EB40}" type="slidenum">
              <a:rPr lang="en-IN" smtClean="0"/>
              <a:pPr/>
              <a:t>19</a:t>
            </a:fld>
            <a:endParaRPr lang="en-IN"/>
          </a:p>
        </p:txBody>
      </p:sp>
      <p:sp>
        <p:nvSpPr>
          <p:cNvPr id="8" name="Footer Placeholder 7"/>
          <p:cNvSpPr>
            <a:spLocks noGrp="1"/>
          </p:cNvSpPr>
          <p:nvPr>
            <p:ph type="ftr" sz="quarter" idx="11"/>
          </p:nvPr>
        </p:nvSpPr>
        <p:spPr/>
        <p:txBody>
          <a:bodyPr/>
          <a:lstStyle/>
          <a:p>
            <a:r>
              <a:rPr lang="en-IN" smtClean="0"/>
              <a:t>Dr Jyoti K Sharma</a:t>
            </a: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9570"/>
                                        </p:tgtEl>
                                        <p:attrNameLst>
                                          <p:attrName>style.visibility</p:attrName>
                                        </p:attrNameLst>
                                      </p:cBhvr>
                                      <p:to>
                                        <p:strVal val="visible"/>
                                      </p:to>
                                    </p:set>
                                    <p:anim calcmode="lin" valueType="num">
                                      <p:cBhvr>
                                        <p:cTn id="7" dur="500" fill="hold"/>
                                        <p:tgtEl>
                                          <p:spTgt spid="109570"/>
                                        </p:tgtEl>
                                        <p:attrNameLst>
                                          <p:attrName>ppt_w</p:attrName>
                                        </p:attrNameLst>
                                      </p:cBhvr>
                                      <p:tavLst>
                                        <p:tav tm="0">
                                          <p:val>
                                            <p:fltVal val="0"/>
                                          </p:val>
                                        </p:tav>
                                        <p:tav tm="100000">
                                          <p:val>
                                            <p:strVal val="#ppt_w"/>
                                          </p:val>
                                        </p:tav>
                                      </p:tavLst>
                                    </p:anim>
                                    <p:anim calcmode="lin" valueType="num">
                                      <p:cBhvr>
                                        <p:cTn id="8" dur="500" fill="hold"/>
                                        <p:tgtEl>
                                          <p:spTgt spid="10957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2" descr="scan0003"/>
          <p:cNvPicPr>
            <a:picLocks noChangeAspect="1" noChangeArrowheads="1"/>
          </p:cNvPicPr>
          <p:nvPr/>
        </p:nvPicPr>
        <p:blipFill>
          <a:blip r:embed="rId2" cstate="print"/>
          <a:srcRect/>
          <a:stretch>
            <a:fillRect/>
          </a:stretch>
        </p:blipFill>
        <p:spPr bwMode="auto">
          <a:xfrm>
            <a:off x="3565525" y="0"/>
            <a:ext cx="5578475" cy="6858000"/>
          </a:xfrm>
          <a:prstGeom prst="rect">
            <a:avLst/>
          </a:prstGeom>
          <a:noFill/>
          <a:ln w="9525">
            <a:noFill/>
            <a:miter lim="800000"/>
            <a:headEnd/>
            <a:tailEnd/>
          </a:ln>
        </p:spPr>
      </p:pic>
      <p:sp>
        <p:nvSpPr>
          <p:cNvPr id="110595" name="Text Box 3"/>
          <p:cNvSpPr txBox="1">
            <a:spLocks noChangeArrowheads="1"/>
          </p:cNvSpPr>
          <p:nvPr/>
        </p:nvSpPr>
        <p:spPr bwMode="auto">
          <a:xfrm>
            <a:off x="0" y="914400"/>
            <a:ext cx="3810000" cy="3524042"/>
          </a:xfrm>
          <a:prstGeom prst="rect">
            <a:avLst/>
          </a:prstGeom>
          <a:noFill/>
          <a:ln w="9525">
            <a:noFill/>
            <a:miter lim="800000"/>
            <a:headEnd/>
            <a:tailEnd/>
          </a:ln>
          <a:effectLst/>
        </p:spPr>
        <p:txBody>
          <a:bodyPr>
            <a:spAutoFit/>
          </a:bodyPr>
          <a:lstStyle/>
          <a:p>
            <a:pPr marL="457200" indent="-457200">
              <a:spcBef>
                <a:spcPct val="50000"/>
              </a:spcBef>
              <a:buFontTx/>
              <a:buChar char="•"/>
              <a:defRPr/>
            </a:pPr>
            <a:r>
              <a:rPr lang="en-US" sz="2800" b="1" dirty="0">
                <a:solidFill>
                  <a:srgbClr val="0070C0"/>
                </a:solidFill>
                <a:effectLst>
                  <a:outerShdw blurRad="38100" dist="38100" dir="2700000" algn="tl">
                    <a:srgbClr val="000000"/>
                  </a:outerShdw>
                </a:effectLst>
                <a:cs typeface="Times New Roman" pitchFamily="18" charset="0"/>
              </a:rPr>
              <a:t>Fragmented ecosystem due to developmental activities substantially affect the biodiversity, especially wildlife. </a:t>
            </a:r>
            <a:endParaRPr lang="en-US" sz="2800" dirty="0">
              <a:solidFill>
                <a:srgbClr val="0070C0"/>
              </a:solidFill>
              <a:effectLst>
                <a:outerShdw blurRad="38100" dist="38100" dir="2700000" algn="tl">
                  <a:srgbClr val="000000"/>
                </a:outerShdw>
              </a:effectLst>
            </a:endParaRPr>
          </a:p>
          <a:p>
            <a:pPr marL="457200" indent="-457200">
              <a:spcBef>
                <a:spcPct val="50000"/>
              </a:spcBef>
              <a:buFont typeface="Wingdings" pitchFamily="2" charset="2"/>
              <a:buNone/>
              <a:defRPr/>
            </a:pPr>
            <a:endParaRPr lang="en-US" dirty="0">
              <a:effectLst>
                <a:outerShdw blurRad="38100" dist="38100" dir="2700000" algn="tl">
                  <a:srgbClr val="FFFFFF"/>
                </a:outerShdw>
              </a:effectLst>
            </a:endParaRPr>
          </a:p>
        </p:txBody>
      </p:sp>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AD9AD615-5F05-4215-903C-44BBBFC6B6B7}" type="datetime1">
              <a:rPr lang="en-IN" smtClean="0"/>
              <a:pPr/>
              <a:t>13-11-2017</a:t>
            </a:fld>
            <a:endParaRPr lang="en-IN"/>
          </a:p>
        </p:txBody>
      </p:sp>
      <p:sp>
        <p:nvSpPr>
          <p:cNvPr id="7" name="Slide Number Placeholder 6"/>
          <p:cNvSpPr>
            <a:spLocks noGrp="1"/>
          </p:cNvSpPr>
          <p:nvPr>
            <p:ph type="sldNum" sz="quarter" idx="12"/>
          </p:nvPr>
        </p:nvSpPr>
        <p:spPr/>
        <p:txBody>
          <a:bodyPr/>
          <a:lstStyle/>
          <a:p>
            <a:fld id="{49DA5783-7B05-41EA-B994-A0D58367EB40}" type="slidenum">
              <a:rPr lang="en-IN" smtClean="0"/>
              <a:pPr/>
              <a:t>20</a:t>
            </a:fld>
            <a:endParaRPr lang="en-IN"/>
          </a:p>
        </p:txBody>
      </p:sp>
      <p:sp>
        <p:nvSpPr>
          <p:cNvPr id="8" name="Footer Placeholder 7"/>
          <p:cNvSpPr>
            <a:spLocks noGrp="1"/>
          </p:cNvSpPr>
          <p:nvPr>
            <p:ph type="ftr" sz="quarter" idx="11"/>
          </p:nvPr>
        </p:nvSpPr>
        <p:spPr/>
        <p:txBody>
          <a:bodyPr/>
          <a:lstStyle/>
          <a:p>
            <a:r>
              <a:rPr lang="en-IN" smtClean="0"/>
              <a:t>Dr Jyoti K Sharma</a:t>
            </a: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nodeType="afterEffect">
                                  <p:stCondLst>
                                    <p:cond delay="0"/>
                                  </p:stCondLst>
                                  <p:childTnLst>
                                    <p:set>
                                      <p:cBhvr>
                                        <p:cTn id="6" dur="1" fill="hold">
                                          <p:stCondLst>
                                            <p:cond delay="0"/>
                                          </p:stCondLst>
                                        </p:cTn>
                                        <p:tgtEl>
                                          <p:spTgt spid="110594"/>
                                        </p:tgtEl>
                                        <p:attrNameLst>
                                          <p:attrName>style.visibility</p:attrName>
                                        </p:attrNameLst>
                                      </p:cBhvr>
                                      <p:to>
                                        <p:strVal val="visible"/>
                                      </p:to>
                                    </p:set>
                                    <p:animEffect transition="in" filter="barn(inHorizontal)">
                                      <p:cBhvr>
                                        <p:cTn id="7" dur="500"/>
                                        <p:tgtEl>
                                          <p:spTgt spid="110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2" descr="scan0004"/>
          <p:cNvPicPr>
            <a:picLocks noChangeAspect="1" noChangeArrowheads="1"/>
          </p:cNvPicPr>
          <p:nvPr/>
        </p:nvPicPr>
        <p:blipFill>
          <a:blip r:embed="rId2" cstate="print"/>
          <a:srcRect/>
          <a:stretch>
            <a:fillRect/>
          </a:stretch>
        </p:blipFill>
        <p:spPr bwMode="auto">
          <a:xfrm>
            <a:off x="3811588" y="0"/>
            <a:ext cx="5332412" cy="6858000"/>
          </a:xfrm>
          <a:prstGeom prst="rect">
            <a:avLst/>
          </a:prstGeom>
          <a:noFill/>
          <a:ln w="9525">
            <a:noFill/>
            <a:miter lim="800000"/>
            <a:headEnd/>
            <a:tailEnd/>
          </a:ln>
        </p:spPr>
      </p:pic>
      <p:sp>
        <p:nvSpPr>
          <p:cNvPr id="111621" name="Text Box 5"/>
          <p:cNvSpPr txBox="1">
            <a:spLocks noChangeArrowheads="1"/>
          </p:cNvSpPr>
          <p:nvPr/>
        </p:nvSpPr>
        <p:spPr bwMode="auto">
          <a:xfrm>
            <a:off x="457200" y="762000"/>
            <a:ext cx="3200400" cy="5478423"/>
          </a:xfrm>
          <a:prstGeom prst="rect">
            <a:avLst/>
          </a:prstGeom>
          <a:noFill/>
          <a:ln w="9525">
            <a:noFill/>
            <a:miter lim="800000"/>
            <a:headEnd/>
            <a:tailEnd/>
          </a:ln>
          <a:effectLst/>
        </p:spPr>
        <p:txBody>
          <a:bodyPr>
            <a:spAutoFit/>
          </a:bodyPr>
          <a:lstStyle/>
          <a:p>
            <a:pPr marL="457200" indent="-457200">
              <a:spcBef>
                <a:spcPct val="50000"/>
              </a:spcBef>
              <a:buFontTx/>
              <a:buChar char="•"/>
              <a:defRPr/>
            </a:pPr>
            <a:r>
              <a:rPr lang="en-US" sz="2800" b="1" dirty="0">
                <a:solidFill>
                  <a:srgbClr val="0070C0"/>
                </a:solidFill>
                <a:effectLst>
                  <a:outerShdw blurRad="38100" dist="38100" dir="2700000" algn="tl">
                    <a:srgbClr val="000000"/>
                  </a:outerShdw>
                </a:effectLst>
                <a:cs typeface="Times New Roman" pitchFamily="18" charset="0"/>
              </a:rPr>
              <a:t>Forest area diverted to agriculture or other developmental activities reduces the forest cover, adversely affects the biodiversity and the overall ecosystem.</a:t>
            </a:r>
            <a:endParaRPr lang="en-US" sz="2800" dirty="0">
              <a:solidFill>
                <a:srgbClr val="0070C0"/>
              </a:solidFill>
              <a:effectLst>
                <a:outerShdw blurRad="38100" dist="38100" dir="2700000" algn="tl">
                  <a:srgbClr val="000000"/>
                </a:outerShdw>
              </a:effectLst>
            </a:endParaRPr>
          </a:p>
          <a:p>
            <a:pPr marL="457200" indent="-457200">
              <a:spcBef>
                <a:spcPct val="50000"/>
              </a:spcBef>
              <a:defRPr/>
            </a:pPr>
            <a:endParaRPr lang="en-US" sz="2800" dirty="0">
              <a:solidFill>
                <a:srgbClr val="0070C0"/>
              </a:solidFill>
              <a:effectLst>
                <a:outerShdw blurRad="38100" dist="38100" dir="2700000" algn="tl">
                  <a:srgbClr val="FFFFFF"/>
                </a:outerShdw>
              </a:effectLst>
            </a:endParaRPr>
          </a:p>
        </p:txBody>
      </p:sp>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34D387E8-8F34-49C4-BDA2-6A95997E092A}" type="datetime1">
              <a:rPr lang="en-IN" smtClean="0"/>
              <a:pPr/>
              <a:t>13-11-2017</a:t>
            </a:fld>
            <a:endParaRPr lang="en-IN"/>
          </a:p>
        </p:txBody>
      </p:sp>
      <p:sp>
        <p:nvSpPr>
          <p:cNvPr id="7" name="Slide Number Placeholder 6"/>
          <p:cNvSpPr>
            <a:spLocks noGrp="1"/>
          </p:cNvSpPr>
          <p:nvPr>
            <p:ph type="sldNum" sz="quarter" idx="12"/>
          </p:nvPr>
        </p:nvSpPr>
        <p:spPr/>
        <p:txBody>
          <a:bodyPr/>
          <a:lstStyle/>
          <a:p>
            <a:fld id="{49DA5783-7B05-41EA-B994-A0D58367EB40}" type="slidenum">
              <a:rPr lang="en-IN" smtClean="0"/>
              <a:pPr/>
              <a:t>21</a:t>
            </a:fld>
            <a:endParaRPr lang="en-IN"/>
          </a:p>
        </p:txBody>
      </p:sp>
      <p:sp>
        <p:nvSpPr>
          <p:cNvPr id="8" name="Footer Placeholder 7"/>
          <p:cNvSpPr>
            <a:spLocks noGrp="1"/>
          </p:cNvSpPr>
          <p:nvPr>
            <p:ph type="ftr" sz="quarter" idx="11"/>
          </p:nvPr>
        </p:nvSpPr>
        <p:spPr/>
        <p:txBody>
          <a:bodyPr/>
          <a:lstStyle/>
          <a:p>
            <a:r>
              <a:rPr lang="en-IN" smtClean="0"/>
              <a:t>Dr Jyoti K Sharma</a:t>
            </a: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11618"/>
                                        </p:tgtEl>
                                        <p:attrNameLst>
                                          <p:attrName>style.visibility</p:attrName>
                                        </p:attrNameLst>
                                      </p:cBhvr>
                                      <p:to>
                                        <p:strVal val="visible"/>
                                      </p:to>
                                    </p:set>
                                    <p:anim calcmode="lin" valueType="num">
                                      <p:cBhvr>
                                        <p:cTn id="7" dur="500" fill="hold"/>
                                        <p:tgtEl>
                                          <p:spTgt spid="111618"/>
                                        </p:tgtEl>
                                        <p:attrNameLst>
                                          <p:attrName>ppt_w</p:attrName>
                                        </p:attrNameLst>
                                      </p:cBhvr>
                                      <p:tavLst>
                                        <p:tav tm="0">
                                          <p:val>
                                            <p:fltVal val="0"/>
                                          </p:val>
                                        </p:tav>
                                        <p:tav tm="100000">
                                          <p:val>
                                            <p:strVal val="#ppt_w"/>
                                          </p:val>
                                        </p:tav>
                                      </p:tavLst>
                                    </p:anim>
                                    <p:anim calcmode="lin" valueType="num">
                                      <p:cBhvr>
                                        <p:cTn id="8" dur="500" fill="hold"/>
                                        <p:tgtEl>
                                          <p:spTgt spid="11161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2" name="Picture 2" descr="scan0006"/>
          <p:cNvPicPr>
            <a:picLocks noChangeAspect="1" noChangeArrowheads="1"/>
          </p:cNvPicPr>
          <p:nvPr/>
        </p:nvPicPr>
        <p:blipFill>
          <a:blip r:embed="rId2" cstate="print"/>
          <a:srcRect/>
          <a:stretch>
            <a:fillRect/>
          </a:stretch>
        </p:blipFill>
        <p:spPr bwMode="auto">
          <a:xfrm>
            <a:off x="3805238" y="0"/>
            <a:ext cx="5338762" cy="6858000"/>
          </a:xfrm>
          <a:prstGeom prst="rect">
            <a:avLst/>
          </a:prstGeom>
          <a:noFill/>
          <a:ln w="9525">
            <a:noFill/>
            <a:miter lim="800000"/>
            <a:headEnd/>
            <a:tailEnd/>
          </a:ln>
        </p:spPr>
      </p:pic>
      <p:sp>
        <p:nvSpPr>
          <p:cNvPr id="112643" name="Text Box 3"/>
          <p:cNvSpPr txBox="1">
            <a:spLocks noChangeArrowheads="1"/>
          </p:cNvSpPr>
          <p:nvPr/>
        </p:nvSpPr>
        <p:spPr bwMode="auto">
          <a:xfrm>
            <a:off x="0" y="381000"/>
            <a:ext cx="3733800" cy="3954929"/>
          </a:xfrm>
          <a:prstGeom prst="rect">
            <a:avLst/>
          </a:prstGeom>
          <a:noFill/>
          <a:ln w="9525">
            <a:noFill/>
            <a:miter lim="800000"/>
            <a:headEnd/>
            <a:tailEnd/>
          </a:ln>
          <a:effectLst/>
        </p:spPr>
        <p:txBody>
          <a:bodyPr>
            <a:spAutoFit/>
          </a:bodyPr>
          <a:lstStyle/>
          <a:p>
            <a:pPr marL="457200" indent="-457200">
              <a:spcBef>
                <a:spcPct val="50000"/>
              </a:spcBef>
              <a:buFontTx/>
              <a:buChar char="•"/>
              <a:defRPr/>
            </a:pPr>
            <a:r>
              <a:rPr lang="en-US" sz="2800" b="1" dirty="0">
                <a:solidFill>
                  <a:srgbClr val="0070C0"/>
                </a:solidFill>
                <a:effectLst>
                  <a:outerShdw blurRad="38100" dist="38100" dir="2700000" algn="tl">
                    <a:srgbClr val="000000"/>
                  </a:outerShdw>
                </a:effectLst>
                <a:cs typeface="Times New Roman" pitchFamily="18" charset="0"/>
              </a:rPr>
              <a:t>Forest area diverted for mining adversely affects the biodiversity,  deplete forest soil and pollute the environment due to mined waste.</a:t>
            </a:r>
            <a:endParaRPr lang="en-US" sz="2800" dirty="0">
              <a:solidFill>
                <a:srgbClr val="0070C0"/>
              </a:solidFill>
              <a:effectLst>
                <a:outerShdw blurRad="38100" dist="38100" dir="2700000" algn="tl">
                  <a:srgbClr val="000000"/>
                </a:outerShdw>
              </a:effectLst>
            </a:endParaRPr>
          </a:p>
          <a:p>
            <a:pPr marL="457200" indent="-457200">
              <a:spcBef>
                <a:spcPct val="50000"/>
              </a:spcBef>
              <a:defRPr/>
            </a:pPr>
            <a:endParaRPr lang="en-US" dirty="0">
              <a:solidFill>
                <a:srgbClr val="FFFF00"/>
              </a:solidFill>
              <a:effectLst>
                <a:outerShdw blurRad="38100" dist="38100" dir="2700000" algn="tl">
                  <a:srgbClr val="000000"/>
                </a:outerShdw>
              </a:effectLst>
            </a:endParaRPr>
          </a:p>
        </p:txBody>
      </p:sp>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A7F0FA41-31EE-41DF-ACEA-7F5A6672A8A2}" type="datetime1">
              <a:rPr lang="en-IN" smtClean="0"/>
              <a:pPr/>
              <a:t>13-11-2017</a:t>
            </a:fld>
            <a:endParaRPr lang="en-IN"/>
          </a:p>
        </p:txBody>
      </p:sp>
      <p:sp>
        <p:nvSpPr>
          <p:cNvPr id="7" name="Slide Number Placeholder 6"/>
          <p:cNvSpPr>
            <a:spLocks noGrp="1"/>
          </p:cNvSpPr>
          <p:nvPr>
            <p:ph type="sldNum" sz="quarter" idx="12"/>
          </p:nvPr>
        </p:nvSpPr>
        <p:spPr/>
        <p:txBody>
          <a:bodyPr/>
          <a:lstStyle/>
          <a:p>
            <a:fld id="{49DA5783-7B05-41EA-B994-A0D58367EB40}" type="slidenum">
              <a:rPr lang="en-IN" smtClean="0"/>
              <a:pPr/>
              <a:t>22</a:t>
            </a:fld>
            <a:endParaRPr lang="en-IN"/>
          </a:p>
        </p:txBody>
      </p:sp>
      <p:sp>
        <p:nvSpPr>
          <p:cNvPr id="8" name="Footer Placeholder 7"/>
          <p:cNvSpPr>
            <a:spLocks noGrp="1"/>
          </p:cNvSpPr>
          <p:nvPr>
            <p:ph type="ftr" sz="quarter" idx="11"/>
          </p:nvPr>
        </p:nvSpPr>
        <p:spPr/>
        <p:txBody>
          <a:bodyPr/>
          <a:lstStyle/>
          <a:p>
            <a:r>
              <a:rPr lang="en-IN" smtClean="0"/>
              <a:t>Dr Jyoti K Sharma</a:t>
            </a: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12642"/>
                                        </p:tgtEl>
                                        <p:attrNameLst>
                                          <p:attrName>style.visibility</p:attrName>
                                        </p:attrNameLst>
                                      </p:cBhvr>
                                      <p:to>
                                        <p:strVal val="visible"/>
                                      </p:to>
                                    </p:set>
                                    <p:anim calcmode="lin" valueType="num">
                                      <p:cBhvr>
                                        <p:cTn id="7" dur="500" fill="hold"/>
                                        <p:tgtEl>
                                          <p:spTgt spid="112642"/>
                                        </p:tgtEl>
                                        <p:attrNameLst>
                                          <p:attrName>ppt_w</p:attrName>
                                        </p:attrNameLst>
                                      </p:cBhvr>
                                      <p:tavLst>
                                        <p:tav tm="0">
                                          <p:val>
                                            <p:fltVal val="0"/>
                                          </p:val>
                                        </p:tav>
                                        <p:tav tm="100000">
                                          <p:val>
                                            <p:strVal val="#ppt_w"/>
                                          </p:val>
                                        </p:tav>
                                      </p:tavLst>
                                    </p:anim>
                                    <p:anim calcmode="lin" valueType="num">
                                      <p:cBhvr>
                                        <p:cTn id="8" dur="500" fill="hold"/>
                                        <p:tgtEl>
                                          <p:spTgt spid="11264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6" name="Picture 2" descr="scan0007"/>
          <p:cNvPicPr>
            <a:picLocks noChangeAspect="1" noChangeArrowheads="1"/>
          </p:cNvPicPr>
          <p:nvPr/>
        </p:nvPicPr>
        <p:blipFill>
          <a:blip r:embed="rId2" cstate="print"/>
          <a:srcRect/>
          <a:stretch>
            <a:fillRect/>
          </a:stretch>
        </p:blipFill>
        <p:spPr bwMode="auto">
          <a:xfrm>
            <a:off x="3751263" y="0"/>
            <a:ext cx="5392737" cy="6858000"/>
          </a:xfrm>
          <a:prstGeom prst="rect">
            <a:avLst/>
          </a:prstGeom>
          <a:noFill/>
          <a:ln w="9525">
            <a:noFill/>
            <a:miter lim="800000"/>
            <a:headEnd/>
            <a:tailEnd/>
          </a:ln>
        </p:spPr>
      </p:pic>
      <p:sp>
        <p:nvSpPr>
          <p:cNvPr id="113667" name="Text Box 3"/>
          <p:cNvSpPr txBox="1">
            <a:spLocks noChangeArrowheads="1"/>
          </p:cNvSpPr>
          <p:nvPr/>
        </p:nvSpPr>
        <p:spPr bwMode="auto">
          <a:xfrm>
            <a:off x="457200" y="1447800"/>
            <a:ext cx="3124200" cy="1815882"/>
          </a:xfrm>
          <a:prstGeom prst="rect">
            <a:avLst/>
          </a:prstGeom>
          <a:noFill/>
          <a:ln w="9525">
            <a:noFill/>
            <a:miter lim="800000"/>
            <a:headEnd/>
            <a:tailEnd/>
          </a:ln>
          <a:effectLst/>
        </p:spPr>
        <p:txBody>
          <a:bodyPr>
            <a:spAutoFit/>
          </a:bodyPr>
          <a:lstStyle/>
          <a:p>
            <a:pPr>
              <a:spcBef>
                <a:spcPct val="50000"/>
              </a:spcBef>
              <a:defRPr/>
            </a:pPr>
            <a:r>
              <a:rPr lang="en-US" sz="2800" b="1" dirty="0">
                <a:solidFill>
                  <a:srgbClr val="0070C0"/>
                </a:solidFill>
                <a:effectLst>
                  <a:outerShdw blurRad="38100" dist="38100" dir="2700000" algn="tl">
                    <a:srgbClr val="000000"/>
                  </a:outerShdw>
                </a:effectLst>
                <a:cs typeface="Times New Roman" pitchFamily="18" charset="0"/>
              </a:rPr>
              <a:t>How trees outside the forest area are beneficial to people and environment. </a:t>
            </a:r>
          </a:p>
        </p:txBody>
      </p:sp>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0A52C3F8-7CCA-4639-A69A-2C75C0092EDE}" type="datetime1">
              <a:rPr lang="en-IN" smtClean="0"/>
              <a:pPr/>
              <a:t>13-11-2017</a:t>
            </a:fld>
            <a:endParaRPr lang="en-IN"/>
          </a:p>
        </p:txBody>
      </p:sp>
      <p:sp>
        <p:nvSpPr>
          <p:cNvPr id="7" name="Slide Number Placeholder 6"/>
          <p:cNvSpPr>
            <a:spLocks noGrp="1"/>
          </p:cNvSpPr>
          <p:nvPr>
            <p:ph type="sldNum" sz="quarter" idx="12"/>
          </p:nvPr>
        </p:nvSpPr>
        <p:spPr/>
        <p:txBody>
          <a:bodyPr/>
          <a:lstStyle/>
          <a:p>
            <a:fld id="{49DA5783-7B05-41EA-B994-A0D58367EB40}" type="slidenum">
              <a:rPr lang="en-IN" smtClean="0"/>
              <a:pPr/>
              <a:t>23</a:t>
            </a:fld>
            <a:endParaRPr lang="en-IN"/>
          </a:p>
        </p:txBody>
      </p:sp>
      <p:sp>
        <p:nvSpPr>
          <p:cNvPr id="8" name="Footer Placeholder 7"/>
          <p:cNvSpPr>
            <a:spLocks noGrp="1"/>
          </p:cNvSpPr>
          <p:nvPr>
            <p:ph type="ftr" sz="quarter" idx="11"/>
          </p:nvPr>
        </p:nvSpPr>
        <p:spPr/>
        <p:txBody>
          <a:bodyPr/>
          <a:lstStyle/>
          <a:p>
            <a:r>
              <a:rPr lang="en-IN" smtClean="0"/>
              <a:t>Dr Jyoti K Sharma</a:t>
            </a: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13666"/>
                                        </p:tgtEl>
                                        <p:attrNameLst>
                                          <p:attrName>style.visibility</p:attrName>
                                        </p:attrNameLst>
                                      </p:cBhvr>
                                      <p:to>
                                        <p:strVal val="visible"/>
                                      </p:to>
                                    </p:set>
                                    <p:animEffect transition="in" filter="blinds(horizontal)">
                                      <p:cBhvr>
                                        <p:cTn id="7" dur="500"/>
                                        <p:tgtEl>
                                          <p:spTgt spid="1136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90" name="Picture 2" descr="scan0008"/>
          <p:cNvPicPr>
            <a:picLocks noChangeAspect="1" noChangeArrowheads="1"/>
          </p:cNvPicPr>
          <p:nvPr/>
        </p:nvPicPr>
        <p:blipFill>
          <a:blip r:embed="rId2" cstate="print"/>
          <a:srcRect/>
          <a:stretch>
            <a:fillRect/>
          </a:stretch>
        </p:blipFill>
        <p:spPr bwMode="auto">
          <a:xfrm>
            <a:off x="3124200" y="0"/>
            <a:ext cx="6019800" cy="4760913"/>
          </a:xfrm>
          <a:prstGeom prst="rect">
            <a:avLst/>
          </a:prstGeom>
          <a:noFill/>
          <a:ln w="9525">
            <a:noFill/>
            <a:miter lim="800000"/>
            <a:headEnd/>
            <a:tailEnd/>
          </a:ln>
        </p:spPr>
      </p:pic>
      <p:sp>
        <p:nvSpPr>
          <p:cNvPr id="114691" name="Text Box 3"/>
          <p:cNvSpPr txBox="1">
            <a:spLocks noChangeArrowheads="1"/>
          </p:cNvSpPr>
          <p:nvPr/>
        </p:nvSpPr>
        <p:spPr bwMode="auto">
          <a:xfrm>
            <a:off x="381000" y="5057775"/>
            <a:ext cx="8763000" cy="1384995"/>
          </a:xfrm>
          <a:prstGeom prst="rect">
            <a:avLst/>
          </a:prstGeom>
          <a:noFill/>
          <a:ln w="9525">
            <a:noFill/>
            <a:miter lim="800000"/>
            <a:headEnd/>
            <a:tailEnd/>
          </a:ln>
          <a:effectLst/>
        </p:spPr>
        <p:txBody>
          <a:bodyPr>
            <a:spAutoFit/>
          </a:bodyPr>
          <a:lstStyle/>
          <a:p>
            <a:pPr>
              <a:spcBef>
                <a:spcPct val="50000"/>
              </a:spcBef>
              <a:defRPr/>
            </a:pPr>
            <a:r>
              <a:rPr lang="en-US" sz="2800" b="1" dirty="0">
                <a:solidFill>
                  <a:srgbClr val="0070C0"/>
                </a:solidFill>
                <a:effectLst>
                  <a:outerShdw blurRad="38100" dist="38100" dir="2700000" algn="tl">
                    <a:srgbClr val="000000"/>
                  </a:outerShdw>
                </a:effectLst>
                <a:cs typeface="Times New Roman" pitchFamily="18" charset="0"/>
              </a:rPr>
              <a:t>If the area of protected ecosystem is left undisturbed, the biological diversity is  thereby conserved, which leads to sustainable forest management. </a:t>
            </a:r>
          </a:p>
        </p:txBody>
      </p:sp>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F7127DCD-ECF4-4C9F-A477-C1F6752F3A04}" type="datetime1">
              <a:rPr lang="en-IN" smtClean="0"/>
              <a:pPr/>
              <a:t>13-11-2017</a:t>
            </a:fld>
            <a:endParaRPr lang="en-IN"/>
          </a:p>
        </p:txBody>
      </p:sp>
      <p:sp>
        <p:nvSpPr>
          <p:cNvPr id="7" name="Slide Number Placeholder 6"/>
          <p:cNvSpPr>
            <a:spLocks noGrp="1"/>
          </p:cNvSpPr>
          <p:nvPr>
            <p:ph type="sldNum" sz="quarter" idx="12"/>
          </p:nvPr>
        </p:nvSpPr>
        <p:spPr/>
        <p:txBody>
          <a:bodyPr/>
          <a:lstStyle/>
          <a:p>
            <a:fld id="{49DA5783-7B05-41EA-B994-A0D58367EB40}" type="slidenum">
              <a:rPr lang="en-IN" smtClean="0"/>
              <a:pPr/>
              <a:t>24</a:t>
            </a:fld>
            <a:endParaRPr lang="en-IN"/>
          </a:p>
        </p:txBody>
      </p:sp>
      <p:sp>
        <p:nvSpPr>
          <p:cNvPr id="8" name="Footer Placeholder 7"/>
          <p:cNvSpPr>
            <a:spLocks noGrp="1"/>
          </p:cNvSpPr>
          <p:nvPr>
            <p:ph type="ftr" sz="quarter" idx="11"/>
          </p:nvPr>
        </p:nvSpPr>
        <p:spPr/>
        <p:txBody>
          <a:bodyPr/>
          <a:lstStyle/>
          <a:p>
            <a:r>
              <a:rPr lang="en-IN" smtClean="0"/>
              <a:t>Dr Jyoti K Sharma</a:t>
            </a: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14690"/>
                                        </p:tgtEl>
                                        <p:attrNameLst>
                                          <p:attrName>style.visibility</p:attrName>
                                        </p:attrNameLst>
                                      </p:cBhvr>
                                      <p:to>
                                        <p:strVal val="visible"/>
                                      </p:to>
                                    </p:set>
                                    <p:animEffect transition="in" filter="blinds(horizontal)">
                                      <p:cBhvr>
                                        <p:cTn id="7" dur="500"/>
                                        <p:tgtEl>
                                          <p:spTgt spid="1146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4" name="Picture 2" descr="scan0009"/>
          <p:cNvPicPr>
            <a:picLocks noChangeAspect="1" noChangeArrowheads="1"/>
          </p:cNvPicPr>
          <p:nvPr/>
        </p:nvPicPr>
        <p:blipFill>
          <a:blip r:embed="rId2" cstate="print"/>
          <a:srcRect/>
          <a:stretch>
            <a:fillRect/>
          </a:stretch>
        </p:blipFill>
        <p:spPr bwMode="auto">
          <a:xfrm>
            <a:off x="3829050" y="185738"/>
            <a:ext cx="5314950" cy="6672262"/>
          </a:xfrm>
          <a:prstGeom prst="rect">
            <a:avLst/>
          </a:prstGeom>
          <a:noFill/>
          <a:ln w="9525">
            <a:noFill/>
            <a:miter lim="800000"/>
            <a:headEnd/>
            <a:tailEnd/>
          </a:ln>
        </p:spPr>
      </p:pic>
      <p:sp>
        <p:nvSpPr>
          <p:cNvPr id="115715" name="Text Box 3"/>
          <p:cNvSpPr txBox="1">
            <a:spLocks noChangeArrowheads="1"/>
          </p:cNvSpPr>
          <p:nvPr/>
        </p:nvSpPr>
        <p:spPr bwMode="auto">
          <a:xfrm>
            <a:off x="457200" y="1371600"/>
            <a:ext cx="3048000" cy="3524042"/>
          </a:xfrm>
          <a:prstGeom prst="rect">
            <a:avLst/>
          </a:prstGeom>
          <a:noFill/>
          <a:ln w="9525">
            <a:noFill/>
            <a:miter lim="800000"/>
            <a:headEnd/>
            <a:tailEnd/>
          </a:ln>
          <a:effectLst/>
        </p:spPr>
        <p:txBody>
          <a:bodyPr>
            <a:spAutoFit/>
          </a:bodyPr>
          <a:lstStyle/>
          <a:p>
            <a:pPr marL="457200" indent="-457200">
              <a:spcBef>
                <a:spcPct val="50000"/>
              </a:spcBef>
              <a:buFontTx/>
              <a:buChar char="•"/>
              <a:defRPr/>
            </a:pPr>
            <a:r>
              <a:rPr lang="en-US" sz="2800" b="1" dirty="0">
                <a:solidFill>
                  <a:srgbClr val="0070C0"/>
                </a:solidFill>
                <a:effectLst>
                  <a:outerShdw blurRad="38100" dist="38100" dir="2700000" algn="tl">
                    <a:srgbClr val="000000"/>
                  </a:outerShdw>
                </a:effectLst>
                <a:cs typeface="Times New Roman" pitchFamily="18" charset="0"/>
              </a:rPr>
              <a:t>Invasion of weeds in natural ecosystem results in depletion of biodiversity.</a:t>
            </a:r>
            <a:endParaRPr lang="en-US" sz="2800" dirty="0">
              <a:solidFill>
                <a:srgbClr val="0070C0"/>
              </a:solidFill>
              <a:effectLst>
                <a:outerShdw blurRad="38100" dist="38100" dir="2700000" algn="tl">
                  <a:srgbClr val="000000"/>
                </a:outerShdw>
              </a:effectLst>
            </a:endParaRPr>
          </a:p>
          <a:p>
            <a:pPr marL="457200" indent="-457200">
              <a:spcBef>
                <a:spcPct val="50000"/>
              </a:spcBef>
              <a:defRPr/>
            </a:pPr>
            <a:endParaRPr lang="en-US" dirty="0">
              <a:effectLst>
                <a:outerShdw blurRad="38100" dist="38100" dir="2700000" algn="tl">
                  <a:srgbClr val="FFFFFF"/>
                </a:outerShdw>
              </a:effectLst>
            </a:endParaRPr>
          </a:p>
        </p:txBody>
      </p:sp>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9A127568-F374-450D-BE27-3D01279CDD7B}" type="datetime1">
              <a:rPr lang="en-IN" smtClean="0"/>
              <a:pPr/>
              <a:t>13-11-2017</a:t>
            </a:fld>
            <a:endParaRPr lang="en-IN"/>
          </a:p>
        </p:txBody>
      </p:sp>
      <p:sp>
        <p:nvSpPr>
          <p:cNvPr id="7" name="Slide Number Placeholder 6"/>
          <p:cNvSpPr>
            <a:spLocks noGrp="1"/>
          </p:cNvSpPr>
          <p:nvPr>
            <p:ph type="sldNum" sz="quarter" idx="12"/>
          </p:nvPr>
        </p:nvSpPr>
        <p:spPr/>
        <p:txBody>
          <a:bodyPr/>
          <a:lstStyle/>
          <a:p>
            <a:fld id="{49DA5783-7B05-41EA-B994-A0D58367EB40}" type="slidenum">
              <a:rPr lang="en-IN" smtClean="0"/>
              <a:pPr/>
              <a:t>25</a:t>
            </a:fld>
            <a:endParaRPr lang="en-IN"/>
          </a:p>
        </p:txBody>
      </p:sp>
      <p:sp>
        <p:nvSpPr>
          <p:cNvPr id="8" name="Footer Placeholder 7"/>
          <p:cNvSpPr>
            <a:spLocks noGrp="1"/>
          </p:cNvSpPr>
          <p:nvPr>
            <p:ph type="ftr" sz="quarter" idx="11"/>
          </p:nvPr>
        </p:nvSpPr>
        <p:spPr/>
        <p:txBody>
          <a:bodyPr/>
          <a:lstStyle/>
          <a:p>
            <a:r>
              <a:rPr lang="en-IN" smtClean="0"/>
              <a:t>Dr Jyoti K Sharma</a:t>
            </a: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15714"/>
                                        </p:tgtEl>
                                        <p:attrNameLst>
                                          <p:attrName>style.visibility</p:attrName>
                                        </p:attrNameLst>
                                      </p:cBhvr>
                                      <p:to>
                                        <p:strVal val="visible"/>
                                      </p:to>
                                    </p:set>
                                    <p:animEffect transition="in" filter="wipe(up)">
                                      <p:cBhvr>
                                        <p:cTn id="7" dur="500"/>
                                        <p:tgtEl>
                                          <p:spTgt spid="1157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0" name="Picture 2" descr="scan0002"/>
          <p:cNvPicPr>
            <a:picLocks noChangeAspect="1" noChangeArrowheads="1"/>
          </p:cNvPicPr>
          <p:nvPr/>
        </p:nvPicPr>
        <p:blipFill>
          <a:blip r:embed="rId2" cstate="print"/>
          <a:srcRect/>
          <a:stretch>
            <a:fillRect/>
          </a:stretch>
        </p:blipFill>
        <p:spPr bwMode="auto">
          <a:xfrm>
            <a:off x="3851275" y="0"/>
            <a:ext cx="5292725" cy="6858000"/>
          </a:xfrm>
          <a:prstGeom prst="rect">
            <a:avLst/>
          </a:prstGeom>
          <a:noFill/>
          <a:ln w="76200">
            <a:solidFill>
              <a:srgbClr val="FF00FF"/>
            </a:solidFill>
            <a:miter lim="800000"/>
            <a:headEnd/>
            <a:tailEnd/>
          </a:ln>
        </p:spPr>
      </p:pic>
      <p:sp>
        <p:nvSpPr>
          <p:cNvPr id="109571" name="Text Box 3"/>
          <p:cNvSpPr txBox="1">
            <a:spLocks noChangeArrowheads="1"/>
          </p:cNvSpPr>
          <p:nvPr/>
        </p:nvSpPr>
        <p:spPr bwMode="auto">
          <a:xfrm>
            <a:off x="0" y="914400"/>
            <a:ext cx="3810000" cy="3462486"/>
          </a:xfrm>
          <a:prstGeom prst="rect">
            <a:avLst/>
          </a:prstGeom>
          <a:noFill/>
          <a:ln w="9525">
            <a:noFill/>
            <a:miter lim="800000"/>
            <a:headEnd/>
            <a:tailEnd/>
          </a:ln>
          <a:effectLst/>
        </p:spPr>
        <p:txBody>
          <a:bodyPr>
            <a:spAutoFit/>
          </a:bodyPr>
          <a:lstStyle/>
          <a:p>
            <a:pPr marL="457200" indent="-457200">
              <a:spcBef>
                <a:spcPct val="50000"/>
              </a:spcBef>
              <a:buFontTx/>
              <a:buChar char="•"/>
              <a:defRPr/>
            </a:pPr>
            <a:r>
              <a:rPr lang="en-US" sz="2400" b="1" dirty="0">
                <a:solidFill>
                  <a:srgbClr val="0070C0"/>
                </a:solidFill>
                <a:effectLst>
                  <a:outerShdw blurRad="38100" dist="38100" dir="2700000" algn="tl">
                    <a:srgbClr val="000000"/>
                  </a:outerShdw>
                </a:effectLst>
                <a:cs typeface="Times New Roman" pitchFamily="18" charset="0"/>
              </a:rPr>
              <a:t>Uncontrolled human activities, felling of trees, poaching of animals result in the loss of habitat for many plants and animals and consequently loss of biodiversity.</a:t>
            </a:r>
            <a:endParaRPr lang="en-US" sz="2400" dirty="0">
              <a:solidFill>
                <a:srgbClr val="0070C0"/>
              </a:solidFill>
              <a:effectLst>
                <a:outerShdw blurRad="38100" dist="38100" dir="2700000" algn="tl">
                  <a:srgbClr val="000000"/>
                </a:outerShdw>
              </a:effectLst>
            </a:endParaRPr>
          </a:p>
          <a:p>
            <a:pPr marL="457200" indent="-457200">
              <a:spcBef>
                <a:spcPct val="50000"/>
              </a:spcBef>
              <a:defRPr/>
            </a:pPr>
            <a:endParaRPr lang="en-US" dirty="0">
              <a:effectLst>
                <a:outerShdw blurRad="38100" dist="38100" dir="2700000" algn="tl">
                  <a:srgbClr val="FFFFFF"/>
                </a:outerShdw>
              </a:effectLst>
            </a:endParaRPr>
          </a:p>
        </p:txBody>
      </p:sp>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23151285-39B9-4F40-AD6B-8BEF0FFB85A2}" type="datetime1">
              <a:rPr lang="en-IN" smtClean="0"/>
              <a:pPr/>
              <a:t>13-11-2017</a:t>
            </a:fld>
            <a:endParaRPr lang="en-IN"/>
          </a:p>
        </p:txBody>
      </p:sp>
      <p:sp>
        <p:nvSpPr>
          <p:cNvPr id="7" name="Slide Number Placeholder 6"/>
          <p:cNvSpPr>
            <a:spLocks noGrp="1"/>
          </p:cNvSpPr>
          <p:nvPr>
            <p:ph type="sldNum" sz="quarter" idx="12"/>
          </p:nvPr>
        </p:nvSpPr>
        <p:spPr/>
        <p:txBody>
          <a:bodyPr/>
          <a:lstStyle/>
          <a:p>
            <a:fld id="{49DA5783-7B05-41EA-B994-A0D58367EB40}" type="slidenum">
              <a:rPr lang="en-IN" smtClean="0"/>
              <a:pPr/>
              <a:t>26</a:t>
            </a:fld>
            <a:endParaRPr lang="en-IN"/>
          </a:p>
        </p:txBody>
      </p:sp>
      <p:sp>
        <p:nvSpPr>
          <p:cNvPr id="8" name="Footer Placeholder 7"/>
          <p:cNvSpPr>
            <a:spLocks noGrp="1"/>
          </p:cNvSpPr>
          <p:nvPr>
            <p:ph type="ftr" sz="quarter" idx="11"/>
          </p:nvPr>
        </p:nvSpPr>
        <p:spPr/>
        <p:txBody>
          <a:bodyPr/>
          <a:lstStyle/>
          <a:p>
            <a:r>
              <a:rPr lang="en-IN" smtClean="0"/>
              <a:t>Dr Jyoti K Sharma</a:t>
            </a: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9570"/>
                                        </p:tgtEl>
                                        <p:attrNameLst>
                                          <p:attrName>style.visibility</p:attrName>
                                        </p:attrNameLst>
                                      </p:cBhvr>
                                      <p:to>
                                        <p:strVal val="visible"/>
                                      </p:to>
                                    </p:set>
                                    <p:anim calcmode="lin" valueType="num">
                                      <p:cBhvr>
                                        <p:cTn id="7" dur="500" fill="hold"/>
                                        <p:tgtEl>
                                          <p:spTgt spid="109570"/>
                                        </p:tgtEl>
                                        <p:attrNameLst>
                                          <p:attrName>ppt_w</p:attrName>
                                        </p:attrNameLst>
                                      </p:cBhvr>
                                      <p:tavLst>
                                        <p:tav tm="0">
                                          <p:val>
                                            <p:fltVal val="0"/>
                                          </p:val>
                                        </p:tav>
                                        <p:tav tm="100000">
                                          <p:val>
                                            <p:strVal val="#ppt_w"/>
                                          </p:val>
                                        </p:tav>
                                      </p:tavLst>
                                    </p:anim>
                                    <p:anim calcmode="lin" valueType="num">
                                      <p:cBhvr>
                                        <p:cTn id="8" dur="500" fill="hold"/>
                                        <p:tgtEl>
                                          <p:spTgt spid="10957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 name="Picture 3" descr="http://www.open.edu/openlearnworks/pluginfile.php/61584/mod_page/content/1/td866_2_f012i.jpg"/>
          <p:cNvPicPr/>
          <p:nvPr/>
        </p:nvPicPr>
        <p:blipFill>
          <a:blip r:embed="rId2" cstate="print"/>
          <a:srcRect/>
          <a:stretch>
            <a:fillRect/>
          </a:stretch>
        </p:blipFill>
        <p:spPr bwMode="auto">
          <a:xfrm>
            <a:off x="457200" y="304800"/>
            <a:ext cx="8229600" cy="6172200"/>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898CF55E-76FF-409B-B9D1-8D408E2C8B14}" type="datetime1">
              <a:rPr lang="en-IN" smtClean="0"/>
              <a:pPr/>
              <a:t>13-11-2017</a:t>
            </a:fld>
            <a:endParaRPr lang="en-IN"/>
          </a:p>
        </p:txBody>
      </p:sp>
      <p:sp>
        <p:nvSpPr>
          <p:cNvPr id="6" name="Slide Number Placeholder 5"/>
          <p:cNvSpPr>
            <a:spLocks noGrp="1"/>
          </p:cNvSpPr>
          <p:nvPr>
            <p:ph type="sldNum" sz="quarter" idx="12"/>
          </p:nvPr>
        </p:nvSpPr>
        <p:spPr/>
        <p:txBody>
          <a:bodyPr/>
          <a:lstStyle/>
          <a:p>
            <a:fld id="{49DA5783-7B05-41EA-B994-A0D58367EB40}" type="slidenum">
              <a:rPr lang="en-IN" smtClean="0"/>
              <a:pPr/>
              <a:t>27</a:t>
            </a:fld>
            <a:endParaRPr lang="en-IN"/>
          </a:p>
        </p:txBody>
      </p:sp>
      <p:sp>
        <p:nvSpPr>
          <p:cNvPr id="7" name="Footer Placeholder 6"/>
          <p:cNvSpPr>
            <a:spLocks noGrp="1"/>
          </p:cNvSpPr>
          <p:nvPr>
            <p:ph type="ftr" sz="quarter" idx="11"/>
          </p:nvPr>
        </p:nvSpPr>
        <p:spPr/>
        <p:txBody>
          <a:bodyPr/>
          <a:lstStyle/>
          <a:p>
            <a:r>
              <a:rPr lang="en-IN" smtClean="0"/>
              <a:t>Dr Jyoti K Sharma</a:t>
            </a:r>
            <a:endParaRPr lang="en-IN"/>
          </a:p>
        </p:txBody>
      </p:sp>
      <p:pic>
        <p:nvPicPr>
          <p:cNvPr id="8" name="Picture 7"/>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
            </a:r>
            <a:br>
              <a:rPr lang="en-US" b="1" dirty="0" smtClean="0"/>
            </a:br>
            <a:r>
              <a:rPr lang="en-US" sz="2700" b="1" dirty="0" smtClean="0"/>
              <a:t>REFERENCES ON PRESENT STATUS OF ENVIRONMENTAL EDUCATION IN INDIA</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62500" lnSpcReduction="20000"/>
          </a:bodyPr>
          <a:lstStyle/>
          <a:p>
            <a:pPr lvl="0"/>
            <a:r>
              <a:rPr lang="en-US" dirty="0" smtClean="0"/>
              <a:t>M </a:t>
            </a:r>
            <a:r>
              <a:rPr lang="en-US" dirty="0" err="1" smtClean="0"/>
              <a:t>Pandya</a:t>
            </a:r>
            <a:r>
              <a:rPr lang="en-US" dirty="0" smtClean="0"/>
              <a:t>  ‎2005. Environmental Education- What and Why? by </a:t>
            </a:r>
          </a:p>
          <a:p>
            <a:pPr lvl="0"/>
            <a:r>
              <a:rPr lang="en-US" dirty="0" err="1" smtClean="0"/>
              <a:t>Somenath</a:t>
            </a:r>
            <a:r>
              <a:rPr lang="en-US" dirty="0" smtClean="0"/>
              <a:t> </a:t>
            </a:r>
            <a:r>
              <a:rPr lang="en-US" dirty="0" err="1" smtClean="0"/>
              <a:t>Halder</a:t>
            </a:r>
            <a:r>
              <a:rPr lang="en-US" dirty="0" smtClean="0"/>
              <a:t> 2012. An appraisal of environmental education in higher school education system: A case study of North Bengal, India International Journal Of Environmental Sciences Volume 2, No 4, 2012</a:t>
            </a:r>
          </a:p>
          <a:p>
            <a:pPr lvl="0"/>
            <a:r>
              <a:rPr lang="en-US" dirty="0" err="1" smtClean="0"/>
              <a:t>G.V.Gopal</a:t>
            </a:r>
            <a:r>
              <a:rPr lang="en-US" dirty="0" smtClean="0"/>
              <a:t> and V.V. </a:t>
            </a:r>
            <a:r>
              <a:rPr lang="en-US" dirty="0" err="1" smtClean="0"/>
              <a:t>Anand</a:t>
            </a:r>
            <a:r>
              <a:rPr lang="en-US" dirty="0" smtClean="0"/>
              <a:t>.     Environmental Education in school Curriculum an overall perspective. Regional institute of education, Mysore-6. </a:t>
            </a:r>
          </a:p>
          <a:p>
            <a:pPr lvl="0"/>
            <a:r>
              <a:rPr lang="en-US" dirty="0" smtClean="0"/>
              <a:t> Status of Environment Education at School Level in Delhi 2013. http://delhigreens.com/2013/06/12/status-of-environmental-education-at-school-level-in-delhi/#sthash.7b7LIzxF.dpuf  </a:t>
            </a:r>
          </a:p>
          <a:p>
            <a:pPr lvl="0"/>
            <a:r>
              <a:rPr lang="en-US" dirty="0" err="1" smtClean="0"/>
              <a:t>Nath</a:t>
            </a:r>
            <a:r>
              <a:rPr lang="en-US" dirty="0" smtClean="0"/>
              <a:t>, B. Environmental education and awareness. Environmental Education And </a:t>
            </a:r>
            <a:r>
              <a:rPr lang="en-US" dirty="0" err="1" smtClean="0"/>
              <a:t>Awareness.Vol</a:t>
            </a:r>
            <a:r>
              <a:rPr lang="en-US" dirty="0" smtClean="0"/>
              <a:t>. 1</a:t>
            </a:r>
          </a:p>
          <a:p>
            <a:pPr lvl="0" fontAlgn="base"/>
            <a:r>
              <a:rPr lang="en-US" dirty="0" err="1" smtClean="0"/>
              <a:t>Shilpa</a:t>
            </a:r>
            <a:r>
              <a:rPr lang="en-US" dirty="0" smtClean="0"/>
              <a:t> </a:t>
            </a:r>
            <a:r>
              <a:rPr lang="en-US" dirty="0" err="1" smtClean="0"/>
              <a:t>Shet</a:t>
            </a:r>
            <a:r>
              <a:rPr lang="en-US" dirty="0" smtClean="0"/>
              <a:t>. </a:t>
            </a:r>
            <a:r>
              <a:rPr lang="en-US" dirty="0" smtClean="0">
                <a:hlinkClick r:id="rId2"/>
              </a:rPr>
              <a:t>Environmental education finally finds a place in India's school </a:t>
            </a:r>
            <a:r>
              <a:rPr lang="en-US" dirty="0" err="1" smtClean="0">
                <a:hlinkClick r:id="rId2"/>
              </a:rPr>
              <a:t>textbooks</a:t>
            </a:r>
            <a:r>
              <a:rPr lang="en-US" dirty="0" err="1" smtClean="0"/>
              <a:t>.Infochange</a:t>
            </a:r>
            <a:r>
              <a:rPr lang="en-US" dirty="0" smtClean="0"/>
              <a:t> Education</a:t>
            </a:r>
          </a:p>
          <a:p>
            <a:pPr lvl="0"/>
            <a:r>
              <a:rPr lang="en-US" dirty="0" smtClean="0"/>
              <a:t>C.J. </a:t>
            </a:r>
            <a:r>
              <a:rPr lang="en-US" dirty="0" err="1" smtClean="0"/>
              <a:t>Sonowal</a:t>
            </a:r>
            <a:r>
              <a:rPr lang="en-US" dirty="0" smtClean="0"/>
              <a:t> 2009. Environmental Education in Schools: The Indian Scenario.</a:t>
            </a:r>
          </a:p>
          <a:p>
            <a:r>
              <a:rPr lang="en-US" dirty="0" smtClean="0"/>
              <a:t>J. Hum Ecol, 28(1): 15-36 (2009)</a:t>
            </a:r>
          </a:p>
          <a:p>
            <a:endParaRPr lang="en-US" dirty="0"/>
          </a:p>
        </p:txBody>
      </p:sp>
      <p:sp>
        <p:nvSpPr>
          <p:cNvPr id="4" name="Date Placeholder 3"/>
          <p:cNvSpPr>
            <a:spLocks noGrp="1"/>
          </p:cNvSpPr>
          <p:nvPr>
            <p:ph type="dt" sz="half" idx="10"/>
          </p:nvPr>
        </p:nvSpPr>
        <p:spPr/>
        <p:txBody>
          <a:bodyPr/>
          <a:lstStyle/>
          <a:p>
            <a:fld id="{1B5CEA00-A2C9-4B30-A692-C6451D50320C}" type="datetime1">
              <a:rPr lang="en-IN" smtClean="0"/>
              <a:pPr/>
              <a:t>13-11-2017</a:t>
            </a:fld>
            <a:endParaRPr lang="en-IN"/>
          </a:p>
        </p:txBody>
      </p:sp>
      <p:sp>
        <p:nvSpPr>
          <p:cNvPr id="5" name="Slide Number Placeholder 4"/>
          <p:cNvSpPr>
            <a:spLocks noGrp="1"/>
          </p:cNvSpPr>
          <p:nvPr>
            <p:ph type="sldNum" sz="quarter" idx="12"/>
          </p:nvPr>
        </p:nvSpPr>
        <p:spPr/>
        <p:txBody>
          <a:bodyPr/>
          <a:lstStyle/>
          <a:p>
            <a:fld id="{49DA5783-7B05-41EA-B994-A0D58367EB40}" type="slidenum">
              <a:rPr lang="en-IN" smtClean="0"/>
              <a:pPr/>
              <a:t>28</a:t>
            </a:fld>
            <a:endParaRPr lang="en-IN"/>
          </a:p>
        </p:txBody>
      </p:sp>
      <p:sp>
        <p:nvSpPr>
          <p:cNvPr id="6" name="Footer Placeholder 5"/>
          <p:cNvSpPr>
            <a:spLocks noGrp="1"/>
          </p:cNvSpPr>
          <p:nvPr>
            <p:ph type="ftr" sz="quarter" idx="11"/>
          </p:nvPr>
        </p:nvSpPr>
        <p:spPr/>
        <p:txBody>
          <a:bodyPr/>
          <a:lstStyle/>
          <a:p>
            <a:r>
              <a:rPr lang="en-IN" smtClean="0"/>
              <a:t>Dr Jyoti K Sharma</a:t>
            </a:r>
            <a:endParaRPr lang="en-I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6" name="Picture 4" descr="brassica rapa1"/>
          <p:cNvPicPr>
            <a:picLocks noChangeAspect="1" noChangeArrowheads="1"/>
          </p:cNvPicPr>
          <p:nvPr/>
        </p:nvPicPr>
        <p:blipFill>
          <a:blip r:embed="rId2" cstate="print"/>
          <a:srcRect/>
          <a:stretch>
            <a:fillRect/>
          </a:stretch>
        </p:blipFill>
        <p:spPr bwMode="auto">
          <a:xfrm>
            <a:off x="0" y="22225"/>
            <a:ext cx="9144000" cy="6835775"/>
          </a:xfrm>
          <a:prstGeom prst="rect">
            <a:avLst/>
          </a:prstGeom>
          <a:noFill/>
          <a:ln w="9525">
            <a:noFill/>
            <a:miter lim="800000"/>
            <a:headEnd/>
            <a:tailEnd/>
          </a:ln>
        </p:spPr>
      </p:pic>
      <p:pic>
        <p:nvPicPr>
          <p:cNvPr id="4" name="Picture 3"/>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5" name="TextBox 4"/>
          <p:cNvSpPr txBox="1"/>
          <p:nvPr/>
        </p:nvSpPr>
        <p:spPr>
          <a:xfrm>
            <a:off x="323528" y="5373216"/>
            <a:ext cx="2736304" cy="923330"/>
          </a:xfrm>
          <a:prstGeom prst="rect">
            <a:avLst/>
          </a:prstGeom>
          <a:noFill/>
        </p:spPr>
        <p:txBody>
          <a:bodyPr wrap="square" rtlCol="0">
            <a:spAutoFit/>
          </a:bodyPr>
          <a:lstStyle/>
          <a:p>
            <a:r>
              <a:rPr lang="en-US" sz="5400" b="1" dirty="0" smtClean="0">
                <a:solidFill>
                  <a:srgbClr val="FFFFFF"/>
                </a:solidFill>
                <a:latin typeface="Brush Script MT" pitchFamily="66" charset="0"/>
              </a:rPr>
              <a:t>Thanks…</a:t>
            </a:r>
            <a:endParaRPr lang="en-US" sz="5400" b="1" dirty="0">
              <a:solidFill>
                <a:srgbClr val="FFFFFF"/>
              </a:solidFill>
              <a:latin typeface="Brush Script MT" pitchFamily="66" charset="0"/>
            </a:endParaRPr>
          </a:p>
        </p:txBody>
      </p:sp>
      <p:sp>
        <p:nvSpPr>
          <p:cNvPr id="6" name="Date Placeholder 5"/>
          <p:cNvSpPr>
            <a:spLocks noGrp="1"/>
          </p:cNvSpPr>
          <p:nvPr>
            <p:ph type="dt" sz="half" idx="10"/>
          </p:nvPr>
        </p:nvSpPr>
        <p:spPr/>
        <p:txBody>
          <a:bodyPr/>
          <a:lstStyle/>
          <a:p>
            <a:fld id="{22D1D713-7A26-4825-B3B4-71BAD1AFB8E8}" type="datetime1">
              <a:rPr lang="en-IN" smtClean="0"/>
              <a:pPr/>
              <a:t>13-11-2017</a:t>
            </a:fld>
            <a:endParaRPr lang="en-IN"/>
          </a:p>
        </p:txBody>
      </p:sp>
      <p:sp>
        <p:nvSpPr>
          <p:cNvPr id="7" name="Slide Number Placeholder 6"/>
          <p:cNvSpPr>
            <a:spLocks noGrp="1"/>
          </p:cNvSpPr>
          <p:nvPr>
            <p:ph type="sldNum" sz="quarter" idx="12"/>
          </p:nvPr>
        </p:nvSpPr>
        <p:spPr/>
        <p:txBody>
          <a:bodyPr/>
          <a:lstStyle/>
          <a:p>
            <a:fld id="{49DA5783-7B05-41EA-B994-A0D58367EB40}" type="slidenum">
              <a:rPr lang="en-IN" smtClean="0"/>
              <a:pPr/>
              <a:t>29</a:t>
            </a:fld>
            <a:endParaRPr lang="en-IN"/>
          </a:p>
        </p:txBody>
      </p:sp>
      <p:sp>
        <p:nvSpPr>
          <p:cNvPr id="8" name="Footer Placeholder 7"/>
          <p:cNvSpPr>
            <a:spLocks noGrp="1"/>
          </p:cNvSpPr>
          <p:nvPr>
            <p:ph type="ftr" sz="quarter" idx="11"/>
          </p:nvPr>
        </p:nvSpPr>
        <p:spPr/>
        <p:txBody>
          <a:bodyPr/>
          <a:lstStyle/>
          <a:p>
            <a:r>
              <a:rPr lang="en-IN" smtClean="0"/>
              <a:t>Dr Jyoti K Sharma</a:t>
            </a: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32" fill="hold" nodeType="withEffect">
                                  <p:stCondLst>
                                    <p:cond delay="0"/>
                                  </p:stCondLst>
                                  <p:childTnLst>
                                    <p:set>
                                      <p:cBhvr>
                                        <p:cTn id="6" dur="1" fill="hold">
                                          <p:stCondLst>
                                            <p:cond delay="0"/>
                                          </p:stCondLst>
                                        </p:cTn>
                                        <p:tgtEl>
                                          <p:spTgt spid="59396"/>
                                        </p:tgtEl>
                                        <p:attrNameLst>
                                          <p:attrName>style.visibility</p:attrName>
                                        </p:attrNameLst>
                                      </p:cBhvr>
                                      <p:to>
                                        <p:strVal val="visible"/>
                                      </p:to>
                                    </p:set>
                                    <p:animEffect transition="in" filter="diamond(out)">
                                      <p:cBhvr>
                                        <p:cTn id="7" dur="2000"/>
                                        <p:tgtEl>
                                          <p:spTgt spid="59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720</TotalTime>
  <Words>1147</Words>
  <Application>Microsoft Office PowerPoint</Application>
  <PresentationFormat>On-screen Show (4:3)</PresentationFormat>
  <Paragraphs>224</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Environmental Awareness &amp; Education</vt:lpstr>
      <vt:lpstr> Reasons to Learn About the Environment </vt:lpstr>
      <vt:lpstr>Environmental Ethics-Awareness</vt:lpstr>
      <vt:lpstr>Environmental Ethics-Awareness</vt:lpstr>
      <vt:lpstr>Environmental Awareness</vt:lpstr>
      <vt:lpstr>Environmental Education </vt:lpstr>
      <vt:lpstr>Slide 7</vt:lpstr>
      <vt:lpstr> ENVIRONMENTAL EDUCATION- Biodiversity </vt:lpstr>
      <vt:lpstr>  Environmental Education   </vt:lpstr>
      <vt:lpstr> WHAT IS ENVIRONMENTAL EDUCATION </vt:lpstr>
      <vt:lpstr>MAJOR REQUIREMENTS FOR ENVIRONMENTAL EDUCATION  </vt:lpstr>
      <vt:lpstr>ENVIRONMENTAL EDUCATION</vt:lpstr>
      <vt:lpstr> Environmental Education in Curriculum </vt:lpstr>
      <vt:lpstr>ENVIRONMENTAL EDUCATION</vt:lpstr>
      <vt:lpstr>Slide 15</vt:lpstr>
      <vt:lpstr>ENVIRONMENTAL EDUCATION</vt:lpstr>
      <vt:lpstr>ENVIRONMENTAL EDUCATION</vt:lpstr>
      <vt:lpstr>Slide 18</vt:lpstr>
      <vt:lpstr>Slide 19</vt:lpstr>
      <vt:lpstr>Slide 20</vt:lpstr>
      <vt:lpstr>Slide 21</vt:lpstr>
      <vt:lpstr>Slide 22</vt:lpstr>
      <vt:lpstr>Slide 23</vt:lpstr>
      <vt:lpstr>Slide 24</vt:lpstr>
      <vt:lpstr>Slide 25</vt:lpstr>
      <vt:lpstr>Slide 26</vt:lpstr>
      <vt:lpstr>Slide 27</vt:lpstr>
      <vt:lpstr>  REFERENCES ON PRESENT STATUS OF ENVIRONMENTAL EDUCATION IN INDIA </vt:lpstr>
      <vt:lpstr>Slide 29</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Environmental Education</dc:title>
  <dc:creator>dell</dc:creator>
  <cp:lastModifiedBy>jksharma</cp:lastModifiedBy>
  <cp:revision>37</cp:revision>
  <dcterms:created xsi:type="dcterms:W3CDTF">2011-09-28T11:23:58Z</dcterms:created>
  <dcterms:modified xsi:type="dcterms:W3CDTF">2017-11-13T03:54:49Z</dcterms:modified>
</cp:coreProperties>
</file>