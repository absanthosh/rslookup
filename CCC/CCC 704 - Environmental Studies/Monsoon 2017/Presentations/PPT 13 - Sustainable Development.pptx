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399" r:id="rId3"/>
    <p:sldId id="378" r:id="rId4"/>
    <p:sldId id="409" r:id="rId5"/>
    <p:sldId id="400" r:id="rId6"/>
    <p:sldId id="379" r:id="rId7"/>
    <p:sldId id="380" r:id="rId8"/>
    <p:sldId id="381" r:id="rId9"/>
    <p:sldId id="397" r:id="rId10"/>
    <p:sldId id="376" r:id="rId11"/>
    <p:sldId id="398" r:id="rId12"/>
    <p:sldId id="377" r:id="rId13"/>
    <p:sldId id="382"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83" r:id="rId28"/>
    <p:sldId id="405" r:id="rId29"/>
    <p:sldId id="407" r:id="rId30"/>
    <p:sldId id="281" r:id="rId31"/>
    <p:sldId id="284" r:id="rId32"/>
    <p:sldId id="330" r:id="rId33"/>
    <p:sldId id="401" r:id="rId34"/>
    <p:sldId id="403" r:id="rId35"/>
    <p:sldId id="402" r:id="rId36"/>
    <p:sldId id="331" r:id="rId37"/>
    <p:sldId id="333" r:id="rId38"/>
    <p:sldId id="334" r:id="rId39"/>
    <p:sldId id="411" r:id="rId40"/>
    <p:sldId id="360" r:id="rId41"/>
    <p:sldId id="361" r:id="rId42"/>
    <p:sldId id="362" r:id="rId43"/>
    <p:sldId id="363" r:id="rId44"/>
    <p:sldId id="408" r:id="rId45"/>
    <p:sldId id="364" r:id="rId46"/>
    <p:sldId id="374" r:id="rId47"/>
    <p:sldId id="335" r:id="rId48"/>
    <p:sldId id="336" r:id="rId49"/>
    <p:sldId id="337" r:id="rId50"/>
    <p:sldId id="406" r:id="rId51"/>
    <p:sldId id="417" r:id="rId52"/>
    <p:sldId id="338" r:id="rId53"/>
    <p:sldId id="355" r:id="rId54"/>
    <p:sldId id="339" r:id="rId55"/>
    <p:sldId id="412" r:id="rId56"/>
    <p:sldId id="340" r:id="rId57"/>
    <p:sldId id="415" r:id="rId58"/>
    <p:sldId id="416" r:id="rId59"/>
    <p:sldId id="341" r:id="rId60"/>
    <p:sldId id="413" r:id="rId61"/>
    <p:sldId id="356" r:id="rId62"/>
    <p:sldId id="414" r:id="rId63"/>
    <p:sldId id="342" r:id="rId64"/>
    <p:sldId id="343" r:id="rId65"/>
    <p:sldId id="271" r:id="rId66"/>
    <p:sldId id="285"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50" d="100"/>
        <a:sy n="50" d="100"/>
      </p:scale>
      <p:origin x="0" y="2754"/>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D18727-54A8-4587-8E2B-3912132E3B3C}" type="datetimeFigureOut">
              <a:rPr lang="en-IN" smtClean="0"/>
              <a:t>15-11-2017</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92A9A0-FAF6-4EE7-8DB0-043A556F2A2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D581D88-3BE9-48AA-87DE-D4359BC1D338}" type="datetime1">
              <a:rPr lang="en-US" smtClean="0"/>
              <a:t>11/15/2017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AEAB8F-6DBF-4BCC-A709-8843BE5B2D94}" type="datetime1">
              <a:rPr lang="en-US" smtClean="0"/>
              <a:t>11/15/2017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8738487-CB93-45D1-966B-E95A49B41764}" type="datetime1">
              <a:rPr lang="en-US" smtClean="0"/>
              <a:t>11/15/2017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54FA22D-5DA0-49FA-8561-03B02B29FB87}" type="datetime1">
              <a:rPr lang="en-US" smtClean="0"/>
              <a:t>11/15/2017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4438A7-99F5-45E8-B89D-01447C046CCA}" type="datetime1">
              <a:rPr lang="en-US" smtClean="0"/>
              <a:t>11/15/2017</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
        <p:nvSpPr>
          <p:cNvPr id="9" name="Slide Number Placeholder 8"/>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B71B00-C4E9-4044-89B2-988A93E10558}" type="datetime1">
              <a:rPr lang="en-US" smtClean="0"/>
              <a:t>11/15/2017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41208F-81F6-4995-BE2E-C848A6A6C887}" type="datetime1">
              <a:rPr lang="en-US" smtClean="0"/>
              <a:t>11/15/2017</a:t>
            </a:fld>
            <a:endParaRPr lang="en-US"/>
          </a:p>
        </p:txBody>
      </p:sp>
      <p:sp>
        <p:nvSpPr>
          <p:cNvPr id="3" name="Footer Placeholder 2"/>
          <p:cNvSpPr>
            <a:spLocks noGrp="1"/>
          </p:cNvSpPr>
          <p:nvPr>
            <p:ph type="ftr" sz="quarter" idx="11"/>
          </p:nvPr>
        </p:nvSpPr>
        <p:spPr/>
        <p:txBody>
          <a:bodyPr/>
          <a:lstStyle/>
          <a:p>
            <a:r>
              <a:rPr lang="en-US" smtClean="0"/>
              <a:t>Dr Jyoti K Sharma</a:t>
            </a:r>
            <a:endParaRPr lang="en-US"/>
          </a:p>
        </p:txBody>
      </p:sp>
      <p:sp>
        <p:nvSpPr>
          <p:cNvPr id="4" name="Slide Number Placeholder 3"/>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7B1CCF-ADEA-4E22-B7E7-E5712CC2D8CA}" type="datetime1">
              <a:rPr lang="en-US" smtClean="0"/>
              <a:t>11/15/2017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53A5C0-198E-48C6-91AA-003C34CC0F08}" type="datetime1">
              <a:rPr lang="en-US" smtClean="0"/>
              <a:t>11/15/2017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1398FC-494C-4B5B-993D-BC8143380B61}" type="datetime1">
              <a:rPr lang="en-US" smtClean="0"/>
              <a:t>11/15/2017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577EA-C66B-4757-A8E0-FE3AF3C1BE27}" type="datetime1">
              <a:rPr lang="en-US" smtClean="0"/>
              <a:t>11/15/2017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64961-B703-4052-BC69-22209DB6136B}" type="datetime1">
              <a:rPr lang="en-US" smtClean="0"/>
              <a:t>11/15/2017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Dr Jyoti K Sharma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91EB85-8768-4FFB-8D55-EBA10FA5B87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en.wikipedia.org/wiki/Natural_capita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en.wikipedia.org/wiki/Extinction" TargetMode="External"/><Relationship Id="rId2" Type="http://schemas.openxmlformats.org/officeDocument/2006/relationships/hyperlink" Target="https://en.wikipedia.org/wiki/Planetary_boundaries"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en.wikipedia.org/wiki/Environmentally-friendly"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en.wikipedia.org/wiki/Agroforestry" TargetMode="External"/><Relationship Id="rId7" Type="http://schemas.openxmlformats.org/officeDocument/2006/relationships/image" Target="../media/image3.jpeg"/><Relationship Id="rId2" Type="http://schemas.openxmlformats.org/officeDocument/2006/relationships/hyperlink" Target="https://en.wikipedia.org/wiki/Permaculture" TargetMode="External"/><Relationship Id="rId1" Type="http://schemas.openxmlformats.org/officeDocument/2006/relationships/slideLayout" Target="../slideLayouts/slideLayout2.xml"/><Relationship Id="rId6" Type="http://schemas.openxmlformats.org/officeDocument/2006/relationships/hyperlink" Target="https://en.wikipedia.org/wiki/Crop_rotation" TargetMode="External"/><Relationship Id="rId5" Type="http://schemas.openxmlformats.org/officeDocument/2006/relationships/hyperlink" Target="https://en.wikipedia.org/wiki/Multiple_cropping" TargetMode="External"/><Relationship Id="rId4" Type="http://schemas.openxmlformats.org/officeDocument/2006/relationships/hyperlink" Target="https://en.wikipedia.org/wiki/Mixed_farming"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en.wikipedia.org/wiki/Wind_power" TargetMode="External"/><Relationship Id="rId2" Type="http://schemas.openxmlformats.org/officeDocument/2006/relationships/hyperlink" Target="https://en.wikipedia.org/wiki/Solar_energy"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en.wikipedia.org/wiki/Eco-efficiency"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en.wikipedia.org/wiki/Eco-efficiency"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en.wikipedia.org/wiki/Resource_intensity" TargetMode="External"/><Relationship Id="rId2" Type="http://schemas.openxmlformats.org/officeDocument/2006/relationships/hyperlink" Target="https://en.wikipedia.org/wiki/WBCSD"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en.wikipedia.org/wiki/New_Classical_architecture" TargetMode="External"/><Relationship Id="rId7" Type="http://schemas.openxmlformats.org/officeDocument/2006/relationships/image" Target="../media/image3.jpeg"/><Relationship Id="rId2" Type="http://schemas.openxmlformats.org/officeDocument/2006/relationships/hyperlink" Target="https://en.wikipedia.org/wiki/New_Urbanism" TargetMode="External"/><Relationship Id="rId1" Type="http://schemas.openxmlformats.org/officeDocument/2006/relationships/slideLayout" Target="../slideLayouts/slideLayout2.xml"/><Relationship Id="rId6" Type="http://schemas.openxmlformats.org/officeDocument/2006/relationships/hyperlink" Target="https://en.wikipedia.org/wiki/Classical_architecture" TargetMode="External"/><Relationship Id="rId5" Type="http://schemas.openxmlformats.org/officeDocument/2006/relationships/hyperlink" Target="https://en.wikipedia.org/wiki/Vernacular_architecture" TargetMode="External"/><Relationship Id="rId4" Type="http://schemas.openxmlformats.org/officeDocument/2006/relationships/hyperlink" Target="https://en.wikipedia.org/wiki/Smart_growth" TargetMode="External"/></Relationships>
</file>

<file path=ppt/slides/_rels/slide60.xml.rels><?xml version="1.0" encoding="UTF-8" standalone="yes"?>
<Relationships xmlns="http://schemas.openxmlformats.org/package/2006/relationships"><Relationship Id="rId8" Type="http://schemas.openxmlformats.org/officeDocument/2006/relationships/hyperlink" Target="https://en.wikipedia.org/wiki/International_Style_(architecture)" TargetMode="External"/><Relationship Id="rId3" Type="http://schemas.openxmlformats.org/officeDocument/2006/relationships/hyperlink" Target="https://en.wikipedia.org/wiki/New_Classical_architecture" TargetMode="External"/><Relationship Id="rId7" Type="http://schemas.openxmlformats.org/officeDocument/2006/relationships/hyperlink" Target="https://en.wikipedia.org/wiki/Modern_architecture" TargetMode="External"/><Relationship Id="rId2" Type="http://schemas.openxmlformats.org/officeDocument/2006/relationships/hyperlink" Target="https://en.wikipedia.org/wiki/New_Urbanism" TargetMode="External"/><Relationship Id="rId1" Type="http://schemas.openxmlformats.org/officeDocument/2006/relationships/slideLayout" Target="../slideLayouts/slideLayout2.xml"/><Relationship Id="rId6" Type="http://schemas.openxmlformats.org/officeDocument/2006/relationships/hyperlink" Target="https://en.wikipedia.org/wiki/Classical_architecture" TargetMode="External"/><Relationship Id="rId11" Type="http://schemas.openxmlformats.org/officeDocument/2006/relationships/image" Target="../media/image3.jpeg"/><Relationship Id="rId5" Type="http://schemas.openxmlformats.org/officeDocument/2006/relationships/hyperlink" Target="https://en.wikipedia.org/wiki/Vernacular_architecture" TargetMode="External"/><Relationship Id="rId10" Type="http://schemas.openxmlformats.org/officeDocument/2006/relationships/hyperlink" Target="https://en.wikipedia.org/wiki/Urban_sprawl" TargetMode="External"/><Relationship Id="rId4" Type="http://schemas.openxmlformats.org/officeDocument/2006/relationships/hyperlink" Target="https://en.wikipedia.org/wiki/Smart_growth" TargetMode="External"/><Relationship Id="rId9" Type="http://schemas.openxmlformats.org/officeDocument/2006/relationships/hyperlink" Target="https://en.wikipedia.org/wiki/Housing_estate"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en.wikipedia.org/wiki/International_Style_(architecture)" TargetMode="External"/><Relationship Id="rId2" Type="http://schemas.openxmlformats.org/officeDocument/2006/relationships/hyperlink" Target="https://en.wikipedia.org/wiki/Modern_architecture"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en.wikipedia.org/wiki/Urban_sprawl" TargetMode="External"/><Relationship Id="rId4" Type="http://schemas.openxmlformats.org/officeDocument/2006/relationships/hyperlink" Target="https://en.wikipedia.org/wiki/Housing_estate"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1"/>
            <a:ext cx="7772400" cy="1523999"/>
          </a:xfrm>
        </p:spPr>
        <p:txBody>
          <a:bodyPr/>
          <a:lstStyle/>
          <a:p>
            <a:r>
              <a:rPr lang="en-US" b="1" dirty="0" smtClean="0">
                <a:solidFill>
                  <a:srgbClr val="0070C0"/>
                </a:solidFill>
                <a:latin typeface="Comic Sans MS" pitchFamily="66" charset="0"/>
              </a:rPr>
              <a:t>Sustainable Development</a:t>
            </a:r>
            <a:endParaRPr lang="en-US" b="1" dirty="0">
              <a:solidFill>
                <a:srgbClr val="0070C0"/>
              </a:solidFill>
              <a:latin typeface="Comic Sans MS" pitchFamily="66" charset="0"/>
            </a:endParaRPr>
          </a:p>
        </p:txBody>
      </p:sp>
      <p:sp>
        <p:nvSpPr>
          <p:cNvPr id="3" name="Subtitle 2"/>
          <p:cNvSpPr>
            <a:spLocks noGrp="1"/>
          </p:cNvSpPr>
          <p:nvPr>
            <p:ph type="subTitle" idx="1"/>
          </p:nvPr>
        </p:nvSpPr>
        <p:spPr/>
        <p:txBody>
          <a:bodyPr/>
          <a:lstStyle/>
          <a:p>
            <a:endParaRPr lang="en-US"/>
          </a:p>
        </p:txBody>
      </p:sp>
      <p:pic>
        <p:nvPicPr>
          <p:cNvPr id="20482" name="Picture 2" descr="https://stocklogos-pd.s3.amazonaws.com/styles/logo-medium-alt/logos/image/stocklogos-template_906.png?itok=pn7jHPR2"/>
          <p:cNvPicPr>
            <a:picLocks noChangeAspect="1" noChangeArrowheads="1"/>
          </p:cNvPicPr>
          <p:nvPr/>
        </p:nvPicPr>
        <p:blipFill>
          <a:blip r:embed="rId2" cstate="print"/>
          <a:srcRect/>
          <a:stretch>
            <a:fillRect/>
          </a:stretch>
        </p:blipFill>
        <p:spPr bwMode="auto">
          <a:xfrm>
            <a:off x="228600" y="152400"/>
            <a:ext cx="8686800" cy="5486400"/>
          </a:xfrm>
          <a:prstGeom prst="rect">
            <a:avLst/>
          </a:prstGeom>
          <a:noFill/>
        </p:spPr>
      </p:pic>
      <p:sp>
        <p:nvSpPr>
          <p:cNvPr id="5" name="TextBox 4"/>
          <p:cNvSpPr txBox="1"/>
          <p:nvPr/>
        </p:nvSpPr>
        <p:spPr>
          <a:xfrm>
            <a:off x="0" y="5638800"/>
            <a:ext cx="9144000" cy="923330"/>
          </a:xfrm>
          <a:prstGeom prst="rect">
            <a:avLst/>
          </a:prstGeom>
          <a:noFill/>
        </p:spPr>
        <p:txBody>
          <a:bodyPr wrap="square" rtlCol="0">
            <a:spAutoFit/>
          </a:bodyPr>
          <a:lstStyle/>
          <a:p>
            <a:pPr algn="ctr"/>
            <a:r>
              <a:rPr lang="en-US" b="1" i="1" dirty="0" smtClean="0">
                <a:latin typeface="Comic Sans MS" pitchFamily="66" charset="0"/>
              </a:rPr>
              <a:t>Dr Jyoti K Sharma, </a:t>
            </a:r>
            <a:r>
              <a:rPr lang="en-US" b="1" i="1" dirty="0" smtClean="0">
                <a:latin typeface="Comic Sans MS" pitchFamily="66" charset="0"/>
              </a:rPr>
              <a:t>Professor &amp; Head</a:t>
            </a:r>
            <a:endParaRPr lang="en-US" b="1" i="1" dirty="0" smtClean="0">
              <a:latin typeface="Comic Sans MS" pitchFamily="66" charset="0"/>
            </a:endParaRPr>
          </a:p>
          <a:p>
            <a:pPr algn="ctr"/>
            <a:r>
              <a:rPr lang="en-US" b="1" dirty="0" smtClean="0">
                <a:solidFill>
                  <a:srgbClr val="0070C0"/>
                </a:solidFill>
                <a:latin typeface="Comic Sans MS" pitchFamily="66" charset="0"/>
              </a:rPr>
              <a:t>Center for Environmental Sciences &amp; Engineering, </a:t>
            </a:r>
          </a:p>
          <a:p>
            <a:pPr algn="ctr"/>
            <a:r>
              <a:rPr lang="en-US" b="1" dirty="0" smtClean="0">
                <a:solidFill>
                  <a:srgbClr val="0070C0"/>
                </a:solidFill>
                <a:latin typeface="Comic Sans MS" pitchFamily="66" charset="0"/>
              </a:rPr>
              <a:t>School of Natural Sciences</a:t>
            </a:r>
            <a:endParaRPr lang="en-US" b="1" dirty="0">
              <a:solidFill>
                <a:srgbClr val="0070C0"/>
              </a:solidFill>
              <a:latin typeface="Comic Sans MS" pitchFamily="66" charset="0"/>
            </a:endParaRPr>
          </a:p>
        </p:txBody>
      </p:sp>
      <p:sp>
        <p:nvSpPr>
          <p:cNvPr id="6" name="Date Placeholder 5"/>
          <p:cNvSpPr>
            <a:spLocks noGrp="1"/>
          </p:cNvSpPr>
          <p:nvPr>
            <p:ph type="dt" sz="half" idx="10"/>
          </p:nvPr>
        </p:nvSpPr>
        <p:spPr/>
        <p:txBody>
          <a:bodyPr/>
          <a:lstStyle/>
          <a:p>
            <a:fld id="{66AFF9C3-DBBB-4B3E-97FD-EA754B82ED38}"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1</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9698" name="Picture 2" descr="World, hold on!&#10;&#10;&#10;(…) Open up your heart, what do you feel is&#10;real. The big bang may be a million years&#10;away. But I can't..."/>
          <p:cNvPicPr>
            <a:picLocks noChangeAspect="1" noChangeArrowheads="1"/>
          </p:cNvPicPr>
          <p:nvPr/>
        </p:nvPicPr>
        <p:blipFill>
          <a:blip r:embed="rId2" cstate="print"/>
          <a:srcRect/>
          <a:stretch>
            <a:fillRect/>
          </a:stretch>
        </p:blipFill>
        <p:spPr bwMode="auto">
          <a:xfrm>
            <a:off x="457200" y="228600"/>
            <a:ext cx="8305800" cy="60198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7C2DE23B-DE9D-4D13-99A7-12169C42EE3C}"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2</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Sustainability</a:t>
            </a:r>
            <a:endParaRPr lang="en-IN" b="1" dirty="0">
              <a:solidFill>
                <a:srgbClr val="0070C0"/>
              </a:solidFill>
            </a:endParaRPr>
          </a:p>
        </p:txBody>
      </p:sp>
      <p:sp>
        <p:nvSpPr>
          <p:cNvPr id="3" name="Content Placeholder 2"/>
          <p:cNvSpPr>
            <a:spLocks noGrp="1"/>
          </p:cNvSpPr>
          <p:nvPr>
            <p:ph idx="1"/>
          </p:nvPr>
        </p:nvSpPr>
        <p:spPr>
          <a:xfrm>
            <a:off x="228600" y="1295400"/>
            <a:ext cx="8686800" cy="5105400"/>
          </a:xfrm>
        </p:spPr>
        <p:txBody>
          <a:bodyPr>
            <a:normAutofit/>
          </a:bodyPr>
          <a:lstStyle/>
          <a:p>
            <a:pPr>
              <a:buNone/>
            </a:pPr>
            <a:r>
              <a:rPr lang="en-GB" b="1" dirty="0" smtClean="0"/>
              <a:t>Sustainability</a:t>
            </a:r>
            <a:r>
              <a:rPr lang="en-GB" dirty="0" smtClean="0"/>
              <a:t> can be defined as the practice of maintaining processes of productivity indefinitely—natural or human made—by replacing resources used with resources of equal or greater value without degrading or endangering natural biotic </a:t>
            </a:r>
            <a:r>
              <a:rPr lang="en-GB" dirty="0" smtClean="0"/>
              <a:t>systems.</a:t>
            </a:r>
          </a:p>
          <a:p>
            <a:pPr>
              <a:buNone/>
            </a:pPr>
            <a:r>
              <a:rPr lang="en-US" b="1" u="sng" dirty="0" smtClean="0">
                <a:solidFill>
                  <a:srgbClr val="0070C0"/>
                </a:solidFill>
                <a:latin typeface="Comic Sans MS" pitchFamily="66" charset="0"/>
              </a:rPr>
              <a:t>Sustainability </a:t>
            </a:r>
            <a:r>
              <a:rPr lang="en-US" b="1" dirty="0" smtClean="0">
                <a:solidFill>
                  <a:srgbClr val="0070C0"/>
                </a:solidFill>
                <a:latin typeface="Comic Sans MS" pitchFamily="66" charset="0"/>
              </a:rPr>
              <a:t>can be defined as the practice of reserving resources for future generation without any harm to the nature and other components of it.</a:t>
            </a:r>
          </a:p>
          <a:p>
            <a:pPr>
              <a:buNone/>
            </a:pPr>
            <a:endParaRPr lang="en-GB" baseline="30000" dirty="0" smtClean="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5BF1E33E-AB48-4750-89ED-F740D496CD7D}"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3</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7890" name="Picture 2" descr="Sustainability is concerned withSustainability is concerned with&#10;these &quot;these &quot;3 Es3 Es&quot;.&quot;.&#10;• EquityEquity&#10;• Environmental..."/>
          <p:cNvPicPr>
            <a:picLocks noChangeAspect="1" noChangeArrowheads="1"/>
          </p:cNvPicPr>
          <p:nvPr/>
        </p:nvPicPr>
        <p:blipFill>
          <a:blip r:embed="rId2" cstate="print"/>
          <a:srcRect/>
          <a:stretch>
            <a:fillRect/>
          </a:stretch>
        </p:blipFill>
        <p:spPr bwMode="auto">
          <a:xfrm>
            <a:off x="381000" y="228600"/>
            <a:ext cx="8534400" cy="62484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B115FB21-9041-4A9E-B231-DC6022F807D6}"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rgbClr val="0070C0"/>
                </a:solidFill>
                <a:latin typeface="Comic Sans MS" pitchFamily="66" charset="0"/>
              </a:rPr>
              <a:t>Sustainability &amp; </a:t>
            </a:r>
            <a:br>
              <a:rPr lang="en-US" sz="3600" b="1" dirty="0" smtClean="0">
                <a:solidFill>
                  <a:srgbClr val="0070C0"/>
                </a:solidFill>
                <a:latin typeface="Comic Sans MS" pitchFamily="66" charset="0"/>
              </a:rPr>
            </a:br>
            <a:r>
              <a:rPr lang="en-US" sz="3600" b="1" dirty="0" smtClean="0">
                <a:solidFill>
                  <a:srgbClr val="0070C0"/>
                </a:solidFill>
                <a:latin typeface="Comic Sans MS" pitchFamily="66" charset="0"/>
              </a:rPr>
              <a:t>Sustainable </a:t>
            </a:r>
            <a:r>
              <a:rPr lang="en-US" sz="3600" b="1" dirty="0" smtClean="0">
                <a:solidFill>
                  <a:srgbClr val="0070C0"/>
                </a:solidFill>
                <a:latin typeface="Comic Sans MS" pitchFamily="66" charset="0"/>
              </a:rPr>
              <a:t>Development</a:t>
            </a:r>
            <a:r>
              <a:rPr lang="en-US" sz="3600" dirty="0" smtClean="0">
                <a:solidFill>
                  <a:srgbClr val="0070C0"/>
                </a:solidFill>
                <a:latin typeface="Comic Sans MS" pitchFamily="66" charset="0"/>
              </a:rPr>
              <a:t> (</a:t>
            </a:r>
            <a:r>
              <a:rPr lang="en-US" sz="3600" b="1" dirty="0" smtClean="0">
                <a:solidFill>
                  <a:srgbClr val="0070C0"/>
                </a:solidFill>
                <a:latin typeface="Comic Sans MS" pitchFamily="66" charset="0"/>
              </a:rPr>
              <a:t>SD</a:t>
            </a:r>
            <a:r>
              <a:rPr lang="en-US" sz="3600" dirty="0" smtClean="0">
                <a:solidFill>
                  <a:srgbClr val="0070C0"/>
                </a:solidFill>
                <a:latin typeface="Comic Sans MS" pitchFamily="66" charset="0"/>
              </a:rPr>
              <a:t>)</a:t>
            </a:r>
            <a:endParaRPr lang="en-US" sz="3600" dirty="0">
              <a:solidFill>
                <a:srgbClr val="0070C0"/>
              </a:solidFill>
            </a:endParaRPr>
          </a:p>
        </p:txBody>
      </p:sp>
      <p:sp>
        <p:nvSpPr>
          <p:cNvPr id="3" name="Content Placeholder 2"/>
          <p:cNvSpPr>
            <a:spLocks noGrp="1"/>
          </p:cNvSpPr>
          <p:nvPr>
            <p:ph idx="1"/>
          </p:nvPr>
        </p:nvSpPr>
        <p:spPr>
          <a:xfrm>
            <a:off x="304800" y="1600200"/>
            <a:ext cx="8610600" cy="4953000"/>
          </a:xfrm>
        </p:spPr>
        <p:txBody>
          <a:bodyPr>
            <a:normAutofit fontScale="92500" lnSpcReduction="20000"/>
          </a:bodyPr>
          <a:lstStyle/>
          <a:p>
            <a:pPr>
              <a:buNone/>
            </a:pPr>
            <a:r>
              <a:rPr lang="en-US" b="1" dirty="0" smtClean="0">
                <a:latin typeface="Comic Sans MS" pitchFamily="66" charset="0"/>
              </a:rPr>
              <a:t>Sustainability science</a:t>
            </a:r>
            <a:r>
              <a:rPr lang="en-US" dirty="0" smtClean="0">
                <a:latin typeface="Comic Sans MS" pitchFamily="66" charset="0"/>
              </a:rPr>
              <a:t> is the study of the concepts of </a:t>
            </a:r>
            <a:r>
              <a:rPr lang="en-US" u="sng" dirty="0" smtClean="0">
                <a:solidFill>
                  <a:srgbClr val="0070C0"/>
                </a:solidFill>
                <a:latin typeface="Comic Sans MS" pitchFamily="66" charset="0"/>
              </a:rPr>
              <a:t>sustainable development and environmental science. </a:t>
            </a:r>
            <a:endParaRPr lang="en-US" u="sng" dirty="0" smtClean="0">
              <a:solidFill>
                <a:srgbClr val="0070C0"/>
              </a:solidFill>
              <a:latin typeface="Comic Sans MS" pitchFamily="66" charset="0"/>
            </a:endParaRPr>
          </a:p>
          <a:p>
            <a:pPr>
              <a:buNone/>
            </a:pPr>
            <a:r>
              <a:rPr lang="en-US" dirty="0" smtClean="0">
                <a:latin typeface="Comic Sans MS" pitchFamily="66" charset="0"/>
              </a:rPr>
              <a:t>There </a:t>
            </a:r>
            <a:r>
              <a:rPr lang="en-US" dirty="0" smtClean="0">
                <a:latin typeface="Comic Sans MS" pitchFamily="66" charset="0"/>
              </a:rPr>
              <a:t>is an additional focus on the </a:t>
            </a:r>
            <a:r>
              <a:rPr lang="en-US" b="1" dirty="0" smtClean="0">
                <a:latin typeface="Comic Sans MS" pitchFamily="66" charset="0"/>
              </a:rPr>
              <a:t>present generations' responsibility </a:t>
            </a:r>
            <a:r>
              <a:rPr lang="en-US" dirty="0" smtClean="0">
                <a:latin typeface="Comic Sans MS" pitchFamily="66" charset="0"/>
              </a:rPr>
              <a:t>to regenerate, maintain and improve planetary resources for use by </a:t>
            </a:r>
            <a:r>
              <a:rPr lang="en-US" b="1" dirty="0" smtClean="0">
                <a:latin typeface="Comic Sans MS" pitchFamily="66" charset="0"/>
              </a:rPr>
              <a:t>future generations</a:t>
            </a:r>
            <a:r>
              <a:rPr lang="en-US" b="1" dirty="0" smtClean="0">
                <a:latin typeface="Comic Sans MS" pitchFamily="66" charset="0"/>
              </a:rPr>
              <a:t>.</a:t>
            </a:r>
            <a:endParaRPr lang="en-US" b="1" dirty="0">
              <a:solidFill>
                <a:srgbClr val="FF0000"/>
              </a:solidFill>
              <a:latin typeface="Comic Sans MS" pitchFamily="66" charset="0"/>
            </a:endParaRPr>
          </a:p>
          <a:p>
            <a:r>
              <a:rPr lang="en-US" sz="3300" b="1" dirty="0" smtClean="0">
                <a:latin typeface="Comic Sans MS" pitchFamily="66" charset="0"/>
              </a:rPr>
              <a:t>Sustainable </a:t>
            </a:r>
            <a:r>
              <a:rPr lang="en-US" sz="3300" b="1" dirty="0">
                <a:latin typeface="Comic Sans MS" pitchFamily="66" charset="0"/>
              </a:rPr>
              <a:t>development </a:t>
            </a:r>
            <a:r>
              <a:rPr lang="en-US" sz="3300" dirty="0">
                <a:latin typeface="Comic Sans MS" pitchFamily="66" charset="0"/>
              </a:rPr>
              <a:t>ties together concern for the </a:t>
            </a:r>
            <a:r>
              <a:rPr lang="en-US" sz="3300" b="1" dirty="0" smtClean="0">
                <a:latin typeface="Comic Sans MS" pitchFamily="66" charset="0"/>
              </a:rPr>
              <a:t>carrying capacity</a:t>
            </a:r>
            <a:r>
              <a:rPr lang="en-US" sz="3300" dirty="0">
                <a:latin typeface="Comic Sans MS" pitchFamily="66" charset="0"/>
              </a:rPr>
              <a:t> </a:t>
            </a:r>
            <a:r>
              <a:rPr lang="en-US" sz="3300" dirty="0" smtClean="0">
                <a:latin typeface="Comic Sans MS" pitchFamily="66" charset="0"/>
              </a:rPr>
              <a:t> of</a:t>
            </a:r>
            <a:r>
              <a:rPr lang="en-US" sz="3300" dirty="0">
                <a:latin typeface="Comic Sans MS" pitchFamily="66" charset="0"/>
              </a:rPr>
              <a:t> natural </a:t>
            </a:r>
            <a:r>
              <a:rPr lang="en-US" sz="3300" dirty="0" smtClean="0">
                <a:latin typeface="Comic Sans MS" pitchFamily="66" charset="0"/>
              </a:rPr>
              <a:t>systems</a:t>
            </a:r>
            <a:r>
              <a:rPr lang="en-US" sz="3300" dirty="0">
                <a:latin typeface="Comic Sans MS" pitchFamily="66" charset="0"/>
              </a:rPr>
              <a:t> with the social, political, and </a:t>
            </a:r>
            <a:r>
              <a:rPr lang="en-US" sz="3300" dirty="0" smtClean="0">
                <a:latin typeface="Comic Sans MS" pitchFamily="66" charset="0"/>
              </a:rPr>
              <a:t>economic </a:t>
            </a:r>
            <a:r>
              <a:rPr lang="en-US" sz="3300" dirty="0">
                <a:latin typeface="Comic Sans MS" pitchFamily="66" charset="0"/>
              </a:rPr>
              <a:t>challenges faced by humanity. </a:t>
            </a:r>
            <a:endParaRPr lang="en-US" sz="3300" dirty="0" smtClean="0">
              <a:latin typeface="Comic Sans MS" pitchFamily="66" charset="0"/>
            </a:endParaRPr>
          </a:p>
          <a:p>
            <a:endParaRPr lang="en-US" dirty="0">
              <a:latin typeface="Comic Sans MS" pitchFamily="66" charset="0"/>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FA54F9E-4580-4293-B16E-049CE8FCCD32}"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Sustainable </a:t>
            </a:r>
            <a:r>
              <a:rPr lang="en-GB" b="1" dirty="0" smtClean="0">
                <a:solidFill>
                  <a:srgbClr val="0070C0"/>
                </a:solidFill>
              </a:rPr>
              <a:t>Development</a:t>
            </a:r>
            <a:endParaRPr lang="en-IN" dirty="0">
              <a:solidFill>
                <a:srgbClr val="0070C0"/>
              </a:solidFill>
            </a:endParaRPr>
          </a:p>
        </p:txBody>
      </p:sp>
      <p:sp>
        <p:nvSpPr>
          <p:cNvPr id="3" name="Content Placeholder 2"/>
          <p:cNvSpPr>
            <a:spLocks noGrp="1"/>
          </p:cNvSpPr>
          <p:nvPr>
            <p:ph idx="1"/>
          </p:nvPr>
        </p:nvSpPr>
        <p:spPr>
          <a:xfrm>
            <a:off x="457200" y="1600200"/>
            <a:ext cx="8229600" cy="4800600"/>
          </a:xfrm>
        </p:spPr>
        <p:txBody>
          <a:bodyPr>
            <a:normAutofit lnSpcReduction="10000"/>
          </a:bodyPr>
          <a:lstStyle/>
          <a:p>
            <a:pPr>
              <a:buNone/>
            </a:pPr>
            <a:r>
              <a:rPr lang="en-GB" b="1" dirty="0" smtClean="0"/>
              <a:t>Sustainable development </a:t>
            </a:r>
            <a:r>
              <a:rPr lang="en-GB" dirty="0" smtClean="0"/>
              <a:t>has its roots in ideas about </a:t>
            </a:r>
            <a:r>
              <a:rPr lang="en-GB" b="1" dirty="0" smtClean="0"/>
              <a:t>sustainable forest management</a:t>
            </a:r>
            <a:r>
              <a:rPr lang="en-GB" dirty="0" smtClean="0"/>
              <a:t> which were developed in Europe during the seventeenth and eighteenth </a:t>
            </a:r>
            <a:r>
              <a:rPr lang="en-GB" dirty="0" smtClean="0"/>
              <a:t>centuries.</a:t>
            </a:r>
          </a:p>
          <a:p>
            <a:pPr>
              <a:buNone/>
            </a:pPr>
            <a:r>
              <a:rPr lang="en-GB" dirty="0" smtClean="0"/>
              <a:t>Following the publication of </a:t>
            </a:r>
            <a:r>
              <a:rPr lang="en-GB" b="1" dirty="0" smtClean="0"/>
              <a:t>Rachel Carson's </a:t>
            </a:r>
            <a:r>
              <a:rPr lang="en-GB" b="1" i="1" dirty="0" smtClean="0"/>
              <a:t>Silent Spring</a:t>
            </a:r>
            <a:r>
              <a:rPr lang="en-GB" b="1" dirty="0" smtClean="0"/>
              <a:t> in 1962</a:t>
            </a:r>
            <a:r>
              <a:rPr lang="en-GB" dirty="0" smtClean="0"/>
              <a:t>, the developing environmental movement drew attention to the relationship between </a:t>
            </a:r>
            <a:r>
              <a:rPr lang="en-GB" b="1" dirty="0" smtClean="0">
                <a:solidFill>
                  <a:srgbClr val="0070C0"/>
                </a:solidFill>
              </a:rPr>
              <a:t>economic growth </a:t>
            </a:r>
            <a:r>
              <a:rPr lang="en-GB" dirty="0" smtClean="0"/>
              <a:t>and </a:t>
            </a:r>
            <a:r>
              <a:rPr lang="en-GB" b="1" dirty="0" smtClean="0">
                <a:solidFill>
                  <a:srgbClr val="0070C0"/>
                </a:solidFill>
              </a:rPr>
              <a:t>development</a:t>
            </a:r>
            <a:r>
              <a:rPr lang="en-GB" dirty="0" smtClean="0"/>
              <a:t> and </a:t>
            </a:r>
            <a:r>
              <a:rPr lang="en-GB" b="1" dirty="0" smtClean="0">
                <a:solidFill>
                  <a:srgbClr val="0070C0"/>
                </a:solidFill>
              </a:rPr>
              <a:t>environmental degradation.</a:t>
            </a:r>
            <a:endParaRPr lang="en-IN" b="1" dirty="0">
              <a:solidFill>
                <a:srgbClr val="0070C0"/>
              </a:solidFill>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B079A183-DE10-4C49-949E-006F67CEBAAF}"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Sustainable </a:t>
            </a:r>
            <a:r>
              <a:rPr lang="en-GB" b="1" dirty="0" smtClean="0">
                <a:solidFill>
                  <a:srgbClr val="0070C0"/>
                </a:solidFill>
              </a:rPr>
              <a:t>Development</a:t>
            </a:r>
            <a:endParaRPr lang="en-IN" dirty="0"/>
          </a:p>
        </p:txBody>
      </p:sp>
      <p:sp>
        <p:nvSpPr>
          <p:cNvPr id="3" name="Content Placeholder 2"/>
          <p:cNvSpPr>
            <a:spLocks noGrp="1"/>
          </p:cNvSpPr>
          <p:nvPr>
            <p:ph idx="1"/>
          </p:nvPr>
        </p:nvSpPr>
        <p:spPr>
          <a:xfrm>
            <a:off x="228600" y="1447800"/>
            <a:ext cx="8686800" cy="5105400"/>
          </a:xfrm>
        </p:spPr>
        <p:txBody>
          <a:bodyPr>
            <a:normAutofit fontScale="92500" lnSpcReduction="20000"/>
          </a:bodyPr>
          <a:lstStyle/>
          <a:p>
            <a:r>
              <a:rPr lang="en-GB" b="1" dirty="0" smtClean="0"/>
              <a:t>In 1980 </a:t>
            </a:r>
            <a:r>
              <a:rPr lang="en-GB" dirty="0" smtClean="0"/>
              <a:t>the International Union for the Conservation of Nature </a:t>
            </a:r>
            <a:r>
              <a:rPr lang="en-GB" dirty="0" smtClean="0"/>
              <a:t>(IUCN) published </a:t>
            </a:r>
            <a:r>
              <a:rPr lang="en-GB" dirty="0" smtClean="0"/>
              <a:t>a world conservation strategy that included one of the </a:t>
            </a:r>
            <a:r>
              <a:rPr lang="en-GB" b="1" u="sng" dirty="0" smtClean="0">
                <a:solidFill>
                  <a:srgbClr val="0070C0"/>
                </a:solidFill>
              </a:rPr>
              <a:t>first references to sustainable development</a:t>
            </a:r>
            <a:r>
              <a:rPr lang="en-GB" dirty="0" smtClean="0"/>
              <a:t> as a global </a:t>
            </a:r>
            <a:r>
              <a:rPr lang="en-GB" dirty="0" smtClean="0"/>
              <a:t>priority</a:t>
            </a:r>
            <a:r>
              <a:rPr lang="en-GB" dirty="0" smtClean="0"/>
              <a:t> and introduced the term </a:t>
            </a:r>
            <a:r>
              <a:rPr lang="en-GB" b="1" dirty="0" smtClean="0">
                <a:solidFill>
                  <a:srgbClr val="0070C0"/>
                </a:solidFill>
              </a:rPr>
              <a:t>"sustainable development</a:t>
            </a:r>
            <a:r>
              <a:rPr lang="en-GB" b="1" dirty="0" smtClean="0">
                <a:solidFill>
                  <a:srgbClr val="0070C0"/>
                </a:solidFill>
              </a:rPr>
              <a:t>".</a:t>
            </a:r>
            <a:r>
              <a:rPr lang="en-GB" dirty="0" smtClean="0">
                <a:solidFill>
                  <a:srgbClr val="0070C0"/>
                </a:solidFill>
              </a:rPr>
              <a:t> </a:t>
            </a:r>
            <a:endParaRPr lang="en-GB" dirty="0" smtClean="0">
              <a:solidFill>
                <a:srgbClr val="0070C0"/>
              </a:solidFill>
            </a:endParaRPr>
          </a:p>
          <a:p>
            <a:r>
              <a:rPr lang="en-GB" dirty="0" smtClean="0"/>
              <a:t>Two </a:t>
            </a:r>
            <a:r>
              <a:rPr lang="en-GB" dirty="0" smtClean="0"/>
              <a:t>years later, the United Nations World Charter for Nature raised five principles of conservation by which human conduct affecting nature is to be guided and judged</a:t>
            </a:r>
            <a:r>
              <a:rPr lang="en-GB" dirty="0" smtClean="0"/>
              <a:t>.</a:t>
            </a:r>
            <a:r>
              <a:rPr lang="en-GB" dirty="0" smtClean="0"/>
              <a:t> </a:t>
            </a:r>
            <a:endParaRPr lang="en-GB" dirty="0" smtClean="0"/>
          </a:p>
          <a:p>
            <a:r>
              <a:rPr lang="en-GB" b="1" dirty="0" smtClean="0"/>
              <a:t>In </a:t>
            </a:r>
            <a:r>
              <a:rPr lang="en-GB" b="1" dirty="0" smtClean="0"/>
              <a:t>1987 </a:t>
            </a:r>
            <a:r>
              <a:rPr lang="en-GB" dirty="0" smtClean="0"/>
              <a:t>the United Nations </a:t>
            </a:r>
            <a:r>
              <a:rPr lang="en-GB" b="1" u="sng" dirty="0" smtClean="0">
                <a:solidFill>
                  <a:srgbClr val="FF0000"/>
                </a:solidFill>
              </a:rPr>
              <a:t>World Commission on Environment and Development</a:t>
            </a:r>
            <a:r>
              <a:rPr lang="en-GB" dirty="0" smtClean="0"/>
              <a:t> released the report </a:t>
            </a:r>
            <a:r>
              <a:rPr lang="en-GB" i="1" dirty="0" smtClean="0"/>
              <a:t>Our Common Future</a:t>
            </a:r>
            <a:r>
              <a:rPr lang="en-GB" dirty="0" smtClean="0"/>
              <a:t>, commonly called the </a:t>
            </a:r>
            <a:r>
              <a:rPr lang="en-GB" b="1" dirty="0" err="1" smtClean="0">
                <a:solidFill>
                  <a:srgbClr val="0070C0"/>
                </a:solidFill>
              </a:rPr>
              <a:t>Brundtland</a:t>
            </a:r>
            <a:r>
              <a:rPr lang="en-GB" b="1" dirty="0" smtClean="0">
                <a:solidFill>
                  <a:srgbClr val="0070C0"/>
                </a:solidFill>
              </a:rPr>
              <a:t> </a:t>
            </a:r>
            <a:r>
              <a:rPr lang="en-GB" b="1" dirty="0" smtClean="0">
                <a:solidFill>
                  <a:srgbClr val="0070C0"/>
                </a:solidFill>
              </a:rPr>
              <a:t>Report.</a:t>
            </a:r>
            <a:endParaRPr lang="en-IN" b="1" dirty="0">
              <a:solidFill>
                <a:srgbClr val="0070C0"/>
              </a:solidFill>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52B3865-47FB-483E-BB9F-9BAA22A4E984}"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GB" b="1" dirty="0" smtClean="0">
                <a:solidFill>
                  <a:srgbClr val="0070C0"/>
                </a:solidFill>
              </a:rPr>
              <a:t>Sustainable </a:t>
            </a:r>
            <a:r>
              <a:rPr lang="en-GB" b="1" dirty="0" smtClean="0">
                <a:solidFill>
                  <a:srgbClr val="0070C0"/>
                </a:solidFill>
              </a:rPr>
              <a:t>Development</a:t>
            </a:r>
            <a:endParaRPr lang="en-IN" dirty="0"/>
          </a:p>
        </p:txBody>
      </p:sp>
      <p:sp>
        <p:nvSpPr>
          <p:cNvPr id="3" name="Content Placeholder 2"/>
          <p:cNvSpPr>
            <a:spLocks noGrp="1"/>
          </p:cNvSpPr>
          <p:nvPr>
            <p:ph idx="1"/>
          </p:nvPr>
        </p:nvSpPr>
        <p:spPr>
          <a:xfrm>
            <a:off x="228600" y="1143000"/>
            <a:ext cx="8763000" cy="5410200"/>
          </a:xfrm>
        </p:spPr>
        <p:txBody>
          <a:bodyPr>
            <a:normAutofit fontScale="77500" lnSpcReduction="20000"/>
          </a:bodyPr>
          <a:lstStyle/>
          <a:p>
            <a:pPr>
              <a:buNone/>
            </a:pPr>
            <a:r>
              <a:rPr lang="en-GB" dirty="0" smtClean="0"/>
              <a:t>Sustainable development has been defined in many ways, but the most frequently quoted definition is from </a:t>
            </a:r>
            <a:r>
              <a:rPr lang="en-GB" i="1" u="sng" dirty="0" smtClean="0"/>
              <a:t>Our Common Future</a:t>
            </a:r>
            <a:r>
              <a:rPr lang="en-GB" dirty="0" smtClean="0"/>
              <a:t>, also known as the </a:t>
            </a:r>
            <a:r>
              <a:rPr lang="en-GB" dirty="0" err="1" smtClean="0"/>
              <a:t>Brundtland</a:t>
            </a:r>
            <a:r>
              <a:rPr lang="en-GB" dirty="0" smtClean="0"/>
              <a:t> </a:t>
            </a:r>
            <a:r>
              <a:rPr lang="en-GB" dirty="0" smtClean="0"/>
              <a:t>Report.</a:t>
            </a:r>
          </a:p>
          <a:p>
            <a:pPr>
              <a:buNone/>
            </a:pPr>
            <a:r>
              <a:rPr lang="en-GB" dirty="0" smtClean="0"/>
              <a:t>The </a:t>
            </a:r>
            <a:r>
              <a:rPr lang="en-GB" dirty="0" smtClean="0"/>
              <a:t>report included what is now one of the most widely recognised definitions of sustainable development.</a:t>
            </a:r>
          </a:p>
          <a:p>
            <a:pPr>
              <a:buNone/>
            </a:pPr>
            <a:r>
              <a:rPr lang="en-GB" b="1" dirty="0" smtClean="0">
                <a:solidFill>
                  <a:srgbClr val="0070C0"/>
                </a:solidFill>
              </a:rPr>
              <a:t>“</a:t>
            </a:r>
            <a:r>
              <a:rPr lang="en-GB" b="1" dirty="0" smtClean="0">
                <a:solidFill>
                  <a:srgbClr val="FFC000"/>
                </a:solidFill>
              </a:rPr>
              <a:t>Sustainable development </a:t>
            </a:r>
            <a:r>
              <a:rPr lang="en-GB" dirty="0" smtClean="0">
                <a:solidFill>
                  <a:srgbClr val="FFC000"/>
                </a:solidFill>
              </a:rPr>
              <a:t>is development that meets the needs of the present without compromising the ability of future generations to meet their own needs. </a:t>
            </a:r>
            <a:r>
              <a:rPr lang="en-GB" dirty="0" smtClean="0">
                <a:solidFill>
                  <a:srgbClr val="0070C0"/>
                </a:solidFill>
              </a:rPr>
              <a:t>It contains within it two key concepts:</a:t>
            </a:r>
            <a:br>
              <a:rPr lang="en-GB" dirty="0" smtClean="0">
                <a:solidFill>
                  <a:srgbClr val="0070C0"/>
                </a:solidFill>
              </a:rPr>
            </a:br>
            <a:r>
              <a:rPr lang="en-GB" i="1" dirty="0" smtClean="0">
                <a:solidFill>
                  <a:srgbClr val="0070C0"/>
                </a:solidFill>
              </a:rPr>
              <a:t>· The concept of </a:t>
            </a:r>
            <a:r>
              <a:rPr lang="en-GB" b="1" i="1" dirty="0" smtClean="0">
                <a:solidFill>
                  <a:srgbClr val="0070C0"/>
                </a:solidFill>
              </a:rPr>
              <a:t>'needs', </a:t>
            </a:r>
            <a:r>
              <a:rPr lang="en-GB" i="1" dirty="0" smtClean="0">
                <a:solidFill>
                  <a:srgbClr val="0070C0"/>
                </a:solidFill>
              </a:rPr>
              <a:t>in particular, the essential needs of the world's poor, to which overriding priority should be given; and</a:t>
            </a:r>
            <a:br>
              <a:rPr lang="en-GB" i="1" dirty="0" smtClean="0">
                <a:solidFill>
                  <a:srgbClr val="0070C0"/>
                </a:solidFill>
              </a:rPr>
            </a:br>
            <a:r>
              <a:rPr lang="en-GB" i="1" dirty="0" smtClean="0">
                <a:solidFill>
                  <a:srgbClr val="0070C0"/>
                </a:solidFill>
              </a:rPr>
              <a:t>· The idea of </a:t>
            </a:r>
            <a:r>
              <a:rPr lang="en-GB" b="1" i="1" dirty="0" smtClean="0">
                <a:solidFill>
                  <a:srgbClr val="0070C0"/>
                </a:solidFill>
              </a:rPr>
              <a:t>limitations</a:t>
            </a:r>
            <a:r>
              <a:rPr lang="en-GB" i="1" dirty="0" smtClean="0">
                <a:solidFill>
                  <a:srgbClr val="0070C0"/>
                </a:solidFill>
              </a:rPr>
              <a:t> imposed by the state of technology and social organization on the environment's ability to meet present and future needs</a:t>
            </a:r>
            <a:r>
              <a:rPr lang="en-GB" i="1" dirty="0" smtClean="0">
                <a:solidFill>
                  <a:srgbClr val="0070C0"/>
                </a:solidFill>
              </a:rPr>
              <a:t>.</a:t>
            </a:r>
            <a:r>
              <a:rPr lang="en-GB" b="1" i="1" dirty="0" smtClean="0">
                <a:solidFill>
                  <a:srgbClr val="0070C0"/>
                </a:solidFill>
              </a:rPr>
              <a:t>”</a:t>
            </a:r>
          </a:p>
          <a:p>
            <a:r>
              <a:rPr lang="en-GB" i="1" dirty="0" smtClean="0"/>
              <a:t>—</a:t>
            </a:r>
            <a:r>
              <a:rPr lang="en-GB" i="1" dirty="0" smtClean="0"/>
              <a:t> World Commission on Environment </a:t>
            </a:r>
            <a:r>
              <a:rPr lang="en-GB" i="1" dirty="0" smtClean="0"/>
              <a:t>and Development</a:t>
            </a:r>
            <a:r>
              <a:rPr lang="en-GB" i="1" dirty="0" smtClean="0"/>
              <a:t>, </a:t>
            </a:r>
            <a:r>
              <a:rPr lang="en-GB" i="1" dirty="0" smtClean="0"/>
              <a:t> Our </a:t>
            </a:r>
            <a:r>
              <a:rPr lang="en-GB" i="1" dirty="0" smtClean="0"/>
              <a:t>Common Future (1987)</a:t>
            </a:r>
            <a:endParaRPr lang="en-IN" dirty="0" smtClean="0"/>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A83526E-4F80-40DE-AE70-BAE4703A1A9B}"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8</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228600" y="1143000"/>
            <a:ext cx="8686800" cy="5334000"/>
          </a:xfrm>
        </p:spPr>
        <p:txBody>
          <a:bodyPr>
            <a:normAutofit/>
          </a:bodyPr>
          <a:lstStyle/>
          <a:p>
            <a:pPr>
              <a:buNone/>
            </a:pPr>
            <a:r>
              <a:rPr lang="en-US" sz="4000" dirty="0" smtClean="0">
                <a:latin typeface="Comic Sans MS" pitchFamily="66" charset="0"/>
              </a:rPr>
              <a:t>Thus</a:t>
            </a:r>
            <a:r>
              <a:rPr lang="en-US" sz="4000" dirty="0" smtClean="0">
                <a:latin typeface="Comic Sans MS" pitchFamily="66" charset="0"/>
              </a:rPr>
              <a:t>, </a:t>
            </a:r>
            <a:r>
              <a:rPr lang="en-US" sz="4000" dirty="0" smtClean="0">
                <a:latin typeface="Comic Sans MS" pitchFamily="66" charset="0"/>
              </a:rPr>
              <a:t>in brief </a:t>
            </a:r>
          </a:p>
          <a:p>
            <a:pPr>
              <a:buNone/>
            </a:pPr>
            <a:r>
              <a:rPr lang="en-US" sz="4000" dirty="0" smtClean="0">
                <a:latin typeface="Comic Sans MS" pitchFamily="66" charset="0"/>
              </a:rPr>
              <a:t>S</a:t>
            </a:r>
            <a:r>
              <a:rPr lang="en-US" sz="4000" dirty="0" smtClean="0">
                <a:latin typeface="Comic Sans MS" pitchFamily="66" charset="0"/>
              </a:rPr>
              <a:t>ustainable </a:t>
            </a:r>
            <a:r>
              <a:rPr lang="en-US" sz="4000" dirty="0" smtClean="0">
                <a:latin typeface="Comic Sans MS" pitchFamily="66" charset="0"/>
              </a:rPr>
              <a:t>D</a:t>
            </a:r>
            <a:r>
              <a:rPr lang="en-US" sz="4000" dirty="0" smtClean="0">
                <a:latin typeface="Comic Sans MS" pitchFamily="66" charset="0"/>
              </a:rPr>
              <a:t>evelopment </a:t>
            </a:r>
            <a:r>
              <a:rPr lang="en-US" sz="4000" dirty="0" smtClean="0">
                <a:latin typeface="Comic Sans MS" pitchFamily="66" charset="0"/>
              </a:rPr>
              <a:t>is the </a:t>
            </a:r>
            <a:r>
              <a:rPr lang="en-US" sz="4000" b="1" dirty="0" smtClean="0">
                <a:latin typeface="Comic Sans MS" pitchFamily="66" charset="0"/>
              </a:rPr>
              <a:t>organizing principle</a:t>
            </a:r>
            <a:r>
              <a:rPr lang="en-US" sz="4000" dirty="0" smtClean="0">
                <a:latin typeface="Comic Sans MS" pitchFamily="66" charset="0"/>
              </a:rPr>
              <a:t> for sustaining </a:t>
            </a:r>
            <a:r>
              <a:rPr lang="en-US" sz="4000" b="1" dirty="0" smtClean="0">
                <a:latin typeface="Comic Sans MS" pitchFamily="66" charset="0"/>
              </a:rPr>
              <a:t>finite</a:t>
            </a:r>
            <a:r>
              <a:rPr lang="en-US" sz="4000" dirty="0" smtClean="0">
                <a:latin typeface="Comic Sans MS" pitchFamily="66" charset="0"/>
              </a:rPr>
              <a:t> resources necessary to provide for the </a:t>
            </a:r>
            <a:r>
              <a:rPr lang="en-US" sz="4000" b="1" dirty="0" smtClean="0">
                <a:latin typeface="Comic Sans MS" pitchFamily="66" charset="0"/>
              </a:rPr>
              <a:t>needs</a:t>
            </a:r>
            <a:r>
              <a:rPr lang="en-US" sz="4000" dirty="0" smtClean="0">
                <a:latin typeface="Comic Sans MS" pitchFamily="66" charset="0"/>
              </a:rPr>
              <a:t> of future generations of life on the planet. </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853E9271-2B1D-4C3B-BC6B-98BA4288E235}"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Sustainable </a:t>
            </a:r>
            <a:r>
              <a:rPr lang="en-GB" b="1" dirty="0" smtClean="0">
                <a:solidFill>
                  <a:srgbClr val="0070C0"/>
                </a:solidFill>
              </a:rPr>
              <a:t>Development</a:t>
            </a:r>
            <a:endParaRPr lang="en-IN" dirty="0">
              <a:solidFill>
                <a:srgbClr val="0070C0"/>
              </a:solidFill>
            </a:endParaRPr>
          </a:p>
        </p:txBody>
      </p:sp>
      <p:sp>
        <p:nvSpPr>
          <p:cNvPr id="3" name="Content Placeholder 2"/>
          <p:cNvSpPr>
            <a:spLocks noGrp="1"/>
          </p:cNvSpPr>
          <p:nvPr>
            <p:ph idx="1"/>
          </p:nvPr>
        </p:nvSpPr>
        <p:spPr>
          <a:xfrm>
            <a:off x="228600" y="1371600"/>
            <a:ext cx="8686800" cy="5105400"/>
          </a:xfrm>
        </p:spPr>
        <p:txBody>
          <a:bodyPr>
            <a:normAutofit lnSpcReduction="10000"/>
          </a:bodyPr>
          <a:lstStyle/>
          <a:p>
            <a:r>
              <a:rPr lang="en-GB" b="1" dirty="0" smtClean="0"/>
              <a:t>Sustainable development</a:t>
            </a:r>
            <a:r>
              <a:rPr lang="en-GB" dirty="0" smtClean="0"/>
              <a:t> is the organizing principle for </a:t>
            </a:r>
            <a:r>
              <a:rPr lang="en-GB" b="1" dirty="0" smtClean="0"/>
              <a:t>meeting human development goals </a:t>
            </a:r>
            <a:r>
              <a:rPr lang="en-GB" dirty="0" smtClean="0"/>
              <a:t>while at the same time sustaining the ability of </a:t>
            </a:r>
            <a:r>
              <a:rPr lang="en-GB" b="1" dirty="0" smtClean="0"/>
              <a:t>natural systems to provide the natural resources and ecosystem services</a:t>
            </a:r>
            <a:r>
              <a:rPr lang="en-GB" dirty="0" smtClean="0"/>
              <a:t> upon which the economy and society depend. </a:t>
            </a:r>
            <a:endParaRPr lang="en-GB" dirty="0" smtClean="0"/>
          </a:p>
          <a:p>
            <a:r>
              <a:rPr lang="en-GB" dirty="0" smtClean="0"/>
              <a:t>The </a:t>
            </a:r>
            <a:r>
              <a:rPr lang="en-GB" dirty="0" smtClean="0"/>
              <a:t>desirable end result is a state of society where </a:t>
            </a:r>
            <a:r>
              <a:rPr lang="en-GB" b="1" dirty="0" smtClean="0">
                <a:solidFill>
                  <a:srgbClr val="0070C0"/>
                </a:solidFill>
              </a:rPr>
              <a:t>living and conditions and resource use continue to meet human needs </a:t>
            </a:r>
            <a:r>
              <a:rPr lang="en-GB" b="1" dirty="0" smtClean="0"/>
              <a:t>without undermining the integrity and stability of the natural systems.</a:t>
            </a:r>
            <a:endParaRPr lang="en-IN" b="1"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E25F013-A429-456E-BEC7-6D704CB2BEA0}"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10</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p:txBody>
          <a:bodyPr/>
          <a:lstStyle/>
          <a:p>
            <a:r>
              <a:rPr lang="en-US" dirty="0" smtClean="0">
                <a:latin typeface="Comic Sans MS" pitchFamily="66" charset="0"/>
              </a:rPr>
              <a:t>It is a process that envisions a desirable future state for human societies in which living conditions and resource-use continue to meet human needs without undermining the </a:t>
            </a:r>
            <a:r>
              <a:rPr lang="en-US" b="1" dirty="0" smtClean="0">
                <a:latin typeface="Comic Sans MS" pitchFamily="66" charset="0"/>
              </a:rPr>
              <a:t>"integrity, stability and beauty" </a:t>
            </a:r>
            <a:r>
              <a:rPr lang="en-US" dirty="0" smtClean="0">
                <a:latin typeface="Comic Sans MS" pitchFamily="66" charset="0"/>
              </a:rPr>
              <a:t>of natural biotic systems.</a:t>
            </a:r>
          </a:p>
          <a:p>
            <a:endParaRPr lang="en-US" dirty="0" smtClean="0"/>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03BE7F9-E81A-4F52-8238-A714BFE5B6F7}"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11</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Sustainable Development</a:t>
            </a:r>
            <a:endParaRPr lang="en-IN" b="1" dirty="0"/>
          </a:p>
        </p:txBody>
      </p:sp>
      <p:sp>
        <p:nvSpPr>
          <p:cNvPr id="3" name="Content Placeholder 2"/>
          <p:cNvSpPr>
            <a:spLocks noGrp="1"/>
          </p:cNvSpPr>
          <p:nvPr>
            <p:ph idx="1"/>
          </p:nvPr>
        </p:nvSpPr>
        <p:spPr>
          <a:xfrm>
            <a:off x="228600" y="1447800"/>
            <a:ext cx="8686800" cy="5029200"/>
          </a:xfrm>
        </p:spPr>
        <p:txBody>
          <a:bodyPr>
            <a:normAutofit fontScale="85000" lnSpcReduction="20000"/>
          </a:bodyPr>
          <a:lstStyle/>
          <a:p>
            <a:r>
              <a:rPr lang="en-GB" dirty="0" smtClean="0"/>
              <a:t>While the modern concept of </a:t>
            </a:r>
            <a:r>
              <a:rPr lang="en-GB" b="1" dirty="0" smtClean="0"/>
              <a:t>Sustainable Development </a:t>
            </a:r>
            <a:r>
              <a:rPr lang="en-GB" dirty="0" smtClean="0"/>
              <a:t>is derived mostly from the 1987 </a:t>
            </a:r>
            <a:r>
              <a:rPr lang="en-GB" dirty="0" err="1" smtClean="0"/>
              <a:t>Brundtland</a:t>
            </a:r>
            <a:r>
              <a:rPr lang="en-GB" dirty="0" smtClean="0"/>
              <a:t> Report, it is also rooted in earlier ideas about </a:t>
            </a:r>
            <a:r>
              <a:rPr lang="en-GB" b="1" dirty="0" smtClean="0"/>
              <a:t>Sustainable Forest Management</a:t>
            </a:r>
            <a:r>
              <a:rPr lang="en-GB" dirty="0" smtClean="0"/>
              <a:t> and twentieth century environmental concerns</a:t>
            </a:r>
            <a:r>
              <a:rPr lang="en-GB" dirty="0" smtClean="0"/>
              <a:t>.</a:t>
            </a:r>
          </a:p>
          <a:p>
            <a:r>
              <a:rPr lang="en-GB" dirty="0" smtClean="0"/>
              <a:t> </a:t>
            </a:r>
            <a:r>
              <a:rPr lang="en-GB" dirty="0" smtClean="0"/>
              <a:t>As the concept developed, it has shifted to focus </a:t>
            </a:r>
            <a:r>
              <a:rPr lang="en-GB" b="1" dirty="0" smtClean="0">
                <a:solidFill>
                  <a:srgbClr val="0070C0"/>
                </a:solidFill>
              </a:rPr>
              <a:t>more on economic development, social development and environmental protection</a:t>
            </a:r>
            <a:r>
              <a:rPr lang="en-GB" dirty="0" smtClean="0"/>
              <a:t> for future generations</a:t>
            </a:r>
            <a:r>
              <a:rPr lang="en-GB" dirty="0" smtClean="0"/>
              <a:t>.</a:t>
            </a:r>
          </a:p>
          <a:p>
            <a:r>
              <a:rPr lang="en-GB" dirty="0" smtClean="0"/>
              <a:t> </a:t>
            </a:r>
            <a:r>
              <a:rPr lang="en-GB" dirty="0" smtClean="0"/>
              <a:t>It has been suggested that </a:t>
            </a:r>
            <a:r>
              <a:rPr lang="en-GB" b="1" i="1" dirty="0" smtClean="0"/>
              <a:t>"the term </a:t>
            </a:r>
            <a:r>
              <a:rPr lang="en-GB" b="1" i="1" dirty="0" smtClean="0">
                <a:solidFill>
                  <a:srgbClr val="0070C0"/>
                </a:solidFill>
              </a:rPr>
              <a:t>'sustainability' </a:t>
            </a:r>
            <a:r>
              <a:rPr lang="en-GB" b="1" i="1" dirty="0" smtClean="0"/>
              <a:t>should be viewed as humanity's target goal of human-ecosystem equilibrium (homeostasis), while </a:t>
            </a:r>
            <a:r>
              <a:rPr lang="en-GB" b="1" i="1" dirty="0" smtClean="0">
                <a:solidFill>
                  <a:srgbClr val="0070C0"/>
                </a:solidFill>
              </a:rPr>
              <a:t>'sustainable development'</a:t>
            </a:r>
            <a:r>
              <a:rPr lang="en-GB" b="1" i="1" dirty="0" smtClean="0"/>
              <a:t> refers to the holistic approach and temporal processes that lead us to the </a:t>
            </a:r>
            <a:r>
              <a:rPr lang="en-GB" b="1" i="1" u="sng" dirty="0" smtClean="0"/>
              <a:t>end point of sustainability"</a:t>
            </a:r>
            <a:endParaRPr lang="en-IN" b="1" i="1" u="sng"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0D389F9-4DD3-4539-BCA7-68CC4796FE46}"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12</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0070C0"/>
                </a:solidFill>
              </a:rPr>
              <a:t>The Sustainable Development Goals</a:t>
            </a:r>
            <a:endParaRPr lang="en-IN" b="1" dirty="0">
              <a:solidFill>
                <a:srgbClr val="0070C0"/>
              </a:solidFill>
            </a:endParaRPr>
          </a:p>
        </p:txBody>
      </p:sp>
      <p:sp>
        <p:nvSpPr>
          <p:cNvPr id="3" name="Content Placeholder 2"/>
          <p:cNvSpPr>
            <a:spLocks noGrp="1"/>
          </p:cNvSpPr>
          <p:nvPr>
            <p:ph idx="1"/>
          </p:nvPr>
        </p:nvSpPr>
        <p:spPr>
          <a:xfrm>
            <a:off x="228600" y="1600200"/>
            <a:ext cx="8686800" cy="4800600"/>
          </a:xfrm>
        </p:spPr>
        <p:txBody>
          <a:bodyPr>
            <a:normAutofit/>
          </a:bodyPr>
          <a:lstStyle/>
          <a:p>
            <a:pPr>
              <a:buNone/>
            </a:pPr>
            <a:r>
              <a:rPr lang="en-GB" b="1" dirty="0" smtClean="0"/>
              <a:t>The Sustainable Development Goals (SDGs</a:t>
            </a:r>
            <a:r>
              <a:rPr lang="en-GB" b="1" dirty="0" smtClean="0"/>
              <a:t>)</a:t>
            </a:r>
            <a:endParaRPr lang="en-GB" b="1" dirty="0" smtClean="0"/>
          </a:p>
          <a:p>
            <a:r>
              <a:rPr lang="en-GB" dirty="0" smtClean="0"/>
              <a:t>In September 2015, the United Nations General Assembly formally adopted the </a:t>
            </a:r>
            <a:r>
              <a:rPr lang="en-GB" b="1" dirty="0" smtClean="0">
                <a:solidFill>
                  <a:srgbClr val="0070C0"/>
                </a:solidFill>
              </a:rPr>
              <a:t>"universal, integrated and transformative"</a:t>
            </a:r>
            <a:r>
              <a:rPr lang="en-GB" b="1" dirty="0" smtClean="0"/>
              <a:t> </a:t>
            </a:r>
            <a:r>
              <a:rPr lang="en-GB" dirty="0" smtClean="0">
                <a:solidFill>
                  <a:srgbClr val="FF0000"/>
                </a:solidFill>
              </a:rPr>
              <a:t>2030 Agenda for Sustainable Development</a:t>
            </a:r>
            <a:r>
              <a:rPr lang="en-GB" b="1" dirty="0" smtClean="0">
                <a:solidFill>
                  <a:srgbClr val="FF0000"/>
                </a:solidFill>
              </a:rPr>
              <a:t>, </a:t>
            </a:r>
            <a:r>
              <a:rPr lang="en-GB" b="1" dirty="0" smtClean="0"/>
              <a:t>a set of 17 Sustainable Development </a:t>
            </a:r>
            <a:r>
              <a:rPr lang="en-GB" b="1" dirty="0" smtClean="0"/>
              <a:t>Goals</a:t>
            </a:r>
            <a:r>
              <a:rPr lang="en-GB" b="1" dirty="0" smtClean="0"/>
              <a:t> (SDGs). </a:t>
            </a:r>
            <a:endParaRPr lang="en-GB" b="1" dirty="0" smtClean="0"/>
          </a:p>
          <a:p>
            <a:r>
              <a:rPr lang="en-GB" b="1" dirty="0" smtClean="0">
                <a:solidFill>
                  <a:srgbClr val="FF0000"/>
                </a:solidFill>
              </a:rPr>
              <a:t>The </a:t>
            </a:r>
            <a:r>
              <a:rPr lang="en-GB" b="1" dirty="0" smtClean="0">
                <a:solidFill>
                  <a:srgbClr val="FF0000"/>
                </a:solidFill>
              </a:rPr>
              <a:t>goals are to be implemented and achieved in every country from the year 2016 to 2030.</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7E4504E7-2826-465F-B64B-225F409101ED}"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13</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0070C0"/>
                </a:solidFill>
              </a:rPr>
              <a:t>17 Goals to Transform Our World</a:t>
            </a:r>
            <a:br>
              <a:rPr lang="en-GB" b="1" dirty="0" smtClean="0">
                <a:solidFill>
                  <a:srgbClr val="0070C0"/>
                </a:solidFill>
              </a:rPr>
            </a:br>
            <a:endParaRPr lang="en-IN" b="1" dirty="0">
              <a:solidFill>
                <a:srgbClr val="0070C0"/>
              </a:solidFill>
            </a:endParaRPr>
          </a:p>
        </p:txBody>
      </p:sp>
      <p:sp>
        <p:nvSpPr>
          <p:cNvPr id="3" name="Content Placeholder 2"/>
          <p:cNvSpPr>
            <a:spLocks noGrp="1"/>
          </p:cNvSpPr>
          <p:nvPr>
            <p:ph idx="1"/>
          </p:nvPr>
        </p:nvSpPr>
        <p:spPr>
          <a:xfrm>
            <a:off x="304800" y="1143000"/>
            <a:ext cx="8610600" cy="5257800"/>
          </a:xfrm>
        </p:spPr>
        <p:txBody>
          <a:bodyPr>
            <a:normAutofit fontScale="92500" lnSpcReduction="20000"/>
          </a:bodyPr>
          <a:lstStyle/>
          <a:p>
            <a:r>
              <a:rPr lang="en-GB" dirty="0" smtClean="0"/>
              <a:t>In </a:t>
            </a:r>
            <a:r>
              <a:rPr lang="en-GB" dirty="0" smtClean="0"/>
              <a:t>2015, countries adopted the 2030 </a:t>
            </a:r>
            <a:r>
              <a:rPr lang="en-GB" b="1" dirty="0" smtClean="0"/>
              <a:t>Agenda for Sustainable Development</a:t>
            </a:r>
            <a:r>
              <a:rPr lang="en-GB" dirty="0" smtClean="0"/>
              <a:t> and its </a:t>
            </a:r>
            <a:r>
              <a:rPr lang="en-GB" b="1" dirty="0" smtClean="0">
                <a:solidFill>
                  <a:srgbClr val="0070C0"/>
                </a:solidFill>
              </a:rPr>
              <a:t>17 Sustainable Development Goals</a:t>
            </a:r>
            <a:r>
              <a:rPr lang="en-GB" dirty="0" smtClean="0"/>
              <a:t>. </a:t>
            </a:r>
            <a:endParaRPr lang="en-GB" dirty="0" smtClean="0"/>
          </a:p>
          <a:p>
            <a:r>
              <a:rPr lang="en-GB" dirty="0" smtClean="0"/>
              <a:t>In </a:t>
            </a:r>
            <a:r>
              <a:rPr lang="en-GB" dirty="0" smtClean="0"/>
              <a:t>2016, the Paris Agreement on climate change entered into force, addressing the need to limit the rise of global temperatures.</a:t>
            </a:r>
          </a:p>
          <a:p>
            <a:r>
              <a:rPr lang="en-GB" dirty="0" smtClean="0"/>
              <a:t>Governments, businesses and civil society together with the United Nations are mobilizing efforts to achieve the </a:t>
            </a:r>
            <a:r>
              <a:rPr lang="en-GB" b="1" dirty="0" smtClean="0"/>
              <a:t>Sustainable Development Agenda </a:t>
            </a:r>
            <a:r>
              <a:rPr lang="en-GB" dirty="0" smtClean="0"/>
              <a:t>by 2030. </a:t>
            </a:r>
            <a:endParaRPr lang="en-GB" dirty="0" smtClean="0"/>
          </a:p>
          <a:p>
            <a:r>
              <a:rPr lang="en-GB" dirty="0" smtClean="0"/>
              <a:t>Universal</a:t>
            </a:r>
            <a:r>
              <a:rPr lang="en-GB" dirty="0" smtClean="0"/>
              <a:t>, inclusive and indivisible, the Agenda calls for action by all countries to improve the lives of people everywhere.</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AE80C205-CEBA-4147-B769-0DDA29C1BBF2}"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14</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smtClean="0">
                <a:solidFill>
                  <a:srgbClr val="0070C0"/>
                </a:solidFill>
              </a:rPr>
              <a:t>Sustainable Development</a:t>
            </a:r>
            <a:endParaRPr lang="en-IN" b="1" dirty="0">
              <a:solidFill>
                <a:srgbClr val="0070C0"/>
              </a:solidFill>
            </a:endParaRPr>
          </a:p>
        </p:txBody>
      </p:sp>
      <p:pic>
        <p:nvPicPr>
          <p:cNvPr id="4" name="Picture 2" descr="http://www.un.org/sustainabledevelopment/wp-content/uploads/2015/08/UNSustainableDevelopmentGoals_Brand-01.png"/>
          <p:cNvPicPr>
            <a:picLocks noChangeAspect="1" noChangeArrowheads="1"/>
          </p:cNvPicPr>
          <p:nvPr/>
        </p:nvPicPr>
        <p:blipFill>
          <a:blip r:embed="rId2" cstate="print"/>
          <a:srcRect/>
          <a:stretch>
            <a:fillRect/>
          </a:stretch>
        </p:blipFill>
        <p:spPr bwMode="auto">
          <a:xfrm>
            <a:off x="228600" y="2514600"/>
            <a:ext cx="8686800" cy="17526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94A18CB7-0323-4BED-BF43-7B73860061F2}"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15</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normAutofit lnSpcReduction="10000"/>
          </a:bodyPr>
          <a:lstStyle/>
          <a:p>
            <a:r>
              <a:rPr lang="en-GB" dirty="0" smtClean="0"/>
              <a:t>On September 25th 2015, countries adopted a set of goals to </a:t>
            </a:r>
            <a:r>
              <a:rPr lang="en-GB" b="1" dirty="0" smtClean="0"/>
              <a:t>end poverty</a:t>
            </a:r>
            <a:r>
              <a:rPr lang="en-GB" dirty="0" smtClean="0"/>
              <a:t>, </a:t>
            </a:r>
            <a:r>
              <a:rPr lang="en-GB" b="1" dirty="0" smtClean="0"/>
              <a:t>protect the planet</a:t>
            </a:r>
            <a:r>
              <a:rPr lang="en-GB" dirty="0" smtClean="0"/>
              <a:t>, and </a:t>
            </a:r>
            <a:r>
              <a:rPr lang="en-GB" b="1" dirty="0" smtClean="0"/>
              <a:t>ensure prosperity for all</a:t>
            </a:r>
            <a:r>
              <a:rPr lang="en-GB" dirty="0" smtClean="0"/>
              <a:t> as part of a new sustainable development </a:t>
            </a:r>
            <a:r>
              <a:rPr lang="en-GB" dirty="0" smtClean="0"/>
              <a:t>agenda. </a:t>
            </a:r>
            <a:r>
              <a:rPr lang="en-GB" dirty="0" smtClean="0"/>
              <a:t>Each goal has specific targets to be achieved over the next 15 years.</a:t>
            </a:r>
          </a:p>
          <a:p>
            <a:r>
              <a:rPr lang="en-GB" dirty="0" smtClean="0"/>
              <a:t>For the goals to be reached, everyone needs to do their part: governments, the private sector, civil society and people like you.</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E6AA30B2-D0B4-410B-A956-371B507843A2}"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16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b="1" dirty="0">
              <a:solidFill>
                <a:srgbClr val="0070C0"/>
              </a:solidFill>
            </a:endParaRPr>
          </a:p>
        </p:txBody>
      </p:sp>
      <p:sp>
        <p:nvSpPr>
          <p:cNvPr id="3" name="Content Placeholder 2"/>
          <p:cNvSpPr>
            <a:spLocks noGrp="1"/>
          </p:cNvSpPr>
          <p:nvPr>
            <p:ph idx="1"/>
          </p:nvPr>
        </p:nvSpPr>
        <p:spPr/>
        <p:txBody>
          <a:bodyPr/>
          <a:lstStyle/>
          <a:p>
            <a:endParaRPr lang="en-IN" dirty="0"/>
          </a:p>
        </p:txBody>
      </p:sp>
      <p:pic>
        <p:nvPicPr>
          <p:cNvPr id="75778" name="Picture 2" descr="Goal 1 No Poverty"/>
          <p:cNvPicPr>
            <a:picLocks noChangeAspect="1" noChangeArrowheads="1"/>
          </p:cNvPicPr>
          <p:nvPr/>
        </p:nvPicPr>
        <p:blipFill>
          <a:blip r:embed="rId2" cstate="print"/>
          <a:srcRect/>
          <a:stretch>
            <a:fillRect/>
          </a:stretch>
        </p:blipFill>
        <p:spPr bwMode="auto">
          <a:xfrm>
            <a:off x="304800" y="1447800"/>
            <a:ext cx="4267200" cy="4648200"/>
          </a:xfrm>
          <a:prstGeom prst="rect">
            <a:avLst/>
          </a:prstGeom>
          <a:noFill/>
        </p:spPr>
      </p:pic>
      <p:pic>
        <p:nvPicPr>
          <p:cNvPr id="75780" name="Picture 4" descr="Zero Hunger"/>
          <p:cNvPicPr>
            <a:picLocks noChangeAspect="1" noChangeArrowheads="1"/>
          </p:cNvPicPr>
          <p:nvPr/>
        </p:nvPicPr>
        <p:blipFill>
          <a:blip r:embed="rId3" cstate="print"/>
          <a:srcRect/>
          <a:stretch>
            <a:fillRect/>
          </a:stretch>
        </p:blipFill>
        <p:spPr bwMode="auto">
          <a:xfrm>
            <a:off x="4572000" y="1447800"/>
            <a:ext cx="4267200" cy="4648200"/>
          </a:xfrm>
          <a:prstGeom prst="rect">
            <a:avLst/>
          </a:prstGeom>
          <a:noFill/>
        </p:spPr>
      </p:pic>
      <p:pic>
        <p:nvPicPr>
          <p:cNvPr id="7" name="Picture 6"/>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8" name="Date Placeholder 7"/>
          <p:cNvSpPr>
            <a:spLocks noGrp="1"/>
          </p:cNvSpPr>
          <p:nvPr>
            <p:ph type="dt" sz="half" idx="10"/>
          </p:nvPr>
        </p:nvSpPr>
        <p:spPr/>
        <p:txBody>
          <a:bodyPr/>
          <a:lstStyle/>
          <a:p>
            <a:fld id="{61DCEB8E-7989-4D86-BE43-2B2C89F83A21}" type="datetime1">
              <a:rPr lang="en-US" smtClean="0"/>
              <a:t>11/15/2017</a:t>
            </a:fld>
            <a:endParaRPr lang="en-US"/>
          </a:p>
        </p:txBody>
      </p:sp>
      <p:sp>
        <p:nvSpPr>
          <p:cNvPr id="9" name="Slide Number Placeholder 8"/>
          <p:cNvSpPr>
            <a:spLocks noGrp="1"/>
          </p:cNvSpPr>
          <p:nvPr>
            <p:ph type="sldNum" sz="quarter" idx="12"/>
          </p:nvPr>
        </p:nvSpPr>
        <p:spPr/>
        <p:txBody>
          <a:bodyPr/>
          <a:lstStyle/>
          <a:p>
            <a:fld id="{5991EB85-8768-4FFB-8D55-EBA10FA5B878}" type="slidenum">
              <a:rPr lang="en-US" smtClean="0"/>
              <a:pPr/>
              <a:t>17</a:t>
            </a:fld>
            <a:endParaRPr lang="en-US"/>
          </a:p>
        </p:txBody>
      </p:sp>
      <p:sp>
        <p:nvSpPr>
          <p:cNvPr id="10" name="Footer Placeholder 9"/>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77826" name="Picture 2" descr="Good Health and Well-Being"/>
          <p:cNvPicPr>
            <a:picLocks noChangeAspect="1" noChangeArrowheads="1"/>
          </p:cNvPicPr>
          <p:nvPr/>
        </p:nvPicPr>
        <p:blipFill>
          <a:blip r:embed="rId2" cstate="print"/>
          <a:srcRect/>
          <a:stretch>
            <a:fillRect/>
          </a:stretch>
        </p:blipFill>
        <p:spPr bwMode="auto">
          <a:xfrm>
            <a:off x="228600" y="1752600"/>
            <a:ext cx="4438650" cy="4438651"/>
          </a:xfrm>
          <a:prstGeom prst="rect">
            <a:avLst/>
          </a:prstGeom>
          <a:noFill/>
        </p:spPr>
      </p:pic>
      <p:pic>
        <p:nvPicPr>
          <p:cNvPr id="77828" name="Picture 4" descr="Quality education"/>
          <p:cNvPicPr>
            <a:picLocks noChangeAspect="1" noChangeArrowheads="1"/>
          </p:cNvPicPr>
          <p:nvPr/>
        </p:nvPicPr>
        <p:blipFill>
          <a:blip r:embed="rId3" cstate="print"/>
          <a:srcRect/>
          <a:stretch>
            <a:fillRect/>
          </a:stretch>
        </p:blipFill>
        <p:spPr bwMode="auto">
          <a:xfrm>
            <a:off x="4705350" y="17526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B345517-1179-4048-8924-F10A941F4DB4}"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18</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84994" name="Picture 2" descr="Gender Equality"/>
          <p:cNvPicPr>
            <a:picLocks noChangeAspect="1" noChangeArrowheads="1"/>
          </p:cNvPicPr>
          <p:nvPr/>
        </p:nvPicPr>
        <p:blipFill>
          <a:blip r:embed="rId2" cstate="print"/>
          <a:srcRect/>
          <a:stretch>
            <a:fillRect/>
          </a:stretch>
        </p:blipFill>
        <p:spPr bwMode="auto">
          <a:xfrm>
            <a:off x="228600" y="1752600"/>
            <a:ext cx="4438650" cy="4438651"/>
          </a:xfrm>
          <a:prstGeom prst="rect">
            <a:avLst/>
          </a:prstGeom>
          <a:noFill/>
        </p:spPr>
      </p:pic>
      <p:pic>
        <p:nvPicPr>
          <p:cNvPr id="84996" name="Picture 4" descr="Clean water and sanitation"/>
          <p:cNvPicPr>
            <a:picLocks noChangeAspect="1" noChangeArrowheads="1"/>
          </p:cNvPicPr>
          <p:nvPr/>
        </p:nvPicPr>
        <p:blipFill>
          <a:blip r:embed="rId3" cstate="print"/>
          <a:srcRect/>
          <a:stretch>
            <a:fillRect/>
          </a:stretch>
        </p:blipFill>
        <p:spPr bwMode="auto">
          <a:xfrm>
            <a:off x="4705350" y="17526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DD10824B-9D46-4007-9350-CF47996B5743}"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19</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dirty="0"/>
          </a:p>
        </p:txBody>
      </p:sp>
      <p:pic>
        <p:nvPicPr>
          <p:cNvPr id="83970" name="Picture 2" descr="Affordable and clean energy"/>
          <p:cNvPicPr>
            <a:picLocks noChangeAspect="1" noChangeArrowheads="1"/>
          </p:cNvPicPr>
          <p:nvPr/>
        </p:nvPicPr>
        <p:blipFill>
          <a:blip r:embed="rId2" cstate="print"/>
          <a:srcRect/>
          <a:stretch>
            <a:fillRect/>
          </a:stretch>
        </p:blipFill>
        <p:spPr bwMode="auto">
          <a:xfrm>
            <a:off x="228600" y="1600200"/>
            <a:ext cx="4438650" cy="4438651"/>
          </a:xfrm>
          <a:prstGeom prst="rect">
            <a:avLst/>
          </a:prstGeom>
          <a:noFill/>
        </p:spPr>
      </p:pic>
      <p:pic>
        <p:nvPicPr>
          <p:cNvPr id="83972" name="Picture 4" descr="Decent work and economic growth"/>
          <p:cNvPicPr>
            <a:picLocks noChangeAspect="1" noChangeArrowheads="1"/>
          </p:cNvPicPr>
          <p:nvPr/>
        </p:nvPicPr>
        <p:blipFill>
          <a:blip r:embed="rId3" cstate="print"/>
          <a:srcRect/>
          <a:stretch>
            <a:fillRect/>
          </a:stretch>
        </p:blipFill>
        <p:spPr bwMode="auto">
          <a:xfrm>
            <a:off x="4705350" y="16002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A753D77D-2EEC-4FC2-A452-7946FD8120F4}"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20</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82946" name="Picture 2" descr="Industry, innovation and infrastructure"/>
          <p:cNvPicPr>
            <a:picLocks noChangeAspect="1" noChangeArrowheads="1"/>
          </p:cNvPicPr>
          <p:nvPr/>
        </p:nvPicPr>
        <p:blipFill>
          <a:blip r:embed="rId2" cstate="print"/>
          <a:srcRect/>
          <a:stretch>
            <a:fillRect/>
          </a:stretch>
        </p:blipFill>
        <p:spPr bwMode="auto">
          <a:xfrm>
            <a:off x="228600" y="1600200"/>
            <a:ext cx="4438650" cy="4438651"/>
          </a:xfrm>
          <a:prstGeom prst="rect">
            <a:avLst/>
          </a:prstGeom>
          <a:noFill/>
        </p:spPr>
      </p:pic>
      <p:pic>
        <p:nvPicPr>
          <p:cNvPr id="82948" name="Picture 4" descr="Reduced inequalities"/>
          <p:cNvPicPr>
            <a:picLocks noChangeAspect="1" noChangeArrowheads="1"/>
          </p:cNvPicPr>
          <p:nvPr/>
        </p:nvPicPr>
        <p:blipFill>
          <a:blip r:embed="rId3" cstate="print"/>
          <a:srcRect/>
          <a:stretch>
            <a:fillRect/>
          </a:stretch>
        </p:blipFill>
        <p:spPr bwMode="auto">
          <a:xfrm>
            <a:off x="4705350" y="16002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8B380D1-A6EB-4A4A-9964-DD474A8BB3BA}"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21</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81922" name="Picture 2" descr="Sustainable cities and communities"/>
          <p:cNvPicPr>
            <a:picLocks noChangeAspect="1" noChangeArrowheads="1"/>
          </p:cNvPicPr>
          <p:nvPr/>
        </p:nvPicPr>
        <p:blipFill>
          <a:blip r:embed="rId2" cstate="print"/>
          <a:srcRect/>
          <a:stretch>
            <a:fillRect/>
          </a:stretch>
        </p:blipFill>
        <p:spPr bwMode="auto">
          <a:xfrm>
            <a:off x="152400" y="1600200"/>
            <a:ext cx="4438650" cy="4438651"/>
          </a:xfrm>
          <a:prstGeom prst="rect">
            <a:avLst/>
          </a:prstGeom>
          <a:noFill/>
        </p:spPr>
      </p:pic>
      <p:pic>
        <p:nvPicPr>
          <p:cNvPr id="81924" name="Picture 4" descr="Responsible consumption and production"/>
          <p:cNvPicPr>
            <a:picLocks noChangeAspect="1" noChangeArrowheads="1"/>
          </p:cNvPicPr>
          <p:nvPr/>
        </p:nvPicPr>
        <p:blipFill>
          <a:blip r:embed="rId3" cstate="print"/>
          <a:srcRect/>
          <a:stretch>
            <a:fillRect/>
          </a:stretch>
        </p:blipFill>
        <p:spPr bwMode="auto">
          <a:xfrm>
            <a:off x="4495800" y="16002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144E121-5BF5-4253-BA12-D8EE14B61A64}"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22</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80898" name="Picture 2" descr="Climate Action"/>
          <p:cNvPicPr>
            <a:picLocks noChangeAspect="1" noChangeArrowheads="1"/>
          </p:cNvPicPr>
          <p:nvPr/>
        </p:nvPicPr>
        <p:blipFill>
          <a:blip r:embed="rId2" cstate="print"/>
          <a:srcRect/>
          <a:stretch>
            <a:fillRect/>
          </a:stretch>
        </p:blipFill>
        <p:spPr bwMode="auto">
          <a:xfrm>
            <a:off x="228600" y="1600200"/>
            <a:ext cx="4438650" cy="4438651"/>
          </a:xfrm>
          <a:prstGeom prst="rect">
            <a:avLst/>
          </a:prstGeom>
          <a:noFill/>
        </p:spPr>
      </p:pic>
      <p:pic>
        <p:nvPicPr>
          <p:cNvPr id="80900" name="Picture 4" descr="Life below water"/>
          <p:cNvPicPr>
            <a:picLocks noChangeAspect="1" noChangeArrowheads="1"/>
          </p:cNvPicPr>
          <p:nvPr/>
        </p:nvPicPr>
        <p:blipFill>
          <a:blip r:embed="rId3" cstate="print"/>
          <a:srcRect/>
          <a:stretch>
            <a:fillRect/>
          </a:stretch>
        </p:blipFill>
        <p:spPr bwMode="auto">
          <a:xfrm>
            <a:off x="4705350" y="16002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5A3F8EAF-2E1B-4384-9056-9B8958204E8A}"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23</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79874" name="Picture 2" descr="Life on land"/>
          <p:cNvPicPr>
            <a:picLocks noChangeAspect="1" noChangeArrowheads="1"/>
          </p:cNvPicPr>
          <p:nvPr/>
        </p:nvPicPr>
        <p:blipFill>
          <a:blip r:embed="rId2" cstate="print"/>
          <a:srcRect/>
          <a:stretch>
            <a:fillRect/>
          </a:stretch>
        </p:blipFill>
        <p:spPr bwMode="auto">
          <a:xfrm>
            <a:off x="228600" y="1676400"/>
            <a:ext cx="4438650" cy="4438651"/>
          </a:xfrm>
          <a:prstGeom prst="rect">
            <a:avLst/>
          </a:prstGeom>
          <a:noFill/>
        </p:spPr>
      </p:pic>
      <p:pic>
        <p:nvPicPr>
          <p:cNvPr id="79876" name="Picture 4" descr="Peace, justice and strong institutions"/>
          <p:cNvPicPr>
            <a:picLocks noChangeAspect="1" noChangeArrowheads="1"/>
          </p:cNvPicPr>
          <p:nvPr/>
        </p:nvPicPr>
        <p:blipFill>
          <a:blip r:embed="rId3" cstate="print"/>
          <a:srcRect/>
          <a:stretch>
            <a:fillRect/>
          </a:stretch>
        </p:blipFill>
        <p:spPr bwMode="auto">
          <a:xfrm>
            <a:off x="4705350" y="1676400"/>
            <a:ext cx="4438650" cy="4438651"/>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B593BE38-5779-4003-B081-40F6B69E0286}"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24</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UN Sustainable Development Goals</a:t>
            </a:r>
            <a:endParaRPr lang="en-IN" dirty="0"/>
          </a:p>
        </p:txBody>
      </p:sp>
      <p:sp>
        <p:nvSpPr>
          <p:cNvPr id="3" name="Content Placeholder 2"/>
          <p:cNvSpPr>
            <a:spLocks noGrp="1"/>
          </p:cNvSpPr>
          <p:nvPr>
            <p:ph idx="1"/>
          </p:nvPr>
        </p:nvSpPr>
        <p:spPr/>
        <p:txBody>
          <a:bodyPr/>
          <a:lstStyle/>
          <a:p>
            <a:endParaRPr lang="en-IN"/>
          </a:p>
        </p:txBody>
      </p:sp>
      <p:pic>
        <p:nvPicPr>
          <p:cNvPr id="78850" name="Picture 2" descr="Partnerships for the goals"/>
          <p:cNvPicPr>
            <a:picLocks noChangeAspect="1" noChangeArrowheads="1"/>
          </p:cNvPicPr>
          <p:nvPr/>
        </p:nvPicPr>
        <p:blipFill>
          <a:blip r:embed="rId2" cstate="print"/>
          <a:srcRect/>
          <a:stretch>
            <a:fillRect/>
          </a:stretch>
        </p:blipFill>
        <p:spPr bwMode="auto">
          <a:xfrm>
            <a:off x="152400" y="1600200"/>
            <a:ext cx="4438650" cy="4438651"/>
          </a:xfrm>
          <a:prstGeom prst="rect">
            <a:avLst/>
          </a:prstGeom>
          <a:noFill/>
        </p:spPr>
      </p:pic>
      <p:pic>
        <p:nvPicPr>
          <p:cNvPr id="78852" name="Picture 4" descr="Sustainable development goals"/>
          <p:cNvPicPr>
            <a:picLocks noChangeAspect="1" noChangeArrowheads="1"/>
          </p:cNvPicPr>
          <p:nvPr/>
        </p:nvPicPr>
        <p:blipFill>
          <a:blip r:embed="rId3" cstate="print"/>
          <a:srcRect/>
          <a:stretch>
            <a:fillRect/>
          </a:stretch>
        </p:blipFill>
        <p:spPr bwMode="auto">
          <a:xfrm>
            <a:off x="4543425" y="1600200"/>
            <a:ext cx="4600575" cy="4429126"/>
          </a:xfrm>
          <a:prstGeom prst="rect">
            <a:avLst/>
          </a:prstGeom>
          <a:noFill/>
        </p:spPr>
      </p:pic>
      <p:pic>
        <p:nvPicPr>
          <p:cNvPr id="6" name="Picture 5"/>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7AF01F3-9F00-4A30-8CE0-5BBAAB70FC04}"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25</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 </a:t>
            </a:r>
            <a:r>
              <a:rPr lang="en-US" b="1" dirty="0" smtClean="0">
                <a:solidFill>
                  <a:srgbClr val="0070C0"/>
                </a:solidFill>
              </a:rPr>
              <a:t>Sustainable </a:t>
            </a:r>
            <a:r>
              <a:rPr lang="en-US" b="1" dirty="0" smtClean="0">
                <a:solidFill>
                  <a:srgbClr val="0070C0"/>
                </a:solidFill>
              </a:rPr>
              <a:t>Development Domains </a:t>
            </a:r>
            <a:endParaRPr lang="en-IN" dirty="0"/>
          </a:p>
        </p:txBody>
      </p:sp>
      <p:sp>
        <p:nvSpPr>
          <p:cNvPr id="3" name="Content Placeholder 2"/>
          <p:cNvSpPr>
            <a:spLocks noGrp="1"/>
          </p:cNvSpPr>
          <p:nvPr>
            <p:ph idx="1"/>
          </p:nvPr>
        </p:nvSpPr>
        <p:spPr>
          <a:xfrm>
            <a:off x="228600" y="1371600"/>
            <a:ext cx="8686800" cy="5105400"/>
          </a:xfrm>
        </p:spPr>
        <p:txBody>
          <a:bodyPr/>
          <a:lstStyle/>
          <a:p>
            <a:r>
              <a:rPr lang="en-GB" b="1" dirty="0" smtClean="0"/>
              <a:t>Scheme of sustainable development:</a:t>
            </a:r>
            <a:r>
              <a:rPr lang="en-GB" dirty="0" smtClean="0"/>
              <a:t/>
            </a:r>
            <a:br>
              <a:rPr lang="en-GB" dirty="0" smtClean="0"/>
            </a:br>
            <a:r>
              <a:rPr lang="en-GB" dirty="0" smtClean="0"/>
              <a:t>at the confluence of three constituent parts. (2006)Sustainable development, or sustainability, has been described in terms of three spheres, </a:t>
            </a:r>
            <a:r>
              <a:rPr lang="en-GB" b="1" dirty="0" smtClean="0"/>
              <a:t>dimensions, domains or pillars, </a:t>
            </a:r>
            <a:r>
              <a:rPr lang="en-GB" dirty="0" smtClean="0"/>
              <a:t>i.e. the </a:t>
            </a:r>
            <a:r>
              <a:rPr lang="en-GB" b="1" dirty="0" smtClean="0"/>
              <a:t>environment, the economy and society. </a:t>
            </a:r>
            <a:endParaRPr lang="en-GB" b="1" dirty="0" smtClean="0"/>
          </a:p>
          <a:p>
            <a:r>
              <a:rPr lang="en-GB" dirty="0" smtClean="0"/>
              <a:t>The </a:t>
            </a:r>
            <a:r>
              <a:rPr lang="en-GB" dirty="0" smtClean="0"/>
              <a:t>three-sphere framework was initially proposed by the economist René </a:t>
            </a:r>
            <a:r>
              <a:rPr lang="en-GB" dirty="0" err="1" smtClean="0"/>
              <a:t>Passet</a:t>
            </a:r>
            <a:r>
              <a:rPr lang="en-GB" dirty="0" smtClean="0"/>
              <a:t> in 1979.</a:t>
            </a:r>
            <a:endParaRPr lang="en-GB" baseline="30000" dirty="0" smtClean="0"/>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15729EA2-7BB7-428C-B6ED-14B031D05363}"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26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0070C0"/>
                </a:solidFill>
              </a:rPr>
              <a:t>Sustainable Development Domains</a:t>
            </a:r>
            <a:r>
              <a:rPr lang="en-GB" b="1" dirty="0" smtClean="0">
                <a:solidFill>
                  <a:srgbClr val="0070C0"/>
                </a:solidFill>
              </a:rPr>
              <a:t/>
            </a:r>
            <a:br>
              <a:rPr lang="en-GB" b="1" dirty="0" smtClean="0">
                <a:solidFill>
                  <a:srgbClr val="0070C0"/>
                </a:solidFill>
              </a:rPr>
            </a:br>
            <a:endParaRPr lang="en-IN" b="1" dirty="0">
              <a:solidFill>
                <a:srgbClr val="0070C0"/>
              </a:solidFill>
            </a:endParaRPr>
          </a:p>
        </p:txBody>
      </p:sp>
      <p:sp>
        <p:nvSpPr>
          <p:cNvPr id="3" name="Content Placeholder 2"/>
          <p:cNvSpPr>
            <a:spLocks noGrp="1"/>
          </p:cNvSpPr>
          <p:nvPr>
            <p:ph idx="1"/>
          </p:nvPr>
        </p:nvSpPr>
        <p:spPr>
          <a:xfrm>
            <a:off x="304800" y="1066800"/>
            <a:ext cx="8610600" cy="5410200"/>
          </a:xfrm>
        </p:spPr>
        <p:txBody>
          <a:bodyPr>
            <a:normAutofit/>
          </a:bodyPr>
          <a:lstStyle/>
          <a:p>
            <a:r>
              <a:rPr lang="en-GB" dirty="0" smtClean="0"/>
              <a:t>It </a:t>
            </a:r>
            <a:r>
              <a:rPr lang="en-GB" dirty="0" smtClean="0"/>
              <a:t>has also been worded as </a:t>
            </a:r>
            <a:r>
              <a:rPr lang="en-GB" b="1" dirty="0" smtClean="0"/>
              <a:t>"economic, environmental and social" or "ecology, economy and equity</a:t>
            </a:r>
            <a:r>
              <a:rPr lang="en-GB" b="1" dirty="0" smtClean="0"/>
              <a:t>". </a:t>
            </a:r>
          </a:p>
          <a:p>
            <a:r>
              <a:rPr lang="en-GB" dirty="0" smtClean="0"/>
              <a:t>This </a:t>
            </a:r>
            <a:r>
              <a:rPr lang="en-GB" dirty="0" smtClean="0"/>
              <a:t>has been expanded by some authors to include a </a:t>
            </a:r>
            <a:r>
              <a:rPr lang="en-GB" b="1" dirty="0" smtClean="0"/>
              <a:t>fourth pillar of culture, institutions or </a:t>
            </a:r>
            <a:r>
              <a:rPr lang="en-GB" b="1" dirty="0" smtClean="0"/>
              <a:t>governance</a:t>
            </a:r>
            <a:r>
              <a:rPr lang="en-GB" dirty="0" smtClean="0"/>
              <a:t>, or </a:t>
            </a:r>
            <a:r>
              <a:rPr lang="en-GB" dirty="0" smtClean="0"/>
              <a:t>alternatively reconfigured as four domains of the social - ecology, economics, politics and </a:t>
            </a:r>
            <a:r>
              <a:rPr lang="en-GB" dirty="0" smtClean="0"/>
              <a:t>culture, </a:t>
            </a:r>
            <a:r>
              <a:rPr lang="en-GB" dirty="0" smtClean="0"/>
              <a:t>thus bringing economics back inside the social, and treating ecology as the intersection of the social and the natural.</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F4FDB8B1-72E5-495E-99DB-6D9CEE7F9898}"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27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5602" name="Picture 2" descr="Triple Bottom Line• Solutions must meet  environmental, economic, and  social goals simultaneously to satisfy the  triple ..."/>
          <p:cNvPicPr>
            <a:picLocks noChangeAspect="1" noChangeArrowheads="1"/>
          </p:cNvPicPr>
          <p:nvPr/>
        </p:nvPicPr>
        <p:blipFill>
          <a:blip r:embed="rId2" cstate="print"/>
          <a:srcRect/>
          <a:stretch>
            <a:fillRect/>
          </a:stretch>
        </p:blipFill>
        <p:spPr bwMode="auto">
          <a:xfrm>
            <a:off x="457200" y="228600"/>
            <a:ext cx="8229600" cy="6419851"/>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06B0A2D9-42EE-4BCC-BB3B-1B495C073A72}"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28</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https://conceptdraw.com/a99c3/p1/preview/640/pict--venn-diagram-venn-diagram---path-to-sustainable-development.png--diagram-flowchart-example.png"/>
          <p:cNvPicPr>
            <a:picLocks noChangeAspect="1" noChangeArrowheads="1"/>
          </p:cNvPicPr>
          <p:nvPr/>
        </p:nvPicPr>
        <p:blipFill>
          <a:blip r:embed="rId2" cstate="print"/>
          <a:srcRect/>
          <a:stretch>
            <a:fillRect/>
          </a:stretch>
        </p:blipFill>
        <p:spPr bwMode="auto">
          <a:xfrm>
            <a:off x="381000" y="228600"/>
            <a:ext cx="8382000" cy="6210301"/>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ACFD0EE2-4F06-48DB-90DD-D92CE48B1E53}"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29</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9938" name="Picture 2" descr="Sustainable development offers theSustainable development offers the&#10;world a plan for saving the Earth.world a plan for sa..."/>
          <p:cNvPicPr>
            <a:picLocks noChangeAspect="1" noChangeArrowheads="1"/>
          </p:cNvPicPr>
          <p:nvPr/>
        </p:nvPicPr>
        <p:blipFill>
          <a:blip r:embed="rId2" cstate="print"/>
          <a:srcRect/>
          <a:stretch>
            <a:fillRect/>
          </a:stretch>
        </p:blipFill>
        <p:spPr bwMode="auto">
          <a:xfrm>
            <a:off x="304800" y="228600"/>
            <a:ext cx="8686800" cy="62484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EA3FD69B-001F-4AD0-B772-34417F89BE65}"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30</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3010" name="Picture 2" descr="Sustainability issues are to beSustainability issues are to be&#10;analyzed at various levelsanalyzed at various levels&#10;• Glob..."/>
          <p:cNvPicPr>
            <a:picLocks noChangeAspect="1" noChangeArrowheads="1"/>
          </p:cNvPicPr>
          <p:nvPr/>
        </p:nvPicPr>
        <p:blipFill>
          <a:blip r:embed="rId2" cstate="print"/>
          <a:srcRect/>
          <a:stretch>
            <a:fillRect/>
          </a:stretch>
        </p:blipFill>
        <p:spPr bwMode="auto">
          <a:xfrm>
            <a:off x="304800" y="228600"/>
            <a:ext cx="8534400" cy="63246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585CBBF1-06C1-43E1-AD18-057D70B879F9}"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31</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7890" name="Picture 2" descr="Sustainability is concerned withSustainability is concerned with&#10;these &quot;these &quot;3 Es3 Es&quot;.&quot;.&#10;• EquityEquity&#10;• Environmental..."/>
          <p:cNvPicPr>
            <a:picLocks noChangeAspect="1" noChangeArrowheads="1"/>
          </p:cNvPicPr>
          <p:nvPr/>
        </p:nvPicPr>
        <p:blipFill>
          <a:blip r:embed="rId2" cstate="print"/>
          <a:srcRect/>
          <a:stretch>
            <a:fillRect/>
          </a:stretch>
        </p:blipFill>
        <p:spPr bwMode="auto">
          <a:xfrm>
            <a:off x="381000" y="228600"/>
            <a:ext cx="8534400" cy="62484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7938737A-C865-4668-9320-6B97EB3848BF}"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32</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1986" name="Picture 2" descr="Five related aspects to the concept ofFive related aspects to the concept of&#10;sustainability.sustainability.&#10;• Economic sus..."/>
          <p:cNvPicPr>
            <a:picLocks noChangeAspect="1" noChangeArrowheads="1"/>
          </p:cNvPicPr>
          <p:nvPr/>
        </p:nvPicPr>
        <p:blipFill>
          <a:blip r:embed="rId2" cstate="print"/>
          <a:srcRect/>
          <a:stretch>
            <a:fillRect/>
          </a:stretch>
        </p:blipFill>
        <p:spPr bwMode="auto">
          <a:xfrm>
            <a:off x="304800" y="228600"/>
            <a:ext cx="8610600" cy="64008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FBA707DA-337D-44E8-8D73-C4AF4AD013F4}"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33</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4578" name="Picture 2" descr="&#10;&#10;&#10;&#10;Environmental sustainability:&#10;&#10;A state in which the demands placed on the&#10;environment can be met without reducing&#10;it..."/>
          <p:cNvPicPr>
            <a:picLocks noChangeAspect="1" noChangeArrowheads="1"/>
          </p:cNvPicPr>
          <p:nvPr/>
        </p:nvPicPr>
        <p:blipFill>
          <a:blip r:embed="rId2" cstate="print"/>
          <a:srcRect/>
          <a:stretch>
            <a:fillRect/>
          </a:stretch>
        </p:blipFill>
        <p:spPr bwMode="auto">
          <a:xfrm>
            <a:off x="457200" y="228600"/>
            <a:ext cx="8458200" cy="61722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7E25F358-A243-4CC9-B05D-AFF10DD787C8}"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34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b="1" dirty="0" smtClean="0">
                <a:solidFill>
                  <a:srgbClr val="FF0000"/>
                </a:solidFill>
                <a:latin typeface="Comic Sans MS" pitchFamily="66" charset="0"/>
              </a:rPr>
              <a:t>Environmental sustainability </a:t>
            </a:r>
            <a:r>
              <a:rPr lang="en-US" dirty="0" smtClean="0">
                <a:latin typeface="Comic Sans MS" pitchFamily="66" charset="0"/>
              </a:rPr>
              <a:t>requires society to design activities to meet human needs while preserving the life support systems of the planet. </a:t>
            </a:r>
          </a:p>
          <a:p>
            <a:r>
              <a:rPr lang="en-US" dirty="0" smtClean="0">
                <a:latin typeface="Comic Sans MS" pitchFamily="66" charset="0"/>
              </a:rPr>
              <a:t>This, for example, entails using </a:t>
            </a:r>
            <a:r>
              <a:rPr lang="en-US" b="1" dirty="0" smtClean="0">
                <a:solidFill>
                  <a:srgbClr val="0070C0"/>
                </a:solidFill>
                <a:latin typeface="Comic Sans MS" pitchFamily="66" charset="0"/>
              </a:rPr>
              <a:t>water sustainably, utilizing renewable energy, and sustainable material supplies</a:t>
            </a:r>
            <a:r>
              <a:rPr lang="en-US" dirty="0" smtClean="0">
                <a:latin typeface="Comic Sans MS" pitchFamily="66" charset="0"/>
              </a:rPr>
              <a:t> (e.g. harvesting wood from forests at a rate that maintains the biomass and biodiversity).</a:t>
            </a:r>
          </a:p>
          <a:p>
            <a:endParaRPr lang="en-US" dirty="0" smtClean="0"/>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2760B204-9C61-4B0E-B48A-1A509405DA74}"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35</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600200"/>
            <a:ext cx="8610600" cy="4876800"/>
          </a:xfrm>
        </p:spPr>
        <p:txBody>
          <a:bodyPr>
            <a:normAutofit/>
          </a:bodyPr>
          <a:lstStyle/>
          <a:p>
            <a:r>
              <a:rPr lang="en-US" dirty="0" smtClean="0">
                <a:latin typeface="Comic Sans MS" pitchFamily="66" charset="0"/>
              </a:rPr>
              <a:t>Since natural resources are derived from the environment, the state of air, water, and the climate are of particular concern. </a:t>
            </a:r>
          </a:p>
          <a:p>
            <a:r>
              <a:rPr lang="en-US" dirty="0" smtClean="0">
                <a:latin typeface="Comic Sans MS" pitchFamily="66" charset="0"/>
              </a:rPr>
              <a:t>The IPCC Fifth Assessment Report outlines current knowledge about scientific, technical and socio-economic information concerning climate change, and lists options for adaptation and mitigation.</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7F823679-1BC4-45D8-A0BD-75ACE091F12B}"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36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228600" y="1066800"/>
            <a:ext cx="8610600" cy="5410200"/>
          </a:xfrm>
        </p:spPr>
        <p:txBody>
          <a:bodyPr>
            <a:normAutofit/>
          </a:bodyPr>
          <a:lstStyle/>
          <a:p>
            <a:r>
              <a:rPr lang="en-US" sz="3600" dirty="0" smtClean="0">
                <a:latin typeface="Comic Sans MS" pitchFamily="66" charset="0"/>
              </a:rPr>
              <a:t>An unsustainable situation occurs when </a:t>
            </a:r>
            <a:r>
              <a:rPr lang="en-US" sz="3600" dirty="0" smtClean="0">
                <a:latin typeface="Comic Sans MS" pitchFamily="66" charset="0"/>
                <a:hlinkClick r:id="rId2" tooltip="Natural capital"/>
              </a:rPr>
              <a:t>natural capital</a:t>
            </a:r>
            <a:r>
              <a:rPr lang="en-US" sz="3600" dirty="0" smtClean="0">
                <a:latin typeface="Comic Sans MS" pitchFamily="66" charset="0"/>
              </a:rPr>
              <a:t> (the sum total of nature's resources) is used up faster than it can be replenished. </a:t>
            </a:r>
          </a:p>
          <a:p>
            <a:r>
              <a:rPr lang="en-US" sz="3600" dirty="0" smtClean="0">
                <a:latin typeface="Comic Sans MS" pitchFamily="66" charset="0"/>
              </a:rPr>
              <a:t>Sustainability requires that human activity only uses nature's resources at a rate at which they can be replenished naturally. </a:t>
            </a: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41E395D2-514D-4E82-A966-DB7E9D0C89FC}"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37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p:txBody>
          <a:bodyPr/>
          <a:lstStyle/>
          <a:p>
            <a:r>
              <a:rPr lang="en-US" dirty="0" smtClean="0">
                <a:latin typeface="Comic Sans MS" pitchFamily="66" charset="0"/>
              </a:rPr>
              <a:t>Such degradation on a global scale should imply an increase in human death rate until population falls to what the degraded environment can support. </a:t>
            </a:r>
          </a:p>
          <a:p>
            <a:r>
              <a:rPr lang="en-US" dirty="0" smtClean="0">
                <a:latin typeface="Comic Sans MS" pitchFamily="66" charset="0"/>
              </a:rPr>
              <a:t>If the degradation continues beyond a certain </a:t>
            </a:r>
            <a:r>
              <a:rPr lang="en-US" dirty="0" smtClean="0">
                <a:latin typeface="Comic Sans MS" pitchFamily="66" charset="0"/>
                <a:hlinkClick r:id="rId2" tooltip="Planetary boundaries"/>
              </a:rPr>
              <a:t>tipping point</a:t>
            </a:r>
            <a:r>
              <a:rPr lang="en-US" dirty="0" smtClean="0">
                <a:latin typeface="Comic Sans MS" pitchFamily="66" charset="0"/>
              </a:rPr>
              <a:t> or critical threshold it would lead to eventual </a:t>
            </a:r>
            <a:r>
              <a:rPr lang="en-US" dirty="0" smtClean="0">
                <a:latin typeface="Comic Sans MS" pitchFamily="66" charset="0"/>
                <a:hlinkClick r:id="rId3" tooltip="Extinction"/>
              </a:rPr>
              <a:t>extinction</a:t>
            </a:r>
            <a:r>
              <a:rPr lang="en-US" dirty="0" smtClean="0">
                <a:latin typeface="Comic Sans MS" pitchFamily="66" charset="0"/>
              </a:rPr>
              <a:t> for humanity.</a:t>
            </a:r>
          </a:p>
          <a:p>
            <a:endParaRPr lang="en-US" dirty="0" smtClean="0"/>
          </a:p>
          <a:p>
            <a:endParaRPr lang="en-US" dirty="0" smtClean="0"/>
          </a:p>
          <a:p>
            <a:endParaRPr lang="en-US" dirty="0"/>
          </a:p>
        </p:txBody>
      </p:sp>
      <p:pic>
        <p:nvPicPr>
          <p:cNvPr id="4" name="Picture 3"/>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C80D8FD-CD06-4ECA-AEBA-8E70CD6A67CE}"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38</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600" b="1" dirty="0" smtClean="0">
                <a:solidFill>
                  <a:srgbClr val="0070C0"/>
                </a:solidFill>
                <a:latin typeface="Comic Sans MS" pitchFamily="66" charset="0"/>
              </a:rPr>
              <a:t>Sustainable Development (SD)</a:t>
            </a:r>
            <a:endParaRPr lang="en-US" sz="3600" b="1" dirty="0">
              <a:solidFill>
                <a:srgbClr val="0070C0"/>
              </a:solidFill>
            </a:endParaRPr>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b="1" dirty="0" smtClean="0">
                <a:latin typeface="Comic Sans MS" pitchFamily="66" charset="0"/>
              </a:rPr>
              <a:t>Environmental sustainability </a:t>
            </a:r>
            <a:r>
              <a:rPr lang="en-US" dirty="0" smtClean="0">
                <a:latin typeface="Comic Sans MS" pitchFamily="66" charset="0"/>
              </a:rPr>
              <a:t>requires society to design activities to meet human needs while preserving the life support systems of the planet. </a:t>
            </a:r>
          </a:p>
          <a:p>
            <a:r>
              <a:rPr lang="en-US" dirty="0" smtClean="0">
                <a:latin typeface="Comic Sans MS" pitchFamily="66" charset="0"/>
              </a:rPr>
              <a:t>This, for example, entails using water sustainably, utilizing renewable energy, and sustainable material supplies (e.g. harvesting wood from forests at a rate that maintains the biomass and biodiversity).</a:t>
            </a:r>
          </a:p>
          <a:p>
            <a:endParaRPr lang="en-US" dirty="0" smtClean="0"/>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8050D6A-C46F-4BEF-8DB3-419647DB261A}"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39</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2770" name="Picture 2" descr="Sustainable development – the environmental dimension    The environment pillar of sustainable development is crucial; onc..."/>
          <p:cNvPicPr>
            <a:picLocks noChangeAspect="1" noChangeArrowheads="1"/>
          </p:cNvPicPr>
          <p:nvPr/>
        </p:nvPicPr>
        <p:blipFill>
          <a:blip r:embed="rId2" cstate="print"/>
          <a:srcRect/>
          <a:stretch>
            <a:fillRect/>
          </a:stretch>
        </p:blipFill>
        <p:spPr bwMode="auto">
          <a:xfrm>
            <a:off x="228600" y="228600"/>
            <a:ext cx="8686800" cy="64770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7000109D-5DFC-46BC-A2C0-DB941FEACC8F}"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40</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6626" name="Picture 2" descr="&#10;&#10;&#10;&#10;Economic sustainability:&#10;&#10;The use of various strategies for employing&#10;existing resources optimally so that that a&#10;re..."/>
          <p:cNvPicPr>
            <a:picLocks noChangeAspect="1" noChangeArrowheads="1"/>
          </p:cNvPicPr>
          <p:nvPr/>
        </p:nvPicPr>
        <p:blipFill>
          <a:blip r:embed="rId2" cstate="print"/>
          <a:srcRect/>
          <a:stretch>
            <a:fillRect/>
          </a:stretch>
        </p:blipFill>
        <p:spPr bwMode="auto">
          <a:xfrm>
            <a:off x="457200" y="152400"/>
            <a:ext cx="8229600" cy="63246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B90C580B-30D5-4D14-8F0A-CF6E0B7C0E1C}"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41</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22" name="Picture 2" descr="Sustainable development – the economic dimensionThe economic pillar is often made to be the strongest or even the   only p..."/>
          <p:cNvPicPr>
            <a:picLocks noChangeAspect="1" noChangeArrowheads="1"/>
          </p:cNvPicPr>
          <p:nvPr/>
        </p:nvPicPr>
        <p:blipFill>
          <a:blip r:embed="rId2" cstate="print"/>
          <a:srcRect/>
          <a:stretch>
            <a:fillRect/>
          </a:stretch>
        </p:blipFill>
        <p:spPr bwMode="auto">
          <a:xfrm>
            <a:off x="457200" y="228600"/>
            <a:ext cx="8382000" cy="60198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DCF77D10-BAD7-447E-B396-6467BF01B51A}"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42</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7650" name="Picture 2" descr="&#10;&#10;&#10;&#10;Sociopolitical sustainability:&#10;&#10;The ability of a community to develop&#10;processes and structures which not only&#10;meet t..."/>
          <p:cNvPicPr>
            <a:picLocks noChangeAspect="1" noChangeArrowheads="1"/>
          </p:cNvPicPr>
          <p:nvPr/>
        </p:nvPicPr>
        <p:blipFill>
          <a:blip r:embed="rId2" cstate="print"/>
          <a:srcRect/>
          <a:stretch>
            <a:fillRect/>
          </a:stretch>
        </p:blipFill>
        <p:spPr bwMode="auto">
          <a:xfrm>
            <a:off x="304800" y="228600"/>
            <a:ext cx="8458200" cy="60960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FC140CD3-3EB9-48CB-85C1-982A62668141}"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43</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62" name="Picture 2" descr="The principles of a sustainableThe principles of a sustainable&#10;society aresociety are&#10; Respect and care for the community..."/>
          <p:cNvPicPr>
            <a:picLocks noChangeAspect="1" noChangeArrowheads="1"/>
          </p:cNvPicPr>
          <p:nvPr/>
        </p:nvPicPr>
        <p:blipFill>
          <a:blip r:embed="rId2" cstate="print"/>
          <a:srcRect/>
          <a:stretch>
            <a:fillRect/>
          </a:stretch>
        </p:blipFill>
        <p:spPr bwMode="auto">
          <a:xfrm>
            <a:off x="304800" y="152400"/>
            <a:ext cx="8534400" cy="64008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96069A78-94E2-4621-A350-CD19250736D1}"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1746" name="Picture 2" descr="Sustainable development – the social dimension•   Health: everyone having access to healthcare and leading healthy lifesty..."/>
          <p:cNvPicPr>
            <a:picLocks noChangeAspect="1" noChangeArrowheads="1"/>
          </p:cNvPicPr>
          <p:nvPr/>
        </p:nvPicPr>
        <p:blipFill>
          <a:blip r:embed="rId2" cstate="print"/>
          <a:srcRect/>
          <a:stretch>
            <a:fillRect/>
          </a:stretch>
        </p:blipFill>
        <p:spPr bwMode="auto">
          <a:xfrm>
            <a:off x="457200" y="228600"/>
            <a:ext cx="8305800" cy="5962651"/>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F6E270BD-57BF-41C3-BF69-90DAE7A60732}"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45</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457200" y="1143000"/>
            <a:ext cx="8229600" cy="4983163"/>
          </a:xfrm>
        </p:spPr>
        <p:txBody>
          <a:bodyPr>
            <a:normAutofit fontScale="92500"/>
          </a:bodyPr>
          <a:lstStyle/>
          <a:p>
            <a:r>
              <a:rPr lang="en-US" dirty="0" smtClean="0">
                <a:latin typeface="Comic Sans MS" pitchFamily="66" charset="0"/>
              </a:rPr>
              <a:t>These can be either positive (e.g. corporate giving, creation of employment) or negative (e.g. work accidents, mobbing of employees, human rights abuses). </a:t>
            </a:r>
          </a:p>
          <a:p>
            <a:r>
              <a:rPr lang="en-US" dirty="0" smtClean="0">
                <a:latin typeface="Comic Sans MS" pitchFamily="66" charset="0"/>
              </a:rPr>
              <a:t>Depending on the type of impact </a:t>
            </a:r>
            <a:r>
              <a:rPr lang="en-US" b="1" dirty="0" smtClean="0">
                <a:solidFill>
                  <a:srgbClr val="0070C0"/>
                </a:solidFill>
                <a:latin typeface="Comic Sans MS" pitchFamily="66" charset="0"/>
              </a:rPr>
              <a:t>socio-efficiency</a:t>
            </a:r>
            <a:r>
              <a:rPr lang="en-US" dirty="0" smtClean="0">
                <a:latin typeface="Comic Sans MS" pitchFamily="66" charset="0"/>
              </a:rPr>
              <a:t> thus either tries to minimize negative social impacts (i.e. accidents per value added) or </a:t>
            </a:r>
            <a:r>
              <a:rPr lang="en-US" dirty="0" err="1" smtClean="0">
                <a:latin typeface="Comic Sans MS" pitchFamily="66" charset="0"/>
              </a:rPr>
              <a:t>maximise</a:t>
            </a:r>
            <a:r>
              <a:rPr lang="en-US" dirty="0" smtClean="0">
                <a:latin typeface="Comic Sans MS" pitchFamily="66" charset="0"/>
              </a:rPr>
              <a:t> positive social impacts (i.e. donations per value added) in relation to the value added.</a:t>
            </a:r>
          </a:p>
          <a:p>
            <a:endParaRPr lang="en-US" dirty="0" smtClean="0">
              <a:latin typeface="Comic Sans MS" pitchFamily="66" charset="0"/>
            </a:endParaRP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92A4060-7096-4CB0-AEFB-BB12F2287D3B}"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46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066800"/>
            <a:ext cx="8610600" cy="5410200"/>
          </a:xfrm>
        </p:spPr>
        <p:txBody>
          <a:bodyPr>
            <a:normAutofit/>
          </a:bodyPr>
          <a:lstStyle/>
          <a:p>
            <a:pPr>
              <a:buNone/>
            </a:pPr>
            <a:r>
              <a:rPr lang="en-US" b="1" u="sng" dirty="0" smtClean="0">
                <a:solidFill>
                  <a:srgbClr val="0070C0"/>
                </a:solidFill>
                <a:latin typeface="Comic Sans MS" pitchFamily="66" charset="0"/>
              </a:rPr>
              <a:t>Agriculture</a:t>
            </a:r>
            <a:endParaRPr lang="en-US" i="1" u="sng" dirty="0">
              <a:solidFill>
                <a:srgbClr val="0070C0"/>
              </a:solidFill>
              <a:latin typeface="Comic Sans MS" pitchFamily="66" charset="0"/>
            </a:endParaRPr>
          </a:p>
          <a:p>
            <a:r>
              <a:rPr lang="en-US" b="1" dirty="0">
                <a:solidFill>
                  <a:srgbClr val="0070C0"/>
                </a:solidFill>
                <a:latin typeface="Comic Sans MS" pitchFamily="66" charset="0"/>
              </a:rPr>
              <a:t>Sustainable agriculture consists of </a:t>
            </a:r>
            <a:r>
              <a:rPr lang="en-US" b="1" dirty="0">
                <a:solidFill>
                  <a:srgbClr val="0070C0"/>
                </a:solidFill>
                <a:latin typeface="Comic Sans MS" pitchFamily="66" charset="0"/>
                <a:hlinkClick r:id="rId2" tooltip="Environmentally-friendly"/>
              </a:rPr>
              <a:t>environmentally-friendly</a:t>
            </a:r>
            <a:r>
              <a:rPr lang="en-US" b="1" dirty="0">
                <a:solidFill>
                  <a:srgbClr val="0070C0"/>
                </a:solidFill>
                <a:latin typeface="Comic Sans MS" pitchFamily="66" charset="0"/>
              </a:rPr>
              <a:t> methods of farming that allow the production of crops or livestock without damage to human or natural </a:t>
            </a:r>
            <a:r>
              <a:rPr lang="en-US" b="1" dirty="0" smtClean="0">
                <a:solidFill>
                  <a:srgbClr val="0070C0"/>
                </a:solidFill>
                <a:latin typeface="Comic Sans MS" pitchFamily="66" charset="0"/>
              </a:rPr>
              <a:t>systems such as </a:t>
            </a:r>
            <a:r>
              <a:rPr lang="en-US" b="1" dirty="0">
                <a:solidFill>
                  <a:srgbClr val="0070C0"/>
                </a:solidFill>
                <a:latin typeface="Comic Sans MS" pitchFamily="66" charset="0"/>
              </a:rPr>
              <a:t>soil, water, biodiversity, </a:t>
            </a:r>
            <a:r>
              <a:rPr lang="en-US" b="1" dirty="0" smtClean="0">
                <a:solidFill>
                  <a:srgbClr val="0070C0"/>
                </a:solidFill>
                <a:latin typeface="Comic Sans MS" pitchFamily="66" charset="0"/>
              </a:rPr>
              <a:t>and surrounding resources</a:t>
            </a:r>
          </a:p>
          <a:p>
            <a:r>
              <a:rPr lang="en-US" dirty="0" smtClean="0">
                <a:latin typeface="Comic Sans MS" pitchFamily="66" charset="0"/>
              </a:rPr>
              <a:t>—as </a:t>
            </a:r>
            <a:r>
              <a:rPr lang="en-US" dirty="0">
                <a:latin typeface="Comic Sans MS" pitchFamily="66" charset="0"/>
              </a:rPr>
              <a:t>well as to those working or living on the farm or in neighboring areas. </a:t>
            </a:r>
            <a:endParaRPr lang="en-US" dirty="0" smtClean="0">
              <a:latin typeface="Comic Sans MS" pitchFamily="66" charset="0"/>
            </a:endParaRP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AD41C55E-1820-471E-B0A6-14286792F6C4}"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47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FF0000"/>
                </a:solidFill>
                <a:latin typeface="Comic Sans MS" pitchFamily="66" charset="0"/>
              </a:rPr>
              <a:t>Sustainable Development</a:t>
            </a:r>
            <a:r>
              <a:rPr lang="en-US" dirty="0" smtClean="0">
                <a:solidFill>
                  <a:srgbClr val="FF0000"/>
                </a:solidFill>
                <a:latin typeface="Comic Sans MS" pitchFamily="66" charset="0"/>
              </a:rPr>
              <a:t> (</a:t>
            </a:r>
            <a:r>
              <a:rPr lang="en-US" b="1" dirty="0" smtClean="0">
                <a:solidFill>
                  <a:srgbClr val="FF0000"/>
                </a:solidFill>
                <a:latin typeface="Comic Sans MS" pitchFamily="66" charset="0"/>
              </a:rPr>
              <a:t>SD</a:t>
            </a:r>
            <a:r>
              <a:rPr lang="en-US" dirty="0" smtClean="0">
                <a:solidFill>
                  <a:srgbClr val="FF0000"/>
                </a:solidFill>
                <a:latin typeface="Comic Sans MS" pitchFamily="66" charset="0"/>
              </a:rPr>
              <a:t>)</a:t>
            </a:r>
            <a:endParaRPr lang="en-US" dirty="0"/>
          </a:p>
        </p:txBody>
      </p:sp>
      <p:sp>
        <p:nvSpPr>
          <p:cNvPr id="3" name="Content Placeholder 2"/>
          <p:cNvSpPr>
            <a:spLocks noGrp="1"/>
          </p:cNvSpPr>
          <p:nvPr>
            <p:ph idx="1"/>
          </p:nvPr>
        </p:nvSpPr>
        <p:spPr>
          <a:xfrm>
            <a:off x="457200" y="1066800"/>
            <a:ext cx="8229600" cy="5410200"/>
          </a:xfrm>
        </p:spPr>
        <p:txBody>
          <a:bodyPr>
            <a:normAutofit lnSpcReduction="10000"/>
          </a:bodyPr>
          <a:lstStyle/>
          <a:p>
            <a:r>
              <a:rPr lang="en-US" dirty="0" smtClean="0">
                <a:latin typeface="Comic Sans MS" pitchFamily="66" charset="0"/>
              </a:rPr>
              <a:t>The concept of sustainable agriculture extends inter-generationally, passing on a conserved or improved natural resource, biotic, and economic base rather than one which has been depleted or polluted. </a:t>
            </a:r>
          </a:p>
          <a:p>
            <a:r>
              <a:rPr lang="en-US" dirty="0" smtClean="0">
                <a:latin typeface="Comic Sans MS" pitchFamily="66" charset="0"/>
              </a:rPr>
              <a:t>Elements of sustainable agriculture include </a:t>
            </a:r>
            <a:r>
              <a:rPr lang="en-US" dirty="0" err="1" smtClean="0">
                <a:latin typeface="Comic Sans MS" pitchFamily="66" charset="0"/>
                <a:hlinkClick r:id="rId2" tooltip="Permaculture"/>
              </a:rPr>
              <a:t>permaculture</a:t>
            </a:r>
            <a:r>
              <a:rPr lang="en-US" dirty="0" smtClean="0">
                <a:latin typeface="Comic Sans MS" pitchFamily="66" charset="0"/>
              </a:rPr>
              <a:t>, </a:t>
            </a:r>
            <a:r>
              <a:rPr lang="en-US" dirty="0" err="1" smtClean="0">
                <a:latin typeface="Comic Sans MS" pitchFamily="66" charset="0"/>
                <a:hlinkClick r:id="rId3" tooltip="Agroforestry"/>
              </a:rPr>
              <a:t>agroforestry</a:t>
            </a:r>
            <a:r>
              <a:rPr lang="en-US" dirty="0" smtClean="0">
                <a:latin typeface="Comic Sans MS" pitchFamily="66" charset="0"/>
              </a:rPr>
              <a:t>, </a:t>
            </a:r>
            <a:r>
              <a:rPr lang="en-US" dirty="0" smtClean="0">
                <a:latin typeface="Comic Sans MS" pitchFamily="66" charset="0"/>
                <a:hlinkClick r:id="rId4" tooltip="Mixed farming"/>
              </a:rPr>
              <a:t>mixed farming</a:t>
            </a:r>
            <a:r>
              <a:rPr lang="en-US" dirty="0" smtClean="0">
                <a:latin typeface="Comic Sans MS" pitchFamily="66" charset="0"/>
              </a:rPr>
              <a:t>, </a:t>
            </a:r>
            <a:r>
              <a:rPr lang="en-US" dirty="0" smtClean="0">
                <a:latin typeface="Comic Sans MS" pitchFamily="66" charset="0"/>
                <a:hlinkClick r:id="rId5" tooltip="Multiple cropping"/>
              </a:rPr>
              <a:t>multiple cropping</a:t>
            </a:r>
            <a:r>
              <a:rPr lang="en-US" dirty="0" smtClean="0">
                <a:latin typeface="Comic Sans MS" pitchFamily="66" charset="0"/>
              </a:rPr>
              <a:t>, and </a:t>
            </a:r>
            <a:r>
              <a:rPr lang="en-US" dirty="0" smtClean="0">
                <a:latin typeface="Comic Sans MS" pitchFamily="66" charset="0"/>
                <a:hlinkClick r:id="rId6" tooltip="Crop rotation"/>
              </a:rPr>
              <a:t>crop rotation</a:t>
            </a:r>
            <a:r>
              <a:rPr lang="en-US" dirty="0" smtClean="0">
                <a:latin typeface="Comic Sans MS" pitchFamily="66" charset="0"/>
              </a:rPr>
              <a:t>, </a:t>
            </a:r>
            <a:r>
              <a:rPr lang="en-US" dirty="0" smtClean="0">
                <a:solidFill>
                  <a:srgbClr val="0070C0"/>
                </a:solidFill>
                <a:latin typeface="Comic Sans MS" pitchFamily="66" charset="0"/>
              </a:rPr>
              <a:t>organic farming, use of manure/compost, etc.</a:t>
            </a:r>
          </a:p>
          <a:p>
            <a:endParaRPr lang="en-US" dirty="0" smtClean="0">
              <a:latin typeface="Comic Sans MS" pitchFamily="66" charset="0"/>
            </a:endParaRPr>
          </a:p>
          <a:p>
            <a:endParaRPr lang="en-US" dirty="0"/>
          </a:p>
        </p:txBody>
      </p:sp>
      <p:pic>
        <p:nvPicPr>
          <p:cNvPr id="4" name="Picture 3"/>
          <p:cNvPicPr/>
          <p:nvPr/>
        </p:nvPicPr>
        <p:blipFill>
          <a:blip r:embed="rId7"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5F719430-7FC1-48D1-8AB9-3CB887DBF38C}"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48</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228600" y="1066800"/>
            <a:ext cx="8686800" cy="5334000"/>
          </a:xfrm>
        </p:spPr>
        <p:txBody>
          <a:bodyPr>
            <a:normAutofit fontScale="92500" lnSpcReduction="20000"/>
          </a:bodyPr>
          <a:lstStyle/>
          <a:p>
            <a:pPr>
              <a:buNone/>
            </a:pPr>
            <a:r>
              <a:rPr lang="en-US" b="1" u="sng" dirty="0" smtClean="0">
                <a:solidFill>
                  <a:srgbClr val="0070C0"/>
                </a:solidFill>
                <a:latin typeface="Comic Sans MS" pitchFamily="66" charset="0"/>
              </a:rPr>
              <a:t>Energy</a:t>
            </a:r>
            <a:endParaRPr lang="en-US" i="1" u="sng" dirty="0">
              <a:solidFill>
                <a:srgbClr val="0070C0"/>
              </a:solidFill>
              <a:latin typeface="Comic Sans MS" pitchFamily="66" charset="0"/>
            </a:endParaRPr>
          </a:p>
          <a:p>
            <a:r>
              <a:rPr lang="en-US" dirty="0">
                <a:latin typeface="Comic Sans MS" pitchFamily="66" charset="0"/>
              </a:rPr>
              <a:t>Sustainable energy is clean and can be used over a long period of time. Unlike fossil fuels that most countries are using, renewable energy only produces little or even no </a:t>
            </a:r>
            <a:r>
              <a:rPr lang="en-US" dirty="0" smtClean="0">
                <a:latin typeface="Comic Sans MS" pitchFamily="66" charset="0"/>
              </a:rPr>
              <a:t>pollution.</a:t>
            </a:r>
          </a:p>
          <a:p>
            <a:r>
              <a:rPr lang="en-US" dirty="0" smtClean="0">
                <a:latin typeface="Comic Sans MS" pitchFamily="66" charset="0"/>
              </a:rPr>
              <a:t>The </a:t>
            </a:r>
            <a:r>
              <a:rPr lang="en-US" dirty="0">
                <a:latin typeface="Comic Sans MS" pitchFamily="66" charset="0"/>
              </a:rPr>
              <a:t>most common types of renewable </a:t>
            </a:r>
            <a:r>
              <a:rPr lang="en-US" dirty="0" smtClean="0">
                <a:latin typeface="Comic Sans MS" pitchFamily="66" charset="0"/>
              </a:rPr>
              <a:t>energy</a:t>
            </a:r>
            <a:r>
              <a:rPr lang="en-US" dirty="0">
                <a:latin typeface="Comic Sans MS" pitchFamily="66" charset="0"/>
              </a:rPr>
              <a:t> </a:t>
            </a:r>
            <a:r>
              <a:rPr lang="en-US" dirty="0" smtClean="0">
                <a:latin typeface="Comic Sans MS" pitchFamily="66" charset="0"/>
              </a:rPr>
              <a:t>are </a:t>
            </a:r>
            <a:r>
              <a:rPr lang="en-US" dirty="0">
                <a:latin typeface="Comic Sans MS" pitchFamily="66" charset="0"/>
              </a:rPr>
              <a:t>hydroelectric, solar and wind energy; </a:t>
            </a:r>
            <a:r>
              <a:rPr lang="en-US" dirty="0">
                <a:latin typeface="Comic Sans MS" pitchFamily="66" charset="0"/>
                <a:hlinkClick r:id="rId2" tooltip="Solar energy"/>
              </a:rPr>
              <a:t>solar energy</a:t>
            </a:r>
            <a:r>
              <a:rPr lang="en-US" dirty="0">
                <a:latin typeface="Comic Sans MS" pitchFamily="66" charset="0"/>
              </a:rPr>
              <a:t> </a:t>
            </a:r>
            <a:r>
              <a:rPr lang="en-US" dirty="0" smtClean="0">
                <a:latin typeface="Comic Sans MS" pitchFamily="66" charset="0"/>
              </a:rPr>
              <a:t>can commonly be used for heating water,  </a:t>
            </a:r>
            <a:r>
              <a:rPr lang="en-US" dirty="0">
                <a:latin typeface="Comic Sans MS" pitchFamily="66" charset="0"/>
              </a:rPr>
              <a:t>street lights and </a:t>
            </a:r>
            <a:r>
              <a:rPr lang="en-US" dirty="0" smtClean="0">
                <a:latin typeface="Comic Sans MS" pitchFamily="66" charset="0"/>
              </a:rPr>
              <a:t>lighting in </a:t>
            </a:r>
            <a:r>
              <a:rPr lang="en-US" dirty="0" err="1" smtClean="0">
                <a:latin typeface="Comic Sans MS" pitchFamily="66" charset="0"/>
              </a:rPr>
              <a:t>houses.</a:t>
            </a:r>
            <a:r>
              <a:rPr lang="en-US" dirty="0" err="1" smtClean="0">
                <a:latin typeface="Comic Sans MS" pitchFamily="66" charset="0"/>
                <a:hlinkClick r:id="rId3" tooltip="Wind power"/>
              </a:rPr>
              <a:t>Wind</a:t>
            </a:r>
            <a:r>
              <a:rPr lang="en-US" dirty="0" smtClean="0">
                <a:latin typeface="Comic Sans MS" pitchFamily="66" charset="0"/>
                <a:hlinkClick r:id="rId3" tooltip="Wind power"/>
              </a:rPr>
              <a:t> </a:t>
            </a:r>
            <a:r>
              <a:rPr lang="en-US" dirty="0">
                <a:latin typeface="Comic Sans MS" pitchFamily="66" charset="0"/>
                <a:hlinkClick r:id="rId3" tooltip="Wind power"/>
              </a:rPr>
              <a:t>power</a:t>
            </a:r>
            <a:r>
              <a:rPr lang="en-US" dirty="0">
                <a:latin typeface="Comic Sans MS" pitchFamily="66" charset="0"/>
              </a:rPr>
              <a:t> has expanded quickly, it's share of worldwide electricity usage at the end of 2014 was 3.1</a:t>
            </a:r>
            <a:r>
              <a:rPr lang="en-US" dirty="0" smtClean="0">
                <a:latin typeface="Comic Sans MS" pitchFamily="66" charset="0"/>
              </a:rPr>
              <a:t>%.</a:t>
            </a:r>
          </a:p>
        </p:txBody>
      </p:sp>
      <p:pic>
        <p:nvPicPr>
          <p:cNvPr id="4" name="Picture 3"/>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2E87330-FD2A-47DB-8309-F78B24E7D652}"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49</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457200" y="1066800"/>
            <a:ext cx="8229600" cy="5410200"/>
          </a:xfrm>
        </p:spPr>
        <p:txBody>
          <a:bodyPr>
            <a:normAutofit/>
          </a:bodyPr>
          <a:lstStyle/>
          <a:p>
            <a:pPr>
              <a:buNone/>
            </a:pPr>
            <a:r>
              <a:rPr lang="en-US" b="1" u="sng" dirty="0" smtClean="0">
                <a:solidFill>
                  <a:srgbClr val="0070C0"/>
                </a:solidFill>
                <a:latin typeface="Comic Sans MS" pitchFamily="66" charset="0"/>
              </a:rPr>
              <a:t>Business</a:t>
            </a:r>
            <a:endParaRPr lang="en-US" b="1" u="sng" dirty="0">
              <a:solidFill>
                <a:srgbClr val="0070C0"/>
              </a:solidFill>
              <a:latin typeface="Comic Sans MS" pitchFamily="66" charset="0"/>
            </a:endParaRPr>
          </a:p>
          <a:p>
            <a:pPr>
              <a:buNone/>
            </a:pPr>
            <a:r>
              <a:rPr lang="en-US" b="1" dirty="0" smtClean="0">
                <a:solidFill>
                  <a:srgbClr val="0070C0"/>
                </a:solidFill>
                <a:latin typeface="Comic Sans MS" pitchFamily="66" charset="0"/>
              </a:rPr>
              <a:t>The </a:t>
            </a:r>
            <a:r>
              <a:rPr lang="en-US" b="1" dirty="0">
                <a:solidFill>
                  <a:srgbClr val="0070C0"/>
                </a:solidFill>
                <a:latin typeface="Comic Sans MS" pitchFamily="66" charset="0"/>
              </a:rPr>
              <a:t>most broadly accepted criterion for corporate sustainability constitutes a firm’s efficient use of natural capital. This </a:t>
            </a:r>
            <a:r>
              <a:rPr lang="en-US" b="1" dirty="0">
                <a:solidFill>
                  <a:srgbClr val="0070C0"/>
                </a:solidFill>
                <a:latin typeface="Comic Sans MS" pitchFamily="66" charset="0"/>
                <a:hlinkClick r:id="rId2" tooltip="Eco-efficiency"/>
              </a:rPr>
              <a:t>eco-efficiency</a:t>
            </a:r>
            <a:r>
              <a:rPr lang="en-US" b="1" dirty="0">
                <a:solidFill>
                  <a:srgbClr val="0070C0"/>
                </a:solidFill>
                <a:latin typeface="Comic Sans MS" pitchFamily="66" charset="0"/>
              </a:rPr>
              <a:t> is usually calculated as the economic value added by a firm in relation to its aggregated ecological impact</a:t>
            </a:r>
            <a:r>
              <a:rPr lang="en-US" b="1" dirty="0" smtClean="0">
                <a:solidFill>
                  <a:srgbClr val="0070C0"/>
                </a:solidFill>
                <a:latin typeface="Comic Sans MS" pitchFamily="66" charset="0"/>
              </a:rPr>
              <a:t>.</a:t>
            </a:r>
            <a:r>
              <a:rPr lang="en-US" b="1" dirty="0">
                <a:solidFill>
                  <a:srgbClr val="0070C0"/>
                </a:solidFill>
                <a:latin typeface="Comic Sans MS" pitchFamily="66" charset="0"/>
              </a:rPr>
              <a:t> </a:t>
            </a:r>
            <a:endParaRPr lang="en-US" b="1" dirty="0" smtClean="0">
              <a:solidFill>
                <a:srgbClr val="0070C0"/>
              </a:solidFill>
              <a:latin typeface="Comic Sans MS" pitchFamily="66" charset="0"/>
            </a:endParaRP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279C7D31-1295-4735-8244-00F08817F52C}"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50</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a:bodyPr>
          <a:lstStyle/>
          <a:p>
            <a:r>
              <a:rPr lang="en-US" sz="3200" b="1" dirty="0" smtClean="0">
                <a:solidFill>
                  <a:srgbClr val="0070C0"/>
                </a:solidFill>
                <a:latin typeface="Comic Sans MS" pitchFamily="66" charset="0"/>
              </a:rPr>
              <a:t>World Business Council for Sustainable Development (WBCSD)</a:t>
            </a:r>
            <a:endParaRPr lang="en-IN" sz="3200" b="1" dirty="0">
              <a:solidFill>
                <a:srgbClr val="0070C0"/>
              </a:solidFill>
            </a:endParaRPr>
          </a:p>
        </p:txBody>
      </p:sp>
      <p:sp>
        <p:nvSpPr>
          <p:cNvPr id="3" name="Content Placeholder 2"/>
          <p:cNvSpPr>
            <a:spLocks noGrp="1"/>
          </p:cNvSpPr>
          <p:nvPr>
            <p:ph idx="1"/>
          </p:nvPr>
        </p:nvSpPr>
        <p:spPr>
          <a:xfrm>
            <a:off x="228600" y="1600200"/>
            <a:ext cx="8610600" cy="4876800"/>
          </a:xfrm>
        </p:spPr>
        <p:txBody>
          <a:bodyPr>
            <a:normAutofit fontScale="92500" lnSpcReduction="10000"/>
          </a:bodyPr>
          <a:lstStyle/>
          <a:p>
            <a:pPr>
              <a:buNone/>
            </a:pPr>
            <a:r>
              <a:rPr lang="en-US" dirty="0" smtClean="0">
                <a:latin typeface="Comic Sans MS" pitchFamily="66" charset="0"/>
              </a:rPr>
              <a:t>This idea has been </a:t>
            </a:r>
            <a:r>
              <a:rPr lang="en-US" dirty="0" smtClean="0">
                <a:latin typeface="Comic Sans MS" pitchFamily="66" charset="0"/>
              </a:rPr>
              <a:t>popularized </a:t>
            </a:r>
            <a:r>
              <a:rPr lang="en-US" dirty="0" smtClean="0">
                <a:latin typeface="Comic Sans MS" pitchFamily="66" charset="0"/>
              </a:rPr>
              <a:t>by the World Business Council for Sustainable Development (WBCSD) under the following definition: </a:t>
            </a:r>
            <a:endParaRPr lang="en-US" dirty="0" smtClean="0">
              <a:latin typeface="Comic Sans MS" pitchFamily="66" charset="0"/>
            </a:endParaRPr>
          </a:p>
          <a:p>
            <a:pPr>
              <a:buNone/>
            </a:pPr>
            <a:r>
              <a:rPr lang="en-US" i="1" dirty="0" smtClean="0">
                <a:solidFill>
                  <a:srgbClr val="0070C0"/>
                </a:solidFill>
                <a:latin typeface="Comic Sans MS" pitchFamily="66" charset="0"/>
              </a:rPr>
              <a:t>"</a:t>
            </a:r>
            <a:r>
              <a:rPr lang="en-US" i="1" dirty="0" smtClean="0">
                <a:solidFill>
                  <a:srgbClr val="0070C0"/>
                </a:solidFill>
                <a:latin typeface="Comic Sans MS" pitchFamily="66" charset="0"/>
              </a:rPr>
              <a:t>Eco-efficiency is achieved by the delivery of competitively priced goods and services that satisfy human needs and bring quality of life, while progressively reducing ecological impacts and resource intensity throughout the life-cycle to a level at least in line with the earth’s carrying capacity." </a:t>
            </a:r>
          </a:p>
          <a:p>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FF71F657-969E-4843-A454-83CF24C165FE}"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51</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457200" y="1066800"/>
            <a:ext cx="8229600" cy="5410200"/>
          </a:xfrm>
        </p:spPr>
        <p:txBody>
          <a:bodyPr>
            <a:normAutofit/>
          </a:bodyPr>
          <a:lstStyle/>
          <a:p>
            <a:pPr>
              <a:buNone/>
            </a:pPr>
            <a:r>
              <a:rPr lang="en-US" b="1" u="sng" dirty="0" smtClean="0">
                <a:solidFill>
                  <a:srgbClr val="FF0000"/>
                </a:solidFill>
                <a:latin typeface="Comic Sans MS" pitchFamily="66" charset="0"/>
              </a:rPr>
              <a:t>Business</a:t>
            </a:r>
            <a:endParaRPr lang="en-US" b="1" u="sng" dirty="0">
              <a:solidFill>
                <a:srgbClr val="FF0000"/>
              </a:solidFill>
              <a:latin typeface="Comic Sans MS" pitchFamily="66" charset="0"/>
            </a:endParaRPr>
          </a:p>
          <a:p>
            <a:pPr>
              <a:buNone/>
            </a:pPr>
            <a:r>
              <a:rPr lang="en-US" b="1" dirty="0" smtClean="0">
                <a:solidFill>
                  <a:srgbClr val="0070C0"/>
                </a:solidFill>
                <a:latin typeface="Comic Sans MS" pitchFamily="66" charset="0"/>
              </a:rPr>
              <a:t>The </a:t>
            </a:r>
            <a:r>
              <a:rPr lang="en-US" b="1" dirty="0">
                <a:solidFill>
                  <a:srgbClr val="0070C0"/>
                </a:solidFill>
                <a:latin typeface="Comic Sans MS" pitchFamily="66" charset="0"/>
              </a:rPr>
              <a:t>most broadly accepted criterion for corporate sustainability constitutes a firm’s efficient use of natural capital. This </a:t>
            </a:r>
            <a:r>
              <a:rPr lang="en-US" b="1" dirty="0">
                <a:solidFill>
                  <a:srgbClr val="0070C0"/>
                </a:solidFill>
                <a:latin typeface="Comic Sans MS" pitchFamily="66" charset="0"/>
                <a:hlinkClick r:id="rId2" tooltip="Eco-efficiency"/>
              </a:rPr>
              <a:t>eco-efficiency</a:t>
            </a:r>
            <a:r>
              <a:rPr lang="en-US" b="1" dirty="0">
                <a:solidFill>
                  <a:srgbClr val="0070C0"/>
                </a:solidFill>
                <a:latin typeface="Comic Sans MS" pitchFamily="66" charset="0"/>
              </a:rPr>
              <a:t> is usually calculated as the economic value added by a firm in relation to its aggregated ecological impact</a:t>
            </a:r>
            <a:r>
              <a:rPr lang="en-US" b="1" dirty="0" smtClean="0">
                <a:solidFill>
                  <a:srgbClr val="0070C0"/>
                </a:solidFill>
                <a:latin typeface="Comic Sans MS" pitchFamily="66" charset="0"/>
              </a:rPr>
              <a:t>.</a:t>
            </a:r>
            <a:r>
              <a:rPr lang="en-US" b="1" dirty="0">
                <a:solidFill>
                  <a:srgbClr val="0070C0"/>
                </a:solidFill>
                <a:latin typeface="Comic Sans MS" pitchFamily="66" charset="0"/>
              </a:rPr>
              <a:t> </a:t>
            </a:r>
            <a:endParaRPr lang="en-US" b="1" dirty="0" smtClean="0">
              <a:solidFill>
                <a:srgbClr val="0070C0"/>
              </a:solidFill>
              <a:latin typeface="Comic Sans MS" pitchFamily="66" charset="0"/>
            </a:endParaRP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447F4E2C-BD40-48A8-9B0C-83FCFE152F22}"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52</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IN" dirty="0">
              <a:solidFill>
                <a:srgbClr val="0070C0"/>
              </a:solidFill>
            </a:endParaRPr>
          </a:p>
        </p:txBody>
      </p:sp>
      <p:sp>
        <p:nvSpPr>
          <p:cNvPr id="3" name="Content Placeholder 2"/>
          <p:cNvSpPr>
            <a:spLocks noGrp="1"/>
          </p:cNvSpPr>
          <p:nvPr>
            <p:ph idx="1"/>
          </p:nvPr>
        </p:nvSpPr>
        <p:spPr>
          <a:xfrm>
            <a:off x="228600" y="1600200"/>
            <a:ext cx="8686800" cy="4800600"/>
          </a:xfrm>
        </p:spPr>
        <p:txBody>
          <a:bodyPr>
            <a:normAutofit fontScale="92500" lnSpcReduction="20000"/>
          </a:bodyPr>
          <a:lstStyle/>
          <a:p>
            <a:pPr>
              <a:buNone/>
            </a:pPr>
            <a:r>
              <a:rPr lang="en-US" b="1" u="sng" dirty="0" smtClean="0">
                <a:solidFill>
                  <a:srgbClr val="FF0000"/>
                </a:solidFill>
                <a:latin typeface="Comic Sans MS" pitchFamily="66" charset="0"/>
              </a:rPr>
              <a:t>Business</a:t>
            </a:r>
            <a:endParaRPr lang="en-US" dirty="0" smtClean="0">
              <a:latin typeface="Comic Sans MS" pitchFamily="66" charset="0"/>
            </a:endParaRPr>
          </a:p>
          <a:p>
            <a:r>
              <a:rPr lang="en-US" dirty="0" smtClean="0">
                <a:latin typeface="Comic Sans MS" pitchFamily="66" charset="0"/>
              </a:rPr>
              <a:t>This idea has been </a:t>
            </a:r>
            <a:r>
              <a:rPr lang="en-US" dirty="0" err="1" smtClean="0">
                <a:latin typeface="Comic Sans MS" pitchFamily="66" charset="0"/>
              </a:rPr>
              <a:t>popularised</a:t>
            </a:r>
            <a:r>
              <a:rPr lang="en-US" dirty="0" smtClean="0">
                <a:latin typeface="Comic Sans MS" pitchFamily="66" charset="0"/>
              </a:rPr>
              <a:t> by the World Business Council for Sustainable Development (</a:t>
            </a:r>
            <a:r>
              <a:rPr lang="en-US" dirty="0" smtClean="0">
                <a:latin typeface="Comic Sans MS" pitchFamily="66" charset="0"/>
                <a:hlinkClick r:id="rId2" tooltip="WBCSD"/>
              </a:rPr>
              <a:t>WBCSD</a:t>
            </a:r>
            <a:r>
              <a:rPr lang="en-US" dirty="0" smtClean="0">
                <a:latin typeface="Comic Sans MS" pitchFamily="66" charset="0"/>
              </a:rPr>
              <a:t>) under the following definition: </a:t>
            </a:r>
          </a:p>
          <a:p>
            <a:r>
              <a:rPr lang="en-US" dirty="0" smtClean="0">
                <a:latin typeface="Comic Sans MS" pitchFamily="66" charset="0"/>
              </a:rPr>
              <a:t>"</a:t>
            </a:r>
            <a:r>
              <a:rPr lang="en-US" b="1" i="1" dirty="0" smtClean="0">
                <a:solidFill>
                  <a:srgbClr val="0070C0"/>
                </a:solidFill>
                <a:latin typeface="Comic Sans MS" pitchFamily="66" charset="0"/>
              </a:rPr>
              <a:t>Eco-efficiency </a:t>
            </a:r>
            <a:r>
              <a:rPr lang="en-US" i="1" dirty="0" smtClean="0">
                <a:solidFill>
                  <a:srgbClr val="0070C0"/>
                </a:solidFill>
                <a:latin typeface="Comic Sans MS" pitchFamily="66" charset="0"/>
              </a:rPr>
              <a:t>is achieved by the delivery of competitively priced goods and services that satisfy human needs and bring quality of life, while progressively reducing ecological impacts and </a:t>
            </a:r>
            <a:r>
              <a:rPr lang="en-US" i="1" dirty="0" smtClean="0">
                <a:solidFill>
                  <a:srgbClr val="0070C0"/>
                </a:solidFill>
                <a:latin typeface="Comic Sans MS" pitchFamily="66" charset="0"/>
                <a:hlinkClick r:id="rId3" tooltip="Resource intensity"/>
              </a:rPr>
              <a:t>resource intensity</a:t>
            </a:r>
            <a:r>
              <a:rPr lang="en-US" i="1" dirty="0" smtClean="0">
                <a:solidFill>
                  <a:srgbClr val="0070C0"/>
                </a:solidFill>
                <a:latin typeface="Comic Sans MS" pitchFamily="66" charset="0"/>
              </a:rPr>
              <a:t> throughout the life-cycle to a level at least in line with the earth’s carrying capacity." </a:t>
            </a:r>
            <a:r>
              <a:rPr lang="en-US" dirty="0" smtClean="0">
                <a:latin typeface="Comic Sans MS" pitchFamily="66" charset="0"/>
              </a:rPr>
              <a:t>(</a:t>
            </a:r>
            <a:r>
              <a:rPr lang="en-US" dirty="0" err="1" smtClean="0">
                <a:latin typeface="Comic Sans MS" pitchFamily="66" charset="0"/>
              </a:rPr>
              <a:t>DeSimone</a:t>
            </a:r>
            <a:r>
              <a:rPr lang="en-US" dirty="0" smtClean="0">
                <a:latin typeface="Comic Sans MS" pitchFamily="66" charset="0"/>
              </a:rPr>
              <a:t> and </a:t>
            </a:r>
            <a:r>
              <a:rPr lang="en-US" dirty="0" err="1" smtClean="0">
                <a:latin typeface="Comic Sans MS" pitchFamily="66" charset="0"/>
              </a:rPr>
              <a:t>Popoff</a:t>
            </a:r>
            <a:r>
              <a:rPr lang="en-US" dirty="0" smtClean="0">
                <a:latin typeface="Comic Sans MS" pitchFamily="66" charset="0"/>
              </a:rPr>
              <a:t>, 1997: 47)</a:t>
            </a:r>
          </a:p>
          <a:p>
            <a:endParaRPr lang="en-IN" dirty="0"/>
          </a:p>
        </p:txBody>
      </p:sp>
      <p:pic>
        <p:nvPicPr>
          <p:cNvPr id="4" name="Picture 3"/>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E12E78F5-2C63-4E12-BFED-5E7E04E23861}"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53</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143000"/>
            <a:ext cx="8534400" cy="5257800"/>
          </a:xfrm>
        </p:spPr>
        <p:txBody>
          <a:bodyPr>
            <a:normAutofit lnSpcReduction="10000"/>
          </a:bodyPr>
          <a:lstStyle/>
          <a:p>
            <a:r>
              <a:rPr lang="en-US" dirty="0" smtClean="0">
                <a:latin typeface="Comic Sans MS" pitchFamily="66" charset="0"/>
              </a:rPr>
              <a:t>Similar to the eco-efficiency concept but so far less explored is the second criterion for </a:t>
            </a:r>
            <a:r>
              <a:rPr lang="en-US" b="1" dirty="0" smtClean="0">
                <a:solidFill>
                  <a:srgbClr val="0070C0"/>
                </a:solidFill>
                <a:latin typeface="Comic Sans MS" pitchFamily="66" charset="0"/>
              </a:rPr>
              <a:t>corporate sustainability.</a:t>
            </a:r>
          </a:p>
          <a:p>
            <a:r>
              <a:rPr lang="en-US" b="1" dirty="0" smtClean="0">
                <a:solidFill>
                  <a:srgbClr val="FF0000"/>
                </a:solidFill>
                <a:latin typeface="Comic Sans MS" pitchFamily="66" charset="0"/>
              </a:rPr>
              <a:t>Socio-efficiency </a:t>
            </a:r>
            <a:r>
              <a:rPr lang="en-US" b="1" dirty="0" smtClean="0">
                <a:solidFill>
                  <a:srgbClr val="0070C0"/>
                </a:solidFill>
                <a:latin typeface="Comic Sans MS" pitchFamily="66" charset="0"/>
              </a:rPr>
              <a:t>describes the relation between a firm's value added and its social impact. </a:t>
            </a:r>
          </a:p>
          <a:p>
            <a:r>
              <a:rPr lang="en-US" dirty="0" smtClean="0">
                <a:latin typeface="Comic Sans MS" pitchFamily="66" charset="0"/>
              </a:rPr>
              <a:t>Whereas, it can be assumed that most corporate impacts on the environment are negative (apart from rare exceptions such as the planting of trees) this is not true for social impacts. </a:t>
            </a: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39BDCF2D-9910-4660-9F01-9F9EB195FDE3}"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54</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143000"/>
            <a:ext cx="8534400" cy="5257800"/>
          </a:xfrm>
        </p:spPr>
        <p:txBody>
          <a:bodyPr>
            <a:normAutofit lnSpcReduction="10000"/>
          </a:bodyPr>
          <a:lstStyle/>
          <a:p>
            <a:r>
              <a:rPr lang="en-US" dirty="0" smtClean="0">
                <a:latin typeface="Comic Sans MS" pitchFamily="66" charset="0"/>
              </a:rPr>
              <a:t>Similar to the eco-efficiency concept but so far less explored is the second criterion for corporate sustainability. </a:t>
            </a:r>
            <a:r>
              <a:rPr lang="en-US" dirty="0" smtClean="0">
                <a:solidFill>
                  <a:srgbClr val="FF0000"/>
                </a:solidFill>
                <a:latin typeface="Comic Sans MS" pitchFamily="66" charset="0"/>
              </a:rPr>
              <a:t>Socio-efficiency </a:t>
            </a:r>
            <a:r>
              <a:rPr lang="en-US" dirty="0" smtClean="0">
                <a:latin typeface="Comic Sans MS" pitchFamily="66" charset="0"/>
              </a:rPr>
              <a:t>describes the relation between a firm's value added and its social impact. </a:t>
            </a:r>
          </a:p>
          <a:p>
            <a:r>
              <a:rPr lang="en-US" dirty="0" smtClean="0">
                <a:latin typeface="Comic Sans MS" pitchFamily="66" charset="0"/>
              </a:rPr>
              <a:t>Whereas, it can be assumed that most corporate impacts on the environment are negative (apart from rare exceptions such as the planting of trees) this is not true for social impacts. </a:t>
            </a: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AE2DE8C3-1E3C-4595-AA20-DCC9D737654F}"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55</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143000"/>
            <a:ext cx="8534400" cy="5334000"/>
          </a:xfrm>
        </p:spPr>
        <p:txBody>
          <a:bodyPr>
            <a:normAutofit/>
          </a:bodyPr>
          <a:lstStyle/>
          <a:p>
            <a:r>
              <a:rPr lang="en-US" dirty="0" smtClean="0">
                <a:latin typeface="Comic Sans MS" pitchFamily="66" charset="0"/>
              </a:rPr>
              <a:t>These can be either positive (e.g. corporate giving, creation of employment) or negative (e.g. work accidents, mobbing of employees, human rights abuses). </a:t>
            </a:r>
          </a:p>
          <a:p>
            <a:r>
              <a:rPr lang="en-US" dirty="0" smtClean="0">
                <a:latin typeface="Comic Sans MS" pitchFamily="66" charset="0"/>
              </a:rPr>
              <a:t>Depending on the type of impact </a:t>
            </a:r>
            <a:r>
              <a:rPr lang="en-US" b="1" dirty="0" smtClean="0">
                <a:latin typeface="Comic Sans MS" pitchFamily="66" charset="0"/>
              </a:rPr>
              <a:t>socio-efficiency </a:t>
            </a:r>
            <a:r>
              <a:rPr lang="en-US" dirty="0" smtClean="0">
                <a:latin typeface="Comic Sans MS" pitchFamily="66" charset="0"/>
              </a:rPr>
              <a:t>thus either tries to minimize negative social impacts (i.e. accidents per value added) or </a:t>
            </a:r>
            <a:r>
              <a:rPr lang="en-US" dirty="0" err="1" smtClean="0">
                <a:latin typeface="Comic Sans MS" pitchFamily="66" charset="0"/>
              </a:rPr>
              <a:t>maximise</a:t>
            </a:r>
            <a:r>
              <a:rPr lang="en-US" dirty="0" smtClean="0">
                <a:latin typeface="Comic Sans MS" pitchFamily="66" charset="0"/>
              </a:rPr>
              <a:t> positive social impacts (i.e. donations per value added) in relation to the value added.</a:t>
            </a:r>
          </a:p>
          <a:p>
            <a:endParaRPr lang="en-US" dirty="0" smtClean="0">
              <a:latin typeface="Comic Sans MS" pitchFamily="66" charset="0"/>
            </a:endParaRPr>
          </a:p>
          <a:p>
            <a:endParaRPr lang="en-US"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6B1B7F30-75AA-488F-9092-CC73564C8B22}"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Sustainable transport</a:t>
            </a:r>
            <a:endParaRPr lang="en-IN" dirty="0">
              <a:solidFill>
                <a:srgbClr val="0070C0"/>
              </a:solidFill>
            </a:endParaRPr>
          </a:p>
        </p:txBody>
      </p:sp>
      <p:sp>
        <p:nvSpPr>
          <p:cNvPr id="3" name="Content Placeholder 2"/>
          <p:cNvSpPr>
            <a:spLocks noGrp="1"/>
          </p:cNvSpPr>
          <p:nvPr>
            <p:ph idx="1"/>
          </p:nvPr>
        </p:nvSpPr>
        <p:spPr>
          <a:xfrm>
            <a:off x="228600" y="1371600"/>
            <a:ext cx="8686800" cy="5105400"/>
          </a:xfrm>
        </p:spPr>
        <p:txBody>
          <a:bodyPr>
            <a:normAutofit fontScale="92500" lnSpcReduction="20000"/>
          </a:bodyPr>
          <a:lstStyle/>
          <a:p>
            <a:r>
              <a:rPr lang="en-GB" b="1" dirty="0" smtClean="0"/>
              <a:t>Sustainable transport</a:t>
            </a:r>
            <a:r>
              <a:rPr lang="en-GB" dirty="0" smtClean="0"/>
              <a:t> refers to the broad subject of transport that is sustainable in the senses of social, environmental and climate impacts and the ability to, in the global scope, supply the source energy indefinitely. </a:t>
            </a:r>
            <a:endParaRPr lang="en-GB" dirty="0" smtClean="0"/>
          </a:p>
          <a:p>
            <a:r>
              <a:rPr lang="en-GB" dirty="0" smtClean="0"/>
              <a:t>Components </a:t>
            </a:r>
            <a:r>
              <a:rPr lang="en-GB" dirty="0" smtClean="0"/>
              <a:t>for evaluating sustainability include the particular vehicles used for road, water or air transport; the source of energy; and the infrastructure used to accommodate the transport (roads, railways, airways, waterways, canals and terminals).</a:t>
            </a:r>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39B20628-80EE-41D7-8BDE-29F56E954038}"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Sustainable transport systems</a:t>
            </a:r>
            <a:endParaRPr lang="en-IN" b="1" dirty="0">
              <a:solidFill>
                <a:srgbClr val="0070C0"/>
              </a:solidFill>
            </a:endParaRPr>
          </a:p>
        </p:txBody>
      </p:sp>
      <p:sp>
        <p:nvSpPr>
          <p:cNvPr id="3" name="Content Placeholder 2"/>
          <p:cNvSpPr>
            <a:spLocks noGrp="1"/>
          </p:cNvSpPr>
          <p:nvPr>
            <p:ph idx="1"/>
          </p:nvPr>
        </p:nvSpPr>
        <p:spPr>
          <a:xfrm>
            <a:off x="228600" y="1295400"/>
            <a:ext cx="8610600" cy="5257800"/>
          </a:xfrm>
        </p:spPr>
        <p:txBody>
          <a:bodyPr>
            <a:normAutofit fontScale="92500" lnSpcReduction="10000"/>
          </a:bodyPr>
          <a:lstStyle/>
          <a:p>
            <a:r>
              <a:rPr lang="en-GB" b="1" dirty="0" smtClean="0"/>
              <a:t>Sustainable transport systems </a:t>
            </a:r>
            <a:r>
              <a:rPr lang="en-GB" dirty="0" smtClean="0"/>
              <a:t>make a positive contribution to the environmental, social and economic sustainability of the communities they serve. </a:t>
            </a:r>
            <a:endParaRPr lang="en-GB" dirty="0" smtClean="0"/>
          </a:p>
          <a:p>
            <a:r>
              <a:rPr lang="en-GB" dirty="0" smtClean="0"/>
              <a:t>Transport </a:t>
            </a:r>
            <a:r>
              <a:rPr lang="en-GB" dirty="0" smtClean="0"/>
              <a:t>systems exist to provide social and economic connections, and people quickly take up the opportunities offered by increased mobility</a:t>
            </a:r>
            <a:r>
              <a:rPr lang="en-GB" dirty="0" smtClean="0"/>
              <a:t>,</a:t>
            </a:r>
            <a:r>
              <a:rPr lang="en-GB" dirty="0" smtClean="0"/>
              <a:t> with poor households benefiting greatly from low carbon transport options</a:t>
            </a:r>
            <a:r>
              <a:rPr lang="en-GB" dirty="0" smtClean="0"/>
              <a:t>.</a:t>
            </a:r>
            <a:r>
              <a:rPr lang="en-GB" dirty="0" smtClean="0"/>
              <a:t> </a:t>
            </a:r>
            <a:endParaRPr lang="en-GB" dirty="0" smtClean="0"/>
          </a:p>
          <a:p>
            <a:r>
              <a:rPr lang="en-GB" dirty="0" smtClean="0"/>
              <a:t>The </a:t>
            </a:r>
            <a:r>
              <a:rPr lang="en-GB" dirty="0" smtClean="0"/>
              <a:t>advantages of increased mobility need to be weighed against the environmental, social and economic costs that transport systems pose.</a:t>
            </a:r>
            <a:endParaRPr lang="en-IN"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A20C7E22-36A0-45E9-B70C-CAE613C645AD}"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58</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066800"/>
            <a:ext cx="8534400" cy="5334000"/>
          </a:xfrm>
        </p:spPr>
        <p:txBody>
          <a:bodyPr>
            <a:normAutofit/>
          </a:bodyPr>
          <a:lstStyle/>
          <a:p>
            <a:pPr>
              <a:buNone/>
            </a:pPr>
            <a:r>
              <a:rPr lang="en-US" b="1" u="sng" dirty="0" smtClean="0">
                <a:latin typeface="Comic Sans MS" pitchFamily="66" charset="0"/>
              </a:rPr>
              <a:t>Architecture</a:t>
            </a:r>
            <a:endParaRPr lang="en-US" i="1" u="sng" dirty="0">
              <a:latin typeface="Comic Sans MS" pitchFamily="66" charset="0"/>
            </a:endParaRPr>
          </a:p>
          <a:p>
            <a:r>
              <a:rPr lang="en-US" dirty="0">
                <a:latin typeface="Comic Sans MS" pitchFamily="66" charset="0"/>
              </a:rPr>
              <a:t>In sustainable architecture the recent movements of </a:t>
            </a:r>
            <a:r>
              <a:rPr lang="en-US" dirty="0">
                <a:latin typeface="Comic Sans MS" pitchFamily="66" charset="0"/>
                <a:hlinkClick r:id="rId2" tooltip="New Urbanism"/>
              </a:rPr>
              <a:t>New Urbanism</a:t>
            </a:r>
            <a:r>
              <a:rPr lang="en-US" dirty="0">
                <a:latin typeface="Comic Sans MS" pitchFamily="66" charset="0"/>
              </a:rPr>
              <a:t> and </a:t>
            </a:r>
            <a:r>
              <a:rPr lang="en-US" dirty="0">
                <a:latin typeface="Comic Sans MS" pitchFamily="66" charset="0"/>
                <a:hlinkClick r:id="rId3" tooltip="New Classical architecture"/>
              </a:rPr>
              <a:t>New Classical architecture</a:t>
            </a:r>
            <a:r>
              <a:rPr lang="en-US" dirty="0">
                <a:latin typeface="Comic Sans MS" pitchFamily="66" charset="0"/>
              </a:rPr>
              <a:t> promote a sustainable approach towards construction, that appreciates and develops </a:t>
            </a:r>
            <a:r>
              <a:rPr lang="en-US" dirty="0">
                <a:latin typeface="Comic Sans MS" pitchFamily="66" charset="0"/>
                <a:hlinkClick r:id="rId4" tooltip="Smart growth"/>
              </a:rPr>
              <a:t>smart growth</a:t>
            </a:r>
            <a:r>
              <a:rPr lang="en-US" dirty="0">
                <a:latin typeface="Comic Sans MS" pitchFamily="66" charset="0"/>
              </a:rPr>
              <a:t>, </a:t>
            </a:r>
            <a:r>
              <a:rPr lang="en-US" dirty="0">
                <a:latin typeface="Comic Sans MS" pitchFamily="66" charset="0"/>
                <a:hlinkClick r:id="rId5" tooltip="Vernacular architecture"/>
              </a:rPr>
              <a:t>architectural tradition</a:t>
            </a:r>
            <a:r>
              <a:rPr lang="en-US" dirty="0">
                <a:latin typeface="Comic Sans MS" pitchFamily="66" charset="0"/>
              </a:rPr>
              <a:t> and </a:t>
            </a:r>
            <a:r>
              <a:rPr lang="en-US" dirty="0">
                <a:latin typeface="Comic Sans MS" pitchFamily="66" charset="0"/>
                <a:hlinkClick r:id="rId6" tooltip="Classical architecture"/>
              </a:rPr>
              <a:t>classical design</a:t>
            </a:r>
            <a:r>
              <a:rPr lang="en-US" dirty="0" smtClean="0">
                <a:latin typeface="Comic Sans MS" pitchFamily="66" charset="0"/>
              </a:rPr>
              <a:t>.</a:t>
            </a:r>
            <a:r>
              <a:rPr lang="en-US" dirty="0">
                <a:latin typeface="Comic Sans MS" pitchFamily="66" charset="0"/>
              </a:rPr>
              <a:t> </a:t>
            </a:r>
            <a:endParaRPr lang="en-US" dirty="0" smtClean="0">
              <a:latin typeface="Comic Sans MS" pitchFamily="66" charset="0"/>
            </a:endParaRPr>
          </a:p>
          <a:p>
            <a:endParaRPr lang="en-US" dirty="0">
              <a:latin typeface="Comic Sans MS" pitchFamily="66" charset="0"/>
            </a:endParaRPr>
          </a:p>
        </p:txBody>
      </p:sp>
      <p:pic>
        <p:nvPicPr>
          <p:cNvPr id="4" name="Picture 3"/>
          <p:cNvPicPr/>
          <p:nvPr/>
        </p:nvPicPr>
        <p:blipFill>
          <a:blip r:embed="rId7"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86594F48-9927-44A5-8C47-5F3A0C6A4E9A}"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59</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0070C0"/>
                </a:solidFill>
                <a:latin typeface="Comic Sans MS" pitchFamily="66" charset="0"/>
              </a:rPr>
              <a:t>Sustainable Development</a:t>
            </a:r>
            <a:r>
              <a:rPr lang="en-US" dirty="0" smtClean="0">
                <a:solidFill>
                  <a:srgbClr val="0070C0"/>
                </a:solidFill>
                <a:latin typeface="Comic Sans MS" pitchFamily="66" charset="0"/>
              </a:rPr>
              <a:t> (</a:t>
            </a:r>
            <a:r>
              <a:rPr lang="en-US" b="1" dirty="0" smtClean="0">
                <a:solidFill>
                  <a:srgbClr val="0070C0"/>
                </a:solidFill>
                <a:latin typeface="Comic Sans MS" pitchFamily="66" charset="0"/>
              </a:rPr>
              <a:t>SD</a:t>
            </a:r>
            <a:r>
              <a:rPr lang="en-US" dirty="0" smtClean="0">
                <a:solidFill>
                  <a:srgbClr val="0070C0"/>
                </a:solidFill>
                <a:latin typeface="Comic Sans MS" pitchFamily="66" charset="0"/>
              </a:rPr>
              <a:t>)</a:t>
            </a:r>
            <a:endParaRPr lang="en-US" dirty="0">
              <a:solidFill>
                <a:srgbClr val="0070C0"/>
              </a:solidFill>
            </a:endParaRPr>
          </a:p>
        </p:txBody>
      </p:sp>
      <p:sp>
        <p:nvSpPr>
          <p:cNvPr id="3" name="Content Placeholder 2"/>
          <p:cNvSpPr>
            <a:spLocks noGrp="1"/>
          </p:cNvSpPr>
          <p:nvPr>
            <p:ph idx="1"/>
          </p:nvPr>
        </p:nvSpPr>
        <p:spPr>
          <a:xfrm>
            <a:off x="304800" y="1066800"/>
            <a:ext cx="8534400" cy="5334000"/>
          </a:xfrm>
        </p:spPr>
        <p:txBody>
          <a:bodyPr>
            <a:normAutofit fontScale="77500" lnSpcReduction="20000"/>
          </a:bodyPr>
          <a:lstStyle/>
          <a:p>
            <a:pPr>
              <a:buNone/>
            </a:pPr>
            <a:r>
              <a:rPr lang="en-US" b="1" u="sng" dirty="0" smtClean="0">
                <a:latin typeface="Comic Sans MS" pitchFamily="66" charset="0"/>
              </a:rPr>
              <a:t>Architecture</a:t>
            </a:r>
            <a:endParaRPr lang="en-US" i="1" u="sng" dirty="0">
              <a:latin typeface="Comic Sans MS" pitchFamily="66" charset="0"/>
            </a:endParaRPr>
          </a:p>
          <a:p>
            <a:r>
              <a:rPr lang="en-US" dirty="0">
                <a:latin typeface="Comic Sans MS" pitchFamily="66" charset="0"/>
              </a:rPr>
              <a:t>In sustainable architecture the recent movements of </a:t>
            </a:r>
            <a:r>
              <a:rPr lang="en-US" dirty="0">
                <a:latin typeface="Comic Sans MS" pitchFamily="66" charset="0"/>
                <a:hlinkClick r:id="rId2" tooltip="New Urbanism"/>
              </a:rPr>
              <a:t>New Urbanism</a:t>
            </a:r>
            <a:r>
              <a:rPr lang="en-US" dirty="0">
                <a:latin typeface="Comic Sans MS" pitchFamily="66" charset="0"/>
              </a:rPr>
              <a:t> and </a:t>
            </a:r>
            <a:r>
              <a:rPr lang="en-US" dirty="0">
                <a:latin typeface="Comic Sans MS" pitchFamily="66" charset="0"/>
                <a:hlinkClick r:id="rId3" tooltip="New Classical architecture"/>
              </a:rPr>
              <a:t>New Classical architecture</a:t>
            </a:r>
            <a:r>
              <a:rPr lang="en-US" dirty="0">
                <a:latin typeface="Comic Sans MS" pitchFamily="66" charset="0"/>
              </a:rPr>
              <a:t> promote a sustainable approach towards construction, that appreciates and develops </a:t>
            </a:r>
            <a:r>
              <a:rPr lang="en-US" dirty="0">
                <a:latin typeface="Comic Sans MS" pitchFamily="66" charset="0"/>
                <a:hlinkClick r:id="rId4" tooltip="Smart growth"/>
              </a:rPr>
              <a:t>smart growth</a:t>
            </a:r>
            <a:r>
              <a:rPr lang="en-US" dirty="0">
                <a:latin typeface="Comic Sans MS" pitchFamily="66" charset="0"/>
              </a:rPr>
              <a:t>, </a:t>
            </a:r>
            <a:r>
              <a:rPr lang="en-US" dirty="0">
                <a:latin typeface="Comic Sans MS" pitchFamily="66" charset="0"/>
                <a:hlinkClick r:id="rId5" tooltip="Vernacular architecture"/>
              </a:rPr>
              <a:t>architectural tradition</a:t>
            </a:r>
            <a:r>
              <a:rPr lang="en-US" dirty="0">
                <a:latin typeface="Comic Sans MS" pitchFamily="66" charset="0"/>
              </a:rPr>
              <a:t> and </a:t>
            </a:r>
            <a:r>
              <a:rPr lang="en-US" dirty="0">
                <a:latin typeface="Comic Sans MS" pitchFamily="66" charset="0"/>
                <a:hlinkClick r:id="rId6" tooltip="Classical architecture"/>
              </a:rPr>
              <a:t>classical design</a:t>
            </a:r>
            <a:r>
              <a:rPr lang="en-US" dirty="0" smtClean="0">
                <a:latin typeface="Comic Sans MS" pitchFamily="66" charset="0"/>
              </a:rPr>
              <a:t>.</a:t>
            </a:r>
            <a:r>
              <a:rPr lang="en-US" dirty="0">
                <a:latin typeface="Comic Sans MS" pitchFamily="66" charset="0"/>
              </a:rPr>
              <a:t> </a:t>
            </a:r>
            <a:endParaRPr lang="en-US" dirty="0" smtClean="0">
              <a:latin typeface="Comic Sans MS" pitchFamily="66" charset="0"/>
            </a:endParaRPr>
          </a:p>
          <a:p>
            <a:r>
              <a:rPr lang="en-US" dirty="0" smtClean="0">
                <a:latin typeface="Comic Sans MS" pitchFamily="66" charset="0"/>
              </a:rPr>
              <a:t>This </a:t>
            </a:r>
            <a:r>
              <a:rPr lang="en-US" dirty="0">
                <a:latin typeface="Comic Sans MS" pitchFamily="66" charset="0"/>
              </a:rPr>
              <a:t>in contrast to </a:t>
            </a:r>
            <a:r>
              <a:rPr lang="en-US" dirty="0">
                <a:latin typeface="Comic Sans MS" pitchFamily="66" charset="0"/>
                <a:hlinkClick r:id="rId7" tooltip="Modern architecture"/>
              </a:rPr>
              <a:t>modernist</a:t>
            </a:r>
            <a:r>
              <a:rPr lang="en-US" dirty="0">
                <a:latin typeface="Comic Sans MS" pitchFamily="66" charset="0"/>
              </a:rPr>
              <a:t> and </a:t>
            </a:r>
            <a:r>
              <a:rPr lang="en-US" dirty="0">
                <a:latin typeface="Comic Sans MS" pitchFamily="66" charset="0"/>
                <a:hlinkClick r:id="rId8" tooltip="International Style (architecture)"/>
              </a:rPr>
              <a:t>International Style</a:t>
            </a:r>
            <a:r>
              <a:rPr lang="en-US" dirty="0">
                <a:latin typeface="Comic Sans MS" pitchFamily="66" charset="0"/>
              </a:rPr>
              <a:t> architecture, as well as opposing to solitary </a:t>
            </a:r>
            <a:r>
              <a:rPr lang="en-US" u="sng" dirty="0">
                <a:latin typeface="Comic Sans MS" pitchFamily="66" charset="0"/>
                <a:hlinkClick r:id="rId9" tooltip="Housing estate"/>
              </a:rPr>
              <a:t>housing estates</a:t>
            </a:r>
            <a:r>
              <a:rPr lang="en-US" dirty="0">
                <a:latin typeface="Comic Sans MS" pitchFamily="66" charset="0"/>
              </a:rPr>
              <a:t> and </a:t>
            </a:r>
            <a:r>
              <a:rPr lang="en-US" dirty="0">
                <a:latin typeface="Comic Sans MS" pitchFamily="66" charset="0"/>
                <a:hlinkClick r:id="rId10" tooltip="Urban sprawl"/>
              </a:rPr>
              <a:t>suburban sprawl</a:t>
            </a:r>
            <a:r>
              <a:rPr lang="en-US" dirty="0">
                <a:latin typeface="Comic Sans MS" pitchFamily="66" charset="0"/>
              </a:rPr>
              <a:t>, with long commuting distances and large ecological </a:t>
            </a:r>
            <a:r>
              <a:rPr lang="en-US" dirty="0" smtClean="0">
                <a:latin typeface="Comic Sans MS" pitchFamily="66" charset="0"/>
              </a:rPr>
              <a:t>foot prints. Both </a:t>
            </a:r>
            <a:r>
              <a:rPr lang="en-US" dirty="0">
                <a:latin typeface="Comic Sans MS" pitchFamily="66" charset="0"/>
              </a:rPr>
              <a:t>trends started in the 1980s. </a:t>
            </a:r>
            <a:endParaRPr lang="en-US" dirty="0" smtClean="0">
              <a:latin typeface="Comic Sans MS" pitchFamily="66" charset="0"/>
            </a:endParaRPr>
          </a:p>
          <a:p>
            <a:r>
              <a:rPr lang="en-US" dirty="0" smtClean="0">
                <a:latin typeface="Comic Sans MS" pitchFamily="66" charset="0"/>
              </a:rPr>
              <a:t>It </a:t>
            </a:r>
            <a:r>
              <a:rPr lang="en-US" dirty="0">
                <a:latin typeface="Comic Sans MS" pitchFamily="66" charset="0"/>
              </a:rPr>
              <a:t>should be noted that sustainable architecture is predominantly relevant to the economics domain while architectural landscaping pertains more to the ecological domain</a:t>
            </a:r>
            <a:r>
              <a:rPr lang="en-US" dirty="0" smtClean="0">
                <a:latin typeface="Comic Sans MS" pitchFamily="66" charset="0"/>
              </a:rPr>
              <a:t>.</a:t>
            </a:r>
            <a:endParaRPr lang="en-US" dirty="0">
              <a:latin typeface="Comic Sans MS" pitchFamily="66" charset="0"/>
            </a:endParaRPr>
          </a:p>
          <a:p>
            <a:endParaRPr lang="en-US" dirty="0">
              <a:latin typeface="Comic Sans MS" pitchFamily="66" charset="0"/>
            </a:endParaRPr>
          </a:p>
        </p:txBody>
      </p:sp>
      <p:pic>
        <p:nvPicPr>
          <p:cNvPr id="4" name="Picture 3"/>
          <p:cNvPicPr/>
          <p:nvPr/>
        </p:nvPicPr>
        <p:blipFill>
          <a:blip r:embed="rId11"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76295B77-3B61-42E4-A50B-FE9316AFB908}"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60</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latin typeface="Comic Sans MS" pitchFamily="66" charset="0"/>
              </a:rPr>
              <a:t>Architecture</a:t>
            </a:r>
            <a:r>
              <a:rPr lang="en-US" i="1" u="sng" dirty="0" smtClean="0">
                <a:latin typeface="Comic Sans MS" pitchFamily="66" charset="0"/>
              </a:rPr>
              <a:t/>
            </a:r>
            <a:br>
              <a:rPr lang="en-US" i="1" u="sng" dirty="0" smtClean="0">
                <a:latin typeface="Comic Sans MS" pitchFamily="66" charset="0"/>
              </a:rPr>
            </a:br>
            <a:endParaRPr lang="en-IN" dirty="0"/>
          </a:p>
        </p:txBody>
      </p:sp>
      <p:sp>
        <p:nvSpPr>
          <p:cNvPr id="3" name="Content Placeholder 2"/>
          <p:cNvSpPr>
            <a:spLocks noGrp="1"/>
          </p:cNvSpPr>
          <p:nvPr>
            <p:ph idx="1"/>
          </p:nvPr>
        </p:nvSpPr>
        <p:spPr>
          <a:xfrm>
            <a:off x="304800" y="1143000"/>
            <a:ext cx="8534400" cy="5334000"/>
          </a:xfrm>
        </p:spPr>
        <p:txBody>
          <a:bodyPr>
            <a:normAutofit fontScale="92500" lnSpcReduction="10000"/>
          </a:bodyPr>
          <a:lstStyle/>
          <a:p>
            <a:r>
              <a:rPr lang="en-US" dirty="0" smtClean="0">
                <a:latin typeface="Comic Sans MS" pitchFamily="66" charset="0"/>
              </a:rPr>
              <a:t>This in contrast to </a:t>
            </a:r>
            <a:r>
              <a:rPr lang="en-US" dirty="0" smtClean="0">
                <a:latin typeface="Comic Sans MS" pitchFamily="66" charset="0"/>
                <a:hlinkClick r:id="rId2" tooltip="Modern architecture"/>
              </a:rPr>
              <a:t>modernist</a:t>
            </a:r>
            <a:r>
              <a:rPr lang="en-US" dirty="0" smtClean="0">
                <a:latin typeface="Comic Sans MS" pitchFamily="66" charset="0"/>
              </a:rPr>
              <a:t> and </a:t>
            </a:r>
            <a:r>
              <a:rPr lang="en-US" dirty="0" smtClean="0">
                <a:latin typeface="Comic Sans MS" pitchFamily="66" charset="0"/>
                <a:hlinkClick r:id="rId3" tooltip="International Style (architecture)"/>
              </a:rPr>
              <a:t>International Style</a:t>
            </a:r>
            <a:r>
              <a:rPr lang="en-US" dirty="0" smtClean="0">
                <a:latin typeface="Comic Sans MS" pitchFamily="66" charset="0"/>
              </a:rPr>
              <a:t> architecture, as well as opposing to solitary </a:t>
            </a:r>
            <a:r>
              <a:rPr lang="en-US" u="sng" dirty="0" smtClean="0">
                <a:latin typeface="Comic Sans MS" pitchFamily="66" charset="0"/>
                <a:hlinkClick r:id="rId4" tooltip="Housing estate"/>
              </a:rPr>
              <a:t>housing estates</a:t>
            </a:r>
            <a:r>
              <a:rPr lang="en-US" dirty="0" smtClean="0">
                <a:latin typeface="Comic Sans MS" pitchFamily="66" charset="0"/>
              </a:rPr>
              <a:t> and </a:t>
            </a:r>
            <a:r>
              <a:rPr lang="en-US" dirty="0" smtClean="0">
                <a:latin typeface="Comic Sans MS" pitchFamily="66" charset="0"/>
                <a:hlinkClick r:id="rId5" tooltip="Urban sprawl"/>
              </a:rPr>
              <a:t>suburban sprawl</a:t>
            </a:r>
            <a:r>
              <a:rPr lang="en-US" dirty="0" smtClean="0">
                <a:latin typeface="Comic Sans MS" pitchFamily="66" charset="0"/>
              </a:rPr>
              <a:t>, with long commuting distances and large ecological foot prints. Both trends started in the 1980s. </a:t>
            </a:r>
          </a:p>
          <a:p>
            <a:r>
              <a:rPr lang="en-US" b="1" dirty="0" smtClean="0">
                <a:latin typeface="Comic Sans MS" pitchFamily="66" charset="0"/>
              </a:rPr>
              <a:t>It should be noted that </a:t>
            </a:r>
            <a:r>
              <a:rPr lang="en-US" b="1" dirty="0" smtClean="0">
                <a:solidFill>
                  <a:srgbClr val="0070C0"/>
                </a:solidFill>
                <a:latin typeface="Comic Sans MS" pitchFamily="66" charset="0"/>
              </a:rPr>
              <a:t>sustainable architecture </a:t>
            </a:r>
            <a:r>
              <a:rPr lang="en-US" b="1" dirty="0" smtClean="0">
                <a:latin typeface="Comic Sans MS" pitchFamily="66" charset="0"/>
              </a:rPr>
              <a:t>is predominantly relevant to the economics domain while </a:t>
            </a:r>
            <a:r>
              <a:rPr lang="en-US" b="1" dirty="0" smtClean="0">
                <a:solidFill>
                  <a:srgbClr val="0070C0"/>
                </a:solidFill>
                <a:latin typeface="Comic Sans MS" pitchFamily="66" charset="0"/>
              </a:rPr>
              <a:t>architectural landscaping</a:t>
            </a:r>
            <a:r>
              <a:rPr lang="en-US" b="1" dirty="0" smtClean="0">
                <a:latin typeface="Comic Sans MS" pitchFamily="66" charset="0"/>
              </a:rPr>
              <a:t> pertains more to the ecological domain.</a:t>
            </a:r>
          </a:p>
          <a:p>
            <a:endParaRPr lang="en-IN" dirty="0"/>
          </a:p>
        </p:txBody>
      </p:sp>
      <p:pic>
        <p:nvPicPr>
          <p:cNvPr id="4" name="Picture 3"/>
          <p:cNvPicPr/>
          <p:nvPr/>
        </p:nvPicPr>
        <p:blipFill>
          <a:blip r:embed="rId6"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4F445B0F-28C7-44E5-9220-A0B2365981A9}" type="datetime1">
              <a:rPr lang="en-US" smtClean="0"/>
              <a:t>11/15/2017</a:t>
            </a:fld>
            <a:endParaRPr lang="en-US"/>
          </a:p>
        </p:txBody>
      </p:sp>
      <p:sp>
        <p:nvSpPr>
          <p:cNvPr id="6" name="Slide Number Placeholder 5"/>
          <p:cNvSpPr>
            <a:spLocks noGrp="1"/>
          </p:cNvSpPr>
          <p:nvPr>
            <p:ph type="sldNum" sz="quarter" idx="12"/>
          </p:nvPr>
        </p:nvSpPr>
        <p:spPr/>
        <p:txBody>
          <a:bodyPr/>
          <a:lstStyle/>
          <a:p>
            <a:fld id="{5991EB85-8768-4FFB-8D55-EBA10FA5B878}" type="slidenum">
              <a:rPr lang="en-US" smtClean="0"/>
              <a:pPr/>
              <a:t>61</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3794" name="Picture 2" descr="Many conflicting views of sustainable development believe that it is actually anti-growth  and anti-wealth. On the contrar..."/>
          <p:cNvPicPr>
            <a:picLocks noChangeAspect="1" noChangeArrowheads="1"/>
          </p:cNvPicPr>
          <p:nvPr/>
        </p:nvPicPr>
        <p:blipFill>
          <a:blip r:embed="rId2" cstate="print"/>
          <a:srcRect/>
          <a:stretch>
            <a:fillRect/>
          </a:stretch>
        </p:blipFill>
        <p:spPr bwMode="auto">
          <a:xfrm>
            <a:off x="457200" y="228600"/>
            <a:ext cx="8305800" cy="59436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0079DC04-CDDB-440C-AA68-6725F7AFD427}"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62</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4818" name="Picture 2" descr="What is my role in sustainable development (SD)?   Sustainable development requires the active    involvement of all stak..."/>
          <p:cNvPicPr>
            <a:picLocks noChangeAspect="1" noChangeArrowheads="1"/>
          </p:cNvPicPr>
          <p:nvPr/>
        </p:nvPicPr>
        <p:blipFill>
          <a:blip r:embed="rId2" cstate="print"/>
          <a:srcRect/>
          <a:stretch>
            <a:fillRect/>
          </a:stretch>
        </p:blipFill>
        <p:spPr bwMode="auto">
          <a:xfrm>
            <a:off x="381000" y="152400"/>
            <a:ext cx="8382000" cy="6343651"/>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465C6100-0CBD-45AA-BB5E-535104F651E1}"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63</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5842" name="Picture 2" descr="And for young people?    Sustainable development is    especially important for young    people! The implementation of   ..."/>
          <p:cNvPicPr>
            <a:picLocks noChangeAspect="1" noChangeArrowheads="1"/>
          </p:cNvPicPr>
          <p:nvPr/>
        </p:nvPicPr>
        <p:blipFill>
          <a:blip r:embed="rId2" cstate="print"/>
          <a:srcRect/>
          <a:stretch>
            <a:fillRect/>
          </a:stretch>
        </p:blipFill>
        <p:spPr bwMode="auto">
          <a:xfrm>
            <a:off x="457200" y="228600"/>
            <a:ext cx="8305800" cy="60960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EA3B958C-9D86-4AE5-888C-82CD8CC718DC}"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64</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8674" name="Picture 2" descr="Think about this...&#10;&#10; "/>
          <p:cNvPicPr>
            <a:picLocks noChangeAspect="1" noChangeArrowheads="1"/>
          </p:cNvPicPr>
          <p:nvPr/>
        </p:nvPicPr>
        <p:blipFill>
          <a:blip r:embed="rId2" cstate="print"/>
          <a:srcRect/>
          <a:stretch>
            <a:fillRect/>
          </a:stretch>
        </p:blipFill>
        <p:spPr bwMode="auto">
          <a:xfrm>
            <a:off x="381000" y="228600"/>
            <a:ext cx="8382000" cy="5943600"/>
          </a:xfrm>
          <a:prstGeom prst="rect">
            <a:avLst/>
          </a:prstGeom>
          <a:noFill/>
        </p:spPr>
      </p:pic>
      <p:pic>
        <p:nvPicPr>
          <p:cNvPr id="5" name="Picture 4"/>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fld id="{5E088E53-EF0F-4E08-AD9A-7B36AB52F2D5}" type="datetime1">
              <a:rPr lang="en-US" smtClean="0"/>
              <a:t>11/15/2017</a:t>
            </a:fld>
            <a:endParaRPr lang="en-US"/>
          </a:p>
        </p:txBody>
      </p:sp>
      <p:sp>
        <p:nvSpPr>
          <p:cNvPr id="7" name="Slide Number Placeholder 6"/>
          <p:cNvSpPr>
            <a:spLocks noGrp="1"/>
          </p:cNvSpPr>
          <p:nvPr>
            <p:ph type="sldNum" sz="quarter" idx="12"/>
          </p:nvPr>
        </p:nvSpPr>
        <p:spPr/>
        <p:txBody>
          <a:bodyPr/>
          <a:lstStyle/>
          <a:p>
            <a:fld id="{5991EB85-8768-4FFB-8D55-EBA10FA5B878}" type="slidenum">
              <a:rPr lang="en-US" smtClean="0"/>
              <a:pPr/>
              <a:t>65</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4034" name="Picture 2" descr="Thank YouThank You&#10; "/>
          <p:cNvPicPr>
            <a:picLocks noChangeAspect="1" noChangeArrowheads="1"/>
          </p:cNvPicPr>
          <p:nvPr/>
        </p:nvPicPr>
        <p:blipFill>
          <a:blip r:embed="rId2" cstate="print"/>
          <a:srcRect/>
          <a:stretch>
            <a:fillRect/>
          </a:stretch>
        </p:blipFill>
        <p:spPr bwMode="auto">
          <a:xfrm>
            <a:off x="228600" y="304800"/>
            <a:ext cx="8534400" cy="6172200"/>
          </a:xfrm>
          <a:prstGeom prst="rect">
            <a:avLst/>
          </a:prstGeom>
          <a:noFill/>
        </p:spPr>
      </p:pic>
      <p:sp>
        <p:nvSpPr>
          <p:cNvPr id="5" name="TextBox 4"/>
          <p:cNvSpPr txBox="1"/>
          <p:nvPr/>
        </p:nvSpPr>
        <p:spPr>
          <a:xfrm>
            <a:off x="1981200" y="5029200"/>
            <a:ext cx="7010400" cy="646331"/>
          </a:xfrm>
          <a:prstGeom prst="rect">
            <a:avLst/>
          </a:prstGeom>
          <a:noFill/>
        </p:spPr>
        <p:txBody>
          <a:bodyPr wrap="square" rtlCol="0">
            <a:spAutoFit/>
          </a:bodyPr>
          <a:lstStyle/>
          <a:p>
            <a:r>
              <a:rPr lang="en-US" sz="3600" b="1" i="1" dirty="0" smtClean="0">
                <a:latin typeface="Brush Script MT" pitchFamily="66" charset="0"/>
              </a:rPr>
              <a:t>Let’s make a beginning……!!!!!</a:t>
            </a:r>
            <a:endParaRPr lang="en-US" sz="3600" b="1" i="1" dirty="0">
              <a:latin typeface="Brush Script MT" pitchFamily="66" charset="0"/>
            </a:endParaRPr>
          </a:p>
        </p:txBody>
      </p:sp>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8C6DA9A8-1961-4F0D-BD15-14DD49ECE14A}" type="datetime1">
              <a:rPr lang="en-US" smtClean="0"/>
              <a:t>11/15/2017</a:t>
            </a:fld>
            <a:endParaRPr lang="en-US"/>
          </a:p>
        </p:txBody>
      </p:sp>
      <p:sp>
        <p:nvSpPr>
          <p:cNvPr id="8" name="Slide Number Placeholder 7"/>
          <p:cNvSpPr>
            <a:spLocks noGrp="1"/>
          </p:cNvSpPr>
          <p:nvPr>
            <p:ph type="sldNum" sz="quarter" idx="12"/>
          </p:nvPr>
        </p:nvSpPr>
        <p:spPr/>
        <p:txBody>
          <a:bodyPr/>
          <a:lstStyle/>
          <a:p>
            <a:fld id="{5991EB85-8768-4FFB-8D55-EBA10FA5B878}" type="slidenum">
              <a:rPr lang="en-US" smtClean="0"/>
              <a:pPr/>
              <a:t>66</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4046</TotalTime>
  <Words>1412</Words>
  <Application>Microsoft Office PowerPoint</Application>
  <PresentationFormat>On-screen Show (4:3)</PresentationFormat>
  <Paragraphs>333</Paragraphs>
  <Slides>66</Slides>
  <Notes>0</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Sustainable Development</vt:lpstr>
      <vt:lpstr>Slide 2</vt:lpstr>
      <vt:lpstr>Sustainability</vt:lpstr>
      <vt:lpstr>Slide 4</vt:lpstr>
      <vt:lpstr>Sustainability &amp;  Sustainable Development (SD)</vt:lpstr>
      <vt:lpstr>Sustainable Development</vt:lpstr>
      <vt:lpstr>Sustainable Development</vt:lpstr>
      <vt:lpstr>Sustainable Development</vt:lpstr>
      <vt:lpstr>Sustainable Development (SD)</vt:lpstr>
      <vt:lpstr>Sustainable Development</vt:lpstr>
      <vt:lpstr>Sustainable Development (SD)</vt:lpstr>
      <vt:lpstr>Sustainable Development</vt:lpstr>
      <vt:lpstr>The Sustainable Development Goals</vt:lpstr>
      <vt:lpstr>17 Goals to Transform Our World </vt:lpstr>
      <vt:lpstr>Sustainable Development</vt:lpstr>
      <vt:lpstr>UN Sustainable Development Goals</vt:lpstr>
      <vt:lpstr>UN Sustainable Development Goals</vt:lpstr>
      <vt:lpstr>UN Sustainable Development Goals</vt:lpstr>
      <vt:lpstr>UN Sustainable Development Goals</vt:lpstr>
      <vt:lpstr>UN Sustainable Development Goals</vt:lpstr>
      <vt:lpstr>UN Sustainable Development Goals</vt:lpstr>
      <vt:lpstr>UN Sustainable Development Goals</vt:lpstr>
      <vt:lpstr>UN Sustainable Development Goals</vt:lpstr>
      <vt:lpstr>UN Sustainable Development Goals</vt:lpstr>
      <vt:lpstr>UN Sustainable Development Goals</vt:lpstr>
      <vt:lpstr> Sustainable Development Domains </vt:lpstr>
      <vt:lpstr>Sustainable Development Domains </vt:lpstr>
      <vt:lpstr>Slide 28</vt:lpstr>
      <vt:lpstr>Slide 29</vt:lpstr>
      <vt:lpstr>Slide 30</vt:lpstr>
      <vt:lpstr>Slide 31</vt:lpstr>
      <vt:lpstr>Slide 32</vt:lpstr>
      <vt:lpstr>Slide 33</vt:lpstr>
      <vt:lpstr>Slide 34</vt:lpstr>
      <vt:lpstr>Sustainable Development (SD)</vt:lpstr>
      <vt:lpstr>Sustainable Development (SD)</vt:lpstr>
      <vt:lpstr>Sustainable Development (SD)</vt:lpstr>
      <vt:lpstr>Sustainable Development (SD)</vt:lpstr>
      <vt:lpstr>Sustainable Development (SD)</vt:lpstr>
      <vt:lpstr>Slide 40</vt:lpstr>
      <vt:lpstr>Slide 41</vt:lpstr>
      <vt:lpstr>Slide 42</vt:lpstr>
      <vt:lpstr>Slide 43</vt:lpstr>
      <vt:lpstr>Slide 44</vt:lpstr>
      <vt:lpstr>Slide 45</vt:lpstr>
      <vt:lpstr>Sustainable Development (SD)</vt:lpstr>
      <vt:lpstr>Sustainable Development (SD)</vt:lpstr>
      <vt:lpstr>Sustainable Development (SD)</vt:lpstr>
      <vt:lpstr>Sustainable Development (SD)</vt:lpstr>
      <vt:lpstr>Sustainable Development (SD)</vt:lpstr>
      <vt:lpstr>World Business Council for Sustainable Development (WBCSD)</vt:lpstr>
      <vt:lpstr>Sustainable Development (SD)</vt:lpstr>
      <vt:lpstr>Sustainable Development (SD)</vt:lpstr>
      <vt:lpstr>Sustainable Development (SD)</vt:lpstr>
      <vt:lpstr>Sustainable Development (SD)</vt:lpstr>
      <vt:lpstr>Sustainable Development (SD)</vt:lpstr>
      <vt:lpstr>Sustainable transport</vt:lpstr>
      <vt:lpstr>Sustainable transport systems</vt:lpstr>
      <vt:lpstr>Sustainable Development (SD)</vt:lpstr>
      <vt:lpstr>Sustainable Development (SD)</vt:lpstr>
      <vt:lpstr>Architecture </vt:lpstr>
      <vt:lpstr>Slide 62</vt:lpstr>
      <vt:lpstr>Slide 63</vt:lpstr>
      <vt:lpstr>Slide 64</vt:lpstr>
      <vt:lpstr>Slide 65</vt:lpstr>
      <vt:lpstr>Slide 66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Development</dc:title>
  <dc:creator>J K Sharma</dc:creator>
  <cp:lastModifiedBy>jksharma</cp:lastModifiedBy>
  <cp:revision>34</cp:revision>
  <dcterms:created xsi:type="dcterms:W3CDTF">2016-04-14T04:21:35Z</dcterms:created>
  <dcterms:modified xsi:type="dcterms:W3CDTF">2017-11-15T03:31:45Z</dcterms:modified>
</cp:coreProperties>
</file>