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8" r:id="rId2"/>
    <p:sldId id="259" r:id="rId3"/>
    <p:sldId id="334" r:id="rId4"/>
    <p:sldId id="324" r:id="rId5"/>
    <p:sldId id="325" r:id="rId6"/>
    <p:sldId id="260" r:id="rId7"/>
    <p:sldId id="322" r:id="rId8"/>
    <p:sldId id="335" r:id="rId9"/>
    <p:sldId id="263" r:id="rId10"/>
    <p:sldId id="264" r:id="rId11"/>
    <p:sldId id="330" r:id="rId12"/>
    <p:sldId id="265" r:id="rId13"/>
    <p:sldId id="331" r:id="rId14"/>
    <p:sldId id="268" r:id="rId15"/>
    <p:sldId id="269" r:id="rId16"/>
    <p:sldId id="270" r:id="rId17"/>
    <p:sldId id="271" r:id="rId18"/>
    <p:sldId id="332" r:id="rId19"/>
    <p:sldId id="272" r:id="rId20"/>
    <p:sldId id="273" r:id="rId21"/>
    <p:sldId id="329" r:id="rId22"/>
    <p:sldId id="274" r:id="rId23"/>
    <p:sldId id="333" r:id="rId24"/>
    <p:sldId id="275" r:id="rId25"/>
    <p:sldId id="276" r:id="rId26"/>
    <p:sldId id="277" r:id="rId27"/>
    <p:sldId id="278" r:id="rId28"/>
    <p:sldId id="279" r:id="rId29"/>
    <p:sldId id="280" r:id="rId30"/>
    <p:sldId id="281" r:id="rId31"/>
    <p:sldId id="326" r:id="rId32"/>
    <p:sldId id="282" r:id="rId33"/>
    <p:sldId id="283" r:id="rId34"/>
    <p:sldId id="284" r:id="rId35"/>
    <p:sldId id="286" r:id="rId36"/>
    <p:sldId id="287" r:id="rId37"/>
    <p:sldId id="327" r:id="rId38"/>
    <p:sldId id="288" r:id="rId39"/>
    <p:sldId id="32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339933"/>
    <a:srgbClr val="0033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6FF057-056D-45C2-B7CD-210A42C3F566}" type="datetimeFigureOut">
              <a:rPr lang="en-US" smtClean="0"/>
              <a:pPr/>
              <a:t>11/13/2017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9FEF03-CAA5-42BB-8A75-D30FD024D24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9613980-0AE8-46AF-9E83-88D478FB3DEE}" type="slidenum">
              <a:rPr lang="en-US" smtClean="0"/>
              <a:pPr/>
              <a:t>62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4D54435-864F-4972-8876-87FD36AD8987}"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326A91-619D-408E-A0F7-11EECA764335}"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C550C6-8379-4FE1-A674-246A249ACC8E}" type="datetime1">
              <a:rPr lang="en-US" smtClean="0"/>
              <a:pPr/>
              <a:t>11/13/2017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9A1CBA7-B240-460B-998B-A1E4F9146549}" type="datetime1">
              <a:rPr lang="en-US" smtClean="0"/>
              <a:pPr/>
              <a:t>11/13/2017</a:t>
            </a:fld>
            <a:endParaRPr lang="en-US"/>
          </a:p>
        </p:txBody>
      </p:sp>
      <p:sp>
        <p:nvSpPr>
          <p:cNvPr id="8" name="Footer Placeholder 7"/>
          <p:cNvSpPr>
            <a:spLocks noGrp="1"/>
          </p:cNvSpPr>
          <p:nvPr>
            <p:ph type="ftr" sz="quarter" idx="11"/>
          </p:nvPr>
        </p:nvSpPr>
        <p:spPr/>
        <p:txBody>
          <a:bodyPr/>
          <a:lstStyle/>
          <a:p>
            <a:r>
              <a:rPr lang="en-US" smtClean="0"/>
              <a:t>Dr Jyoti K Sharma</a:t>
            </a:r>
            <a:endParaRPr lang="en-US"/>
          </a:p>
        </p:txBody>
      </p:sp>
      <p:sp>
        <p:nvSpPr>
          <p:cNvPr id="9" name="Slide Number Placeholder 8"/>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45715D-9780-4B3C-AE79-BC33D6CBC8F5}"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1B3219-11F9-438E-89C0-F4088162C965}" type="datetime1">
              <a:rPr lang="en-US" smtClean="0"/>
              <a:pPr/>
              <a:t>11/13/2017</a:t>
            </a:fld>
            <a:endParaRPr lang="en-US"/>
          </a:p>
        </p:txBody>
      </p:sp>
      <p:sp>
        <p:nvSpPr>
          <p:cNvPr id="3" name="Footer Placeholder 2"/>
          <p:cNvSpPr>
            <a:spLocks noGrp="1"/>
          </p:cNvSpPr>
          <p:nvPr>
            <p:ph type="ftr" sz="quarter" idx="11"/>
          </p:nvPr>
        </p:nvSpPr>
        <p:spPr/>
        <p:txBody>
          <a:bodyPr/>
          <a:lstStyle/>
          <a:p>
            <a:r>
              <a:rPr lang="en-US" smtClean="0"/>
              <a:t>Dr Jyoti K Sharma</a:t>
            </a:r>
            <a:endParaRPr lang="en-US"/>
          </a:p>
        </p:txBody>
      </p:sp>
      <p:sp>
        <p:nvSpPr>
          <p:cNvPr id="4" name="Slide Number Placeholder 3"/>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B620C2F-5FEA-4768-AE34-56F83A7C7047}" type="datetime1">
              <a:rPr lang="en-US" smtClean="0"/>
              <a:pPr/>
              <a:t>11/13/2017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F8C966-3F0E-419A-8EE9-D07F9F1FE7E4}" type="datetime1">
              <a:rPr lang="en-US" smtClean="0"/>
              <a:pPr/>
              <a:t>11/13/2017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sp>
        <p:nvSpPr>
          <p:cNvPr id="7" name="Slide Number Placeholder 6"/>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5036F9-8EA5-4AB2-9A3B-029DE04B40E6}"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181FA0-C6B8-4177-B0E0-3D1D19456595}"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17FC3376-23AA-4FA1-B591-DC3799A06F70}" type="datetime1">
              <a:rPr lang="en-US" smtClean="0"/>
              <a:pPr/>
              <a:t>11/13/2017</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smtClean="0"/>
              <a:t>Dr Jyoti K Sharma</a:t>
            </a:r>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CBAC9F2-760C-4731-A747-FCB12ABB0301}" type="slidenum">
              <a:rPr lang="en-US"/>
              <a:pPr/>
              <a:t>‹#›</a:t>
            </a:fld>
            <a:endParaRPr lang="en-US"/>
          </a:p>
        </p:txBody>
      </p:sp>
    </p:spTree>
    <p:extLst>
      <p:ext uri="{BB962C8B-B14F-4D97-AF65-F5344CB8AC3E}">
        <p14:creationId xmlns:p14="http://schemas.microsoft.com/office/powerpoint/2010/main" xmlns="" val="3961083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709373-E8AC-4D36-9478-D66BA14F6D22}" type="datetime1">
              <a:rPr lang="en-US" smtClean="0"/>
              <a:pPr/>
              <a:t>11/13/2017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Dr Jyoti K Sharma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27B22F-F1DE-48B0-A8DE-61B74EC6BEA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3.jpeg"/><Relationship Id="rId7" Type="http://schemas.openxmlformats.org/officeDocument/2006/relationships/image" Target="../media/image5.jpeg"/><Relationship Id="rId2" Type="http://schemas.openxmlformats.org/officeDocument/2006/relationships/hyperlink" Target="http://www.google.co.in/imgres?q=environmental+impact+assessment&amp;hl=en&amp;sa=X&amp;biw=1440&amp;bih=805&amp;tbm=isch&amp;tbnid=QAWl2E_QiMIjzM:&amp;imgrefurl=http://nncts.net/sd.html&amp;docid=BTVEGphjPCLkbM&amp;w=390&amp;h=270&amp;ei=d9M6TridH8jprAf32_kL&amp;zoom=1" TargetMode="External"/><Relationship Id="rId1" Type="http://schemas.openxmlformats.org/officeDocument/2006/relationships/slideLayout" Target="../slideLayouts/slideLayout2.xml"/><Relationship Id="rId6" Type="http://schemas.openxmlformats.org/officeDocument/2006/relationships/hyperlink" Target="http://www.google.co.in/imgres?q=environmental+impact+assessment&amp;hl=en&amp;sa=X&amp;biw=1440&amp;bih=805&amp;tbm=isch&amp;tbnid=ZQzP_agxbg1tzM:&amp;imgrefurl=http://chinadigitaltimes.net/china-news/focus/environmental-crisis/&amp;docid=K80pReenwPIk3M&amp;w=495&amp;h=373&amp;ei=zdk6Tp2dMMbQrQfi4pUE&amp;zoom=1&amp;chk=sbg&amp;iact=rc&amp;dur=152&amp;page=21&amp;tbnh=148&amp;tbnw=196&amp;start=569&amp;ndsp=26&amp;ved=1t:429,r:22,s:569&amp;tx=82&amp;ty=76" TargetMode="External"/><Relationship Id="rId5" Type="http://schemas.openxmlformats.org/officeDocument/2006/relationships/image" Target="../media/image4.jpeg"/><Relationship Id="rId4" Type="http://schemas.openxmlformats.org/officeDocument/2006/relationships/hyperlink" Target="http://www.google.co.in/imgres?q=environmental+impact+assessment&amp;hl=en&amp;sa=X&amp;biw=1440&amp;bih=805&amp;tbm=isch&amp;tbnid=cwqah6LYtkn8HM:&amp;imgrefurl=http://netnewsledger.com/2010/06/22/deficiencies-in-horizon%E2%80%99s-environmental-impact-assessment-fact-sheets-lu-professor/&amp;docid=NKO8BSKNoJMLuM&amp;w=470&amp;h=301&amp;ei=P9Q6TtXzCsfWrQe6pcH1Dw&amp;zoom=1" TargetMode="External"/><Relationship Id="rId9" Type="http://schemas.openxmlformats.org/officeDocument/2006/relationships/image" Target="../media/image1.jpeg"/></Relationships>
</file>

<file path=ppt/slides/_rels/slide60.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7.jpeg"/><Relationship Id="rId7" Type="http://schemas.openxmlformats.org/officeDocument/2006/relationships/image" Target="../media/image9.jpeg"/><Relationship Id="rId2" Type="http://schemas.openxmlformats.org/officeDocument/2006/relationships/hyperlink" Target="http://www.google.co.in/imgres?q=environmental+impact+assessment&amp;hl=en&amp;sa=X&amp;biw=1440&amp;bih=805&amp;tbm=isch&amp;tbnid=8GGjtbvyi-1iyM:&amp;imgrefurl=http://slpenvironmental.com/environmentalimpactassessment.aspx&amp;docid=xZvkq5ORo9EQcM&amp;w=500&amp;h=344&amp;ei=0N06Tv-5NIjsrAeEx80Z&amp;zoom=1" TargetMode="External"/><Relationship Id="rId1" Type="http://schemas.openxmlformats.org/officeDocument/2006/relationships/slideLayout" Target="../slideLayouts/slideLayout2.xml"/><Relationship Id="rId6" Type="http://schemas.openxmlformats.org/officeDocument/2006/relationships/hyperlink" Target="http://www.google.co.in/imgres?q=environmental+impact+assessment&amp;hl=en&amp;sa=X&amp;biw=1440&amp;bih=805&amp;tbm=isch&amp;tbnid=ObK3mffcwsm6PM:&amp;imgrefurl=http://www.kokanworld.com/details.aspx?nid=32&amp;docid=58SvXzoAe6gIMM&amp;w=448&amp;h=315&amp;ei=WNo6Tr_TDsbQrQfi4pUE&amp;zoom=1&amp;chk=sbg" TargetMode="External"/><Relationship Id="rId5" Type="http://schemas.openxmlformats.org/officeDocument/2006/relationships/image" Target="../media/image8.jpeg"/><Relationship Id="rId4" Type="http://schemas.openxmlformats.org/officeDocument/2006/relationships/hyperlink" Target="http://www.google.co.in/imgres?q=environmental+impact+assessment&amp;hl=en&amp;sa=X&amp;biw=1440&amp;bih=805&amp;tbm=isch&amp;tbnid=nu4Av8wEsPTjoM:&amp;imgrefurl=http://www.ing.unitn.it/~genelett/research.html&amp;docid=pSRixAdTffq8SM&amp;w=690&amp;h=512&amp;ei=dto6TqvuKsf3rQfr7qAI&amp;zoom=1&amp;chk=sbg" TargetMode="Externa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92762"/>
          </a:xfrm>
        </p:spPr>
        <p:txBody>
          <a:bodyPr>
            <a:normAutofit/>
          </a:bodyPr>
          <a:lstStyle/>
          <a:p>
            <a:r>
              <a:rPr lang="en-US" b="1" dirty="0" smtClean="0">
                <a:solidFill>
                  <a:srgbClr val="0033CC"/>
                </a:solidFill>
                <a:latin typeface="Broadway" pitchFamily="82" charset="0"/>
                <a:cs typeface="Arial" pitchFamily="34" charset="0"/>
              </a:rPr>
              <a:t>Environmental Legislations in India</a:t>
            </a:r>
            <a:r>
              <a:rPr lang="en-US" b="1" dirty="0" smtClean="0">
                <a:solidFill>
                  <a:srgbClr val="0033CC"/>
                </a:solidFill>
                <a:latin typeface="Arial" pitchFamily="34" charset="0"/>
                <a:cs typeface="Arial" pitchFamily="34" charset="0"/>
              </a:rPr>
              <a:t/>
            </a:r>
            <a:br>
              <a:rPr lang="en-US" b="1" dirty="0" smtClean="0">
                <a:solidFill>
                  <a:srgbClr val="0033CC"/>
                </a:solidFill>
                <a:latin typeface="Arial" pitchFamily="34" charset="0"/>
                <a:cs typeface="Arial" pitchFamily="34" charset="0"/>
              </a:rPr>
            </a:br>
            <a:r>
              <a:rPr lang="en-US" b="1" dirty="0" smtClean="0">
                <a:solidFill>
                  <a:srgbClr val="0033CC"/>
                </a:solidFill>
                <a:latin typeface="Arial" pitchFamily="34" charset="0"/>
                <a:cs typeface="Arial" pitchFamily="34" charset="0"/>
              </a:rPr>
              <a:t/>
            </a:r>
            <a:br>
              <a:rPr lang="en-US" b="1" dirty="0" smtClean="0">
                <a:solidFill>
                  <a:srgbClr val="0033CC"/>
                </a:solidFill>
                <a:latin typeface="Arial" pitchFamily="34" charset="0"/>
                <a:cs typeface="Arial" pitchFamily="34" charset="0"/>
              </a:rPr>
            </a:br>
            <a:r>
              <a:rPr lang="en-US" b="1" dirty="0" smtClean="0">
                <a:solidFill>
                  <a:srgbClr val="0033CC"/>
                </a:solidFill>
                <a:latin typeface="Arial" pitchFamily="34" charset="0"/>
                <a:cs typeface="Arial" pitchFamily="34" charset="0"/>
              </a:rPr>
              <a:t/>
            </a:r>
            <a:br>
              <a:rPr lang="en-US" b="1" dirty="0" smtClean="0">
                <a:solidFill>
                  <a:srgbClr val="0033CC"/>
                </a:solidFill>
                <a:latin typeface="Arial" pitchFamily="34" charset="0"/>
                <a:cs typeface="Arial" pitchFamily="34" charset="0"/>
              </a:rPr>
            </a:br>
            <a:r>
              <a:rPr lang="en-US" b="1" dirty="0" smtClean="0">
                <a:solidFill>
                  <a:srgbClr val="0033CC"/>
                </a:solidFill>
                <a:latin typeface="Arial" pitchFamily="34" charset="0"/>
                <a:cs typeface="Arial" pitchFamily="34" charset="0"/>
              </a:rPr>
              <a:t/>
            </a:r>
            <a:br>
              <a:rPr lang="en-US" b="1" dirty="0" smtClean="0">
                <a:solidFill>
                  <a:srgbClr val="0033CC"/>
                </a:solidFill>
                <a:latin typeface="Arial" pitchFamily="34" charset="0"/>
                <a:cs typeface="Arial" pitchFamily="34" charset="0"/>
              </a:rPr>
            </a:br>
            <a:r>
              <a:rPr lang="en-US" b="1" dirty="0" smtClean="0">
                <a:latin typeface="Times New Roman" pitchFamily="18" charset="0"/>
                <a:cs typeface="Times New Roman" pitchFamily="18" charset="0"/>
              </a:rPr>
              <a:t> </a:t>
            </a:r>
            <a:r>
              <a:rPr lang="en-US" sz="1800" b="1" dirty="0" smtClean="0">
                <a:latin typeface="Times New Roman" pitchFamily="18" charset="0"/>
                <a:cs typeface="Times New Roman" pitchFamily="18" charset="0"/>
              </a:rPr>
              <a:t>Dr Jyoti K Sharma</a:t>
            </a:r>
            <a:br>
              <a:rPr lang="en-US" sz="1800" b="1" dirty="0" smtClean="0">
                <a:latin typeface="Times New Roman" pitchFamily="18" charset="0"/>
                <a:cs typeface="Times New Roman" pitchFamily="18" charset="0"/>
              </a:rPr>
            </a:br>
            <a:r>
              <a:rPr lang="en-US" sz="1800" b="1" i="1" dirty="0" smtClean="0">
                <a:solidFill>
                  <a:srgbClr val="008000"/>
                </a:solidFill>
                <a:latin typeface="Times New Roman" pitchFamily="18" charset="0"/>
                <a:cs typeface="Times New Roman" pitchFamily="18" charset="0"/>
              </a:rPr>
              <a:t>Professor &amp; Head</a:t>
            </a:r>
            <a:r>
              <a:rPr lang="en-US" sz="1800" b="1" i="1" dirty="0" smtClean="0">
                <a:solidFill>
                  <a:srgbClr val="008000"/>
                </a:solidFill>
                <a:latin typeface="Times New Roman" pitchFamily="18" charset="0"/>
                <a:cs typeface="Times New Roman" pitchFamily="18" charset="0"/>
              </a:rPr>
              <a:t/>
            </a:r>
            <a:br>
              <a:rPr lang="en-US" sz="1800" b="1" i="1" dirty="0" smtClean="0">
                <a:solidFill>
                  <a:srgbClr val="008000"/>
                </a:solidFill>
                <a:latin typeface="Times New Roman" pitchFamily="18" charset="0"/>
                <a:cs typeface="Times New Roman" pitchFamily="18" charset="0"/>
              </a:rPr>
            </a:br>
            <a:r>
              <a:rPr lang="en-US" sz="1800" b="1" dirty="0" smtClean="0">
                <a:solidFill>
                  <a:srgbClr val="008000"/>
                </a:solidFill>
                <a:latin typeface="Times New Roman" pitchFamily="18" charset="0"/>
                <a:cs typeface="Times New Roman" pitchFamily="18" charset="0"/>
              </a:rPr>
              <a:t>Center for </a:t>
            </a:r>
            <a:r>
              <a:rPr lang="en-US" sz="2000" b="1" dirty="0" smtClean="0">
                <a:solidFill>
                  <a:srgbClr val="006600"/>
                </a:solidFill>
                <a:latin typeface="Times New Roman" pitchFamily="18" charset="0"/>
                <a:cs typeface="Times New Roman" pitchFamily="18" charset="0"/>
              </a:rPr>
              <a:t>Environmental </a:t>
            </a:r>
            <a:r>
              <a:rPr lang="en-US" sz="2000" b="1" dirty="0" smtClean="0">
                <a:solidFill>
                  <a:srgbClr val="006600"/>
                </a:solidFill>
                <a:latin typeface="Times New Roman" pitchFamily="18" charset="0"/>
                <a:cs typeface="Times New Roman" pitchFamily="18" charset="0"/>
              </a:rPr>
              <a:t>Sciences &amp; </a:t>
            </a:r>
            <a:r>
              <a:rPr lang="en-US" sz="2000" b="1" dirty="0" smtClean="0">
                <a:solidFill>
                  <a:srgbClr val="006600"/>
                </a:solidFill>
                <a:latin typeface="Times New Roman" pitchFamily="18" charset="0"/>
                <a:cs typeface="Times New Roman" pitchFamily="18" charset="0"/>
              </a:rPr>
              <a:t>Engineering</a:t>
            </a:r>
            <a:r>
              <a:rPr lang="en-US" sz="2000" b="1" dirty="0" smtClean="0">
                <a:solidFill>
                  <a:srgbClr val="006600"/>
                </a:solidFill>
                <a:latin typeface="Times New Roman" pitchFamily="18" charset="0"/>
                <a:cs typeface="Times New Roman" pitchFamily="18" charset="0"/>
              </a:rPr>
              <a:t/>
            </a:r>
            <a:br>
              <a:rPr lang="en-US" sz="2000" b="1" dirty="0" smtClean="0">
                <a:solidFill>
                  <a:srgbClr val="006600"/>
                </a:solidFill>
                <a:latin typeface="Times New Roman" pitchFamily="18" charset="0"/>
                <a:cs typeface="Times New Roman" pitchFamily="18" charset="0"/>
              </a:rPr>
            </a:br>
            <a:r>
              <a:rPr lang="en-US" sz="2400" b="1" dirty="0" smtClean="0">
                <a:solidFill>
                  <a:srgbClr val="0033CC"/>
                </a:solidFill>
                <a:latin typeface="Times New Roman" pitchFamily="18" charset="0"/>
                <a:cs typeface="Times New Roman" pitchFamily="18" charset="0"/>
              </a:rPr>
              <a:t>School of Natural Sciences</a:t>
            </a:r>
            <a:endParaRPr lang="en-US" sz="2400" dirty="0"/>
          </a:p>
        </p:txBody>
      </p:sp>
      <p:sp>
        <p:nvSpPr>
          <p:cNvPr id="3" name="Date Placeholder 2"/>
          <p:cNvSpPr>
            <a:spLocks noGrp="1"/>
          </p:cNvSpPr>
          <p:nvPr>
            <p:ph type="dt" sz="half" idx="10"/>
          </p:nvPr>
        </p:nvSpPr>
        <p:spPr/>
        <p:txBody>
          <a:bodyPr/>
          <a:lstStyle/>
          <a:p>
            <a:fld id="{F5EF4307-0629-4818-B04C-0089408EEE70}"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28600"/>
            <a:ext cx="7391400" cy="762000"/>
          </a:xfrm>
        </p:spPr>
        <p:txBody>
          <a:bodyPr>
            <a:normAutofit/>
          </a:bodyPr>
          <a:lstStyle/>
          <a:p>
            <a:pPr algn="l"/>
            <a:r>
              <a:rPr lang="en-US" sz="3200" dirty="0" smtClean="0"/>
              <a:t>  </a:t>
            </a:r>
            <a:r>
              <a:rPr lang="en-US" sz="4000" b="1" dirty="0" smtClean="0">
                <a:solidFill>
                  <a:srgbClr val="0033CC"/>
                </a:solidFill>
                <a:latin typeface="Times New Roman" pitchFamily="18" charset="0"/>
                <a:cs typeface="Times New Roman" pitchFamily="18" charset="0"/>
              </a:rPr>
              <a:t>Environmental Legislations                                                                                                                                  </a:t>
            </a:r>
            <a:endParaRPr lang="en-US" sz="4000" b="1" dirty="0">
              <a:solidFill>
                <a:srgbClr val="0033CC"/>
              </a:solidFill>
              <a:latin typeface="Times New Roman" pitchFamily="18" charset="0"/>
              <a:cs typeface="Times New Roman" pitchFamily="18" charset="0"/>
            </a:endParaRPr>
          </a:p>
        </p:txBody>
      </p:sp>
      <p:sp>
        <p:nvSpPr>
          <p:cNvPr id="3" name="Subtitle 2"/>
          <p:cNvSpPr>
            <a:spLocks noGrp="1"/>
          </p:cNvSpPr>
          <p:nvPr>
            <p:ph type="subTitle" idx="1"/>
          </p:nvPr>
        </p:nvSpPr>
        <p:spPr>
          <a:xfrm>
            <a:off x="228600" y="2057400"/>
            <a:ext cx="8686800" cy="4267200"/>
          </a:xfrm>
        </p:spPr>
        <p:txBody>
          <a:bodyPr>
            <a:normAutofit lnSpcReduction="10000"/>
          </a:bodyPr>
          <a:lstStyle/>
          <a:p>
            <a:pPr algn="l"/>
            <a:r>
              <a:rPr lang="en-US" sz="3600" b="1" dirty="0" smtClean="0">
                <a:solidFill>
                  <a:schemeClr val="tx1"/>
                </a:solidFill>
                <a:latin typeface="Comic Sans MS" pitchFamily="66" charset="0"/>
              </a:rPr>
              <a:t>The historical conference on </a:t>
            </a:r>
            <a:r>
              <a:rPr lang="en-US" sz="3600" b="1" dirty="0" smtClean="0">
                <a:solidFill>
                  <a:srgbClr val="0070C0"/>
                </a:solidFill>
                <a:latin typeface="Comic Sans MS" pitchFamily="66" charset="0"/>
              </a:rPr>
              <a:t>Human Environment </a:t>
            </a:r>
            <a:r>
              <a:rPr lang="en-US" sz="3600" b="1" dirty="0" smtClean="0">
                <a:solidFill>
                  <a:schemeClr val="tx1"/>
                </a:solidFill>
                <a:latin typeface="Comic Sans MS" pitchFamily="66" charset="0"/>
              </a:rPr>
              <a:t>was held in </a:t>
            </a:r>
            <a:r>
              <a:rPr lang="en-US" sz="3600" b="1" dirty="0" smtClean="0">
                <a:solidFill>
                  <a:srgbClr val="FF0000"/>
                </a:solidFill>
                <a:latin typeface="Comic Sans MS" pitchFamily="66" charset="0"/>
              </a:rPr>
              <a:t>Stockholm </a:t>
            </a:r>
            <a:r>
              <a:rPr lang="en-US" sz="3600" b="1" dirty="0" smtClean="0">
                <a:solidFill>
                  <a:schemeClr val="tx1"/>
                </a:solidFill>
                <a:latin typeface="Comic Sans MS" pitchFamily="66" charset="0"/>
              </a:rPr>
              <a:t>from 5th June to 16th June </a:t>
            </a:r>
            <a:r>
              <a:rPr lang="en-US" sz="3600" b="1" dirty="0" smtClean="0">
                <a:solidFill>
                  <a:srgbClr val="0070C0"/>
                </a:solidFill>
                <a:latin typeface="Comic Sans MS" pitchFamily="66" charset="0"/>
              </a:rPr>
              <a:t>1972</a:t>
            </a:r>
            <a:r>
              <a:rPr lang="en-US" sz="3600" b="1" dirty="0" smtClean="0">
                <a:solidFill>
                  <a:schemeClr val="tx1"/>
                </a:solidFill>
                <a:latin typeface="Comic Sans MS" pitchFamily="66" charset="0"/>
              </a:rPr>
              <a:t>. </a:t>
            </a:r>
          </a:p>
          <a:p>
            <a:pPr algn="l"/>
            <a:r>
              <a:rPr lang="en-US" sz="3600" b="1" dirty="0" smtClean="0">
                <a:solidFill>
                  <a:schemeClr val="tx1"/>
                </a:solidFill>
                <a:latin typeface="Comic Sans MS" pitchFamily="66" charset="0"/>
              </a:rPr>
              <a:t>It was the first global recognition that the environment was endangered and the governments and the industry had to collectively put in an effort to protect the environment. </a:t>
            </a:r>
          </a:p>
          <a:p>
            <a:pPr algn="l"/>
            <a:endParaRPr lang="en-US" sz="1800" b="1" dirty="0" smtClean="0">
              <a:solidFill>
                <a:schemeClr val="tx1"/>
              </a:solidFill>
            </a:endParaRPr>
          </a:p>
        </p:txBody>
      </p:sp>
      <p:sp>
        <p:nvSpPr>
          <p:cNvPr id="4" name="Rectangle 3"/>
          <p:cNvSpPr/>
          <p:nvPr/>
        </p:nvSpPr>
        <p:spPr>
          <a:xfrm>
            <a:off x="304800" y="1447800"/>
            <a:ext cx="7239000" cy="584775"/>
          </a:xfrm>
          <a:prstGeom prst="rect">
            <a:avLst/>
          </a:prstGeom>
        </p:spPr>
        <p:txBody>
          <a:bodyPr wrap="square">
            <a:spAutoFit/>
          </a:bodyPr>
          <a:lstStyle/>
          <a:p>
            <a:r>
              <a:rPr lang="en-US" sz="3200" b="1" u="sng" dirty="0" smtClean="0">
                <a:solidFill>
                  <a:srgbClr val="C00000"/>
                </a:solidFill>
                <a:latin typeface="Times New Roman" pitchFamily="18" charset="0"/>
                <a:cs typeface="Times New Roman" pitchFamily="18" charset="0"/>
              </a:rPr>
              <a:t>UN Conference on Human Environment  </a:t>
            </a:r>
            <a:endParaRPr lang="en-US" sz="3200" b="1" u="sng" dirty="0">
              <a:solidFill>
                <a:srgbClr val="C00000"/>
              </a:solidFill>
              <a:latin typeface="Times New Roman" pitchFamily="18" charset="0"/>
              <a:cs typeface="Times New Roman" pitchFamily="18" charset="0"/>
            </a:endParaRPr>
          </a:p>
        </p:txBody>
      </p:sp>
      <p:pic>
        <p:nvPicPr>
          <p:cNvPr id="1026" name="Picture 2" descr="C:\Users\hp\Desktop\IMG-20121224-01365.jpg"/>
          <p:cNvPicPr>
            <a:picLocks noChangeAspect="1" noChangeArrowheads="1"/>
          </p:cNvPicPr>
          <p:nvPr/>
        </p:nvPicPr>
        <p:blipFill>
          <a:blip r:embed="rId2" cstate="print"/>
          <a:srcRect/>
          <a:stretch>
            <a:fillRect/>
          </a:stretch>
        </p:blipFill>
        <p:spPr bwMode="auto">
          <a:xfrm>
            <a:off x="7086600" y="4572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5C3A745-FB80-4FDD-904C-429D78F72201}"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2</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85800"/>
          </a:xfrm>
        </p:spPr>
        <p:txBody>
          <a:bodyPr>
            <a:noAutofit/>
          </a:bodyPr>
          <a:lstStyle/>
          <a:p>
            <a:r>
              <a:rPr lang="en-US" sz="3600" b="1" u="sng" dirty="0" smtClean="0">
                <a:solidFill>
                  <a:srgbClr val="C00000"/>
                </a:solidFill>
              </a:rPr>
              <a:t>UN Conference on Human Environment  </a:t>
            </a:r>
            <a:br>
              <a:rPr lang="en-US" sz="3600" b="1" u="sng" dirty="0" smtClean="0">
                <a:solidFill>
                  <a:srgbClr val="C00000"/>
                </a:solidFill>
              </a:rPr>
            </a:br>
            <a:endParaRPr lang="en-IN" sz="3600" dirty="0"/>
          </a:p>
        </p:txBody>
      </p:sp>
      <p:sp>
        <p:nvSpPr>
          <p:cNvPr id="3" name="Content Placeholder 2"/>
          <p:cNvSpPr>
            <a:spLocks noGrp="1"/>
          </p:cNvSpPr>
          <p:nvPr>
            <p:ph idx="1"/>
          </p:nvPr>
        </p:nvSpPr>
        <p:spPr>
          <a:xfrm>
            <a:off x="304800" y="1143000"/>
            <a:ext cx="8610600" cy="5181600"/>
          </a:xfrm>
        </p:spPr>
        <p:txBody>
          <a:bodyPr>
            <a:normAutofit fontScale="85000" lnSpcReduction="20000"/>
          </a:bodyPr>
          <a:lstStyle/>
          <a:p>
            <a:r>
              <a:rPr lang="en-US" b="1" dirty="0" smtClean="0">
                <a:latin typeface="Comic Sans MS" pitchFamily="66" charset="0"/>
              </a:rPr>
              <a:t>The Conference called upon the Governments and people to exert common efforts for the </a:t>
            </a:r>
            <a:r>
              <a:rPr lang="en-US" sz="3600" b="1" dirty="0" smtClean="0">
                <a:solidFill>
                  <a:srgbClr val="FF0000"/>
                </a:solidFill>
                <a:latin typeface="Comic Sans MS" pitchFamily="66" charset="0"/>
              </a:rPr>
              <a:t>preservation and improvement of the human environment.</a:t>
            </a:r>
          </a:p>
          <a:p>
            <a:pPr>
              <a:buNone/>
            </a:pPr>
            <a:r>
              <a:rPr lang="en-US" b="1" dirty="0" smtClean="0">
                <a:latin typeface="Comic Sans MS" pitchFamily="66" charset="0"/>
              </a:rPr>
              <a:t> </a:t>
            </a:r>
          </a:p>
          <a:p>
            <a:r>
              <a:rPr lang="en-US" b="1" dirty="0" smtClean="0">
                <a:latin typeface="Comic Sans MS" pitchFamily="66" charset="0"/>
              </a:rPr>
              <a:t>For the first time the developed countries realized that they had completely ignored the impact on the environment during their rapid development and other natural resources of the world. </a:t>
            </a:r>
          </a:p>
          <a:p>
            <a:endParaRPr lang="en-US" b="1" dirty="0" smtClean="0">
              <a:latin typeface="Comic Sans MS" pitchFamily="66" charset="0"/>
            </a:endParaRPr>
          </a:p>
          <a:p>
            <a:r>
              <a:rPr lang="en-US" b="1" dirty="0" smtClean="0">
                <a:latin typeface="Comic Sans MS" pitchFamily="66" charset="0"/>
              </a:rPr>
              <a:t>The United Nations General Assembly laid down as many as 26 principles in the Conference held at Stockholm in 1972.</a:t>
            </a:r>
          </a:p>
          <a:p>
            <a:endParaRPr lang="en-IN"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r>
              <a:rPr lang="en-US" b="1" dirty="0" smtClean="0">
                <a:solidFill>
                  <a:srgbClr val="0033CC"/>
                </a:solidFill>
                <a:latin typeface="Broadway" pitchFamily="82" charset="0"/>
              </a:rPr>
              <a:t/>
            </a:r>
            <a:br>
              <a:rPr lang="en-US" b="1" dirty="0" smtClean="0">
                <a:solidFill>
                  <a:srgbClr val="0033CC"/>
                </a:solidFill>
                <a:latin typeface="Broadway" pitchFamily="82" charset="0"/>
              </a:rPr>
            </a:br>
            <a:r>
              <a:rPr lang="en-US" b="1" dirty="0" smtClean="0">
                <a:solidFill>
                  <a:srgbClr val="0033CC"/>
                </a:solidFill>
                <a:latin typeface="Broadway" pitchFamily="82" charset="0"/>
              </a:rPr>
              <a:t>Need for </a:t>
            </a:r>
            <a:br>
              <a:rPr lang="en-US" b="1" dirty="0" smtClean="0">
                <a:solidFill>
                  <a:srgbClr val="0033CC"/>
                </a:solidFill>
                <a:latin typeface="Broadway" pitchFamily="82" charset="0"/>
              </a:rPr>
            </a:br>
            <a:r>
              <a:rPr lang="en-US" b="1" dirty="0" smtClean="0">
                <a:solidFill>
                  <a:srgbClr val="0033CC"/>
                </a:solidFill>
                <a:latin typeface="Broadway" pitchFamily="82" charset="0"/>
              </a:rPr>
              <a:t>ENVIRONMENTAL LAWS </a:t>
            </a:r>
            <a:br>
              <a:rPr lang="en-US" b="1" dirty="0" smtClean="0">
                <a:solidFill>
                  <a:srgbClr val="0033CC"/>
                </a:solidFill>
                <a:latin typeface="Broadway" pitchFamily="82" charset="0"/>
              </a:rPr>
            </a:br>
            <a:endParaRPr lang="en-US" dirty="0" smtClean="0"/>
          </a:p>
        </p:txBody>
      </p:sp>
      <p:sp>
        <p:nvSpPr>
          <p:cNvPr id="6147" name="Rectangle 3"/>
          <p:cNvSpPr>
            <a:spLocks noGrp="1" noChangeArrowheads="1"/>
          </p:cNvSpPr>
          <p:nvPr>
            <p:ph type="body" idx="1"/>
          </p:nvPr>
        </p:nvSpPr>
        <p:spPr>
          <a:xfrm>
            <a:off x="152400" y="1600200"/>
            <a:ext cx="8763000" cy="4876800"/>
          </a:xfrm>
        </p:spPr>
        <p:txBody>
          <a:bodyPr>
            <a:normAutofit/>
          </a:bodyPr>
          <a:lstStyle/>
          <a:p>
            <a:pPr eaLnBrk="1" hangingPunct="1">
              <a:lnSpc>
                <a:spcPct val="80000"/>
              </a:lnSpc>
            </a:pPr>
            <a:r>
              <a:rPr lang="en-US" dirty="0" smtClean="0">
                <a:latin typeface="Comic Sans MS" pitchFamily="66" charset="0"/>
              </a:rPr>
              <a:t>As impacts grew considerably environmental protection became a national priority in the 1970s. </a:t>
            </a:r>
          </a:p>
          <a:p>
            <a:pPr eaLnBrk="1" hangingPunct="1">
              <a:lnSpc>
                <a:spcPct val="80000"/>
              </a:lnSpc>
            </a:pPr>
            <a:r>
              <a:rPr lang="en-US" dirty="0" smtClean="0">
                <a:latin typeface="Comic Sans MS" pitchFamily="66" charset="0"/>
              </a:rPr>
              <a:t>While the wider  general legislation to protect our environment is now in place, it has become increasingly evident that our environmental situation continues to deteriorate. </a:t>
            </a:r>
          </a:p>
          <a:p>
            <a:pPr eaLnBrk="1" hangingPunct="1">
              <a:lnSpc>
                <a:spcPct val="80000"/>
              </a:lnSpc>
            </a:pPr>
            <a:r>
              <a:rPr lang="en-US" b="1" dirty="0" smtClean="0">
                <a:solidFill>
                  <a:srgbClr val="FF0000"/>
                </a:solidFill>
                <a:latin typeface="Comic Sans MS" pitchFamily="66" charset="0"/>
              </a:rPr>
              <a:t>We need to implement these Acts much more aggressively if our environment is to be protected.</a:t>
            </a:r>
          </a:p>
          <a:p>
            <a:pPr eaLnBrk="1" hangingPunct="1">
              <a:lnSpc>
                <a:spcPct val="80000"/>
              </a:lnSpc>
            </a:pPr>
            <a:endParaRPr lang="en-US" sz="2800" dirty="0" smtClean="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D56C7873-9155-456C-8BD3-E4B60433DC18}"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4</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33CC"/>
                </a:solidFill>
                <a:latin typeface="Broadway" pitchFamily="82" charset="0"/>
              </a:rPr>
              <a:t>ENVIRONMENTAL LAWS IN INDIA</a:t>
            </a:r>
            <a:endParaRPr lang="en-US" dirty="0"/>
          </a:p>
        </p:txBody>
      </p:sp>
      <p:sp>
        <p:nvSpPr>
          <p:cNvPr id="3" name="Content Placeholder 2"/>
          <p:cNvSpPr>
            <a:spLocks noGrp="1"/>
          </p:cNvSpPr>
          <p:nvPr>
            <p:ph idx="1"/>
          </p:nvPr>
        </p:nvSpPr>
        <p:spPr>
          <a:xfrm>
            <a:off x="228600" y="1600200"/>
            <a:ext cx="8686800" cy="4724400"/>
          </a:xfrm>
        </p:spPr>
        <p:txBody>
          <a:bodyPr>
            <a:normAutofit lnSpcReduction="10000"/>
          </a:bodyPr>
          <a:lstStyle/>
          <a:p>
            <a:pPr>
              <a:lnSpc>
                <a:spcPct val="80000"/>
              </a:lnSpc>
            </a:pPr>
            <a:r>
              <a:rPr lang="en-US" sz="4000" dirty="0" smtClean="0">
                <a:latin typeface="Comic Sans MS" pitchFamily="66" charset="0"/>
              </a:rPr>
              <a:t>The Government of India promulgated various </a:t>
            </a:r>
            <a:r>
              <a:rPr lang="en-US" sz="4000" b="1" dirty="0" smtClean="0">
                <a:solidFill>
                  <a:srgbClr val="FF0000"/>
                </a:solidFill>
                <a:latin typeface="Comic Sans MS" pitchFamily="66" charset="0"/>
              </a:rPr>
              <a:t>Environmental Acts </a:t>
            </a:r>
            <a:r>
              <a:rPr lang="en-US" sz="4000" dirty="0" smtClean="0">
                <a:latin typeface="Comic Sans MS" pitchFamily="66" charset="0"/>
              </a:rPr>
              <a:t>to address various issues affecting </a:t>
            </a:r>
            <a:r>
              <a:rPr lang="en-US" sz="4000" dirty="0" smtClean="0">
                <a:solidFill>
                  <a:srgbClr val="FF0000"/>
                </a:solidFill>
                <a:latin typeface="Comic Sans MS" pitchFamily="66" charset="0"/>
              </a:rPr>
              <a:t>different components of the environment.</a:t>
            </a:r>
          </a:p>
          <a:p>
            <a:pPr>
              <a:lnSpc>
                <a:spcPct val="80000"/>
              </a:lnSpc>
            </a:pPr>
            <a:r>
              <a:rPr lang="en-US" sz="4000" dirty="0" smtClean="0">
                <a:latin typeface="Comic Sans MS" pitchFamily="66" charset="0"/>
              </a:rPr>
              <a:t>Various Acts were thus passed to protect the environment, as there was a growing concern over the </a:t>
            </a:r>
            <a:r>
              <a:rPr lang="en-US" sz="4000" dirty="0" smtClean="0">
                <a:solidFill>
                  <a:srgbClr val="0033CC"/>
                </a:solidFill>
                <a:latin typeface="Comic Sans MS" pitchFamily="66" charset="0"/>
              </a:rPr>
              <a:t>deteriorating state of the environment in India.</a:t>
            </a:r>
          </a:p>
          <a:p>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274638"/>
            <a:ext cx="8229600" cy="639762"/>
          </a:xfrm>
        </p:spPr>
        <p:txBody>
          <a:bodyPr>
            <a:normAutofit fontScale="90000"/>
          </a:bodyPr>
          <a:lstStyle/>
          <a:p>
            <a:r>
              <a:rPr lang="en-US" sz="4000" b="1" dirty="0" smtClean="0"/>
              <a:t/>
            </a:r>
            <a:br>
              <a:rPr lang="en-US" sz="4000" b="1" dirty="0" smtClean="0"/>
            </a:br>
            <a:r>
              <a:rPr lang="en-US" sz="3600" b="1" dirty="0" smtClean="0">
                <a:solidFill>
                  <a:srgbClr val="0033CC"/>
                </a:solidFill>
                <a:latin typeface="Broadway" pitchFamily="82" charset="0"/>
              </a:rPr>
              <a:t>ENVIRONMENTAL LAWS IN INDIA</a:t>
            </a:r>
            <a:r>
              <a:rPr lang="en-US" sz="3600" b="1" dirty="0">
                <a:solidFill>
                  <a:srgbClr val="0033CC"/>
                </a:solidFill>
                <a:latin typeface="Broadway" pitchFamily="82" charset="0"/>
              </a:rPr>
              <a:t/>
            </a:r>
            <a:br>
              <a:rPr lang="en-US" sz="3600" b="1" dirty="0">
                <a:solidFill>
                  <a:srgbClr val="0033CC"/>
                </a:solidFill>
                <a:latin typeface="Broadway" pitchFamily="82" charset="0"/>
              </a:rPr>
            </a:br>
            <a:endParaRPr lang="en-US" sz="3600" b="1" dirty="0">
              <a:solidFill>
                <a:srgbClr val="0033CC"/>
              </a:solidFill>
              <a:latin typeface="Broadway" pitchFamily="82" charset="0"/>
            </a:endParaRPr>
          </a:p>
        </p:txBody>
      </p:sp>
      <p:sp>
        <p:nvSpPr>
          <p:cNvPr id="8195" name="Rectangle 3"/>
          <p:cNvSpPr>
            <a:spLocks noGrp="1" noChangeArrowheads="1"/>
          </p:cNvSpPr>
          <p:nvPr>
            <p:ph type="body" idx="1"/>
          </p:nvPr>
        </p:nvSpPr>
        <p:spPr>
          <a:xfrm>
            <a:off x="304800" y="990600"/>
            <a:ext cx="8610600" cy="5486400"/>
          </a:xfrm>
        </p:spPr>
        <p:txBody>
          <a:bodyPr>
            <a:noAutofit/>
          </a:bodyPr>
          <a:lstStyle/>
          <a:p>
            <a:pPr>
              <a:lnSpc>
                <a:spcPct val="80000"/>
              </a:lnSpc>
              <a:buNone/>
            </a:pPr>
            <a:r>
              <a:rPr lang="en-US" sz="2800" b="1" dirty="0">
                <a:solidFill>
                  <a:srgbClr val="FF0000"/>
                </a:solidFill>
              </a:rPr>
              <a:t>Following is a list of major Environmental Acts and Rules applicable in India</a:t>
            </a:r>
            <a:r>
              <a:rPr lang="en-US" sz="2800" b="1" dirty="0" smtClean="0">
                <a:solidFill>
                  <a:srgbClr val="FF0000"/>
                </a:solidFill>
              </a:rPr>
              <a:t>.</a:t>
            </a:r>
          </a:p>
          <a:p>
            <a:pPr>
              <a:lnSpc>
                <a:spcPct val="80000"/>
              </a:lnSpc>
              <a:buNone/>
            </a:pPr>
            <a:endParaRPr lang="en-US" sz="2800" b="1" dirty="0">
              <a:solidFill>
                <a:srgbClr val="FF0000"/>
              </a:solidFill>
            </a:endParaRPr>
          </a:p>
          <a:p>
            <a:pPr>
              <a:lnSpc>
                <a:spcPct val="80000"/>
              </a:lnSpc>
            </a:pPr>
            <a:r>
              <a:rPr lang="en-US" sz="2400" b="1" dirty="0">
                <a:solidFill>
                  <a:srgbClr val="0033CC"/>
                </a:solidFill>
                <a:latin typeface="Comic Sans MS" pitchFamily="66" charset="0"/>
              </a:rPr>
              <a:t>The Water (Prevention &amp; Control of Pollution) Act 1974 (as amended </a:t>
            </a:r>
            <a:r>
              <a:rPr lang="en-US" sz="2400" b="1" dirty="0" smtClean="0">
                <a:solidFill>
                  <a:srgbClr val="0033CC"/>
                </a:solidFill>
                <a:latin typeface="Comic Sans MS" pitchFamily="66" charset="0"/>
              </a:rPr>
              <a:t>up to </a:t>
            </a:r>
            <a:r>
              <a:rPr lang="en-US" sz="2400" b="1" dirty="0">
                <a:solidFill>
                  <a:srgbClr val="0033CC"/>
                </a:solidFill>
                <a:latin typeface="Comic Sans MS" pitchFamily="66" charset="0"/>
              </a:rPr>
              <a:t>1998).</a:t>
            </a:r>
          </a:p>
          <a:p>
            <a:pPr>
              <a:lnSpc>
                <a:spcPct val="80000"/>
              </a:lnSpc>
            </a:pPr>
            <a:r>
              <a:rPr lang="en-US" sz="2400" b="1" dirty="0">
                <a:latin typeface="Comic Sans MS" pitchFamily="66" charset="0"/>
              </a:rPr>
              <a:t>The Water (Prevention &amp;control of Pollution) </a:t>
            </a:r>
            <a:r>
              <a:rPr lang="en-US" sz="2400" b="1" dirty="0" err="1">
                <a:latin typeface="Comic Sans MS" pitchFamily="66" charset="0"/>
              </a:rPr>
              <a:t>cess</a:t>
            </a:r>
            <a:r>
              <a:rPr lang="en-US" sz="2400" b="1" dirty="0">
                <a:latin typeface="Comic Sans MS" pitchFamily="66" charset="0"/>
              </a:rPr>
              <a:t> Act, 1977 (as amended by Amendment Act 1991).</a:t>
            </a:r>
          </a:p>
          <a:p>
            <a:pPr>
              <a:lnSpc>
                <a:spcPct val="80000"/>
              </a:lnSpc>
            </a:pPr>
            <a:r>
              <a:rPr lang="en-US" sz="2400" b="1" dirty="0">
                <a:solidFill>
                  <a:srgbClr val="0033CC"/>
                </a:solidFill>
                <a:latin typeface="Comic Sans MS" pitchFamily="66" charset="0"/>
              </a:rPr>
              <a:t>The Air (Prevention &amp; Control of Pollution) Act 1981 as amended by Amendment Act 1986</a:t>
            </a:r>
          </a:p>
          <a:p>
            <a:pPr>
              <a:lnSpc>
                <a:spcPct val="80000"/>
              </a:lnSpc>
            </a:pPr>
            <a:r>
              <a:rPr lang="en-US" sz="2400" b="1" dirty="0">
                <a:latin typeface="Comic Sans MS" pitchFamily="66" charset="0"/>
              </a:rPr>
              <a:t>Environment (Protection) Act </a:t>
            </a:r>
            <a:r>
              <a:rPr lang="en-US" sz="2400" b="1" dirty="0" smtClean="0">
                <a:latin typeface="Comic Sans MS" pitchFamily="66" charset="0"/>
              </a:rPr>
              <a:t>1986;amended 1991.</a:t>
            </a:r>
            <a:endParaRPr lang="en-US" sz="2400" b="1" dirty="0">
              <a:latin typeface="Comic Sans MS" pitchFamily="66" charset="0"/>
            </a:endParaRPr>
          </a:p>
          <a:p>
            <a:pPr>
              <a:lnSpc>
                <a:spcPct val="80000"/>
              </a:lnSpc>
            </a:pPr>
            <a:r>
              <a:rPr lang="en-US" sz="2400" b="1" dirty="0">
                <a:solidFill>
                  <a:srgbClr val="0033CC"/>
                </a:solidFill>
                <a:latin typeface="Comic Sans MS" pitchFamily="66" charset="0"/>
              </a:rPr>
              <a:t>Hazardous Waste (Management &amp; Handling) Rules 1989.</a:t>
            </a:r>
          </a:p>
          <a:p>
            <a:pPr>
              <a:lnSpc>
                <a:spcPct val="80000"/>
              </a:lnSpc>
            </a:pPr>
            <a:r>
              <a:rPr lang="en-US" sz="2400" b="1" dirty="0">
                <a:latin typeface="Comic Sans MS" pitchFamily="66" charset="0"/>
              </a:rPr>
              <a:t>The Public Liability Insurance Act 1991.</a:t>
            </a:r>
          </a:p>
          <a:p>
            <a:pPr>
              <a:lnSpc>
                <a:spcPct val="80000"/>
              </a:lnSpc>
            </a:pPr>
            <a:r>
              <a:rPr lang="en-US" sz="2400" b="1" dirty="0">
                <a:solidFill>
                  <a:srgbClr val="0033CC"/>
                </a:solidFill>
                <a:latin typeface="Comic Sans MS" pitchFamily="66" charset="0"/>
              </a:rPr>
              <a:t>Environment Protection Amendment Rule 1983</a:t>
            </a:r>
            <a:r>
              <a:rPr lang="en-US" sz="2400" b="1" dirty="0" smtClean="0">
                <a:solidFill>
                  <a:srgbClr val="0033CC"/>
                </a:solidFill>
                <a:latin typeface="Comic Sans MS" pitchFamily="66" charset="0"/>
              </a:rPr>
              <a:t>.</a:t>
            </a:r>
            <a:endParaRPr lang="en-US" sz="2400" b="1" dirty="0">
              <a:solidFill>
                <a:srgbClr val="0033CC"/>
              </a:solidFill>
              <a:latin typeface="Comic Sans MS" pitchFamily="66" charset="0"/>
            </a:endParaRP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1BE21E7A-8340-4A41-A261-7E4CF66051E7}"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266700" y="152400"/>
            <a:ext cx="8763000" cy="838200"/>
          </a:xfrm>
        </p:spPr>
        <p:txBody>
          <a:bodyPr>
            <a:normAutofit/>
          </a:bodyPr>
          <a:lstStyle/>
          <a:p>
            <a:pPr marL="762000" indent="-762000"/>
            <a:r>
              <a:rPr lang="en-US" sz="3600" b="1" dirty="0" smtClean="0">
                <a:solidFill>
                  <a:srgbClr val="FF0000"/>
                </a:solidFill>
                <a:latin typeface="Broadway" pitchFamily="82" charset="0"/>
              </a:rPr>
              <a:t>Environmental  Protection Acts</a:t>
            </a:r>
            <a:endParaRPr lang="en-US" sz="3600" b="1" dirty="0">
              <a:solidFill>
                <a:srgbClr val="FF0000"/>
              </a:solidFill>
              <a:latin typeface="Broadway" pitchFamily="82" charset="0"/>
            </a:endParaRPr>
          </a:p>
        </p:txBody>
      </p:sp>
      <p:sp>
        <p:nvSpPr>
          <p:cNvPr id="38932" name="Text Box 20"/>
          <p:cNvSpPr txBox="1">
            <a:spLocks noChangeArrowheads="1"/>
          </p:cNvSpPr>
          <p:nvPr/>
        </p:nvSpPr>
        <p:spPr bwMode="auto">
          <a:xfrm>
            <a:off x="152400" y="990600"/>
            <a:ext cx="8686800" cy="59647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80000"/>
              </a:lnSpc>
              <a:buFont typeface="Wingdings" pitchFamily="2" charset="2"/>
              <a:buChar char="§"/>
            </a:pPr>
            <a:r>
              <a:rPr lang="en-US" sz="3600" b="1" dirty="0" smtClean="0">
                <a:latin typeface="Comic Sans MS" pitchFamily="66" charset="0"/>
              </a:rPr>
              <a:t>Manufacture, Storage and Import of Hazardous Chemicals (Amendment) Rules 1984.</a:t>
            </a:r>
          </a:p>
          <a:p>
            <a:pPr>
              <a:lnSpc>
                <a:spcPct val="80000"/>
              </a:lnSpc>
              <a:buFont typeface="Wingdings" pitchFamily="2" charset="2"/>
              <a:buChar char="§"/>
            </a:pPr>
            <a:endParaRPr lang="en-US" sz="3600" b="1" dirty="0" smtClean="0">
              <a:latin typeface="Comic Sans MS" pitchFamily="66" charset="0"/>
            </a:endParaRPr>
          </a:p>
          <a:p>
            <a:pPr>
              <a:lnSpc>
                <a:spcPct val="80000"/>
              </a:lnSpc>
              <a:buFont typeface="Wingdings" pitchFamily="2" charset="2"/>
              <a:buChar char="§"/>
            </a:pPr>
            <a:r>
              <a:rPr lang="en-US" sz="3600" b="1" dirty="0" smtClean="0">
                <a:solidFill>
                  <a:srgbClr val="0033CC"/>
                </a:solidFill>
                <a:latin typeface="Comic Sans MS" pitchFamily="66" charset="0"/>
              </a:rPr>
              <a:t>The Factories Act 1984.</a:t>
            </a:r>
          </a:p>
          <a:p>
            <a:pPr>
              <a:buFont typeface="Wingdings" pitchFamily="2" charset="2"/>
              <a:buChar char="§"/>
            </a:pPr>
            <a:r>
              <a:rPr lang="en-US" sz="3600" b="1" dirty="0" smtClean="0">
                <a:latin typeface="Comic Sans MS" pitchFamily="66" charset="0"/>
                <a:cs typeface="Arial" charset="0"/>
              </a:rPr>
              <a:t>Atomic Act 1988: </a:t>
            </a:r>
            <a:r>
              <a:rPr lang="en-US" sz="3600" dirty="0" smtClean="0">
                <a:latin typeface="Comic Sans MS" pitchFamily="66" charset="0"/>
                <a:cs typeface="Arial" charset="0"/>
              </a:rPr>
              <a:t>It deals with radioactive waste</a:t>
            </a:r>
          </a:p>
          <a:p>
            <a:pPr>
              <a:buFont typeface="Wingdings" pitchFamily="2" charset="2"/>
              <a:buChar char="§"/>
            </a:pPr>
            <a:r>
              <a:rPr lang="en-US" sz="3600" b="1" dirty="0" smtClean="0">
                <a:solidFill>
                  <a:srgbClr val="0070C0"/>
                </a:solidFill>
                <a:latin typeface="Comic Sans MS" pitchFamily="66" charset="0"/>
                <a:cs typeface="Arial" charset="0"/>
              </a:rPr>
              <a:t>Motor vehicles Act 1988: </a:t>
            </a:r>
            <a:r>
              <a:rPr lang="en-US" sz="3600" dirty="0" smtClean="0">
                <a:solidFill>
                  <a:srgbClr val="0070C0"/>
                </a:solidFill>
                <a:latin typeface="Comic Sans MS" pitchFamily="66" charset="0"/>
                <a:cs typeface="Arial" charset="0"/>
              </a:rPr>
              <a:t>For regulating vehicular traffic and transportation of hazardous wastes</a:t>
            </a:r>
          </a:p>
          <a:p>
            <a:pPr>
              <a:lnSpc>
                <a:spcPct val="80000"/>
              </a:lnSpc>
              <a:buFont typeface="Wingdings" pitchFamily="2" charset="2"/>
              <a:buChar char="§"/>
            </a:pPr>
            <a:endParaRPr lang="en-US" sz="3600" b="1" dirty="0" smtClean="0">
              <a:solidFill>
                <a:srgbClr val="0033CC"/>
              </a:solidFill>
              <a:latin typeface="Comic Sans MS" pitchFamily="66" charset="0"/>
            </a:endParaRPr>
          </a:p>
          <a:p>
            <a:pPr>
              <a:lnSpc>
                <a:spcPct val="80000"/>
              </a:lnSpc>
              <a:buFont typeface="Wingdings" pitchFamily="2" charset="2"/>
              <a:buChar char="§"/>
            </a:pPr>
            <a:endParaRPr lang="en-US" sz="3600" b="1" dirty="0" smtClean="0">
              <a:solidFill>
                <a:srgbClr val="0033CC"/>
              </a:solidFill>
              <a:latin typeface="Comic Sans MS" pitchFamily="66" charset="0"/>
            </a:endParaRPr>
          </a:p>
        </p:txBody>
      </p:sp>
      <p:sp>
        <p:nvSpPr>
          <p:cNvPr id="4" name="Date Placeholder 3"/>
          <p:cNvSpPr>
            <a:spLocks noGrp="1"/>
          </p:cNvSpPr>
          <p:nvPr>
            <p:ph type="dt" sz="half" idx="10"/>
          </p:nvPr>
        </p:nvSpPr>
        <p:spPr/>
        <p:txBody>
          <a:bodyPr/>
          <a:lstStyle/>
          <a:p>
            <a:fld id="{EA7C92FE-840C-4109-8FA7-7EF990DB0D51}" type="datetime1">
              <a:rPr lang="en-US" smtClean="0"/>
              <a:pPr/>
              <a:t>11/13/2017</a:t>
            </a:fld>
            <a:endParaRPr lang="en-US"/>
          </a:p>
        </p:txBody>
      </p:sp>
      <p:sp>
        <p:nvSpPr>
          <p:cNvPr id="5" name="Slide Number Placeholder 4"/>
          <p:cNvSpPr>
            <a:spLocks noGrp="1"/>
          </p:cNvSpPr>
          <p:nvPr>
            <p:ph type="sldNum" sz="quarter" idx="12"/>
          </p:nvPr>
        </p:nvSpPr>
        <p:spPr/>
        <p:txBody>
          <a:bodyPr/>
          <a:lstStyle/>
          <a:p>
            <a:fld id="{3CBAC9F2-760C-4731-A747-FCB12ABB0301}"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Dr Jyoti K Sharma</a:t>
            </a:r>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extLst>
      <p:ext uri="{BB962C8B-B14F-4D97-AF65-F5344CB8AC3E}">
        <p14:creationId xmlns:p14="http://schemas.microsoft.com/office/powerpoint/2010/main" xmlns="" val="30027571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7030A0"/>
                </a:solidFill>
                <a:latin typeface="Broadway" pitchFamily="82" charset="0"/>
              </a:rPr>
              <a:t>Environmental Protection Acts</a:t>
            </a:r>
            <a:endParaRPr lang="en-IN" dirty="0"/>
          </a:p>
        </p:txBody>
      </p:sp>
      <p:sp>
        <p:nvSpPr>
          <p:cNvPr id="3" name="Content Placeholder 2"/>
          <p:cNvSpPr>
            <a:spLocks noGrp="1"/>
          </p:cNvSpPr>
          <p:nvPr>
            <p:ph idx="1"/>
          </p:nvPr>
        </p:nvSpPr>
        <p:spPr>
          <a:xfrm>
            <a:off x="228600" y="1600200"/>
            <a:ext cx="8686800" cy="4724400"/>
          </a:xfrm>
        </p:spPr>
        <p:txBody>
          <a:bodyPr>
            <a:normAutofit lnSpcReduction="10000"/>
          </a:bodyPr>
          <a:lstStyle/>
          <a:p>
            <a:pPr>
              <a:lnSpc>
                <a:spcPct val="80000"/>
              </a:lnSpc>
              <a:buFont typeface="Wingdings" pitchFamily="2" charset="2"/>
              <a:buChar char="§"/>
            </a:pPr>
            <a:r>
              <a:rPr lang="en-US" b="1" dirty="0" smtClean="0">
                <a:solidFill>
                  <a:srgbClr val="00B050"/>
                </a:solidFill>
                <a:latin typeface="Comic Sans MS" pitchFamily="66" charset="0"/>
              </a:rPr>
              <a:t>Biodiversity Act, </a:t>
            </a:r>
            <a:r>
              <a:rPr lang="en-US" b="1" dirty="0" smtClean="0">
                <a:solidFill>
                  <a:srgbClr val="00B050"/>
                </a:solidFill>
                <a:latin typeface="Comic Sans MS" pitchFamily="66" charset="0"/>
              </a:rPr>
              <a:t>2002: </a:t>
            </a:r>
            <a:r>
              <a:rPr lang="en-US" dirty="0" smtClean="0">
                <a:solidFill>
                  <a:srgbClr val="00B050"/>
                </a:solidFill>
                <a:latin typeface="Comic Sans MS" pitchFamily="66" charset="0"/>
              </a:rPr>
              <a:t>Enables the establishment of state-level biodiversity management committees to deal with observation, sustainable use and treatment of the </a:t>
            </a:r>
            <a:r>
              <a:rPr lang="en-US" dirty="0" smtClean="0">
                <a:solidFill>
                  <a:srgbClr val="00B050"/>
                </a:solidFill>
                <a:latin typeface="Comic Sans MS" pitchFamily="66" charset="0"/>
              </a:rPr>
              <a:t>biodiversity.</a:t>
            </a:r>
          </a:p>
          <a:p>
            <a:pPr>
              <a:lnSpc>
                <a:spcPct val="80000"/>
              </a:lnSpc>
              <a:buFont typeface="Wingdings" pitchFamily="2" charset="2"/>
              <a:buChar char="§"/>
            </a:pPr>
            <a:r>
              <a:rPr lang="en-US" b="1" dirty="0" smtClean="0">
                <a:solidFill>
                  <a:srgbClr val="00B050"/>
                </a:solidFill>
                <a:latin typeface="Comic Sans MS" pitchFamily="66" charset="0"/>
              </a:rPr>
              <a:t>Biodiversity Rules, 2006.</a:t>
            </a:r>
            <a:endParaRPr lang="en-US" b="1" dirty="0" smtClean="0">
              <a:solidFill>
                <a:srgbClr val="00B050"/>
              </a:solidFill>
              <a:latin typeface="Comic Sans MS" pitchFamily="66" charset="0"/>
            </a:endParaRPr>
          </a:p>
          <a:p>
            <a:pPr>
              <a:lnSpc>
                <a:spcPct val="80000"/>
              </a:lnSpc>
              <a:buFont typeface="Wingdings" pitchFamily="2" charset="2"/>
              <a:buChar char="§"/>
            </a:pPr>
            <a:endParaRPr lang="en-US" dirty="0" smtClean="0">
              <a:solidFill>
                <a:srgbClr val="00B050"/>
              </a:solidFill>
            </a:endParaRPr>
          </a:p>
          <a:p>
            <a:pPr>
              <a:lnSpc>
                <a:spcPct val="80000"/>
              </a:lnSpc>
              <a:buFont typeface="Wingdings" pitchFamily="2" charset="2"/>
              <a:buChar char="§"/>
            </a:pPr>
            <a:r>
              <a:rPr lang="en-US" b="1" dirty="0" smtClean="0">
                <a:latin typeface="Comic Sans MS" pitchFamily="66" charset="0"/>
              </a:rPr>
              <a:t>The Forest Conservation Act 1980.</a:t>
            </a:r>
          </a:p>
          <a:p>
            <a:pPr>
              <a:lnSpc>
                <a:spcPct val="80000"/>
              </a:lnSpc>
              <a:buFont typeface="Wingdings" pitchFamily="2" charset="2"/>
              <a:buChar char="§"/>
            </a:pPr>
            <a:r>
              <a:rPr lang="en-US" b="1" dirty="0" smtClean="0">
                <a:solidFill>
                  <a:srgbClr val="0033CC"/>
                </a:solidFill>
                <a:latin typeface="Comic Sans MS" pitchFamily="66" charset="0"/>
              </a:rPr>
              <a:t>Wildlife Protection Act 1972, amended in 1983, 1986 and 1991</a:t>
            </a:r>
          </a:p>
          <a:p>
            <a:pPr>
              <a:lnSpc>
                <a:spcPct val="80000"/>
              </a:lnSpc>
              <a:buFont typeface="Wingdings" pitchFamily="2" charset="2"/>
              <a:buChar char="§"/>
            </a:pPr>
            <a:r>
              <a:rPr lang="en-US" b="1" dirty="0" smtClean="0">
                <a:latin typeface="Comic Sans MS" pitchFamily="66" charset="0"/>
              </a:rPr>
              <a:t>The Notification on Environment Impact Assessment 1994.</a:t>
            </a:r>
          </a:p>
          <a:p>
            <a:pPr>
              <a:lnSpc>
                <a:spcPct val="80000"/>
              </a:lnSpc>
              <a:buFont typeface="Wingdings" pitchFamily="2" charset="2"/>
              <a:buChar char="§"/>
            </a:pPr>
            <a:endParaRPr lang="en-US" dirty="0" smtClean="0">
              <a:solidFill>
                <a:srgbClr val="00B050"/>
              </a:solidFill>
            </a:endParaRPr>
          </a:p>
          <a:p>
            <a:endParaRPr lang="en-IN"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normAutofit/>
          </a:bodyPr>
          <a:lstStyle/>
          <a:p>
            <a:r>
              <a:rPr lang="en-US" sz="3200" dirty="0" smtClean="0">
                <a:solidFill>
                  <a:srgbClr val="0033CC"/>
                </a:solidFill>
                <a:latin typeface="Broadway" pitchFamily="82" charset="0"/>
              </a:rPr>
              <a:t>Environment (Protection) Act 1986.</a:t>
            </a:r>
            <a:br>
              <a:rPr lang="en-US" sz="3200" dirty="0" smtClean="0">
                <a:solidFill>
                  <a:srgbClr val="0033CC"/>
                </a:solidFill>
                <a:latin typeface="Broadway" pitchFamily="82" charset="0"/>
              </a:rPr>
            </a:br>
            <a:r>
              <a:rPr lang="en-US" sz="3200" dirty="0" smtClean="0">
                <a:solidFill>
                  <a:srgbClr val="0033CC"/>
                </a:solidFill>
                <a:latin typeface="Broadway" pitchFamily="82" charset="0"/>
              </a:rPr>
              <a:t>&amp;</a:t>
            </a:r>
            <a:br>
              <a:rPr lang="en-US" sz="3200" dirty="0" smtClean="0">
                <a:solidFill>
                  <a:srgbClr val="0033CC"/>
                </a:solidFill>
                <a:latin typeface="Broadway" pitchFamily="82" charset="0"/>
              </a:rPr>
            </a:br>
            <a:r>
              <a:rPr lang="en-US" sz="3200" dirty="0" smtClean="0">
                <a:solidFill>
                  <a:srgbClr val="0033CC"/>
                </a:solidFill>
                <a:latin typeface="Broadway" pitchFamily="82" charset="0"/>
              </a:rPr>
              <a:t>Environment Protection Amendment Rule 1983</a:t>
            </a:r>
            <a:r>
              <a:rPr lang="en-US" dirty="0" smtClean="0">
                <a:solidFill>
                  <a:srgbClr val="0033CC"/>
                </a:solidFill>
                <a:latin typeface="Broadway" pitchFamily="82" charset="0"/>
              </a:rPr>
              <a:t/>
            </a:r>
            <a:br>
              <a:rPr lang="en-US" dirty="0" smtClean="0">
                <a:solidFill>
                  <a:srgbClr val="0033CC"/>
                </a:solidFill>
                <a:latin typeface="Broadway" pitchFamily="82" charset="0"/>
              </a:rPr>
            </a:br>
            <a:r>
              <a:rPr lang="en-US" dirty="0" smtClean="0"/>
              <a:t/>
            </a:r>
            <a:br>
              <a:rPr lang="en-US" dirty="0" smtClean="0"/>
            </a:br>
            <a:endParaRPr lang="en-US" dirty="0"/>
          </a:p>
        </p:txBody>
      </p:sp>
      <p:sp>
        <p:nvSpPr>
          <p:cNvPr id="3" name="Date Placeholder 2"/>
          <p:cNvSpPr>
            <a:spLocks noGrp="1"/>
          </p:cNvSpPr>
          <p:nvPr>
            <p:ph type="dt" sz="half" idx="10"/>
          </p:nvPr>
        </p:nvSpPr>
        <p:spPr/>
        <p:txBody>
          <a:bodyPr/>
          <a:lstStyle/>
          <a:p>
            <a:fld id="{0B0A4363-790A-495B-BE29-FBAE815B5499}"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9</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5029200" cy="838200"/>
          </a:xfrm>
        </p:spPr>
        <p:txBody>
          <a:bodyPr>
            <a:normAutofit fontScale="90000"/>
          </a:bodyPr>
          <a:lstStyle/>
          <a:p>
            <a:pPr algn="l"/>
            <a:r>
              <a:rPr lang="en-US" sz="3200" dirty="0" smtClean="0"/>
              <a:t> </a:t>
            </a:r>
            <a:r>
              <a:rPr lang="en-US" sz="3200" dirty="0" smtClean="0">
                <a:solidFill>
                  <a:srgbClr val="0033CC"/>
                </a:solidFill>
                <a:latin typeface="Broadway" pitchFamily="82" charset="0"/>
              </a:rPr>
              <a:t>Environmental Legislations                                                                                                                                  </a:t>
            </a:r>
            <a:endParaRPr lang="en-US" sz="3200" dirty="0">
              <a:solidFill>
                <a:srgbClr val="0033CC"/>
              </a:solidFill>
              <a:latin typeface="Broadway" pitchFamily="82" charset="0"/>
            </a:endParaRPr>
          </a:p>
        </p:txBody>
      </p:sp>
      <p:sp>
        <p:nvSpPr>
          <p:cNvPr id="3" name="Subtitle 2"/>
          <p:cNvSpPr>
            <a:spLocks noGrp="1"/>
          </p:cNvSpPr>
          <p:nvPr>
            <p:ph type="subTitle" idx="1"/>
          </p:nvPr>
        </p:nvSpPr>
        <p:spPr>
          <a:xfrm>
            <a:off x="304800" y="2895600"/>
            <a:ext cx="8686800" cy="3429000"/>
          </a:xfrm>
        </p:spPr>
        <p:txBody>
          <a:bodyPr>
            <a:normAutofit/>
          </a:bodyPr>
          <a:lstStyle/>
          <a:p>
            <a:pPr algn="l"/>
            <a:r>
              <a:rPr lang="en-US" sz="3600" b="1" dirty="0" smtClean="0">
                <a:solidFill>
                  <a:srgbClr val="7030A0"/>
                </a:solidFill>
              </a:rPr>
              <a:t>Environment (protection) Act, 1986: </a:t>
            </a:r>
            <a:r>
              <a:rPr lang="en-US" sz="3600" dirty="0" smtClean="0">
                <a:solidFill>
                  <a:srgbClr val="7030A0"/>
                </a:solidFill>
              </a:rPr>
              <a:t>It refers to the Stockholm conference in 1972. </a:t>
            </a:r>
          </a:p>
          <a:p>
            <a:pPr algn="l"/>
            <a:r>
              <a:rPr lang="en-US" sz="3600" b="1" dirty="0" smtClean="0">
                <a:solidFill>
                  <a:srgbClr val="FF0000"/>
                </a:solidFill>
                <a:latin typeface="Comic Sans MS" pitchFamily="66" charset="0"/>
              </a:rPr>
              <a:t>It deals with prevention, control, and abatement of environmental pollution.</a:t>
            </a:r>
          </a:p>
        </p:txBody>
      </p:sp>
      <p:sp>
        <p:nvSpPr>
          <p:cNvPr id="4" name="Rectangle 3"/>
          <p:cNvSpPr/>
          <p:nvPr/>
        </p:nvSpPr>
        <p:spPr>
          <a:xfrm>
            <a:off x="609600" y="1828800"/>
            <a:ext cx="7315200" cy="646331"/>
          </a:xfrm>
          <a:prstGeom prst="rect">
            <a:avLst/>
          </a:prstGeom>
        </p:spPr>
        <p:txBody>
          <a:bodyPr wrap="square">
            <a:spAutoFit/>
          </a:bodyPr>
          <a:lstStyle/>
          <a:p>
            <a:r>
              <a:rPr lang="en-US" sz="3600" b="1" dirty="0" smtClean="0">
                <a:solidFill>
                  <a:srgbClr val="C00000"/>
                </a:solidFill>
              </a:rPr>
              <a:t>Environmental Protection Act 1986 </a:t>
            </a:r>
            <a:endParaRPr lang="en-US" sz="3600" b="1" dirty="0">
              <a:solidFill>
                <a:srgbClr val="C00000"/>
              </a:solidFill>
            </a:endParaRPr>
          </a:p>
        </p:txBody>
      </p:sp>
      <p:pic>
        <p:nvPicPr>
          <p:cNvPr id="6"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7" name="Picture 6"/>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8" name="Date Placeholder 7"/>
          <p:cNvSpPr>
            <a:spLocks noGrp="1"/>
          </p:cNvSpPr>
          <p:nvPr>
            <p:ph type="dt" sz="half" idx="10"/>
          </p:nvPr>
        </p:nvSpPr>
        <p:spPr/>
        <p:txBody>
          <a:bodyPr/>
          <a:lstStyle/>
          <a:p>
            <a:fld id="{9A9822DE-ADDE-4044-9249-84FBAC835FFB}" type="datetime1">
              <a:rPr lang="en-US" smtClean="0"/>
              <a:pPr/>
              <a:t>11/13/2017</a:t>
            </a:fld>
            <a:endParaRPr lang="en-US"/>
          </a:p>
        </p:txBody>
      </p:sp>
      <p:sp>
        <p:nvSpPr>
          <p:cNvPr id="9" name="Slide Number Placeholder 8"/>
          <p:cNvSpPr>
            <a:spLocks noGrp="1"/>
          </p:cNvSpPr>
          <p:nvPr>
            <p:ph type="sldNum" sz="quarter" idx="12"/>
          </p:nvPr>
        </p:nvSpPr>
        <p:spPr/>
        <p:txBody>
          <a:bodyPr/>
          <a:lstStyle/>
          <a:p>
            <a:fld id="{AA27B22F-F1DE-48B0-A8DE-61B74EC6BEA5}" type="slidenum">
              <a:rPr lang="en-US" smtClean="0"/>
              <a:pPr/>
              <a:t>10</a:t>
            </a:fld>
            <a:endParaRPr lang="en-US"/>
          </a:p>
        </p:txBody>
      </p:sp>
      <p:sp>
        <p:nvSpPr>
          <p:cNvPr id="10" name="Footer Placeholder 9"/>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C00000"/>
                </a:solidFill>
              </a:rPr>
              <a:t>Environmental Protection Act 1986 </a:t>
            </a:r>
            <a:br>
              <a:rPr lang="en-US" b="1" dirty="0" smtClean="0">
                <a:solidFill>
                  <a:srgbClr val="C00000"/>
                </a:solidFill>
              </a:rPr>
            </a:br>
            <a:endParaRPr lang="en-US" dirty="0"/>
          </a:p>
        </p:txBody>
      </p:sp>
      <p:sp>
        <p:nvSpPr>
          <p:cNvPr id="3" name="Content Placeholder 2"/>
          <p:cNvSpPr>
            <a:spLocks noGrp="1"/>
          </p:cNvSpPr>
          <p:nvPr>
            <p:ph idx="1"/>
          </p:nvPr>
        </p:nvSpPr>
        <p:spPr/>
        <p:txBody>
          <a:bodyPr>
            <a:normAutofit/>
          </a:bodyPr>
          <a:lstStyle/>
          <a:p>
            <a:pPr>
              <a:buNone/>
            </a:pPr>
            <a:r>
              <a:rPr lang="en-US" sz="4000" dirty="0" smtClean="0"/>
              <a:t>Concept behind Act borrowed from proclamation  adopted by </a:t>
            </a:r>
            <a:endParaRPr lang="en-US" sz="4000" dirty="0" smtClean="0"/>
          </a:p>
          <a:p>
            <a:pPr>
              <a:buNone/>
            </a:pPr>
            <a:r>
              <a:rPr lang="en-US" sz="4000" b="1" dirty="0" smtClean="0"/>
              <a:t> </a:t>
            </a:r>
            <a:r>
              <a:rPr lang="en-US" sz="4000" b="1" dirty="0" smtClean="0"/>
              <a:t>  </a:t>
            </a:r>
            <a:r>
              <a:rPr lang="en-US" sz="4000" b="1" dirty="0" smtClean="0"/>
              <a:t>UN </a:t>
            </a:r>
            <a:r>
              <a:rPr lang="en-US" sz="4000" b="1" dirty="0" smtClean="0"/>
              <a:t>conference on Human Environment 5th to 16th June 1972 Stockholm </a:t>
            </a:r>
          </a:p>
          <a:p>
            <a:endParaRPr lang="en-US" dirty="0" smtClean="0"/>
          </a:p>
          <a:p>
            <a:pPr>
              <a:buNone/>
            </a:pPr>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solidFill>
                  <a:srgbClr val="0033CC"/>
                </a:solidFill>
                <a:latin typeface="Broadway" pitchFamily="82" charset="0"/>
              </a:rPr>
              <a:t>The Environment (Protection) Act, 1986</a:t>
            </a:r>
            <a:endParaRPr lang="en-US" sz="3200" dirty="0">
              <a:solidFill>
                <a:srgbClr val="0033CC"/>
              </a:solidFill>
              <a:latin typeface="Broadway" pitchFamily="82" charset="0"/>
            </a:endParaRPr>
          </a:p>
        </p:txBody>
      </p:sp>
      <p:sp>
        <p:nvSpPr>
          <p:cNvPr id="3" name="Content Placeholder 2"/>
          <p:cNvSpPr>
            <a:spLocks noGrp="1"/>
          </p:cNvSpPr>
          <p:nvPr>
            <p:ph idx="1"/>
          </p:nvPr>
        </p:nvSpPr>
        <p:spPr>
          <a:xfrm>
            <a:off x="304800" y="1447800"/>
            <a:ext cx="8610600" cy="4876800"/>
          </a:xfrm>
        </p:spPr>
        <p:txBody>
          <a:bodyPr>
            <a:noAutofit/>
          </a:bodyPr>
          <a:lstStyle/>
          <a:p>
            <a:pPr>
              <a:buNone/>
            </a:pPr>
            <a:r>
              <a:rPr lang="en-US" sz="3600" b="1" dirty="0" smtClean="0">
                <a:solidFill>
                  <a:srgbClr val="FF0000"/>
                </a:solidFill>
              </a:rPr>
              <a:t>The Environment (Protection) Act, 1986 </a:t>
            </a:r>
            <a:r>
              <a:rPr lang="en-US" sz="3600" b="1" dirty="0" smtClean="0"/>
              <a:t>not only has important constitutional  implications but also an international background. </a:t>
            </a:r>
          </a:p>
          <a:p>
            <a:pPr>
              <a:buNone/>
            </a:pPr>
            <a:r>
              <a:rPr lang="en-US" sz="3600" b="1" dirty="0" smtClean="0"/>
              <a:t>The spirit of the proclamation adopted by the United Nations Conference on Human Environment, held in Stockholm in June 1972, was implemented by the Government of India by creating this Act. </a:t>
            </a:r>
          </a:p>
          <a:p>
            <a:pPr>
              <a:buNone/>
            </a:pPr>
            <a:r>
              <a:rPr lang="en-US" sz="2400" dirty="0" smtClean="0"/>
              <a:t/>
            </a:r>
            <a:br>
              <a:rPr lang="en-US" sz="2400" dirty="0" smtClean="0"/>
            </a:br>
            <a:endParaRPr lang="en-US" sz="2400" dirty="0" smtClean="0"/>
          </a:p>
          <a:p>
            <a:endParaRPr lang="en-US" sz="2400" dirty="0"/>
          </a:p>
        </p:txBody>
      </p:sp>
      <p:sp>
        <p:nvSpPr>
          <p:cNvPr id="4" name="Date Placeholder 3"/>
          <p:cNvSpPr>
            <a:spLocks noGrp="1"/>
          </p:cNvSpPr>
          <p:nvPr>
            <p:ph type="dt" sz="half" idx="10"/>
          </p:nvPr>
        </p:nvSpPr>
        <p:spPr/>
        <p:txBody>
          <a:bodyPr/>
          <a:lstStyle/>
          <a:p>
            <a:fld id="{CB462EC7-E99F-480A-8670-1A91A19F01B7}"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12</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33CC"/>
                </a:solidFill>
                <a:latin typeface="Broadway" pitchFamily="82" charset="0"/>
              </a:rPr>
              <a:t>The Environment (Protection) Act, 1986</a:t>
            </a:r>
            <a:endParaRPr lang="en-US" dirty="0"/>
          </a:p>
        </p:txBody>
      </p:sp>
      <p:sp>
        <p:nvSpPr>
          <p:cNvPr id="3" name="Content Placeholder 2"/>
          <p:cNvSpPr>
            <a:spLocks noGrp="1"/>
          </p:cNvSpPr>
          <p:nvPr>
            <p:ph idx="1"/>
          </p:nvPr>
        </p:nvSpPr>
        <p:spPr>
          <a:xfrm>
            <a:off x="228600" y="1600200"/>
            <a:ext cx="8686800" cy="4724400"/>
          </a:xfrm>
        </p:spPr>
        <p:txBody>
          <a:bodyPr>
            <a:normAutofit lnSpcReduction="10000"/>
          </a:bodyPr>
          <a:lstStyle/>
          <a:p>
            <a:pPr>
              <a:buNone/>
            </a:pPr>
            <a:r>
              <a:rPr lang="en-US" dirty="0" smtClean="0"/>
              <a:t>Although there were several existing laws that dealt directly or indirectly with environmental issues it was necessary to </a:t>
            </a:r>
            <a:r>
              <a:rPr lang="en-US" u="sng" dirty="0" smtClean="0">
                <a:solidFill>
                  <a:srgbClr val="FF0000"/>
                </a:solidFill>
              </a:rPr>
              <a:t>have a general legislation for </a:t>
            </a:r>
            <a:r>
              <a:rPr lang="en-US" b="1" u="sng" dirty="0" smtClean="0">
                <a:solidFill>
                  <a:srgbClr val="FF0000"/>
                </a:solidFill>
              </a:rPr>
              <a:t>environmental protection </a:t>
            </a:r>
            <a:r>
              <a:rPr lang="en-US" dirty="0" smtClean="0"/>
              <a:t>because the existing laws focused on very specific types of pollution, or specific categories of hazardous substances, or were indirectly related to the environment through laws that control land use, protect our national parks and sanctuaries and our wildlife. </a:t>
            </a:r>
          </a:p>
          <a:p>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0" y="274638"/>
            <a:ext cx="9144000" cy="1143000"/>
          </a:xfrm>
        </p:spPr>
        <p:txBody>
          <a:bodyPr>
            <a:normAutofit fontScale="90000"/>
          </a:bodyPr>
          <a:lstStyle/>
          <a:p>
            <a:r>
              <a:rPr lang="en-US" sz="3600" dirty="0" smtClean="0">
                <a:solidFill>
                  <a:srgbClr val="0033CC"/>
                </a:solidFill>
                <a:latin typeface="Broadway" pitchFamily="82" charset="0"/>
              </a:rPr>
              <a:t>The Environment (Protection) Act, 1986</a:t>
            </a:r>
            <a:endParaRPr lang="en-US" sz="4000" b="1" dirty="0">
              <a:solidFill>
                <a:srgbClr val="0033CC"/>
              </a:solidFill>
            </a:endParaRPr>
          </a:p>
        </p:txBody>
      </p:sp>
      <p:sp>
        <p:nvSpPr>
          <p:cNvPr id="3075" name="Rectangle 3"/>
          <p:cNvSpPr>
            <a:spLocks noGrp="1" noChangeArrowheads="1"/>
          </p:cNvSpPr>
          <p:nvPr>
            <p:ph type="body" idx="1"/>
          </p:nvPr>
        </p:nvSpPr>
        <p:spPr>
          <a:xfrm>
            <a:off x="152400" y="1371600"/>
            <a:ext cx="8534400" cy="4953000"/>
          </a:xfrm>
        </p:spPr>
        <p:txBody>
          <a:bodyPr>
            <a:normAutofit/>
          </a:bodyPr>
          <a:lstStyle/>
          <a:p>
            <a:pPr>
              <a:buFontTx/>
              <a:buNone/>
            </a:pPr>
            <a:r>
              <a:rPr lang="en-US" sz="2800" dirty="0"/>
              <a:t>   </a:t>
            </a:r>
            <a:r>
              <a:rPr lang="en-US" sz="2800" b="1" dirty="0">
                <a:solidFill>
                  <a:srgbClr val="FF0000"/>
                </a:solidFill>
              </a:rPr>
              <a:t>This is an act providing protection and improvement of the environment. </a:t>
            </a:r>
          </a:p>
          <a:p>
            <a:pPr>
              <a:buFontTx/>
              <a:buNone/>
            </a:pPr>
            <a:r>
              <a:rPr lang="en-US" sz="2800" u="sng" dirty="0">
                <a:solidFill>
                  <a:srgbClr val="00B050"/>
                </a:solidFill>
              </a:rPr>
              <a:t>   </a:t>
            </a:r>
            <a:r>
              <a:rPr lang="en-US" sz="2800" b="1" i="1" u="sng" dirty="0">
                <a:solidFill>
                  <a:srgbClr val="00B050"/>
                </a:solidFill>
              </a:rPr>
              <a:t>Highlights</a:t>
            </a:r>
          </a:p>
          <a:p>
            <a:r>
              <a:rPr lang="en-US" sz="2800" dirty="0"/>
              <a:t>Central </a:t>
            </a:r>
            <a:r>
              <a:rPr lang="en-US" sz="2800" dirty="0" err="1"/>
              <a:t>Govt</a:t>
            </a:r>
            <a:r>
              <a:rPr lang="en-US" sz="2800" dirty="0"/>
              <a:t> powers to take necessary measures for protecting and improving the quality of </a:t>
            </a:r>
            <a:r>
              <a:rPr lang="en-US" sz="2800" dirty="0" smtClean="0"/>
              <a:t>environment </a:t>
            </a:r>
            <a:r>
              <a:rPr lang="en-US" sz="2800" dirty="0"/>
              <a:t>and prevention, control and abatement of environmental pollution</a:t>
            </a:r>
          </a:p>
          <a:p>
            <a:r>
              <a:rPr lang="en-US" sz="2800" b="1" dirty="0">
                <a:solidFill>
                  <a:srgbClr val="0033CC"/>
                </a:solidFill>
              </a:rPr>
              <a:t>The powers of Central </a:t>
            </a:r>
            <a:r>
              <a:rPr lang="en-US" sz="2800" b="1" dirty="0" smtClean="0">
                <a:solidFill>
                  <a:srgbClr val="0033CC"/>
                </a:solidFill>
              </a:rPr>
              <a:t>Government  </a:t>
            </a:r>
            <a:r>
              <a:rPr lang="en-US" sz="2800" b="1" dirty="0">
                <a:solidFill>
                  <a:srgbClr val="0033CC"/>
                </a:solidFill>
              </a:rPr>
              <a:t>include</a:t>
            </a:r>
          </a:p>
          <a:p>
            <a:pPr lvl="2"/>
            <a:r>
              <a:rPr lang="en-US" b="1" i="1" dirty="0">
                <a:solidFill>
                  <a:srgbClr val="0033CC"/>
                </a:solidFill>
              </a:rPr>
              <a:t>Lay down </a:t>
            </a:r>
            <a:r>
              <a:rPr lang="en-US" b="1" i="1" dirty="0" smtClean="0">
                <a:solidFill>
                  <a:srgbClr val="0033CC"/>
                </a:solidFill>
              </a:rPr>
              <a:t>standards </a:t>
            </a:r>
            <a:r>
              <a:rPr lang="en-US" b="1" i="1" dirty="0">
                <a:solidFill>
                  <a:srgbClr val="0033CC"/>
                </a:solidFill>
              </a:rPr>
              <a:t>for the quality of </a:t>
            </a:r>
            <a:r>
              <a:rPr lang="en-US" b="1" i="1" dirty="0" smtClean="0">
                <a:solidFill>
                  <a:srgbClr val="0033CC"/>
                </a:solidFill>
              </a:rPr>
              <a:t>environment, </a:t>
            </a:r>
            <a:r>
              <a:rPr lang="en-US" b="1" i="1" dirty="0">
                <a:solidFill>
                  <a:srgbClr val="0033CC"/>
                </a:solidFill>
              </a:rPr>
              <a:t>emissions / discharges of </a:t>
            </a:r>
            <a:r>
              <a:rPr lang="en-US" b="1" i="1" dirty="0" smtClean="0">
                <a:solidFill>
                  <a:srgbClr val="0033CC"/>
                </a:solidFill>
              </a:rPr>
              <a:t>environmental </a:t>
            </a:r>
            <a:r>
              <a:rPr lang="en-US" b="1" i="1" dirty="0">
                <a:solidFill>
                  <a:srgbClr val="0033CC"/>
                </a:solidFill>
              </a:rPr>
              <a:t>pollutants from various sources</a:t>
            </a:r>
          </a:p>
          <a:p>
            <a:endParaRPr lang="en-US" sz="2800" dirty="0"/>
          </a:p>
          <a:p>
            <a:pPr>
              <a:buFontTx/>
              <a:buNone/>
            </a:pPr>
            <a:endParaRPr lang="en-US" sz="2800"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5AC6EADD-44C5-441F-B430-ABDFCD011A1A}"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14</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r>
              <a:rPr lang="en-US" dirty="0" smtClean="0">
                <a:solidFill>
                  <a:srgbClr val="0033CC"/>
                </a:solidFill>
                <a:latin typeface="Broadway" pitchFamily="82" charset="0"/>
              </a:rPr>
              <a:t>The Environment (Protection) Act, 1986</a:t>
            </a:r>
            <a:endParaRPr lang="en-US" b="1" dirty="0">
              <a:solidFill>
                <a:srgbClr val="0033CC"/>
              </a:solidFill>
            </a:endParaRPr>
          </a:p>
        </p:txBody>
      </p:sp>
      <p:sp>
        <p:nvSpPr>
          <p:cNvPr id="4099" name="Rectangle 3"/>
          <p:cNvSpPr>
            <a:spLocks noGrp="1" noChangeArrowheads="1"/>
          </p:cNvSpPr>
          <p:nvPr>
            <p:ph type="body" idx="1"/>
          </p:nvPr>
        </p:nvSpPr>
        <p:spPr>
          <a:xfrm>
            <a:off x="152400" y="1600200"/>
            <a:ext cx="8763000" cy="4525963"/>
          </a:xfrm>
        </p:spPr>
        <p:txBody>
          <a:bodyPr>
            <a:noAutofit/>
          </a:bodyPr>
          <a:lstStyle/>
          <a:p>
            <a:pPr lvl="2"/>
            <a:r>
              <a:rPr lang="en-US" sz="2800" b="1" i="1" dirty="0">
                <a:solidFill>
                  <a:srgbClr val="0033CC"/>
                </a:solidFill>
              </a:rPr>
              <a:t>Restrict or prohibit industries, operations/ processes</a:t>
            </a:r>
            <a:r>
              <a:rPr lang="en-US" sz="2800" i="1" dirty="0">
                <a:solidFill>
                  <a:srgbClr val="0033CC"/>
                </a:solidFill>
              </a:rPr>
              <a:t> in specified areas</a:t>
            </a:r>
          </a:p>
          <a:p>
            <a:pPr lvl="2"/>
            <a:r>
              <a:rPr lang="en-US" sz="2800" b="1" i="1" dirty="0">
                <a:solidFill>
                  <a:srgbClr val="0033CC"/>
                </a:solidFill>
              </a:rPr>
              <a:t>Restrict or prohibit handling of hazardous substances</a:t>
            </a:r>
            <a:r>
              <a:rPr lang="en-US" sz="2800" i="1" dirty="0">
                <a:solidFill>
                  <a:srgbClr val="0033CC"/>
                </a:solidFill>
              </a:rPr>
              <a:t> in specified areas</a:t>
            </a:r>
          </a:p>
          <a:p>
            <a:pPr lvl="2"/>
            <a:r>
              <a:rPr lang="en-US" sz="2800" b="1" i="1" dirty="0">
                <a:solidFill>
                  <a:srgbClr val="0033CC"/>
                </a:solidFill>
              </a:rPr>
              <a:t>Lay down procedures and safeguards </a:t>
            </a:r>
            <a:r>
              <a:rPr lang="en-US" sz="2800" i="1" dirty="0">
                <a:solidFill>
                  <a:srgbClr val="0033CC"/>
                </a:solidFill>
              </a:rPr>
              <a:t>for the prevention of accidents, which may cause </a:t>
            </a:r>
            <a:r>
              <a:rPr lang="en-US" sz="2800" i="1" dirty="0" err="1">
                <a:solidFill>
                  <a:srgbClr val="0033CC"/>
                </a:solidFill>
              </a:rPr>
              <a:t>env</a:t>
            </a:r>
            <a:r>
              <a:rPr lang="en-US" sz="2800" i="1" dirty="0">
                <a:solidFill>
                  <a:srgbClr val="0033CC"/>
                </a:solidFill>
              </a:rPr>
              <a:t> pollution</a:t>
            </a:r>
          </a:p>
          <a:p>
            <a:pPr lvl="2"/>
            <a:r>
              <a:rPr lang="en-US" sz="2800" b="1" i="1" dirty="0">
                <a:solidFill>
                  <a:srgbClr val="0033CC"/>
                </a:solidFill>
              </a:rPr>
              <a:t>Enter and inspect any industrial establishments</a:t>
            </a:r>
            <a:r>
              <a:rPr lang="en-US" sz="2800" i="1" dirty="0">
                <a:solidFill>
                  <a:srgbClr val="0033CC"/>
                </a:solidFill>
              </a:rPr>
              <a:t>, records, registers and documents to ensure effective implementation of the provisions of the Act.</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DD290404-86D4-4536-B4FC-63D406F11FBD}"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15</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r>
              <a:rPr lang="en-US" dirty="0" smtClean="0">
                <a:solidFill>
                  <a:srgbClr val="0033CC"/>
                </a:solidFill>
                <a:latin typeface="Broadway" pitchFamily="82" charset="0"/>
              </a:rPr>
              <a:t>The Environment (Protection) Act, 1986</a:t>
            </a:r>
            <a:endParaRPr lang="en-US" b="1" dirty="0">
              <a:solidFill>
                <a:srgbClr val="0033CC"/>
              </a:solidFill>
            </a:endParaRPr>
          </a:p>
        </p:txBody>
      </p:sp>
      <p:sp>
        <p:nvSpPr>
          <p:cNvPr id="5123" name="Rectangle 3"/>
          <p:cNvSpPr>
            <a:spLocks noGrp="1" noChangeArrowheads="1"/>
          </p:cNvSpPr>
          <p:nvPr>
            <p:ph type="body" idx="1"/>
          </p:nvPr>
        </p:nvSpPr>
        <p:spPr>
          <a:xfrm>
            <a:off x="228600" y="1600200"/>
            <a:ext cx="8610600" cy="4525963"/>
          </a:xfrm>
        </p:spPr>
        <p:txBody>
          <a:bodyPr>
            <a:noAutofit/>
          </a:bodyPr>
          <a:lstStyle/>
          <a:p>
            <a:pPr lvl="2">
              <a:lnSpc>
                <a:spcPct val="90000"/>
              </a:lnSpc>
            </a:pPr>
            <a:r>
              <a:rPr lang="en-US" sz="2800" b="1" i="1" dirty="0">
                <a:solidFill>
                  <a:srgbClr val="0033CC"/>
                </a:solidFill>
              </a:rPr>
              <a:t>Central </a:t>
            </a:r>
            <a:r>
              <a:rPr lang="en-US" sz="2800" b="1" i="1" dirty="0" err="1">
                <a:solidFill>
                  <a:srgbClr val="0033CC"/>
                </a:solidFill>
              </a:rPr>
              <a:t>Govt</a:t>
            </a:r>
            <a:r>
              <a:rPr lang="en-US" sz="2800" b="1" i="1" dirty="0">
                <a:solidFill>
                  <a:srgbClr val="0033CC"/>
                </a:solidFill>
              </a:rPr>
              <a:t> has powers to issue directions </a:t>
            </a:r>
            <a:r>
              <a:rPr lang="en-US" sz="2800" i="1" dirty="0">
                <a:solidFill>
                  <a:srgbClr val="0033CC"/>
                </a:solidFill>
              </a:rPr>
              <a:t>for either closure and prohibition or regulation of an industry, operations/ processes</a:t>
            </a:r>
          </a:p>
          <a:p>
            <a:pPr lvl="2">
              <a:lnSpc>
                <a:spcPct val="90000"/>
              </a:lnSpc>
            </a:pPr>
            <a:r>
              <a:rPr lang="en-US" sz="2800" b="1" i="1" dirty="0">
                <a:solidFill>
                  <a:srgbClr val="0033CC"/>
                </a:solidFill>
              </a:rPr>
              <a:t>It can also stop/regulate the supply of electricity, water </a:t>
            </a:r>
            <a:r>
              <a:rPr lang="en-US" sz="2800" i="1" dirty="0">
                <a:solidFill>
                  <a:srgbClr val="0033CC"/>
                </a:solidFill>
              </a:rPr>
              <a:t>or any other service in the prescribed manner</a:t>
            </a:r>
          </a:p>
          <a:p>
            <a:pPr lvl="2">
              <a:lnSpc>
                <a:spcPct val="90000"/>
              </a:lnSpc>
            </a:pPr>
            <a:r>
              <a:rPr lang="en-US" sz="2800" b="1" i="1" dirty="0">
                <a:solidFill>
                  <a:srgbClr val="0033CC"/>
                </a:solidFill>
              </a:rPr>
              <a:t>It has the power to recover expenses incurred </a:t>
            </a:r>
            <a:r>
              <a:rPr lang="en-US" sz="2800" i="1" dirty="0">
                <a:solidFill>
                  <a:srgbClr val="0033CC"/>
                </a:solidFill>
              </a:rPr>
              <a:t>by it on remedial measures to prevent pollution from defaulting industry</a:t>
            </a:r>
          </a:p>
          <a:p>
            <a:pPr lvl="2">
              <a:lnSpc>
                <a:spcPct val="90000"/>
              </a:lnSpc>
            </a:pPr>
            <a:r>
              <a:rPr lang="en-US" sz="2800" b="1" i="1" dirty="0">
                <a:solidFill>
                  <a:srgbClr val="0033CC"/>
                </a:solidFill>
              </a:rPr>
              <a:t>It also has the power to take samples of air, water. Soil </a:t>
            </a:r>
            <a:r>
              <a:rPr lang="en-US" sz="2800" i="1" dirty="0">
                <a:solidFill>
                  <a:srgbClr val="0033CC"/>
                </a:solidFill>
              </a:rPr>
              <a:t>or any other substance from any industrial plant for analysis </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FABFFF0-9E36-44E5-94B9-5DA5981EFC37}"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r>
              <a:rPr lang="en-US" dirty="0" smtClean="0">
                <a:solidFill>
                  <a:srgbClr val="0033CC"/>
                </a:solidFill>
                <a:latin typeface="Broadway" pitchFamily="82" charset="0"/>
              </a:rPr>
              <a:t>The Environment (Protection) Act, 1986</a:t>
            </a:r>
            <a:endParaRPr lang="en-US" b="1" dirty="0">
              <a:solidFill>
                <a:srgbClr val="0033CC"/>
              </a:solidFill>
            </a:endParaRPr>
          </a:p>
        </p:txBody>
      </p:sp>
      <p:sp>
        <p:nvSpPr>
          <p:cNvPr id="6147" name="Rectangle 3"/>
          <p:cNvSpPr>
            <a:spLocks noGrp="1" noChangeArrowheads="1"/>
          </p:cNvSpPr>
          <p:nvPr>
            <p:ph type="body" idx="1"/>
          </p:nvPr>
        </p:nvSpPr>
        <p:spPr>
          <a:xfrm>
            <a:off x="457200" y="1524000"/>
            <a:ext cx="8382000" cy="5334000"/>
          </a:xfrm>
        </p:spPr>
        <p:txBody>
          <a:bodyPr>
            <a:normAutofit/>
          </a:bodyPr>
          <a:lstStyle/>
          <a:p>
            <a:pPr>
              <a:lnSpc>
                <a:spcPct val="80000"/>
              </a:lnSpc>
            </a:pPr>
            <a:r>
              <a:rPr lang="en-US" b="1" dirty="0">
                <a:solidFill>
                  <a:srgbClr val="0033CC"/>
                </a:solidFill>
              </a:rPr>
              <a:t>The industry has to comply with directions </a:t>
            </a:r>
            <a:r>
              <a:rPr lang="en-US" dirty="0">
                <a:solidFill>
                  <a:srgbClr val="0033CC"/>
                </a:solidFill>
              </a:rPr>
              <a:t>in case of restriction on discharge/ emission of pollutants in excess of prescribed limits</a:t>
            </a:r>
          </a:p>
          <a:p>
            <a:pPr>
              <a:lnSpc>
                <a:spcPct val="80000"/>
              </a:lnSpc>
            </a:pPr>
            <a:r>
              <a:rPr lang="en-US" b="1" dirty="0">
                <a:solidFill>
                  <a:srgbClr val="0033CC"/>
                </a:solidFill>
              </a:rPr>
              <a:t>Handling of hazardous substances </a:t>
            </a:r>
            <a:r>
              <a:rPr lang="en-US" dirty="0">
                <a:solidFill>
                  <a:srgbClr val="0033CC"/>
                </a:solidFill>
              </a:rPr>
              <a:t>in accordance with prescribed procedures.</a:t>
            </a:r>
          </a:p>
          <a:p>
            <a:pPr>
              <a:lnSpc>
                <a:spcPct val="80000"/>
              </a:lnSpc>
            </a:pPr>
            <a:r>
              <a:rPr lang="en-US" b="1" dirty="0">
                <a:solidFill>
                  <a:srgbClr val="0033CC"/>
                </a:solidFill>
              </a:rPr>
              <a:t>Industry has to furnish information </a:t>
            </a:r>
            <a:r>
              <a:rPr lang="en-US" dirty="0">
                <a:solidFill>
                  <a:srgbClr val="0033CC"/>
                </a:solidFill>
              </a:rPr>
              <a:t>to specified agencies in case of discharges, emission of pollutants in excess of prescribed standards already occurred or likely to occur resulting in </a:t>
            </a:r>
            <a:r>
              <a:rPr lang="en-US" dirty="0" err="1">
                <a:solidFill>
                  <a:srgbClr val="0033CC"/>
                </a:solidFill>
              </a:rPr>
              <a:t>env</a:t>
            </a:r>
            <a:r>
              <a:rPr lang="en-US" dirty="0">
                <a:solidFill>
                  <a:srgbClr val="0033CC"/>
                </a:solidFill>
              </a:rPr>
              <a:t> pollution due to accident or any unforeseen event.</a:t>
            </a:r>
          </a:p>
          <a:p>
            <a:pPr>
              <a:lnSpc>
                <a:spcPct val="80000"/>
              </a:lnSpc>
            </a:pPr>
            <a:endParaRPr lang="en-US" sz="2800" dirty="0"/>
          </a:p>
          <a:p>
            <a:pPr>
              <a:lnSpc>
                <a:spcPct val="80000"/>
              </a:lnSpc>
            </a:pPr>
            <a:endParaRPr lang="en-US" sz="2800" dirty="0"/>
          </a:p>
          <a:p>
            <a:pPr lvl="2">
              <a:lnSpc>
                <a:spcPct val="80000"/>
              </a:lnSpc>
            </a:pPr>
            <a:endParaRPr lang="en-US" sz="2000" dirty="0"/>
          </a:p>
          <a:p>
            <a:pPr>
              <a:lnSpc>
                <a:spcPct val="80000"/>
              </a:lnSpc>
            </a:pPr>
            <a:endParaRPr lang="en-US" sz="2800" dirty="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D3ABF40-FC35-481B-BC73-11010C68B746}"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33CC"/>
                </a:solidFill>
              </a:rPr>
              <a:t>Environmental Protection Act</a:t>
            </a:r>
            <a:br>
              <a:rPr lang="en-US" b="1" dirty="0" smtClean="0">
                <a:solidFill>
                  <a:srgbClr val="0033CC"/>
                </a:solidFill>
              </a:rPr>
            </a:br>
            <a:r>
              <a:rPr lang="en-US" b="1" dirty="0" smtClean="0">
                <a:solidFill>
                  <a:srgbClr val="0033CC"/>
                </a:solidFill>
              </a:rPr>
              <a:t>1986</a:t>
            </a:r>
            <a:endParaRPr lang="en-US" dirty="0"/>
          </a:p>
        </p:txBody>
      </p:sp>
      <p:sp>
        <p:nvSpPr>
          <p:cNvPr id="3" name="Content Placeholder 2"/>
          <p:cNvSpPr>
            <a:spLocks noGrp="1"/>
          </p:cNvSpPr>
          <p:nvPr>
            <p:ph idx="1"/>
          </p:nvPr>
        </p:nvSpPr>
        <p:spPr/>
        <p:txBody>
          <a:bodyPr/>
          <a:lstStyle/>
          <a:p>
            <a:pPr>
              <a:lnSpc>
                <a:spcPct val="80000"/>
              </a:lnSpc>
            </a:pPr>
            <a:r>
              <a:rPr lang="en-US" b="1" dirty="0" smtClean="0">
                <a:solidFill>
                  <a:srgbClr val="0033CC"/>
                </a:solidFill>
              </a:rPr>
              <a:t>There is bar on filing of any legal suit or proceedings against the </a:t>
            </a:r>
            <a:r>
              <a:rPr lang="en-US" b="1" dirty="0" err="1" smtClean="0">
                <a:solidFill>
                  <a:srgbClr val="0033CC"/>
                </a:solidFill>
              </a:rPr>
              <a:t>govt</a:t>
            </a:r>
            <a:r>
              <a:rPr lang="en-US" b="1" dirty="0" smtClean="0">
                <a:solidFill>
                  <a:srgbClr val="0033CC"/>
                </a:solidFill>
              </a:rPr>
              <a:t> </a:t>
            </a:r>
            <a:r>
              <a:rPr lang="en-US" dirty="0" smtClean="0">
                <a:solidFill>
                  <a:srgbClr val="0033CC"/>
                </a:solidFill>
              </a:rPr>
              <a:t>or officials empowered by it for action taken in pursuance of the act.</a:t>
            </a:r>
          </a:p>
          <a:p>
            <a:pPr>
              <a:lnSpc>
                <a:spcPct val="80000"/>
              </a:lnSpc>
            </a:pPr>
            <a:r>
              <a:rPr lang="en-US" b="1" dirty="0" smtClean="0">
                <a:solidFill>
                  <a:srgbClr val="0033CC"/>
                </a:solidFill>
              </a:rPr>
              <a:t>Industry operations/ processes requiring consent </a:t>
            </a:r>
            <a:r>
              <a:rPr lang="en-US" dirty="0" smtClean="0">
                <a:solidFill>
                  <a:srgbClr val="0033CC"/>
                </a:solidFill>
              </a:rPr>
              <a:t>under the Water/ Air act/ Hazardous Waste rules or all to submit </a:t>
            </a:r>
            <a:r>
              <a:rPr lang="en-US" dirty="0" err="1" smtClean="0">
                <a:solidFill>
                  <a:srgbClr val="0033CC"/>
                </a:solidFill>
              </a:rPr>
              <a:t>Env</a:t>
            </a:r>
            <a:r>
              <a:rPr lang="en-US" dirty="0" smtClean="0">
                <a:solidFill>
                  <a:srgbClr val="0033CC"/>
                </a:solidFill>
              </a:rPr>
              <a:t> Statement every year before 30</a:t>
            </a:r>
            <a:r>
              <a:rPr lang="en-US" baseline="30000" dirty="0" smtClean="0">
                <a:solidFill>
                  <a:srgbClr val="0033CC"/>
                </a:solidFill>
              </a:rPr>
              <a:t>th</a:t>
            </a:r>
            <a:r>
              <a:rPr lang="en-US" dirty="0" smtClean="0">
                <a:solidFill>
                  <a:srgbClr val="0033CC"/>
                </a:solidFill>
              </a:rPr>
              <a:t> Sept for last financial year.</a:t>
            </a:r>
          </a:p>
          <a:p>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745162"/>
          </a:xfrm>
        </p:spPr>
        <p:txBody>
          <a:bodyPr>
            <a:noAutofit/>
          </a:bodyPr>
          <a:lstStyle/>
          <a:p>
            <a:r>
              <a:rPr lang="en-US" sz="3200" b="1" dirty="0" smtClean="0"/>
              <a:t/>
            </a:r>
            <a:br>
              <a:rPr lang="en-US" sz="3200" b="1" dirty="0" smtClean="0"/>
            </a:br>
            <a:r>
              <a:rPr lang="en-US" sz="3200" b="1" dirty="0" smtClean="0"/>
              <a:t/>
            </a:r>
            <a:br>
              <a:rPr lang="en-US" sz="3200" b="1" dirty="0" smtClean="0"/>
            </a:br>
            <a:r>
              <a:rPr lang="en-US" sz="3200" b="1" dirty="0" smtClean="0"/>
              <a:t/>
            </a:r>
            <a:br>
              <a:rPr lang="en-US" sz="3200" b="1" dirty="0" smtClean="0"/>
            </a:br>
            <a:r>
              <a:rPr lang="en-US" sz="3200" b="1" dirty="0" smtClean="0"/>
              <a:t/>
            </a:r>
            <a:br>
              <a:rPr lang="en-US" sz="3200" b="1" dirty="0" smtClean="0"/>
            </a:br>
            <a:r>
              <a:rPr lang="en-US" sz="3200" b="1" dirty="0" smtClean="0">
                <a:solidFill>
                  <a:srgbClr val="0033CC"/>
                </a:solidFill>
                <a:latin typeface="Times New Roman" pitchFamily="18" charset="0"/>
                <a:cs typeface="Times New Roman" pitchFamily="18" charset="0"/>
              </a:rPr>
              <a:t>The Water (Prevention &amp; Control of Pollution) Act 1974 (as amended up to 1998)</a:t>
            </a:r>
            <a:br>
              <a:rPr lang="en-US" sz="3200" b="1" dirty="0" smtClean="0">
                <a:solidFill>
                  <a:srgbClr val="0033CC"/>
                </a:solidFill>
                <a:latin typeface="Times New Roman" pitchFamily="18" charset="0"/>
                <a:cs typeface="Times New Roman" pitchFamily="18" charset="0"/>
              </a:rPr>
            </a:br>
            <a:r>
              <a:rPr lang="en-US" sz="3200" b="1" dirty="0" smtClean="0">
                <a:solidFill>
                  <a:srgbClr val="0033CC"/>
                </a:solidFill>
                <a:latin typeface="Times New Roman" pitchFamily="18" charset="0"/>
                <a:cs typeface="Times New Roman" pitchFamily="18" charset="0"/>
              </a:rPr>
              <a:t/>
            </a:r>
            <a:br>
              <a:rPr lang="en-US" sz="3200" b="1" dirty="0" smtClean="0">
                <a:solidFill>
                  <a:srgbClr val="0033CC"/>
                </a:solidFill>
                <a:latin typeface="Times New Roman" pitchFamily="18" charset="0"/>
                <a:cs typeface="Times New Roman" pitchFamily="18" charset="0"/>
              </a:rPr>
            </a:br>
            <a:r>
              <a:rPr lang="en-US" sz="3200" b="1" dirty="0" smtClean="0">
                <a:solidFill>
                  <a:srgbClr val="0033CC"/>
                </a:solidFill>
                <a:latin typeface="Times New Roman" pitchFamily="18" charset="0"/>
                <a:cs typeface="Times New Roman" pitchFamily="18" charset="0"/>
              </a:rPr>
              <a:t>&amp;</a:t>
            </a:r>
            <a:br>
              <a:rPr lang="en-US" sz="3200" b="1" dirty="0" smtClean="0">
                <a:solidFill>
                  <a:srgbClr val="0033CC"/>
                </a:solidFill>
                <a:latin typeface="Times New Roman" pitchFamily="18" charset="0"/>
                <a:cs typeface="Times New Roman" pitchFamily="18" charset="0"/>
              </a:rPr>
            </a:br>
            <a:r>
              <a:rPr lang="en-US" sz="3200" b="1" dirty="0" smtClean="0">
                <a:solidFill>
                  <a:srgbClr val="0033CC"/>
                </a:solidFill>
                <a:latin typeface="Times New Roman" pitchFamily="18" charset="0"/>
                <a:cs typeface="Times New Roman" pitchFamily="18" charset="0"/>
              </a:rPr>
              <a:t/>
            </a:r>
            <a:br>
              <a:rPr lang="en-US" sz="3200" b="1" dirty="0" smtClean="0">
                <a:solidFill>
                  <a:srgbClr val="0033CC"/>
                </a:solidFill>
                <a:latin typeface="Times New Roman" pitchFamily="18" charset="0"/>
                <a:cs typeface="Times New Roman" pitchFamily="18" charset="0"/>
              </a:rPr>
            </a:br>
            <a:r>
              <a:rPr lang="en-US" sz="3200" b="1" dirty="0" smtClean="0">
                <a:solidFill>
                  <a:srgbClr val="0033CC"/>
                </a:solidFill>
                <a:latin typeface="Times New Roman" pitchFamily="18" charset="0"/>
                <a:cs typeface="Times New Roman" pitchFamily="18" charset="0"/>
              </a:rPr>
              <a:t>The Water (Prevention &amp;control of Pollution) </a:t>
            </a:r>
            <a:r>
              <a:rPr lang="en-US" sz="3200" b="1" dirty="0" err="1" smtClean="0">
                <a:solidFill>
                  <a:srgbClr val="0033CC"/>
                </a:solidFill>
                <a:latin typeface="Times New Roman" pitchFamily="18" charset="0"/>
                <a:cs typeface="Times New Roman" pitchFamily="18" charset="0"/>
              </a:rPr>
              <a:t>cess</a:t>
            </a:r>
            <a:r>
              <a:rPr lang="en-US" sz="3200" b="1" dirty="0" smtClean="0">
                <a:solidFill>
                  <a:srgbClr val="0033CC"/>
                </a:solidFill>
                <a:latin typeface="Times New Roman" pitchFamily="18" charset="0"/>
                <a:cs typeface="Times New Roman" pitchFamily="18" charset="0"/>
              </a:rPr>
              <a:t> Act, 1977 (as amended by Amendment Act 1991)</a:t>
            </a:r>
            <a:br>
              <a:rPr lang="en-US" sz="3200" b="1" dirty="0" smtClean="0">
                <a:solidFill>
                  <a:srgbClr val="0033CC"/>
                </a:solidFill>
                <a:latin typeface="Times New Roman" pitchFamily="18" charset="0"/>
                <a:cs typeface="Times New Roman" pitchFamily="18" charset="0"/>
              </a:rPr>
            </a:br>
            <a:r>
              <a:rPr lang="en-US" sz="3600" dirty="0" smtClean="0">
                <a:solidFill>
                  <a:srgbClr val="0033CC"/>
                </a:solidFill>
              </a:rPr>
              <a:t/>
            </a:r>
            <a:br>
              <a:rPr lang="en-US" sz="3600" dirty="0" smtClean="0">
                <a:solidFill>
                  <a:srgbClr val="0033CC"/>
                </a:solidFill>
              </a:rPr>
            </a:br>
            <a:endParaRPr lang="en-US" sz="3600" b="1" dirty="0">
              <a:solidFill>
                <a:srgbClr val="0033CC"/>
              </a:solidFill>
            </a:endParaRPr>
          </a:p>
        </p:txBody>
      </p:sp>
      <p:sp>
        <p:nvSpPr>
          <p:cNvPr id="3" name="Date Placeholder 2"/>
          <p:cNvSpPr>
            <a:spLocks noGrp="1"/>
          </p:cNvSpPr>
          <p:nvPr>
            <p:ph type="dt" sz="half" idx="10"/>
          </p:nvPr>
        </p:nvSpPr>
        <p:spPr/>
        <p:txBody>
          <a:bodyPr/>
          <a:lstStyle/>
          <a:p>
            <a:fld id="{6C662F3F-4E41-46D8-B5AC-D3C50018A080}"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19</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dirty="0" smtClean="0"/>
              <a:t> </a:t>
            </a:r>
            <a:r>
              <a:rPr lang="en-US" sz="3200" dirty="0" smtClean="0">
                <a:solidFill>
                  <a:srgbClr val="FF0000"/>
                </a:solidFill>
                <a:latin typeface="Times New Roman" pitchFamily="18" charset="0"/>
                <a:cs typeface="Times New Roman" pitchFamily="18" charset="0"/>
              </a:rPr>
              <a:t>Environmental Legislations                                                                                                                                  </a:t>
            </a:r>
            <a:endParaRPr lang="en-US" sz="3200" dirty="0">
              <a:solidFill>
                <a:srgbClr val="FF000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2209800"/>
            <a:ext cx="8610600" cy="4114800"/>
          </a:xfrm>
        </p:spPr>
        <p:txBody>
          <a:bodyPr numCol="1">
            <a:normAutofit/>
          </a:bodyPr>
          <a:lstStyle/>
          <a:p>
            <a:pPr algn="l"/>
            <a:endParaRPr lang="en-US" sz="1800" dirty="0" smtClean="0"/>
          </a:p>
          <a:p>
            <a:pPr algn="l"/>
            <a:r>
              <a:rPr lang="en-US" b="1" dirty="0" smtClean="0">
                <a:solidFill>
                  <a:srgbClr val="7030A0"/>
                </a:solidFill>
              </a:rPr>
              <a:t>Water (prevention and control of pollution) Act, 1974, Amended in 1998: </a:t>
            </a:r>
            <a:r>
              <a:rPr lang="en-US" dirty="0" smtClean="0">
                <a:solidFill>
                  <a:srgbClr val="7030A0"/>
                </a:solidFill>
              </a:rPr>
              <a:t>This Act was established in 1974, with the Water Pollution Board to control and prevent pollution of any kind of water. The board members advice, coordinate and provide technical assistance to prevent water pollution. Strict penalties and punishments are imposed.  </a:t>
            </a:r>
          </a:p>
        </p:txBody>
      </p:sp>
      <p:sp>
        <p:nvSpPr>
          <p:cNvPr id="4" name="Rectangle 3"/>
          <p:cNvSpPr/>
          <p:nvPr/>
        </p:nvSpPr>
        <p:spPr>
          <a:xfrm>
            <a:off x="609601" y="1295400"/>
            <a:ext cx="6934199" cy="1446550"/>
          </a:xfrm>
          <a:prstGeom prst="rect">
            <a:avLst/>
          </a:prstGeom>
        </p:spPr>
        <p:txBody>
          <a:bodyPr wrap="square">
            <a:spAutoFit/>
          </a:bodyPr>
          <a:lstStyle/>
          <a:p>
            <a:endParaRPr lang="en-US" sz="2400" b="1" dirty="0" smtClean="0">
              <a:solidFill>
                <a:srgbClr val="C00000"/>
              </a:solidFill>
            </a:endParaRPr>
          </a:p>
          <a:p>
            <a:r>
              <a:rPr lang="en-US" sz="3200" b="1" dirty="0" smtClean="0">
                <a:solidFill>
                  <a:srgbClr val="C00000"/>
                </a:solidFill>
              </a:rPr>
              <a:t>The Water (Prevention and Control Act) , 1974</a:t>
            </a:r>
            <a:r>
              <a:rPr lang="en-US" sz="3200" dirty="0" smtClean="0">
                <a:solidFill>
                  <a:srgbClr val="C00000"/>
                </a:solidFill>
              </a:rPr>
              <a:t>  </a:t>
            </a:r>
            <a:endParaRPr lang="en-US" sz="32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58EA60B-048A-441B-84DD-F8CC43B4C74A}"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20</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C00000"/>
                </a:solidFill>
              </a:rPr>
              <a:t/>
            </a:r>
            <a:br>
              <a:rPr lang="en-US" b="1" dirty="0" smtClean="0">
                <a:solidFill>
                  <a:srgbClr val="C00000"/>
                </a:solidFill>
              </a:rPr>
            </a:br>
            <a:r>
              <a:rPr lang="en-US" b="1" dirty="0" smtClean="0">
                <a:solidFill>
                  <a:srgbClr val="C00000"/>
                </a:solidFill>
                <a:latin typeface="Times New Roman" pitchFamily="18" charset="0"/>
                <a:cs typeface="Times New Roman" pitchFamily="18" charset="0"/>
              </a:rPr>
              <a:t>The Water (Prevention and Control Act) , 1974</a:t>
            </a:r>
            <a:r>
              <a:rPr lang="en-US" dirty="0" smtClean="0">
                <a:solidFill>
                  <a:srgbClr val="C00000"/>
                </a:solidFill>
                <a:latin typeface="Times New Roman" pitchFamily="18" charset="0"/>
                <a:cs typeface="Times New Roman" pitchFamily="18" charset="0"/>
              </a:rPr>
              <a:t>  </a:t>
            </a:r>
            <a:r>
              <a:rPr lang="en-US" dirty="0" smtClean="0">
                <a:solidFill>
                  <a:srgbClr val="C00000"/>
                </a:solidFill>
              </a:rPr>
              <a:t/>
            </a:r>
            <a:br>
              <a:rPr lang="en-US" dirty="0" smtClean="0">
                <a:solidFill>
                  <a:srgbClr val="C00000"/>
                </a:solidFill>
              </a:rPr>
            </a:br>
            <a:endParaRPr lang="en-US" dirty="0"/>
          </a:p>
        </p:txBody>
      </p:sp>
      <p:sp>
        <p:nvSpPr>
          <p:cNvPr id="3" name="Content Placeholder 2"/>
          <p:cNvSpPr>
            <a:spLocks noGrp="1"/>
          </p:cNvSpPr>
          <p:nvPr>
            <p:ph idx="1"/>
          </p:nvPr>
        </p:nvSpPr>
        <p:spPr/>
        <p:txBody>
          <a:bodyPr>
            <a:normAutofit/>
          </a:bodyPr>
          <a:lstStyle/>
          <a:p>
            <a:pPr>
              <a:buNone/>
            </a:pPr>
            <a:r>
              <a:rPr lang="en-US" sz="4000" dirty="0" smtClean="0"/>
              <a:t>Water being a </a:t>
            </a:r>
            <a:r>
              <a:rPr lang="en-US" sz="4000" u="sng" dirty="0" smtClean="0">
                <a:solidFill>
                  <a:srgbClr val="FF0000"/>
                </a:solidFill>
              </a:rPr>
              <a:t>State Subject, </a:t>
            </a:r>
            <a:r>
              <a:rPr lang="en-US" sz="4000" dirty="0" smtClean="0"/>
              <a:t>Parliament can exercise the power to legislate on water only under Article 252 of Constitution Of India.  </a:t>
            </a:r>
          </a:p>
          <a:p>
            <a:endParaRPr lang="en-US" dirty="0" smtClean="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0"/>
            <a:ext cx="8229600" cy="1143000"/>
          </a:xfrm>
        </p:spPr>
        <p:txBody>
          <a:bodyPr>
            <a:normAutofit fontScale="90000"/>
          </a:bodyPr>
          <a:lstStyle/>
          <a:p>
            <a:pPr eaLnBrk="1" hangingPunct="1"/>
            <a:r>
              <a:rPr lang="en-US" sz="3600" b="1" dirty="0" smtClean="0">
                <a:solidFill>
                  <a:srgbClr val="0033CC"/>
                </a:solidFill>
                <a:latin typeface="Times New Roman" pitchFamily="18" charset="0"/>
                <a:cs typeface="Times New Roman" pitchFamily="18" charset="0"/>
              </a:rPr>
              <a:t>THE WATER (PREVENTION &amp; CONTROL OF POLLUTION) ACT</a:t>
            </a:r>
          </a:p>
        </p:txBody>
      </p:sp>
      <p:sp>
        <p:nvSpPr>
          <p:cNvPr id="14339" name="Rectangle 3"/>
          <p:cNvSpPr>
            <a:spLocks noGrp="1" noChangeArrowheads="1"/>
          </p:cNvSpPr>
          <p:nvPr>
            <p:ph type="body" idx="1"/>
          </p:nvPr>
        </p:nvSpPr>
        <p:spPr>
          <a:xfrm>
            <a:off x="228600" y="1143000"/>
            <a:ext cx="8686800" cy="4953000"/>
          </a:xfrm>
        </p:spPr>
        <p:txBody>
          <a:bodyPr>
            <a:noAutofit/>
          </a:bodyPr>
          <a:lstStyle/>
          <a:p>
            <a:pPr eaLnBrk="1" hangingPunct="1">
              <a:lnSpc>
                <a:spcPct val="90000"/>
              </a:lnSpc>
            </a:pPr>
            <a:r>
              <a:rPr lang="en-US" b="1" dirty="0" smtClean="0">
                <a:solidFill>
                  <a:srgbClr val="FF0000"/>
                </a:solidFill>
              </a:rPr>
              <a:t>The Act provides for constitution of Central and State Boards for preventing water pollution, power to take water samples and their analysis</a:t>
            </a:r>
          </a:p>
          <a:p>
            <a:pPr eaLnBrk="1" hangingPunct="1">
              <a:lnSpc>
                <a:spcPct val="90000"/>
              </a:lnSpc>
              <a:buNone/>
            </a:pPr>
            <a:endParaRPr lang="en-US" b="1" dirty="0" smtClean="0">
              <a:solidFill>
                <a:srgbClr val="FF0000"/>
              </a:solidFill>
            </a:endParaRPr>
          </a:p>
          <a:p>
            <a:pPr eaLnBrk="1" hangingPunct="1">
              <a:lnSpc>
                <a:spcPct val="90000"/>
              </a:lnSpc>
            </a:pPr>
            <a:r>
              <a:rPr lang="en-US" dirty="0" smtClean="0">
                <a:solidFill>
                  <a:srgbClr val="0033CC"/>
                </a:solidFill>
              </a:rPr>
              <a:t>It allows for  appeals, revision, minimum and maximum penalties, publication of names of offenders, offences by companies and Government departments, cognizance of offences, water laboratories, analysis etc. </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90E030B9-501C-4D3C-AF53-35206C4F3C76}"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22</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33CC"/>
                </a:solidFill>
                <a:latin typeface="Times New Roman" pitchFamily="18" charset="0"/>
                <a:cs typeface="Times New Roman" pitchFamily="18" charset="0"/>
              </a:rPr>
              <a:t>THE WATER (PREVENTION &amp; CONTROL OF POLLUTION) ACT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724400"/>
          </a:xfrm>
        </p:spPr>
        <p:txBody>
          <a:bodyPr>
            <a:normAutofit/>
          </a:bodyPr>
          <a:lstStyle/>
          <a:p>
            <a:pPr>
              <a:lnSpc>
                <a:spcPct val="90000"/>
              </a:lnSpc>
            </a:pPr>
            <a:r>
              <a:rPr lang="en-US" dirty="0" smtClean="0">
                <a:solidFill>
                  <a:srgbClr val="FF0000"/>
                </a:solidFill>
              </a:rPr>
              <a:t>Prevention and control of water pollution is achieved through a permit or ‘consent administration’ procedure. </a:t>
            </a:r>
          </a:p>
          <a:p>
            <a:pPr>
              <a:lnSpc>
                <a:spcPct val="90000"/>
              </a:lnSpc>
            </a:pPr>
            <a:r>
              <a:rPr lang="en-US" dirty="0" smtClean="0">
                <a:solidFill>
                  <a:srgbClr val="0033CC"/>
                </a:solidFill>
              </a:rPr>
              <a:t>Discharge of effluents is permitted by obtaining the consent of the State Water Board, subject to any conditions specified by them. </a:t>
            </a:r>
          </a:p>
          <a:p>
            <a:pPr>
              <a:lnSpc>
                <a:spcPct val="90000"/>
              </a:lnSpc>
            </a:pPr>
            <a:r>
              <a:rPr lang="en-US" dirty="0" smtClean="0">
                <a:solidFill>
                  <a:srgbClr val="FF0000"/>
                </a:solidFill>
              </a:rPr>
              <a:t>Any person who fails to comply with a directive of the State cannot, however, entertain in suit under this Act unless the suit is brought by, or with the sanction of the State Board.</a:t>
            </a:r>
          </a:p>
          <a:p>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7924800" cy="4267200"/>
          </a:xfrm>
        </p:spPr>
        <p:txBody>
          <a:bodyPr>
            <a:noAutofit/>
          </a:bodyPr>
          <a:lstStyle/>
          <a:p>
            <a:pPr>
              <a:lnSpc>
                <a:spcPct val="80000"/>
              </a:lnSpc>
            </a:pPr>
            <a:r>
              <a:rPr lang="en-US" sz="3600" b="1" dirty="0" smtClean="0">
                <a:solidFill>
                  <a:srgbClr val="0033CC"/>
                </a:solidFill>
                <a:latin typeface="Times New Roman" pitchFamily="18" charset="0"/>
                <a:cs typeface="Times New Roman" pitchFamily="18" charset="0"/>
              </a:rPr>
              <a:t>The Air (Prevention &amp; Control of Pollution) Act 1981 as amended by Amendment Act 1986</a:t>
            </a:r>
            <a:br>
              <a:rPr lang="en-US" sz="3600" b="1" dirty="0" smtClean="0">
                <a:solidFill>
                  <a:srgbClr val="0033CC"/>
                </a:solidFill>
                <a:latin typeface="Times New Roman" pitchFamily="18" charset="0"/>
                <a:cs typeface="Times New Roman" pitchFamily="18" charset="0"/>
              </a:rPr>
            </a:br>
            <a:r>
              <a:rPr lang="en-US" sz="3600" b="1" dirty="0" smtClean="0">
                <a:solidFill>
                  <a:srgbClr val="0033CC"/>
                </a:solidFill>
                <a:latin typeface="Times New Roman" pitchFamily="18" charset="0"/>
                <a:cs typeface="Times New Roman" pitchFamily="18" charset="0"/>
              </a:rPr>
              <a:t>Environment (Protection)</a:t>
            </a:r>
            <a:endParaRPr lang="en-US" sz="3600" b="1" dirty="0">
              <a:solidFill>
                <a:srgbClr val="0033CC"/>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586862C8-9492-48C9-BDBD-279A6D3C97DD}"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24</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b="1" dirty="0" smtClean="0">
                <a:latin typeface="Times New Roman" pitchFamily="18" charset="0"/>
                <a:cs typeface="Times New Roman" pitchFamily="18" charset="0"/>
              </a:rPr>
              <a:t>Environmental Legislations                                                                                                                                  </a:t>
            </a:r>
            <a:endParaRPr lang="en-US"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228600" y="2362200"/>
            <a:ext cx="8686800" cy="3962400"/>
          </a:xfrm>
        </p:spPr>
        <p:txBody>
          <a:bodyPr>
            <a:noAutofit/>
          </a:bodyPr>
          <a:lstStyle/>
          <a:p>
            <a:pPr marL="457200" indent="-457200" algn="l"/>
            <a:r>
              <a:rPr lang="en-US" sz="3600" b="1" dirty="0" smtClean="0">
                <a:solidFill>
                  <a:srgbClr val="FF0000"/>
                </a:solidFill>
              </a:rPr>
              <a:t>Air (prevention and control of pollution) Act, 1981, Amended in 1987</a:t>
            </a:r>
            <a:r>
              <a:rPr lang="en-US" sz="3600" b="1" dirty="0" smtClean="0">
                <a:solidFill>
                  <a:srgbClr val="7030A0"/>
                </a:solidFill>
              </a:rPr>
              <a:t>: It aims to control air pollution from automobiles and industrial plants. The amendment in 1987 was enacted to take immediate measures and to impose penalties of the offenders or even to cancel the permission of an industry.  </a:t>
            </a:r>
          </a:p>
        </p:txBody>
      </p:sp>
      <p:sp>
        <p:nvSpPr>
          <p:cNvPr id="4" name="Rectangle 3"/>
          <p:cNvSpPr/>
          <p:nvPr/>
        </p:nvSpPr>
        <p:spPr>
          <a:xfrm>
            <a:off x="304801" y="1295401"/>
            <a:ext cx="7239000" cy="1200329"/>
          </a:xfrm>
          <a:prstGeom prst="rect">
            <a:avLst/>
          </a:prstGeom>
        </p:spPr>
        <p:txBody>
          <a:bodyPr wrap="square">
            <a:spAutoFit/>
          </a:bodyPr>
          <a:lstStyle/>
          <a:p>
            <a:r>
              <a:rPr lang="en-US" sz="3600" b="1" dirty="0" smtClean="0">
                <a:solidFill>
                  <a:srgbClr val="C00000"/>
                </a:solidFill>
                <a:latin typeface="Times New Roman" pitchFamily="18" charset="0"/>
                <a:cs typeface="Times New Roman" pitchFamily="18" charset="0"/>
              </a:rPr>
              <a:t>The Air (Prevention and Control Act) 1981</a:t>
            </a:r>
            <a:endParaRPr lang="en-US" sz="3600" dirty="0">
              <a:solidFill>
                <a:srgbClr val="C00000"/>
              </a:solidFill>
              <a:latin typeface="Times New Roman" pitchFamily="18" charset="0"/>
              <a:cs typeface="Times New Roman" pitchFamily="18" charset="0"/>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83DEC4F4-42A0-4A38-B243-89179AA8D2B1}"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25</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0" y="274638"/>
            <a:ext cx="9144000" cy="1143000"/>
          </a:xfrm>
        </p:spPr>
        <p:txBody>
          <a:bodyPr>
            <a:normAutofit fontScale="90000"/>
          </a:bodyPr>
          <a:lstStyle/>
          <a:p>
            <a:pPr eaLnBrk="1" hangingPunct="1"/>
            <a:r>
              <a:rPr lang="en-US" sz="4000" b="1" dirty="0" smtClean="0">
                <a:solidFill>
                  <a:srgbClr val="0033CC"/>
                </a:solidFill>
                <a:latin typeface="Times New Roman" pitchFamily="18" charset="0"/>
                <a:cs typeface="Times New Roman" pitchFamily="18" charset="0"/>
              </a:rPr>
              <a:t>AIR (Prevention and Control of Pollution) Act, 1981</a:t>
            </a:r>
          </a:p>
        </p:txBody>
      </p:sp>
      <p:sp>
        <p:nvSpPr>
          <p:cNvPr id="11267" name="Rectangle 3"/>
          <p:cNvSpPr>
            <a:spLocks noGrp="1" noChangeArrowheads="1"/>
          </p:cNvSpPr>
          <p:nvPr>
            <p:ph type="body" idx="1"/>
          </p:nvPr>
        </p:nvSpPr>
        <p:spPr>
          <a:xfrm>
            <a:off x="228600" y="1600200"/>
            <a:ext cx="8686800" cy="4800600"/>
          </a:xfrm>
        </p:spPr>
        <p:txBody>
          <a:bodyPr/>
          <a:lstStyle/>
          <a:p>
            <a:pPr eaLnBrk="1" hangingPunct="1">
              <a:lnSpc>
                <a:spcPct val="80000"/>
              </a:lnSpc>
            </a:pPr>
            <a:r>
              <a:rPr lang="en-US" sz="2800" dirty="0" smtClean="0">
                <a:solidFill>
                  <a:srgbClr val="003366"/>
                </a:solidFill>
              </a:rPr>
              <a:t>This is an Act for prevention, control and abatement of air pollution. It is also a comprehensive legislation with more than fifty sections.</a:t>
            </a:r>
          </a:p>
          <a:p>
            <a:pPr eaLnBrk="1" hangingPunct="1">
              <a:lnSpc>
                <a:spcPct val="80000"/>
              </a:lnSpc>
              <a:buFontTx/>
              <a:buNone/>
            </a:pPr>
            <a:r>
              <a:rPr lang="en-US" sz="2800" i="1" dirty="0" smtClean="0">
                <a:solidFill>
                  <a:srgbClr val="0070C0"/>
                </a:solidFill>
              </a:rPr>
              <a:t>    </a:t>
            </a:r>
            <a:r>
              <a:rPr lang="en-US" sz="2800" b="1" i="1" dirty="0" smtClean="0">
                <a:solidFill>
                  <a:srgbClr val="FF0000"/>
                </a:solidFill>
              </a:rPr>
              <a:t>Highlights</a:t>
            </a:r>
          </a:p>
          <a:p>
            <a:pPr eaLnBrk="1" hangingPunct="1">
              <a:lnSpc>
                <a:spcPct val="80000"/>
              </a:lnSpc>
            </a:pPr>
            <a:r>
              <a:rPr lang="en-US" sz="2800" dirty="0" smtClean="0"/>
              <a:t>It makes provisions for Central and State Boards, power to declare pollution control areas, restrictions on certain industrial units, authority of the Boards to limit emission of air pollutants, power of entry, inspection, taking samples and analysis, penalties, offences by companies and Government and cognizance of offences etc.</a:t>
            </a:r>
          </a:p>
          <a:p>
            <a:pPr eaLnBrk="1" hangingPunct="1">
              <a:lnSpc>
                <a:spcPct val="80000"/>
              </a:lnSpc>
            </a:pPr>
            <a:endParaRPr lang="en-US" sz="2800" dirty="0" smtClean="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0F69C174-6F7A-4528-92A1-8A26ED7ACC46}"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26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fontScale="90000"/>
          </a:bodyPr>
          <a:lstStyle/>
          <a:p>
            <a:r>
              <a:rPr lang="en-US" b="1" dirty="0" smtClean="0">
                <a:solidFill>
                  <a:srgbClr val="0033CC"/>
                </a:solidFill>
                <a:latin typeface="Times New Roman" pitchFamily="18" charset="0"/>
                <a:cs typeface="Times New Roman" pitchFamily="18" charset="0"/>
              </a:rPr>
              <a:t>AIR (Prevention and Control of Pollution) Act, 1981</a:t>
            </a:r>
            <a:endParaRPr lang="en-US" b="1" dirty="0" smtClean="0">
              <a:latin typeface="Times New Roman" pitchFamily="18" charset="0"/>
              <a:cs typeface="Times New Roman" pitchFamily="18" charset="0"/>
            </a:endParaRPr>
          </a:p>
        </p:txBody>
      </p:sp>
      <p:sp>
        <p:nvSpPr>
          <p:cNvPr id="12291" name="Rectangle 3"/>
          <p:cNvSpPr>
            <a:spLocks noGrp="1" noChangeArrowheads="1"/>
          </p:cNvSpPr>
          <p:nvPr>
            <p:ph type="body" idx="1"/>
          </p:nvPr>
        </p:nvSpPr>
        <p:spPr>
          <a:xfrm>
            <a:off x="0" y="1600200"/>
            <a:ext cx="9144000" cy="4800600"/>
          </a:xfrm>
        </p:spPr>
        <p:txBody>
          <a:bodyPr/>
          <a:lstStyle/>
          <a:p>
            <a:pPr eaLnBrk="1" hangingPunct="1">
              <a:lnSpc>
                <a:spcPct val="90000"/>
              </a:lnSpc>
            </a:pPr>
            <a:r>
              <a:rPr lang="en-US" dirty="0" smtClean="0">
                <a:solidFill>
                  <a:srgbClr val="FF0000"/>
                </a:solidFill>
              </a:rPr>
              <a:t>The Act specifically empowers State Government to designate air pollution areas and to prescribe the type of fuel to be used in these designated areas. </a:t>
            </a:r>
          </a:p>
          <a:p>
            <a:pPr eaLnBrk="1" hangingPunct="1">
              <a:lnSpc>
                <a:spcPct val="90000"/>
              </a:lnSpc>
            </a:pPr>
            <a:r>
              <a:rPr lang="en-US" dirty="0" smtClean="0">
                <a:solidFill>
                  <a:srgbClr val="0033CC"/>
                </a:solidFill>
              </a:rPr>
              <a:t>According to this Act, no person can operate certain types of industries including the asbestos, cement, fertilizer and petroleum industries without consent of the State Board. The Board can predicate its consent upon the fulfillment of certain conditions.</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DC32AA28-5C12-4C53-8A2C-D68118BC6104}"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27</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r>
              <a:rPr lang="en-US" b="1" dirty="0" smtClean="0">
                <a:solidFill>
                  <a:srgbClr val="0033CC"/>
                </a:solidFill>
                <a:latin typeface="Times New Roman" pitchFamily="18" charset="0"/>
                <a:cs typeface="Times New Roman" pitchFamily="18" charset="0"/>
              </a:rPr>
              <a:t>AIR (Prevention and Control of Pollution) Act, 1981</a:t>
            </a:r>
            <a:endParaRPr lang="en-US" b="1" dirty="0" smtClean="0">
              <a:latin typeface="Times New Roman" pitchFamily="18" charset="0"/>
              <a:cs typeface="Times New Roman" pitchFamily="18" charset="0"/>
            </a:endParaRPr>
          </a:p>
        </p:txBody>
      </p:sp>
      <p:sp>
        <p:nvSpPr>
          <p:cNvPr id="13315" name="Rectangle 3"/>
          <p:cNvSpPr>
            <a:spLocks noGrp="1" noChangeArrowheads="1"/>
          </p:cNvSpPr>
          <p:nvPr>
            <p:ph type="body" idx="1"/>
          </p:nvPr>
        </p:nvSpPr>
        <p:spPr>
          <a:xfrm>
            <a:off x="0" y="1600200"/>
            <a:ext cx="8686800" cy="4876800"/>
          </a:xfrm>
        </p:spPr>
        <p:txBody>
          <a:bodyPr/>
          <a:lstStyle/>
          <a:p>
            <a:pPr eaLnBrk="1" hangingPunct="1">
              <a:buFontTx/>
              <a:buNone/>
            </a:pPr>
            <a:r>
              <a:rPr lang="en-US" sz="2800" b="1" dirty="0" smtClean="0">
                <a:solidFill>
                  <a:srgbClr val="FF0000"/>
                </a:solidFill>
                <a:latin typeface="Times New Roman" pitchFamily="18" charset="0"/>
                <a:cs typeface="Times New Roman" pitchFamily="18" charset="0"/>
              </a:rPr>
              <a:t>    The main objectives of the Act are as follows:</a:t>
            </a:r>
          </a:p>
          <a:p>
            <a:pPr eaLnBrk="1" hangingPunct="1">
              <a:buFontTx/>
              <a:buNone/>
            </a:pPr>
            <a:r>
              <a:rPr lang="en-US" sz="2800" dirty="0" smtClean="0"/>
              <a:t>   </a:t>
            </a:r>
            <a:r>
              <a:rPr lang="en-US" sz="2800" dirty="0" smtClean="0">
                <a:solidFill>
                  <a:srgbClr val="0033CC"/>
                </a:solidFill>
                <a:latin typeface="Comic Sans MS" pitchFamily="66" charset="0"/>
              </a:rPr>
              <a:t>(a) To provide for the prevention, control and abatement of air pollution.</a:t>
            </a:r>
          </a:p>
          <a:p>
            <a:pPr eaLnBrk="1" hangingPunct="1">
              <a:buFontTx/>
              <a:buNone/>
            </a:pPr>
            <a:r>
              <a:rPr lang="en-US" sz="2800" dirty="0" smtClean="0">
                <a:solidFill>
                  <a:srgbClr val="0033CC"/>
                </a:solidFill>
                <a:latin typeface="Comic Sans MS" pitchFamily="66" charset="0"/>
              </a:rPr>
              <a:t>   (b) To provide for the establishment of central and State Boards with a view to implement the Act.</a:t>
            </a:r>
          </a:p>
          <a:p>
            <a:pPr eaLnBrk="1" hangingPunct="1">
              <a:buFontTx/>
              <a:buNone/>
            </a:pPr>
            <a:r>
              <a:rPr lang="en-US" sz="2800" dirty="0" smtClean="0">
                <a:solidFill>
                  <a:srgbClr val="0033CC"/>
                </a:solidFill>
                <a:latin typeface="Comic Sans MS" pitchFamily="66" charset="0"/>
              </a:rPr>
              <a:t>   (C) To confer on the Boards the powers to implement the provisions of the Act and</a:t>
            </a:r>
          </a:p>
          <a:p>
            <a:pPr eaLnBrk="1" hangingPunct="1">
              <a:buFontTx/>
              <a:buNone/>
            </a:pPr>
            <a:r>
              <a:rPr lang="en-US" sz="2800" dirty="0" smtClean="0">
                <a:solidFill>
                  <a:srgbClr val="0033CC"/>
                </a:solidFill>
                <a:latin typeface="Comic Sans MS" pitchFamily="66" charset="0"/>
              </a:rPr>
              <a:t>   assign to the Boards functions relating to pollution</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3B5F6F1D-B005-41B1-9000-152050E7DA58}"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28</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30762"/>
          </a:xfrm>
        </p:spPr>
        <p:txBody>
          <a:bodyPr/>
          <a:lstStyle/>
          <a:p>
            <a:r>
              <a:rPr lang="en-US" b="1" dirty="0" smtClean="0">
                <a:solidFill>
                  <a:srgbClr val="339933"/>
                </a:solidFill>
                <a:latin typeface="Times New Roman" pitchFamily="18" charset="0"/>
                <a:cs typeface="Times New Roman" pitchFamily="18" charset="0"/>
              </a:rPr>
              <a:t>The Forest Conservation Act 1980</a:t>
            </a:r>
            <a:endParaRPr lang="en-US" b="1" dirty="0">
              <a:solidFill>
                <a:srgbClr val="339933"/>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F4AC0F28-D923-4CB9-A268-6544D7FB3EA8}"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29</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304800"/>
            <a:ext cx="8229600" cy="838200"/>
          </a:xfrm>
        </p:spPr>
        <p:txBody>
          <a:bodyPr/>
          <a:lstStyle/>
          <a:p>
            <a:pPr eaLnBrk="1" hangingPunct="1"/>
            <a:r>
              <a:rPr lang="en-US" sz="4000" b="1" dirty="0" smtClean="0">
                <a:solidFill>
                  <a:srgbClr val="339933"/>
                </a:solidFill>
                <a:latin typeface="Times New Roman" pitchFamily="18" charset="0"/>
                <a:cs typeface="Times New Roman" pitchFamily="18" charset="0"/>
              </a:rPr>
              <a:t>FOREST CONSERVATION ACT</a:t>
            </a:r>
          </a:p>
        </p:txBody>
      </p:sp>
      <p:sp>
        <p:nvSpPr>
          <p:cNvPr id="15363" name="Rectangle 3"/>
          <p:cNvSpPr>
            <a:spLocks noGrp="1" noChangeArrowheads="1"/>
          </p:cNvSpPr>
          <p:nvPr>
            <p:ph type="body" idx="1"/>
          </p:nvPr>
        </p:nvSpPr>
        <p:spPr>
          <a:xfrm>
            <a:off x="0" y="1066800"/>
            <a:ext cx="9144000" cy="5791200"/>
          </a:xfrm>
        </p:spPr>
        <p:txBody>
          <a:bodyPr>
            <a:normAutofit/>
          </a:bodyPr>
          <a:lstStyle/>
          <a:p>
            <a:r>
              <a:rPr lang="en-US" sz="3600" b="1" dirty="0" smtClean="0">
                <a:solidFill>
                  <a:srgbClr val="339933"/>
                </a:solidFill>
              </a:rPr>
              <a:t>Forest (conservation) Act, 1980, Amended 1988: </a:t>
            </a:r>
            <a:r>
              <a:rPr lang="en-US" sz="3600" dirty="0" smtClean="0">
                <a:solidFill>
                  <a:srgbClr val="7030A0"/>
                </a:solidFill>
              </a:rPr>
              <a:t>According to this, a state may declare forestlands as reserved forests. Unauthorized felling of trees, grazing and hunting in reserved forests are punishable. </a:t>
            </a:r>
          </a:p>
          <a:p>
            <a:r>
              <a:rPr lang="en-US" sz="3600" dirty="0" smtClean="0">
                <a:solidFill>
                  <a:srgbClr val="7030A0"/>
                </a:solidFill>
              </a:rPr>
              <a:t>The 1998 amendment makes the provisions more stringent and includes cultivation of tea, coffee, rubber, palm, oil-bearing plants and medicinal plants.</a:t>
            </a:r>
            <a:endParaRPr lang="en-US" sz="3600" dirty="0">
              <a:solidFill>
                <a:srgbClr val="7030A0"/>
              </a:solidFill>
            </a:endParaRPr>
          </a:p>
          <a:p>
            <a:pPr eaLnBrk="1" hangingPunct="1"/>
            <a:endParaRPr lang="en-US" sz="2800" dirty="0" smtClean="0"/>
          </a:p>
          <a:p>
            <a:pPr eaLnBrk="1" hangingPunct="1"/>
            <a:endParaRPr lang="en-US" sz="2800" dirty="0" smtClean="0"/>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4C811C9B-B30D-4F8F-8DC2-A6194BA0098E}"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30</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339933"/>
                </a:solidFill>
                <a:latin typeface="Times New Roman" pitchFamily="18" charset="0"/>
                <a:cs typeface="Times New Roman" pitchFamily="18" charset="0"/>
              </a:rPr>
              <a:t>FOREST CONSERVATION ACT</a:t>
            </a:r>
            <a:endParaRPr lang="en-US" dirty="0">
              <a:solidFill>
                <a:srgbClr val="339933"/>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86800" cy="4830763"/>
          </a:xfrm>
        </p:spPr>
        <p:txBody>
          <a:bodyPr>
            <a:normAutofit fontScale="92500" lnSpcReduction="20000"/>
          </a:bodyPr>
          <a:lstStyle/>
          <a:p>
            <a:r>
              <a:rPr lang="en-US" dirty="0" smtClean="0">
                <a:solidFill>
                  <a:srgbClr val="339933"/>
                </a:solidFill>
              </a:rPr>
              <a:t>The Indian Forest Act of 1927 </a:t>
            </a:r>
            <a:r>
              <a:rPr lang="en-US" dirty="0" smtClean="0"/>
              <a:t>consolidated all the previous laws regarding forests that were passed before the 1920s. </a:t>
            </a:r>
          </a:p>
          <a:p>
            <a:r>
              <a:rPr lang="en-US" dirty="0" smtClean="0"/>
              <a:t>The Act gave the Government and Forest Department the power to create Reserved Forests, and the right to use Reserved Forests for Government use alone.</a:t>
            </a:r>
          </a:p>
          <a:p>
            <a:r>
              <a:rPr lang="en-US" dirty="0" smtClean="0"/>
              <a:t>It also created Protected Forests, in which the use of resources by local people was controlled. </a:t>
            </a:r>
          </a:p>
          <a:p>
            <a:r>
              <a:rPr lang="en-US" dirty="0" smtClean="0"/>
              <a:t>Some forests were to be controlled by the village community, and these were called village Forests.</a:t>
            </a:r>
          </a:p>
          <a:p>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33CC"/>
                </a:solidFill>
              </a:rPr>
              <a:t>FOREST CONSERVATION ACT</a:t>
            </a:r>
            <a:endParaRPr lang="en-US" dirty="0"/>
          </a:p>
        </p:txBody>
      </p:sp>
      <p:sp>
        <p:nvSpPr>
          <p:cNvPr id="3" name="Content Placeholder 2"/>
          <p:cNvSpPr>
            <a:spLocks noGrp="1"/>
          </p:cNvSpPr>
          <p:nvPr>
            <p:ph idx="1"/>
          </p:nvPr>
        </p:nvSpPr>
        <p:spPr/>
        <p:txBody>
          <a:bodyPr>
            <a:normAutofit fontScale="92500" lnSpcReduction="20000"/>
          </a:bodyPr>
          <a:lstStyle/>
          <a:p>
            <a:pPr>
              <a:lnSpc>
                <a:spcPct val="90000"/>
              </a:lnSpc>
            </a:pPr>
            <a:r>
              <a:rPr lang="en-US" dirty="0" smtClean="0"/>
              <a:t>The Act remained in force till the 1980s when it was realized that protecting forests for timber production alone was not acceptable. </a:t>
            </a:r>
            <a:r>
              <a:rPr lang="en-US" b="1" dirty="0" smtClean="0"/>
              <a:t>The other values of services that forests provide and its valuable assets such as biodiversity began to overshadow the importance of their revenue earnings from timber. </a:t>
            </a:r>
          </a:p>
          <a:p>
            <a:pPr>
              <a:lnSpc>
                <a:spcPct val="90000"/>
              </a:lnSpc>
            </a:pPr>
            <a:r>
              <a:rPr lang="en-US" b="1" dirty="0" smtClean="0">
                <a:solidFill>
                  <a:srgbClr val="0033CC"/>
                </a:solidFill>
              </a:rPr>
              <a:t>Between 1952 and 1988, extent of deforestation was so great that it was essential to formulate a new policy on forests and their utilization. The earlier forest policies had focused only on revenue generation.</a:t>
            </a:r>
          </a:p>
          <a:p>
            <a:endParaRPr lang="en-US" dirty="0"/>
          </a:p>
        </p:txBody>
      </p:sp>
      <p:sp>
        <p:nvSpPr>
          <p:cNvPr id="4" name="Date Placeholder 3"/>
          <p:cNvSpPr>
            <a:spLocks noGrp="1"/>
          </p:cNvSpPr>
          <p:nvPr>
            <p:ph type="dt" sz="half" idx="10"/>
          </p:nvPr>
        </p:nvSpPr>
        <p:spPr/>
        <p:txBody>
          <a:bodyPr/>
          <a:lstStyle/>
          <a:p>
            <a:fld id="{0DCA1372-E814-4C7F-A846-48663826B27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32</a:t>
            </a:fld>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b="1" dirty="0" smtClean="0">
                <a:solidFill>
                  <a:srgbClr val="0033CC"/>
                </a:solidFill>
              </a:rPr>
              <a:t>FOREST CONSERVATION ACT</a:t>
            </a:r>
            <a:endParaRPr lang="en-US" dirty="0" smtClean="0"/>
          </a:p>
        </p:txBody>
      </p:sp>
      <p:sp>
        <p:nvSpPr>
          <p:cNvPr id="17411" name="Rectangle 3"/>
          <p:cNvSpPr>
            <a:spLocks noGrp="1" noChangeArrowheads="1"/>
          </p:cNvSpPr>
          <p:nvPr>
            <p:ph type="body" idx="1"/>
          </p:nvPr>
        </p:nvSpPr>
        <p:spPr>
          <a:xfrm>
            <a:off x="0" y="1066800"/>
            <a:ext cx="9144000" cy="5791200"/>
          </a:xfrm>
        </p:spPr>
        <p:txBody>
          <a:bodyPr/>
          <a:lstStyle/>
          <a:p>
            <a:pPr eaLnBrk="1" hangingPunct="1">
              <a:lnSpc>
                <a:spcPct val="90000"/>
              </a:lnSpc>
              <a:buFontTx/>
              <a:buNone/>
            </a:pPr>
            <a:endParaRPr lang="en-US" sz="2800" dirty="0" smtClean="0"/>
          </a:p>
          <a:p>
            <a:pPr eaLnBrk="1" hangingPunct="1">
              <a:lnSpc>
                <a:spcPct val="90000"/>
              </a:lnSpc>
            </a:pPr>
            <a:r>
              <a:rPr lang="en-US" sz="2800" b="1" dirty="0" smtClean="0">
                <a:solidFill>
                  <a:srgbClr val="0033CC"/>
                </a:solidFill>
              </a:rPr>
              <a:t>The new policy framework made conversion of forests into other uses much less possible. </a:t>
            </a:r>
          </a:p>
          <a:p>
            <a:pPr eaLnBrk="1" hangingPunct="1">
              <a:lnSpc>
                <a:spcPct val="90000"/>
              </a:lnSpc>
            </a:pPr>
            <a:r>
              <a:rPr lang="en-US" sz="2800" dirty="0" smtClean="0"/>
              <a:t>Conservation of the forests as a natural heritage finds a place in the new policy, which includes the preservation of its biological diversity and genetic resources. </a:t>
            </a:r>
          </a:p>
          <a:p>
            <a:pPr eaLnBrk="1" hangingPunct="1">
              <a:lnSpc>
                <a:spcPct val="90000"/>
              </a:lnSpc>
            </a:pPr>
            <a:r>
              <a:rPr lang="en-US" sz="2800" dirty="0" smtClean="0"/>
              <a:t>It also values meeting the needs of local people for food, fuel wood, fodder and Non Timber Forest Produce or NTFPs. It gives priority to maintaining environmental stability and ecological balances.</a:t>
            </a:r>
          </a:p>
          <a:p>
            <a:pPr eaLnBrk="1" hangingPunct="1">
              <a:lnSpc>
                <a:spcPct val="90000"/>
              </a:lnSpc>
            </a:pPr>
            <a:r>
              <a:rPr lang="en-US" sz="2800" dirty="0" smtClean="0"/>
              <a:t> It expressly states that the network of Protected Areas should be strengthened and extended.</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10D2E0DE-B4B7-4E59-BD64-615EC5C11EAF}"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33</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b="1" dirty="0" smtClean="0">
                <a:solidFill>
                  <a:srgbClr val="339933"/>
                </a:solidFill>
                <a:latin typeface="Times New Roman" pitchFamily="18" charset="0"/>
                <a:cs typeface="Times New Roman" pitchFamily="18" charset="0"/>
              </a:rPr>
              <a:t>FOREST CONSERVATION ACT</a:t>
            </a:r>
            <a:endParaRPr lang="en-US" dirty="0" smtClean="0">
              <a:solidFill>
                <a:srgbClr val="339933"/>
              </a:solidFill>
              <a:latin typeface="Times New Roman" pitchFamily="18" charset="0"/>
              <a:cs typeface="Times New Roman" pitchFamily="18" charset="0"/>
            </a:endParaRPr>
          </a:p>
        </p:txBody>
      </p:sp>
      <p:sp>
        <p:nvSpPr>
          <p:cNvPr id="18435" name="Rectangle 3"/>
          <p:cNvSpPr>
            <a:spLocks noGrp="1" noChangeArrowheads="1"/>
          </p:cNvSpPr>
          <p:nvPr>
            <p:ph type="body" idx="1"/>
          </p:nvPr>
        </p:nvSpPr>
        <p:spPr>
          <a:xfrm>
            <a:off x="0" y="1600200"/>
            <a:ext cx="9144000" cy="4525963"/>
          </a:xfrm>
        </p:spPr>
        <p:txBody>
          <a:bodyPr/>
          <a:lstStyle/>
          <a:p>
            <a:pPr eaLnBrk="1" hangingPunct="1"/>
            <a:r>
              <a:rPr lang="en-US" sz="4000" dirty="0" smtClean="0"/>
              <a:t>The Act made it possible to retain a greater control over the frightening level of deforestation in the country and specified penalties for offende</a:t>
            </a:r>
            <a:r>
              <a:rPr lang="en-US" dirty="0" smtClean="0"/>
              <a:t>rs.</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3BA6C35F-51BF-4290-9900-9FEDCC14D658}"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34</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59362"/>
          </a:xfrm>
        </p:spPr>
        <p:txBody>
          <a:bodyPr>
            <a:normAutofit/>
          </a:bodyPr>
          <a:lstStyle/>
          <a:p>
            <a:r>
              <a:rPr lang="en-US" b="1" dirty="0" smtClean="0">
                <a:solidFill>
                  <a:srgbClr val="FF0000"/>
                </a:solidFill>
                <a:latin typeface="Times New Roman" pitchFamily="18" charset="0"/>
                <a:cs typeface="Times New Roman" pitchFamily="18" charset="0"/>
              </a:rPr>
              <a:t>Wild life protection Act</a:t>
            </a:r>
            <a:r>
              <a:rPr lang="en-US" dirty="0" smtClean="0">
                <a:solidFill>
                  <a:srgbClr val="FF0000"/>
                </a:solidFill>
                <a:latin typeface="Times New Roman" pitchFamily="18" charset="0"/>
                <a:cs typeface="Times New Roman" pitchFamily="18" charset="0"/>
              </a:rPr>
              <a:t/>
            </a:r>
            <a:br>
              <a:rPr lang="en-US" dirty="0" smtClean="0">
                <a:solidFill>
                  <a:srgbClr val="FF0000"/>
                </a:solidFill>
                <a:latin typeface="Times New Roman" pitchFamily="18" charset="0"/>
                <a:cs typeface="Times New Roman" pitchFamily="18" charset="0"/>
              </a:rPr>
            </a:br>
            <a:endParaRPr lang="en-US" dirty="0">
              <a:solidFill>
                <a:srgbClr val="FF0000"/>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A1083C7B-67DB-4B2C-83C4-2D67E9ECCD78}"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35</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0"/>
            <a:ext cx="8229600" cy="914400"/>
          </a:xfrm>
        </p:spPr>
        <p:txBody>
          <a:bodyPr>
            <a:noAutofit/>
          </a:bodyPr>
          <a:lstStyle/>
          <a:p>
            <a:pPr eaLnBrk="1" hangingPunct="1"/>
            <a:r>
              <a:rPr lang="en-US" sz="3200" b="1" dirty="0" smtClean="0">
                <a:solidFill>
                  <a:srgbClr val="FF0000"/>
                </a:solidFill>
                <a:latin typeface="Times New Roman" pitchFamily="18" charset="0"/>
                <a:cs typeface="Times New Roman" pitchFamily="18" charset="0"/>
              </a:rPr>
              <a:t>WILD LIFE (PROTECTION) ACT, 1972, amended in 1983, 1986 and 1991:</a:t>
            </a:r>
          </a:p>
        </p:txBody>
      </p:sp>
      <p:sp>
        <p:nvSpPr>
          <p:cNvPr id="19459" name="Rectangle 3"/>
          <p:cNvSpPr>
            <a:spLocks noGrp="1" noChangeArrowheads="1"/>
          </p:cNvSpPr>
          <p:nvPr>
            <p:ph type="body" idx="1"/>
          </p:nvPr>
        </p:nvSpPr>
        <p:spPr>
          <a:xfrm>
            <a:off x="0" y="1371600"/>
            <a:ext cx="9144000" cy="5486400"/>
          </a:xfrm>
        </p:spPr>
        <p:txBody>
          <a:bodyPr/>
          <a:lstStyle/>
          <a:p>
            <a:pPr eaLnBrk="1" hangingPunct="1">
              <a:lnSpc>
                <a:spcPct val="80000"/>
              </a:lnSpc>
              <a:buFontTx/>
              <a:buNone/>
            </a:pPr>
            <a:r>
              <a:rPr lang="en-US" sz="2000" dirty="0" smtClean="0"/>
              <a:t>     </a:t>
            </a:r>
            <a:r>
              <a:rPr lang="en-US" sz="2800" b="1" dirty="0" smtClean="0">
                <a:solidFill>
                  <a:srgbClr val="FF0000"/>
                </a:solidFill>
                <a:latin typeface="Comic Sans MS" pitchFamily="66" charset="0"/>
              </a:rPr>
              <a:t>The major activities and provisions in the act can be summed up as follows:</a:t>
            </a:r>
          </a:p>
          <a:p>
            <a:pPr eaLnBrk="1" hangingPunct="1">
              <a:lnSpc>
                <a:spcPct val="80000"/>
              </a:lnSpc>
              <a:buFontTx/>
              <a:buNone/>
            </a:pPr>
            <a:r>
              <a:rPr lang="en-US" sz="2800" dirty="0" smtClean="0">
                <a:latin typeface="Comic Sans MS" pitchFamily="66" charset="0"/>
              </a:rPr>
              <a:t>      </a:t>
            </a:r>
            <a:r>
              <a:rPr lang="en-US" sz="2800" dirty="0" smtClean="0">
                <a:solidFill>
                  <a:srgbClr val="0033CC"/>
                </a:solidFill>
                <a:latin typeface="Comic Sans MS" pitchFamily="66" charset="0"/>
              </a:rPr>
              <a:t>1. It defines the wildlife related terminology.</a:t>
            </a:r>
          </a:p>
          <a:p>
            <a:pPr eaLnBrk="1" hangingPunct="1">
              <a:lnSpc>
                <a:spcPct val="80000"/>
              </a:lnSpc>
              <a:buFontTx/>
              <a:buNone/>
            </a:pPr>
            <a:r>
              <a:rPr lang="en-US" sz="2800" dirty="0" smtClean="0">
                <a:solidFill>
                  <a:srgbClr val="0033CC"/>
                </a:solidFill>
                <a:latin typeface="Comic Sans MS" pitchFamily="66" charset="0"/>
              </a:rPr>
              <a:t>      2. It provides for the appointment of wildlife advisory board, wildlife warden, their powers, duties etc</a:t>
            </a:r>
          </a:p>
          <a:p>
            <a:pPr eaLnBrk="1" hangingPunct="1">
              <a:lnSpc>
                <a:spcPct val="80000"/>
              </a:lnSpc>
              <a:buFontTx/>
              <a:buNone/>
            </a:pPr>
            <a:r>
              <a:rPr lang="en-US" sz="2800" dirty="0" smtClean="0">
                <a:solidFill>
                  <a:srgbClr val="0033CC"/>
                </a:solidFill>
                <a:latin typeface="Comic Sans MS" pitchFamily="66" charset="0"/>
              </a:rPr>
              <a:t>      3. Under the Act, comprehensive listing of endangered wildlife species was done for the first time and prohibition of hunting of the endangered species was mentioned</a:t>
            </a:r>
          </a:p>
          <a:p>
            <a:pPr eaLnBrk="1" hangingPunct="1">
              <a:lnSpc>
                <a:spcPct val="80000"/>
              </a:lnSpc>
              <a:buFontTx/>
              <a:buNone/>
            </a:pPr>
            <a:r>
              <a:rPr lang="en-US" sz="2800" dirty="0" smtClean="0">
                <a:solidFill>
                  <a:srgbClr val="0033CC"/>
                </a:solidFill>
                <a:latin typeface="Comic Sans MS" pitchFamily="66" charset="0"/>
              </a:rPr>
              <a:t>      4. Protection to some endangered plants like Cycad </a:t>
            </a:r>
            <a:r>
              <a:rPr lang="en-US" sz="2800" dirty="0" err="1" smtClean="0">
                <a:solidFill>
                  <a:srgbClr val="0033CC"/>
                </a:solidFill>
                <a:latin typeface="Comic Sans MS" pitchFamily="66" charset="0"/>
              </a:rPr>
              <a:t>Beddome</a:t>
            </a:r>
            <a:r>
              <a:rPr lang="en-US" sz="2800" dirty="0" smtClean="0">
                <a:solidFill>
                  <a:srgbClr val="0033CC"/>
                </a:solidFill>
                <a:latin typeface="Comic Sans MS" pitchFamily="66" charset="0"/>
              </a:rPr>
              <a:t> , Blue Vanda, Ladies </a:t>
            </a:r>
            <a:r>
              <a:rPr lang="en-US" sz="2800" dirty="0" err="1" smtClean="0">
                <a:solidFill>
                  <a:srgbClr val="0033CC"/>
                </a:solidFill>
                <a:latin typeface="Comic Sans MS" pitchFamily="66" charset="0"/>
              </a:rPr>
              <a:t>Sliper</a:t>
            </a:r>
            <a:r>
              <a:rPr lang="en-US" sz="2800" dirty="0" smtClean="0">
                <a:solidFill>
                  <a:srgbClr val="0033CC"/>
                </a:solidFill>
                <a:latin typeface="Comic Sans MS" pitchFamily="66" charset="0"/>
              </a:rPr>
              <a:t> Orchid, Pitcher plant etc. is also provided under the Act.</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3DF4623-48FE-42EB-BD4F-9126BCA15F60}"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36</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Comic Sans MS" pitchFamily="66" charset="0"/>
              </a:rPr>
              <a:t>WILD LIFE (PROTECTION) ACT, 1972, amended in 1983, 1986 and 1991:</a:t>
            </a:r>
            <a:endParaRPr lang="en-US" sz="3200" dirty="0">
              <a:solidFill>
                <a:srgbClr val="FF0000"/>
              </a:solidFill>
              <a:latin typeface="Comic Sans MS" pitchFamily="66" charset="0"/>
            </a:endParaRPr>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a:lnSpc>
                <a:spcPct val="80000"/>
              </a:lnSpc>
              <a:buNone/>
            </a:pPr>
            <a:r>
              <a:rPr lang="en-US" dirty="0" smtClean="0">
                <a:solidFill>
                  <a:srgbClr val="0033CC"/>
                </a:solidFill>
              </a:rPr>
              <a:t> </a:t>
            </a:r>
            <a:r>
              <a:rPr lang="en-US" dirty="0" smtClean="0">
                <a:solidFill>
                  <a:srgbClr val="0033CC"/>
                </a:solidFill>
                <a:latin typeface="Comic Sans MS" pitchFamily="66" charset="0"/>
              </a:rPr>
              <a:t>5. The act provides for setting up of National Parks, Wild life Sanctuaries etc.</a:t>
            </a:r>
          </a:p>
          <a:p>
            <a:pPr>
              <a:lnSpc>
                <a:spcPct val="80000"/>
              </a:lnSpc>
              <a:buNone/>
            </a:pPr>
            <a:r>
              <a:rPr lang="en-US" dirty="0" smtClean="0">
                <a:solidFill>
                  <a:srgbClr val="0033CC"/>
                </a:solidFill>
                <a:latin typeface="Comic Sans MS" pitchFamily="66" charset="0"/>
              </a:rPr>
              <a:t>6. The Act provides for the constitution of Central Zoo Authority.</a:t>
            </a:r>
          </a:p>
          <a:p>
            <a:pPr>
              <a:lnSpc>
                <a:spcPct val="80000"/>
              </a:lnSpc>
              <a:buNone/>
            </a:pPr>
            <a:r>
              <a:rPr lang="en-US" dirty="0" smtClean="0">
                <a:solidFill>
                  <a:srgbClr val="0033CC"/>
                </a:solidFill>
                <a:latin typeface="Comic Sans MS" pitchFamily="66" charset="0"/>
              </a:rPr>
              <a:t>7. There is provision for trade and commerce in some wildlife species with license for sale, possession, transfer etc.</a:t>
            </a:r>
          </a:p>
          <a:p>
            <a:pPr>
              <a:lnSpc>
                <a:spcPct val="80000"/>
              </a:lnSpc>
              <a:buNone/>
            </a:pPr>
            <a:r>
              <a:rPr lang="en-US" dirty="0" smtClean="0">
                <a:solidFill>
                  <a:srgbClr val="0033CC"/>
                </a:solidFill>
                <a:latin typeface="Comic Sans MS" pitchFamily="66" charset="0"/>
              </a:rPr>
              <a:t>8. The Act imposes a ban on the trade or commerce in scheduled animals.</a:t>
            </a:r>
          </a:p>
          <a:p>
            <a:pPr>
              <a:lnSpc>
                <a:spcPct val="80000"/>
              </a:lnSpc>
              <a:buNone/>
            </a:pPr>
            <a:r>
              <a:rPr lang="en-US" dirty="0" smtClean="0">
                <a:solidFill>
                  <a:srgbClr val="0033CC"/>
                </a:solidFill>
                <a:latin typeface="Comic Sans MS" pitchFamily="66" charset="0"/>
              </a:rPr>
              <a:t>9. It provides for legal powers to officers and punishment of offenders.</a:t>
            </a:r>
          </a:p>
          <a:p>
            <a:pPr>
              <a:lnSpc>
                <a:spcPct val="80000"/>
              </a:lnSpc>
              <a:buNone/>
            </a:pPr>
            <a:r>
              <a:rPr lang="en-US" dirty="0" smtClean="0">
                <a:solidFill>
                  <a:srgbClr val="0033CC"/>
                </a:solidFill>
                <a:latin typeface="Comic Sans MS" pitchFamily="66" charset="0"/>
              </a:rPr>
              <a:t>10. It provides for captive breeding programme for endangered species.</a:t>
            </a:r>
            <a:endParaRPr lang="en-US" dirty="0">
              <a:solidFill>
                <a:srgbClr val="0033CC"/>
              </a:solidFill>
              <a:latin typeface="Comic Sans MS" pitchFamily="66" charset="0"/>
            </a:endParaRPr>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b="1" dirty="0" smtClean="0">
                <a:latin typeface="Times New Roman" pitchFamily="18" charset="0"/>
                <a:cs typeface="Times New Roman" pitchFamily="18" charset="0"/>
              </a:rPr>
              <a:t>Environmental Legislations                                                                                                                                  </a:t>
            </a:r>
            <a:endParaRPr lang="en-US"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228600" y="1752600"/>
            <a:ext cx="8686800" cy="4572000"/>
          </a:xfrm>
        </p:spPr>
        <p:txBody>
          <a:bodyPr>
            <a:normAutofit lnSpcReduction="10000"/>
          </a:bodyPr>
          <a:lstStyle/>
          <a:p>
            <a:pPr algn="l"/>
            <a:endParaRPr lang="en-US" sz="2800" b="1" dirty="0" smtClean="0">
              <a:solidFill>
                <a:srgbClr val="7030A0"/>
              </a:solidFill>
            </a:endParaRPr>
          </a:p>
          <a:p>
            <a:pPr algn="l"/>
            <a:r>
              <a:rPr lang="en-US" sz="2800" b="1" dirty="0" smtClean="0">
                <a:solidFill>
                  <a:srgbClr val="FF0000"/>
                </a:solidFill>
                <a:latin typeface="Times New Roman" pitchFamily="18" charset="0"/>
                <a:cs typeface="Times New Roman" pitchFamily="18" charset="0"/>
              </a:rPr>
              <a:t>Wild life (protection) Act, 1972, Amended in 1982, 1991: </a:t>
            </a:r>
            <a:r>
              <a:rPr lang="en-US" sz="2800" dirty="0" smtClean="0">
                <a:solidFill>
                  <a:srgbClr val="7030A0"/>
                </a:solidFill>
              </a:rPr>
              <a:t>The Act empowers state wildlife advisory boards to regulate hunting, establish sanctuaries and national parks, regulate trade in wild animals and impose penalties to the offenders. </a:t>
            </a:r>
          </a:p>
          <a:p>
            <a:pPr algn="l"/>
            <a:r>
              <a:rPr lang="en-US" sz="2800" dirty="0" smtClean="0">
                <a:solidFill>
                  <a:srgbClr val="7030A0"/>
                </a:solidFill>
              </a:rPr>
              <a:t>Amendment in 1982 permitted the capture and transportation of wild animals for scientific management of their population. </a:t>
            </a:r>
          </a:p>
          <a:p>
            <a:pPr algn="l"/>
            <a:r>
              <a:rPr lang="en-US" sz="2800" dirty="0" smtClean="0">
                <a:solidFill>
                  <a:srgbClr val="7030A0"/>
                </a:solidFill>
              </a:rPr>
              <a:t>An amendment in 1991 makes the near-total prohibition of hunting of animals more effective.     </a:t>
            </a:r>
            <a:endParaRPr lang="en-US" sz="2800" dirty="0" smtClean="0">
              <a:solidFill>
                <a:srgbClr val="7030A0"/>
              </a:solidFill>
              <a:cs typeface="Arial" charset="0"/>
            </a:endParaRPr>
          </a:p>
        </p:txBody>
      </p:sp>
      <p:sp>
        <p:nvSpPr>
          <p:cNvPr id="4" name="Rectangle 3"/>
          <p:cNvSpPr/>
          <p:nvPr/>
        </p:nvSpPr>
        <p:spPr>
          <a:xfrm>
            <a:off x="609601" y="1295400"/>
            <a:ext cx="6781799" cy="1015663"/>
          </a:xfrm>
          <a:prstGeom prst="rect">
            <a:avLst/>
          </a:prstGeom>
        </p:spPr>
        <p:txBody>
          <a:bodyPr wrap="square">
            <a:spAutoFit/>
          </a:bodyPr>
          <a:lstStyle/>
          <a:p>
            <a:r>
              <a:rPr lang="en-US" sz="3600" b="1" dirty="0" smtClean="0">
                <a:solidFill>
                  <a:srgbClr val="C00000"/>
                </a:solidFill>
              </a:rPr>
              <a:t>Wild life protection Act</a:t>
            </a:r>
            <a:endParaRPr lang="en-US" sz="3600" dirty="0" smtClean="0">
              <a:solidFill>
                <a:srgbClr val="C00000"/>
              </a:solidFill>
            </a:endParaRPr>
          </a:p>
          <a:p>
            <a:endParaRPr lang="en-US" sz="24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3D058B1-6932-439C-BE24-8C74E5A53A10}"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38</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C00000"/>
                </a:solidFill>
              </a:rPr>
              <a:t/>
            </a:r>
            <a:br>
              <a:rPr lang="en-US" b="1" dirty="0" smtClean="0">
                <a:solidFill>
                  <a:srgbClr val="C00000"/>
                </a:solidFill>
              </a:rPr>
            </a:br>
            <a:r>
              <a:rPr lang="en-US" b="1" dirty="0" smtClean="0">
                <a:solidFill>
                  <a:srgbClr val="C00000"/>
                </a:solidFill>
              </a:rPr>
              <a:t/>
            </a:r>
            <a:br>
              <a:rPr lang="en-US" b="1" dirty="0" smtClean="0">
                <a:solidFill>
                  <a:srgbClr val="C00000"/>
                </a:solidFill>
              </a:rPr>
            </a:br>
            <a:r>
              <a:rPr lang="en-US" b="1" dirty="0" smtClean="0">
                <a:solidFill>
                  <a:srgbClr val="C00000"/>
                </a:solidFill>
                <a:latin typeface="Times New Roman" pitchFamily="18" charset="0"/>
                <a:cs typeface="Times New Roman" pitchFamily="18" charset="0"/>
              </a:rPr>
              <a:t>Wild life protection Act</a:t>
            </a:r>
            <a:r>
              <a:rPr lang="en-US" dirty="0" smtClean="0">
                <a:solidFill>
                  <a:srgbClr val="C00000"/>
                </a:solidFill>
                <a:latin typeface="Times New Roman" pitchFamily="18" charset="0"/>
                <a:cs typeface="Times New Roman" pitchFamily="18" charset="0"/>
              </a:rPr>
              <a:t/>
            </a:r>
            <a:br>
              <a:rPr lang="en-US" dirty="0" smtClean="0">
                <a:solidFill>
                  <a:srgbClr val="C00000"/>
                </a:solidFill>
                <a:latin typeface="Times New Roman" pitchFamily="18" charset="0"/>
                <a:cs typeface="Times New Roman" pitchFamily="18" charset="0"/>
              </a:rPr>
            </a:br>
            <a:r>
              <a:rPr lang="en-US" dirty="0" smtClean="0">
                <a:solidFill>
                  <a:srgbClr val="C00000"/>
                </a:solidFill>
              </a:rPr>
              <a:t/>
            </a:r>
            <a:br>
              <a:rPr lang="en-US" dirty="0" smtClean="0">
                <a:solidFill>
                  <a:srgbClr val="C00000"/>
                </a:solidFill>
              </a:rPr>
            </a:br>
            <a:endParaRPr lang="en-US" dirty="0"/>
          </a:p>
        </p:txBody>
      </p:sp>
      <p:sp>
        <p:nvSpPr>
          <p:cNvPr id="3" name="Content Placeholder 2"/>
          <p:cNvSpPr>
            <a:spLocks noGrp="1"/>
          </p:cNvSpPr>
          <p:nvPr>
            <p:ph idx="1"/>
          </p:nvPr>
        </p:nvSpPr>
        <p:spPr>
          <a:xfrm>
            <a:off x="457200" y="1371600"/>
            <a:ext cx="8229600" cy="4754563"/>
          </a:xfrm>
        </p:spPr>
        <p:txBody>
          <a:bodyPr>
            <a:normAutofit fontScale="77500" lnSpcReduction="20000"/>
          </a:bodyPr>
          <a:lstStyle/>
          <a:p>
            <a:pPr>
              <a:buNone/>
            </a:pPr>
            <a:r>
              <a:rPr lang="en-US" b="1" i="1" dirty="0" smtClean="0">
                <a:solidFill>
                  <a:srgbClr val="FF0000"/>
                </a:solidFill>
              </a:rPr>
              <a:t>Objects </a:t>
            </a:r>
          </a:p>
          <a:p>
            <a:pPr>
              <a:buNone/>
            </a:pPr>
            <a:r>
              <a:rPr lang="en-US" dirty="0" smtClean="0">
                <a:solidFill>
                  <a:srgbClr val="0033CC"/>
                </a:solidFill>
              </a:rPr>
              <a:t>1 Decline of wild animals and birds : matter of concern</a:t>
            </a:r>
          </a:p>
          <a:p>
            <a:pPr>
              <a:buNone/>
            </a:pPr>
            <a:r>
              <a:rPr lang="en-US" dirty="0" smtClean="0">
                <a:solidFill>
                  <a:srgbClr val="0033CC"/>
                </a:solidFill>
              </a:rPr>
              <a:t>2 Wild animals and birds have become extinct </a:t>
            </a:r>
          </a:p>
          <a:p>
            <a:pPr>
              <a:buNone/>
            </a:pPr>
            <a:r>
              <a:rPr lang="en-US" b="1" dirty="0" smtClean="0">
                <a:solidFill>
                  <a:srgbClr val="0033CC"/>
                </a:solidFill>
              </a:rPr>
              <a:t>3</a:t>
            </a:r>
            <a:r>
              <a:rPr lang="en-US" dirty="0" smtClean="0">
                <a:solidFill>
                  <a:srgbClr val="0033CC"/>
                </a:solidFill>
              </a:rPr>
              <a:t> Protection afforded to wild life in national parks and Sanctuaries needs to be       improved </a:t>
            </a:r>
          </a:p>
          <a:p>
            <a:pPr>
              <a:buNone/>
            </a:pPr>
            <a:r>
              <a:rPr lang="en-US" b="1" dirty="0" smtClean="0">
                <a:solidFill>
                  <a:srgbClr val="0033CC"/>
                </a:solidFill>
              </a:rPr>
              <a:t>4</a:t>
            </a:r>
            <a:r>
              <a:rPr lang="en-US" dirty="0" smtClean="0">
                <a:solidFill>
                  <a:srgbClr val="0033CC"/>
                </a:solidFill>
              </a:rPr>
              <a:t> Wild Birds and Animals Act 1912 has become outmoded. </a:t>
            </a:r>
          </a:p>
          <a:p>
            <a:pPr>
              <a:buNone/>
            </a:pPr>
            <a:r>
              <a:rPr lang="en-US" b="1" dirty="0" smtClean="0">
                <a:solidFill>
                  <a:srgbClr val="0033CC"/>
                </a:solidFill>
              </a:rPr>
              <a:t>5</a:t>
            </a:r>
            <a:r>
              <a:rPr lang="en-US" dirty="0" smtClean="0">
                <a:solidFill>
                  <a:srgbClr val="0033CC"/>
                </a:solidFill>
              </a:rPr>
              <a:t> State laws outdated and provide punishment not commensurate with the offences. </a:t>
            </a:r>
          </a:p>
          <a:p>
            <a:pPr>
              <a:buNone/>
            </a:pPr>
            <a:r>
              <a:rPr lang="en-US" b="1" dirty="0" smtClean="0">
                <a:solidFill>
                  <a:srgbClr val="0033CC"/>
                </a:solidFill>
              </a:rPr>
              <a:t>6</a:t>
            </a:r>
            <a:r>
              <a:rPr lang="en-US" dirty="0" smtClean="0">
                <a:solidFill>
                  <a:srgbClr val="0033CC"/>
                </a:solidFill>
              </a:rPr>
              <a:t> Existing laws relate to only hunting and do not address offences like </a:t>
            </a:r>
            <a:r>
              <a:rPr lang="en-US" dirty="0" err="1" smtClean="0">
                <a:solidFill>
                  <a:srgbClr val="0033CC"/>
                </a:solidFill>
              </a:rPr>
              <a:t>Texidery</a:t>
            </a:r>
            <a:r>
              <a:rPr lang="en-US" dirty="0" smtClean="0">
                <a:solidFill>
                  <a:srgbClr val="0033CC"/>
                </a:solidFill>
              </a:rPr>
              <a:t>, Trade off in wildlife and products derived there from </a:t>
            </a:r>
          </a:p>
          <a:p>
            <a:pPr>
              <a:buNone/>
            </a:pPr>
            <a:r>
              <a:rPr lang="en-US" dirty="0" smtClean="0">
                <a:solidFill>
                  <a:srgbClr val="0033CC"/>
                </a:solidFill>
              </a:rPr>
              <a:t>7 Existing laws neither adequate nor satisfactory </a:t>
            </a:r>
          </a:p>
          <a:p>
            <a:endParaRPr lang="en-US" dirty="0"/>
          </a:p>
        </p:txBody>
      </p:sp>
      <p:sp>
        <p:nvSpPr>
          <p:cNvPr id="4" name="Date Placeholder 3"/>
          <p:cNvSpPr>
            <a:spLocks noGrp="1"/>
          </p:cNvSpPr>
          <p:nvPr>
            <p:ph type="dt" sz="half" idx="10"/>
          </p:nvPr>
        </p:nvSpPr>
        <p:spPr/>
        <p:txBody>
          <a:bodyPr/>
          <a:lstStyle/>
          <a:p>
            <a:fld id="{62B3C59E-D4CA-4E70-A335-C70AF1D608AD}"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b="1" dirty="0" smtClean="0">
                <a:latin typeface="Times New Roman" pitchFamily="18" charset="0"/>
                <a:cs typeface="Times New Roman" pitchFamily="18" charset="0"/>
              </a:rPr>
              <a:t>Environmental Legislations                                                                                                                                  </a:t>
            </a:r>
            <a:endParaRPr lang="en-US"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304800" y="1981200"/>
            <a:ext cx="8534400" cy="4343400"/>
          </a:xfrm>
        </p:spPr>
        <p:txBody>
          <a:bodyPr>
            <a:noAutofit/>
          </a:bodyPr>
          <a:lstStyle/>
          <a:p>
            <a:pPr algn="l"/>
            <a:r>
              <a:rPr lang="en-US" sz="2400" b="1" i="1" dirty="0" smtClean="0">
                <a:solidFill>
                  <a:srgbClr val="FF0000"/>
                </a:solidFill>
              </a:rPr>
              <a:t>The Act seeks to  </a:t>
            </a:r>
          </a:p>
          <a:p>
            <a:pPr algn="l"/>
            <a:r>
              <a:rPr lang="en-US" sz="2400" b="1" dirty="0" smtClean="0">
                <a:solidFill>
                  <a:schemeClr val="tx1"/>
                </a:solidFill>
              </a:rPr>
              <a:t>1 Constitute Wild life Board for each State. </a:t>
            </a:r>
          </a:p>
          <a:p>
            <a:pPr algn="l"/>
            <a:r>
              <a:rPr lang="en-US" sz="2400" b="1" dirty="0" smtClean="0">
                <a:solidFill>
                  <a:schemeClr val="tx1"/>
                </a:solidFill>
              </a:rPr>
              <a:t>2 Regulate hunting of wild animal and birds. </a:t>
            </a:r>
          </a:p>
          <a:p>
            <a:pPr algn="l"/>
            <a:r>
              <a:rPr lang="en-US" sz="2400" b="1" dirty="0" smtClean="0">
                <a:solidFill>
                  <a:schemeClr val="tx1"/>
                </a:solidFill>
              </a:rPr>
              <a:t>3 </a:t>
            </a:r>
            <a:r>
              <a:rPr lang="en-US" sz="2400" b="1" dirty="0" err="1" smtClean="0">
                <a:solidFill>
                  <a:schemeClr val="tx1"/>
                </a:solidFill>
              </a:rPr>
              <a:t>Laydown</a:t>
            </a:r>
            <a:r>
              <a:rPr lang="en-US" sz="2400" b="1" dirty="0" smtClean="0">
                <a:solidFill>
                  <a:schemeClr val="tx1"/>
                </a:solidFill>
              </a:rPr>
              <a:t> procedures for declaring areas as </a:t>
            </a:r>
            <a:r>
              <a:rPr lang="en-US" sz="2400" b="1" dirty="0" err="1" smtClean="0">
                <a:solidFill>
                  <a:schemeClr val="tx1"/>
                </a:solidFill>
              </a:rPr>
              <a:t>Sancuaries</a:t>
            </a:r>
            <a:r>
              <a:rPr lang="en-US" sz="2400" b="1" dirty="0" smtClean="0">
                <a:solidFill>
                  <a:schemeClr val="tx1"/>
                </a:solidFill>
              </a:rPr>
              <a:t> and National Parks. </a:t>
            </a:r>
          </a:p>
          <a:p>
            <a:pPr algn="l"/>
            <a:r>
              <a:rPr lang="en-US" sz="2400" b="1" dirty="0" smtClean="0">
                <a:solidFill>
                  <a:schemeClr val="tx1"/>
                </a:solidFill>
              </a:rPr>
              <a:t>4 Regulate </a:t>
            </a:r>
            <a:r>
              <a:rPr lang="en-US" sz="2400" b="1" dirty="0" err="1" smtClean="0">
                <a:solidFill>
                  <a:schemeClr val="tx1"/>
                </a:solidFill>
              </a:rPr>
              <a:t>posession</a:t>
            </a:r>
            <a:r>
              <a:rPr lang="en-US" sz="2400" b="1" dirty="0" smtClean="0">
                <a:solidFill>
                  <a:schemeClr val="tx1"/>
                </a:solidFill>
              </a:rPr>
              <a:t>, acquisition or transfer of, or trade in wild animals, animal articles, trophies and </a:t>
            </a:r>
            <a:r>
              <a:rPr lang="en-US" sz="2400" b="1" dirty="0" err="1" smtClean="0">
                <a:solidFill>
                  <a:schemeClr val="tx1"/>
                </a:solidFill>
              </a:rPr>
              <a:t>Texidermy</a:t>
            </a:r>
            <a:r>
              <a:rPr lang="en-US" sz="2400" b="1" dirty="0" smtClean="0">
                <a:solidFill>
                  <a:schemeClr val="tx1"/>
                </a:solidFill>
              </a:rPr>
              <a:t>. </a:t>
            </a:r>
          </a:p>
          <a:p>
            <a:pPr algn="l"/>
            <a:r>
              <a:rPr lang="en-US" sz="2400" b="1" dirty="0" smtClean="0">
                <a:solidFill>
                  <a:schemeClr val="tx1"/>
                </a:solidFill>
              </a:rPr>
              <a:t>5 Provide penalties for Contravention of the Act.  </a:t>
            </a:r>
          </a:p>
          <a:p>
            <a:pPr algn="l"/>
            <a:r>
              <a:rPr lang="en-US" sz="2400" b="1" dirty="0" smtClean="0">
                <a:solidFill>
                  <a:schemeClr val="tx1"/>
                </a:solidFill>
              </a:rPr>
              <a:t>5A Constitution of National Board for Wild Life</a:t>
            </a:r>
            <a:endParaRPr lang="en-US" sz="2400" b="1" dirty="0">
              <a:solidFill>
                <a:schemeClr val="tx1"/>
              </a:solidFill>
            </a:endParaRPr>
          </a:p>
        </p:txBody>
      </p:sp>
      <p:sp>
        <p:nvSpPr>
          <p:cNvPr id="4" name="Rectangle 3"/>
          <p:cNvSpPr/>
          <p:nvPr/>
        </p:nvSpPr>
        <p:spPr>
          <a:xfrm>
            <a:off x="609600" y="1295400"/>
            <a:ext cx="6781799" cy="1077218"/>
          </a:xfrm>
          <a:prstGeom prst="rect">
            <a:avLst/>
          </a:prstGeom>
        </p:spPr>
        <p:txBody>
          <a:bodyPr wrap="square">
            <a:spAutoFit/>
          </a:bodyPr>
          <a:lstStyle/>
          <a:p>
            <a:r>
              <a:rPr lang="en-US" sz="3600" b="1" dirty="0" smtClean="0">
                <a:solidFill>
                  <a:srgbClr val="C00000"/>
                </a:solidFill>
                <a:latin typeface="Times New Roman" pitchFamily="18" charset="0"/>
                <a:cs typeface="Times New Roman" pitchFamily="18" charset="0"/>
              </a:rPr>
              <a:t>Wild life protection Act</a:t>
            </a:r>
            <a:endParaRPr lang="en-US" sz="3600" dirty="0" smtClean="0">
              <a:solidFill>
                <a:srgbClr val="C00000"/>
              </a:solidFill>
              <a:latin typeface="Times New Roman" pitchFamily="18" charset="0"/>
              <a:cs typeface="Times New Roman" pitchFamily="18" charset="0"/>
            </a:endParaRPr>
          </a:p>
          <a:p>
            <a:endParaRPr lang="en-US" sz="28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CCBA05FF-D72E-4BBD-8E1F-9BDAB6BF1DCA}"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40</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dirty="0" smtClean="0"/>
              <a:t>Environmental Legislations                                                                                                                                  </a:t>
            </a:r>
            <a:endParaRPr lang="en-US" sz="3200" dirty="0"/>
          </a:p>
        </p:txBody>
      </p:sp>
      <p:sp>
        <p:nvSpPr>
          <p:cNvPr id="3" name="Subtitle 2"/>
          <p:cNvSpPr>
            <a:spLocks noGrp="1"/>
          </p:cNvSpPr>
          <p:nvPr>
            <p:ph type="subTitle" idx="1"/>
          </p:nvPr>
        </p:nvSpPr>
        <p:spPr>
          <a:xfrm>
            <a:off x="762000" y="2209800"/>
            <a:ext cx="8001000" cy="4114800"/>
          </a:xfrm>
        </p:spPr>
        <p:txBody>
          <a:bodyPr numCol="2">
            <a:normAutofit/>
          </a:bodyPr>
          <a:lstStyle/>
          <a:p>
            <a:pPr algn="l"/>
            <a:r>
              <a:rPr lang="en-US" sz="1600" dirty="0" smtClean="0">
                <a:solidFill>
                  <a:schemeClr val="tx1"/>
                </a:solidFill>
              </a:rPr>
              <a:t>Functions of National Board</a:t>
            </a:r>
          </a:p>
          <a:p>
            <a:pPr algn="l">
              <a:buFont typeface="Wingdings" pitchFamily="2" charset="2"/>
              <a:buChar char="§"/>
            </a:pPr>
            <a:r>
              <a:rPr lang="en-US" sz="1600" dirty="0" smtClean="0">
                <a:solidFill>
                  <a:schemeClr val="tx1"/>
                </a:solidFill>
              </a:rPr>
              <a:t>It shall be the duty of NB to promote the conservation and development of wild</a:t>
            </a:r>
          </a:p>
          <a:p>
            <a:pPr algn="l"/>
            <a:r>
              <a:rPr lang="en-US" sz="1600" dirty="0" smtClean="0">
                <a:solidFill>
                  <a:schemeClr val="tx1"/>
                </a:solidFill>
              </a:rPr>
              <a:t> life and forests by such measures as </a:t>
            </a:r>
          </a:p>
          <a:p>
            <a:pPr algn="l"/>
            <a:r>
              <a:rPr lang="en-US" sz="1600" dirty="0" smtClean="0">
                <a:solidFill>
                  <a:schemeClr val="tx1"/>
                </a:solidFill>
              </a:rPr>
              <a:t>it thinks fit. </a:t>
            </a:r>
          </a:p>
          <a:p>
            <a:pPr algn="l"/>
            <a:endParaRPr lang="en-US" sz="1600" dirty="0" smtClean="0">
              <a:solidFill>
                <a:schemeClr val="tx1"/>
              </a:solidFill>
            </a:endParaRPr>
          </a:p>
          <a:p>
            <a:pPr algn="l">
              <a:buFont typeface="Wingdings" pitchFamily="2" charset="2"/>
              <a:buChar char="§"/>
            </a:pPr>
            <a:r>
              <a:rPr lang="en-US" sz="1600" dirty="0" smtClean="0">
                <a:solidFill>
                  <a:schemeClr val="tx1"/>
                </a:solidFill>
              </a:rPr>
              <a:t>Without prejudice to the generality of foregoing provision, the measures </a:t>
            </a:r>
            <a:r>
              <a:rPr lang="en-US" sz="1600" dirty="0" err="1" smtClean="0">
                <a:solidFill>
                  <a:schemeClr val="tx1"/>
                </a:solidFill>
              </a:rPr>
              <a:t>reffered</a:t>
            </a:r>
            <a:endParaRPr lang="en-US" sz="1600" dirty="0" smtClean="0">
              <a:solidFill>
                <a:schemeClr val="tx1"/>
              </a:solidFill>
            </a:endParaRPr>
          </a:p>
          <a:p>
            <a:pPr algn="l"/>
            <a:r>
              <a:rPr lang="en-US" sz="1600" dirty="0" smtClean="0">
                <a:solidFill>
                  <a:schemeClr val="tx1"/>
                </a:solidFill>
              </a:rPr>
              <a:t> to therein may provide for : </a:t>
            </a:r>
          </a:p>
          <a:p>
            <a:pPr algn="l"/>
            <a:endParaRPr lang="en-US" sz="1600" dirty="0" smtClean="0">
              <a:solidFill>
                <a:schemeClr val="tx1"/>
              </a:solidFill>
            </a:endParaRPr>
          </a:p>
          <a:p>
            <a:pPr algn="l">
              <a:buFont typeface="Wingdings" pitchFamily="2" charset="2"/>
              <a:buChar char="§"/>
            </a:pPr>
            <a:r>
              <a:rPr lang="en-US" sz="1600" dirty="0" smtClean="0">
                <a:solidFill>
                  <a:schemeClr val="tx1"/>
                </a:solidFill>
              </a:rPr>
              <a:t>Framing policies and advising on ways </a:t>
            </a:r>
          </a:p>
          <a:p>
            <a:pPr algn="l"/>
            <a:r>
              <a:rPr lang="en-US" sz="1600" dirty="0" smtClean="0">
                <a:solidFill>
                  <a:schemeClr val="tx1"/>
                </a:solidFill>
              </a:rPr>
              <a:t>and means of promoting wild life conservation and </a:t>
            </a:r>
            <a:r>
              <a:rPr lang="en-US" sz="1600" dirty="0" err="1" smtClean="0">
                <a:solidFill>
                  <a:schemeClr val="tx1"/>
                </a:solidFill>
              </a:rPr>
              <a:t>econtrolling</a:t>
            </a:r>
            <a:r>
              <a:rPr lang="en-US" sz="1600" dirty="0" smtClean="0">
                <a:solidFill>
                  <a:schemeClr val="tx1"/>
                </a:solidFill>
              </a:rPr>
              <a:t> poaching, illegal trade of wild life and its products. </a:t>
            </a:r>
          </a:p>
          <a:p>
            <a:pPr algn="l">
              <a:buFont typeface="Wingdings" pitchFamily="2" charset="2"/>
              <a:buChar char="§"/>
            </a:pPr>
            <a:r>
              <a:rPr lang="en-US" sz="1600" dirty="0" smtClean="0">
                <a:solidFill>
                  <a:schemeClr val="tx1"/>
                </a:solidFill>
              </a:rPr>
              <a:t>Making recommendations on setting up of </a:t>
            </a:r>
            <a:r>
              <a:rPr lang="en-US" sz="1600" dirty="0" err="1" smtClean="0">
                <a:solidFill>
                  <a:schemeClr val="tx1"/>
                </a:solidFill>
              </a:rPr>
              <a:t>of</a:t>
            </a:r>
            <a:r>
              <a:rPr lang="en-US" sz="1600" dirty="0" smtClean="0">
                <a:solidFill>
                  <a:schemeClr val="tx1"/>
                </a:solidFill>
              </a:rPr>
              <a:t> </a:t>
            </a:r>
            <a:r>
              <a:rPr lang="en-US" sz="1600" dirty="0" err="1" smtClean="0">
                <a:solidFill>
                  <a:schemeClr val="tx1"/>
                </a:solidFill>
              </a:rPr>
              <a:t>Sancuaries</a:t>
            </a:r>
            <a:r>
              <a:rPr lang="en-US" sz="1600" dirty="0" smtClean="0">
                <a:solidFill>
                  <a:schemeClr val="tx1"/>
                </a:solidFill>
              </a:rPr>
              <a:t> and National parks and  on restricting activities in these area. </a:t>
            </a:r>
          </a:p>
          <a:p>
            <a:pPr algn="l">
              <a:buFont typeface="Wingdings" pitchFamily="2" charset="2"/>
              <a:buChar char="§"/>
            </a:pPr>
            <a:endParaRPr lang="en-US" sz="1600" dirty="0" smtClean="0">
              <a:solidFill>
                <a:schemeClr val="tx1"/>
              </a:solidFill>
            </a:endParaRPr>
          </a:p>
          <a:p>
            <a:pPr algn="l">
              <a:buFont typeface="Wingdings" pitchFamily="2" charset="2"/>
              <a:buChar char="§"/>
            </a:pPr>
            <a:r>
              <a:rPr lang="en-US" sz="1600" dirty="0" smtClean="0">
                <a:solidFill>
                  <a:schemeClr val="tx1"/>
                </a:solidFill>
              </a:rPr>
              <a:t>Carrying out or causing to be carried out impact </a:t>
            </a:r>
            <a:r>
              <a:rPr lang="en-US" sz="1600" dirty="0" err="1" smtClean="0">
                <a:solidFill>
                  <a:schemeClr val="tx1"/>
                </a:solidFill>
              </a:rPr>
              <a:t>assesment</a:t>
            </a:r>
            <a:r>
              <a:rPr lang="en-US" sz="1600" dirty="0" smtClean="0">
                <a:solidFill>
                  <a:schemeClr val="tx1"/>
                </a:solidFill>
              </a:rPr>
              <a:t> of various projects and activities on wild life and its habitat. </a:t>
            </a:r>
          </a:p>
          <a:p>
            <a:pPr algn="l"/>
            <a:endParaRPr lang="en-US" sz="1600" dirty="0" smtClean="0">
              <a:solidFill>
                <a:schemeClr val="tx1"/>
              </a:solidFill>
            </a:endParaRPr>
          </a:p>
          <a:p>
            <a:pPr algn="l">
              <a:buFont typeface="Wingdings" pitchFamily="2" charset="2"/>
              <a:buChar char="§"/>
            </a:pPr>
            <a:r>
              <a:rPr lang="en-US" sz="1600" dirty="0" smtClean="0">
                <a:solidFill>
                  <a:schemeClr val="tx1"/>
                </a:solidFill>
              </a:rPr>
              <a:t>Receiving time to time progress made in the field of wild life conservation and suggesting ways to improve  it. </a:t>
            </a:r>
          </a:p>
          <a:p>
            <a:pPr algn="l">
              <a:buFont typeface="Wingdings" pitchFamily="2" charset="2"/>
              <a:buChar char="§"/>
            </a:pPr>
            <a:endParaRPr lang="en-US" sz="1600" dirty="0" smtClean="0">
              <a:solidFill>
                <a:schemeClr val="tx1"/>
              </a:solidFill>
            </a:endParaRPr>
          </a:p>
          <a:p>
            <a:pPr algn="l">
              <a:buFont typeface="Wingdings" pitchFamily="2" charset="2"/>
              <a:buChar char="§"/>
            </a:pPr>
            <a:r>
              <a:rPr lang="en-US" sz="1600" dirty="0" smtClean="0">
                <a:solidFill>
                  <a:schemeClr val="tx1"/>
                </a:solidFill>
              </a:rPr>
              <a:t>Preparing and publishing status report on wild life in country once in two years.</a:t>
            </a:r>
            <a:endParaRPr lang="en-US" sz="1600" dirty="0">
              <a:solidFill>
                <a:schemeClr val="tx1"/>
              </a:solidFill>
            </a:endParaRPr>
          </a:p>
        </p:txBody>
      </p:sp>
      <p:sp>
        <p:nvSpPr>
          <p:cNvPr id="4" name="Rectangle 3"/>
          <p:cNvSpPr/>
          <p:nvPr/>
        </p:nvSpPr>
        <p:spPr>
          <a:xfrm>
            <a:off x="609601" y="1295400"/>
            <a:ext cx="6781799" cy="830997"/>
          </a:xfrm>
          <a:prstGeom prst="rect">
            <a:avLst/>
          </a:prstGeom>
        </p:spPr>
        <p:txBody>
          <a:bodyPr wrap="square">
            <a:spAutoFit/>
          </a:bodyPr>
          <a:lstStyle/>
          <a:p>
            <a:r>
              <a:rPr lang="en-US" sz="2400" b="1" dirty="0" smtClean="0">
                <a:solidFill>
                  <a:srgbClr val="C00000"/>
                </a:solidFill>
              </a:rPr>
              <a:t>Wild life protection Act</a:t>
            </a:r>
            <a:endParaRPr lang="en-US" sz="2400" dirty="0" smtClean="0">
              <a:solidFill>
                <a:srgbClr val="C00000"/>
              </a:solidFill>
            </a:endParaRPr>
          </a:p>
          <a:p>
            <a:endParaRPr lang="en-US" sz="24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6C34B33-CFF3-43A0-8796-E2BA26AAC686}"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41</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5334000"/>
          </a:xfrm>
        </p:spPr>
        <p:txBody>
          <a:bodyPr>
            <a:normAutofit/>
          </a:bodyPr>
          <a:lstStyle/>
          <a:p>
            <a:r>
              <a:rPr lang="en-US" b="1" dirty="0" smtClean="0">
                <a:solidFill>
                  <a:srgbClr val="0033CC"/>
                </a:solidFill>
                <a:latin typeface="Times New Roman" pitchFamily="18" charset="0"/>
                <a:cs typeface="Times New Roman" pitchFamily="18" charset="0"/>
              </a:rPr>
              <a:t>Noise Pollution ( Regulation and Control) Rule 2000</a:t>
            </a:r>
            <a:r>
              <a:rPr lang="en-US" dirty="0" smtClean="0">
                <a:solidFill>
                  <a:srgbClr val="0033CC"/>
                </a:solidFill>
                <a:latin typeface="Times New Roman" pitchFamily="18" charset="0"/>
                <a:cs typeface="Times New Roman" pitchFamily="18" charset="0"/>
              </a:rPr>
              <a:t/>
            </a:r>
            <a:br>
              <a:rPr lang="en-US" dirty="0" smtClean="0">
                <a:solidFill>
                  <a:srgbClr val="0033CC"/>
                </a:solidFill>
                <a:latin typeface="Times New Roman" pitchFamily="18" charset="0"/>
                <a:cs typeface="Times New Roman" pitchFamily="18" charset="0"/>
              </a:rPr>
            </a:br>
            <a:endParaRPr lang="en-US" dirty="0">
              <a:solidFill>
                <a:srgbClr val="0033CC"/>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5EDD2810-7893-431E-A76D-C9D829F4BC86}"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42</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b="1" dirty="0" smtClean="0">
                <a:latin typeface="Times New Roman" pitchFamily="18" charset="0"/>
                <a:cs typeface="Times New Roman" pitchFamily="18" charset="0"/>
              </a:rPr>
              <a:t>Environmental Legislations                                                                                                                                  </a:t>
            </a:r>
            <a:endParaRPr lang="en-US" sz="3200" b="1" dirty="0">
              <a:latin typeface="Times New Roman" pitchFamily="18" charset="0"/>
              <a:cs typeface="Times New Roman" pitchFamily="18" charset="0"/>
            </a:endParaRPr>
          </a:p>
        </p:txBody>
      </p:sp>
      <p:sp>
        <p:nvSpPr>
          <p:cNvPr id="3" name="Subtitle 2"/>
          <p:cNvSpPr>
            <a:spLocks noGrp="1"/>
          </p:cNvSpPr>
          <p:nvPr>
            <p:ph type="subTitle" idx="1"/>
          </p:nvPr>
        </p:nvSpPr>
        <p:spPr>
          <a:xfrm>
            <a:off x="228600" y="2514600"/>
            <a:ext cx="8763000" cy="3810000"/>
          </a:xfrm>
        </p:spPr>
        <p:txBody>
          <a:bodyPr numCol="2">
            <a:noAutofit/>
          </a:bodyPr>
          <a:lstStyle/>
          <a:p>
            <a:pPr algn="l"/>
            <a:r>
              <a:rPr lang="en-US" sz="2400" b="1" dirty="0" smtClean="0">
                <a:solidFill>
                  <a:srgbClr val="0033CC"/>
                </a:solidFill>
              </a:rPr>
              <a:t>Noise : An ingredient of noise pollution u/s 2(1) a of Air Act 1981 </a:t>
            </a:r>
          </a:p>
          <a:p>
            <a:pPr algn="l"/>
            <a:r>
              <a:rPr lang="en-US" sz="2400" b="1" dirty="0" smtClean="0">
                <a:solidFill>
                  <a:srgbClr val="FF0000"/>
                </a:solidFill>
              </a:rPr>
              <a:t>Dictionary meaning : Loud confused or sense less sound, capable of causing physical and mental discomfort. </a:t>
            </a:r>
          </a:p>
          <a:p>
            <a:pPr algn="l"/>
            <a:r>
              <a:rPr lang="en-US" sz="2400" b="1" dirty="0" smtClean="0">
                <a:solidFill>
                  <a:schemeClr val="tx1"/>
                </a:solidFill>
              </a:rPr>
              <a:t>Unwarranted and </a:t>
            </a:r>
            <a:r>
              <a:rPr lang="en-US" sz="2400" b="1" dirty="0" err="1" smtClean="0">
                <a:solidFill>
                  <a:schemeClr val="tx1"/>
                </a:solidFill>
              </a:rPr>
              <a:t>unrhythemic</a:t>
            </a:r>
            <a:r>
              <a:rPr lang="en-US" sz="2400" b="1" dirty="0" smtClean="0">
                <a:solidFill>
                  <a:schemeClr val="tx1"/>
                </a:solidFill>
              </a:rPr>
              <a:t>. </a:t>
            </a:r>
          </a:p>
          <a:p>
            <a:pPr algn="l"/>
            <a:r>
              <a:rPr lang="en-US" sz="2400" b="1" dirty="0" smtClean="0">
                <a:solidFill>
                  <a:schemeClr val="tx1"/>
                </a:solidFill>
              </a:rPr>
              <a:t>Noise is slow agent of death. It causes hearing impairment and </a:t>
            </a:r>
          </a:p>
          <a:p>
            <a:pPr algn="l"/>
            <a:r>
              <a:rPr lang="en-US" sz="2400" b="1" dirty="0" smtClean="0">
                <a:solidFill>
                  <a:schemeClr val="tx1"/>
                </a:solidFill>
              </a:rPr>
              <a:t>mental imbalance besides affecting psychological health of human being. </a:t>
            </a:r>
          </a:p>
          <a:p>
            <a:pPr algn="l"/>
            <a:r>
              <a:rPr lang="en-US" sz="2400" b="1" dirty="0" smtClean="0">
                <a:solidFill>
                  <a:schemeClr val="tx1"/>
                </a:solidFill>
              </a:rPr>
              <a:t>Means defilement of atmosphere due to sound.</a:t>
            </a:r>
          </a:p>
          <a:p>
            <a:pPr algn="l"/>
            <a:r>
              <a:rPr lang="en-US" sz="2400" b="1" dirty="0" smtClean="0">
                <a:solidFill>
                  <a:schemeClr val="tx1"/>
                </a:solidFill>
              </a:rPr>
              <a:t> </a:t>
            </a:r>
            <a:r>
              <a:rPr lang="en-US" sz="2400" b="1" u="sng" dirty="0" smtClean="0">
                <a:solidFill>
                  <a:srgbClr val="FF0000"/>
                </a:solidFill>
              </a:rPr>
              <a:t>Prolonged exposure to noise levels above 90 </a:t>
            </a:r>
            <a:r>
              <a:rPr lang="en-US" sz="2400" b="1" u="sng" dirty="0" err="1" smtClean="0">
                <a:solidFill>
                  <a:srgbClr val="FF0000"/>
                </a:solidFill>
              </a:rPr>
              <a:t>decibles</a:t>
            </a:r>
            <a:r>
              <a:rPr lang="en-US" sz="2400" b="1" u="sng" dirty="0" smtClean="0">
                <a:solidFill>
                  <a:srgbClr val="FF0000"/>
                </a:solidFill>
              </a:rPr>
              <a:t> can cause permanent deafness.</a:t>
            </a:r>
            <a:endParaRPr lang="en-US" sz="2400" b="1" u="sng" dirty="0">
              <a:solidFill>
                <a:srgbClr val="FF0000"/>
              </a:solidFill>
            </a:endParaRPr>
          </a:p>
        </p:txBody>
      </p:sp>
      <p:sp>
        <p:nvSpPr>
          <p:cNvPr id="4" name="Rectangle 3"/>
          <p:cNvSpPr/>
          <p:nvPr/>
        </p:nvSpPr>
        <p:spPr>
          <a:xfrm>
            <a:off x="609601" y="1447800"/>
            <a:ext cx="7848599" cy="1077218"/>
          </a:xfrm>
          <a:prstGeom prst="rect">
            <a:avLst/>
          </a:prstGeom>
        </p:spPr>
        <p:txBody>
          <a:bodyPr wrap="square">
            <a:spAutoFit/>
          </a:bodyPr>
          <a:lstStyle/>
          <a:p>
            <a:r>
              <a:rPr lang="en-US" sz="3200" b="1" dirty="0" smtClean="0">
                <a:solidFill>
                  <a:srgbClr val="C00000"/>
                </a:solidFill>
                <a:latin typeface="Times New Roman" pitchFamily="18" charset="0"/>
                <a:cs typeface="Times New Roman" pitchFamily="18" charset="0"/>
              </a:rPr>
              <a:t>Noise Pollution ( Regulation and Control) Rule 2000</a:t>
            </a:r>
            <a:endParaRPr lang="en-US" sz="3200" dirty="0">
              <a:solidFill>
                <a:srgbClr val="C00000"/>
              </a:solidFill>
              <a:latin typeface="Times New Roman" pitchFamily="18" charset="0"/>
              <a:cs typeface="Times New Roman" pitchFamily="18" charset="0"/>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F354E94A-8E1F-4645-8D51-55A19ED19EF0}"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43</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16562"/>
          </a:xfrm>
        </p:spPr>
        <p:txBody>
          <a:bodyPr>
            <a:normAutofit/>
          </a:bodyPr>
          <a:lstStyle/>
          <a:p>
            <a:r>
              <a:rPr lang="en-US" b="1" dirty="0" smtClean="0">
                <a:solidFill>
                  <a:srgbClr val="0033CC"/>
                </a:solidFill>
                <a:latin typeface="Times New Roman" pitchFamily="18" charset="0"/>
                <a:cs typeface="Times New Roman" pitchFamily="18" charset="0"/>
              </a:rPr>
              <a:t>The Notification on Environment Impact Assessment 1994</a:t>
            </a:r>
            <a:br>
              <a:rPr lang="en-US" b="1" dirty="0" smtClean="0">
                <a:solidFill>
                  <a:srgbClr val="0033CC"/>
                </a:solidFill>
                <a:latin typeface="Times New Roman" pitchFamily="18" charset="0"/>
                <a:cs typeface="Times New Roman" pitchFamily="18" charset="0"/>
              </a:rPr>
            </a:br>
            <a:endParaRPr lang="en-US" b="1" dirty="0">
              <a:solidFill>
                <a:srgbClr val="0033CC"/>
              </a:solidFill>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DEF82B93-1C68-4C96-A936-BF96D996E818}"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44</a:t>
            </a:fld>
            <a:endParaRPr lang="en-US"/>
          </a:p>
        </p:txBody>
      </p:sp>
      <p:pic>
        <p:nvPicPr>
          <p:cNvPr id="6" name="Picture 5"/>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solidFill>
            <a:schemeClr val="accent2">
              <a:lumMod val="20000"/>
              <a:lumOff val="80000"/>
            </a:schemeClr>
          </a:solidFill>
        </p:spPr>
        <p:txBody>
          <a:bodyPr>
            <a:normAutofit fontScale="90000"/>
          </a:bodyPr>
          <a:lstStyle/>
          <a:p>
            <a:pPr eaLnBrk="1" hangingPunct="1">
              <a:defRPr/>
            </a:pPr>
            <a:r>
              <a:rPr lang="en-US" sz="3600" b="1" dirty="0" smtClean="0">
                <a:solidFill>
                  <a:srgbClr val="0000CC"/>
                </a:solidFill>
                <a:latin typeface="Times New Roman" pitchFamily="18" charset="0"/>
                <a:cs typeface="Times New Roman" pitchFamily="18" charset="0"/>
              </a:rPr>
              <a:t>Indian Policies Requiring EIA</a:t>
            </a:r>
            <a:br>
              <a:rPr lang="en-US" sz="3600" b="1" dirty="0" smtClean="0">
                <a:solidFill>
                  <a:srgbClr val="0000CC"/>
                </a:solidFill>
                <a:latin typeface="Times New Roman" pitchFamily="18" charset="0"/>
                <a:cs typeface="Times New Roman" pitchFamily="18" charset="0"/>
              </a:rPr>
            </a:br>
            <a:endParaRPr lang="en-US" sz="3600" b="1" dirty="0" smtClean="0">
              <a:solidFill>
                <a:srgbClr val="0000CC"/>
              </a:solidFill>
              <a:latin typeface="Times New Roman" pitchFamily="18" charset="0"/>
              <a:cs typeface="Times New Roman" pitchFamily="18" charset="0"/>
            </a:endParaRPr>
          </a:p>
        </p:txBody>
      </p:sp>
      <p:sp>
        <p:nvSpPr>
          <p:cNvPr id="3" name="Content Placeholder 2"/>
          <p:cNvSpPr>
            <a:spLocks noGrp="1"/>
          </p:cNvSpPr>
          <p:nvPr>
            <p:ph idx="1"/>
          </p:nvPr>
        </p:nvSpPr>
        <p:spPr>
          <a:solidFill>
            <a:schemeClr val="accent1">
              <a:lumMod val="20000"/>
              <a:lumOff val="80000"/>
            </a:schemeClr>
          </a:solidFill>
        </p:spPr>
        <p:txBody>
          <a:bodyPr rtlCol="0">
            <a:normAutofit/>
          </a:bodyPr>
          <a:lstStyle/>
          <a:p>
            <a:pPr eaLnBrk="1" fontAlgn="auto" hangingPunct="1">
              <a:spcAft>
                <a:spcPts val="0"/>
              </a:spcAft>
              <a:buFont typeface="Arial" pitchFamily="34" charset="0"/>
              <a:buChar char="•"/>
              <a:defRPr/>
            </a:pPr>
            <a:r>
              <a:rPr lang="en-US" sz="2800" b="1" dirty="0" smtClean="0">
                <a:latin typeface="Times New Roman" pitchFamily="18" charset="0"/>
                <a:cs typeface="Times New Roman" pitchFamily="18" charset="0"/>
              </a:rPr>
              <a:t>EIA in India was started in 1976-77 when the planning Commission asked the then Department of Science &amp; Technology to examine the River-Valley Projects from environmental angle.</a:t>
            </a:r>
          </a:p>
          <a:p>
            <a:pPr eaLnBrk="1" fontAlgn="auto" hangingPunct="1">
              <a:spcAft>
                <a:spcPts val="0"/>
              </a:spcAft>
              <a:buFont typeface="Arial" pitchFamily="34" charset="0"/>
              <a:buChar char="•"/>
              <a:defRPr/>
            </a:pPr>
            <a:endParaRPr lang="en-US" sz="2800" b="1" dirty="0" smtClean="0">
              <a:latin typeface="Times New Roman" pitchFamily="18" charset="0"/>
              <a:cs typeface="Times New Roman" pitchFamily="18" charset="0"/>
            </a:endParaRPr>
          </a:p>
          <a:p>
            <a:pPr eaLnBrk="1" fontAlgn="auto" hangingPunct="1">
              <a:spcAft>
                <a:spcPts val="0"/>
              </a:spcAft>
              <a:buFont typeface="Arial" pitchFamily="34" charset="0"/>
              <a:buChar char="•"/>
              <a:defRPr/>
            </a:pPr>
            <a:r>
              <a:rPr lang="en-US" sz="2800" b="1" dirty="0" smtClean="0">
                <a:latin typeface="Times New Roman" pitchFamily="18" charset="0"/>
                <a:cs typeface="Times New Roman" pitchFamily="18" charset="0"/>
              </a:rPr>
              <a:t>Subsequently, EIA was extended to cover those projects which required approval of the Public Investment Board. These were only administrative decisions and lacked the legislative support.</a:t>
            </a:r>
          </a:p>
          <a:p>
            <a:pPr eaLnBrk="1" fontAlgn="auto" hangingPunct="1">
              <a:spcAft>
                <a:spcPts val="0"/>
              </a:spcAft>
              <a:buFont typeface="Arial" pitchFamily="34" charset="0"/>
              <a:buChar char="•"/>
              <a:defRPr/>
            </a:pPr>
            <a:endParaRPr lang="en-US" sz="2800" b="1" dirty="0" smtClean="0">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fld id="{DE13FBB2-2A27-434A-B45B-A7C1DD261A3B}" type="datetime1">
              <a:rPr lang="en-US" smtClean="0"/>
              <a:pPr>
                <a:defRPr/>
              </a:pPr>
              <a:t>11/13/2017</a:t>
            </a:fld>
            <a:endParaRPr lang="en-US" dirty="0"/>
          </a:p>
        </p:txBody>
      </p:sp>
      <p:sp>
        <p:nvSpPr>
          <p:cNvPr id="5" name="Slide Number Placeholder 4"/>
          <p:cNvSpPr>
            <a:spLocks noGrp="1"/>
          </p:cNvSpPr>
          <p:nvPr>
            <p:ph type="sldNum" sz="quarter" idx="12"/>
          </p:nvPr>
        </p:nvSpPr>
        <p:spPr/>
        <p:txBody>
          <a:bodyPr/>
          <a:lstStyle/>
          <a:p>
            <a:pPr>
              <a:defRPr/>
            </a:pPr>
            <a:fld id="{38C22E9B-B3E7-49B2-A99D-9CE480E99777}" type="slidenum">
              <a:rPr lang="en-US" smtClean="0"/>
              <a:pPr>
                <a:defRPr/>
              </a:pPr>
              <a:t>45</a:t>
            </a:fld>
            <a:endParaRPr lang="en-US" dirty="0"/>
          </a:p>
        </p:txBody>
      </p:sp>
      <p:sp>
        <p:nvSpPr>
          <p:cNvPr id="6" name="Footer Placeholder 5"/>
          <p:cNvSpPr>
            <a:spLocks noGrp="1"/>
          </p:cNvSpPr>
          <p:nvPr>
            <p:ph type="ftr" sz="quarter" idx="11"/>
          </p:nvPr>
        </p:nvSpPr>
        <p:spPr/>
        <p:txBody>
          <a:bodyPr/>
          <a:lstStyle/>
          <a:p>
            <a:pPr>
              <a:defRPr/>
            </a:pPr>
            <a:r>
              <a:rPr lang="pt-BR" smtClean="0"/>
              <a:t>Dr Jyoti K Sharma</a:t>
            </a:r>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lumMod val="20000"/>
              <a:lumOff val="80000"/>
            </a:schemeClr>
          </a:solidFill>
        </p:spPr>
        <p:txBody>
          <a:bodyPr>
            <a:normAutofit fontScale="90000"/>
          </a:bodyPr>
          <a:lstStyle/>
          <a:p>
            <a:pPr>
              <a:defRPr/>
            </a:pPr>
            <a:r>
              <a:rPr lang="en-US" b="1" dirty="0" smtClean="0">
                <a:solidFill>
                  <a:srgbClr val="0000CC"/>
                </a:solidFill>
                <a:latin typeface="Times New Roman" pitchFamily="18" charset="0"/>
                <a:cs typeface="Times New Roman" pitchFamily="18" charset="0"/>
              </a:rPr>
              <a:t>Indian Policies Requiring EIA</a:t>
            </a:r>
            <a:br>
              <a:rPr lang="en-US" b="1" dirty="0" smtClean="0">
                <a:solidFill>
                  <a:srgbClr val="0000CC"/>
                </a:solidFill>
                <a:latin typeface="Times New Roman" pitchFamily="18" charset="0"/>
                <a:cs typeface="Times New Roman" pitchFamily="18" charset="0"/>
              </a:rPr>
            </a:br>
            <a:endParaRPr lang="en-US" dirty="0">
              <a:solidFill>
                <a:srgbClr val="0000CC"/>
              </a:solidFill>
            </a:endParaRPr>
          </a:p>
        </p:txBody>
      </p:sp>
      <p:sp>
        <p:nvSpPr>
          <p:cNvPr id="14339" name="Content Placeholder 2"/>
          <p:cNvSpPr>
            <a:spLocks noGrp="1"/>
          </p:cNvSpPr>
          <p:nvPr>
            <p:ph idx="1"/>
          </p:nvPr>
        </p:nvSpPr>
        <p:spPr>
          <a:solidFill>
            <a:schemeClr val="accent1">
              <a:lumMod val="20000"/>
              <a:lumOff val="80000"/>
            </a:schemeClr>
          </a:solidFill>
        </p:spPr>
        <p:txBody>
          <a:bodyPr/>
          <a:lstStyle/>
          <a:p>
            <a:pPr eaLnBrk="1" hangingPunct="1">
              <a:defRPr/>
            </a:pPr>
            <a:r>
              <a:rPr lang="en-US" b="1" dirty="0" smtClean="0">
                <a:latin typeface="Times New Roman" pitchFamily="18" charset="0"/>
                <a:cs typeface="Times New Roman" pitchFamily="18" charset="0"/>
              </a:rPr>
              <a:t>The Government of India enacted the Environment (Protection) Act on 23</a:t>
            </a:r>
            <a:r>
              <a:rPr lang="en-US" b="1" baseline="30000" dirty="0" smtClean="0">
                <a:latin typeface="Times New Roman" pitchFamily="18" charset="0"/>
                <a:cs typeface="Times New Roman" pitchFamily="18" charset="0"/>
              </a:rPr>
              <a:t>rd</a:t>
            </a:r>
            <a:r>
              <a:rPr lang="en-US" b="1" dirty="0" smtClean="0">
                <a:latin typeface="Times New Roman" pitchFamily="18" charset="0"/>
                <a:cs typeface="Times New Roman" pitchFamily="18" charset="0"/>
              </a:rPr>
              <a:t> May 1986. To achieve the Objectives of the Act  EIA has been  made statutory for 30 activities under eight major heads.</a:t>
            </a:r>
          </a:p>
          <a:p>
            <a:pPr eaLnBrk="1" hangingPunct="1">
              <a:defRPr/>
            </a:pPr>
            <a:r>
              <a:rPr lang="en-US" b="1" dirty="0" smtClean="0">
                <a:latin typeface="Times New Roman" pitchFamily="18" charset="0"/>
                <a:cs typeface="Times New Roman" pitchFamily="18" charset="0"/>
              </a:rPr>
              <a:t>Besides, the GOI  issued under </a:t>
            </a:r>
            <a:r>
              <a:rPr lang="en-US" b="1" dirty="0" smtClean="0">
                <a:solidFill>
                  <a:srgbClr val="0033CC"/>
                </a:solidFill>
                <a:latin typeface="Times New Roman" pitchFamily="18" charset="0"/>
                <a:cs typeface="Times New Roman" pitchFamily="18" charset="0"/>
              </a:rPr>
              <a:t>Environment (Protection Act )1986 </a:t>
            </a:r>
            <a:r>
              <a:rPr lang="en-US" b="1" dirty="0" smtClean="0">
                <a:latin typeface="Times New Roman" pitchFamily="18" charset="0"/>
                <a:cs typeface="Times New Roman" pitchFamily="18" charset="0"/>
              </a:rPr>
              <a:t>other notifications, which are related to EIA .</a:t>
            </a:r>
          </a:p>
          <a:p>
            <a:pPr>
              <a:defRPr/>
            </a:pPr>
            <a:endParaRPr lang="en-US" dirty="0" smtClean="0"/>
          </a:p>
        </p:txBody>
      </p:sp>
      <p:sp>
        <p:nvSpPr>
          <p:cNvPr id="4" name="Date Placeholder 3"/>
          <p:cNvSpPr>
            <a:spLocks noGrp="1"/>
          </p:cNvSpPr>
          <p:nvPr>
            <p:ph type="dt" sz="quarter" idx="10"/>
          </p:nvPr>
        </p:nvSpPr>
        <p:spPr/>
        <p:txBody>
          <a:bodyPr/>
          <a:lstStyle/>
          <a:p>
            <a:pPr>
              <a:defRPr/>
            </a:pPr>
            <a:fld id="{3A9752B4-1CA0-4C6E-8728-82C1A3ED2857}"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1C315402-FFDF-45EA-AE11-9A3BF21C8BA8}" type="slidenum">
              <a:rPr lang="en-US" smtClean="0"/>
              <a:pPr>
                <a:defRPr/>
              </a:pPr>
              <a:t>46</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solidFill>
            <a:schemeClr val="accent2">
              <a:lumMod val="20000"/>
              <a:lumOff val="80000"/>
            </a:schemeClr>
          </a:solidFill>
        </p:spPr>
        <p:txBody>
          <a:bodyPr>
            <a:normAutofit fontScale="90000"/>
          </a:bodyPr>
          <a:lstStyle/>
          <a:p>
            <a:pPr>
              <a:defRPr/>
            </a:pPr>
            <a:r>
              <a:rPr lang="en-US" b="1" dirty="0" smtClean="0">
                <a:solidFill>
                  <a:srgbClr val="0000CC"/>
                </a:solidFill>
                <a:latin typeface="Times New Roman" pitchFamily="18" charset="0"/>
                <a:cs typeface="Times New Roman" pitchFamily="18" charset="0"/>
              </a:rPr>
              <a:t/>
            </a:r>
            <a:br>
              <a:rPr lang="en-US" b="1" dirty="0" smtClean="0">
                <a:solidFill>
                  <a:srgbClr val="0000CC"/>
                </a:solidFill>
                <a:latin typeface="Times New Roman" pitchFamily="18" charset="0"/>
                <a:cs typeface="Times New Roman" pitchFamily="18" charset="0"/>
              </a:rPr>
            </a:br>
            <a:r>
              <a:rPr lang="en-US" sz="3600" b="1" dirty="0" smtClean="0">
                <a:solidFill>
                  <a:srgbClr val="0000CC"/>
                </a:solidFill>
                <a:latin typeface="Times New Roman" pitchFamily="18" charset="0"/>
                <a:cs typeface="Times New Roman" pitchFamily="18" charset="0"/>
              </a:rPr>
              <a:t>Indian Policies Requiring EIA</a:t>
            </a:r>
            <a:br>
              <a:rPr lang="en-US" sz="3600" b="1" dirty="0" smtClean="0">
                <a:solidFill>
                  <a:srgbClr val="0000CC"/>
                </a:solidFill>
                <a:latin typeface="Times New Roman" pitchFamily="18" charset="0"/>
                <a:cs typeface="Times New Roman" pitchFamily="18" charset="0"/>
              </a:rPr>
            </a:br>
            <a:endParaRPr lang="en-IN" sz="3600" dirty="0">
              <a:solidFill>
                <a:srgbClr val="0000CC"/>
              </a:solidFill>
            </a:endParaRPr>
          </a:p>
        </p:txBody>
      </p:sp>
      <p:sp>
        <p:nvSpPr>
          <p:cNvPr id="3" name="Content Placeholder 2"/>
          <p:cNvSpPr>
            <a:spLocks noGrp="1"/>
          </p:cNvSpPr>
          <p:nvPr>
            <p:ph idx="1"/>
          </p:nvPr>
        </p:nvSpPr>
        <p:spPr>
          <a:xfrm>
            <a:off x="457200" y="1143000"/>
            <a:ext cx="8229600" cy="4983163"/>
          </a:xfrm>
          <a:solidFill>
            <a:schemeClr val="accent1">
              <a:lumMod val="20000"/>
              <a:lumOff val="80000"/>
            </a:schemeClr>
          </a:solidFill>
        </p:spPr>
        <p:txBody>
          <a:bodyPr/>
          <a:lstStyle/>
          <a:p>
            <a:pPr>
              <a:buFont typeface="Arial" charset="0"/>
              <a:buNone/>
              <a:defRPr/>
            </a:pPr>
            <a:r>
              <a:rPr lang="en-IN" sz="2000" b="1" dirty="0" smtClean="0">
                <a:latin typeface="Times New Roman" pitchFamily="18" charset="0"/>
                <a:cs typeface="Times New Roman" pitchFamily="18" charset="0"/>
              </a:rPr>
              <a:t>The </a:t>
            </a:r>
            <a:r>
              <a:rPr lang="en-IN" sz="2000" b="1" dirty="0" smtClean="0">
                <a:solidFill>
                  <a:srgbClr val="007434"/>
                </a:solidFill>
                <a:latin typeface="Times New Roman" pitchFamily="18" charset="0"/>
                <a:cs typeface="Times New Roman" pitchFamily="18" charset="0"/>
              </a:rPr>
              <a:t>Ministry of Environment and Forests , </a:t>
            </a:r>
            <a:r>
              <a:rPr lang="en-IN" sz="2000" b="1" dirty="0" smtClean="0">
                <a:latin typeface="Times New Roman" pitchFamily="18" charset="0"/>
                <a:cs typeface="Times New Roman" pitchFamily="18" charset="0"/>
              </a:rPr>
              <a:t>Government of India enacted various laws which cover Environmental Impact Assessment in India.  The main laws concerning the environment  are: </a:t>
            </a:r>
          </a:p>
          <a:p>
            <a:pPr>
              <a:buFont typeface="Arial" charset="0"/>
              <a:buNone/>
              <a:defRPr/>
            </a:pPr>
            <a:r>
              <a:rPr lang="en-IN" sz="2000" b="1" dirty="0" smtClean="0">
                <a:latin typeface="Times New Roman" pitchFamily="18" charset="0"/>
                <a:cs typeface="Times New Roman" pitchFamily="18" charset="0"/>
              </a:rPr>
              <a:t>1.</a:t>
            </a:r>
            <a:r>
              <a:rPr lang="en-IN" sz="2000" b="1" dirty="0" smtClean="0">
                <a:solidFill>
                  <a:srgbClr val="0000CC"/>
                </a:solidFill>
                <a:latin typeface="Times New Roman" pitchFamily="18" charset="0"/>
                <a:cs typeface="Times New Roman" pitchFamily="18" charset="0"/>
              </a:rPr>
              <a:t>Water Act(1974), </a:t>
            </a:r>
          </a:p>
          <a:p>
            <a:pPr>
              <a:buFont typeface="Arial" charset="0"/>
              <a:buNone/>
              <a:defRPr/>
            </a:pPr>
            <a:r>
              <a:rPr lang="en-IN" sz="2000" b="1" dirty="0" smtClean="0">
                <a:solidFill>
                  <a:srgbClr val="0000CC"/>
                </a:solidFill>
                <a:latin typeface="Times New Roman" pitchFamily="18" charset="0"/>
                <a:cs typeface="Times New Roman" pitchFamily="18" charset="0"/>
              </a:rPr>
              <a:t>2.Wildlife (Protection) Act (1972), </a:t>
            </a:r>
          </a:p>
          <a:p>
            <a:pPr>
              <a:buFont typeface="Arial" charset="0"/>
              <a:buNone/>
              <a:defRPr/>
            </a:pPr>
            <a:r>
              <a:rPr lang="en-IN" sz="2000" b="1" dirty="0" smtClean="0">
                <a:solidFill>
                  <a:srgbClr val="0000CC"/>
                </a:solidFill>
                <a:latin typeface="Times New Roman" pitchFamily="18" charset="0"/>
                <a:cs typeface="Times New Roman" pitchFamily="18" charset="0"/>
              </a:rPr>
              <a:t>3.The Air (Prevention and Control of Pollution) Act (1981) </a:t>
            </a:r>
          </a:p>
          <a:p>
            <a:pPr>
              <a:buFont typeface="Arial" charset="0"/>
              <a:buNone/>
              <a:defRPr/>
            </a:pPr>
            <a:r>
              <a:rPr lang="en-IN" sz="2000" b="1" dirty="0" smtClean="0">
                <a:solidFill>
                  <a:srgbClr val="0000CC"/>
                </a:solidFill>
                <a:latin typeface="Times New Roman" pitchFamily="18" charset="0"/>
                <a:cs typeface="Times New Roman" pitchFamily="18" charset="0"/>
              </a:rPr>
              <a:t>4.The Environment (Protection) Act (1986). </a:t>
            </a:r>
          </a:p>
          <a:p>
            <a:pPr>
              <a:buFont typeface="Arial" charset="0"/>
              <a:buNone/>
              <a:defRPr/>
            </a:pPr>
            <a:r>
              <a:rPr lang="en-IN" sz="2000" b="1" dirty="0" smtClean="0">
                <a:solidFill>
                  <a:srgbClr val="0000CC"/>
                </a:solidFill>
                <a:latin typeface="Times New Roman" pitchFamily="18" charset="0"/>
                <a:cs typeface="Times New Roman" pitchFamily="18" charset="0"/>
              </a:rPr>
              <a:t>5. Biological Diversity Act (2002)</a:t>
            </a:r>
          </a:p>
          <a:p>
            <a:pPr>
              <a:buFont typeface="Arial" charset="0"/>
              <a:buNone/>
              <a:defRPr/>
            </a:pPr>
            <a:r>
              <a:rPr lang="en-IN" sz="2400" b="1" dirty="0" smtClean="0">
                <a:latin typeface="Times New Roman" pitchFamily="18" charset="0"/>
                <a:cs typeface="Times New Roman" pitchFamily="18" charset="0"/>
              </a:rPr>
              <a:t>The responsible body for this is </a:t>
            </a:r>
            <a:r>
              <a:rPr lang="en-IN" sz="2400" b="1" dirty="0" smtClean="0">
                <a:solidFill>
                  <a:srgbClr val="FF0000"/>
                </a:solidFill>
                <a:latin typeface="Times New Roman" pitchFamily="18" charset="0"/>
                <a:cs typeface="Times New Roman" pitchFamily="18" charset="0"/>
              </a:rPr>
              <a:t>Central Pollution Control Board (CPCB). </a:t>
            </a:r>
          </a:p>
          <a:p>
            <a:pPr>
              <a:buFont typeface="Arial" charset="0"/>
              <a:buNone/>
              <a:defRPr/>
            </a:pPr>
            <a:r>
              <a:rPr lang="en-IN" sz="2400" b="1" dirty="0" smtClean="0">
                <a:latin typeface="Times New Roman" pitchFamily="18" charset="0"/>
                <a:cs typeface="Times New Roman" pitchFamily="18" charset="0"/>
              </a:rPr>
              <a:t>Environmental Impact Assessment (EIA) studies need a significant amount of primary and secondary environmental data.</a:t>
            </a:r>
            <a:endParaRPr lang="en-IN" sz="2400" b="1" dirty="0">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fld id="{FDFEA0FE-D0C7-4B4F-A20B-EB02E0A3A3C0}"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3420DC27-F6A9-437C-BE1F-D8CE1F94D470}" type="slidenum">
              <a:rPr lang="en-US" smtClean="0"/>
              <a:pPr>
                <a:defRPr/>
              </a:pPr>
              <a:t>47</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8229600" cy="792162"/>
          </a:xfrm>
          <a:solidFill>
            <a:schemeClr val="accent6">
              <a:lumMod val="20000"/>
              <a:lumOff val="80000"/>
            </a:schemeClr>
          </a:solidFill>
        </p:spPr>
        <p:txBody>
          <a:bodyPr>
            <a:normAutofit fontScale="90000"/>
          </a:bodyPr>
          <a:lstStyle/>
          <a:p>
            <a:pPr>
              <a:defRPr/>
            </a:pP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sz="4000" b="1" dirty="0" smtClean="0">
                <a:solidFill>
                  <a:srgbClr val="0000CC"/>
                </a:solidFill>
                <a:latin typeface="Times New Roman" pitchFamily="18" charset="0"/>
                <a:cs typeface="Times New Roman" pitchFamily="18" charset="0"/>
              </a:rPr>
              <a:t>Evolution of  EIA in India </a:t>
            </a:r>
            <a:br>
              <a:rPr lang="en-US" sz="4000" b="1" dirty="0" smtClean="0">
                <a:solidFill>
                  <a:srgbClr val="0000CC"/>
                </a:solidFill>
                <a:latin typeface="Times New Roman" pitchFamily="18" charset="0"/>
                <a:cs typeface="Times New Roman" pitchFamily="18" charset="0"/>
              </a:rPr>
            </a:br>
            <a:endParaRPr lang="en-US" sz="4000" dirty="0" smtClean="0">
              <a:solidFill>
                <a:srgbClr val="0000CC"/>
              </a:solidFill>
            </a:endParaRPr>
          </a:p>
        </p:txBody>
      </p:sp>
      <p:sp>
        <p:nvSpPr>
          <p:cNvPr id="22531" name="Content Placeholder 2"/>
          <p:cNvSpPr>
            <a:spLocks noGrp="1"/>
          </p:cNvSpPr>
          <p:nvPr>
            <p:ph idx="1"/>
          </p:nvPr>
        </p:nvSpPr>
        <p:spPr>
          <a:xfrm>
            <a:off x="457200" y="1066800"/>
            <a:ext cx="8229600" cy="5334000"/>
          </a:xfrm>
          <a:solidFill>
            <a:schemeClr val="accent5">
              <a:lumMod val="20000"/>
              <a:lumOff val="80000"/>
            </a:schemeClr>
          </a:solidFill>
        </p:spPr>
        <p:txBody>
          <a:bodyPr/>
          <a:lstStyle/>
          <a:p>
            <a:pPr>
              <a:buFont typeface="Arial" charset="0"/>
              <a:buNone/>
              <a:defRPr/>
            </a:pPr>
            <a:r>
              <a:rPr lang="en-US" sz="2800" b="1" dirty="0" smtClean="0">
                <a:latin typeface="Times New Roman" pitchFamily="18" charset="0"/>
                <a:cs typeface="Times New Roman" pitchFamily="18" charset="0"/>
              </a:rPr>
              <a:t>In India many of the developmental projects </a:t>
            </a:r>
            <a:r>
              <a:rPr lang="en-US" sz="2800" b="1" dirty="0" smtClean="0">
                <a:solidFill>
                  <a:srgbClr val="FF0000"/>
                </a:solidFill>
                <a:latin typeface="Times New Roman" pitchFamily="18" charset="0"/>
                <a:cs typeface="Times New Roman" pitchFamily="18" charset="0"/>
              </a:rPr>
              <a:t>till as recently as the 1980s</a:t>
            </a:r>
            <a:r>
              <a:rPr lang="en-US" sz="2800" b="1" dirty="0" smtClean="0">
                <a:latin typeface="Times New Roman" pitchFamily="18" charset="0"/>
                <a:cs typeface="Times New Roman" pitchFamily="18" charset="0"/>
              </a:rPr>
              <a:t> were implemented with very little or no environmental concerns. </a:t>
            </a:r>
            <a:r>
              <a:rPr lang="en-US" sz="2800" b="1" dirty="0" smtClean="0">
                <a:solidFill>
                  <a:srgbClr val="0000CC"/>
                </a:solidFill>
                <a:latin typeface="Times New Roman" pitchFamily="18" charset="0"/>
                <a:cs typeface="Times New Roman" pitchFamily="18" charset="0"/>
              </a:rPr>
              <a:t>The environmental issues began receiving attention when a national committee on environmental planning and coordination was set up under the 4th five year plan (1969-1978). </a:t>
            </a:r>
          </a:p>
          <a:p>
            <a:pPr>
              <a:buFont typeface="Arial" charset="0"/>
              <a:buNone/>
              <a:defRPr/>
            </a:pPr>
            <a:r>
              <a:rPr lang="en-US" sz="2800" b="1" dirty="0" smtClean="0">
                <a:latin typeface="Times New Roman" pitchFamily="18" charset="0"/>
                <a:cs typeface="Times New Roman" pitchFamily="18" charset="0"/>
              </a:rPr>
              <a:t>Till 1980, the subjects of environment and forests were the concern of the Dept of Science and Technology and Ministry of Agriculture, respectively. </a:t>
            </a:r>
          </a:p>
        </p:txBody>
      </p:sp>
      <p:sp>
        <p:nvSpPr>
          <p:cNvPr id="4" name="Date Placeholder 3"/>
          <p:cNvSpPr>
            <a:spLocks noGrp="1"/>
          </p:cNvSpPr>
          <p:nvPr>
            <p:ph type="dt" sz="quarter" idx="10"/>
          </p:nvPr>
        </p:nvSpPr>
        <p:spPr/>
        <p:txBody>
          <a:bodyPr/>
          <a:lstStyle/>
          <a:p>
            <a:pPr>
              <a:defRPr/>
            </a:pPr>
            <a:fld id="{216025FA-EE57-44EF-983C-A6556BCAF7CB}"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9EA4AEE4-771C-4198-AB61-905917B56738}" type="slidenum">
              <a:rPr lang="en-US" smtClean="0"/>
              <a:pPr>
                <a:defRPr/>
              </a:pPr>
              <a:t>48</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457200" y="274638"/>
            <a:ext cx="8229600" cy="792162"/>
          </a:xfrm>
        </p:spPr>
        <p:txBody>
          <a:bodyPr>
            <a:normAutofit fontScale="90000"/>
          </a:bodyPr>
          <a:lstStyle/>
          <a:p>
            <a:r>
              <a:rPr lang="en-US" altLang="en-US" b="1" smtClean="0">
                <a:solidFill>
                  <a:srgbClr val="0000CC"/>
                </a:solidFill>
                <a:latin typeface="Times New Roman" pitchFamily="18" charset="0"/>
                <a:cs typeface="Times New Roman" pitchFamily="18" charset="0"/>
              </a:rPr>
              <a:t/>
            </a:r>
            <a:br>
              <a:rPr lang="en-US" altLang="en-US" b="1" smtClean="0">
                <a:solidFill>
                  <a:srgbClr val="0000CC"/>
                </a:solidFill>
                <a:latin typeface="Times New Roman" pitchFamily="18" charset="0"/>
                <a:cs typeface="Times New Roman" pitchFamily="18" charset="0"/>
              </a:rPr>
            </a:br>
            <a:r>
              <a:rPr lang="en-US" altLang="en-US" sz="4000" b="1" smtClean="0">
                <a:solidFill>
                  <a:srgbClr val="0000CC"/>
                </a:solidFill>
                <a:latin typeface="Times New Roman" pitchFamily="18" charset="0"/>
                <a:cs typeface="Times New Roman" pitchFamily="18" charset="0"/>
              </a:rPr>
              <a:t>Evolution of EIA in India </a:t>
            </a:r>
            <a:br>
              <a:rPr lang="en-US" altLang="en-US" sz="4000" b="1" smtClean="0">
                <a:solidFill>
                  <a:srgbClr val="0000CC"/>
                </a:solidFill>
                <a:latin typeface="Times New Roman" pitchFamily="18" charset="0"/>
                <a:cs typeface="Times New Roman" pitchFamily="18" charset="0"/>
              </a:rPr>
            </a:br>
            <a:endParaRPr lang="en-US" altLang="en-US" sz="4000" smtClean="0"/>
          </a:p>
        </p:txBody>
      </p:sp>
      <p:sp>
        <p:nvSpPr>
          <p:cNvPr id="63491" name="Content Placeholder 2"/>
          <p:cNvSpPr>
            <a:spLocks noGrp="1"/>
          </p:cNvSpPr>
          <p:nvPr>
            <p:ph idx="1"/>
          </p:nvPr>
        </p:nvSpPr>
        <p:spPr>
          <a:xfrm>
            <a:off x="304800" y="1295400"/>
            <a:ext cx="8610600" cy="4830763"/>
          </a:xfrm>
        </p:spPr>
        <p:txBody>
          <a:bodyPr/>
          <a:lstStyle/>
          <a:p>
            <a:pPr>
              <a:buFont typeface="Arial" charset="0"/>
              <a:buNone/>
            </a:pPr>
            <a:r>
              <a:rPr lang="en-US" altLang="en-US" sz="2800" b="1" smtClean="0">
                <a:latin typeface="Times New Roman" pitchFamily="18" charset="0"/>
                <a:cs typeface="Times New Roman" pitchFamily="18" charset="0"/>
              </a:rPr>
              <a:t>Till 1980, clearance of large projects from the environmental angle became an administrative requirement to the extent that the </a:t>
            </a:r>
            <a:r>
              <a:rPr lang="en-US" altLang="en-US" sz="2800" b="1" smtClean="0">
                <a:solidFill>
                  <a:srgbClr val="0000CC"/>
                </a:solidFill>
                <a:latin typeface="Times New Roman" pitchFamily="18" charset="0"/>
                <a:cs typeface="Times New Roman" pitchFamily="18" charset="0"/>
              </a:rPr>
              <a:t>Planning Commission </a:t>
            </a:r>
            <a:r>
              <a:rPr lang="en-US" altLang="en-US" sz="2800" b="1" smtClean="0">
                <a:latin typeface="Times New Roman" pitchFamily="18" charset="0"/>
                <a:cs typeface="Times New Roman" pitchFamily="18" charset="0"/>
              </a:rPr>
              <a:t>and the </a:t>
            </a:r>
            <a:r>
              <a:rPr lang="en-US" altLang="en-US" sz="2800" b="1" smtClean="0">
                <a:solidFill>
                  <a:srgbClr val="0000CC"/>
                </a:solidFill>
                <a:latin typeface="Times New Roman" pitchFamily="18" charset="0"/>
                <a:cs typeface="Times New Roman" pitchFamily="18" charset="0"/>
              </a:rPr>
              <a:t>Central Investment Board </a:t>
            </a:r>
            <a:r>
              <a:rPr lang="en-US" altLang="en-US" sz="2800" b="1" smtClean="0">
                <a:latin typeface="Times New Roman" pitchFamily="18" charset="0"/>
                <a:cs typeface="Times New Roman" pitchFamily="18" charset="0"/>
              </a:rPr>
              <a:t>sought proof of such clearance before according financial sanction.</a:t>
            </a:r>
          </a:p>
          <a:p>
            <a:pPr>
              <a:buFont typeface="Arial" charset="0"/>
              <a:buNone/>
            </a:pPr>
            <a:r>
              <a:rPr lang="en-US" altLang="en-US" sz="2800" b="1" smtClean="0">
                <a:latin typeface="Times New Roman" pitchFamily="18" charset="0"/>
                <a:cs typeface="Times New Roman" pitchFamily="18" charset="0"/>
              </a:rPr>
              <a:t>Later, the issues were formally attended by the </a:t>
            </a:r>
            <a:r>
              <a:rPr lang="en-US" altLang="en-US" sz="2800" b="1" smtClean="0">
                <a:solidFill>
                  <a:srgbClr val="0000CC"/>
                </a:solidFill>
                <a:latin typeface="Times New Roman" pitchFamily="18" charset="0"/>
                <a:cs typeface="Times New Roman" pitchFamily="18" charset="0"/>
              </a:rPr>
              <a:t>Dept of Environment </a:t>
            </a:r>
            <a:r>
              <a:rPr lang="en-US" altLang="en-US" sz="2800" b="1" smtClean="0">
                <a:latin typeface="Times New Roman" pitchFamily="18" charset="0"/>
                <a:cs typeface="Times New Roman" pitchFamily="18" charset="0"/>
              </a:rPr>
              <a:t>which was established in </a:t>
            </a:r>
            <a:r>
              <a:rPr lang="en-US" altLang="en-US" sz="2800" b="1" smtClean="0">
                <a:solidFill>
                  <a:srgbClr val="0000CC"/>
                </a:solidFill>
                <a:latin typeface="Times New Roman" pitchFamily="18" charset="0"/>
                <a:cs typeface="Times New Roman" pitchFamily="18" charset="0"/>
              </a:rPr>
              <a:t>1980.</a:t>
            </a:r>
            <a:r>
              <a:rPr lang="en-US" altLang="en-US" sz="2800" b="1" smtClean="0">
                <a:latin typeface="Times New Roman" pitchFamily="18" charset="0"/>
                <a:cs typeface="Times New Roman" pitchFamily="18" charset="0"/>
              </a:rPr>
              <a:t> This was then upgraded to the </a:t>
            </a:r>
            <a:r>
              <a:rPr lang="en-US" altLang="en-US" sz="2800" b="1" smtClean="0">
                <a:solidFill>
                  <a:srgbClr val="0000CC"/>
                </a:solidFill>
                <a:latin typeface="Times New Roman" pitchFamily="18" charset="0"/>
                <a:cs typeface="Times New Roman" pitchFamily="18" charset="0"/>
              </a:rPr>
              <a:t>Ministry of Environment &amp; Forest in 1985. </a:t>
            </a:r>
          </a:p>
          <a:p>
            <a:endParaRPr lang="en-US" altLang="en-US" smtClean="0"/>
          </a:p>
        </p:txBody>
      </p:sp>
      <p:sp>
        <p:nvSpPr>
          <p:cNvPr id="4" name="Date Placeholder 3"/>
          <p:cNvSpPr>
            <a:spLocks noGrp="1"/>
          </p:cNvSpPr>
          <p:nvPr>
            <p:ph type="dt" sz="quarter" idx="10"/>
          </p:nvPr>
        </p:nvSpPr>
        <p:spPr/>
        <p:txBody>
          <a:bodyPr/>
          <a:lstStyle/>
          <a:p>
            <a:pPr>
              <a:defRPr/>
            </a:pPr>
            <a:fld id="{CDD8243F-A473-4D01-8F56-52050E873CC8}"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049438C7-5A12-40D8-A971-691EEFF8D287}" type="slidenum">
              <a:rPr lang="en-US" smtClean="0"/>
              <a:pPr>
                <a:defRPr/>
              </a:pPr>
              <a:t>49</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57200" y="274638"/>
            <a:ext cx="8229600" cy="868362"/>
          </a:xfrm>
          <a:solidFill>
            <a:schemeClr val="accent6">
              <a:lumMod val="20000"/>
              <a:lumOff val="80000"/>
            </a:schemeClr>
          </a:solidFill>
        </p:spPr>
        <p:txBody>
          <a:bodyPr>
            <a:normAutofit fontScale="90000"/>
          </a:bodyPr>
          <a:lstStyle/>
          <a:p>
            <a:pPr>
              <a:defRPr/>
            </a:pPr>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smtClean="0">
                <a:solidFill>
                  <a:srgbClr val="0000CC"/>
                </a:solidFill>
                <a:latin typeface="Times New Roman" pitchFamily="18" charset="0"/>
                <a:cs typeface="Times New Roman" pitchFamily="18" charset="0"/>
              </a:rPr>
              <a:t> </a:t>
            </a:r>
            <a:r>
              <a:rPr lang="en-US" sz="4000" b="1" dirty="0" smtClean="0">
                <a:solidFill>
                  <a:srgbClr val="0000CC"/>
                </a:solidFill>
                <a:latin typeface="Times New Roman" pitchFamily="18" charset="0"/>
                <a:cs typeface="Times New Roman" pitchFamily="18" charset="0"/>
              </a:rPr>
              <a:t>Evolution of EIA in India </a:t>
            </a:r>
            <a:br>
              <a:rPr lang="en-US" sz="4000" b="1" dirty="0" smtClean="0">
                <a:solidFill>
                  <a:srgbClr val="0000CC"/>
                </a:solidFill>
                <a:latin typeface="Times New Roman" pitchFamily="18" charset="0"/>
                <a:cs typeface="Times New Roman" pitchFamily="18" charset="0"/>
              </a:rPr>
            </a:br>
            <a:endParaRPr lang="en-US" sz="4000" dirty="0" smtClean="0">
              <a:solidFill>
                <a:srgbClr val="0000CC"/>
              </a:solidFill>
            </a:endParaRPr>
          </a:p>
        </p:txBody>
      </p:sp>
      <p:sp>
        <p:nvSpPr>
          <p:cNvPr id="23555" name="Content Placeholder 2"/>
          <p:cNvSpPr>
            <a:spLocks noGrp="1"/>
          </p:cNvSpPr>
          <p:nvPr>
            <p:ph idx="1"/>
          </p:nvPr>
        </p:nvSpPr>
        <p:spPr>
          <a:xfrm>
            <a:off x="228600" y="1219200"/>
            <a:ext cx="8686800" cy="5105400"/>
          </a:xfrm>
          <a:solidFill>
            <a:schemeClr val="accent5">
              <a:lumMod val="20000"/>
              <a:lumOff val="80000"/>
            </a:schemeClr>
          </a:solidFill>
        </p:spPr>
        <p:txBody>
          <a:bodyPr/>
          <a:lstStyle/>
          <a:p>
            <a:pPr>
              <a:buFont typeface="Arial" charset="0"/>
              <a:buNone/>
              <a:defRPr/>
            </a:pPr>
            <a:r>
              <a:rPr lang="en-US" sz="2400" b="1" dirty="0" smtClean="0">
                <a:solidFill>
                  <a:srgbClr val="0000CC"/>
                </a:solidFill>
                <a:latin typeface="Times New Roman" pitchFamily="18" charset="0"/>
                <a:cs typeface="Times New Roman" pitchFamily="18" charset="0"/>
              </a:rPr>
              <a:t>Five years later</a:t>
            </a:r>
            <a:r>
              <a:rPr lang="en-US" sz="2400" b="1" dirty="0" smtClean="0">
                <a:latin typeface="Times New Roman" pitchFamily="18" charset="0"/>
                <a:cs typeface="Times New Roman" pitchFamily="18" charset="0"/>
              </a:rPr>
              <a:t>, the Dept of Environment and Forests, Government of India, issued </a:t>
            </a:r>
            <a:r>
              <a:rPr lang="en-US" sz="2400" b="1" dirty="0" smtClean="0">
                <a:solidFill>
                  <a:srgbClr val="0000CC"/>
                </a:solidFill>
                <a:latin typeface="Times New Roman" pitchFamily="18" charset="0"/>
                <a:cs typeface="Times New Roman" pitchFamily="18" charset="0"/>
              </a:rPr>
              <a:t>Guidelines for Environmental Assessment of River Valley Projects. </a:t>
            </a:r>
            <a:endParaRPr lang="en-US" sz="2400" b="1" dirty="0" smtClean="0">
              <a:latin typeface="Times New Roman" pitchFamily="18" charset="0"/>
              <a:cs typeface="Times New Roman" pitchFamily="18" charset="0"/>
            </a:endParaRPr>
          </a:p>
          <a:p>
            <a:pPr eaLnBrk="1" hangingPunct="1">
              <a:buFont typeface="Arial" charset="0"/>
              <a:buNone/>
              <a:defRPr/>
            </a:pPr>
            <a:r>
              <a:rPr lang="en-US" sz="2400" b="1" dirty="0" smtClean="0">
                <a:latin typeface="Times New Roman" pitchFamily="18" charset="0"/>
                <a:cs typeface="Times New Roman" pitchFamily="18" charset="0"/>
              </a:rPr>
              <a:t>The objective of EIA as defined by MoEF  in the Guidelines was </a:t>
            </a:r>
          </a:p>
          <a:p>
            <a:pPr eaLnBrk="1" hangingPunct="1">
              <a:buFont typeface="Arial" charset="0"/>
              <a:buNone/>
              <a:defRPr/>
            </a:pPr>
            <a:r>
              <a:rPr lang="en-US" sz="2400" b="1" dirty="0" smtClean="0">
                <a:solidFill>
                  <a:srgbClr val="0000CC"/>
                </a:solidFill>
                <a:latin typeface="Times New Roman" pitchFamily="18" charset="0"/>
                <a:cs typeface="Times New Roman" pitchFamily="18" charset="0"/>
              </a:rPr>
              <a:t>“ to achieve sustainable development and prevention of long-term adverse effects by incorporating suitable prevention and control measures”</a:t>
            </a:r>
          </a:p>
          <a:p>
            <a:pPr>
              <a:buFont typeface="Arial" charset="0"/>
              <a:buNone/>
              <a:defRPr/>
            </a:pPr>
            <a:r>
              <a:rPr lang="en-US" sz="2400" b="1" dirty="0" smtClean="0">
                <a:latin typeface="Times New Roman" pitchFamily="18" charset="0"/>
                <a:cs typeface="Times New Roman" pitchFamily="18" charset="0"/>
              </a:rPr>
              <a:t>These </a:t>
            </a:r>
            <a:r>
              <a:rPr lang="en-US" sz="2400" b="1" dirty="0" smtClean="0">
                <a:solidFill>
                  <a:srgbClr val="0000CC"/>
                </a:solidFill>
                <a:latin typeface="Times New Roman" pitchFamily="18" charset="0"/>
                <a:cs typeface="Times New Roman" pitchFamily="18" charset="0"/>
              </a:rPr>
              <a:t>Guidelines</a:t>
            </a:r>
            <a:r>
              <a:rPr lang="en-US" sz="2400" b="1" dirty="0" smtClean="0">
                <a:latin typeface="Times New Roman" pitchFamily="18" charset="0"/>
                <a:cs typeface="Times New Roman" pitchFamily="18" charset="0"/>
              </a:rPr>
              <a:t> required various studies such as impacts on forests and wild life in the submergence zone, water logging potential, upstream and down stream aquatic ecosystems and fisheries, water related diseases, climatic changes and seismicity. </a:t>
            </a:r>
          </a:p>
          <a:p>
            <a:pPr>
              <a:defRPr/>
            </a:pPr>
            <a:endParaRPr lang="en-US" sz="2400" b="1" dirty="0" smtClean="0">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fld id="{432A4A20-9DE3-48FD-8362-6F7F49595E7F}"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25292632-59C5-4FEB-9F2A-C5F34959F6C0}" type="slidenum">
              <a:rPr lang="en-US" smtClean="0"/>
              <a:pPr>
                <a:defRPr/>
              </a:pPr>
              <a:t>50</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410200"/>
          </a:xfrm>
          <a:solidFill>
            <a:schemeClr val="accent5">
              <a:lumMod val="20000"/>
              <a:lumOff val="80000"/>
            </a:schemeClr>
          </a:solidFill>
        </p:spPr>
        <p:txBody>
          <a:bodyPr/>
          <a:lstStyle/>
          <a:p>
            <a:pPr eaLnBrk="1" hangingPunct="1">
              <a:buFont typeface="Arial" charset="0"/>
              <a:buNone/>
              <a:defRPr/>
            </a:pPr>
            <a:r>
              <a:rPr lang="en-US" sz="2800" b="1" dirty="0" smtClean="0">
                <a:latin typeface="Times New Roman" pitchFamily="18" charset="0"/>
                <a:cs typeface="Times New Roman" pitchFamily="18" charset="0"/>
              </a:rPr>
              <a:t>Considering the importance of EIA for sustainable development and management &amp; planning  it was made as mandatory  in the </a:t>
            </a:r>
            <a:r>
              <a:rPr lang="en-US" sz="2800" b="1" dirty="0" smtClean="0">
                <a:solidFill>
                  <a:srgbClr val="0000CC"/>
                </a:solidFill>
                <a:latin typeface="Times New Roman" pitchFamily="18" charset="0"/>
                <a:cs typeface="Times New Roman" pitchFamily="18" charset="0"/>
              </a:rPr>
              <a:t>Guidelines</a:t>
            </a:r>
            <a:r>
              <a:rPr lang="en-US" sz="2800" b="1" dirty="0" smtClean="0">
                <a:latin typeface="Times New Roman" pitchFamily="18" charset="0"/>
                <a:cs typeface="Times New Roman" pitchFamily="18" charset="0"/>
              </a:rPr>
              <a:t> issued for the clearance of various developmental activities under the </a:t>
            </a:r>
            <a:r>
              <a:rPr lang="en-US" sz="2800" b="1" dirty="0" smtClean="0">
                <a:solidFill>
                  <a:srgbClr val="FF0000"/>
                </a:solidFill>
                <a:latin typeface="Times New Roman" pitchFamily="18" charset="0"/>
                <a:cs typeface="Times New Roman" pitchFamily="18" charset="0"/>
              </a:rPr>
              <a:t>Environmental Protection Act 1986.</a:t>
            </a:r>
          </a:p>
          <a:p>
            <a:pPr eaLnBrk="1" hangingPunct="1">
              <a:buFont typeface="Arial" charset="0"/>
              <a:buNone/>
              <a:defRPr/>
            </a:pPr>
            <a:r>
              <a:rPr lang="en-US" sz="2800" b="1" dirty="0" smtClean="0">
                <a:latin typeface="Times New Roman" pitchFamily="18" charset="0"/>
                <a:cs typeface="Times New Roman" pitchFamily="18" charset="0"/>
              </a:rPr>
              <a:t>A major legislative measure for the purpose of environmental clearance was taken in </a:t>
            </a:r>
            <a:r>
              <a:rPr lang="en-US" sz="2800" b="1" dirty="0" smtClean="0">
                <a:solidFill>
                  <a:srgbClr val="0000CC"/>
                </a:solidFill>
                <a:latin typeface="Times New Roman" pitchFamily="18" charset="0"/>
                <a:cs typeface="Times New Roman" pitchFamily="18" charset="0"/>
              </a:rPr>
              <a:t>1994 </a:t>
            </a:r>
            <a:r>
              <a:rPr lang="en-US" sz="2800" b="1" dirty="0" smtClean="0">
                <a:latin typeface="Times New Roman" pitchFamily="18" charset="0"/>
                <a:cs typeface="Times New Roman" pitchFamily="18" charset="0"/>
              </a:rPr>
              <a:t>when specific notification was issued under section 3 and rule 5 of the </a:t>
            </a:r>
            <a:r>
              <a:rPr lang="en-US" sz="2800" b="1" dirty="0" smtClean="0">
                <a:solidFill>
                  <a:srgbClr val="0000CC"/>
                </a:solidFill>
                <a:latin typeface="Times New Roman" pitchFamily="18" charset="0"/>
                <a:cs typeface="Times New Roman" pitchFamily="18" charset="0"/>
              </a:rPr>
              <a:t>Environment Protection Act , 1986 </a:t>
            </a:r>
            <a:r>
              <a:rPr lang="en-US" sz="2800" b="1" dirty="0" smtClean="0">
                <a:latin typeface="Times New Roman" pitchFamily="18" charset="0"/>
                <a:cs typeface="Times New Roman" pitchFamily="18" charset="0"/>
              </a:rPr>
              <a:t>called the </a:t>
            </a:r>
            <a:r>
              <a:rPr lang="en-US" sz="2800" b="1" dirty="0" smtClean="0">
                <a:solidFill>
                  <a:srgbClr val="FF0000"/>
                </a:solidFill>
                <a:latin typeface="Times New Roman" pitchFamily="18" charset="0"/>
                <a:cs typeface="Times New Roman" pitchFamily="18" charset="0"/>
              </a:rPr>
              <a:t>“Environment Impact Assessment Notification 1994”. </a:t>
            </a:r>
          </a:p>
          <a:p>
            <a:pPr eaLnBrk="1" hangingPunct="1">
              <a:buFont typeface="Arial" charset="0"/>
              <a:buNone/>
              <a:defRPr/>
            </a:pPr>
            <a:endParaRPr lang="en-US" sz="2800" b="1" dirty="0" smtClean="0">
              <a:solidFill>
                <a:srgbClr val="0000CC"/>
              </a:solidFill>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fld id="{941284BC-9690-4020-B62D-11EE0443A405}" type="datetime1">
              <a:rPr lang="en-US" smtClean="0"/>
              <a:pPr>
                <a:defRPr/>
              </a:pPr>
              <a:t>11/13/2017</a:t>
            </a:fld>
            <a:endParaRPr lang="en-US"/>
          </a:p>
        </p:txBody>
      </p:sp>
      <p:sp>
        <p:nvSpPr>
          <p:cNvPr id="5" name="Footer Placeholder 4"/>
          <p:cNvSpPr>
            <a:spLocks noGrp="1"/>
          </p:cNvSpPr>
          <p:nvPr>
            <p:ph type="ftr" sz="quarter" idx="11"/>
          </p:nvPr>
        </p:nvSpPr>
        <p:spPr/>
        <p:txBody>
          <a:bodyPr/>
          <a:lstStyle/>
          <a:p>
            <a:pPr>
              <a:defRPr/>
            </a:pPr>
            <a:r>
              <a:rPr lang="en-US" smtClean="0"/>
              <a:t>Dr Jyoti K Sharma</a:t>
            </a:r>
            <a:endParaRPr lang="en-US"/>
          </a:p>
        </p:txBody>
      </p:sp>
      <p:sp>
        <p:nvSpPr>
          <p:cNvPr id="6" name="Slide Number Placeholder 5"/>
          <p:cNvSpPr>
            <a:spLocks noGrp="1"/>
          </p:cNvSpPr>
          <p:nvPr>
            <p:ph type="sldNum" sz="quarter" idx="12"/>
          </p:nvPr>
        </p:nvSpPr>
        <p:spPr/>
        <p:txBody>
          <a:bodyPr/>
          <a:lstStyle/>
          <a:p>
            <a:pPr>
              <a:defRPr/>
            </a:pPr>
            <a:fld id="{22BA6B12-2826-4EEB-9564-C74FFA1D0EBF}" type="slidenum">
              <a:rPr lang="en-US" smtClean="0"/>
              <a:pPr>
                <a:defRPr/>
              </a:pPr>
              <a:t>51</a:t>
            </a:fld>
            <a:endParaRPr lang="en-US"/>
          </a:p>
        </p:txBody>
      </p:sp>
      <p:sp>
        <p:nvSpPr>
          <p:cNvPr id="7" name="Title 1"/>
          <p:cNvSpPr>
            <a:spLocks noGrp="1"/>
          </p:cNvSpPr>
          <p:nvPr>
            <p:ph type="title"/>
          </p:nvPr>
        </p:nvSpPr>
        <p:spPr>
          <a:xfrm>
            <a:off x="457200" y="304800"/>
            <a:ext cx="8229600" cy="685800"/>
          </a:xfrm>
          <a:solidFill>
            <a:schemeClr val="accent4">
              <a:lumMod val="20000"/>
              <a:lumOff val="80000"/>
            </a:schemeClr>
          </a:solidFill>
        </p:spPr>
        <p:txBody>
          <a:bodyPr rtlCol="0">
            <a:normAutofit fontScale="90000"/>
          </a:bodyPr>
          <a:lstStyle/>
          <a:p>
            <a:pPr eaLnBrk="1" fontAlgn="auto" hangingPunct="1">
              <a:spcAft>
                <a:spcPts val="0"/>
              </a:spcAft>
              <a:defRPr/>
            </a:pPr>
            <a:r>
              <a:rPr lang="en-US" b="1" dirty="0" smtClean="0">
                <a:solidFill>
                  <a:srgbClr val="FF0000"/>
                </a:solidFill>
                <a:latin typeface="Times New Roman" pitchFamily="18" charset="0"/>
                <a:cs typeface="Times New Roman" pitchFamily="18" charset="0"/>
              </a:rPr>
              <a:t/>
            </a:r>
            <a:br>
              <a:rPr lang="en-US" b="1" dirty="0" smtClean="0">
                <a:solidFill>
                  <a:srgbClr val="FF0000"/>
                </a:solidFill>
                <a:latin typeface="Times New Roman" pitchFamily="18" charset="0"/>
                <a:cs typeface="Times New Roman" pitchFamily="18" charset="0"/>
              </a:rPr>
            </a:br>
            <a:r>
              <a:rPr lang="en-US" b="1" dirty="0" smtClean="0">
                <a:solidFill>
                  <a:srgbClr val="0000CC"/>
                </a:solidFill>
                <a:latin typeface="Times New Roman" pitchFamily="18" charset="0"/>
                <a:cs typeface="Times New Roman" pitchFamily="18" charset="0"/>
              </a:rPr>
              <a:t>Evolution of EIA In India</a:t>
            </a:r>
            <a:br>
              <a:rPr lang="en-US" b="1" dirty="0" smtClean="0">
                <a:solidFill>
                  <a:srgbClr val="0000CC"/>
                </a:solidFill>
                <a:latin typeface="Times New Roman" pitchFamily="18" charset="0"/>
                <a:cs typeface="Times New Roman" pitchFamily="18" charset="0"/>
              </a:rPr>
            </a:br>
            <a:endParaRPr lang="en-US" dirty="0">
              <a:solidFill>
                <a:srgbClr val="0000CC"/>
              </a:solidFill>
            </a:endParaRPr>
          </a:p>
        </p:txBody>
      </p:sp>
      <p:pic>
        <p:nvPicPr>
          <p:cNvPr id="8" name="Picture 7"/>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274638"/>
            <a:ext cx="8229600" cy="1020762"/>
          </a:xfrm>
          <a:solidFill>
            <a:schemeClr val="accent5">
              <a:lumMod val="20000"/>
              <a:lumOff val="80000"/>
            </a:schemeClr>
          </a:solidFill>
        </p:spPr>
        <p:txBody>
          <a:bodyPr>
            <a:normAutofit fontScale="90000"/>
          </a:bodyPr>
          <a:lstStyle/>
          <a:p>
            <a:pPr>
              <a:defRPr/>
            </a:pPr>
            <a:r>
              <a:rPr lang="en-IN" sz="3200" b="1" dirty="0" smtClean="0"/>
              <a:t/>
            </a:r>
            <a:br>
              <a:rPr lang="en-IN" sz="3200" b="1" dirty="0" smtClean="0"/>
            </a:br>
            <a:endParaRPr lang="en-US" sz="3200" dirty="0" smtClean="0">
              <a:solidFill>
                <a:srgbClr val="0000CC"/>
              </a:solidFill>
              <a:latin typeface="Times New Roman" pitchFamily="18" charset="0"/>
              <a:cs typeface="Times New Roman" pitchFamily="18" charset="0"/>
            </a:endParaRPr>
          </a:p>
        </p:txBody>
      </p:sp>
      <p:sp>
        <p:nvSpPr>
          <p:cNvPr id="24579" name="Content Placeholder 2"/>
          <p:cNvSpPr>
            <a:spLocks noGrp="1"/>
          </p:cNvSpPr>
          <p:nvPr>
            <p:ph idx="1"/>
          </p:nvPr>
        </p:nvSpPr>
        <p:spPr>
          <a:xfrm>
            <a:off x="457200" y="0"/>
            <a:ext cx="8229600" cy="6126163"/>
          </a:xfrm>
          <a:solidFill>
            <a:schemeClr val="accent5">
              <a:lumMod val="20000"/>
              <a:lumOff val="80000"/>
            </a:schemeClr>
          </a:solidFill>
        </p:spPr>
        <p:txBody>
          <a:bodyPr>
            <a:normAutofit lnSpcReduction="10000"/>
          </a:bodyPr>
          <a:lstStyle/>
          <a:p>
            <a:pPr algn="ctr">
              <a:buFont typeface="Arial" charset="0"/>
              <a:buNone/>
              <a:defRPr/>
            </a:pPr>
            <a:endParaRPr lang="en-IN" sz="2400" b="1" dirty="0" smtClean="0">
              <a:solidFill>
                <a:srgbClr val="007434"/>
              </a:solidFill>
              <a:latin typeface="Times New Roman" pitchFamily="18" charset="0"/>
              <a:cs typeface="Times New Roman" pitchFamily="18" charset="0"/>
            </a:endParaRPr>
          </a:p>
          <a:p>
            <a:pPr algn="ctr">
              <a:buFont typeface="Arial" charset="0"/>
              <a:buNone/>
              <a:defRPr/>
            </a:pPr>
            <a:r>
              <a:rPr lang="en-IN" sz="2800" b="1" dirty="0" smtClean="0">
                <a:solidFill>
                  <a:srgbClr val="0000CC"/>
                </a:solidFill>
                <a:latin typeface="Times New Roman" pitchFamily="18" charset="0"/>
                <a:cs typeface="Times New Roman" pitchFamily="18" charset="0"/>
              </a:rPr>
              <a:t>The Environmental Impact Assessment </a:t>
            </a:r>
          </a:p>
          <a:p>
            <a:pPr algn="ctr">
              <a:buFont typeface="Arial" charset="0"/>
              <a:buNone/>
              <a:defRPr/>
            </a:pPr>
            <a:r>
              <a:rPr lang="en-IN" sz="2800" b="1" dirty="0" smtClean="0">
                <a:solidFill>
                  <a:srgbClr val="0000CC"/>
                </a:solidFill>
                <a:latin typeface="Times New Roman" pitchFamily="18" charset="0"/>
                <a:cs typeface="Times New Roman" pitchFamily="18" charset="0"/>
              </a:rPr>
              <a:t>Notification, 1994</a:t>
            </a:r>
            <a:r>
              <a:rPr lang="en-US" sz="2800" dirty="0" smtClean="0">
                <a:solidFill>
                  <a:srgbClr val="0000CC"/>
                </a:solidFill>
                <a:latin typeface="Times New Roman" pitchFamily="18" charset="0"/>
                <a:cs typeface="Times New Roman" pitchFamily="18" charset="0"/>
              </a:rPr>
              <a:t/>
            </a:r>
            <a:br>
              <a:rPr lang="en-US" sz="2800" dirty="0" smtClean="0">
                <a:solidFill>
                  <a:srgbClr val="0000CC"/>
                </a:solidFill>
                <a:latin typeface="Times New Roman" pitchFamily="18" charset="0"/>
                <a:cs typeface="Times New Roman" pitchFamily="18" charset="0"/>
              </a:rPr>
            </a:br>
            <a:endParaRPr lang="en-IN" sz="2400" b="1" dirty="0" smtClean="0">
              <a:solidFill>
                <a:srgbClr val="007434"/>
              </a:solidFill>
              <a:latin typeface="Times New Roman" pitchFamily="18" charset="0"/>
              <a:cs typeface="Times New Roman" pitchFamily="18" charset="0"/>
            </a:endParaRPr>
          </a:p>
          <a:p>
            <a:pPr algn="ctr">
              <a:buFont typeface="Arial" charset="0"/>
              <a:buNone/>
              <a:defRPr/>
            </a:pPr>
            <a:r>
              <a:rPr lang="en-IN" sz="2400" b="1" dirty="0" smtClean="0">
                <a:solidFill>
                  <a:srgbClr val="007434"/>
                </a:solidFill>
                <a:latin typeface="Times New Roman" pitchFamily="18" charset="0"/>
                <a:cs typeface="Times New Roman" pitchFamily="18" charset="0"/>
              </a:rPr>
              <a:t>Government of India</a:t>
            </a:r>
            <a:endParaRPr lang="en-US" sz="2400" dirty="0" smtClean="0">
              <a:solidFill>
                <a:srgbClr val="007434"/>
              </a:solidFill>
              <a:latin typeface="Times New Roman" pitchFamily="18" charset="0"/>
              <a:cs typeface="Times New Roman" pitchFamily="18" charset="0"/>
            </a:endParaRPr>
          </a:p>
          <a:p>
            <a:pPr algn="ctr">
              <a:buFont typeface="Arial" charset="0"/>
              <a:buNone/>
              <a:defRPr/>
            </a:pPr>
            <a:r>
              <a:rPr lang="en-IN" sz="2400" b="1" dirty="0" smtClean="0">
                <a:solidFill>
                  <a:srgbClr val="007434"/>
                </a:solidFill>
                <a:latin typeface="Times New Roman" pitchFamily="18" charset="0"/>
                <a:cs typeface="Times New Roman" pitchFamily="18" charset="0"/>
              </a:rPr>
              <a:t>Ministry of Environment &amp; Forest</a:t>
            </a:r>
            <a:r>
              <a:rPr lang="en-US" sz="2400" b="1" dirty="0" smtClean="0">
                <a:solidFill>
                  <a:srgbClr val="007434"/>
                </a:solidFill>
                <a:latin typeface="Times New Roman" pitchFamily="18" charset="0"/>
                <a:cs typeface="Times New Roman" pitchFamily="18" charset="0"/>
              </a:rPr>
              <a:t>, </a:t>
            </a:r>
            <a:r>
              <a:rPr lang="en-IN" sz="2400" b="1" dirty="0" smtClean="0">
                <a:solidFill>
                  <a:srgbClr val="007434"/>
                </a:solidFill>
                <a:latin typeface="Times New Roman" pitchFamily="18" charset="0"/>
                <a:cs typeface="Times New Roman" pitchFamily="18" charset="0"/>
              </a:rPr>
              <a:t>New Delhi</a:t>
            </a:r>
            <a:endParaRPr lang="en-US" sz="2400" dirty="0" smtClean="0">
              <a:solidFill>
                <a:srgbClr val="007434"/>
              </a:solidFill>
              <a:latin typeface="Times New Roman" pitchFamily="18" charset="0"/>
              <a:cs typeface="Times New Roman" pitchFamily="18" charset="0"/>
            </a:endParaRPr>
          </a:p>
          <a:p>
            <a:pPr algn="ctr">
              <a:buFont typeface="Arial" charset="0"/>
              <a:buNone/>
              <a:defRPr/>
            </a:pPr>
            <a:r>
              <a:rPr lang="en-IN" sz="2400" b="1" dirty="0" smtClean="0">
                <a:latin typeface="Times New Roman" pitchFamily="18" charset="0"/>
                <a:cs typeface="Times New Roman" pitchFamily="18" charset="0"/>
              </a:rPr>
              <a:t>NOTIFICATION</a:t>
            </a:r>
            <a:endParaRPr lang="en-US" sz="2400" dirty="0" smtClean="0">
              <a:latin typeface="Times New Roman" pitchFamily="18" charset="0"/>
              <a:cs typeface="Times New Roman" pitchFamily="18" charset="0"/>
            </a:endParaRPr>
          </a:p>
          <a:p>
            <a:pPr algn="ctr">
              <a:buFont typeface="Arial" charset="0"/>
              <a:buNone/>
              <a:defRPr/>
            </a:pPr>
            <a:r>
              <a:rPr lang="en-IN" sz="2400" b="1" dirty="0" smtClean="0">
                <a:latin typeface="Times New Roman" pitchFamily="18" charset="0"/>
                <a:cs typeface="Times New Roman" pitchFamily="18" charset="0"/>
              </a:rPr>
              <a:t>ON</a:t>
            </a:r>
            <a:endParaRPr lang="en-US" sz="2400" dirty="0" smtClean="0">
              <a:latin typeface="Times New Roman" pitchFamily="18" charset="0"/>
              <a:cs typeface="Times New Roman" pitchFamily="18" charset="0"/>
            </a:endParaRPr>
          </a:p>
          <a:p>
            <a:pPr algn="ctr">
              <a:buFont typeface="Arial" charset="0"/>
              <a:buNone/>
              <a:defRPr/>
            </a:pPr>
            <a:r>
              <a:rPr lang="en-IN" sz="2400" b="1" dirty="0" smtClean="0">
                <a:solidFill>
                  <a:srgbClr val="0000CC"/>
                </a:solidFill>
                <a:latin typeface="Times New Roman" pitchFamily="18" charset="0"/>
                <a:cs typeface="Times New Roman" pitchFamily="18" charset="0"/>
              </a:rPr>
              <a:t>Environmental Impact Assessment of Development Projects</a:t>
            </a:r>
            <a:endParaRPr lang="en-US" sz="2400" dirty="0" smtClean="0">
              <a:solidFill>
                <a:srgbClr val="0000CC"/>
              </a:solidFill>
              <a:latin typeface="Times New Roman" pitchFamily="18" charset="0"/>
              <a:cs typeface="Times New Roman" pitchFamily="18" charset="0"/>
            </a:endParaRPr>
          </a:p>
          <a:p>
            <a:pPr algn="ctr">
              <a:buFont typeface="Arial" charset="0"/>
              <a:buNone/>
              <a:defRPr/>
            </a:pPr>
            <a:r>
              <a:rPr lang="en-IN" sz="2000" b="1" i="1" dirty="0" smtClean="0">
                <a:latin typeface="Times New Roman" pitchFamily="18" charset="0"/>
                <a:cs typeface="Times New Roman" pitchFamily="18" charset="0"/>
              </a:rPr>
              <a:t>New Delhi, the 27</a:t>
            </a:r>
            <a:r>
              <a:rPr lang="en-IN" sz="2000" b="1" i="1" baseline="30000" dirty="0" smtClean="0">
                <a:latin typeface="Times New Roman" pitchFamily="18" charset="0"/>
                <a:cs typeface="Times New Roman" pitchFamily="18" charset="0"/>
              </a:rPr>
              <a:t>th</a:t>
            </a:r>
            <a:r>
              <a:rPr lang="en-IN" sz="2000" b="1" i="1" dirty="0" smtClean="0">
                <a:latin typeface="Times New Roman" pitchFamily="18" charset="0"/>
                <a:cs typeface="Times New Roman" pitchFamily="18" charset="0"/>
              </a:rPr>
              <a:t> January, 1994</a:t>
            </a:r>
          </a:p>
          <a:p>
            <a:pPr algn="ctr">
              <a:buFont typeface="Arial" charset="0"/>
              <a:buNone/>
              <a:defRPr/>
            </a:pPr>
            <a:endParaRPr lang="en-US" sz="2000" i="1" dirty="0" smtClean="0">
              <a:latin typeface="Times New Roman" pitchFamily="18" charset="0"/>
              <a:cs typeface="Times New Roman" pitchFamily="18" charset="0"/>
            </a:endParaRPr>
          </a:p>
          <a:p>
            <a:pPr>
              <a:defRPr/>
            </a:pPr>
            <a:r>
              <a:rPr lang="en-US" sz="1800" b="1" dirty="0" smtClean="0">
                <a:latin typeface="Times New Roman" pitchFamily="18" charset="0"/>
                <a:cs typeface="Times New Roman" pitchFamily="18" charset="0"/>
              </a:rPr>
              <a:t>EIA Made mandatory through this Notification issued by the Ministry of Environment and Forests (MoEF) in </a:t>
            </a:r>
            <a:r>
              <a:rPr lang="en-US" sz="1800" b="1" dirty="0" smtClean="0">
                <a:solidFill>
                  <a:srgbClr val="0000CC"/>
                </a:solidFill>
                <a:latin typeface="Times New Roman" pitchFamily="18" charset="0"/>
                <a:cs typeface="Times New Roman" pitchFamily="18" charset="0"/>
              </a:rPr>
              <a:t>January 1994.</a:t>
            </a:r>
          </a:p>
          <a:p>
            <a:pPr>
              <a:defRPr/>
            </a:pPr>
            <a:r>
              <a:rPr lang="en-US" sz="1800" b="1" dirty="0" smtClean="0">
                <a:latin typeface="Times New Roman" pitchFamily="18" charset="0"/>
                <a:cs typeface="Times New Roman" pitchFamily="18" charset="0"/>
              </a:rPr>
              <a:t>Another Notification issued on </a:t>
            </a:r>
            <a:r>
              <a:rPr lang="en-US" sz="1800" b="1" dirty="0" smtClean="0">
                <a:solidFill>
                  <a:srgbClr val="0000CC"/>
                </a:solidFill>
                <a:latin typeface="Times New Roman" pitchFamily="18" charset="0"/>
                <a:cs typeface="Times New Roman" pitchFamily="18" charset="0"/>
              </a:rPr>
              <a:t>September 14, 2006 </a:t>
            </a:r>
            <a:r>
              <a:rPr lang="en-US" sz="1800" b="1" dirty="0" smtClean="0">
                <a:latin typeface="Times New Roman" pitchFamily="18" charset="0"/>
                <a:cs typeface="Times New Roman" pitchFamily="18" charset="0"/>
              </a:rPr>
              <a:t>supersedes all the earlier Notifications, and has brought out structural changes in the clearance mechanism.</a:t>
            </a:r>
          </a:p>
          <a:p>
            <a:pPr>
              <a:defRPr/>
            </a:pPr>
            <a:endParaRPr lang="en-US" sz="2400" b="1" dirty="0" smtClean="0">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fld id="{AA3FCB49-5C7F-4E38-A64E-F0EB840FE3AC}"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4195062E-3705-4AF3-B096-04B7C9D2DFC3}" type="slidenum">
              <a:rPr lang="en-US" smtClean="0"/>
              <a:pPr>
                <a:defRPr/>
              </a:pPr>
              <a:t>52</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457200" y="274638"/>
            <a:ext cx="8229600" cy="944562"/>
          </a:xfrm>
        </p:spPr>
        <p:txBody>
          <a:bodyPr>
            <a:normAutofit fontScale="90000"/>
          </a:bodyPr>
          <a:lstStyle/>
          <a:p>
            <a:r>
              <a:rPr lang="en-IN" altLang="en-US" sz="2000" b="1" smtClean="0">
                <a:latin typeface="Times New Roman" pitchFamily="18" charset="0"/>
                <a:cs typeface="Times New Roman" pitchFamily="18" charset="0"/>
              </a:rPr>
              <a:t/>
            </a:r>
            <a:br>
              <a:rPr lang="en-IN" altLang="en-US" sz="2000" b="1" smtClean="0">
                <a:latin typeface="Times New Roman" pitchFamily="18" charset="0"/>
                <a:cs typeface="Times New Roman" pitchFamily="18" charset="0"/>
              </a:rPr>
            </a:br>
            <a:r>
              <a:rPr lang="en-IN" altLang="en-US" sz="2400" b="1" smtClean="0">
                <a:latin typeface="Times New Roman" pitchFamily="18" charset="0"/>
                <a:cs typeface="Times New Roman" pitchFamily="18" charset="0"/>
              </a:rPr>
              <a:t>NOTIFICATION</a:t>
            </a:r>
            <a:r>
              <a:rPr lang="en-US" altLang="en-US" sz="2400" smtClean="0">
                <a:latin typeface="Times New Roman" pitchFamily="18" charset="0"/>
                <a:cs typeface="Times New Roman" pitchFamily="18" charset="0"/>
              </a:rPr>
              <a:t/>
            </a:r>
            <a:br>
              <a:rPr lang="en-US" altLang="en-US" sz="2400" smtClean="0">
                <a:latin typeface="Times New Roman" pitchFamily="18" charset="0"/>
                <a:cs typeface="Times New Roman" pitchFamily="18" charset="0"/>
              </a:rPr>
            </a:br>
            <a:r>
              <a:rPr lang="en-IN" altLang="en-US" sz="2400" b="1" smtClean="0">
                <a:latin typeface="Times New Roman" pitchFamily="18" charset="0"/>
                <a:cs typeface="Times New Roman" pitchFamily="18" charset="0"/>
              </a:rPr>
              <a:t>ON</a:t>
            </a:r>
            <a:r>
              <a:rPr lang="en-US" altLang="en-US" sz="2000" smtClean="0">
                <a:latin typeface="Times New Roman" pitchFamily="18" charset="0"/>
                <a:cs typeface="Times New Roman" pitchFamily="18" charset="0"/>
              </a:rPr>
              <a:t/>
            </a:r>
            <a:br>
              <a:rPr lang="en-US" altLang="en-US" sz="2000" smtClean="0">
                <a:latin typeface="Times New Roman" pitchFamily="18" charset="0"/>
                <a:cs typeface="Times New Roman" pitchFamily="18" charset="0"/>
              </a:rPr>
            </a:br>
            <a:r>
              <a:rPr lang="en-IN" altLang="en-US" sz="2400" b="1" smtClean="0">
                <a:solidFill>
                  <a:srgbClr val="0000CC"/>
                </a:solidFill>
                <a:latin typeface="Times New Roman" pitchFamily="18" charset="0"/>
                <a:cs typeface="Times New Roman" pitchFamily="18" charset="0"/>
              </a:rPr>
              <a:t>Environmental Impact Assessment of Development Projects</a:t>
            </a:r>
            <a:r>
              <a:rPr lang="en-US" altLang="en-US" sz="2400" smtClean="0">
                <a:solidFill>
                  <a:srgbClr val="0000CC"/>
                </a:solidFill>
                <a:latin typeface="Times New Roman" pitchFamily="18" charset="0"/>
                <a:cs typeface="Times New Roman" pitchFamily="18" charset="0"/>
              </a:rPr>
              <a:t/>
            </a:r>
            <a:br>
              <a:rPr lang="en-US" altLang="en-US" sz="2400" smtClean="0">
                <a:solidFill>
                  <a:srgbClr val="0000CC"/>
                </a:solidFill>
                <a:latin typeface="Times New Roman" pitchFamily="18" charset="0"/>
                <a:cs typeface="Times New Roman" pitchFamily="18" charset="0"/>
              </a:rPr>
            </a:br>
            <a:endParaRPr lang="en-US" altLang="en-US" sz="2400" smtClean="0"/>
          </a:p>
        </p:txBody>
      </p:sp>
      <p:sp>
        <p:nvSpPr>
          <p:cNvPr id="67587" name="Content Placeholder 2"/>
          <p:cNvSpPr>
            <a:spLocks noGrp="1"/>
          </p:cNvSpPr>
          <p:nvPr>
            <p:ph idx="1"/>
          </p:nvPr>
        </p:nvSpPr>
        <p:spPr>
          <a:xfrm>
            <a:off x="457200" y="1371600"/>
            <a:ext cx="8229600" cy="4754563"/>
          </a:xfrm>
        </p:spPr>
        <p:txBody>
          <a:bodyPr>
            <a:normAutofit lnSpcReduction="10000"/>
          </a:bodyPr>
          <a:lstStyle/>
          <a:p>
            <a:pPr>
              <a:buFont typeface="Arial" charset="0"/>
              <a:buNone/>
            </a:pPr>
            <a:r>
              <a:rPr lang="en-IN" altLang="en-US" sz="2400" b="1" smtClean="0">
                <a:latin typeface="Times New Roman" pitchFamily="18" charset="0"/>
                <a:cs typeface="Times New Roman" pitchFamily="18" charset="0"/>
              </a:rPr>
              <a:t>Now, therefore, in exercise of the powers conferred by sub-section (1) and clause (v) of sub-section (2) of section 3 of the Environment (Protection) Act, 1986 (29 of 1986) read with clause (d) of sub-rule (3) of rule 5 of the Environment (Protection) Rules, 1986, the Central Government hereby directs that on and from the date of publication of this notification in the Official Gazette expansion or modernisation of any activity (if pollution load is to exceed the existing one) or</a:t>
            </a:r>
            <a:r>
              <a:rPr lang="en-IN" altLang="en-US" sz="2400" b="1" smtClean="0">
                <a:solidFill>
                  <a:srgbClr val="0000CC"/>
                </a:solidFill>
                <a:latin typeface="Times New Roman" pitchFamily="18" charset="0"/>
                <a:cs typeface="Times New Roman" pitchFamily="18" charset="0"/>
              </a:rPr>
              <a:t> a </a:t>
            </a:r>
            <a:r>
              <a:rPr lang="en-IN" altLang="en-US" sz="2400" b="1" u="sng" smtClean="0">
                <a:solidFill>
                  <a:srgbClr val="0000CC"/>
                </a:solidFill>
                <a:latin typeface="Times New Roman" pitchFamily="18" charset="0"/>
                <a:cs typeface="Times New Roman" pitchFamily="18" charset="0"/>
              </a:rPr>
              <a:t>new project listed in Schedule I of this notification shall not be undertaken in any part of India unless it has been accorded environmental clearance by the Central Government in accordance with the procedure hereinafter specified in this notification.</a:t>
            </a:r>
            <a:endParaRPr lang="en-US" altLang="en-US" sz="2400" b="1" u="sng" smtClean="0">
              <a:solidFill>
                <a:srgbClr val="0000CC"/>
              </a:solidFill>
              <a:latin typeface="Times New Roman" pitchFamily="18" charset="0"/>
              <a:cs typeface="Times New Roman" pitchFamily="18" charset="0"/>
            </a:endParaRPr>
          </a:p>
          <a:p>
            <a:endParaRPr lang="en-US" altLang="en-US" sz="2400" smtClean="0"/>
          </a:p>
        </p:txBody>
      </p:sp>
      <p:sp>
        <p:nvSpPr>
          <p:cNvPr id="4" name="Date Placeholder 3"/>
          <p:cNvSpPr>
            <a:spLocks noGrp="1"/>
          </p:cNvSpPr>
          <p:nvPr>
            <p:ph type="dt" sz="quarter" idx="10"/>
          </p:nvPr>
        </p:nvSpPr>
        <p:spPr/>
        <p:txBody>
          <a:bodyPr/>
          <a:lstStyle/>
          <a:p>
            <a:pPr>
              <a:defRPr/>
            </a:pPr>
            <a:fld id="{0E11328F-ABFD-4CDB-812E-AF15050FA2B9}"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123077D6-877C-467B-BB60-8468D9095D28}" type="slidenum">
              <a:rPr lang="en-US" smtClean="0"/>
              <a:pPr>
                <a:defRPr/>
              </a:pPr>
              <a:t>53</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381000" y="0"/>
            <a:ext cx="8229600" cy="914400"/>
          </a:xfrm>
        </p:spPr>
        <p:txBody>
          <a:bodyPr/>
          <a:lstStyle/>
          <a:p>
            <a:r>
              <a:rPr lang="en-US" altLang="en-US" sz="3200" b="1" smtClean="0">
                <a:solidFill>
                  <a:srgbClr val="0000CC"/>
                </a:solidFill>
                <a:latin typeface="Times New Roman" pitchFamily="18" charset="0"/>
                <a:cs typeface="Times New Roman" pitchFamily="18" charset="0"/>
              </a:rPr>
              <a:t>EIA Notification issued on September 14, 2006</a:t>
            </a:r>
            <a:endParaRPr lang="en-US" altLang="en-US" sz="3200" smtClean="0">
              <a:solidFill>
                <a:srgbClr val="0000CC"/>
              </a:solidFill>
            </a:endParaRPr>
          </a:p>
        </p:txBody>
      </p:sp>
      <p:sp>
        <p:nvSpPr>
          <p:cNvPr id="40963" name="Content Placeholder 2"/>
          <p:cNvSpPr>
            <a:spLocks noGrp="1"/>
          </p:cNvSpPr>
          <p:nvPr>
            <p:ph idx="1"/>
          </p:nvPr>
        </p:nvSpPr>
        <p:spPr>
          <a:xfrm>
            <a:off x="228600" y="838200"/>
            <a:ext cx="8610600" cy="5486400"/>
          </a:xfrm>
        </p:spPr>
        <p:txBody>
          <a:bodyPr>
            <a:normAutofit fontScale="92500" lnSpcReduction="10000"/>
          </a:bodyPr>
          <a:lstStyle/>
          <a:p>
            <a:pPr marL="0" indent="0">
              <a:lnSpc>
                <a:spcPct val="115000"/>
              </a:lnSpc>
              <a:spcBef>
                <a:spcPts val="0"/>
              </a:spcBef>
              <a:spcAft>
                <a:spcPts val="0"/>
              </a:spcAft>
              <a:buFont typeface="Arial" charset="0"/>
              <a:buNone/>
              <a:defRPr/>
            </a:pPr>
            <a:r>
              <a:rPr lang="en-US" sz="2800" b="1" i="1" dirty="0" smtClean="0">
                <a:solidFill>
                  <a:srgbClr val="0000CC"/>
                </a:solidFill>
                <a:latin typeface="Times New Roman"/>
                <a:ea typeface="Calibri"/>
                <a:cs typeface="Times New Roman"/>
              </a:rPr>
              <a:t>Categorization of projects and activities</a:t>
            </a:r>
            <a:endParaRPr lang="en-US" sz="2800" i="1" dirty="0">
              <a:solidFill>
                <a:srgbClr val="0000CC"/>
              </a:solidFill>
              <a:ea typeface="Calibri"/>
              <a:cs typeface="Times New Roman"/>
            </a:endParaRPr>
          </a:p>
          <a:p>
            <a:pPr marL="0" indent="0" algn="just">
              <a:lnSpc>
                <a:spcPct val="115000"/>
              </a:lnSpc>
              <a:spcBef>
                <a:spcPts val="0"/>
              </a:spcBef>
              <a:spcAft>
                <a:spcPts val="0"/>
              </a:spcAft>
              <a:buFont typeface="Arial" charset="0"/>
              <a:buNone/>
              <a:defRPr/>
            </a:pPr>
            <a:r>
              <a:rPr lang="en-US" sz="2400" b="1" dirty="0" smtClean="0">
                <a:latin typeface="Times New Roman"/>
                <a:ea typeface="Calibri"/>
                <a:cs typeface="Times New Roman"/>
              </a:rPr>
              <a:t>(</a:t>
            </a:r>
            <a:r>
              <a:rPr lang="en-US" sz="2400" b="1" dirty="0" err="1" smtClean="0">
                <a:latin typeface="Times New Roman"/>
                <a:ea typeface="Calibri"/>
                <a:cs typeface="Times New Roman"/>
              </a:rPr>
              <a:t>i</a:t>
            </a:r>
            <a:r>
              <a:rPr lang="en-US" sz="2400" b="1" dirty="0" smtClean="0">
                <a:latin typeface="Times New Roman"/>
                <a:ea typeface="Calibri"/>
                <a:cs typeface="Times New Roman"/>
              </a:rPr>
              <a:t>) All projects and activities are broadly categorized in to </a:t>
            </a:r>
            <a:r>
              <a:rPr lang="en-US" sz="2400" b="1" u="sng" dirty="0" smtClean="0">
                <a:latin typeface="Times New Roman"/>
                <a:ea typeface="Calibri"/>
                <a:cs typeface="Times New Roman"/>
              </a:rPr>
              <a:t>two categories </a:t>
            </a:r>
            <a:r>
              <a:rPr lang="en-US" sz="2400" b="1" dirty="0" smtClean="0">
                <a:latin typeface="Times New Roman"/>
                <a:ea typeface="Calibri"/>
                <a:cs typeface="Times New Roman"/>
              </a:rPr>
              <a:t>- </a:t>
            </a:r>
            <a:r>
              <a:rPr lang="en-US" sz="2400" b="1" dirty="0" smtClean="0">
                <a:solidFill>
                  <a:srgbClr val="FF0000"/>
                </a:solidFill>
                <a:latin typeface="Times New Roman"/>
                <a:ea typeface="Calibri"/>
                <a:cs typeface="Times New Roman"/>
              </a:rPr>
              <a:t>Category A</a:t>
            </a:r>
            <a:r>
              <a:rPr lang="en-US" sz="2400" b="1" dirty="0" smtClean="0">
                <a:latin typeface="Times New Roman"/>
                <a:ea typeface="Calibri"/>
                <a:cs typeface="Times New Roman"/>
              </a:rPr>
              <a:t> and  </a:t>
            </a:r>
            <a:r>
              <a:rPr lang="en-US" sz="2400" b="1" dirty="0" smtClean="0">
                <a:solidFill>
                  <a:srgbClr val="FF0000"/>
                </a:solidFill>
                <a:latin typeface="Times New Roman"/>
                <a:ea typeface="Calibri"/>
                <a:cs typeface="Times New Roman"/>
              </a:rPr>
              <a:t>Category B</a:t>
            </a:r>
            <a:r>
              <a:rPr lang="en-US" sz="2400" b="1" dirty="0" smtClean="0">
                <a:latin typeface="Times New Roman"/>
                <a:ea typeface="Calibri"/>
                <a:cs typeface="Times New Roman"/>
              </a:rPr>
              <a:t>, </a:t>
            </a:r>
            <a:r>
              <a:rPr lang="en-US" sz="2400" b="1" dirty="0" smtClean="0">
                <a:solidFill>
                  <a:srgbClr val="0000CC"/>
                </a:solidFill>
                <a:latin typeface="Times New Roman"/>
                <a:ea typeface="Calibri"/>
                <a:cs typeface="Times New Roman"/>
              </a:rPr>
              <a:t>based on the spatial extent of potential impacts and potential impacts on human  health and natural and man-made resources. </a:t>
            </a:r>
            <a:endParaRPr lang="en-US" sz="2400" b="1" dirty="0">
              <a:solidFill>
                <a:srgbClr val="0000CC"/>
              </a:solidFill>
              <a:ea typeface="Calibri"/>
              <a:cs typeface="Times New Roman"/>
            </a:endParaRPr>
          </a:p>
          <a:p>
            <a:pPr marL="0" indent="0" algn="just">
              <a:lnSpc>
                <a:spcPct val="115000"/>
              </a:lnSpc>
              <a:spcBef>
                <a:spcPts val="0"/>
              </a:spcBef>
              <a:spcAft>
                <a:spcPts val="0"/>
              </a:spcAft>
              <a:buFont typeface="Arial" charset="0"/>
              <a:buNone/>
              <a:defRPr/>
            </a:pPr>
            <a:r>
              <a:rPr lang="en-US" sz="2400" b="1" dirty="0" smtClean="0">
                <a:latin typeface="Times New Roman"/>
                <a:ea typeface="Calibri"/>
                <a:cs typeface="Times New Roman"/>
              </a:rPr>
              <a:t>(ii) All projects or activities included as </a:t>
            </a:r>
            <a:r>
              <a:rPr lang="en-US" sz="2400" b="1" dirty="0" smtClean="0">
                <a:solidFill>
                  <a:srgbClr val="FF0000"/>
                </a:solidFill>
                <a:latin typeface="Times New Roman"/>
                <a:ea typeface="Calibri"/>
                <a:cs typeface="Times New Roman"/>
              </a:rPr>
              <a:t>Category ‘A’</a:t>
            </a:r>
            <a:r>
              <a:rPr lang="en-US" sz="2400" b="1" dirty="0" smtClean="0">
                <a:latin typeface="Times New Roman"/>
                <a:ea typeface="Calibri"/>
                <a:cs typeface="Times New Roman"/>
              </a:rPr>
              <a:t> in the Schedule, including expansion  and modernization of existing projects or activities and change in product mix, shall require prior  environmental clearance from the Central Government in the Ministry of Environment and  Forests (MoEF) on the recommendations of an Expert Appraisal Committee (EAC) to be  constituted by the Central Government for the purposes of this notification; </a:t>
            </a:r>
            <a:endParaRPr lang="en-US" sz="2400" b="1" dirty="0">
              <a:ea typeface="Calibri"/>
              <a:cs typeface="Times New Roman"/>
            </a:endParaRPr>
          </a:p>
          <a:p>
            <a:pPr marL="0" algn="just">
              <a:lnSpc>
                <a:spcPct val="115000"/>
              </a:lnSpc>
              <a:spcBef>
                <a:spcPts val="0"/>
              </a:spcBef>
              <a:spcAft>
                <a:spcPts val="0"/>
              </a:spcAft>
              <a:defRPr/>
            </a:pPr>
            <a:r>
              <a:rPr lang="en-US" sz="2400" dirty="0" smtClean="0">
                <a:latin typeface="Times New Roman"/>
                <a:ea typeface="Calibri"/>
                <a:cs typeface="Times New Roman"/>
              </a:rPr>
              <a:t> </a:t>
            </a:r>
            <a:endParaRPr lang="en-US" sz="2400" dirty="0">
              <a:ea typeface="Calibri"/>
              <a:cs typeface="Times New Roman"/>
            </a:endParaRPr>
          </a:p>
          <a:p>
            <a:pPr>
              <a:defRPr/>
            </a:pPr>
            <a:endParaRPr lang="en-US" altLang="en-US" sz="2400" dirty="0" smtClean="0"/>
          </a:p>
        </p:txBody>
      </p:sp>
      <p:sp>
        <p:nvSpPr>
          <p:cNvPr id="4" name="Date Placeholder 3"/>
          <p:cNvSpPr>
            <a:spLocks noGrp="1"/>
          </p:cNvSpPr>
          <p:nvPr>
            <p:ph type="dt" sz="quarter" idx="10"/>
          </p:nvPr>
        </p:nvSpPr>
        <p:spPr/>
        <p:txBody>
          <a:bodyPr/>
          <a:lstStyle/>
          <a:p>
            <a:pPr>
              <a:defRPr/>
            </a:pPr>
            <a:fld id="{D34C55DC-0868-4EFE-96C0-5B60718343FB}"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C958ECF7-3FFC-47AA-9FBD-6B0FE03C057A}" type="slidenum">
              <a:rPr lang="en-US" smtClean="0"/>
              <a:pPr>
                <a:defRPr/>
              </a:pPr>
              <a:t>54</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457200" y="274638"/>
            <a:ext cx="8229600" cy="715962"/>
          </a:xfrm>
        </p:spPr>
        <p:txBody>
          <a:bodyPr/>
          <a:lstStyle/>
          <a:p>
            <a:r>
              <a:rPr lang="en-US" altLang="en-US" sz="3200" b="1" smtClean="0">
                <a:solidFill>
                  <a:srgbClr val="0000CC"/>
                </a:solidFill>
                <a:latin typeface="Times New Roman" pitchFamily="18" charset="0"/>
                <a:cs typeface="Times New Roman" pitchFamily="18" charset="0"/>
              </a:rPr>
              <a:t>EIA Notification issued on September 14, 2006</a:t>
            </a:r>
            <a:endParaRPr lang="en-US" altLang="en-US" sz="3200" smtClean="0"/>
          </a:p>
        </p:txBody>
      </p:sp>
      <p:sp>
        <p:nvSpPr>
          <p:cNvPr id="3" name="Content Placeholder 2"/>
          <p:cNvSpPr>
            <a:spLocks noGrp="1"/>
          </p:cNvSpPr>
          <p:nvPr>
            <p:ph idx="1"/>
          </p:nvPr>
        </p:nvSpPr>
        <p:spPr>
          <a:xfrm>
            <a:off x="228600" y="990600"/>
            <a:ext cx="8686800" cy="5410200"/>
          </a:xfrm>
        </p:spPr>
        <p:txBody>
          <a:bodyPr/>
          <a:lstStyle/>
          <a:p>
            <a:pPr marL="0" indent="0" algn="just">
              <a:lnSpc>
                <a:spcPct val="115000"/>
              </a:lnSpc>
              <a:spcBef>
                <a:spcPts val="0"/>
              </a:spcBef>
              <a:spcAft>
                <a:spcPts val="0"/>
              </a:spcAft>
              <a:buFont typeface="Arial" charset="0"/>
              <a:buNone/>
              <a:defRPr/>
            </a:pPr>
            <a:r>
              <a:rPr lang="en-US" sz="2800" b="1" dirty="0" smtClean="0">
                <a:latin typeface="Times New Roman"/>
                <a:ea typeface="Calibri"/>
                <a:cs typeface="Times New Roman"/>
              </a:rPr>
              <a:t>(iii) All projects or activities included as </a:t>
            </a:r>
            <a:r>
              <a:rPr lang="en-US" sz="2800" b="1" dirty="0" smtClean="0">
                <a:solidFill>
                  <a:srgbClr val="FF0000"/>
                </a:solidFill>
                <a:latin typeface="Times New Roman"/>
                <a:ea typeface="Calibri"/>
                <a:cs typeface="Times New Roman"/>
              </a:rPr>
              <a:t>Category ‘B’ </a:t>
            </a:r>
            <a:r>
              <a:rPr lang="en-US" sz="2800" b="1" dirty="0" smtClean="0">
                <a:latin typeface="Times New Roman"/>
                <a:ea typeface="Calibri"/>
                <a:cs typeface="Times New Roman"/>
              </a:rPr>
              <a:t>in the Schedule, including expansion  and modernization of existing projects or activities as specified in sub paragraph (ii) of paragraph  2, or change in product mix as specified in sub paragraph (iii) of paragraph 2, but excluding  those which fulfill the General Conditions (GC) stipulated in the Schedule, </a:t>
            </a:r>
            <a:r>
              <a:rPr lang="en-US" sz="2800" b="1" dirty="0" smtClean="0">
                <a:solidFill>
                  <a:srgbClr val="FF0000"/>
                </a:solidFill>
                <a:latin typeface="Times New Roman"/>
                <a:ea typeface="Calibri"/>
                <a:cs typeface="Times New Roman"/>
              </a:rPr>
              <a:t>will require prior  environmental clearance</a:t>
            </a:r>
            <a:r>
              <a:rPr lang="en-US" sz="2800" b="1" dirty="0" smtClean="0">
                <a:latin typeface="Times New Roman"/>
                <a:ea typeface="Calibri"/>
                <a:cs typeface="Times New Roman"/>
              </a:rPr>
              <a:t> from the State/Union territory Environment Impact Assessment  Authority (SEIAA). </a:t>
            </a:r>
            <a:endParaRPr lang="en-US" sz="2800" b="1" dirty="0">
              <a:ea typeface="Calibri"/>
              <a:cs typeface="Times New Roman"/>
            </a:endParaRPr>
          </a:p>
          <a:p>
            <a:pPr marL="0" indent="0" algn="just">
              <a:lnSpc>
                <a:spcPct val="115000"/>
              </a:lnSpc>
              <a:spcBef>
                <a:spcPts val="0"/>
              </a:spcBef>
              <a:spcAft>
                <a:spcPts val="0"/>
              </a:spcAft>
              <a:buFont typeface="Arial" charset="0"/>
              <a:buNone/>
              <a:defRPr/>
            </a:pPr>
            <a:endParaRPr lang="en-US" sz="2800" b="1" dirty="0">
              <a:ea typeface="Calibri"/>
              <a:cs typeface="Times New Roman"/>
            </a:endParaRPr>
          </a:p>
          <a:p>
            <a:pPr>
              <a:defRPr/>
            </a:pPr>
            <a:endParaRPr lang="en-US" b="1" dirty="0"/>
          </a:p>
        </p:txBody>
      </p:sp>
      <p:sp>
        <p:nvSpPr>
          <p:cNvPr id="4" name="Date Placeholder 3"/>
          <p:cNvSpPr>
            <a:spLocks noGrp="1"/>
          </p:cNvSpPr>
          <p:nvPr>
            <p:ph type="dt" sz="quarter" idx="10"/>
          </p:nvPr>
        </p:nvSpPr>
        <p:spPr/>
        <p:txBody>
          <a:bodyPr/>
          <a:lstStyle/>
          <a:p>
            <a:pPr>
              <a:defRPr/>
            </a:pPr>
            <a:fld id="{EE506462-2573-412A-B08C-22F736114C8D}"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625499D6-E952-4440-A71D-5771B4A0A6B6}" type="slidenum">
              <a:rPr lang="en-US" smtClean="0"/>
              <a:pPr>
                <a:defRPr/>
              </a:pPr>
              <a:t>55</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lstStyle/>
          <a:p>
            <a:r>
              <a:rPr lang="en-US" altLang="en-US" sz="3200" b="1" smtClean="0">
                <a:solidFill>
                  <a:srgbClr val="0000CC"/>
                </a:solidFill>
                <a:latin typeface="Times New Roman" pitchFamily="18" charset="0"/>
                <a:cs typeface="Times New Roman" pitchFamily="18" charset="0"/>
              </a:rPr>
              <a:t>EIA Notification issued on September 14, 2006</a:t>
            </a:r>
            <a:endParaRPr lang="en-US" altLang="en-US" sz="3200" smtClean="0"/>
          </a:p>
        </p:txBody>
      </p:sp>
      <p:sp>
        <p:nvSpPr>
          <p:cNvPr id="3" name="Content Placeholder 2"/>
          <p:cNvSpPr>
            <a:spLocks noGrp="1"/>
          </p:cNvSpPr>
          <p:nvPr>
            <p:ph idx="1"/>
          </p:nvPr>
        </p:nvSpPr>
        <p:spPr/>
        <p:txBody>
          <a:bodyPr/>
          <a:lstStyle/>
          <a:p>
            <a:pPr marL="0" indent="0" algn="just">
              <a:lnSpc>
                <a:spcPct val="115000"/>
              </a:lnSpc>
              <a:spcBef>
                <a:spcPts val="0"/>
              </a:spcBef>
              <a:spcAft>
                <a:spcPts val="0"/>
              </a:spcAft>
              <a:buFont typeface="Arial" charset="0"/>
              <a:buNone/>
              <a:defRPr/>
            </a:pPr>
            <a:r>
              <a:rPr lang="en-US" sz="2800" b="1" dirty="0" smtClean="0">
                <a:latin typeface="Times New Roman"/>
                <a:ea typeface="Calibri"/>
                <a:cs typeface="Times New Roman"/>
              </a:rPr>
              <a:t>The SEIAA shall base its decision on the recommendations of a State or  Union territory level Expert Appraisal Committee (SEAC) as to be constituted for in this  notification. </a:t>
            </a:r>
          </a:p>
          <a:p>
            <a:pPr marL="0" indent="0" algn="just">
              <a:lnSpc>
                <a:spcPct val="115000"/>
              </a:lnSpc>
              <a:spcBef>
                <a:spcPts val="0"/>
              </a:spcBef>
              <a:spcAft>
                <a:spcPts val="0"/>
              </a:spcAft>
              <a:buFont typeface="Arial" charset="0"/>
              <a:buNone/>
              <a:defRPr/>
            </a:pPr>
            <a:endParaRPr lang="en-US" sz="2800" b="1" dirty="0" smtClean="0">
              <a:latin typeface="Times New Roman"/>
              <a:ea typeface="Calibri"/>
              <a:cs typeface="Times New Roman"/>
            </a:endParaRPr>
          </a:p>
          <a:p>
            <a:pPr marL="0" indent="0" algn="just">
              <a:lnSpc>
                <a:spcPct val="115000"/>
              </a:lnSpc>
              <a:spcBef>
                <a:spcPts val="0"/>
              </a:spcBef>
              <a:spcAft>
                <a:spcPts val="0"/>
              </a:spcAft>
              <a:buFont typeface="Arial" charset="0"/>
              <a:buNone/>
              <a:defRPr/>
            </a:pPr>
            <a:r>
              <a:rPr lang="en-US" sz="2800" b="1" dirty="0" smtClean="0">
                <a:latin typeface="Times New Roman"/>
                <a:ea typeface="Calibri"/>
                <a:cs typeface="Times New Roman"/>
              </a:rPr>
              <a:t>In the absence of a duly constituted SEIAA or SEAC, a Category ‘B’ project shall  be treated as a Category ‘A’ project;</a:t>
            </a:r>
            <a:endParaRPr lang="en-US" sz="2800" b="1" dirty="0" smtClean="0">
              <a:ea typeface="Calibri"/>
              <a:cs typeface="Times New Roman"/>
            </a:endParaRPr>
          </a:p>
          <a:p>
            <a:pPr>
              <a:defRPr/>
            </a:pPr>
            <a:endParaRPr lang="en-US" sz="2800" dirty="0"/>
          </a:p>
        </p:txBody>
      </p:sp>
      <p:sp>
        <p:nvSpPr>
          <p:cNvPr id="4" name="Date Placeholder 3"/>
          <p:cNvSpPr>
            <a:spLocks noGrp="1"/>
          </p:cNvSpPr>
          <p:nvPr>
            <p:ph type="dt" sz="quarter" idx="10"/>
          </p:nvPr>
        </p:nvSpPr>
        <p:spPr/>
        <p:txBody>
          <a:bodyPr/>
          <a:lstStyle/>
          <a:p>
            <a:pPr>
              <a:defRPr/>
            </a:pPr>
            <a:fld id="{A7497FAF-1F7C-436E-AA62-EF43948A0D5B}"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61888570-D78D-4B68-85D4-0528CE8B1470}" type="slidenum">
              <a:rPr lang="en-US" smtClean="0"/>
              <a:pPr>
                <a:defRPr/>
              </a:pPr>
              <a:t>56</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534400" cy="5410200"/>
          </a:xfrm>
          <a:solidFill>
            <a:schemeClr val="accent5">
              <a:lumMod val="20000"/>
              <a:lumOff val="80000"/>
            </a:schemeClr>
          </a:solidFill>
        </p:spPr>
        <p:txBody>
          <a:bodyPr/>
          <a:lstStyle/>
          <a:p>
            <a:pPr eaLnBrk="1" hangingPunct="1">
              <a:buFont typeface="Arial" charset="0"/>
              <a:buNone/>
              <a:defRPr/>
            </a:pPr>
            <a:r>
              <a:rPr lang="en-US" sz="1800" b="1" dirty="0" smtClean="0">
                <a:latin typeface="Times New Roman" pitchFamily="18" charset="0"/>
                <a:cs typeface="Times New Roman" pitchFamily="18" charset="0"/>
              </a:rPr>
              <a:t>      </a:t>
            </a:r>
          </a:p>
          <a:p>
            <a:pPr eaLnBrk="1" hangingPunct="1">
              <a:buFont typeface="Arial" charset="0"/>
              <a:buNone/>
              <a:defRPr/>
            </a:pPr>
            <a:r>
              <a:rPr lang="en-US" sz="2000" b="1" dirty="0" smtClean="0">
                <a:latin typeface="Times New Roman" pitchFamily="18" charset="0"/>
                <a:cs typeface="Times New Roman" pitchFamily="18" charset="0"/>
              </a:rPr>
              <a:t>3</a:t>
            </a:r>
            <a:r>
              <a:rPr lang="en-US" sz="2000" b="1" dirty="0" smtClean="0">
                <a:solidFill>
                  <a:srgbClr val="FF0000"/>
                </a:solidFill>
                <a:latin typeface="Times New Roman" pitchFamily="18" charset="0"/>
                <a:cs typeface="Times New Roman" pitchFamily="18" charset="0"/>
              </a:rPr>
              <a:t>. </a:t>
            </a:r>
            <a:r>
              <a:rPr lang="en-US" sz="2000" b="1" u="sng" dirty="0" smtClean="0">
                <a:solidFill>
                  <a:srgbClr val="FF0000"/>
                </a:solidFill>
                <a:latin typeface="Times New Roman" pitchFamily="18" charset="0"/>
                <a:cs typeface="Times New Roman" pitchFamily="18" charset="0"/>
              </a:rPr>
              <a:t>TRANSPORTATION AND COMMUNICATION</a:t>
            </a:r>
            <a:r>
              <a:rPr lang="en-US" sz="2000" b="1" dirty="0" smtClean="0">
                <a:solidFill>
                  <a:srgbClr val="FF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Ports, Harbors, Airports, Highway Projects, Tarred Roads in Himalayas and Forests, Nuclear Power</a:t>
            </a:r>
          </a:p>
          <a:p>
            <a:pPr eaLnBrk="1" hangingPunct="1">
              <a:buFont typeface="Arial" charset="0"/>
              <a:buNone/>
              <a:defRPr/>
            </a:pPr>
            <a:r>
              <a:rPr lang="en-US" sz="2000" b="1" dirty="0" smtClean="0">
                <a:latin typeface="Times New Roman" pitchFamily="18" charset="0"/>
                <a:cs typeface="Times New Roman" pitchFamily="18" charset="0"/>
              </a:rPr>
              <a:t>4. </a:t>
            </a:r>
            <a:r>
              <a:rPr lang="en-US" sz="2000" b="1" u="sng" dirty="0" smtClean="0">
                <a:solidFill>
                  <a:srgbClr val="FF0000"/>
                </a:solidFill>
                <a:latin typeface="Times New Roman" pitchFamily="18" charset="0"/>
                <a:cs typeface="Times New Roman" pitchFamily="18" charset="0"/>
              </a:rPr>
              <a:t>POWER AND REFINERIES</a:t>
            </a:r>
            <a:r>
              <a:rPr lang="en-US" sz="2000" b="1" dirty="0" smtClean="0">
                <a:solidFill>
                  <a:srgbClr val="FF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Petroleum refineries, Crude and Product pipe Lines, Thermal Power Plants</a:t>
            </a:r>
          </a:p>
          <a:p>
            <a:pPr eaLnBrk="1" hangingPunct="1">
              <a:buFont typeface="Arial" charset="0"/>
              <a:buNone/>
              <a:defRPr/>
            </a:pPr>
            <a:r>
              <a:rPr lang="en-US" sz="2000" b="1" dirty="0" smtClean="0">
                <a:latin typeface="Times New Roman" pitchFamily="18" charset="0"/>
                <a:cs typeface="Times New Roman" pitchFamily="18" charset="0"/>
              </a:rPr>
              <a:t>5. </a:t>
            </a:r>
            <a:r>
              <a:rPr lang="en-US" sz="2000" b="1" u="sng" dirty="0" smtClean="0">
                <a:solidFill>
                  <a:srgbClr val="FF0000"/>
                </a:solidFill>
                <a:latin typeface="Times New Roman" pitchFamily="18" charset="0"/>
                <a:cs typeface="Times New Roman" pitchFamily="18" charset="0"/>
              </a:rPr>
              <a:t>METALLURGICAL</a:t>
            </a:r>
            <a:r>
              <a:rPr lang="en-US" sz="2000" b="1" dirty="0" smtClean="0">
                <a:solidFill>
                  <a:srgbClr val="FF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Primary Metallurgical Industries,, Storage Batteries, Manufacture of Oxides of Lead and Lead-Antimony alloys, Foundries, Electroplating</a:t>
            </a:r>
          </a:p>
          <a:p>
            <a:pPr eaLnBrk="1" hangingPunct="1">
              <a:buFont typeface="Arial" charset="0"/>
              <a:buNone/>
              <a:defRPr/>
            </a:pPr>
            <a:r>
              <a:rPr lang="en-US" sz="2000" b="1" dirty="0" smtClean="0">
                <a:latin typeface="Times New Roman" pitchFamily="18" charset="0"/>
                <a:cs typeface="Times New Roman" pitchFamily="18" charset="0"/>
              </a:rPr>
              <a:t>6. </a:t>
            </a:r>
            <a:r>
              <a:rPr lang="en-US" sz="2000" b="1" u="sng" dirty="0" smtClean="0">
                <a:solidFill>
                  <a:srgbClr val="FF0000"/>
                </a:solidFill>
                <a:latin typeface="Times New Roman" pitchFamily="18" charset="0"/>
                <a:cs typeface="Times New Roman" pitchFamily="18" charset="0"/>
              </a:rPr>
              <a:t>CONSTRUCTION MATERIALS</a:t>
            </a:r>
            <a:r>
              <a:rPr lang="en-US" sz="2000" b="1" dirty="0" smtClean="0">
                <a:solidFill>
                  <a:srgbClr val="FF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Asbestos, and Asbestos Projects, Cement</a:t>
            </a:r>
          </a:p>
          <a:p>
            <a:pPr eaLnBrk="1" hangingPunct="1">
              <a:buFont typeface="Arial" charset="0"/>
              <a:buNone/>
              <a:defRPr/>
            </a:pPr>
            <a:r>
              <a:rPr lang="en-US" sz="2000" b="1" dirty="0" smtClean="0">
                <a:latin typeface="Times New Roman" pitchFamily="18" charset="0"/>
                <a:cs typeface="Times New Roman" pitchFamily="18" charset="0"/>
              </a:rPr>
              <a:t>7. </a:t>
            </a:r>
            <a:r>
              <a:rPr lang="en-US" sz="2000" b="1" u="sng" dirty="0" smtClean="0">
                <a:solidFill>
                  <a:srgbClr val="FF0000"/>
                </a:solidFill>
                <a:latin typeface="Times New Roman" pitchFamily="18" charset="0"/>
                <a:cs typeface="Times New Roman" pitchFamily="18" charset="0"/>
              </a:rPr>
              <a:t>TEXTILE and RUBBER</a:t>
            </a:r>
            <a:r>
              <a:rPr lang="en-US" sz="2000" b="1" dirty="0" smtClean="0">
                <a:solidFill>
                  <a:srgbClr val="FF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Synthetic Rubber, Viscose staple </a:t>
            </a:r>
            <a:r>
              <a:rPr lang="en-US" sz="2000" b="1" dirty="0" err="1" smtClean="0">
                <a:latin typeface="Times New Roman" pitchFamily="18" charset="0"/>
                <a:cs typeface="Times New Roman" pitchFamily="18" charset="0"/>
              </a:rPr>
              <a:t>fibre</a:t>
            </a:r>
            <a:r>
              <a:rPr lang="en-US" sz="2000" b="1" dirty="0" smtClean="0">
                <a:latin typeface="Times New Roman" pitchFamily="18" charset="0"/>
                <a:cs typeface="Times New Roman" pitchFamily="18" charset="0"/>
              </a:rPr>
              <a:t> and filament yarn</a:t>
            </a:r>
          </a:p>
          <a:p>
            <a:pPr eaLnBrk="1" hangingPunct="1">
              <a:buFont typeface="Arial" charset="0"/>
              <a:buNone/>
              <a:defRPr/>
            </a:pPr>
            <a:r>
              <a:rPr lang="en-US" sz="2000" b="1" dirty="0" smtClean="0">
                <a:latin typeface="Times New Roman" pitchFamily="18" charset="0"/>
                <a:cs typeface="Times New Roman" pitchFamily="18" charset="0"/>
              </a:rPr>
              <a:t>8. </a:t>
            </a:r>
            <a:r>
              <a:rPr lang="en-US" sz="2000" b="1" u="sng" dirty="0" smtClean="0">
                <a:solidFill>
                  <a:srgbClr val="FF0000"/>
                </a:solidFill>
                <a:latin typeface="Times New Roman" pitchFamily="18" charset="0"/>
                <a:cs typeface="Times New Roman" pitchFamily="18" charset="0"/>
              </a:rPr>
              <a:t>ALLIED INDUSTRIES</a:t>
            </a:r>
            <a:r>
              <a:rPr lang="en-US" sz="2000" b="1" dirty="0" smtClean="0">
                <a:solidFill>
                  <a:srgbClr val="FF0000"/>
                </a:solidFill>
                <a:latin typeface="Times New Roman" pitchFamily="18" charset="0"/>
                <a:cs typeface="Times New Roman" pitchFamily="18" charset="0"/>
              </a:rPr>
              <a:t>: </a:t>
            </a:r>
            <a:r>
              <a:rPr lang="en-US" sz="2000" b="1" dirty="0" smtClean="0">
                <a:latin typeface="Times New Roman" pitchFamily="18" charset="0"/>
                <a:cs typeface="Times New Roman" pitchFamily="18" charset="0"/>
              </a:rPr>
              <a:t>Distilleries and Sugar Mills , Raw skin and hides,  Pulp Paper and News Print, </a:t>
            </a:r>
          </a:p>
          <a:p>
            <a:pPr eaLnBrk="1" hangingPunct="1">
              <a:buFont typeface="Arial" charset="0"/>
              <a:buNone/>
              <a:defRPr/>
            </a:pPr>
            <a:endParaRPr lang="en-US" sz="1800" b="1" dirty="0" smtClean="0">
              <a:latin typeface="Times New Roman" pitchFamily="18" charset="0"/>
              <a:cs typeface="Times New Roman" pitchFamily="18" charset="0"/>
            </a:endParaRPr>
          </a:p>
          <a:p>
            <a:pPr eaLnBrk="1" hangingPunct="1">
              <a:buFont typeface="Arial" charset="0"/>
              <a:buNone/>
              <a:defRPr/>
            </a:pPr>
            <a:endParaRPr lang="en-US" sz="1800" dirty="0"/>
          </a:p>
        </p:txBody>
      </p:sp>
      <p:sp>
        <p:nvSpPr>
          <p:cNvPr id="4" name="Date Placeholder 3"/>
          <p:cNvSpPr>
            <a:spLocks noGrp="1"/>
          </p:cNvSpPr>
          <p:nvPr>
            <p:ph type="dt" sz="quarter" idx="10"/>
          </p:nvPr>
        </p:nvSpPr>
        <p:spPr/>
        <p:txBody>
          <a:bodyPr/>
          <a:lstStyle/>
          <a:p>
            <a:pPr>
              <a:defRPr/>
            </a:pPr>
            <a:fld id="{42A0CDEE-9968-4DD4-A217-576462B71721}" type="datetime1">
              <a:rPr lang="en-US" smtClean="0"/>
              <a:pPr>
                <a:defRPr/>
              </a:pPr>
              <a:t>11/13/2017</a:t>
            </a:fld>
            <a:endParaRPr lang="en-US"/>
          </a:p>
        </p:txBody>
      </p:sp>
      <p:sp>
        <p:nvSpPr>
          <p:cNvPr id="5" name="Footer Placeholder 4"/>
          <p:cNvSpPr>
            <a:spLocks noGrp="1"/>
          </p:cNvSpPr>
          <p:nvPr>
            <p:ph type="ftr" sz="quarter" idx="11"/>
          </p:nvPr>
        </p:nvSpPr>
        <p:spPr/>
        <p:txBody>
          <a:bodyPr/>
          <a:lstStyle/>
          <a:p>
            <a:pPr>
              <a:defRPr/>
            </a:pPr>
            <a:r>
              <a:rPr lang="en-US" smtClean="0"/>
              <a:t>Dr Jyoti K Sharma</a:t>
            </a:r>
            <a:endParaRPr lang="en-US"/>
          </a:p>
        </p:txBody>
      </p:sp>
      <p:sp>
        <p:nvSpPr>
          <p:cNvPr id="6" name="Slide Number Placeholder 5"/>
          <p:cNvSpPr>
            <a:spLocks noGrp="1"/>
          </p:cNvSpPr>
          <p:nvPr>
            <p:ph type="sldNum" sz="quarter" idx="12"/>
          </p:nvPr>
        </p:nvSpPr>
        <p:spPr/>
        <p:txBody>
          <a:bodyPr/>
          <a:lstStyle/>
          <a:p>
            <a:pPr>
              <a:defRPr/>
            </a:pPr>
            <a:fld id="{7FC95876-689F-4BEF-93D7-F1C0E21BAC0F}" type="slidenum">
              <a:rPr lang="en-US" smtClean="0"/>
              <a:pPr>
                <a:defRPr/>
              </a:pPr>
              <a:t>57</a:t>
            </a:fld>
            <a:endParaRPr lang="en-US"/>
          </a:p>
        </p:txBody>
      </p:sp>
      <p:sp>
        <p:nvSpPr>
          <p:cNvPr id="7" name="Title 1"/>
          <p:cNvSpPr>
            <a:spLocks noGrp="1"/>
          </p:cNvSpPr>
          <p:nvPr>
            <p:ph type="title"/>
          </p:nvPr>
        </p:nvSpPr>
        <p:spPr>
          <a:xfrm>
            <a:off x="457200" y="274638"/>
            <a:ext cx="8229600" cy="715962"/>
          </a:xfrm>
          <a:solidFill>
            <a:schemeClr val="accent4">
              <a:lumMod val="20000"/>
              <a:lumOff val="80000"/>
            </a:schemeClr>
          </a:solidFill>
        </p:spPr>
        <p:txBody>
          <a:bodyPr rtlCol="0">
            <a:normAutofit/>
          </a:bodyPr>
          <a:lstStyle/>
          <a:p>
            <a:pPr eaLnBrk="1" fontAlgn="auto" hangingPunct="1">
              <a:spcAft>
                <a:spcPts val="0"/>
              </a:spcAft>
              <a:defRPr/>
            </a:pPr>
            <a:r>
              <a:rPr lang="en-US" sz="3200" b="1" dirty="0" smtClean="0">
                <a:solidFill>
                  <a:srgbClr val="0000CC"/>
                </a:solidFill>
                <a:latin typeface="Times New Roman" pitchFamily="18" charset="0"/>
                <a:cs typeface="Times New Roman" pitchFamily="18" charset="0"/>
              </a:rPr>
              <a:t>Environmental  Impact Assessment In India</a:t>
            </a:r>
            <a:endParaRPr lang="en-US" sz="3200" dirty="0">
              <a:solidFill>
                <a:srgbClr val="0000CC"/>
              </a:solidFill>
            </a:endParaRPr>
          </a:p>
        </p:txBody>
      </p:sp>
      <p:pic>
        <p:nvPicPr>
          <p:cNvPr id="8" name="Picture 7"/>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r>
              <a:rPr lang="en-US" altLang="en-US" sz="3200" b="1" smtClean="0">
                <a:solidFill>
                  <a:srgbClr val="0000CC"/>
                </a:solidFill>
                <a:latin typeface="Times New Roman" pitchFamily="18" charset="0"/>
                <a:cs typeface="Times New Roman" pitchFamily="18" charset="0"/>
              </a:rPr>
              <a:t>Environmental  Impact Assessment In India</a:t>
            </a:r>
            <a:endParaRPr lang="en-US" altLang="en-US" sz="3200" smtClean="0"/>
          </a:p>
        </p:txBody>
      </p:sp>
      <p:sp>
        <p:nvSpPr>
          <p:cNvPr id="71683" name="Content Placeholder 2"/>
          <p:cNvSpPr>
            <a:spLocks noGrp="1"/>
          </p:cNvSpPr>
          <p:nvPr>
            <p:ph idx="1"/>
          </p:nvPr>
        </p:nvSpPr>
        <p:spPr>
          <a:xfrm>
            <a:off x="457200" y="1219200"/>
            <a:ext cx="8229600" cy="5105400"/>
          </a:xfrm>
        </p:spPr>
        <p:txBody>
          <a:bodyPr/>
          <a:lstStyle/>
          <a:p>
            <a:pPr eaLnBrk="1" hangingPunct="1">
              <a:buFont typeface="Arial" charset="0"/>
              <a:buNone/>
            </a:pPr>
            <a:r>
              <a:rPr lang="en-US" altLang="en-US" sz="2400" b="1" smtClean="0">
                <a:solidFill>
                  <a:srgbClr val="0000CC"/>
                </a:solidFill>
                <a:latin typeface="Times New Roman" pitchFamily="18" charset="0"/>
                <a:cs typeface="Times New Roman" pitchFamily="18" charset="0"/>
              </a:rPr>
              <a:t>Various categories </a:t>
            </a:r>
            <a:r>
              <a:rPr lang="en-US" altLang="en-US" sz="2400" b="1" smtClean="0">
                <a:latin typeface="Times New Roman" pitchFamily="18" charset="0"/>
                <a:cs typeface="Times New Roman" pitchFamily="18" charset="0"/>
              </a:rPr>
              <a:t>of developmental activities </a:t>
            </a:r>
            <a:r>
              <a:rPr lang="en-US" altLang="en-US" sz="2400" b="1" smtClean="0">
                <a:solidFill>
                  <a:srgbClr val="0000CC"/>
                </a:solidFill>
                <a:latin typeface="Times New Roman" pitchFamily="18" charset="0"/>
                <a:cs typeface="Times New Roman" pitchFamily="18" charset="0"/>
              </a:rPr>
              <a:t>require clearance </a:t>
            </a:r>
            <a:r>
              <a:rPr lang="en-US" altLang="en-US" sz="2400" b="1" smtClean="0">
                <a:latin typeface="Times New Roman" pitchFamily="18" charset="0"/>
                <a:cs typeface="Times New Roman" pitchFamily="18" charset="0"/>
              </a:rPr>
              <a:t>from MOEF (MEF Notification, 1994) are:</a:t>
            </a:r>
          </a:p>
          <a:p>
            <a:pPr eaLnBrk="1" hangingPunct="1">
              <a:buFont typeface="Arial" charset="0"/>
              <a:buAutoNum type="arabicPeriod"/>
            </a:pPr>
            <a:r>
              <a:rPr lang="en-US" altLang="en-US" sz="2400" b="1" u="sng" smtClean="0">
                <a:solidFill>
                  <a:srgbClr val="FF0000"/>
                </a:solidFill>
                <a:latin typeface="Times New Roman" pitchFamily="18" charset="0"/>
                <a:cs typeface="Times New Roman" pitchFamily="18" charset="0"/>
              </a:rPr>
              <a:t>SITE SPECIFIC PROJECTS</a:t>
            </a:r>
            <a:r>
              <a:rPr lang="en-US" altLang="en-US" sz="2400" b="1" smtClean="0">
                <a:solidFill>
                  <a:srgbClr val="FF0000"/>
                </a:solidFill>
                <a:latin typeface="Times New Roman" pitchFamily="18" charset="0"/>
                <a:cs typeface="Times New Roman" pitchFamily="18" charset="0"/>
              </a:rPr>
              <a:t>: </a:t>
            </a:r>
            <a:r>
              <a:rPr lang="en-US" altLang="en-US" sz="2400" b="1" smtClean="0">
                <a:latin typeface="Times New Roman" pitchFamily="18" charset="0"/>
                <a:cs typeface="Times New Roman" pitchFamily="18" charset="0"/>
              </a:rPr>
              <a:t>River Valley Projects (Hydro-power, Irrigation, etc), Exploration o for oil and gas, their production, transport and storage, Tourism Projects, Mining Projects</a:t>
            </a:r>
          </a:p>
          <a:p>
            <a:pPr eaLnBrk="1" hangingPunct="1">
              <a:buFont typeface="Arial" charset="0"/>
              <a:buAutoNum type="arabicPeriod"/>
            </a:pPr>
            <a:r>
              <a:rPr lang="en-US" altLang="en-US" sz="2400" b="1" u="sng" smtClean="0">
                <a:solidFill>
                  <a:srgbClr val="FF0000"/>
                </a:solidFill>
                <a:latin typeface="Times New Roman" pitchFamily="18" charset="0"/>
                <a:cs typeface="Times New Roman" pitchFamily="18" charset="0"/>
              </a:rPr>
              <a:t>CHEMICAL INDUSTRIES</a:t>
            </a:r>
            <a:r>
              <a:rPr lang="en-US" altLang="en-US" sz="2400" b="1" smtClean="0">
                <a:solidFill>
                  <a:srgbClr val="FF0000"/>
                </a:solidFill>
                <a:latin typeface="Times New Roman" pitchFamily="18" charset="0"/>
                <a:cs typeface="Times New Roman" pitchFamily="18" charset="0"/>
              </a:rPr>
              <a:t>: </a:t>
            </a:r>
            <a:r>
              <a:rPr lang="en-US" altLang="en-US" sz="2400" b="1" smtClean="0">
                <a:latin typeface="Times New Roman" pitchFamily="18" charset="0"/>
                <a:cs typeface="Times New Roman" pitchFamily="18" charset="0"/>
              </a:rPr>
              <a:t>Chemical Fertilizers, Pesticides, Petrochemical Complexes, Bulk drugs and Pharmaceuticals, Hydro cyanide acids and their derivatives, Chlor-alkali Industry, Integrated  Paint Complexes, Manufacture of Resins and Raw Materials for  paints, Dyes.</a:t>
            </a:r>
          </a:p>
          <a:p>
            <a:endParaRPr lang="en-US" altLang="en-US" sz="2400" smtClean="0"/>
          </a:p>
        </p:txBody>
      </p:sp>
      <p:sp>
        <p:nvSpPr>
          <p:cNvPr id="4" name="Date Placeholder 3"/>
          <p:cNvSpPr>
            <a:spLocks noGrp="1"/>
          </p:cNvSpPr>
          <p:nvPr>
            <p:ph type="dt" sz="quarter" idx="10"/>
          </p:nvPr>
        </p:nvSpPr>
        <p:spPr/>
        <p:txBody>
          <a:bodyPr/>
          <a:lstStyle/>
          <a:p>
            <a:pPr>
              <a:defRPr/>
            </a:pPr>
            <a:fld id="{35BB372B-E443-4C75-B20D-DA842B60B9BE}"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55431A87-E930-49D3-AE5C-11E3AB1614C8}" type="slidenum">
              <a:rPr lang="en-US" smtClean="0"/>
              <a:pPr>
                <a:defRPr/>
              </a:pPr>
              <a:t>58</a:t>
            </a:fld>
            <a:endParaRPr lang="en-US" dirty="0"/>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solidFill>
            <a:schemeClr val="accent5">
              <a:lumMod val="20000"/>
              <a:lumOff val="80000"/>
            </a:schemeClr>
          </a:solidFill>
        </p:spPr>
        <p:txBody>
          <a:bodyPr/>
          <a:lstStyle/>
          <a:p>
            <a:pPr>
              <a:defRPr/>
            </a:pPr>
            <a:r>
              <a:rPr lang="en-US" sz="3200" b="1" dirty="0" smtClean="0">
                <a:solidFill>
                  <a:srgbClr val="0000CC"/>
                </a:solidFill>
                <a:latin typeface="Times New Roman" pitchFamily="18" charset="0"/>
                <a:cs typeface="Times New Roman" pitchFamily="18" charset="0"/>
              </a:rPr>
              <a:t>Infrastructure Developmental Activities Requiring Environmental Clearance</a:t>
            </a:r>
          </a:p>
        </p:txBody>
      </p:sp>
      <p:sp>
        <p:nvSpPr>
          <p:cNvPr id="4" name="Date Placeholder 3"/>
          <p:cNvSpPr>
            <a:spLocks noGrp="1"/>
          </p:cNvSpPr>
          <p:nvPr>
            <p:ph type="dt" sz="quarter" idx="10"/>
          </p:nvPr>
        </p:nvSpPr>
        <p:spPr/>
        <p:txBody>
          <a:bodyPr/>
          <a:lstStyle/>
          <a:p>
            <a:pPr>
              <a:defRPr/>
            </a:pPr>
            <a:fld id="{826BCF97-C224-45B8-8E24-835119D0B38C}"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CE4C7432-87F1-455E-87BD-7484398C3488}" type="slidenum">
              <a:rPr lang="en-US" smtClean="0"/>
              <a:pPr>
                <a:defRPr/>
              </a:pPr>
              <a:t>59</a:t>
            </a:fld>
            <a:endParaRPr lang="en-US" dirty="0"/>
          </a:p>
        </p:txBody>
      </p:sp>
      <p:pic>
        <p:nvPicPr>
          <p:cNvPr id="73734" name="rg_hi" descr="http://t1.gstatic.com/images?q=tbn:ANd9GcQ71ctokS5NOzMqYBxpZ839G1ZzRuAP9Lqa3DnVkRi5KQEsgTr6yQ">
            <a:hlinkClick r:id="rId2"/>
          </p:cNvPr>
          <p:cNvPicPr>
            <a:picLocks noGrp="1"/>
          </p:cNvPicPr>
          <p:nvPr>
            <p:ph idx="1"/>
          </p:nvPr>
        </p:nvPicPr>
        <p:blipFill>
          <a:blip r:embed="rId3" cstate="print"/>
          <a:srcRect/>
          <a:stretch>
            <a:fillRect/>
          </a:stretch>
        </p:blipFill>
        <p:spPr>
          <a:xfrm>
            <a:off x="762000" y="1524000"/>
            <a:ext cx="3352800" cy="2085975"/>
          </a:xfrm>
        </p:spPr>
      </p:pic>
      <p:pic>
        <p:nvPicPr>
          <p:cNvPr id="73735" name="rg_hi" descr="http://t2.gstatic.com/images?q=tbn:ANd9GcSw3FzQFMYB0moWImJSeErTqvkayT-tp8Ekb7IhVT1Dsoe6GmUQvA">
            <a:hlinkClick r:id="rId4"/>
          </p:cNvPr>
          <p:cNvPicPr>
            <a:picLocks noChangeAspect="1" noChangeArrowheads="1"/>
          </p:cNvPicPr>
          <p:nvPr/>
        </p:nvPicPr>
        <p:blipFill>
          <a:blip r:embed="rId5" cstate="print"/>
          <a:srcRect/>
          <a:stretch>
            <a:fillRect/>
          </a:stretch>
        </p:blipFill>
        <p:spPr bwMode="auto">
          <a:xfrm>
            <a:off x="5181600" y="1524000"/>
            <a:ext cx="3514725" cy="2019300"/>
          </a:xfrm>
          <a:prstGeom prst="rect">
            <a:avLst/>
          </a:prstGeom>
          <a:noFill/>
          <a:ln w="9525">
            <a:noFill/>
            <a:miter lim="800000"/>
            <a:headEnd/>
            <a:tailEnd/>
          </a:ln>
        </p:spPr>
      </p:pic>
      <p:pic>
        <p:nvPicPr>
          <p:cNvPr id="73736" name="Picture 13" descr="http://t3.gstatic.com/images?q=tbn:ANd9GcRRSYQlwL1pnk823w2AsNV5RF9LD1eknyjZKdWMRKSeIiUeKSSg">
            <a:hlinkClick r:id="rId6"/>
          </p:cNvPr>
          <p:cNvPicPr>
            <a:picLocks noChangeAspect="1" noChangeArrowheads="1"/>
          </p:cNvPicPr>
          <p:nvPr/>
        </p:nvPicPr>
        <p:blipFill>
          <a:blip r:embed="rId7" cstate="print"/>
          <a:srcRect/>
          <a:stretch>
            <a:fillRect/>
          </a:stretch>
        </p:blipFill>
        <p:spPr bwMode="auto">
          <a:xfrm>
            <a:off x="1066800" y="3962400"/>
            <a:ext cx="3124200" cy="2133600"/>
          </a:xfrm>
          <a:prstGeom prst="rect">
            <a:avLst/>
          </a:prstGeom>
          <a:noFill/>
          <a:ln w="9525">
            <a:noFill/>
            <a:miter lim="800000"/>
            <a:headEnd/>
            <a:tailEnd/>
          </a:ln>
        </p:spPr>
      </p:pic>
      <p:pic>
        <p:nvPicPr>
          <p:cNvPr id="73737" name="il_fi" descr="http://1.imimg.com/data/9/U/MY-382520/environmental-20-26-20social-20impact-20assessment-20services_10625914_250x250.jpg"/>
          <p:cNvPicPr>
            <a:picLocks noChangeAspect="1" noChangeArrowheads="1"/>
          </p:cNvPicPr>
          <p:nvPr/>
        </p:nvPicPr>
        <p:blipFill>
          <a:blip r:embed="rId8" cstate="print"/>
          <a:srcRect/>
          <a:stretch>
            <a:fillRect/>
          </a:stretch>
        </p:blipFill>
        <p:spPr bwMode="auto">
          <a:xfrm>
            <a:off x="5257800" y="3810000"/>
            <a:ext cx="2895600" cy="2286000"/>
          </a:xfrm>
          <a:prstGeom prst="rect">
            <a:avLst/>
          </a:prstGeom>
          <a:noFill/>
          <a:ln w="9525">
            <a:noFill/>
            <a:miter lim="800000"/>
            <a:headEnd/>
            <a:tailEnd/>
          </a:ln>
        </p:spPr>
      </p:pic>
      <p:pic>
        <p:nvPicPr>
          <p:cNvPr id="10" name="Picture 9"/>
          <p:cNvPicPr/>
          <p:nvPr/>
        </p:nvPicPr>
        <p:blipFill>
          <a:blip r:embed="rId9"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solidFill>
            <a:schemeClr val="accent5">
              <a:lumMod val="20000"/>
              <a:lumOff val="80000"/>
            </a:schemeClr>
          </a:solidFill>
        </p:spPr>
        <p:txBody>
          <a:bodyPr/>
          <a:lstStyle/>
          <a:p>
            <a:pPr>
              <a:defRPr/>
            </a:pPr>
            <a:r>
              <a:rPr lang="en-US" sz="3200" b="1" dirty="0" smtClean="0">
                <a:solidFill>
                  <a:srgbClr val="0000CC"/>
                </a:solidFill>
                <a:latin typeface="Times New Roman" pitchFamily="18" charset="0"/>
                <a:cs typeface="Times New Roman" pitchFamily="18" charset="0"/>
              </a:rPr>
              <a:t>Infrastructure Developmental Activities Requiring Environmental Clearance</a:t>
            </a:r>
            <a:endParaRPr lang="en-US" sz="3200" dirty="0" smtClean="0">
              <a:solidFill>
                <a:srgbClr val="0000CC"/>
              </a:solidFill>
              <a:latin typeface="Times New Roman" pitchFamily="18" charset="0"/>
              <a:cs typeface="Times New Roman" pitchFamily="18" charset="0"/>
            </a:endParaRPr>
          </a:p>
        </p:txBody>
      </p:sp>
      <p:sp>
        <p:nvSpPr>
          <p:cNvPr id="4" name="Date Placeholder 3"/>
          <p:cNvSpPr>
            <a:spLocks noGrp="1"/>
          </p:cNvSpPr>
          <p:nvPr>
            <p:ph type="dt" sz="quarter" idx="10"/>
          </p:nvPr>
        </p:nvSpPr>
        <p:spPr/>
        <p:txBody>
          <a:bodyPr/>
          <a:lstStyle/>
          <a:p>
            <a:pPr>
              <a:defRPr/>
            </a:pPr>
            <a:fld id="{3A217B47-9ABF-4B33-B260-291EE1091042}"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9C5B67A6-BFAF-47A2-B9C5-EF486B2F002A}" type="slidenum">
              <a:rPr lang="en-US" smtClean="0"/>
              <a:pPr>
                <a:defRPr/>
              </a:pPr>
              <a:t>60</a:t>
            </a:fld>
            <a:endParaRPr lang="en-US" dirty="0"/>
          </a:p>
        </p:txBody>
      </p:sp>
      <p:pic>
        <p:nvPicPr>
          <p:cNvPr id="74758" name="rg_hi" descr="http://t3.gstatic.com/images?q=tbn:ANd9GcTVaAtrhu3BjSvC4U2fO0dhks-Wg7PDjAOVjkP_AjRi8pcOQeRe">
            <a:hlinkClick r:id="rId2"/>
          </p:cNvPr>
          <p:cNvPicPr>
            <a:picLocks noGrp="1"/>
          </p:cNvPicPr>
          <p:nvPr>
            <p:ph idx="1"/>
          </p:nvPr>
        </p:nvPicPr>
        <p:blipFill>
          <a:blip r:embed="rId3" cstate="print"/>
          <a:srcRect/>
          <a:stretch>
            <a:fillRect/>
          </a:stretch>
        </p:blipFill>
        <p:spPr>
          <a:xfrm>
            <a:off x="1066800" y="1828800"/>
            <a:ext cx="3429000" cy="2209800"/>
          </a:xfrm>
        </p:spPr>
      </p:pic>
      <p:pic>
        <p:nvPicPr>
          <p:cNvPr id="74759" name="rg_hi" descr="http://t0.gstatic.com/images?q=tbn:ANd9GcTqWpD1oNA7flu9SPqGTnf-mBScMQbfO0BskPGtGu8LuyeVKxAC">
            <a:hlinkClick r:id="rId4"/>
          </p:cNvPr>
          <p:cNvPicPr>
            <a:picLocks noChangeAspect="1" noChangeArrowheads="1"/>
          </p:cNvPicPr>
          <p:nvPr/>
        </p:nvPicPr>
        <p:blipFill>
          <a:blip r:embed="rId5" cstate="print"/>
          <a:srcRect/>
          <a:stretch>
            <a:fillRect/>
          </a:stretch>
        </p:blipFill>
        <p:spPr bwMode="auto">
          <a:xfrm>
            <a:off x="4876800" y="1752600"/>
            <a:ext cx="3581400" cy="2286000"/>
          </a:xfrm>
          <a:prstGeom prst="rect">
            <a:avLst/>
          </a:prstGeom>
          <a:noFill/>
          <a:ln w="9525">
            <a:noFill/>
            <a:miter lim="800000"/>
            <a:headEnd/>
            <a:tailEnd/>
          </a:ln>
        </p:spPr>
      </p:pic>
      <p:pic>
        <p:nvPicPr>
          <p:cNvPr id="74760" name="rg_hi" descr="http://t3.gstatic.com/images?q=tbn:ANd9GcQDs94q-qmO305K0Nv9Z4TYl5XGrGHgD83JvmyS1-VY1M-SrF_b">
            <a:hlinkClick r:id="rId6"/>
          </p:cNvPr>
          <p:cNvPicPr>
            <a:picLocks noChangeAspect="1" noChangeArrowheads="1"/>
          </p:cNvPicPr>
          <p:nvPr/>
        </p:nvPicPr>
        <p:blipFill>
          <a:blip r:embed="rId7" cstate="print"/>
          <a:srcRect/>
          <a:stretch>
            <a:fillRect/>
          </a:stretch>
        </p:blipFill>
        <p:spPr bwMode="auto">
          <a:xfrm>
            <a:off x="2895600" y="4267200"/>
            <a:ext cx="3505200" cy="2133600"/>
          </a:xfrm>
          <a:prstGeom prst="rect">
            <a:avLst/>
          </a:prstGeom>
          <a:noFill/>
          <a:ln w="9525">
            <a:noFill/>
            <a:miter lim="800000"/>
            <a:headEnd/>
            <a:tailEnd/>
          </a:ln>
        </p:spPr>
      </p:pic>
      <p:pic>
        <p:nvPicPr>
          <p:cNvPr id="9" name="Picture 8"/>
          <p:cNvPicPr/>
          <p:nvPr/>
        </p:nvPicPr>
        <p:blipFill>
          <a:blip r:embed="rId8"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304800" y="274638"/>
            <a:ext cx="8686800" cy="1020762"/>
          </a:xfrm>
        </p:spPr>
        <p:txBody>
          <a:bodyPr>
            <a:normAutofit fontScale="90000"/>
          </a:bodyPr>
          <a:lstStyle/>
          <a:p>
            <a:r>
              <a:rPr lang="en-US" altLang="en-US" sz="2400" b="1" smtClean="0">
                <a:solidFill>
                  <a:srgbClr val="0000CC"/>
                </a:solidFill>
                <a:latin typeface="Times New Roman" pitchFamily="18" charset="0"/>
                <a:cs typeface="Times New Roman" pitchFamily="18" charset="0"/>
              </a:rPr>
              <a:t>SCHEDULE</a:t>
            </a:r>
            <a:r>
              <a:rPr lang="en-US" altLang="en-US" sz="2000" smtClean="0">
                <a:solidFill>
                  <a:srgbClr val="0000CC"/>
                </a:solidFill>
                <a:latin typeface="Times New Roman" pitchFamily="18" charset="0"/>
                <a:cs typeface="Times New Roman" pitchFamily="18" charset="0"/>
              </a:rPr>
              <a:t/>
            </a:r>
            <a:br>
              <a:rPr lang="en-US" altLang="en-US" sz="2000" smtClean="0">
                <a:solidFill>
                  <a:srgbClr val="0000CC"/>
                </a:solidFill>
                <a:latin typeface="Times New Roman" pitchFamily="18" charset="0"/>
                <a:cs typeface="Times New Roman" pitchFamily="18" charset="0"/>
              </a:rPr>
            </a:br>
            <a:r>
              <a:rPr lang="en-US" altLang="en-US" sz="2000" b="1" smtClean="0">
                <a:solidFill>
                  <a:srgbClr val="0000CC"/>
                </a:solidFill>
                <a:latin typeface="Times New Roman" pitchFamily="18" charset="0"/>
                <a:cs typeface="Times New Roman" pitchFamily="18" charset="0"/>
              </a:rPr>
              <a:t>   (See paragraph 2 and 7)</a:t>
            </a:r>
            <a:br>
              <a:rPr lang="en-US" altLang="en-US" sz="2000" b="1" smtClean="0">
                <a:solidFill>
                  <a:srgbClr val="0000CC"/>
                </a:solidFill>
                <a:latin typeface="Times New Roman" pitchFamily="18" charset="0"/>
                <a:cs typeface="Times New Roman" pitchFamily="18" charset="0"/>
              </a:rPr>
            </a:br>
            <a:r>
              <a:rPr lang="en-US" altLang="en-US" sz="2000" b="1" smtClean="0">
                <a:solidFill>
                  <a:srgbClr val="0000CC"/>
                </a:solidFill>
                <a:latin typeface="Times New Roman" pitchFamily="18" charset="0"/>
                <a:cs typeface="Times New Roman" pitchFamily="18" charset="0"/>
              </a:rPr>
              <a:t>Select list Of Projects Or Activities Requiring Prior Environmental Clearance</a:t>
            </a:r>
            <a:endParaRPr lang="en-US" altLang="en-US" sz="2000" smtClean="0">
              <a:solidFill>
                <a:srgbClr val="0000CC"/>
              </a:solidFill>
              <a:latin typeface="Times New Roman" pitchFamily="18" charset="0"/>
              <a:cs typeface="Times New Roman" pitchFamily="18" charset="0"/>
            </a:endParaRPr>
          </a:p>
        </p:txBody>
      </p:sp>
      <p:graphicFrame>
        <p:nvGraphicFramePr>
          <p:cNvPr id="7" name="Content Placeholder 6"/>
          <p:cNvGraphicFramePr>
            <a:graphicFrameLocks noGrp="1"/>
          </p:cNvGraphicFramePr>
          <p:nvPr>
            <p:ph idx="1"/>
          </p:nvPr>
        </p:nvGraphicFramePr>
        <p:xfrm>
          <a:off x="381000" y="1371600"/>
          <a:ext cx="8382000" cy="5110162"/>
        </p:xfrm>
        <a:graphic>
          <a:graphicData uri="http://schemas.openxmlformats.org/drawingml/2006/table">
            <a:tbl>
              <a:tblPr/>
              <a:tblGrid>
                <a:gridCol w="566879"/>
                <a:gridCol w="2633521"/>
                <a:gridCol w="2362200"/>
                <a:gridCol w="2819400"/>
              </a:tblGrid>
              <a:tr h="527937">
                <a:tc>
                  <a:txBody>
                    <a:bodyPr/>
                    <a:lstStyle/>
                    <a:p>
                      <a:pPr marL="0" marR="0" algn="just">
                        <a:lnSpc>
                          <a:spcPct val="115000"/>
                        </a:lnSpc>
                        <a:spcBef>
                          <a:spcPts val="0"/>
                        </a:spcBef>
                        <a:spcAft>
                          <a:spcPts val="0"/>
                        </a:spcAft>
                      </a:pPr>
                      <a:r>
                        <a:rPr lang="en-US" sz="1200" dirty="0">
                          <a:effectLst/>
                          <a:latin typeface="Times New Roman"/>
                          <a:ea typeface="Calibri"/>
                          <a:cs typeface="Times New Roman"/>
                        </a:rPr>
                        <a:t> </a:t>
                      </a:r>
                      <a:endParaRPr lang="en-US" sz="1200"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 </a:t>
                      </a:r>
                      <a:r>
                        <a:rPr lang="en-US" sz="1200" b="1" dirty="0" smtClean="0">
                          <a:solidFill>
                            <a:srgbClr val="FF0000"/>
                          </a:solidFill>
                          <a:effectLst/>
                          <a:latin typeface="Times New Roman"/>
                          <a:ea typeface="Calibri"/>
                          <a:cs typeface="Times New Roman"/>
                        </a:rPr>
                        <a:t>Project/Activity</a:t>
                      </a:r>
                      <a:endParaRPr lang="en-US" sz="1200" b="1"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b="1" dirty="0">
                          <a:solidFill>
                            <a:srgbClr val="FF0000"/>
                          </a:solidFill>
                          <a:effectLst/>
                          <a:latin typeface="Times New Roman"/>
                          <a:ea typeface="Calibri"/>
                          <a:cs typeface="Times New Roman"/>
                        </a:rPr>
                        <a:t>‘</a:t>
                      </a:r>
                      <a:r>
                        <a:rPr lang="en-US" sz="1400" b="1" dirty="0">
                          <a:solidFill>
                            <a:srgbClr val="FF0000"/>
                          </a:solidFill>
                          <a:effectLst/>
                          <a:latin typeface="Times New Roman"/>
                          <a:ea typeface="Calibri"/>
                          <a:cs typeface="Times New Roman"/>
                        </a:rPr>
                        <a:t>A’ Category</a:t>
                      </a:r>
                      <a:r>
                        <a:rPr lang="en-US" sz="1200" b="1" dirty="0">
                          <a:solidFill>
                            <a:srgbClr val="FF0000"/>
                          </a:solidFill>
                          <a:effectLst/>
                          <a:latin typeface="Times New Roman"/>
                          <a:ea typeface="Calibri"/>
                          <a:cs typeface="Times New Roman"/>
                        </a:rPr>
                        <a:t> with threshold limit</a:t>
                      </a:r>
                      <a:endParaRPr lang="en-US" sz="1200" b="1"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solidFill>
                            <a:srgbClr val="FF0000"/>
                          </a:solidFill>
                          <a:effectLst/>
                          <a:latin typeface="Times New Roman"/>
                          <a:ea typeface="Calibri"/>
                          <a:cs typeface="Times New Roman"/>
                        </a:rPr>
                        <a:t>‘B’ Category </a:t>
                      </a:r>
                      <a:r>
                        <a:rPr lang="en-US" sz="1200" b="1" dirty="0">
                          <a:solidFill>
                            <a:srgbClr val="FF0000"/>
                          </a:solidFill>
                          <a:effectLst/>
                          <a:latin typeface="Times New Roman"/>
                          <a:ea typeface="Calibri"/>
                          <a:cs typeface="Times New Roman"/>
                        </a:rPr>
                        <a:t>with threshold limit</a:t>
                      </a:r>
                      <a:endParaRPr lang="en-US" sz="1200" b="1" dirty="0">
                        <a:solidFill>
                          <a:srgbClr val="FF0000"/>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6350">
                <a:tc gridSpan="4">
                  <a:txBody>
                    <a:bodyPr/>
                    <a:lstStyle/>
                    <a:p>
                      <a:pPr marL="342900" marR="0" lvl="0" indent="-342900" algn="just">
                        <a:lnSpc>
                          <a:spcPct val="115000"/>
                        </a:lnSpc>
                        <a:spcBef>
                          <a:spcPts val="0"/>
                        </a:spcBef>
                        <a:spcAft>
                          <a:spcPts val="0"/>
                        </a:spcAft>
                        <a:buFont typeface="+mj-lt"/>
                        <a:buAutoNum type="arabicPeriod"/>
                      </a:pPr>
                      <a:r>
                        <a:rPr lang="en-US" sz="1400" b="1" dirty="0">
                          <a:solidFill>
                            <a:srgbClr val="0000CC"/>
                          </a:solidFill>
                          <a:effectLst/>
                          <a:latin typeface="Times New Roman"/>
                          <a:ea typeface="Calibri"/>
                          <a:cs typeface="Times New Roman"/>
                        </a:rPr>
                        <a:t>Mining, extraction of natural resources and power generation (for a </a:t>
                      </a:r>
                      <a:r>
                        <a:rPr lang="en-US" sz="1400" b="1" dirty="0" smtClean="0">
                          <a:solidFill>
                            <a:srgbClr val="0000CC"/>
                          </a:solidFill>
                          <a:effectLst/>
                          <a:latin typeface="Times New Roman"/>
                          <a:ea typeface="Calibri"/>
                          <a:cs typeface="Times New Roman"/>
                        </a:rPr>
                        <a:t>specified</a:t>
                      </a:r>
                      <a:r>
                        <a:rPr lang="en-US" sz="1400" b="1" baseline="0" dirty="0">
                          <a:solidFill>
                            <a:srgbClr val="0000CC"/>
                          </a:solidFill>
                          <a:effectLst/>
                          <a:latin typeface="Calibri"/>
                          <a:ea typeface="Calibri"/>
                          <a:cs typeface="Times New Roman"/>
                        </a:rPr>
                        <a:t> </a:t>
                      </a:r>
                      <a:r>
                        <a:rPr lang="en-US" sz="1400" b="1" dirty="0" smtClean="0">
                          <a:solidFill>
                            <a:srgbClr val="0000CC"/>
                          </a:solidFill>
                          <a:effectLst/>
                          <a:latin typeface="Times New Roman"/>
                          <a:ea typeface="Calibri"/>
                          <a:cs typeface="Times New Roman"/>
                        </a:rPr>
                        <a:t>production </a:t>
                      </a:r>
                      <a:r>
                        <a:rPr lang="en-US" sz="1400" b="1" dirty="0">
                          <a:solidFill>
                            <a:srgbClr val="0000CC"/>
                          </a:solidFill>
                          <a:effectLst/>
                          <a:latin typeface="Times New Roman"/>
                          <a:ea typeface="Calibri"/>
                          <a:cs typeface="Times New Roman"/>
                        </a:rPr>
                        <a:t>capacity)</a:t>
                      </a:r>
                      <a:endParaRPr lang="en-US" sz="14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r>
              <a:tr h="272611">
                <a:tc>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1 (a)</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b="1" dirty="0">
                          <a:solidFill>
                            <a:srgbClr val="0000CC"/>
                          </a:solidFill>
                          <a:effectLst/>
                          <a:latin typeface="Times New Roman"/>
                          <a:ea typeface="Calibri"/>
                          <a:cs typeface="Times New Roman"/>
                        </a:rPr>
                        <a:t>Mining of minerals</a:t>
                      </a:r>
                      <a:endParaRPr lang="en-US" sz="12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b="1">
                          <a:effectLst/>
                          <a:latin typeface="Symbol"/>
                          <a:ea typeface="Calibri"/>
                          <a:cs typeface="Symbol"/>
                        </a:rPr>
                        <a:t>³</a:t>
                      </a:r>
                      <a:r>
                        <a:rPr lang="en-US" sz="1200" b="1">
                          <a:effectLst/>
                          <a:latin typeface="Times New Roman"/>
                          <a:ea typeface="Calibri"/>
                          <a:cs typeface="Times New Roman"/>
                        </a:rPr>
                        <a:t>50 ha. of mining lease area</a:t>
                      </a:r>
                      <a:endParaRPr lang="en-US" sz="1200" b="1">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&lt;50 ha of mining lease area</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39946">
                <a:tc>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1 (c)</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River Valley</a:t>
                      </a:r>
                      <a:endParaRPr lang="en-US" sz="1200" b="1" dirty="0">
                        <a:solidFill>
                          <a:srgbClr val="0000CC"/>
                        </a:solidFill>
                        <a:effectLst/>
                        <a:latin typeface="Calibri"/>
                        <a:ea typeface="Calibri"/>
                        <a:cs typeface="Times New Roman"/>
                      </a:endParaRPr>
                    </a:p>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projects</a:t>
                      </a:r>
                      <a:endParaRPr lang="en-US" sz="12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a:effectLst/>
                          <a:latin typeface="Times New Roman"/>
                          <a:ea typeface="Calibri"/>
                          <a:cs typeface="Times New Roman"/>
                        </a:rPr>
                        <a:t>(i) </a:t>
                      </a:r>
                      <a:r>
                        <a:rPr lang="en-US" sz="1200" b="1">
                          <a:effectLst/>
                          <a:latin typeface="Symbol"/>
                          <a:ea typeface="Calibri"/>
                          <a:cs typeface="Symbol"/>
                        </a:rPr>
                        <a:t>³</a:t>
                      </a:r>
                      <a:r>
                        <a:rPr lang="en-US" sz="1200" b="1">
                          <a:effectLst/>
                          <a:latin typeface="Times New Roman"/>
                          <a:ea typeface="Calibri"/>
                          <a:cs typeface="Times New Roman"/>
                        </a:rPr>
                        <a:t> 50 MW hydroelectric</a:t>
                      </a:r>
                      <a:endParaRPr lang="en-US" sz="1200" b="1">
                        <a:effectLst/>
                        <a:latin typeface="Calibri"/>
                        <a:ea typeface="Calibri"/>
                        <a:cs typeface="Times New Roman"/>
                      </a:endParaRPr>
                    </a:p>
                    <a:p>
                      <a:pPr marL="0" marR="0" algn="l">
                        <a:lnSpc>
                          <a:spcPct val="115000"/>
                        </a:lnSpc>
                        <a:spcBef>
                          <a:spcPts val="0"/>
                        </a:spcBef>
                        <a:spcAft>
                          <a:spcPts val="0"/>
                        </a:spcAft>
                      </a:pPr>
                      <a:r>
                        <a:rPr lang="en-US" sz="1200" b="1">
                          <a:effectLst/>
                          <a:latin typeface="Times New Roman"/>
                          <a:ea typeface="Calibri"/>
                          <a:cs typeface="Times New Roman"/>
                        </a:rPr>
                        <a:t>power generation;</a:t>
                      </a:r>
                      <a:endParaRPr lang="en-US" sz="1200" b="1">
                        <a:effectLst/>
                        <a:latin typeface="Calibri"/>
                        <a:ea typeface="Calibri"/>
                        <a:cs typeface="Times New Roman"/>
                      </a:endParaRPr>
                    </a:p>
                    <a:p>
                      <a:pPr marL="0" marR="0" algn="l">
                        <a:lnSpc>
                          <a:spcPct val="115000"/>
                        </a:lnSpc>
                        <a:spcBef>
                          <a:spcPts val="0"/>
                        </a:spcBef>
                        <a:spcAft>
                          <a:spcPts val="0"/>
                        </a:spcAft>
                      </a:pPr>
                      <a:r>
                        <a:rPr lang="en-US" sz="1200" b="1">
                          <a:effectLst/>
                          <a:latin typeface="Times New Roman"/>
                          <a:ea typeface="Calibri"/>
                          <a:cs typeface="Times New Roman"/>
                        </a:rPr>
                        <a:t>(ii) </a:t>
                      </a:r>
                      <a:r>
                        <a:rPr lang="en-US" sz="1200" b="1">
                          <a:effectLst/>
                          <a:latin typeface="Symbol"/>
                          <a:ea typeface="Calibri"/>
                          <a:cs typeface="Symbol"/>
                        </a:rPr>
                        <a:t>³</a:t>
                      </a:r>
                      <a:r>
                        <a:rPr lang="en-US" sz="1200" b="1">
                          <a:effectLst/>
                          <a:latin typeface="Times New Roman"/>
                          <a:ea typeface="Calibri"/>
                          <a:cs typeface="Times New Roman"/>
                        </a:rPr>
                        <a:t> 10,000 ha. of culturable</a:t>
                      </a:r>
                      <a:endParaRPr lang="en-US" sz="1200" b="1">
                        <a:effectLst/>
                        <a:latin typeface="Calibri"/>
                        <a:ea typeface="Calibri"/>
                        <a:cs typeface="Times New Roman"/>
                      </a:endParaRPr>
                    </a:p>
                    <a:p>
                      <a:pPr marL="0" marR="0" algn="just">
                        <a:lnSpc>
                          <a:spcPct val="115000"/>
                        </a:lnSpc>
                        <a:spcBef>
                          <a:spcPts val="0"/>
                        </a:spcBef>
                        <a:spcAft>
                          <a:spcPts val="0"/>
                        </a:spcAft>
                      </a:pPr>
                      <a:r>
                        <a:rPr lang="en-US" sz="1200" b="1">
                          <a:effectLst/>
                          <a:latin typeface="Times New Roman"/>
                          <a:ea typeface="Calibri"/>
                          <a:cs typeface="Times New Roman"/>
                        </a:rPr>
                        <a:t>command area</a:t>
                      </a:r>
                      <a:endParaRPr lang="en-US" sz="1200" b="1">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dirty="0">
                          <a:effectLst/>
                          <a:latin typeface="Times New Roman"/>
                          <a:ea typeface="Calibri"/>
                          <a:cs typeface="Times New Roman"/>
                        </a:rPr>
                        <a:t>(</a:t>
                      </a:r>
                      <a:r>
                        <a:rPr lang="en-US" sz="1200" b="1" dirty="0" err="1">
                          <a:effectLst/>
                          <a:latin typeface="Times New Roman"/>
                          <a:ea typeface="Calibri"/>
                          <a:cs typeface="Times New Roman"/>
                        </a:rPr>
                        <a:t>i</a:t>
                      </a:r>
                      <a:r>
                        <a:rPr lang="en-US" sz="1200" b="1" dirty="0">
                          <a:effectLst/>
                          <a:latin typeface="Times New Roman"/>
                          <a:ea typeface="Calibri"/>
                          <a:cs typeface="Times New Roman"/>
                        </a:rPr>
                        <a:t>) &lt; 50 MW  </a:t>
                      </a:r>
                      <a:r>
                        <a:rPr lang="en-US" sz="1200" b="1" dirty="0">
                          <a:effectLst/>
                          <a:latin typeface="Symbol"/>
                          <a:ea typeface="Calibri"/>
                          <a:cs typeface="Symbol"/>
                        </a:rPr>
                        <a:t>³</a:t>
                      </a:r>
                      <a:r>
                        <a:rPr lang="en-US" sz="1200" b="1" dirty="0">
                          <a:effectLst/>
                          <a:latin typeface="Times New Roman"/>
                          <a:ea typeface="Calibri"/>
                          <a:cs typeface="Times New Roman"/>
                        </a:rPr>
                        <a:t>25 MW hydroelectric</a:t>
                      </a:r>
                      <a:endParaRPr lang="en-US" sz="1200" b="1" dirty="0">
                        <a:effectLst/>
                        <a:latin typeface="Calibri"/>
                        <a:ea typeface="Calibri"/>
                        <a:cs typeface="Times New Roman"/>
                      </a:endParaRPr>
                    </a:p>
                    <a:p>
                      <a:pPr marL="0" marR="0" algn="l">
                        <a:lnSpc>
                          <a:spcPct val="115000"/>
                        </a:lnSpc>
                        <a:spcBef>
                          <a:spcPts val="0"/>
                        </a:spcBef>
                        <a:spcAft>
                          <a:spcPts val="0"/>
                        </a:spcAft>
                      </a:pPr>
                      <a:r>
                        <a:rPr lang="en-US" sz="1200" b="1" dirty="0">
                          <a:effectLst/>
                          <a:latin typeface="Times New Roman"/>
                          <a:ea typeface="Calibri"/>
                          <a:cs typeface="Times New Roman"/>
                        </a:rPr>
                        <a:t>power generation;</a:t>
                      </a:r>
                      <a:endParaRPr lang="en-US" sz="1200" b="1" dirty="0">
                        <a:effectLst/>
                        <a:latin typeface="Calibri"/>
                        <a:ea typeface="Calibri"/>
                        <a:cs typeface="Times New Roman"/>
                      </a:endParaRPr>
                    </a:p>
                    <a:p>
                      <a:pPr marL="0" marR="0" algn="l">
                        <a:lnSpc>
                          <a:spcPct val="115000"/>
                        </a:lnSpc>
                        <a:spcBef>
                          <a:spcPts val="0"/>
                        </a:spcBef>
                        <a:spcAft>
                          <a:spcPts val="0"/>
                        </a:spcAft>
                      </a:pPr>
                      <a:r>
                        <a:rPr lang="en-US" sz="1200" b="1" dirty="0">
                          <a:effectLst/>
                          <a:latin typeface="Times New Roman"/>
                          <a:ea typeface="Calibri"/>
                          <a:cs typeface="Times New Roman"/>
                        </a:rPr>
                        <a:t>(ii) &lt; 10,000 ha. Of </a:t>
                      </a:r>
                      <a:r>
                        <a:rPr lang="en-US" sz="1200" b="1" dirty="0" err="1">
                          <a:effectLst/>
                          <a:latin typeface="Times New Roman"/>
                          <a:ea typeface="Calibri"/>
                          <a:cs typeface="Times New Roman"/>
                        </a:rPr>
                        <a:t>culturable</a:t>
                      </a:r>
                      <a:r>
                        <a:rPr lang="en-US" sz="1200" b="1" dirty="0">
                          <a:effectLst/>
                          <a:latin typeface="Times New Roman"/>
                          <a:ea typeface="Calibri"/>
                          <a:cs typeface="Times New Roman"/>
                        </a:rPr>
                        <a:t> command area</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72130">
                <a:tc>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1 (d)</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Thermal Power</a:t>
                      </a:r>
                      <a:endParaRPr lang="en-US" sz="1200" b="1" dirty="0">
                        <a:solidFill>
                          <a:srgbClr val="0000CC"/>
                        </a:solidFill>
                        <a:effectLst/>
                        <a:latin typeface="Calibri"/>
                        <a:ea typeface="Calibri"/>
                        <a:cs typeface="Times New Roman"/>
                      </a:endParaRPr>
                    </a:p>
                    <a:p>
                      <a:pPr marL="0" marR="0" algn="just">
                        <a:lnSpc>
                          <a:spcPct val="115000"/>
                        </a:lnSpc>
                        <a:spcBef>
                          <a:spcPts val="0"/>
                        </a:spcBef>
                        <a:spcAft>
                          <a:spcPts val="0"/>
                        </a:spcAft>
                      </a:pPr>
                      <a:r>
                        <a:rPr lang="en-US" sz="1200" b="1" dirty="0">
                          <a:solidFill>
                            <a:srgbClr val="0000CC"/>
                          </a:solidFill>
                          <a:effectLst/>
                          <a:latin typeface="Times New Roman"/>
                          <a:ea typeface="Calibri"/>
                          <a:cs typeface="Times New Roman"/>
                        </a:rPr>
                        <a:t>Plants</a:t>
                      </a:r>
                      <a:endParaRPr lang="en-US" sz="12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a:effectLst/>
                          <a:latin typeface="Symbol"/>
                          <a:ea typeface="Calibri"/>
                          <a:cs typeface="Symbol"/>
                        </a:rPr>
                        <a:t>³</a:t>
                      </a:r>
                      <a:r>
                        <a:rPr lang="en-US" sz="1200" b="1">
                          <a:effectLst/>
                          <a:latin typeface="Times New Roman"/>
                          <a:ea typeface="Calibri"/>
                          <a:cs typeface="Times New Roman"/>
                        </a:rPr>
                        <a:t> 500 MW (coal/lignite/naphta</a:t>
                      </a:r>
                      <a:endParaRPr lang="en-US" sz="1200" b="1">
                        <a:effectLst/>
                        <a:latin typeface="Calibri"/>
                        <a:ea typeface="Calibri"/>
                        <a:cs typeface="Times New Roman"/>
                      </a:endParaRPr>
                    </a:p>
                    <a:p>
                      <a:pPr marL="0" marR="0" algn="l">
                        <a:lnSpc>
                          <a:spcPct val="115000"/>
                        </a:lnSpc>
                        <a:spcBef>
                          <a:spcPts val="0"/>
                        </a:spcBef>
                        <a:spcAft>
                          <a:spcPts val="0"/>
                        </a:spcAft>
                      </a:pPr>
                      <a:r>
                        <a:rPr lang="en-US" sz="1200" b="1">
                          <a:effectLst/>
                          <a:latin typeface="Times New Roman"/>
                          <a:ea typeface="Calibri"/>
                          <a:cs typeface="Times New Roman"/>
                        </a:rPr>
                        <a:t>&amp; gas based);</a:t>
                      </a:r>
                      <a:endParaRPr lang="en-US" sz="1200" b="1">
                        <a:effectLst/>
                        <a:latin typeface="Calibri"/>
                        <a:ea typeface="Calibri"/>
                        <a:cs typeface="Times New Roman"/>
                      </a:endParaRPr>
                    </a:p>
                    <a:p>
                      <a:pPr marL="0" marR="0" algn="l">
                        <a:lnSpc>
                          <a:spcPct val="115000"/>
                        </a:lnSpc>
                        <a:spcBef>
                          <a:spcPts val="0"/>
                        </a:spcBef>
                        <a:spcAft>
                          <a:spcPts val="0"/>
                        </a:spcAft>
                      </a:pPr>
                      <a:r>
                        <a:rPr lang="en-US" sz="1200" b="1">
                          <a:effectLst/>
                          <a:latin typeface="Symbol"/>
                          <a:ea typeface="Calibri"/>
                          <a:cs typeface="Symbol"/>
                        </a:rPr>
                        <a:t>³</a:t>
                      </a:r>
                      <a:r>
                        <a:rPr lang="en-US" sz="1200" b="1">
                          <a:effectLst/>
                          <a:latin typeface="Times New Roman"/>
                          <a:ea typeface="Calibri"/>
                          <a:cs typeface="Times New Roman"/>
                        </a:rPr>
                        <a:t> 50 MW (Pet coke diesel and</a:t>
                      </a:r>
                      <a:endParaRPr lang="en-US" sz="1200" b="1">
                        <a:effectLst/>
                        <a:latin typeface="Calibri"/>
                        <a:ea typeface="Calibri"/>
                        <a:cs typeface="Times New Roman"/>
                      </a:endParaRPr>
                    </a:p>
                    <a:p>
                      <a:pPr marL="0" marR="0" algn="just">
                        <a:lnSpc>
                          <a:spcPct val="115000"/>
                        </a:lnSpc>
                        <a:spcBef>
                          <a:spcPts val="0"/>
                        </a:spcBef>
                        <a:spcAft>
                          <a:spcPts val="0"/>
                        </a:spcAft>
                      </a:pPr>
                      <a:r>
                        <a:rPr lang="en-US" sz="1200" b="1">
                          <a:effectLst/>
                          <a:latin typeface="Times New Roman"/>
                          <a:ea typeface="Calibri"/>
                          <a:cs typeface="Times New Roman"/>
                        </a:rPr>
                        <a:t>all other fuels )</a:t>
                      </a:r>
                      <a:endParaRPr lang="en-US" sz="1200" b="1">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dirty="0">
                          <a:effectLst/>
                          <a:latin typeface="Times New Roman"/>
                          <a:ea typeface="Calibri"/>
                          <a:cs typeface="Times New Roman"/>
                        </a:rPr>
                        <a:t>&lt; 500 MW (coal/lignite/</a:t>
                      </a:r>
                      <a:r>
                        <a:rPr lang="en-US" sz="1200" b="1" dirty="0" err="1">
                          <a:effectLst/>
                          <a:latin typeface="Times New Roman"/>
                          <a:ea typeface="Calibri"/>
                          <a:cs typeface="Times New Roman"/>
                        </a:rPr>
                        <a:t>naptha</a:t>
                      </a:r>
                      <a:r>
                        <a:rPr lang="en-US" sz="1200" b="1" dirty="0">
                          <a:effectLst/>
                          <a:latin typeface="Times New Roman"/>
                          <a:ea typeface="Calibri"/>
                          <a:cs typeface="Times New Roman"/>
                        </a:rPr>
                        <a:t> &amp;</a:t>
                      </a:r>
                      <a:endParaRPr lang="en-US" sz="1200" b="1" dirty="0">
                        <a:effectLst/>
                        <a:latin typeface="Calibri"/>
                        <a:ea typeface="Calibri"/>
                        <a:cs typeface="Times New Roman"/>
                      </a:endParaRPr>
                    </a:p>
                    <a:p>
                      <a:pPr marL="0" marR="0" algn="l">
                        <a:lnSpc>
                          <a:spcPct val="115000"/>
                        </a:lnSpc>
                        <a:spcBef>
                          <a:spcPts val="0"/>
                        </a:spcBef>
                        <a:spcAft>
                          <a:spcPts val="0"/>
                        </a:spcAft>
                      </a:pPr>
                      <a:r>
                        <a:rPr lang="en-US" sz="1200" b="1" dirty="0">
                          <a:effectLst/>
                          <a:latin typeface="Times New Roman"/>
                          <a:ea typeface="Calibri"/>
                          <a:cs typeface="Times New Roman"/>
                        </a:rPr>
                        <a:t>gas based);</a:t>
                      </a:r>
                      <a:endParaRPr lang="en-US" sz="1200" b="1" dirty="0">
                        <a:effectLst/>
                        <a:latin typeface="Calibri"/>
                        <a:ea typeface="Calibri"/>
                        <a:cs typeface="Times New Roman"/>
                      </a:endParaRPr>
                    </a:p>
                    <a:p>
                      <a:pPr marL="0" marR="0" algn="l">
                        <a:lnSpc>
                          <a:spcPct val="115000"/>
                        </a:lnSpc>
                        <a:spcBef>
                          <a:spcPts val="0"/>
                        </a:spcBef>
                        <a:spcAft>
                          <a:spcPts val="0"/>
                        </a:spcAft>
                      </a:pPr>
                      <a:r>
                        <a:rPr lang="en-US" sz="1200" b="1" dirty="0">
                          <a:effectLst/>
                          <a:latin typeface="Times New Roman"/>
                          <a:ea typeface="Calibri"/>
                          <a:cs typeface="Times New Roman"/>
                        </a:rPr>
                        <a:t>&lt;50 MW </a:t>
                      </a:r>
                      <a:r>
                        <a:rPr lang="en-US" sz="1200" b="1" dirty="0">
                          <a:effectLst/>
                          <a:latin typeface="Symbol"/>
                          <a:ea typeface="Calibri"/>
                          <a:cs typeface="Symbol"/>
                        </a:rPr>
                        <a:t>³</a:t>
                      </a:r>
                      <a:r>
                        <a:rPr lang="en-US" sz="1200" b="1" dirty="0">
                          <a:effectLst/>
                          <a:latin typeface="Times New Roman"/>
                          <a:ea typeface="Calibri"/>
                          <a:cs typeface="Times New Roman"/>
                        </a:rPr>
                        <a:t>5MW (Pet </a:t>
                      </a:r>
                      <a:r>
                        <a:rPr lang="en-US" sz="1200" b="1" dirty="0" err="1">
                          <a:effectLst/>
                          <a:latin typeface="Times New Roman"/>
                          <a:ea typeface="Calibri"/>
                          <a:cs typeface="Times New Roman"/>
                        </a:rPr>
                        <a:t>coke,diesel</a:t>
                      </a:r>
                      <a:r>
                        <a:rPr lang="en-US" sz="1200" b="1" dirty="0">
                          <a:effectLst/>
                          <a:latin typeface="Times New Roman"/>
                          <a:ea typeface="Calibri"/>
                          <a:cs typeface="Times New Roman"/>
                        </a:rPr>
                        <a:t> and all other fuels )</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326">
                <a:tc gridSpan="4">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      </a:t>
                      </a:r>
                      <a:r>
                        <a:rPr lang="en-US" sz="1400" b="1" dirty="0">
                          <a:solidFill>
                            <a:srgbClr val="0000CC"/>
                          </a:solidFill>
                          <a:effectLst/>
                          <a:latin typeface="Times New Roman"/>
                          <a:ea typeface="Calibri"/>
                          <a:cs typeface="Times New Roman"/>
                        </a:rPr>
                        <a:t>5.    Manufacturing/Fabrication</a:t>
                      </a:r>
                      <a:endParaRPr lang="en-US" sz="14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r>
              <a:tr h="1310640">
                <a:tc>
                  <a:txBody>
                    <a:bodyPr/>
                    <a:lstStyle/>
                    <a:p>
                      <a:pPr marL="0" marR="0" algn="just">
                        <a:lnSpc>
                          <a:spcPct val="115000"/>
                        </a:lnSpc>
                        <a:spcBef>
                          <a:spcPts val="0"/>
                        </a:spcBef>
                        <a:spcAft>
                          <a:spcPts val="0"/>
                        </a:spcAft>
                      </a:pPr>
                      <a:r>
                        <a:rPr lang="en-US" sz="1200" b="1" dirty="0">
                          <a:effectLst/>
                          <a:latin typeface="Times New Roman"/>
                          <a:ea typeface="Calibri"/>
                          <a:cs typeface="Times New Roman"/>
                        </a:rPr>
                        <a:t>5 (</a:t>
                      </a:r>
                      <a:r>
                        <a:rPr lang="en-US" sz="1200" b="1" dirty="0" err="1">
                          <a:effectLst/>
                          <a:latin typeface="Times New Roman"/>
                          <a:ea typeface="Calibri"/>
                          <a:cs typeface="Times New Roman"/>
                        </a:rPr>
                        <a:t>i</a:t>
                      </a:r>
                      <a:r>
                        <a:rPr lang="en-US" sz="1200" b="1" dirty="0">
                          <a:effectLst/>
                          <a:latin typeface="Times New Roman"/>
                          <a:ea typeface="Calibri"/>
                          <a:cs typeface="Times New Roman"/>
                        </a:rPr>
                        <a:t>)</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Pulp &amp; paper industry excluding manufacturing of</a:t>
                      </a:r>
                      <a:endParaRPr lang="en-US" sz="1200" b="1" dirty="0">
                        <a:solidFill>
                          <a:srgbClr val="0000CC"/>
                        </a:solidFill>
                        <a:effectLst/>
                        <a:latin typeface="Calibri"/>
                        <a:ea typeface="Calibri"/>
                        <a:cs typeface="Times New Roman"/>
                      </a:endParaRPr>
                    </a:p>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paper from waste</a:t>
                      </a:r>
                      <a:endParaRPr lang="en-US" sz="1200" b="1" dirty="0">
                        <a:solidFill>
                          <a:srgbClr val="0000CC"/>
                        </a:solidFill>
                        <a:effectLst/>
                        <a:latin typeface="Calibri"/>
                        <a:ea typeface="Calibri"/>
                        <a:cs typeface="Times New Roman"/>
                      </a:endParaRPr>
                    </a:p>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paper and manufacture of paper from ready</a:t>
                      </a:r>
                      <a:endParaRPr lang="en-US" sz="1200" b="1" dirty="0">
                        <a:solidFill>
                          <a:srgbClr val="0000CC"/>
                        </a:solidFill>
                        <a:effectLst/>
                        <a:latin typeface="Calibri"/>
                        <a:ea typeface="Calibri"/>
                        <a:cs typeface="Times New Roman"/>
                      </a:endParaRPr>
                    </a:p>
                    <a:p>
                      <a:pPr marL="0" marR="0" algn="l">
                        <a:lnSpc>
                          <a:spcPct val="115000"/>
                        </a:lnSpc>
                        <a:spcBef>
                          <a:spcPts val="0"/>
                        </a:spcBef>
                        <a:spcAft>
                          <a:spcPts val="0"/>
                        </a:spcAft>
                      </a:pPr>
                      <a:r>
                        <a:rPr lang="en-US" sz="1200" b="1" dirty="0">
                          <a:solidFill>
                            <a:srgbClr val="0000CC"/>
                          </a:solidFill>
                          <a:effectLst/>
                          <a:latin typeface="Times New Roman"/>
                          <a:ea typeface="Calibri"/>
                          <a:cs typeface="Times New Roman"/>
                        </a:rPr>
                        <a:t>pulp without bleaching</a:t>
                      </a:r>
                      <a:endParaRPr lang="en-US" sz="12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a:effectLst/>
                          <a:latin typeface="Times New Roman"/>
                          <a:ea typeface="Calibri"/>
                          <a:cs typeface="Times New Roman"/>
                        </a:rPr>
                        <a:t>Pulp manufacturing and</a:t>
                      </a:r>
                      <a:endParaRPr lang="en-US" sz="1200" b="1">
                        <a:effectLst/>
                        <a:latin typeface="Calibri"/>
                        <a:ea typeface="Calibri"/>
                        <a:cs typeface="Times New Roman"/>
                      </a:endParaRPr>
                    </a:p>
                    <a:p>
                      <a:pPr marL="0" marR="0" algn="l">
                        <a:lnSpc>
                          <a:spcPct val="115000"/>
                        </a:lnSpc>
                        <a:spcBef>
                          <a:spcPts val="0"/>
                        </a:spcBef>
                        <a:spcAft>
                          <a:spcPts val="0"/>
                        </a:spcAft>
                      </a:pPr>
                      <a:r>
                        <a:rPr lang="en-US" sz="1200" b="1">
                          <a:effectLst/>
                          <a:latin typeface="Times New Roman"/>
                          <a:ea typeface="Calibri"/>
                          <a:cs typeface="Times New Roman"/>
                        </a:rPr>
                        <a:t>Pulp&amp; Paper</a:t>
                      </a:r>
                      <a:endParaRPr lang="en-US" sz="1200" b="1">
                        <a:effectLst/>
                        <a:latin typeface="Calibri"/>
                        <a:ea typeface="Calibri"/>
                        <a:cs typeface="Times New Roman"/>
                      </a:endParaRPr>
                    </a:p>
                    <a:p>
                      <a:pPr marL="0" marR="0" algn="just">
                        <a:lnSpc>
                          <a:spcPct val="115000"/>
                        </a:lnSpc>
                        <a:spcBef>
                          <a:spcPts val="0"/>
                        </a:spcBef>
                        <a:spcAft>
                          <a:spcPts val="0"/>
                        </a:spcAft>
                      </a:pPr>
                      <a:r>
                        <a:rPr lang="en-US" sz="1200" b="1">
                          <a:effectLst/>
                          <a:latin typeface="Times New Roman"/>
                          <a:ea typeface="Calibri"/>
                          <a:cs typeface="Times New Roman"/>
                        </a:rPr>
                        <a:t>manufacturing industry</a:t>
                      </a:r>
                      <a:endParaRPr lang="en-US" sz="1200" b="1">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200" b="1" dirty="0">
                          <a:effectLst/>
                          <a:latin typeface="Times New Roman"/>
                          <a:ea typeface="Calibri"/>
                          <a:cs typeface="Times New Roman"/>
                        </a:rPr>
                        <a:t>Paper manufacturing</a:t>
                      </a:r>
                      <a:endParaRPr lang="en-US" sz="1200" b="1" dirty="0">
                        <a:effectLst/>
                        <a:latin typeface="Calibri"/>
                        <a:ea typeface="Calibri"/>
                        <a:cs typeface="Times New Roman"/>
                      </a:endParaRPr>
                    </a:p>
                    <a:p>
                      <a:pPr marL="0" marR="0" algn="l">
                        <a:lnSpc>
                          <a:spcPct val="115000"/>
                        </a:lnSpc>
                        <a:spcBef>
                          <a:spcPts val="0"/>
                        </a:spcBef>
                        <a:spcAft>
                          <a:spcPts val="0"/>
                        </a:spcAft>
                      </a:pPr>
                      <a:r>
                        <a:rPr lang="en-US" sz="1200" b="1" dirty="0">
                          <a:effectLst/>
                          <a:latin typeface="Times New Roman"/>
                          <a:ea typeface="Calibri"/>
                          <a:cs typeface="Times New Roman"/>
                        </a:rPr>
                        <a:t>industry without pulp</a:t>
                      </a:r>
                      <a:endParaRPr lang="en-US" sz="1200" b="1" dirty="0">
                        <a:effectLst/>
                        <a:latin typeface="Calibri"/>
                        <a:ea typeface="Calibri"/>
                        <a:cs typeface="Times New Roman"/>
                      </a:endParaRPr>
                    </a:p>
                    <a:p>
                      <a:pPr marL="0" marR="0" algn="just">
                        <a:lnSpc>
                          <a:spcPct val="115000"/>
                        </a:lnSpc>
                        <a:spcBef>
                          <a:spcPts val="0"/>
                        </a:spcBef>
                        <a:spcAft>
                          <a:spcPts val="0"/>
                        </a:spcAft>
                      </a:pPr>
                      <a:r>
                        <a:rPr lang="en-US" sz="1200" b="1" dirty="0">
                          <a:effectLst/>
                          <a:latin typeface="Times New Roman"/>
                          <a:ea typeface="Calibri"/>
                          <a:cs typeface="Times New Roman"/>
                        </a:rPr>
                        <a:t>manufacturing</a:t>
                      </a:r>
                      <a:endParaRPr lang="en-US" sz="12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5222">
                <a:tc>
                  <a:txBody>
                    <a:bodyPr/>
                    <a:lstStyle/>
                    <a:p>
                      <a:pPr marL="0" marR="0" algn="just">
                        <a:lnSpc>
                          <a:spcPct val="115000"/>
                        </a:lnSpc>
                        <a:spcBef>
                          <a:spcPts val="0"/>
                        </a:spcBef>
                        <a:spcAft>
                          <a:spcPts val="0"/>
                        </a:spcAft>
                      </a:pPr>
                      <a:r>
                        <a:rPr lang="en-US" sz="1400" b="1" dirty="0">
                          <a:effectLst/>
                          <a:latin typeface="Times New Roman"/>
                          <a:ea typeface="Calibri"/>
                          <a:cs typeface="Times New Roman"/>
                        </a:rPr>
                        <a:t>5 (j)</a:t>
                      </a:r>
                      <a:endParaRPr lang="en-US" sz="14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solidFill>
                            <a:srgbClr val="0000CC"/>
                          </a:solidFill>
                          <a:effectLst/>
                          <a:latin typeface="Times New Roman"/>
                          <a:ea typeface="Calibri"/>
                          <a:cs typeface="Times New Roman"/>
                        </a:rPr>
                        <a:t>Sugar Industry</a:t>
                      </a:r>
                      <a:endParaRPr lang="en-US" sz="1400" b="1" dirty="0">
                        <a:solidFill>
                          <a:srgbClr val="0000CC"/>
                        </a:solidFill>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a:effectLst/>
                          <a:latin typeface="Times New Roman"/>
                          <a:ea typeface="Calibri"/>
                          <a:cs typeface="Times New Roman"/>
                        </a:rPr>
                        <a:t>                      -</a:t>
                      </a:r>
                      <a:endParaRPr lang="en-US" sz="1400" b="1">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r>
                        <a:rPr lang="en-US" sz="1400" b="1" dirty="0">
                          <a:effectLst/>
                          <a:latin typeface="Symbol"/>
                          <a:ea typeface="Calibri"/>
                          <a:cs typeface="Symbol"/>
                        </a:rPr>
                        <a:t>³</a:t>
                      </a:r>
                      <a:r>
                        <a:rPr lang="en-US" sz="1400" b="1" dirty="0">
                          <a:effectLst/>
                          <a:latin typeface="Times New Roman"/>
                          <a:ea typeface="Calibri"/>
                          <a:cs typeface="Times New Roman"/>
                        </a:rPr>
                        <a:t>5000 </a:t>
                      </a:r>
                      <a:r>
                        <a:rPr lang="en-US" sz="1400" b="1" dirty="0" err="1">
                          <a:effectLst/>
                          <a:latin typeface="Times New Roman"/>
                          <a:ea typeface="Calibri"/>
                          <a:cs typeface="Times New Roman"/>
                        </a:rPr>
                        <a:t>tcd</a:t>
                      </a:r>
                      <a:r>
                        <a:rPr lang="en-US" sz="1400" b="1" dirty="0">
                          <a:effectLst/>
                          <a:latin typeface="Times New Roman"/>
                          <a:ea typeface="Calibri"/>
                          <a:cs typeface="Times New Roman"/>
                        </a:rPr>
                        <a:t> cane crushing</a:t>
                      </a:r>
                      <a:endParaRPr lang="en-US" sz="1400" b="1" dirty="0">
                        <a:effectLst/>
                        <a:latin typeface="Calibri"/>
                        <a:ea typeface="Calibri"/>
                        <a:cs typeface="Times New Roman"/>
                      </a:endParaRPr>
                    </a:p>
                    <a:p>
                      <a:pPr marL="0" marR="0" algn="just">
                        <a:lnSpc>
                          <a:spcPct val="115000"/>
                        </a:lnSpc>
                        <a:spcBef>
                          <a:spcPts val="0"/>
                        </a:spcBef>
                        <a:spcAft>
                          <a:spcPts val="0"/>
                        </a:spcAft>
                      </a:pPr>
                      <a:r>
                        <a:rPr lang="en-US" sz="1400" b="1" dirty="0">
                          <a:effectLst/>
                          <a:latin typeface="Times New Roman"/>
                          <a:ea typeface="Calibri"/>
                          <a:cs typeface="Times New Roman"/>
                        </a:rPr>
                        <a:t>capacity</a:t>
                      </a:r>
                      <a:endParaRPr lang="en-US" sz="1400" b="1" dirty="0">
                        <a:effectLst/>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Date Placeholder 3"/>
          <p:cNvSpPr>
            <a:spLocks noGrp="1"/>
          </p:cNvSpPr>
          <p:nvPr>
            <p:ph type="dt" sz="quarter" idx="10"/>
          </p:nvPr>
        </p:nvSpPr>
        <p:spPr/>
        <p:txBody>
          <a:bodyPr/>
          <a:lstStyle/>
          <a:p>
            <a:pPr>
              <a:defRPr/>
            </a:pPr>
            <a:fld id="{EE167225-5998-4B14-A36F-A5BEB5A2E8DF}" type="datetime1">
              <a:rPr lang="en-US" smtClean="0"/>
              <a:pPr>
                <a:defRPr/>
              </a:pPr>
              <a:t>11/13/2017</a:t>
            </a:fld>
            <a:endParaRPr lang="en-US" dirty="0"/>
          </a:p>
        </p:txBody>
      </p:sp>
      <p:sp>
        <p:nvSpPr>
          <p:cNvPr id="5" name="Footer Placeholder 4"/>
          <p:cNvSpPr>
            <a:spLocks noGrp="1"/>
          </p:cNvSpPr>
          <p:nvPr>
            <p:ph type="ftr" sz="quarter" idx="11"/>
          </p:nvPr>
        </p:nvSpPr>
        <p:spPr/>
        <p:txBody>
          <a:bodyPr/>
          <a:lstStyle/>
          <a:p>
            <a:pPr>
              <a:defRPr/>
            </a:pPr>
            <a:r>
              <a:rPr lang="pt-BR" smtClean="0"/>
              <a:t>Dr Jyoti K Sharma</a:t>
            </a:r>
            <a:endParaRPr lang="en-US"/>
          </a:p>
        </p:txBody>
      </p:sp>
      <p:sp>
        <p:nvSpPr>
          <p:cNvPr id="6" name="Slide Number Placeholder 5"/>
          <p:cNvSpPr>
            <a:spLocks noGrp="1"/>
          </p:cNvSpPr>
          <p:nvPr>
            <p:ph type="sldNum" sz="quarter" idx="12"/>
          </p:nvPr>
        </p:nvSpPr>
        <p:spPr/>
        <p:txBody>
          <a:bodyPr/>
          <a:lstStyle/>
          <a:p>
            <a:pPr>
              <a:defRPr/>
            </a:pPr>
            <a:fld id="{E4D7BB1C-7ED2-4C2F-B8B0-090AF28C8E19}" type="slidenum">
              <a:rPr lang="en-US" smtClean="0"/>
              <a:pPr>
                <a:defRPr/>
              </a:pPr>
              <a:t>61</a:t>
            </a:fld>
            <a:endParaRPr lang="en-US" dirty="0"/>
          </a:p>
        </p:txBody>
      </p:sp>
      <p:pic>
        <p:nvPicPr>
          <p:cNvPr id="8" name="Picture 7"/>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602162"/>
          </a:xfrm>
        </p:spPr>
        <p:txBody>
          <a:bodyPr/>
          <a:lstStyle/>
          <a:p>
            <a:r>
              <a:rPr lang="en-US" dirty="0" smtClean="0"/>
              <a:t>Other Environmental Legislations</a:t>
            </a:r>
            <a:endParaRPr lang="en-US" dirty="0"/>
          </a:p>
        </p:txBody>
      </p:sp>
      <p:sp>
        <p:nvSpPr>
          <p:cNvPr id="3" name="Date Placeholder 2"/>
          <p:cNvSpPr>
            <a:spLocks noGrp="1"/>
          </p:cNvSpPr>
          <p:nvPr>
            <p:ph type="dt" sz="half" idx="10"/>
          </p:nvPr>
        </p:nvSpPr>
        <p:spPr/>
        <p:txBody>
          <a:bodyPr/>
          <a:lstStyle/>
          <a:p>
            <a:fld id="{41A5C5A5-1058-4429-9437-84DAF392EA21}" type="datetime1">
              <a:rPr lang="en-US" smtClean="0"/>
              <a:pPr/>
              <a:t>11/13/2017</a:t>
            </a:fld>
            <a:endParaRPr lang="en-US"/>
          </a:p>
        </p:txBody>
      </p:sp>
      <p:sp>
        <p:nvSpPr>
          <p:cNvPr id="4" name="Footer Placeholder 3"/>
          <p:cNvSpPr>
            <a:spLocks noGrp="1"/>
          </p:cNvSpPr>
          <p:nvPr>
            <p:ph type="ftr" sz="quarter" idx="11"/>
          </p:nvPr>
        </p:nvSpPr>
        <p:spPr/>
        <p:txBody>
          <a:bodyPr/>
          <a:lstStyle/>
          <a:p>
            <a:r>
              <a:rPr lang="en-US" smtClean="0"/>
              <a:t>Dr Jyoti K Sharma</a:t>
            </a:r>
            <a:endParaRPr lang="en-US"/>
          </a:p>
        </p:txBody>
      </p:sp>
      <p:sp>
        <p:nvSpPr>
          <p:cNvPr id="5" name="Slide Number Placeholder 4"/>
          <p:cNvSpPr>
            <a:spLocks noGrp="1"/>
          </p:cNvSpPr>
          <p:nvPr>
            <p:ph type="sldNum" sz="quarter" idx="12"/>
          </p:nvPr>
        </p:nvSpPr>
        <p:spPr/>
        <p:txBody>
          <a:bodyPr/>
          <a:lstStyle/>
          <a:p>
            <a:fld id="{F8BE4994-793F-4AF4-89A3-515E9DA12016}" type="slidenum">
              <a:rPr lang="en-US" smtClean="0"/>
              <a:pPr/>
              <a:t>62</a:t>
            </a:fld>
            <a:endParaRPr lang="en-US"/>
          </a:p>
        </p:txBody>
      </p:sp>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Environmental Legislations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Hazardous Waste (Management &amp; Handling) Rules 1989.</a:t>
            </a:r>
          </a:p>
          <a:p>
            <a:r>
              <a:rPr lang="en-US" dirty="0" smtClean="0"/>
              <a:t>The Public Liability Insurance Act 1991.</a:t>
            </a:r>
          </a:p>
          <a:p>
            <a:r>
              <a:rPr lang="en-US" dirty="0" smtClean="0"/>
              <a:t>Manufacture, Storage and Import of Hazardous Chemicals (Amendment) Rules 1984.</a:t>
            </a:r>
          </a:p>
          <a:p>
            <a:r>
              <a:rPr lang="en-US" dirty="0" smtClean="0"/>
              <a:t>The Factories Act 1984.</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a:p>
        </p:txBody>
      </p:sp>
      <p:sp>
        <p:nvSpPr>
          <p:cNvPr id="4" name="Date Placeholder 3"/>
          <p:cNvSpPr>
            <a:spLocks noGrp="1"/>
          </p:cNvSpPr>
          <p:nvPr>
            <p:ph type="dt" sz="half" idx="10"/>
          </p:nvPr>
        </p:nvSpPr>
        <p:spPr/>
        <p:txBody>
          <a:bodyPr/>
          <a:lstStyle/>
          <a:p>
            <a:fld id="{FF2C1742-BB8B-4886-BE8E-A2A361F13CCA}" type="datetime1">
              <a:rPr lang="en-US" smtClean="0"/>
              <a:pPr/>
              <a:t>11/13/2017</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
        <p:nvSpPr>
          <p:cNvPr id="6" name="Slide Number Placeholder 5"/>
          <p:cNvSpPr>
            <a:spLocks noGrp="1"/>
          </p:cNvSpPr>
          <p:nvPr>
            <p:ph type="sldNum" sz="quarter" idx="12"/>
          </p:nvPr>
        </p:nvSpPr>
        <p:spPr/>
        <p:txBody>
          <a:bodyPr/>
          <a:lstStyle/>
          <a:p>
            <a:fld id="{F8BE4994-793F-4AF4-89A3-515E9DA12016}" type="slidenum">
              <a:rPr lang="en-US" smtClean="0"/>
              <a:pPr/>
              <a:t>63</a:t>
            </a:fld>
            <a:endParaRPr lang="en-US"/>
          </a:p>
        </p:txBody>
      </p:sp>
      <p:pic>
        <p:nvPicPr>
          <p:cNvPr id="7" name="Picture 6"/>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dirty="0" smtClean="0"/>
              <a:t>Environmental Legislations                                                                                                                                  </a:t>
            </a:r>
            <a:endParaRPr lang="en-US" sz="3200" dirty="0"/>
          </a:p>
        </p:txBody>
      </p:sp>
      <p:sp>
        <p:nvSpPr>
          <p:cNvPr id="3" name="Subtitle 2"/>
          <p:cNvSpPr>
            <a:spLocks noGrp="1"/>
          </p:cNvSpPr>
          <p:nvPr>
            <p:ph type="subTitle" idx="1"/>
          </p:nvPr>
        </p:nvSpPr>
        <p:spPr>
          <a:xfrm>
            <a:off x="762000" y="2209800"/>
            <a:ext cx="8001000" cy="4114800"/>
          </a:xfrm>
        </p:spPr>
        <p:txBody>
          <a:bodyPr numCol="2">
            <a:normAutofit/>
          </a:bodyPr>
          <a:lstStyle/>
          <a:p>
            <a:pPr algn="l">
              <a:buFont typeface="Wingdings" pitchFamily="2" charset="2"/>
              <a:buChar char="§"/>
            </a:pPr>
            <a:r>
              <a:rPr lang="en-US" sz="2000" b="1" dirty="0" smtClean="0">
                <a:solidFill>
                  <a:schemeClr val="tx1"/>
                </a:solidFill>
              </a:rPr>
              <a:t>When can be invoked</a:t>
            </a:r>
            <a:r>
              <a:rPr lang="en-US" sz="2000" dirty="0" smtClean="0">
                <a:solidFill>
                  <a:schemeClr val="tx1"/>
                </a:solidFill>
              </a:rPr>
              <a:t> </a:t>
            </a:r>
          </a:p>
          <a:p>
            <a:pPr algn="l">
              <a:buFont typeface="Wingdings" pitchFamily="2" charset="2"/>
              <a:buChar char="§"/>
            </a:pPr>
            <a:r>
              <a:rPr lang="en-US" sz="2000" dirty="0" smtClean="0">
                <a:solidFill>
                  <a:schemeClr val="tx1"/>
                </a:solidFill>
              </a:rPr>
              <a:t>In case of emergency where public shall be put to great inconvenience and shall suffer an irreparable injury if the </a:t>
            </a:r>
            <a:r>
              <a:rPr lang="en-US" sz="2000" dirty="0" err="1" smtClean="0">
                <a:solidFill>
                  <a:schemeClr val="tx1"/>
                </a:solidFill>
              </a:rPr>
              <a:t>enchroachment</a:t>
            </a:r>
            <a:r>
              <a:rPr lang="en-US" sz="2000" dirty="0" smtClean="0">
                <a:solidFill>
                  <a:schemeClr val="tx1"/>
                </a:solidFill>
              </a:rPr>
              <a:t> or nuisance is not removed. </a:t>
            </a:r>
          </a:p>
          <a:p>
            <a:pPr algn="l">
              <a:buFont typeface="Wingdings" pitchFamily="2" charset="2"/>
              <a:buChar char="§"/>
            </a:pPr>
            <a:r>
              <a:rPr lang="en-US" sz="2000" dirty="0" smtClean="0">
                <a:solidFill>
                  <a:schemeClr val="tx1"/>
                </a:solidFill>
              </a:rPr>
              <a:t>Not invoked where obstruction or nuisance has been in existence for </a:t>
            </a:r>
          </a:p>
          <a:p>
            <a:pPr algn="l"/>
            <a:r>
              <a:rPr lang="en-US" sz="2000" dirty="0" smtClean="0">
                <a:solidFill>
                  <a:schemeClr val="tx1"/>
                </a:solidFill>
              </a:rPr>
              <a:t>a long period of time, but no legal bar as such. </a:t>
            </a:r>
          </a:p>
          <a:p>
            <a:pPr algn="l">
              <a:buFont typeface="Wingdings" pitchFamily="2" charset="2"/>
              <a:buChar char="§"/>
            </a:pPr>
            <a:r>
              <a:rPr lang="en-US" sz="2000" b="1" dirty="0" smtClean="0">
                <a:solidFill>
                  <a:schemeClr val="tx1"/>
                </a:solidFill>
              </a:rPr>
              <a:t>Scope of section 133:</a:t>
            </a:r>
            <a:r>
              <a:rPr lang="en-US" sz="2000" dirty="0" smtClean="0">
                <a:solidFill>
                  <a:schemeClr val="tx1"/>
                </a:solidFill>
              </a:rPr>
              <a:t> </a:t>
            </a:r>
            <a:r>
              <a:rPr lang="en-US" sz="2000" dirty="0" err="1" smtClean="0">
                <a:solidFill>
                  <a:schemeClr val="tx1"/>
                </a:solidFill>
              </a:rPr>
              <a:t>Munciple</a:t>
            </a:r>
            <a:r>
              <a:rPr lang="en-US" sz="2000" dirty="0" smtClean="0">
                <a:solidFill>
                  <a:schemeClr val="tx1"/>
                </a:solidFill>
              </a:rPr>
              <a:t> council </a:t>
            </a:r>
            <a:r>
              <a:rPr lang="en-US" sz="2000" dirty="0" err="1" smtClean="0">
                <a:solidFill>
                  <a:schemeClr val="tx1"/>
                </a:solidFill>
              </a:rPr>
              <a:t>Ratlam</a:t>
            </a:r>
            <a:r>
              <a:rPr lang="en-US" sz="2000" dirty="0" smtClean="0">
                <a:solidFill>
                  <a:schemeClr val="tx1"/>
                </a:solidFill>
              </a:rPr>
              <a:t> V. </a:t>
            </a:r>
            <a:r>
              <a:rPr lang="en-US" sz="2000" dirty="0" err="1" smtClean="0">
                <a:solidFill>
                  <a:schemeClr val="tx1"/>
                </a:solidFill>
              </a:rPr>
              <a:t>Vardhichand</a:t>
            </a:r>
            <a:r>
              <a:rPr lang="en-US" sz="2000" dirty="0" smtClean="0">
                <a:solidFill>
                  <a:schemeClr val="tx1"/>
                </a:solidFill>
              </a:rPr>
              <a:t> </a:t>
            </a:r>
          </a:p>
          <a:p>
            <a:pPr algn="l"/>
            <a:r>
              <a:rPr lang="en-US" sz="2000" dirty="0" smtClean="0">
                <a:solidFill>
                  <a:schemeClr val="tx1"/>
                </a:solidFill>
              </a:rPr>
              <a:t>and others. </a:t>
            </a:r>
          </a:p>
          <a:p>
            <a:pPr algn="l">
              <a:buFont typeface="Wingdings" pitchFamily="2" charset="2"/>
              <a:buChar char="§"/>
            </a:pPr>
            <a:r>
              <a:rPr lang="en-US" sz="2000" b="1" dirty="0" smtClean="0">
                <a:solidFill>
                  <a:schemeClr val="tx1"/>
                </a:solidFill>
              </a:rPr>
              <a:t>When demolition of building justified :</a:t>
            </a:r>
          </a:p>
          <a:p>
            <a:pPr algn="l"/>
            <a:r>
              <a:rPr lang="en-US" sz="2000" dirty="0" smtClean="0">
                <a:solidFill>
                  <a:schemeClr val="tx1"/>
                </a:solidFill>
              </a:rPr>
              <a:t> Dangerous condition and </a:t>
            </a:r>
            <a:r>
              <a:rPr lang="en-US" sz="2000" dirty="0" err="1" smtClean="0">
                <a:solidFill>
                  <a:schemeClr val="tx1"/>
                </a:solidFill>
              </a:rPr>
              <a:t>detorioration</a:t>
            </a:r>
            <a:r>
              <a:rPr lang="en-US" sz="2000" dirty="0" smtClean="0">
                <a:solidFill>
                  <a:schemeClr val="tx1"/>
                </a:solidFill>
              </a:rPr>
              <a:t> due to </a:t>
            </a:r>
            <a:r>
              <a:rPr lang="en-US" sz="2000" dirty="0" err="1" smtClean="0">
                <a:solidFill>
                  <a:schemeClr val="tx1"/>
                </a:solidFill>
              </a:rPr>
              <a:t>incassant</a:t>
            </a:r>
            <a:r>
              <a:rPr lang="en-US" sz="2000" dirty="0" smtClean="0">
                <a:solidFill>
                  <a:schemeClr val="tx1"/>
                </a:solidFill>
              </a:rPr>
              <a:t> rains. </a:t>
            </a:r>
          </a:p>
          <a:p>
            <a:pPr algn="l">
              <a:buFont typeface="Wingdings" pitchFamily="2" charset="2"/>
              <a:buChar char="§"/>
            </a:pPr>
            <a:r>
              <a:rPr lang="en-US" sz="2000" b="1" dirty="0" smtClean="0">
                <a:solidFill>
                  <a:schemeClr val="tx1"/>
                </a:solidFill>
              </a:rPr>
              <a:t>Occupations or trades injurious to heath : </a:t>
            </a:r>
          </a:p>
          <a:p>
            <a:pPr algn="l"/>
            <a:r>
              <a:rPr lang="en-US" sz="2000" dirty="0" smtClean="0">
                <a:solidFill>
                  <a:schemeClr val="tx1"/>
                </a:solidFill>
              </a:rPr>
              <a:t>Trades which are themselves injurious, no the trades in course of which public nuisance might be committed. </a:t>
            </a:r>
            <a:endParaRPr lang="en-US" sz="2000" dirty="0">
              <a:solidFill>
                <a:schemeClr val="tx1"/>
              </a:solidFill>
            </a:endParaRPr>
          </a:p>
        </p:txBody>
      </p:sp>
      <p:sp>
        <p:nvSpPr>
          <p:cNvPr id="4" name="Rectangle 3"/>
          <p:cNvSpPr/>
          <p:nvPr/>
        </p:nvSpPr>
        <p:spPr>
          <a:xfrm>
            <a:off x="609601" y="1295400"/>
            <a:ext cx="7848599" cy="461665"/>
          </a:xfrm>
          <a:prstGeom prst="rect">
            <a:avLst/>
          </a:prstGeom>
        </p:spPr>
        <p:txBody>
          <a:bodyPr wrap="square">
            <a:spAutoFit/>
          </a:bodyPr>
          <a:lstStyle/>
          <a:p>
            <a:r>
              <a:rPr lang="en-US" sz="2400" b="1" dirty="0" smtClean="0">
                <a:solidFill>
                  <a:srgbClr val="C00000"/>
                </a:solidFill>
              </a:rPr>
              <a:t>Criminal Remedies</a:t>
            </a:r>
            <a:endParaRPr lang="en-US" sz="24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6AC6B4B-6800-4F5C-B2AE-EEE1BE562290}"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64</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dirty="0" smtClean="0"/>
              <a:t>Environmental Legislations                                                                                                                                  </a:t>
            </a:r>
            <a:endParaRPr lang="en-US" sz="3200" dirty="0"/>
          </a:p>
        </p:txBody>
      </p:sp>
      <p:sp>
        <p:nvSpPr>
          <p:cNvPr id="3" name="Subtitle 2"/>
          <p:cNvSpPr>
            <a:spLocks noGrp="1"/>
          </p:cNvSpPr>
          <p:nvPr>
            <p:ph type="subTitle" idx="1"/>
          </p:nvPr>
        </p:nvSpPr>
        <p:spPr>
          <a:xfrm>
            <a:off x="762000" y="2209800"/>
            <a:ext cx="8001000" cy="4114800"/>
          </a:xfrm>
        </p:spPr>
        <p:txBody>
          <a:bodyPr numCol="1">
            <a:normAutofit fontScale="92500" lnSpcReduction="10000"/>
          </a:bodyPr>
          <a:lstStyle/>
          <a:p>
            <a:pPr algn="l"/>
            <a:r>
              <a:rPr lang="en-US" sz="2000" b="1" dirty="0" smtClean="0">
                <a:solidFill>
                  <a:schemeClr val="tx1"/>
                </a:solidFill>
              </a:rPr>
              <a:t>Damages</a:t>
            </a:r>
            <a:r>
              <a:rPr lang="en-US" sz="2000" dirty="0" smtClean="0">
                <a:solidFill>
                  <a:schemeClr val="tx1"/>
                </a:solidFill>
              </a:rPr>
              <a:t> </a:t>
            </a:r>
          </a:p>
          <a:p>
            <a:pPr algn="l">
              <a:buFont typeface="Wingdings" pitchFamily="2" charset="2"/>
              <a:buChar char="§"/>
            </a:pPr>
            <a:r>
              <a:rPr lang="en-US" sz="2000" dirty="0" smtClean="0">
                <a:solidFill>
                  <a:schemeClr val="tx1"/>
                </a:solidFill>
              </a:rPr>
              <a:t> To abate nuisance : Cases relating to pollution covered by </a:t>
            </a:r>
          </a:p>
          <a:p>
            <a:pPr marL="457200" indent="-457200" algn="l">
              <a:buAutoNum type="alphaLcParenR"/>
            </a:pPr>
            <a:r>
              <a:rPr lang="en-US" sz="2000" dirty="0" smtClean="0">
                <a:solidFill>
                  <a:schemeClr val="tx1"/>
                </a:solidFill>
              </a:rPr>
              <a:t>Nuisance, b) Negligence, c) Strict liability. </a:t>
            </a:r>
          </a:p>
          <a:p>
            <a:pPr marL="457200" indent="-457200" algn="l"/>
            <a:endParaRPr lang="en-US" sz="2000" dirty="0" smtClean="0">
              <a:solidFill>
                <a:schemeClr val="tx1"/>
              </a:solidFill>
            </a:endParaRPr>
          </a:p>
          <a:p>
            <a:pPr algn="l"/>
            <a:r>
              <a:rPr lang="en-US" sz="2000" dirty="0" smtClean="0">
                <a:solidFill>
                  <a:schemeClr val="tx1"/>
                </a:solidFill>
              </a:rPr>
              <a:t>Primary remedy is claim for damages. Covered under </a:t>
            </a:r>
          </a:p>
          <a:p>
            <a:pPr algn="l"/>
            <a:endParaRPr lang="en-US" sz="2000" dirty="0" smtClean="0">
              <a:solidFill>
                <a:schemeClr val="tx1"/>
              </a:solidFill>
            </a:endParaRPr>
          </a:p>
          <a:p>
            <a:pPr algn="l">
              <a:buFont typeface="Wingdings" pitchFamily="2" charset="2"/>
              <a:buChar char="§"/>
            </a:pPr>
            <a:r>
              <a:rPr lang="en-US" sz="2000" dirty="0" smtClean="0">
                <a:solidFill>
                  <a:schemeClr val="tx1"/>
                </a:solidFill>
              </a:rPr>
              <a:t>Nominal damages </a:t>
            </a:r>
          </a:p>
          <a:p>
            <a:pPr algn="l">
              <a:buFont typeface="Wingdings" pitchFamily="2" charset="2"/>
              <a:buChar char="§"/>
            </a:pPr>
            <a:endParaRPr lang="en-US" sz="2000" dirty="0" smtClean="0">
              <a:solidFill>
                <a:schemeClr val="tx1"/>
              </a:solidFill>
            </a:endParaRPr>
          </a:p>
          <a:p>
            <a:pPr algn="l">
              <a:buFont typeface="Wingdings" pitchFamily="2" charset="2"/>
              <a:buChar char="§"/>
            </a:pPr>
            <a:r>
              <a:rPr lang="en-US" sz="2000" dirty="0" smtClean="0">
                <a:solidFill>
                  <a:schemeClr val="tx1"/>
                </a:solidFill>
              </a:rPr>
              <a:t> Substantial damages  </a:t>
            </a:r>
            <a:r>
              <a:rPr lang="en-US" sz="1600" i="1" dirty="0" smtClean="0">
                <a:solidFill>
                  <a:schemeClr val="tx1"/>
                </a:solidFill>
              </a:rPr>
              <a:t>To compensate fairly for injury suffered </a:t>
            </a:r>
          </a:p>
          <a:p>
            <a:pPr algn="l">
              <a:buFont typeface="Wingdings" pitchFamily="2" charset="2"/>
              <a:buChar char="§"/>
            </a:pPr>
            <a:endParaRPr lang="en-US" sz="2000" dirty="0" smtClean="0">
              <a:solidFill>
                <a:schemeClr val="tx1"/>
              </a:solidFill>
            </a:endParaRPr>
          </a:p>
          <a:p>
            <a:pPr algn="l">
              <a:buFont typeface="Wingdings" pitchFamily="2" charset="2"/>
              <a:buChar char="§"/>
            </a:pPr>
            <a:r>
              <a:rPr lang="en-US" sz="2000" dirty="0" smtClean="0">
                <a:solidFill>
                  <a:schemeClr val="tx1"/>
                </a:solidFill>
              </a:rPr>
              <a:t>Exemplary damages: </a:t>
            </a:r>
          </a:p>
          <a:p>
            <a:pPr algn="l"/>
            <a:r>
              <a:rPr lang="en-US" sz="1600" i="1" dirty="0" smtClean="0">
                <a:solidFill>
                  <a:schemeClr val="tx1"/>
                </a:solidFill>
              </a:rPr>
              <a:t>To compensate plaintiff  and  also to punish wrong doer  in order to deter him for  similar conduct in future. </a:t>
            </a:r>
            <a:endParaRPr lang="en-US" sz="1600" i="1" dirty="0">
              <a:solidFill>
                <a:schemeClr val="tx1"/>
              </a:solidFill>
            </a:endParaRPr>
          </a:p>
        </p:txBody>
      </p:sp>
      <p:sp>
        <p:nvSpPr>
          <p:cNvPr id="4" name="Rectangle 3"/>
          <p:cNvSpPr/>
          <p:nvPr/>
        </p:nvSpPr>
        <p:spPr>
          <a:xfrm>
            <a:off x="609601" y="1295400"/>
            <a:ext cx="7848599" cy="461665"/>
          </a:xfrm>
          <a:prstGeom prst="rect">
            <a:avLst/>
          </a:prstGeom>
        </p:spPr>
        <p:txBody>
          <a:bodyPr wrap="square">
            <a:spAutoFit/>
          </a:bodyPr>
          <a:lstStyle/>
          <a:p>
            <a:r>
              <a:rPr lang="en-US" sz="2400" b="1" dirty="0" smtClean="0">
                <a:solidFill>
                  <a:srgbClr val="C00000"/>
                </a:solidFill>
              </a:rPr>
              <a:t>Civil Remedies</a:t>
            </a:r>
            <a:endParaRPr lang="en-US" sz="24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9999B2D-72E3-48A8-8A65-FF4034BA8F6F}"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65</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dirty="0" smtClean="0"/>
              <a:t>Environmental Legislations                                                                                                                                  </a:t>
            </a:r>
            <a:endParaRPr lang="en-US" sz="3200" dirty="0"/>
          </a:p>
        </p:txBody>
      </p:sp>
      <p:sp>
        <p:nvSpPr>
          <p:cNvPr id="3" name="Subtitle 2"/>
          <p:cNvSpPr>
            <a:spLocks noGrp="1"/>
          </p:cNvSpPr>
          <p:nvPr>
            <p:ph type="subTitle" idx="1"/>
          </p:nvPr>
        </p:nvSpPr>
        <p:spPr>
          <a:xfrm>
            <a:off x="762000" y="2209800"/>
            <a:ext cx="8001000" cy="4114800"/>
          </a:xfrm>
        </p:spPr>
        <p:txBody>
          <a:bodyPr numCol="2">
            <a:normAutofit/>
          </a:bodyPr>
          <a:lstStyle/>
          <a:p>
            <a:pPr algn="l"/>
            <a:r>
              <a:rPr lang="en-US" sz="1600" b="1" dirty="0" smtClean="0">
                <a:solidFill>
                  <a:schemeClr val="tx1"/>
                </a:solidFill>
              </a:rPr>
              <a:t>Injunctions : Vital role in abating and preventing pollution.</a:t>
            </a:r>
            <a:r>
              <a:rPr lang="en-US" sz="1600" dirty="0" smtClean="0">
                <a:solidFill>
                  <a:schemeClr val="tx1"/>
                </a:solidFill>
              </a:rPr>
              <a:t> Where a person who has infringed or who is about to infringe the rights of another , he is restrained from pursuing such acts by way of injunctions.</a:t>
            </a:r>
          </a:p>
          <a:p>
            <a:pPr algn="l"/>
            <a:r>
              <a:rPr lang="en-US" sz="1600" dirty="0" smtClean="0">
                <a:solidFill>
                  <a:schemeClr val="tx1"/>
                </a:solidFill>
              </a:rPr>
              <a:t> a)  Restrictive : </a:t>
            </a:r>
            <a:r>
              <a:rPr lang="en-US" sz="1600" dirty="0" err="1" smtClean="0">
                <a:solidFill>
                  <a:schemeClr val="tx1"/>
                </a:solidFill>
              </a:rPr>
              <a:t>Eg</a:t>
            </a:r>
            <a:r>
              <a:rPr lang="en-US" sz="1600" dirty="0" smtClean="0">
                <a:solidFill>
                  <a:schemeClr val="tx1"/>
                </a:solidFill>
              </a:rPr>
              <a:t> . A person is restrained for causing nuisance or to disturb some </a:t>
            </a:r>
          </a:p>
          <a:p>
            <a:pPr algn="l"/>
            <a:r>
              <a:rPr lang="en-US" sz="1600" dirty="0" smtClean="0">
                <a:solidFill>
                  <a:schemeClr val="tx1"/>
                </a:solidFill>
              </a:rPr>
              <a:t>other persons right of easement. </a:t>
            </a:r>
          </a:p>
          <a:p>
            <a:pPr algn="l"/>
            <a:r>
              <a:rPr lang="en-US" sz="1600" dirty="0" smtClean="0">
                <a:solidFill>
                  <a:schemeClr val="tx1"/>
                </a:solidFill>
              </a:rPr>
              <a:t>b) Mandatory : </a:t>
            </a:r>
            <a:r>
              <a:rPr lang="en-US" sz="1600" dirty="0" err="1" smtClean="0">
                <a:solidFill>
                  <a:schemeClr val="tx1"/>
                </a:solidFill>
              </a:rPr>
              <a:t>Eg</a:t>
            </a:r>
            <a:r>
              <a:rPr lang="en-US" sz="1600" dirty="0" smtClean="0">
                <a:solidFill>
                  <a:schemeClr val="tx1"/>
                </a:solidFill>
              </a:rPr>
              <a:t>. Ordering defendant to take down or remove a wall or other construction.</a:t>
            </a:r>
          </a:p>
          <a:p>
            <a:pPr algn="l"/>
            <a:r>
              <a:rPr lang="en-US" sz="1600" dirty="0" smtClean="0">
                <a:solidFill>
                  <a:schemeClr val="tx1"/>
                </a:solidFill>
              </a:rPr>
              <a:t>c.) Temporary Injunction : To maintain status quo at a given date until trial on</a:t>
            </a:r>
          </a:p>
          <a:p>
            <a:pPr algn="l"/>
            <a:r>
              <a:rPr lang="en-US" sz="1600" dirty="0" smtClean="0">
                <a:solidFill>
                  <a:schemeClr val="tx1"/>
                </a:solidFill>
              </a:rPr>
              <a:t> merit concludes. Perpetual injunction :</a:t>
            </a:r>
          </a:p>
          <a:p>
            <a:pPr algn="l"/>
            <a:r>
              <a:rPr lang="en-US" sz="1600" dirty="0" smtClean="0">
                <a:solidFill>
                  <a:schemeClr val="tx1"/>
                </a:solidFill>
              </a:rPr>
              <a:t> Only be granted by decree made at </a:t>
            </a:r>
          </a:p>
          <a:p>
            <a:pPr algn="l"/>
            <a:r>
              <a:rPr lang="en-US" sz="1600" dirty="0" smtClean="0">
                <a:solidFill>
                  <a:schemeClr val="tx1"/>
                </a:solidFill>
              </a:rPr>
              <a:t>hearing and merits of suit. </a:t>
            </a:r>
          </a:p>
          <a:p>
            <a:pPr algn="l"/>
            <a:r>
              <a:rPr lang="en-US" sz="1600" dirty="0" smtClean="0">
                <a:solidFill>
                  <a:schemeClr val="tx1"/>
                </a:solidFill>
              </a:rPr>
              <a:t>d.) Perpetual </a:t>
            </a:r>
            <a:r>
              <a:rPr lang="en-US" sz="1600" dirty="0" err="1" smtClean="0">
                <a:solidFill>
                  <a:schemeClr val="tx1"/>
                </a:solidFill>
              </a:rPr>
              <a:t>OnjunctionTo</a:t>
            </a:r>
            <a:r>
              <a:rPr lang="en-US" sz="1600" dirty="0" smtClean="0">
                <a:solidFill>
                  <a:schemeClr val="tx1"/>
                </a:solidFill>
              </a:rPr>
              <a:t> prevent breach of obligation, existing in </a:t>
            </a:r>
            <a:r>
              <a:rPr lang="en-US" sz="1600" dirty="0" err="1" smtClean="0">
                <a:solidFill>
                  <a:schemeClr val="tx1"/>
                </a:solidFill>
              </a:rPr>
              <a:t>favour</a:t>
            </a:r>
            <a:r>
              <a:rPr lang="en-US" sz="1600" dirty="0" smtClean="0">
                <a:solidFill>
                  <a:schemeClr val="tx1"/>
                </a:solidFill>
              </a:rPr>
              <a:t> of applicant, whether expressly or by implication and which may arise from :</a:t>
            </a:r>
          </a:p>
          <a:p>
            <a:pPr algn="l"/>
            <a:r>
              <a:rPr lang="en-US" sz="1600" dirty="0" err="1" smtClean="0">
                <a:solidFill>
                  <a:schemeClr val="tx1"/>
                </a:solidFill>
              </a:rPr>
              <a:t>i</a:t>
            </a:r>
            <a:r>
              <a:rPr lang="en-US" sz="1600" dirty="0" smtClean="0">
                <a:solidFill>
                  <a:schemeClr val="tx1"/>
                </a:solidFill>
              </a:rPr>
              <a:t>) Contract</a:t>
            </a:r>
          </a:p>
          <a:p>
            <a:pPr algn="l"/>
            <a:r>
              <a:rPr lang="en-US" sz="1600" dirty="0" smtClean="0">
                <a:solidFill>
                  <a:schemeClr val="tx1"/>
                </a:solidFill>
              </a:rPr>
              <a:t>ii) In the nature of trust</a:t>
            </a:r>
          </a:p>
          <a:p>
            <a:pPr algn="l"/>
            <a:r>
              <a:rPr lang="en-US" sz="1600" dirty="0" smtClean="0">
                <a:solidFill>
                  <a:schemeClr val="tx1"/>
                </a:solidFill>
              </a:rPr>
              <a:t>iii) Act complained of amounts to tort </a:t>
            </a:r>
          </a:p>
          <a:p>
            <a:pPr algn="l"/>
            <a:r>
              <a:rPr lang="en-US" sz="1600" dirty="0" smtClean="0">
                <a:solidFill>
                  <a:schemeClr val="tx1"/>
                </a:solidFill>
              </a:rPr>
              <a:t>or civil wrong,</a:t>
            </a:r>
          </a:p>
          <a:p>
            <a:pPr algn="l"/>
            <a:r>
              <a:rPr lang="en-US" sz="1600" dirty="0" smtClean="0">
                <a:solidFill>
                  <a:schemeClr val="tx1"/>
                </a:solidFill>
              </a:rPr>
              <a:t>iv) may be any other legal obligation. </a:t>
            </a:r>
          </a:p>
          <a:p>
            <a:pPr algn="l"/>
            <a:r>
              <a:rPr lang="en-US" sz="1600" dirty="0" smtClean="0">
                <a:solidFill>
                  <a:schemeClr val="tx1"/>
                </a:solidFill>
              </a:rPr>
              <a:t>Granted where damages do not provide adequate relief, or where purpose is to prevent multiplicity of suit. </a:t>
            </a:r>
            <a:endParaRPr lang="en-US" sz="1600" i="1" dirty="0">
              <a:solidFill>
                <a:schemeClr val="tx1"/>
              </a:solidFill>
            </a:endParaRPr>
          </a:p>
        </p:txBody>
      </p:sp>
      <p:sp>
        <p:nvSpPr>
          <p:cNvPr id="4" name="Rectangle 3"/>
          <p:cNvSpPr/>
          <p:nvPr/>
        </p:nvSpPr>
        <p:spPr>
          <a:xfrm>
            <a:off x="609601" y="1295400"/>
            <a:ext cx="7848599" cy="461665"/>
          </a:xfrm>
          <a:prstGeom prst="rect">
            <a:avLst/>
          </a:prstGeom>
        </p:spPr>
        <p:txBody>
          <a:bodyPr wrap="square">
            <a:spAutoFit/>
          </a:bodyPr>
          <a:lstStyle/>
          <a:p>
            <a:r>
              <a:rPr lang="en-US" sz="2400" b="1" dirty="0" smtClean="0">
                <a:solidFill>
                  <a:srgbClr val="C00000"/>
                </a:solidFill>
              </a:rPr>
              <a:t>Civil Remedies</a:t>
            </a:r>
            <a:endParaRPr lang="en-US" sz="24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5FC71F0F-EB67-43A8-803B-AA59C926C4B2}"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66</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533400"/>
            <a:ext cx="7391400" cy="838200"/>
          </a:xfrm>
        </p:spPr>
        <p:txBody>
          <a:bodyPr>
            <a:normAutofit/>
          </a:bodyPr>
          <a:lstStyle/>
          <a:p>
            <a:pPr algn="l"/>
            <a:r>
              <a:rPr lang="en-US" sz="3200" dirty="0" smtClean="0"/>
              <a:t>Environmental Legislations                                                                                                                                  </a:t>
            </a:r>
            <a:endParaRPr lang="en-US" sz="3200" dirty="0"/>
          </a:p>
        </p:txBody>
      </p:sp>
      <p:sp>
        <p:nvSpPr>
          <p:cNvPr id="3" name="Subtitle 2"/>
          <p:cNvSpPr>
            <a:spLocks noGrp="1"/>
          </p:cNvSpPr>
          <p:nvPr>
            <p:ph type="subTitle" idx="1"/>
          </p:nvPr>
        </p:nvSpPr>
        <p:spPr>
          <a:xfrm>
            <a:off x="762000" y="2209800"/>
            <a:ext cx="8001000" cy="4114800"/>
          </a:xfrm>
        </p:spPr>
        <p:txBody>
          <a:bodyPr numCol="1">
            <a:normAutofit lnSpcReduction="10000"/>
          </a:bodyPr>
          <a:lstStyle/>
          <a:p>
            <a:pPr algn="l"/>
            <a:r>
              <a:rPr lang="en-US" sz="2000" b="1" dirty="0" smtClean="0">
                <a:solidFill>
                  <a:schemeClr val="tx1"/>
                </a:solidFill>
              </a:rPr>
              <a:t>Directive principles of state policy</a:t>
            </a:r>
          </a:p>
          <a:p>
            <a:pPr algn="l"/>
            <a:endParaRPr lang="en-US" sz="2000" dirty="0" smtClean="0">
              <a:solidFill>
                <a:schemeClr val="tx1"/>
              </a:solidFill>
            </a:endParaRPr>
          </a:p>
          <a:p>
            <a:pPr algn="l"/>
            <a:r>
              <a:rPr lang="en-US" sz="1600" dirty="0" smtClean="0">
                <a:solidFill>
                  <a:schemeClr val="tx1"/>
                </a:solidFill>
              </a:rPr>
              <a:t>Article 48A: The state shall endeavor to protect and improve the environment and to safeguard the forests and wild life f the country.</a:t>
            </a:r>
          </a:p>
          <a:p>
            <a:pPr algn="l"/>
            <a:r>
              <a:rPr lang="en-US" sz="1600" i="1" dirty="0" smtClean="0">
                <a:solidFill>
                  <a:schemeClr val="tx1"/>
                </a:solidFill>
              </a:rPr>
              <a:t>Through PIL, or through a letter on basis of article 21, duty under article 48A can be enforced.</a:t>
            </a:r>
          </a:p>
          <a:p>
            <a:pPr algn="l"/>
            <a:r>
              <a:rPr lang="en-US" sz="1600" i="1" dirty="0" smtClean="0">
                <a:solidFill>
                  <a:schemeClr val="tx1"/>
                </a:solidFill>
              </a:rPr>
              <a:t>C</a:t>
            </a:r>
            <a:r>
              <a:rPr lang="en-US" sz="1600" dirty="0" smtClean="0">
                <a:solidFill>
                  <a:schemeClr val="tx1"/>
                </a:solidFill>
              </a:rPr>
              <a:t>ases:	</a:t>
            </a:r>
            <a:r>
              <a:rPr lang="en-US" sz="1600" dirty="0" err="1" smtClean="0">
                <a:solidFill>
                  <a:schemeClr val="tx1"/>
                </a:solidFill>
              </a:rPr>
              <a:t>M.C.Mehta</a:t>
            </a:r>
            <a:r>
              <a:rPr lang="en-US" sz="1600" dirty="0" smtClean="0">
                <a:solidFill>
                  <a:schemeClr val="tx1"/>
                </a:solidFill>
              </a:rPr>
              <a:t> Vs. Union of India 1992</a:t>
            </a:r>
          </a:p>
          <a:p>
            <a:pPr algn="l"/>
            <a:r>
              <a:rPr lang="en-US" sz="1600" dirty="0" smtClean="0">
                <a:solidFill>
                  <a:schemeClr val="tx1"/>
                </a:solidFill>
              </a:rPr>
              <a:t>	</a:t>
            </a:r>
            <a:r>
              <a:rPr lang="en-US" sz="1600" dirty="0" err="1" smtClean="0">
                <a:solidFill>
                  <a:schemeClr val="tx1"/>
                </a:solidFill>
              </a:rPr>
              <a:t>Tarun</a:t>
            </a:r>
            <a:r>
              <a:rPr lang="en-US" sz="1600" dirty="0" smtClean="0">
                <a:solidFill>
                  <a:schemeClr val="tx1"/>
                </a:solidFill>
              </a:rPr>
              <a:t> Vs. Union of India 1992</a:t>
            </a:r>
          </a:p>
          <a:p>
            <a:pPr algn="l"/>
            <a:r>
              <a:rPr lang="en-US" sz="1600" dirty="0" smtClean="0">
                <a:solidFill>
                  <a:schemeClr val="tx1"/>
                </a:solidFill>
              </a:rPr>
              <a:t>	</a:t>
            </a:r>
            <a:r>
              <a:rPr lang="en-US" sz="1600" dirty="0" err="1" smtClean="0">
                <a:solidFill>
                  <a:schemeClr val="tx1"/>
                </a:solidFill>
              </a:rPr>
              <a:t>Satish</a:t>
            </a:r>
            <a:r>
              <a:rPr lang="en-US" sz="1600" dirty="0" smtClean="0">
                <a:solidFill>
                  <a:schemeClr val="tx1"/>
                </a:solidFill>
              </a:rPr>
              <a:t> Vs. State of Uttar Pradesh 1992</a:t>
            </a:r>
          </a:p>
          <a:p>
            <a:pPr algn="l"/>
            <a:endParaRPr lang="en-US" sz="1600" dirty="0" smtClean="0">
              <a:solidFill>
                <a:schemeClr val="tx1"/>
              </a:solidFill>
            </a:endParaRPr>
          </a:p>
          <a:p>
            <a:pPr algn="l"/>
            <a:r>
              <a:rPr lang="en-US" sz="2000" b="1" dirty="0" smtClean="0">
                <a:solidFill>
                  <a:schemeClr val="tx1"/>
                </a:solidFill>
              </a:rPr>
              <a:t>Fundamental Duties</a:t>
            </a:r>
          </a:p>
          <a:p>
            <a:pPr algn="l"/>
            <a:endParaRPr lang="en-US" sz="2000" b="1" dirty="0" smtClean="0">
              <a:solidFill>
                <a:schemeClr val="tx1"/>
              </a:solidFill>
            </a:endParaRPr>
          </a:p>
          <a:p>
            <a:pPr algn="l"/>
            <a:r>
              <a:rPr lang="en-US" sz="1600" dirty="0" smtClean="0">
                <a:solidFill>
                  <a:schemeClr val="tx1"/>
                </a:solidFill>
              </a:rPr>
              <a:t>Article 51A(g): To protect and improve natural environment including forests, lakes, rivers and wild life, and to have compassion for living creatures.</a:t>
            </a:r>
          </a:p>
          <a:p>
            <a:pPr algn="l"/>
            <a:r>
              <a:rPr lang="en-US" sz="1600" dirty="0" smtClean="0">
                <a:solidFill>
                  <a:schemeClr val="tx1"/>
                </a:solidFill>
              </a:rPr>
              <a:t> </a:t>
            </a:r>
          </a:p>
          <a:p>
            <a:pPr algn="l"/>
            <a:endParaRPr lang="en-US" sz="1600" i="1" dirty="0"/>
          </a:p>
        </p:txBody>
      </p:sp>
      <p:sp>
        <p:nvSpPr>
          <p:cNvPr id="4" name="Rectangle 3"/>
          <p:cNvSpPr/>
          <p:nvPr/>
        </p:nvSpPr>
        <p:spPr>
          <a:xfrm>
            <a:off x="609601" y="1295400"/>
            <a:ext cx="7848599" cy="461665"/>
          </a:xfrm>
          <a:prstGeom prst="rect">
            <a:avLst/>
          </a:prstGeom>
        </p:spPr>
        <p:txBody>
          <a:bodyPr wrap="square">
            <a:spAutoFit/>
          </a:bodyPr>
          <a:lstStyle/>
          <a:p>
            <a:r>
              <a:rPr lang="en-US" sz="2400" b="1" dirty="0" smtClean="0">
                <a:solidFill>
                  <a:srgbClr val="C00000"/>
                </a:solidFill>
              </a:rPr>
              <a:t>Constitutional Provisions</a:t>
            </a:r>
            <a:endParaRPr lang="en-US" sz="2400" dirty="0">
              <a:solidFill>
                <a:srgbClr val="C00000"/>
              </a:solidFill>
            </a:endParaRPr>
          </a:p>
        </p:txBody>
      </p:sp>
      <p:pic>
        <p:nvPicPr>
          <p:cNvPr id="5" name="Picture 2" descr="C:\Users\hp\Desktop\IMG-20121224-01365.jpg"/>
          <p:cNvPicPr>
            <a:picLocks noChangeAspect="1" noChangeArrowheads="1"/>
          </p:cNvPicPr>
          <p:nvPr/>
        </p:nvPicPr>
        <p:blipFill>
          <a:blip r:embed="rId2" cstate="print"/>
          <a:srcRect/>
          <a:stretch>
            <a:fillRect/>
          </a:stretch>
        </p:blipFill>
        <p:spPr bwMode="auto">
          <a:xfrm>
            <a:off x="6705600" y="533400"/>
            <a:ext cx="1752600" cy="1037724"/>
          </a:xfrm>
          <a:prstGeom prst="rect">
            <a:avLst/>
          </a:prstGeom>
          <a:noFill/>
        </p:spPr>
      </p:pic>
      <p:pic>
        <p:nvPicPr>
          <p:cNvPr id="6" name="Picture 5"/>
          <p:cNvPicPr/>
          <p:nvPr/>
        </p:nvPicPr>
        <p:blipFill>
          <a:blip r:embed="rId3" cstate="print"/>
          <a:srcRect/>
          <a:stretch>
            <a:fillRect/>
          </a:stretch>
        </p:blipFill>
        <p:spPr bwMode="auto">
          <a:xfrm>
            <a:off x="5562600" y="6324600"/>
            <a:ext cx="2590800" cy="312212"/>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1B9924A-0570-4725-B013-C1AA0B0419BF}" type="datetime1">
              <a:rPr lang="en-US" smtClean="0"/>
              <a:pPr/>
              <a:t>11/13/2017</a:t>
            </a:fld>
            <a:endParaRPr lang="en-US"/>
          </a:p>
        </p:txBody>
      </p:sp>
      <p:sp>
        <p:nvSpPr>
          <p:cNvPr id="8" name="Slide Number Placeholder 7"/>
          <p:cNvSpPr>
            <a:spLocks noGrp="1"/>
          </p:cNvSpPr>
          <p:nvPr>
            <p:ph type="sldNum" sz="quarter" idx="12"/>
          </p:nvPr>
        </p:nvSpPr>
        <p:spPr/>
        <p:txBody>
          <a:bodyPr/>
          <a:lstStyle/>
          <a:p>
            <a:fld id="{AA27B22F-F1DE-48B0-A8DE-61B74EC6BEA5}" type="slidenum">
              <a:rPr lang="en-US" smtClean="0"/>
              <a:pPr/>
              <a:t>67</a:t>
            </a:fld>
            <a:endParaRPr lang="en-US"/>
          </a:p>
        </p:txBody>
      </p:sp>
      <p:sp>
        <p:nvSpPr>
          <p:cNvPr id="9" name="Footer Placeholder 8"/>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274638"/>
            <a:ext cx="9144000" cy="1143000"/>
          </a:xfrm>
        </p:spPr>
        <p:txBody>
          <a:bodyPr/>
          <a:lstStyle/>
          <a:p>
            <a:pPr algn="l" eaLnBrk="1" hangingPunct="1"/>
            <a:r>
              <a:rPr lang="en-US" sz="3200" b="1" dirty="0" smtClean="0"/>
              <a:t>ISSUES INVOLVED IN THE ENFORCEMENT OF ENVIRONMENTAL LEGISLATION</a:t>
            </a:r>
          </a:p>
        </p:txBody>
      </p:sp>
      <p:sp>
        <p:nvSpPr>
          <p:cNvPr id="20483" name="Rectangle 3"/>
          <p:cNvSpPr>
            <a:spLocks noGrp="1" noChangeArrowheads="1"/>
          </p:cNvSpPr>
          <p:nvPr>
            <p:ph type="body" idx="1"/>
          </p:nvPr>
        </p:nvSpPr>
        <p:spPr>
          <a:xfrm>
            <a:off x="0" y="1600200"/>
            <a:ext cx="9144000" cy="5257800"/>
          </a:xfrm>
        </p:spPr>
        <p:txBody>
          <a:bodyPr/>
          <a:lstStyle/>
          <a:p>
            <a:pPr eaLnBrk="1" hangingPunct="1">
              <a:lnSpc>
                <a:spcPct val="90000"/>
              </a:lnSpc>
            </a:pPr>
            <a:r>
              <a:rPr lang="en-US" sz="2800" dirty="0" smtClean="0"/>
              <a:t>There is little point in passing laws or making international agreements if there cannot be adequate enforcement.</a:t>
            </a:r>
          </a:p>
          <a:p>
            <a:pPr eaLnBrk="1" hangingPunct="1">
              <a:lnSpc>
                <a:spcPct val="90000"/>
              </a:lnSpc>
              <a:buFontTx/>
              <a:buNone/>
            </a:pPr>
            <a:r>
              <a:rPr lang="en-US" sz="2800" dirty="0" smtClean="0"/>
              <a:t>      3 issues/things that are especially important for environmental legislation are:</a:t>
            </a:r>
          </a:p>
          <a:p>
            <a:pPr eaLnBrk="1" hangingPunct="1">
              <a:lnSpc>
                <a:spcPct val="90000"/>
              </a:lnSpc>
              <a:buFontTx/>
              <a:buNone/>
            </a:pPr>
            <a:r>
              <a:rPr lang="en-US" sz="2800" b="1" i="1" dirty="0" smtClean="0"/>
              <a:t>      1</a:t>
            </a:r>
            <a:r>
              <a:rPr lang="en-US" sz="2800" b="1" i="1" dirty="0" smtClean="0">
                <a:solidFill>
                  <a:srgbClr val="0033CC"/>
                </a:solidFill>
              </a:rPr>
              <a:t>. The precautionary principle </a:t>
            </a:r>
            <a:r>
              <a:rPr lang="en-US" sz="2800" dirty="0" smtClean="0"/>
              <a:t>This principle has evolved to deal with risks and uncertainties faced by environmental management. The principle implies that an ounce of prevention is worth a pound of cure</a:t>
            </a:r>
            <a:r>
              <a:rPr lang="en-US" sz="2800" dirty="0" smtClean="0">
                <a:solidFill>
                  <a:srgbClr val="FF0000"/>
                </a:solidFill>
              </a:rPr>
              <a:t>— it does not prevent problems but may reduce their occurrence and helps ensure contingency plans are made. </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D7FEE53-88E0-471C-A036-4A5824859641}"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68</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r>
              <a:rPr lang="en-US" sz="3200" b="1" dirty="0" smtClean="0"/>
              <a:t>ISSUES INVOLVED IN THE ENFORCEMENT OF ENVIRONMENTAL LEGISLATION</a:t>
            </a:r>
            <a:endParaRPr lang="en-US" sz="3200" dirty="0" smtClean="0"/>
          </a:p>
        </p:txBody>
      </p:sp>
      <p:sp>
        <p:nvSpPr>
          <p:cNvPr id="21507" name="Rectangle 3"/>
          <p:cNvSpPr>
            <a:spLocks noGrp="1" noChangeArrowheads="1"/>
          </p:cNvSpPr>
          <p:nvPr>
            <p:ph type="body" idx="1"/>
          </p:nvPr>
        </p:nvSpPr>
        <p:spPr>
          <a:xfrm>
            <a:off x="228600" y="1600200"/>
            <a:ext cx="8686800" cy="4724400"/>
          </a:xfrm>
        </p:spPr>
        <p:txBody>
          <a:bodyPr/>
          <a:lstStyle/>
          <a:p>
            <a:pPr eaLnBrk="1" hangingPunct="1">
              <a:lnSpc>
                <a:spcPct val="90000"/>
              </a:lnSpc>
              <a:buFontTx/>
              <a:buNone/>
            </a:pPr>
            <a:r>
              <a:rPr lang="en-US" sz="2400" dirty="0" smtClean="0"/>
              <a:t>     2. </a:t>
            </a:r>
            <a:r>
              <a:rPr lang="en-US" sz="2400" b="1" i="1" dirty="0" smtClean="0">
                <a:solidFill>
                  <a:srgbClr val="0033CC"/>
                </a:solidFill>
              </a:rPr>
              <a:t>The polluter-pays principle </a:t>
            </a:r>
            <a:r>
              <a:rPr lang="en-US" sz="2400" dirty="0" smtClean="0"/>
              <a:t>In addition to-the obvious—the polluter pays for the damaged caused by a development—this principle also implies that a polluter pays for monitoring and policing. </a:t>
            </a:r>
          </a:p>
          <a:p>
            <a:pPr eaLnBrk="1" hangingPunct="1">
              <a:lnSpc>
                <a:spcPct val="90000"/>
              </a:lnSpc>
            </a:pPr>
            <a:r>
              <a:rPr lang="en-US" sz="2400" dirty="0" smtClean="0"/>
              <a:t>A problem with this approach is that fines may bankrupt small businesses, yet be low enough for a large company to write them off as an occasional overhead, which does little for pollution control. </a:t>
            </a:r>
          </a:p>
          <a:p>
            <a:pPr eaLnBrk="1" hangingPunct="1">
              <a:lnSpc>
                <a:spcPct val="90000"/>
              </a:lnSpc>
            </a:pPr>
            <a:r>
              <a:rPr lang="en-US" sz="2400" dirty="0" smtClean="0"/>
              <a:t>There is, thus, debate as to whether the principle should be retrospective. If the polluter pays, how long back does liability stretch?</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CEF8ACAE-41CE-48B3-A9BD-AF340B6D37BC}"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69</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US" sz="3200" b="1" dirty="0" smtClean="0"/>
              <a:t>ISSUES INVOLVED IN THE ENFORCEMENT OF ENVIRONMENTAL LEGISLATION</a:t>
            </a:r>
            <a:endParaRPr lang="en-US" sz="3200" dirty="0" smtClean="0"/>
          </a:p>
        </p:txBody>
      </p:sp>
      <p:sp>
        <p:nvSpPr>
          <p:cNvPr id="22531" name="Rectangle 3"/>
          <p:cNvSpPr>
            <a:spLocks noGrp="1" noChangeArrowheads="1"/>
          </p:cNvSpPr>
          <p:nvPr>
            <p:ph type="body" idx="1"/>
          </p:nvPr>
        </p:nvSpPr>
        <p:spPr>
          <a:xfrm>
            <a:off x="0" y="1600200"/>
            <a:ext cx="9144000" cy="4953000"/>
          </a:xfrm>
        </p:spPr>
        <p:txBody>
          <a:bodyPr/>
          <a:lstStyle/>
          <a:p>
            <a:pPr eaLnBrk="1" hangingPunct="1">
              <a:buFontTx/>
              <a:buNone/>
            </a:pPr>
            <a:r>
              <a:rPr lang="en-US" sz="2800" b="1" dirty="0" smtClean="0"/>
              <a:t>    3</a:t>
            </a:r>
            <a:r>
              <a:rPr lang="en-US" sz="2800" b="1" dirty="0" smtClean="0">
                <a:solidFill>
                  <a:srgbClr val="0033CC"/>
                </a:solidFill>
              </a:rPr>
              <a:t>. </a:t>
            </a:r>
            <a:r>
              <a:rPr lang="en-US" sz="2800" b="1" i="1" dirty="0" smtClean="0">
                <a:solidFill>
                  <a:srgbClr val="0033CC"/>
                </a:solidFill>
              </a:rPr>
              <a:t>Freedom of information</a:t>
            </a:r>
            <a:r>
              <a:rPr lang="en-US" sz="2800" b="1" i="1" dirty="0" smtClean="0"/>
              <a:t>: </a:t>
            </a:r>
            <a:r>
              <a:rPr lang="en-US" sz="2800" dirty="0" smtClean="0"/>
              <a:t>Environmental planning and management is hindered if the public, NGOs or even official bodies are unable to get information. Many countries have now begun to release more information</a:t>
            </a:r>
          </a:p>
          <a:p>
            <a:pPr eaLnBrk="1" hangingPunct="1"/>
            <a:r>
              <a:rPr lang="en-US" sz="2800" dirty="0" smtClean="0"/>
              <a:t>But still many governors and multinational corporations fear that industrial secrets will leak to competitors if there is too much disclosure, and there are situations where authorities declare strategic’ needs and suspend disclosure.</a:t>
            </a:r>
          </a:p>
        </p:txBody>
      </p:sp>
      <p:pic>
        <p:nvPicPr>
          <p:cNvPr id="4" name="Picture 3"/>
          <p:cNvPicPr/>
          <p:nvPr/>
        </p:nvPicPr>
        <p:blipFill>
          <a:blip r:embed="rId2" cstate="print"/>
          <a:srcRect/>
          <a:stretch>
            <a:fillRect/>
          </a:stretch>
        </p:blipFill>
        <p:spPr bwMode="auto">
          <a:xfrm>
            <a:off x="5562600" y="6324600"/>
            <a:ext cx="2590800" cy="31221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fld id="{E819336B-752E-4248-A2D2-5FCC3A516F9F}" type="datetime1">
              <a:rPr lang="en-US" smtClean="0"/>
              <a:pPr/>
              <a:t>11/13/2017</a:t>
            </a:fld>
            <a:endParaRPr lang="en-US"/>
          </a:p>
        </p:txBody>
      </p:sp>
      <p:sp>
        <p:nvSpPr>
          <p:cNvPr id="6" name="Slide Number Placeholder 5"/>
          <p:cNvSpPr>
            <a:spLocks noGrp="1"/>
          </p:cNvSpPr>
          <p:nvPr>
            <p:ph type="sldNum" sz="quarter" idx="12"/>
          </p:nvPr>
        </p:nvSpPr>
        <p:spPr/>
        <p:txBody>
          <a:bodyPr/>
          <a:lstStyle/>
          <a:p>
            <a:fld id="{AA27B22F-F1DE-48B0-A8DE-61B74EC6BEA5}" type="slidenum">
              <a:rPr lang="en-US" smtClean="0"/>
              <a:pPr/>
              <a:t>70</a:t>
            </a:fld>
            <a:endParaRPr lang="en-US"/>
          </a:p>
        </p:txBody>
      </p:sp>
      <p:sp>
        <p:nvSpPr>
          <p:cNvPr id="7" name="Footer Placeholder 6"/>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68962"/>
          </a:xfrm>
        </p:spPr>
        <p:txBody>
          <a:bodyPr>
            <a:normAutofit/>
          </a:bodyPr>
          <a:lstStyle/>
          <a:p>
            <a:r>
              <a:rPr lang="en-US" sz="8000" b="1" dirty="0" smtClean="0">
                <a:solidFill>
                  <a:srgbClr val="7030A0"/>
                </a:solidFill>
                <a:latin typeface="Blackadder ITC" pitchFamily="82" charset="0"/>
              </a:rPr>
              <a:t>Thanks!</a:t>
            </a:r>
            <a:endParaRPr lang="en-US" sz="8000" b="1" dirty="0">
              <a:solidFill>
                <a:srgbClr val="7030A0"/>
              </a:solidFill>
              <a:latin typeface="Blackadder ITC" pitchFamily="82" charset="0"/>
            </a:endParaRPr>
          </a:p>
        </p:txBody>
      </p:sp>
      <p:sp>
        <p:nvSpPr>
          <p:cNvPr id="3" name="Date Placeholder 2"/>
          <p:cNvSpPr>
            <a:spLocks noGrp="1"/>
          </p:cNvSpPr>
          <p:nvPr>
            <p:ph type="dt" sz="half" idx="10"/>
          </p:nvPr>
        </p:nvSpPr>
        <p:spPr/>
        <p:txBody>
          <a:bodyPr/>
          <a:lstStyle/>
          <a:p>
            <a:fld id="{62FE5C25-D19B-4D2D-B3CC-6C2AAF5482E4}" type="datetime1">
              <a:rPr lang="en-US" smtClean="0"/>
              <a:pPr/>
              <a:t>11/13/2017</a:t>
            </a:fld>
            <a:endParaRPr lang="en-US"/>
          </a:p>
        </p:txBody>
      </p:sp>
      <p:sp>
        <p:nvSpPr>
          <p:cNvPr id="4" name="Slide Number Placeholder 3"/>
          <p:cNvSpPr>
            <a:spLocks noGrp="1"/>
          </p:cNvSpPr>
          <p:nvPr>
            <p:ph type="sldNum" sz="quarter" idx="12"/>
          </p:nvPr>
        </p:nvSpPr>
        <p:spPr/>
        <p:txBody>
          <a:bodyPr/>
          <a:lstStyle/>
          <a:p>
            <a:fld id="{AA27B22F-F1DE-48B0-A8DE-61B74EC6BEA5}" type="slidenum">
              <a:rPr lang="en-US" smtClean="0"/>
              <a:pPr/>
              <a:t>71</a:t>
            </a:fld>
            <a:endParaRPr lang="en-US"/>
          </a:p>
        </p:txBody>
      </p:sp>
      <p:sp>
        <p:nvSpPr>
          <p:cNvPr id="5" name="Footer Placeholder 4"/>
          <p:cNvSpPr>
            <a:spLocks noGrp="1"/>
          </p:cNvSpPr>
          <p:nvPr>
            <p:ph type="ftr" sz="quarter" idx="11"/>
          </p:nvPr>
        </p:nvSpPr>
        <p:spPr/>
        <p:txBody>
          <a:bodyPr/>
          <a:lstStyle/>
          <a:p>
            <a:r>
              <a:rPr lang="en-US" smtClean="0"/>
              <a:t>Dr Jyoti K Sharma</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1175</TotalTime>
  <Words>5368</Words>
  <Application>Microsoft Office PowerPoint</Application>
  <PresentationFormat>On-screen Show (4:3)</PresentationFormat>
  <Paragraphs>607</Paragraphs>
  <Slides>71</Slides>
  <Notes>1</Notes>
  <HiddenSlides>0</HiddenSlides>
  <MMClips>0</MMClips>
  <ScaleCrop>false</ScaleCrop>
  <HeadingPairs>
    <vt:vector size="4" baseType="variant">
      <vt:variant>
        <vt:lpstr>Theme</vt:lpstr>
      </vt:variant>
      <vt:variant>
        <vt:i4>1</vt:i4>
      </vt:variant>
      <vt:variant>
        <vt:lpstr>Slide Titles</vt:lpstr>
      </vt:variant>
      <vt:variant>
        <vt:i4>71</vt:i4>
      </vt:variant>
    </vt:vector>
  </HeadingPairs>
  <TitlesOfParts>
    <vt:vector size="72" baseType="lpstr">
      <vt:lpstr>Office Theme</vt:lpstr>
      <vt:lpstr>Environmental Legislations in India     Dr Jyoti K Sharma Professor &amp; Head Center for Environmental Sciences &amp; Engineering School of Natural Sciences</vt:lpstr>
      <vt:lpstr>  Environmental Legislations                                                                                                                                  </vt:lpstr>
      <vt:lpstr>UN Conference on Human Environment   </vt:lpstr>
      <vt:lpstr> Need for  ENVIRONMENTAL LAWS  </vt:lpstr>
      <vt:lpstr>ENVIRONMENTAL LAWS IN INDIA</vt:lpstr>
      <vt:lpstr> ENVIRONMENTAL LAWS IN INDIA </vt:lpstr>
      <vt:lpstr>Environmental  Protection Acts</vt:lpstr>
      <vt:lpstr>Environmental Protection Acts</vt:lpstr>
      <vt:lpstr>Environment (Protection) Act 1986. &amp; Environment Protection Amendment Rule 1983  </vt:lpstr>
      <vt:lpstr> Environmental Legislations                                                                                                                                  </vt:lpstr>
      <vt:lpstr>Environmental Protection Act 1986  </vt:lpstr>
      <vt:lpstr>The Environment (Protection) Act, 1986</vt:lpstr>
      <vt:lpstr>The Environment (Protection) Act, 1986</vt:lpstr>
      <vt:lpstr>The Environment (Protection) Act, 1986</vt:lpstr>
      <vt:lpstr>The Environment (Protection) Act, 1986</vt:lpstr>
      <vt:lpstr>The Environment (Protection) Act, 1986</vt:lpstr>
      <vt:lpstr>The Environment (Protection) Act, 1986</vt:lpstr>
      <vt:lpstr>Environmental Protection Act 1986</vt:lpstr>
      <vt:lpstr>    The Water (Prevention &amp; Control of Pollution) Act 1974 (as amended up to 1998)  &amp;  The Water (Prevention &amp;control of Pollution) cess Act, 1977 (as amended by Amendment Act 1991)  </vt:lpstr>
      <vt:lpstr> Environmental Legislations                                                                                                                                  </vt:lpstr>
      <vt:lpstr> The Water (Prevention and Control Act) , 1974   </vt:lpstr>
      <vt:lpstr>THE WATER (PREVENTION &amp; CONTROL OF POLLUTION) ACT</vt:lpstr>
      <vt:lpstr>THE WATER (PREVENTION &amp; CONTROL OF POLLUTION) ACT</vt:lpstr>
      <vt:lpstr>The Air (Prevention &amp; Control of Pollution) Act 1981 as amended by Amendment Act 1986 Environment (Protection)</vt:lpstr>
      <vt:lpstr>Environmental Legislations                                                                                                                                  </vt:lpstr>
      <vt:lpstr>AIR (Prevention and Control of Pollution) Act, 1981</vt:lpstr>
      <vt:lpstr>AIR (Prevention and Control of Pollution) Act, 1981</vt:lpstr>
      <vt:lpstr>AIR (Prevention and Control of Pollution) Act, 1981</vt:lpstr>
      <vt:lpstr>The Forest Conservation Act 1980</vt:lpstr>
      <vt:lpstr>FOREST CONSERVATION ACT</vt:lpstr>
      <vt:lpstr>FOREST CONSERVATION ACT</vt:lpstr>
      <vt:lpstr>FOREST CONSERVATION ACT</vt:lpstr>
      <vt:lpstr>FOREST CONSERVATION ACT</vt:lpstr>
      <vt:lpstr>FOREST CONSERVATION ACT</vt:lpstr>
      <vt:lpstr>Wild life protection Act </vt:lpstr>
      <vt:lpstr>WILD LIFE (PROTECTION) ACT, 1972, amended in 1983, 1986 and 1991:</vt:lpstr>
      <vt:lpstr>WILD LIFE (PROTECTION) ACT, 1972, amended in 1983, 1986 and 1991:</vt:lpstr>
      <vt:lpstr>Environmental Legislations                                                                                                                                  </vt:lpstr>
      <vt:lpstr>  Wild life protection Act  </vt:lpstr>
      <vt:lpstr>Environmental Legislations                                                                                                                                  </vt:lpstr>
      <vt:lpstr>Environmental Legislations                                                                                                                                  </vt:lpstr>
      <vt:lpstr>Noise Pollution ( Regulation and Control) Rule 2000 </vt:lpstr>
      <vt:lpstr>Environmental Legislations                                                                                                                                  </vt:lpstr>
      <vt:lpstr>The Notification on Environment Impact Assessment 1994 </vt:lpstr>
      <vt:lpstr>Indian Policies Requiring EIA </vt:lpstr>
      <vt:lpstr>Indian Policies Requiring EIA </vt:lpstr>
      <vt:lpstr> Indian Policies Requiring EIA </vt:lpstr>
      <vt:lpstr> Evolution of  EIA in India  </vt:lpstr>
      <vt:lpstr> Evolution of EIA in India  </vt:lpstr>
      <vt:lpstr>  Evolution of EIA in India  </vt:lpstr>
      <vt:lpstr> Evolution of EIA In India </vt:lpstr>
      <vt:lpstr> </vt:lpstr>
      <vt:lpstr> NOTIFICATION ON Environmental Impact Assessment of Development Projects </vt:lpstr>
      <vt:lpstr>EIA Notification issued on September 14, 2006</vt:lpstr>
      <vt:lpstr>EIA Notification issued on September 14, 2006</vt:lpstr>
      <vt:lpstr>EIA Notification issued on September 14, 2006</vt:lpstr>
      <vt:lpstr>Environmental  Impact Assessment In India</vt:lpstr>
      <vt:lpstr>Environmental  Impact Assessment In India</vt:lpstr>
      <vt:lpstr>Infrastructure Developmental Activities Requiring Environmental Clearance</vt:lpstr>
      <vt:lpstr>Infrastructure Developmental Activities Requiring Environmental Clearance</vt:lpstr>
      <vt:lpstr>SCHEDULE    (See paragraph 2 and 7) Select list Of Projects Or Activities Requiring Prior Environmental Clearance</vt:lpstr>
      <vt:lpstr>Other Environmental Legislations</vt:lpstr>
      <vt:lpstr>Other Environmental Legislations</vt:lpstr>
      <vt:lpstr>Environmental Legislations                                                                                                                                  </vt:lpstr>
      <vt:lpstr>Environmental Legislations                                                                                                                                  </vt:lpstr>
      <vt:lpstr>Environmental Legislations                                                                                                                                  </vt:lpstr>
      <vt:lpstr>Environmental Legislations                                                                                                                                  </vt:lpstr>
      <vt:lpstr>ISSUES INVOLVED IN THE ENFORCEMENT OF ENVIRONMENTAL LEGISLATION</vt:lpstr>
      <vt:lpstr>ISSUES INVOLVED IN THE ENFORCEMENT OF ENVIRONMENTAL LEGISLATION</vt:lpstr>
      <vt:lpstr>ISSUES INVOLVED IN THE ENFORCEMENT OF ENVIRONMENTAL LEGISLATION</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Legislations in India     Dr Jyoti K Sharma Professor Environmental Sciences &amp; Natural Resource Management School of Natural Sciences</dc:title>
  <dc:creator>J K Sharma</dc:creator>
  <cp:lastModifiedBy>jksharma</cp:lastModifiedBy>
  <cp:revision>19</cp:revision>
  <dcterms:created xsi:type="dcterms:W3CDTF">2015-04-14T17:38:13Z</dcterms:created>
  <dcterms:modified xsi:type="dcterms:W3CDTF">2017-11-13T04:09:15Z</dcterms:modified>
</cp:coreProperties>
</file>