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2" r:id="rId1"/>
  </p:sldMasterIdLst>
  <p:sldIdLst>
    <p:sldId id="256" r:id="rId2"/>
    <p:sldId id="259" r:id="rId3"/>
    <p:sldId id="258" r:id="rId4"/>
    <p:sldId id="257" r:id="rId5"/>
    <p:sldId id="263" r:id="rId6"/>
    <p:sldId id="260" r:id="rId7"/>
    <p:sldId id="261" r:id="rId8"/>
    <p:sldId id="262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13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2/7/2018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857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2/7/2018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894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6F822A4-8DA6-4447-9B1F-C5DB58435268}" type="datetimeFigureOut">
              <a:rPr lang="en-US" smtClean="0"/>
              <a:t>2/7/2018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907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2/7/2018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031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2/7/2018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608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77919A6-33EB-49BD-A62F-1FA56B9F9712}" type="datetimeFigureOut">
              <a:rPr lang="en-US" smtClean="0"/>
              <a:t>2/7/2018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9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2/7/2018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111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2/7/2018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808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2/7/2018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30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2/7/2018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361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2/7/2018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4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2/7/2018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46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Autonomous vehicles and smart cities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396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043722"/>
          </a:xfrm>
        </p:spPr>
        <p:txBody>
          <a:bodyPr/>
          <a:lstStyle/>
          <a:p>
            <a:r>
              <a:rPr lang="en-US" dirty="0" smtClean="0"/>
              <a:t>Sensors used in autonomous cars</a:t>
            </a:r>
            <a:endParaRPr lang="en-US" dirty="0"/>
          </a:p>
        </p:txBody>
      </p:sp>
      <p:pic>
        <p:nvPicPr>
          <p:cNvPr id="1026" name="Picture 2" descr="Fig. 1: Use of different sensors in the motor vehicl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096118"/>
            <a:ext cx="7503129" cy="401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7552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Camera sensors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Computer Vision: </a:t>
            </a:r>
            <a:r>
              <a:rPr lang="en-US" dirty="0"/>
              <a:t>Camera vision eliminates or resolves the impediments noticed across the LIDAR-based </a:t>
            </a:r>
            <a:r>
              <a:rPr lang="en-US" dirty="0" err="1"/>
              <a:t>approach.In</a:t>
            </a:r>
            <a:r>
              <a:rPr lang="en-US" dirty="0"/>
              <a:t> this approach, digital cameras try to interpolate a 3D world around the car. Also, camera vision technology can automate driving by 90</a:t>
            </a:r>
            <a:r>
              <a:rPr lang="en-US" dirty="0" smtClean="0"/>
              <a:t>%.</a:t>
            </a:r>
          </a:p>
          <a:p>
            <a:r>
              <a:rPr lang="en-US" dirty="0"/>
              <a:t>The cameras receive and process data in a 2D, or stereoscopic-pseudo-3D representation of the world. This is different from actual 3D data points as one gets with LIDAR</a:t>
            </a:r>
            <a:r>
              <a:rPr lang="en-US" dirty="0" smtClean="0"/>
              <a:t>. </a:t>
            </a:r>
            <a:r>
              <a:rPr lang="en-US" dirty="0"/>
              <a:t>The computer processing required to interpolate and actually understand the 3D world from this 2D data is immensely complex, and thus financially expensive as well</a:t>
            </a:r>
            <a:r>
              <a:rPr lang="en-US" dirty="0" smtClean="0"/>
              <a:t>.</a:t>
            </a:r>
          </a:p>
          <a:p>
            <a:r>
              <a:rPr lang="en-US" dirty="0"/>
              <a:t>https://analyticsindiamag.com/tesla-google-autonomous-car-technologies-different/</a:t>
            </a:r>
          </a:p>
        </p:txBody>
      </p:sp>
    </p:spTree>
    <p:extLst>
      <p:ext uri="{BB962C8B-B14F-4D97-AF65-F5344CB8AC3E}">
        <p14:creationId xmlns:p14="http://schemas.microsoft.com/office/powerpoint/2010/main" val="1994635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Lidar (</a:t>
            </a:r>
            <a:r>
              <a:rPr lang="en-US" dirty="0" err="1"/>
              <a:t>LIght</a:t>
            </a:r>
            <a:r>
              <a:rPr lang="en-US" dirty="0"/>
              <a:t> Detection And </a:t>
            </a:r>
            <a:r>
              <a:rPr lang="en-US" dirty="0" smtClean="0"/>
              <a:t>Ranging)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238" y="2097895"/>
            <a:ext cx="4225834" cy="4050792"/>
          </a:xfrm>
        </p:spPr>
        <p:txBody>
          <a:bodyPr/>
          <a:lstStyle/>
          <a:p>
            <a:r>
              <a:rPr lang="en-US" dirty="0" smtClean="0"/>
              <a:t>LIDAR Technology</a:t>
            </a:r>
          </a:p>
          <a:p>
            <a:pPr marL="0" indent="0">
              <a:buNone/>
            </a:pPr>
            <a:r>
              <a:rPr lang="en-US" dirty="0" smtClean="0"/>
              <a:t>Disadvantages:</a:t>
            </a:r>
          </a:p>
          <a:p>
            <a:r>
              <a:rPr lang="en-US" dirty="0" smtClean="0"/>
              <a:t>The </a:t>
            </a:r>
            <a:r>
              <a:rPr lang="en-US" dirty="0"/>
              <a:t>technology proves complicated with moving parts</a:t>
            </a:r>
          </a:p>
          <a:p>
            <a:r>
              <a:rPr lang="en-US" dirty="0"/>
              <a:t>The 3D model of the world appears in low-resolution</a:t>
            </a:r>
          </a:p>
          <a:p>
            <a:r>
              <a:rPr lang="en-US" dirty="0"/>
              <a:t>It has relatively modest ranges of only up to 100 meters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806" y="1771324"/>
            <a:ext cx="4601956" cy="380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522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principle</a:t>
            </a:r>
            <a:endParaRPr lang="en-US" dirty="0"/>
          </a:p>
        </p:txBody>
      </p:sp>
      <p:pic>
        <p:nvPicPr>
          <p:cNvPr id="2050" name="Picture 2" descr="Fig. 12: Principle of a lidar distance measuremen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924" y="1794580"/>
            <a:ext cx="4976951" cy="379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6292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Radar (</a:t>
            </a:r>
            <a:r>
              <a:rPr lang="en-US" dirty="0" err="1"/>
              <a:t>RAdio</a:t>
            </a:r>
            <a:r>
              <a:rPr lang="en-US" dirty="0"/>
              <a:t> Detection And </a:t>
            </a:r>
            <a:r>
              <a:rPr lang="en-US" dirty="0" smtClean="0"/>
              <a:t>Ranging)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RADAR has been used in automotive for decades and can determine the velocity, range and angle of objects</a:t>
            </a:r>
            <a:r>
              <a:rPr lang="en-US" dirty="0" smtClean="0"/>
              <a:t>.</a:t>
            </a:r>
          </a:p>
          <a:p>
            <a:r>
              <a:rPr lang="en-US" dirty="0"/>
              <a:t>Long Range Radar (LRR) is the </a:t>
            </a:r>
            <a:r>
              <a:rPr lang="en-US" dirty="0" err="1"/>
              <a:t>defacto</a:t>
            </a:r>
            <a:r>
              <a:rPr lang="en-US" dirty="0"/>
              <a:t> sensor used in Adaptive Cruise Control (ACC) and highway Automatic Emergency Braking Systems (AEBS). </a:t>
            </a:r>
            <a:endParaRPr lang="en-US" dirty="0" smtClean="0"/>
          </a:p>
          <a:p>
            <a:r>
              <a:rPr lang="en-US" dirty="0" smtClean="0"/>
              <a:t>Both RADAR and LIDAR waves travel at the speed of light, but the wavelength of Light helps in detecting the smaller objects.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948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Ultrasonic sensors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Sound waves to measure the distance of an object</a:t>
            </a:r>
          </a:p>
          <a:p>
            <a:r>
              <a:rPr lang="en-US" dirty="0" smtClean="0"/>
              <a:t>Used in Tesla-S vehicles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694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V2X technology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Vehicle to Anything</a:t>
            </a:r>
          </a:p>
          <a:p>
            <a:r>
              <a:rPr lang="en-US" dirty="0" smtClean="0"/>
              <a:t>Enable Communication among vehicles to detect incoming vehicles at the turns and intersections.</a:t>
            </a:r>
          </a:p>
          <a:p>
            <a:r>
              <a:rPr lang="en-US" dirty="0" smtClean="0"/>
              <a:t>Requires Cloud of Fog computers for processing.</a:t>
            </a:r>
          </a:p>
          <a:p>
            <a:r>
              <a:rPr lang="en-US" dirty="0" smtClean="0"/>
              <a:t>Required for Smart Traffic Lighting system</a:t>
            </a:r>
          </a:p>
        </p:txBody>
      </p:sp>
    </p:spTree>
    <p:extLst>
      <p:ext uri="{BB962C8B-B14F-4D97-AF65-F5344CB8AC3E}">
        <p14:creationId xmlns:p14="http://schemas.microsoft.com/office/powerpoint/2010/main" val="2950541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Requirements of a smart city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 efficient delivery of public utilities such as water, electricity, solid waste, sanitation, and sewerage as well as associated government </a:t>
            </a:r>
            <a:r>
              <a:rPr lang="en-US" dirty="0" smtClean="0"/>
              <a:t>services</a:t>
            </a:r>
          </a:p>
          <a:p>
            <a:r>
              <a:rPr lang="en-US" dirty="0"/>
              <a:t>mechanism for supply-demand matching of surface transport services to provide congestion free roads, and minimal waiting time for public transport </a:t>
            </a:r>
            <a:r>
              <a:rPr lang="en-US" dirty="0" smtClean="0"/>
              <a:t>commuters</a:t>
            </a:r>
          </a:p>
          <a:p>
            <a:r>
              <a:rPr lang="en-US" dirty="0"/>
              <a:t>active surveillance, monitoring and alerts at vantage points in the city to provide the much required public safety for </a:t>
            </a:r>
            <a:r>
              <a:rPr lang="en-US" dirty="0" smtClean="0"/>
              <a:t>citizens</a:t>
            </a:r>
          </a:p>
          <a:p>
            <a:r>
              <a:rPr lang="en-US" dirty="0"/>
              <a:t>on-demand availability of reliable emergency services such as ambulance, fire safety.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364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Technical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Sensors that monitor the condition of utilities such as electricity, water supply, load on surface transport and capture real-time data</a:t>
            </a:r>
            <a:r>
              <a:rPr lang="en-US" dirty="0" smtClean="0"/>
              <a:t>;</a:t>
            </a:r>
          </a:p>
          <a:p>
            <a:r>
              <a:rPr lang="en-US" dirty="0"/>
              <a:t>Gateways that aggregate real-time data from these sensors, perform local analytics and based on the result, take </a:t>
            </a:r>
            <a:r>
              <a:rPr lang="en-US" dirty="0" err="1"/>
              <a:t>localised</a:t>
            </a:r>
            <a:r>
              <a:rPr lang="en-US" dirty="0"/>
              <a:t> action to prevent possible faults from further propagating into the networks </a:t>
            </a:r>
            <a:endParaRPr lang="en-US" dirty="0" smtClean="0"/>
          </a:p>
          <a:p>
            <a:r>
              <a:rPr lang="en-US" dirty="0"/>
              <a:t>Communication infrastructure to connect these gateways to server cloud for transmitting data on condition of local area</a:t>
            </a:r>
            <a:r>
              <a:rPr lang="en-US" dirty="0" smtClean="0"/>
              <a:t>;</a:t>
            </a:r>
          </a:p>
          <a:p>
            <a:r>
              <a:rPr lang="en-US" dirty="0"/>
              <a:t>Server farms in a cloud based architecture that warehouses the data; perform real-time mining of such data to provide useful information to various stakeholders through various channels such as mobile devices.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2563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185</TotalTime>
  <Words>319</Words>
  <Application>Microsoft Office PowerPoint</Application>
  <PresentationFormat>On-screen Show (4:3)</PresentationFormat>
  <Paragraphs>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Rockwell</vt:lpstr>
      <vt:lpstr>Rockwell Condensed</vt:lpstr>
      <vt:lpstr>Wingdings</vt:lpstr>
      <vt:lpstr>Wood Type</vt:lpstr>
      <vt:lpstr>Autonomous vehicles and smart cities</vt:lpstr>
      <vt:lpstr>Sensors used in autonomous cars</vt:lpstr>
      <vt:lpstr>Camera sensors</vt:lpstr>
      <vt:lpstr>Lidar (LIght Detection And Ranging)</vt:lpstr>
      <vt:lpstr>Working principle</vt:lpstr>
      <vt:lpstr>Radar (RAdio Detection And Ranging)</vt:lpstr>
      <vt:lpstr>Ultrasonic sensors</vt:lpstr>
      <vt:lpstr>V2X technology</vt:lpstr>
      <vt:lpstr>Requirements of a smart city</vt:lpstr>
      <vt:lpstr>Technical 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vehicles and smart cities</dc:title>
  <dc:creator>Anuradha Ravi</dc:creator>
  <cp:lastModifiedBy>Anuradha Ravi</cp:lastModifiedBy>
  <cp:revision>6</cp:revision>
  <dcterms:created xsi:type="dcterms:W3CDTF">2018-02-07T05:26:32Z</dcterms:created>
  <dcterms:modified xsi:type="dcterms:W3CDTF">2018-02-07T08:31:59Z</dcterms:modified>
</cp:coreProperties>
</file>