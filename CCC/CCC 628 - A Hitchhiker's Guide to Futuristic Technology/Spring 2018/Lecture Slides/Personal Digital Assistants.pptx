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8" r:id="rId3"/>
    <p:sldId id="259" r:id="rId4"/>
    <p:sldId id="260" r:id="rId5"/>
    <p:sldId id="261" r:id="rId6"/>
    <p:sldId id="262" r:id="rId7"/>
    <p:sldId id="264" r:id="rId8"/>
    <p:sldId id="265" r:id="rId9"/>
    <p:sldId id="266" r:id="rId10"/>
    <p:sldId id="267" r:id="rId11"/>
    <p:sldId id="268" r:id="rId12"/>
    <p:sldId id="270" r:id="rId13"/>
    <p:sldId id="271"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13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87DE6118-2437-4B30-8E3C-4D2BE6020583}" type="datetimeFigureOut">
              <a:rPr lang="en-US" smtClean="0"/>
              <a:pPr/>
              <a:t>2/5/2018</a:t>
            </a:fld>
            <a:endParaRPr lang="en-US" dirty="0"/>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69E57DC2-970A-4B3E-BB1C-7A09969E49DF}" type="slidenum">
              <a:rPr lang="en-US" smtClean="0"/>
              <a:pPr/>
              <a:t>‹#›</a:t>
            </a:fld>
            <a:endParaRPr lang="en-US" dirty="0"/>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508248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127336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87DE6118-2437-4B30-8E3C-4D2BE6020583}" type="datetimeFigureOut">
              <a:rPr lang="en-US" smtClean="0"/>
              <a:pPr/>
              <a:t>2/5/2018</a:t>
            </a:fld>
            <a:endParaRPr lang="en-US" dirty="0"/>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6288980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988349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034416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46860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5658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87DE6118-2437-4B30-8E3C-4D2BE6020583}" type="datetimeFigureOut">
              <a:rPr lang="en-US" smtClean="0"/>
              <a:pPr/>
              <a:t>2/5/2018</a:t>
            </a:fld>
            <a:endParaRPr lang="en-US" dirty="0"/>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7890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87DE6118-2437-4B30-8E3C-4D2BE6020583}" type="datetimeFigureOut">
              <a:rPr lang="en-US" smtClean="0"/>
              <a:pPr/>
              <a:t>2/5/2018</a:t>
            </a:fld>
            <a:endParaRPr lang="en-US" dirty="0"/>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40122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829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580919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87DE6118-2437-4B30-8E3C-4D2BE6020583}" type="datetimeFigureOut">
              <a:rPr lang="en-US" smtClean="0"/>
              <a:pPr/>
              <a:t>2/5/2018</a:t>
            </a:fld>
            <a:endParaRPr lang="en-US" dirty="0"/>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598472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12">
          <p15:clr>
            <a:srgbClr val="F26B43"/>
          </p15:clr>
        </p15:guide>
        <p15:guide id="2" pos="936">
          <p15:clr>
            <a:srgbClr val="F26B43"/>
          </p15:clr>
        </p15:guide>
        <p15:guide id="3" pos="864">
          <p15:clr>
            <a:srgbClr val="F26B43"/>
          </p15:clr>
        </p15:guide>
        <p15:guide id="11" orient="horz" pos="1368" userDrawn="1">
          <p15:clr>
            <a:srgbClr val="F26B43"/>
          </p15:clr>
        </p15:guide>
        <p15:guide id="12" orient="horz" pos="1440" userDrawn="1">
          <p15:clr>
            <a:srgbClr val="F26B43"/>
          </p15:clr>
        </p15:guide>
        <p15:guide id="13" orient="horz" pos="3696" userDrawn="1">
          <p15:clr>
            <a:srgbClr val="F26B43"/>
          </p15:clr>
        </p15:guide>
        <p15:guide id="14" orient="horz" pos="432" userDrawn="1">
          <p15:clr>
            <a:srgbClr val="F26B43"/>
          </p15:clr>
        </p15:guide>
        <p15:guide id="15" orient="horz" pos="1512" userDrawn="1">
          <p15:clr>
            <a:srgbClr val="F26B43"/>
          </p15:clr>
        </p15:guide>
        <p15:guide id="16" pos="5184" userDrawn="1">
          <p15:clr>
            <a:srgbClr val="F26B43"/>
          </p15:clr>
        </p15:guide>
        <p15:guide id="17" pos="702" userDrawn="1">
          <p15:clr>
            <a:srgbClr val="F26B43"/>
          </p15:clr>
        </p15:guide>
        <p15:guide id="18" pos="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ectrum.ieee.org/automaton/robotics/robotics-hardware/thalmic-myo-armband-provides-effortless-gesture-control-of-robots"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Payload"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robot assistants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579137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err="1" smtClean="0"/>
              <a:t>ANYmal</a:t>
            </a:r>
            <a:endParaRPr lang="en-IN" dirty="0"/>
          </a:p>
        </p:txBody>
      </p:sp>
      <p:sp>
        <p:nvSpPr>
          <p:cNvPr id="6" name="Content Placeholder 5"/>
          <p:cNvSpPr>
            <a:spLocks noGrp="1"/>
          </p:cNvSpPr>
          <p:nvPr>
            <p:ph sz="half" idx="2"/>
          </p:nvPr>
        </p:nvSpPr>
        <p:spPr>
          <a:xfrm>
            <a:off x="5612509" y="1979567"/>
            <a:ext cx="3335840" cy="3581401"/>
          </a:xfrm>
        </p:spPr>
        <p:txBody>
          <a:bodyPr>
            <a:normAutofit fontScale="92500" lnSpcReduction="20000"/>
          </a:bodyPr>
          <a:lstStyle/>
          <a:p>
            <a:pPr marL="0" indent="0">
              <a:buNone/>
            </a:pPr>
            <a:r>
              <a:rPr lang="en-IN" i="1" dirty="0"/>
              <a:t>The legged robot </a:t>
            </a:r>
            <a:r>
              <a:rPr lang="en-IN" i="1" dirty="0" err="1"/>
              <a:t>ANYmal</a:t>
            </a:r>
            <a:r>
              <a:rPr lang="en-IN" i="1" dirty="0"/>
              <a:t> can support disaster relief teams with safer search and rescue operations. </a:t>
            </a:r>
            <a:endParaRPr lang="en-IN" i="1" dirty="0" smtClean="0"/>
          </a:p>
          <a:p>
            <a:pPr marL="0" indent="0">
              <a:buNone/>
            </a:pPr>
            <a:r>
              <a:rPr lang="en-US" dirty="0"/>
              <a:t>Thanks to incorporated laser sensors and cameras, the robot can perceive its environment to continuously create maps and accurately localize. Based on this information, it can autonomously plan its navigation path and carefully select footholds while walking.</a:t>
            </a:r>
            <a:endParaRPr lang="en-IN" dirty="0"/>
          </a:p>
        </p:txBody>
      </p:sp>
      <p:pic>
        <p:nvPicPr>
          <p:cNvPr id="3074" name="Picture 2" descr="ANYmal - Main component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41317" y="2139042"/>
            <a:ext cx="4682219" cy="3262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8305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Husky – Research Assistant</a:t>
            </a:r>
            <a:endParaRPr lang="en-IN" dirty="0"/>
          </a:p>
        </p:txBody>
      </p:sp>
      <p:pic>
        <p:nvPicPr>
          <p:cNvPr id="7" name="Content Placeholder 6"/>
          <p:cNvPicPr>
            <a:picLocks noGrp="1" noChangeAspect="1"/>
          </p:cNvPicPr>
          <p:nvPr>
            <p:ph idx="1"/>
          </p:nvPr>
        </p:nvPicPr>
        <p:blipFill>
          <a:blip r:embed="rId2"/>
          <a:stretch>
            <a:fillRect/>
          </a:stretch>
        </p:blipFill>
        <p:spPr>
          <a:xfrm>
            <a:off x="748184" y="1884316"/>
            <a:ext cx="4241828" cy="3471455"/>
          </a:xfrm>
          <a:prstGeom prst="rect">
            <a:avLst/>
          </a:prstGeom>
        </p:spPr>
      </p:pic>
      <p:sp>
        <p:nvSpPr>
          <p:cNvPr id="2" name="TextBox 1"/>
          <p:cNvSpPr txBox="1"/>
          <p:nvPr/>
        </p:nvSpPr>
        <p:spPr>
          <a:xfrm>
            <a:off x="5408024" y="2378740"/>
            <a:ext cx="3063624" cy="341632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Contains Cameras, LIDAR, GPS</a:t>
            </a:r>
          </a:p>
          <a:p>
            <a:r>
              <a:rPr lang="en-US" dirty="0" smtClean="0"/>
              <a:t>For assisting field research.</a:t>
            </a:r>
          </a:p>
          <a:p>
            <a:endParaRPr lang="en-US" dirty="0"/>
          </a:p>
          <a:p>
            <a:r>
              <a:rPr lang="en-US" dirty="0"/>
              <a:t>Lidar </a:t>
            </a:r>
            <a:r>
              <a:rPr lang="en-US" dirty="0" smtClean="0"/>
              <a:t>is </a:t>
            </a:r>
            <a:r>
              <a:rPr lang="en-US" dirty="0"/>
              <a:t>a surveying method that measures distance to a target by illuminating that target with a pulsed laser light, and measuring the reflected pulses with a sensor.</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3119264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4382" y="293914"/>
            <a:ext cx="8379618" cy="1485900"/>
          </a:xfrm>
        </p:spPr>
        <p:txBody>
          <a:bodyPr>
            <a:normAutofit/>
          </a:bodyPr>
          <a:lstStyle/>
          <a:p>
            <a:r>
              <a:rPr lang="en-IN" sz="3200" dirty="0" smtClean="0"/>
              <a:t>UAV (Unmanned Aerial</a:t>
            </a:r>
            <a:br>
              <a:rPr lang="en-IN" sz="3200" dirty="0" smtClean="0"/>
            </a:br>
            <a:r>
              <a:rPr lang="en-IN" sz="3200" dirty="0" smtClean="0"/>
              <a:t>Vehicle)</a:t>
            </a:r>
            <a:endParaRPr lang="en-IN" sz="3200" dirty="0"/>
          </a:p>
        </p:txBody>
      </p:sp>
      <p:pic>
        <p:nvPicPr>
          <p:cNvPr id="7" name="Content Placeholder 6"/>
          <p:cNvPicPr>
            <a:picLocks noGrp="1" noChangeAspect="1"/>
          </p:cNvPicPr>
          <p:nvPr>
            <p:ph sz="half" idx="1"/>
          </p:nvPr>
        </p:nvPicPr>
        <p:blipFill>
          <a:blip r:embed="rId2"/>
          <a:stretch>
            <a:fillRect/>
          </a:stretch>
        </p:blipFill>
        <p:spPr>
          <a:xfrm>
            <a:off x="498987" y="1961737"/>
            <a:ext cx="4455204" cy="3054400"/>
          </a:xfrm>
          <a:prstGeom prst="rect">
            <a:avLst/>
          </a:prstGeom>
        </p:spPr>
      </p:pic>
      <p:sp>
        <p:nvSpPr>
          <p:cNvPr id="6" name="Content Placeholder 5"/>
          <p:cNvSpPr>
            <a:spLocks noGrp="1"/>
          </p:cNvSpPr>
          <p:nvPr>
            <p:ph sz="half" idx="2"/>
          </p:nvPr>
        </p:nvSpPr>
        <p:spPr>
          <a:xfrm>
            <a:off x="4954191" y="1036864"/>
            <a:ext cx="3922644" cy="5486400"/>
          </a:xfrm>
        </p:spPr>
        <p:txBody>
          <a:bodyPr>
            <a:normAutofit fontScale="92500" lnSpcReduction="20000"/>
          </a:bodyPr>
          <a:lstStyle/>
          <a:p>
            <a:pPr marL="0" indent="0">
              <a:buNone/>
            </a:pPr>
            <a:r>
              <a:rPr lang="en-IN" dirty="0"/>
              <a:t>Video from the aircraft became the most compelling show </a:t>
            </a:r>
            <a:r>
              <a:rPr lang="en-IN" dirty="0" err="1"/>
              <a:t>onboard</a:t>
            </a:r>
            <a:r>
              <a:rPr lang="en-IN" dirty="0"/>
              <a:t>, especially for the seasoned ice pilot responsible for navigating the ship to its targets. Video was also followed with keen interest by web viewers in Alaska and the “lower 48,” streamed in real-time through the boat’s satellite link. </a:t>
            </a:r>
            <a:endParaRPr lang="en-IN" dirty="0" smtClean="0"/>
          </a:p>
          <a:p>
            <a:pPr marL="0" indent="0">
              <a:buNone/>
            </a:pPr>
            <a:r>
              <a:rPr lang="en-IN" dirty="0" smtClean="0"/>
              <a:t>Occasionally </a:t>
            </a:r>
            <a:r>
              <a:rPr lang="en-IN" dirty="0"/>
              <a:t>their view was clouded by fast-forming fog – a common problem that, together with the cold and distance from help, makes manned-aircraft reconnaissance a daunting proposition over the Arctic. Low visibility would have put a helicopter’s crew in danger, but </a:t>
            </a:r>
            <a:r>
              <a:rPr lang="en-IN" dirty="0" err="1"/>
              <a:t>Flexrotor</a:t>
            </a:r>
            <a:r>
              <a:rPr lang="en-IN" dirty="0"/>
              <a:t> simply returned to the fog-shrouded ship, landed automatically, and waited for the skies to clear. The whole reconnaissance operation was much safer and more practical than any manned-aircraft option, and less costly.</a:t>
            </a:r>
          </a:p>
        </p:txBody>
      </p:sp>
    </p:spTree>
    <p:extLst>
      <p:ext uri="{BB962C8B-B14F-4D97-AF65-F5344CB8AC3E}">
        <p14:creationId xmlns:p14="http://schemas.microsoft.com/office/powerpoint/2010/main" val="3260519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947057"/>
          </a:xfrm>
        </p:spPr>
        <p:txBody>
          <a:bodyPr>
            <a:normAutofit fontScale="90000"/>
          </a:bodyPr>
          <a:lstStyle/>
          <a:p>
            <a:r>
              <a:rPr lang="en-IN" dirty="0"/>
              <a:t> </a:t>
            </a:r>
            <a:r>
              <a:rPr lang="en-IN" u="sng" dirty="0" err="1">
                <a:hlinkClick r:id="rId2"/>
              </a:rPr>
              <a:t>Myo</a:t>
            </a:r>
            <a:r>
              <a:rPr lang="en-IN" u="sng" dirty="0">
                <a:hlinkClick r:id="rId2"/>
              </a:rPr>
              <a:t> gesture-recognition armband</a:t>
            </a:r>
            <a:endParaRPr lang="en-IN" dirty="0"/>
          </a:p>
        </p:txBody>
      </p:sp>
      <p:pic>
        <p:nvPicPr>
          <p:cNvPr id="5" name="Content Placeholder 4"/>
          <p:cNvPicPr>
            <a:picLocks noGrp="1" noChangeAspect="1"/>
          </p:cNvPicPr>
          <p:nvPr>
            <p:ph sz="half" idx="1"/>
          </p:nvPr>
        </p:nvPicPr>
        <p:blipFill>
          <a:blip r:embed="rId3"/>
          <a:stretch>
            <a:fillRect/>
          </a:stretch>
        </p:blipFill>
        <p:spPr>
          <a:xfrm>
            <a:off x="767268" y="2286000"/>
            <a:ext cx="3861882" cy="2880927"/>
          </a:xfrm>
          <a:prstGeom prst="rect">
            <a:avLst/>
          </a:prstGeom>
        </p:spPr>
      </p:pic>
      <p:sp>
        <p:nvSpPr>
          <p:cNvPr id="4" name="Content Placeholder 3"/>
          <p:cNvSpPr>
            <a:spLocks noGrp="1"/>
          </p:cNvSpPr>
          <p:nvPr>
            <p:ph sz="half" idx="2"/>
          </p:nvPr>
        </p:nvSpPr>
        <p:spPr>
          <a:xfrm>
            <a:off x="4894051" y="2286000"/>
            <a:ext cx="4014817" cy="3581401"/>
          </a:xfrm>
        </p:spPr>
        <p:txBody>
          <a:bodyPr>
            <a:normAutofit fontScale="85000" lnSpcReduction="20000"/>
          </a:bodyPr>
          <a:lstStyle/>
          <a:p>
            <a:pPr marL="0" indent="0">
              <a:buNone/>
            </a:pPr>
            <a:r>
              <a:rPr lang="en-IN" dirty="0"/>
              <a:t>6DoF </a:t>
            </a:r>
            <a:r>
              <a:rPr lang="en-IN" dirty="0" err="1"/>
              <a:t>Schunk</a:t>
            </a:r>
            <a:r>
              <a:rPr lang="en-IN" dirty="0"/>
              <a:t> </a:t>
            </a:r>
            <a:r>
              <a:rPr lang="en-IN" dirty="0" err="1"/>
              <a:t>PowerBall</a:t>
            </a:r>
            <a:r>
              <a:rPr lang="en-IN" dirty="0"/>
              <a:t> LWP4 robotic arm and SVH anthropomorphic hand are controlled over Bluetooth using the </a:t>
            </a:r>
            <a:r>
              <a:rPr lang="en-IN" dirty="0" err="1"/>
              <a:t>Myo</a:t>
            </a:r>
            <a:r>
              <a:rPr lang="en-IN" dirty="0"/>
              <a:t> armband. Both position and orientation of the </a:t>
            </a:r>
            <a:r>
              <a:rPr lang="en-IN" dirty="0" err="1"/>
              <a:t>Myo</a:t>
            </a:r>
            <a:r>
              <a:rPr lang="en-IN" dirty="0"/>
              <a:t> sensor are used to move the arm and place the hand close to the object of interest. </a:t>
            </a:r>
            <a:endParaRPr lang="en-IN" dirty="0" smtClean="0"/>
          </a:p>
          <a:p>
            <a:pPr marL="0" indent="0">
              <a:buNone/>
            </a:pPr>
            <a:r>
              <a:rPr lang="en-IN" dirty="0" err="1" smtClean="0"/>
              <a:t>Myo’s</a:t>
            </a:r>
            <a:r>
              <a:rPr lang="en-IN" dirty="0" smtClean="0"/>
              <a:t> </a:t>
            </a:r>
            <a:r>
              <a:rPr lang="en-IN" dirty="0"/>
              <a:t>EMG sensors detect muscle activity of the user’s grasp, release gestures and trigger grasp motion of the robotic hand. Collisions with the table are avoided by using dynamic kinematic restrictions, so that the hand always stays over the table surface. The system can quickly adapt to work with any user in under one second thanks to the very fast calibration of the </a:t>
            </a:r>
            <a:r>
              <a:rPr lang="en-IN" dirty="0" err="1"/>
              <a:t>Myo</a:t>
            </a:r>
            <a:r>
              <a:rPr lang="en-IN" dirty="0"/>
              <a:t> armband.</a:t>
            </a:r>
          </a:p>
        </p:txBody>
      </p:sp>
    </p:spTree>
    <p:extLst>
      <p:ext uri="{BB962C8B-B14F-4D97-AF65-F5344CB8AC3E}">
        <p14:creationId xmlns:p14="http://schemas.microsoft.com/office/powerpoint/2010/main" val="31390327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NASA’s Out of Sight Drone</a:t>
            </a:r>
            <a:endParaRPr lang="en-IN" dirty="0"/>
          </a:p>
        </p:txBody>
      </p:sp>
      <p:pic>
        <p:nvPicPr>
          <p:cNvPr id="5" name="Content Placeholder 4"/>
          <p:cNvPicPr>
            <a:picLocks noGrp="1" noChangeAspect="1"/>
          </p:cNvPicPr>
          <p:nvPr>
            <p:ph sz="half" idx="1"/>
          </p:nvPr>
        </p:nvPicPr>
        <p:blipFill>
          <a:blip r:embed="rId2"/>
          <a:stretch>
            <a:fillRect/>
          </a:stretch>
        </p:blipFill>
        <p:spPr>
          <a:xfrm>
            <a:off x="702130" y="2285999"/>
            <a:ext cx="3791493" cy="3278777"/>
          </a:xfrm>
          <a:prstGeom prst="rect">
            <a:avLst/>
          </a:prstGeom>
        </p:spPr>
      </p:pic>
      <p:sp>
        <p:nvSpPr>
          <p:cNvPr id="4" name="Content Placeholder 3"/>
          <p:cNvSpPr>
            <a:spLocks noGrp="1"/>
          </p:cNvSpPr>
          <p:nvPr>
            <p:ph sz="half" idx="2"/>
          </p:nvPr>
        </p:nvSpPr>
        <p:spPr>
          <a:xfrm>
            <a:off x="4737297" y="1567543"/>
            <a:ext cx="4210760" cy="5068388"/>
          </a:xfrm>
        </p:spPr>
        <p:txBody>
          <a:bodyPr>
            <a:normAutofit fontScale="77500" lnSpcReduction="20000"/>
          </a:bodyPr>
          <a:lstStyle/>
          <a:p>
            <a:r>
              <a:rPr lang="en-IN" dirty="0"/>
              <a:t>The “out of sight” tests, led by NASA in coordination with the Federal Aviation Administration and several partners, were the latest waypoint in solving the challenge of drones flying beyond the visual line of sight of their human operators without endangering other aircraft. They were part of NASA’s Unmanned Aircraft Systems (UAS) traffic management (UTM) research platform.</a:t>
            </a:r>
          </a:p>
          <a:p>
            <a:endParaRPr lang="en-IN" dirty="0"/>
          </a:p>
          <a:p>
            <a:r>
              <a:rPr lang="en-IN" dirty="0"/>
              <a:t>UTM’s Technical Capability Level Three testing is planned for January 2018 and will involve evaluating tracking procedures for managing cooperative and uncooperative drones to ensure collective safety of manned and unmanned operations </a:t>
            </a:r>
            <a:r>
              <a:rPr lang="en-IN" dirty="0" smtClean="0"/>
              <a:t>over moderately populated areas. Technical Capability Level Four, planned for 2019, </a:t>
            </a:r>
            <a:r>
              <a:rPr lang="en-IN" dirty="0"/>
              <a:t>will involve higher-density urban areas for autonomous vehicles used for newsgathering and package delivery, and will offer large-scale contingency mitigation.</a:t>
            </a:r>
          </a:p>
        </p:txBody>
      </p:sp>
    </p:spTree>
    <p:extLst>
      <p:ext uri="{BB962C8B-B14F-4D97-AF65-F5344CB8AC3E}">
        <p14:creationId xmlns:p14="http://schemas.microsoft.com/office/powerpoint/2010/main" val="42741845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Canadram</a:t>
            </a:r>
            <a:endParaRPr lang="en-US" dirty="0"/>
          </a:p>
        </p:txBody>
      </p:sp>
      <p:sp>
        <p:nvSpPr>
          <p:cNvPr id="4" name="Content Placeholder 3"/>
          <p:cNvSpPr>
            <a:spLocks noGrp="1"/>
          </p:cNvSpPr>
          <p:nvPr>
            <p:ph sz="half" idx="2"/>
          </p:nvPr>
        </p:nvSpPr>
        <p:spPr/>
        <p:txBody>
          <a:bodyPr/>
          <a:lstStyle/>
          <a:p>
            <a:pPr marL="0" indent="0">
              <a:buNone/>
            </a:pPr>
            <a:r>
              <a:rPr lang="en-US" dirty="0" smtClean="0"/>
              <a:t>Robotic Arm installed with space shuttles to </a:t>
            </a:r>
            <a:r>
              <a:rPr lang="en-US" dirty="0"/>
              <a:t>deploy, maneuver and capture </a:t>
            </a:r>
            <a:r>
              <a:rPr lang="en-US" dirty="0">
                <a:hlinkClick r:id="rId2" tooltip="Payload"/>
              </a:rPr>
              <a:t>payloads</a:t>
            </a:r>
            <a:r>
              <a:rPr lang="en-US" dirty="0"/>
              <a:t>.</a:t>
            </a:r>
            <a:endParaRPr lang="en-US" dirty="0"/>
          </a:p>
        </p:txBody>
      </p:sp>
      <p:pic>
        <p:nvPicPr>
          <p:cNvPr id="1026" name="Picture 2" descr="https://upload.wikimedia.org/wikipedia/commons/thumb/2/2d/STS-116_-_P5_Truss_hand-off_to_ISS_%28NASA_S116-E-05765%29.jpg/1024px-STS-116_-_P5_Truss_hand-off_to_ISS_%28NASA_S116-E-05765%29.jpg"/>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28700" y="2476500"/>
            <a:ext cx="3528015"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119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Servicing Systems</a:t>
            </a:r>
            <a:endParaRPr lang="en-US" dirty="0"/>
          </a:p>
        </p:txBody>
      </p:sp>
      <p:sp>
        <p:nvSpPr>
          <p:cNvPr id="4" name="Content Placeholder 3"/>
          <p:cNvSpPr>
            <a:spLocks noGrp="1"/>
          </p:cNvSpPr>
          <p:nvPr>
            <p:ph sz="half" idx="2"/>
          </p:nvPr>
        </p:nvSpPr>
        <p:spPr>
          <a:xfrm>
            <a:off x="5364314" y="2285998"/>
            <a:ext cx="3335840" cy="3581401"/>
          </a:xfrm>
        </p:spPr>
        <p:txBody>
          <a:bodyPr/>
          <a:lstStyle/>
          <a:p>
            <a:pPr marL="0" indent="0">
              <a:buNone/>
            </a:pPr>
            <a:r>
              <a:rPr lang="en-US" dirty="0" smtClean="0"/>
              <a:t>Robotic arm aids in servicing and maintenance of International Space Station.</a:t>
            </a:r>
            <a:endParaRPr lang="en-US" dirty="0"/>
          </a:p>
        </p:txBody>
      </p:sp>
      <p:pic>
        <p:nvPicPr>
          <p:cNvPr id="2050" name="Picture 2" descr="https://upload.wikimedia.org/wikipedia/commons/thumb/e/e5/STS-114_Steve_Robinson_on_Canadarm2.jpg/1024px-STS-114_Steve_Robinson_on_Canadarm2.jp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54379" y="2442754"/>
            <a:ext cx="4146425" cy="2733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22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 Einstein</a:t>
            </a:r>
            <a:endParaRPr lang="en-US" dirty="0"/>
          </a:p>
        </p:txBody>
      </p:sp>
      <p:pic>
        <p:nvPicPr>
          <p:cNvPr id="5" name="Content Placeholder 4"/>
          <p:cNvPicPr>
            <a:picLocks noGrp="1" noChangeAspect="1"/>
          </p:cNvPicPr>
          <p:nvPr>
            <p:ph sz="half" idx="1"/>
          </p:nvPr>
        </p:nvPicPr>
        <p:blipFill>
          <a:blip r:embed="rId2"/>
          <a:stretch>
            <a:fillRect/>
          </a:stretch>
        </p:blipFill>
        <p:spPr>
          <a:xfrm>
            <a:off x="754379" y="2442865"/>
            <a:ext cx="3869871" cy="3174163"/>
          </a:xfrm>
          <a:prstGeom prst="rect">
            <a:avLst/>
          </a:prstGeom>
        </p:spPr>
      </p:pic>
      <p:sp>
        <p:nvSpPr>
          <p:cNvPr id="4" name="Content Placeholder 3"/>
          <p:cNvSpPr>
            <a:spLocks noGrp="1"/>
          </p:cNvSpPr>
          <p:nvPr>
            <p:ph sz="half" idx="2"/>
          </p:nvPr>
        </p:nvSpPr>
        <p:spPr>
          <a:xfrm>
            <a:off x="4894052" y="2286000"/>
            <a:ext cx="3818874" cy="3581401"/>
          </a:xfrm>
        </p:spPr>
        <p:txBody>
          <a:bodyPr/>
          <a:lstStyle/>
          <a:p>
            <a:pPr marL="0" indent="0">
              <a:buNone/>
            </a:pPr>
            <a:r>
              <a:rPr lang="en-US" dirty="0"/>
              <a:t>Professor Einstein is a teaching robot that makes playing educational games about science and math appealing and fun. One of the qualities that makes this robot unique is its human-like appearance, expressions, and gestures. </a:t>
            </a:r>
            <a:endParaRPr lang="en-US" dirty="0"/>
          </a:p>
        </p:txBody>
      </p:sp>
    </p:spTree>
    <p:extLst>
      <p:ext uri="{BB962C8B-B14F-4D97-AF65-F5344CB8AC3E}">
        <p14:creationId xmlns:p14="http://schemas.microsoft.com/office/powerpoint/2010/main" val="2820024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789" y="346166"/>
            <a:ext cx="7200900" cy="724989"/>
          </a:xfrm>
        </p:spPr>
        <p:txBody>
          <a:bodyPr/>
          <a:lstStyle/>
          <a:p>
            <a:r>
              <a:rPr lang="en-US" dirty="0" err="1" smtClean="0"/>
              <a:t>Aido</a:t>
            </a:r>
            <a:endParaRPr lang="en-US" dirty="0"/>
          </a:p>
        </p:txBody>
      </p:sp>
      <p:pic>
        <p:nvPicPr>
          <p:cNvPr id="5" name="Content Placeholder 4"/>
          <p:cNvPicPr>
            <a:picLocks noGrp="1" noChangeAspect="1"/>
          </p:cNvPicPr>
          <p:nvPr>
            <p:ph sz="half" idx="1"/>
          </p:nvPr>
        </p:nvPicPr>
        <p:blipFill>
          <a:blip r:embed="rId2"/>
          <a:stretch>
            <a:fillRect/>
          </a:stretch>
        </p:blipFill>
        <p:spPr>
          <a:xfrm>
            <a:off x="634724" y="1933303"/>
            <a:ext cx="2973758" cy="3581400"/>
          </a:xfrm>
          <a:prstGeom prst="rect">
            <a:avLst/>
          </a:prstGeom>
        </p:spPr>
      </p:pic>
      <p:sp>
        <p:nvSpPr>
          <p:cNvPr id="4" name="Content Placeholder 3"/>
          <p:cNvSpPr>
            <a:spLocks noGrp="1"/>
          </p:cNvSpPr>
          <p:nvPr>
            <p:ph sz="half" idx="2"/>
          </p:nvPr>
        </p:nvSpPr>
        <p:spPr>
          <a:xfrm>
            <a:off x="4136405" y="1672046"/>
            <a:ext cx="4472017" cy="4794068"/>
          </a:xfrm>
        </p:spPr>
        <p:txBody>
          <a:bodyPr/>
          <a:lstStyle/>
          <a:p>
            <a:r>
              <a:rPr lang="en-US" dirty="0" smtClean="0"/>
              <a:t>Has in-built projection screen</a:t>
            </a:r>
          </a:p>
          <a:p>
            <a:r>
              <a:rPr lang="en-US" dirty="0" smtClean="0"/>
              <a:t>Home Integration</a:t>
            </a:r>
            <a:endParaRPr lang="en-US" dirty="0"/>
          </a:p>
        </p:txBody>
      </p:sp>
    </p:spTree>
    <p:extLst>
      <p:ext uri="{BB962C8B-B14F-4D97-AF65-F5344CB8AC3E}">
        <p14:creationId xmlns:p14="http://schemas.microsoft.com/office/powerpoint/2010/main" val="2886145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Buddy</a:t>
            </a:r>
            <a:endParaRPr lang="en-US" dirty="0"/>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r>
              <a:rPr lang="en-US" dirty="0" smtClean="0"/>
              <a:t>Speak multiple languages</a:t>
            </a:r>
          </a:p>
          <a:p>
            <a:r>
              <a:rPr lang="en-US" dirty="0" smtClean="0"/>
              <a:t>Developed using Unity 3d SDK. So, one can add customizable features to the robot. </a:t>
            </a:r>
            <a:endParaRPr lang="en-US" dirty="0"/>
          </a:p>
        </p:txBody>
      </p:sp>
    </p:spTree>
    <p:extLst>
      <p:ext uri="{BB962C8B-B14F-4D97-AF65-F5344CB8AC3E}">
        <p14:creationId xmlns:p14="http://schemas.microsoft.com/office/powerpoint/2010/main" val="145844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Kinect Sensors</a:t>
            </a:r>
            <a:endParaRPr lang="en-US" dirty="0"/>
          </a:p>
        </p:txBody>
      </p:sp>
      <p:pic>
        <p:nvPicPr>
          <p:cNvPr id="5" name="Content Placeholder 4"/>
          <p:cNvPicPr>
            <a:picLocks noGrp="1" noChangeAspect="1"/>
          </p:cNvPicPr>
          <p:nvPr>
            <p:ph sz="half" idx="2"/>
          </p:nvPr>
        </p:nvPicPr>
        <p:blipFill>
          <a:blip r:embed="rId2"/>
          <a:stretch>
            <a:fillRect/>
          </a:stretch>
        </p:blipFill>
        <p:spPr>
          <a:xfrm>
            <a:off x="2046560" y="1957120"/>
            <a:ext cx="5178570" cy="2850011"/>
          </a:xfrm>
          <a:prstGeom prst="rect">
            <a:avLst/>
          </a:prstGeom>
        </p:spPr>
      </p:pic>
    </p:spTree>
    <p:extLst>
      <p:ext uri="{BB962C8B-B14F-4D97-AF65-F5344CB8AC3E}">
        <p14:creationId xmlns:p14="http://schemas.microsoft.com/office/powerpoint/2010/main" val="377279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of a Shopping Assistant</a:t>
            </a:r>
            <a:endParaRPr lang="en-US" dirty="0"/>
          </a:p>
        </p:txBody>
      </p:sp>
      <p:pic>
        <p:nvPicPr>
          <p:cNvPr id="5" name="Content Placeholder 4"/>
          <p:cNvPicPr>
            <a:picLocks noGrp="1" noChangeAspect="1"/>
          </p:cNvPicPr>
          <p:nvPr>
            <p:ph sz="half" idx="1"/>
          </p:nvPr>
        </p:nvPicPr>
        <p:blipFill>
          <a:blip r:embed="rId2"/>
          <a:stretch>
            <a:fillRect/>
          </a:stretch>
        </p:blipFill>
        <p:spPr>
          <a:xfrm>
            <a:off x="1616527" y="2171700"/>
            <a:ext cx="6482443" cy="3978462"/>
          </a:xfrm>
          <a:prstGeom prst="rect">
            <a:avLst/>
          </a:prstGeom>
        </p:spPr>
      </p:pic>
    </p:spTree>
    <p:extLst>
      <p:ext uri="{BB962C8B-B14F-4D97-AF65-F5344CB8AC3E}">
        <p14:creationId xmlns:p14="http://schemas.microsoft.com/office/powerpoint/2010/main" val="1751723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The Future</a:t>
            </a:r>
            <a:endParaRPr lang="en-US" dirty="0"/>
          </a:p>
        </p:txBody>
      </p:sp>
      <p:sp>
        <p:nvSpPr>
          <p:cNvPr id="6" name="Content Placeholder 5"/>
          <p:cNvSpPr>
            <a:spLocks noGrp="1"/>
          </p:cNvSpPr>
          <p:nvPr>
            <p:ph idx="1"/>
          </p:nvPr>
        </p:nvSpPr>
        <p:spPr/>
        <p:txBody>
          <a:bodyPr/>
          <a:lstStyle/>
          <a:p>
            <a:r>
              <a:rPr lang="en-US" dirty="0" smtClean="0"/>
              <a:t>Incorporating Deep Learning to make it personal for every day user.</a:t>
            </a:r>
          </a:p>
          <a:p>
            <a:endParaRPr lang="en-US" dirty="0" smtClean="0"/>
          </a:p>
          <a:p>
            <a:r>
              <a:rPr lang="en-US" dirty="0" smtClean="0"/>
              <a:t>https</a:t>
            </a:r>
            <a:r>
              <a:rPr lang="en-US" dirty="0"/>
              <a:t>://ideaing.com/ideas/the-best-robot-personal-assistants</a:t>
            </a:r>
          </a:p>
        </p:txBody>
      </p:sp>
      <p:sp>
        <p:nvSpPr>
          <p:cNvPr id="7" name="AutoShape 2" descr="Figure 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3457225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275</TotalTime>
  <Words>555</Words>
  <Application>Microsoft Office PowerPoint</Application>
  <PresentationFormat>On-screen Show (4:3)</PresentationFormat>
  <Paragraphs>37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Franklin Gothic Book</vt:lpstr>
      <vt:lpstr>Crop</vt:lpstr>
      <vt:lpstr>robot assistants</vt:lpstr>
      <vt:lpstr>ANYmal</vt:lpstr>
      <vt:lpstr>Husky – Research Assistant</vt:lpstr>
      <vt:lpstr>UAV (Unmanned Aerial Vehicle)</vt:lpstr>
      <vt:lpstr> Myo gesture-recognition armband</vt:lpstr>
      <vt:lpstr>NASA’s Out of Sight Drone</vt:lpstr>
      <vt:lpstr>Canadram</vt:lpstr>
      <vt:lpstr>Mobile Servicing Systems</vt:lpstr>
      <vt:lpstr>Prof. Einstein</vt:lpstr>
      <vt:lpstr>Aido</vt:lpstr>
      <vt:lpstr>Buddy</vt:lpstr>
      <vt:lpstr>Kinect Sensors</vt:lpstr>
      <vt:lpstr>Framework of a Shopping Assistant</vt:lpstr>
      <vt:lpstr>The Future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Anuradha Ravi</dc:creator>
  <cp:lastModifiedBy>Anuradha Ravi</cp:lastModifiedBy>
  <cp:revision>14</cp:revision>
  <dcterms:created xsi:type="dcterms:W3CDTF">2016-11-09T07:03:42Z</dcterms:created>
  <dcterms:modified xsi:type="dcterms:W3CDTF">2018-02-05T07:29:25Z</dcterms:modified>
</cp:coreProperties>
</file>