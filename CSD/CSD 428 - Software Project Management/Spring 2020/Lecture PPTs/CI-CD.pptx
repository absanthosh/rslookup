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7" r:id="rId11"/>
    <p:sldId id="268" r:id="rId12"/>
    <p:sldId id="271" r:id="rId13"/>
    <p:sldId id="272" r:id="rId14"/>
    <p:sldId id="273" r:id="rId15"/>
    <p:sldId id="274" r:id="rId16"/>
    <p:sldId id="270" r:id="rId17"/>
    <p:sldId id="275"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85" d="100"/>
          <a:sy n="85" d="100"/>
        </p:scale>
        <p:origin x="9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87C7B2-B88F-46B0-9601-F4ED849D6414}" type="datetimeFigureOut">
              <a:rPr lang="en-US" smtClean="0"/>
              <a:t>11/12/2016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608227-A6CB-494B-866A-F0C0B43E6CBD}" type="slidenum">
              <a:rPr lang="en-US" smtClean="0"/>
              <a:t>‹#›</a:t>
            </a:fld>
            <a:endParaRPr lang="en-US"/>
          </a:p>
        </p:txBody>
      </p:sp>
    </p:spTree>
    <p:extLst>
      <p:ext uri="{BB962C8B-B14F-4D97-AF65-F5344CB8AC3E}">
        <p14:creationId xmlns:p14="http://schemas.microsoft.com/office/powerpoint/2010/main" val="3983614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smtClean="0">
                <a:latin typeface="Arial" panose="020B0604020202020204" pitchFamily="34" charset="0"/>
              </a:rPr>
              <a:t>Configuration is your code</a:t>
            </a:r>
          </a:p>
          <a:p>
            <a:pPr eaLnBrk="1" hangingPunct="1"/>
            <a:r>
              <a:rPr lang="en-US" altLang="en-US" smtClean="0">
                <a:latin typeface="Arial" panose="020B0604020202020204" pitchFamily="34" charset="0"/>
              </a:rPr>
              <a:t>Developers are responsible for code – make them fix it</a:t>
            </a:r>
          </a:p>
          <a:p>
            <a:pPr eaLnBrk="1" hangingPunct="1"/>
            <a:r>
              <a:rPr lang="en-US" altLang="en-US" smtClean="0">
                <a:latin typeface="Arial" panose="020B0604020202020204" pitchFamily="34" charset="0"/>
              </a:rPr>
              <a:t>Triage the problem, some one get to fix it.</a:t>
            </a:r>
          </a:p>
          <a:p>
            <a:pPr eaLnBrk="1" hangingPunct="1"/>
            <a:endParaRPr lang="en-US" altLang="en-US" smtClean="0">
              <a:latin typeface="Arial" panose="020B0604020202020204" pitchFamily="34" charset="0"/>
            </a:endParaRPr>
          </a:p>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031161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11/12/2016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Continuous_delivery#cite_note-CD_LC-1" TargetMode="External"/><Relationship Id="rId2" Type="http://schemas.openxmlformats.org/officeDocument/2006/relationships/hyperlink" Target="https://en.wikipedia.org/wiki/Software_engineerin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martinfowler.com/bliki/ContinuousDelivery.html" TargetMode="External"/><Relationship Id="rId2" Type="http://schemas.openxmlformats.org/officeDocument/2006/relationships/hyperlink" Target="http://martinfowler.com/articles/continuousIntegration.html" TargetMode="External"/><Relationship Id="rId1" Type="http://schemas.openxmlformats.org/officeDocument/2006/relationships/slideLayout" Target="../slideLayouts/slideLayout2.xml"/><Relationship Id="rId4" Type="http://schemas.openxmlformats.org/officeDocument/2006/relationships/hyperlink" Target="https://en.wikipedia.org/wiki/Continuous_integ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Continuous integration and continuous delivery (CI CD)</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722463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continuous integration?</a:t>
            </a:r>
            <a:endParaRPr lang="en-US" dirty="0"/>
          </a:p>
        </p:txBody>
      </p:sp>
      <p:sp>
        <p:nvSpPr>
          <p:cNvPr id="3" name="Content Placeholder 2"/>
          <p:cNvSpPr>
            <a:spLocks noGrp="1"/>
          </p:cNvSpPr>
          <p:nvPr>
            <p:ph idx="1"/>
          </p:nvPr>
        </p:nvSpPr>
        <p:spPr/>
        <p:txBody>
          <a:bodyPr/>
          <a:lstStyle/>
          <a:p>
            <a:pPr marL="0" indent="0">
              <a:lnSpc>
                <a:spcPct val="95000"/>
              </a:lnSpc>
              <a:spcBef>
                <a:spcPct val="0"/>
              </a:spcBef>
              <a:buFontTx/>
              <a:buNone/>
            </a:pPr>
            <a:r>
              <a:rPr lang="en-US" altLang="en-US" dirty="0">
                <a:solidFill>
                  <a:srgbClr val="FFFFFF"/>
                </a:solidFill>
                <a:latin typeface="Arial" panose="020B0604020202020204" pitchFamily="34" charset="0"/>
              </a:rPr>
              <a:t>"Continuous Integration is a software development practice where members of a team integrate their work frequently, usually each person integrates at least daily - leading to multiple integrations per day.  Each integration is verified by an automated build (including test) to detect integration errors as quickly as possible"</a:t>
            </a:r>
            <a:endParaRPr lang="en-US" altLang="en-US" dirty="0"/>
          </a:p>
          <a:p>
            <a:pPr marL="0" indent="0" algn="r">
              <a:lnSpc>
                <a:spcPct val="95000"/>
              </a:lnSpc>
              <a:spcBef>
                <a:spcPct val="0"/>
              </a:spcBef>
              <a:buFontTx/>
              <a:buNone/>
            </a:pPr>
            <a:endParaRPr lang="en-US" altLang="en-US" dirty="0">
              <a:solidFill>
                <a:srgbClr val="FFFFFF"/>
              </a:solidFill>
              <a:latin typeface="Arial" panose="020B0604020202020204" pitchFamily="34" charset="0"/>
            </a:endParaRPr>
          </a:p>
          <a:p>
            <a:pPr marL="0" indent="0" algn="r">
              <a:lnSpc>
                <a:spcPct val="95000"/>
              </a:lnSpc>
              <a:spcBef>
                <a:spcPct val="0"/>
              </a:spcBef>
              <a:buFontTx/>
              <a:buNone/>
            </a:pPr>
            <a:r>
              <a:rPr lang="en-US" altLang="en-US" dirty="0">
                <a:solidFill>
                  <a:srgbClr val="FFFFFF"/>
                </a:solidFill>
                <a:latin typeface="Arial" panose="020B0604020202020204" pitchFamily="34" charset="0"/>
              </a:rPr>
              <a:t>--Martin Fowler</a:t>
            </a:r>
          </a:p>
          <a:p>
            <a:endParaRPr lang="en-US" dirty="0"/>
          </a:p>
        </p:txBody>
      </p:sp>
    </p:spTree>
    <p:extLst>
      <p:ext uri="{BB962C8B-B14F-4D97-AF65-F5344CB8AC3E}">
        <p14:creationId xmlns:p14="http://schemas.microsoft.com/office/powerpoint/2010/main" val="35909099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continuous integration?</a:t>
            </a:r>
            <a:endParaRPr lang="en-US" dirty="0"/>
          </a:p>
        </p:txBody>
      </p:sp>
      <p:sp>
        <p:nvSpPr>
          <p:cNvPr id="3" name="Content Placeholder 2"/>
          <p:cNvSpPr>
            <a:spLocks noGrp="1"/>
          </p:cNvSpPr>
          <p:nvPr>
            <p:ph idx="1"/>
          </p:nvPr>
        </p:nvSpPr>
        <p:spPr/>
        <p:txBody>
          <a:bodyPr>
            <a:normAutofit fontScale="40000" lnSpcReduction="20000"/>
          </a:bodyPr>
          <a:lstStyle/>
          <a:p>
            <a:pPr marL="857250" lvl="2">
              <a:lnSpc>
                <a:spcPct val="95000"/>
              </a:lnSpc>
              <a:spcBef>
                <a:spcPct val="0"/>
              </a:spcBef>
              <a:buClr>
                <a:srgbClr val="000000"/>
              </a:buClr>
              <a:buFont typeface="Courier New" panose="02070309020205020404" pitchFamily="49" charset="0"/>
              <a:buChar char="o"/>
            </a:pPr>
            <a:r>
              <a:rPr lang="en-US" altLang="en-US" sz="2700" dirty="0">
                <a:solidFill>
                  <a:srgbClr val="FFFFFF"/>
                </a:solidFill>
                <a:latin typeface="Arial" panose="020B0604020202020204" pitchFamily="34" charset="0"/>
              </a:rPr>
              <a:t>Maintain </a:t>
            </a:r>
            <a:r>
              <a:rPr lang="en-US" altLang="en-US" sz="2700" dirty="0" smtClean="0">
                <a:solidFill>
                  <a:srgbClr val="FFFFFF"/>
                </a:solidFill>
                <a:latin typeface="Arial" panose="020B0604020202020204" pitchFamily="34" charset="0"/>
              </a:rPr>
              <a:t>single source repository</a:t>
            </a:r>
            <a:endParaRPr lang="en-US" altLang="en-US" dirty="0"/>
          </a:p>
          <a:p>
            <a:pPr marL="1257300" lvl="3">
              <a:lnSpc>
                <a:spcPct val="95000"/>
              </a:lnSpc>
              <a:spcBef>
                <a:spcPct val="0"/>
              </a:spcBef>
              <a:buClr>
                <a:srgbClr val="000000"/>
              </a:buClr>
              <a:buFont typeface="Wingdings" panose="05000000000000000000" pitchFamily="2" charset="2"/>
              <a:buChar char="§"/>
            </a:pPr>
            <a:r>
              <a:rPr lang="en-US" altLang="en-US" sz="2700" dirty="0">
                <a:solidFill>
                  <a:srgbClr val="FFFFFF"/>
                </a:solidFill>
                <a:latin typeface="Arial" panose="020B0604020202020204" pitchFamily="34" charset="0"/>
              </a:rPr>
              <a:t>Everyone Commits </a:t>
            </a:r>
            <a:r>
              <a:rPr lang="en-US" altLang="en-US" sz="2700" dirty="0" smtClean="0">
                <a:solidFill>
                  <a:srgbClr val="FFFFFF"/>
                </a:solidFill>
                <a:latin typeface="Arial" panose="020B0604020202020204" pitchFamily="34" charset="0"/>
              </a:rPr>
              <a:t>frequently at least daily</a:t>
            </a:r>
            <a:endParaRPr lang="en-US" altLang="en-US" dirty="0"/>
          </a:p>
          <a:p>
            <a:pPr marL="857250" lvl="2">
              <a:lnSpc>
                <a:spcPct val="95000"/>
              </a:lnSpc>
              <a:spcBef>
                <a:spcPct val="0"/>
              </a:spcBef>
              <a:buClr>
                <a:srgbClr val="000000"/>
              </a:buClr>
              <a:buFont typeface="Courier New" panose="02070309020205020404" pitchFamily="49" charset="0"/>
              <a:buChar char="o"/>
            </a:pPr>
            <a:r>
              <a:rPr lang="en-US" altLang="en-US" sz="2700" dirty="0">
                <a:solidFill>
                  <a:srgbClr val="FFFFFF"/>
                </a:solidFill>
                <a:latin typeface="Arial" panose="020B0604020202020204" pitchFamily="34" charset="0"/>
              </a:rPr>
              <a:t>Automate the </a:t>
            </a:r>
            <a:r>
              <a:rPr lang="en-US" altLang="en-US" sz="2700" dirty="0" smtClean="0">
                <a:solidFill>
                  <a:srgbClr val="FFFFFF"/>
                </a:solidFill>
                <a:latin typeface="Arial" panose="020B0604020202020204" pitchFamily="34" charset="0"/>
              </a:rPr>
              <a:t>build</a:t>
            </a:r>
            <a:endParaRPr lang="en-US" altLang="en-US" dirty="0"/>
          </a:p>
          <a:p>
            <a:pPr marL="1257300" lvl="3">
              <a:lnSpc>
                <a:spcPct val="95000"/>
              </a:lnSpc>
              <a:spcBef>
                <a:spcPct val="0"/>
              </a:spcBef>
              <a:buClr>
                <a:srgbClr val="000000"/>
              </a:buClr>
              <a:buFont typeface="Wingdings" panose="05000000000000000000" pitchFamily="2" charset="2"/>
              <a:buChar char="§"/>
            </a:pPr>
            <a:r>
              <a:rPr lang="en-US" altLang="en-US" sz="2700" dirty="0">
                <a:solidFill>
                  <a:srgbClr val="FFFFFF"/>
                </a:solidFill>
                <a:latin typeface="Arial" panose="020B0604020202020204" pitchFamily="34" charset="0"/>
              </a:rPr>
              <a:t>Every </a:t>
            </a:r>
            <a:r>
              <a:rPr lang="en-US" altLang="en-US" sz="2700" dirty="0" smtClean="0">
                <a:solidFill>
                  <a:srgbClr val="FFFFFF"/>
                </a:solidFill>
                <a:latin typeface="Arial" panose="020B0604020202020204" pitchFamily="34" charset="0"/>
              </a:rPr>
              <a:t>commit triggers a build on </a:t>
            </a:r>
            <a:r>
              <a:rPr lang="en-US" altLang="en-US" sz="2700" dirty="0">
                <a:solidFill>
                  <a:srgbClr val="FFFFFF"/>
                </a:solidFill>
                <a:latin typeface="Arial" panose="020B0604020202020204" pitchFamily="34" charset="0"/>
              </a:rPr>
              <a:t>a </a:t>
            </a:r>
            <a:r>
              <a:rPr lang="en-US" altLang="en-US" sz="2700" dirty="0" smtClean="0">
                <a:solidFill>
                  <a:srgbClr val="FFFFFF"/>
                </a:solidFill>
                <a:latin typeface="Arial" panose="020B0604020202020204" pitchFamily="34" charset="0"/>
              </a:rPr>
              <a:t>build server</a:t>
            </a:r>
          </a:p>
          <a:p>
            <a:pPr marL="857250" lvl="2">
              <a:lnSpc>
                <a:spcPct val="95000"/>
              </a:lnSpc>
              <a:spcBef>
                <a:spcPct val="0"/>
              </a:spcBef>
              <a:buClr>
                <a:srgbClr val="000000"/>
              </a:buClr>
              <a:buFont typeface="Courier New" panose="02070309020205020404" pitchFamily="49" charset="0"/>
              <a:buChar char="o"/>
            </a:pPr>
            <a:r>
              <a:rPr lang="en-US" altLang="en-US" sz="2700" dirty="0" smtClean="0">
                <a:solidFill>
                  <a:srgbClr val="FFFFFF"/>
                </a:solidFill>
                <a:latin typeface="Arial" panose="020B0604020202020204" pitchFamily="34" charset="0"/>
              </a:rPr>
              <a:t>Run code quality checks</a:t>
            </a:r>
            <a:endParaRPr lang="en-US" altLang="en-US" dirty="0"/>
          </a:p>
          <a:p>
            <a:pPr marL="1257300" lvl="3">
              <a:lnSpc>
                <a:spcPct val="95000"/>
              </a:lnSpc>
              <a:spcBef>
                <a:spcPct val="0"/>
              </a:spcBef>
              <a:buClr>
                <a:srgbClr val="000000"/>
              </a:buClr>
              <a:buFont typeface="Wingdings" panose="05000000000000000000" pitchFamily="2" charset="2"/>
              <a:buChar char="§"/>
            </a:pPr>
            <a:r>
              <a:rPr lang="en-US" altLang="en-US" sz="2700" dirty="0" smtClean="0">
                <a:solidFill>
                  <a:srgbClr val="FFFFFF"/>
                </a:solidFill>
                <a:latin typeface="Arial" panose="020B0604020202020204" pitchFamily="34" charset="0"/>
              </a:rPr>
              <a:t>Static code analysis</a:t>
            </a:r>
          </a:p>
          <a:p>
            <a:pPr marL="1257300" lvl="3">
              <a:lnSpc>
                <a:spcPct val="95000"/>
              </a:lnSpc>
              <a:spcBef>
                <a:spcPct val="0"/>
              </a:spcBef>
              <a:buClr>
                <a:srgbClr val="000000"/>
              </a:buClr>
              <a:buFont typeface="Wingdings" panose="05000000000000000000" pitchFamily="2" charset="2"/>
              <a:buChar char="§"/>
            </a:pPr>
            <a:r>
              <a:rPr lang="en-US" altLang="en-US" sz="2700" dirty="0" smtClean="0">
                <a:solidFill>
                  <a:srgbClr val="FFFFFF"/>
                </a:solidFill>
                <a:latin typeface="Arial" panose="020B0604020202020204" pitchFamily="34" charset="0"/>
              </a:rPr>
              <a:t>Code coverage</a:t>
            </a:r>
          </a:p>
          <a:p>
            <a:pPr marL="857250" lvl="2">
              <a:lnSpc>
                <a:spcPct val="95000"/>
              </a:lnSpc>
              <a:spcBef>
                <a:spcPct val="0"/>
              </a:spcBef>
              <a:buClr>
                <a:srgbClr val="000000"/>
              </a:buClr>
              <a:buFont typeface="Courier New" panose="02070309020205020404" pitchFamily="49" charset="0"/>
              <a:buChar char="o"/>
            </a:pPr>
            <a:r>
              <a:rPr lang="en-US" altLang="en-US" sz="2700" dirty="0">
                <a:solidFill>
                  <a:srgbClr val="FFFFFF"/>
                </a:solidFill>
                <a:latin typeface="Arial" panose="020B0604020202020204" pitchFamily="34" charset="0"/>
              </a:rPr>
              <a:t>Automate </a:t>
            </a:r>
            <a:r>
              <a:rPr lang="en-US" altLang="en-US" sz="2700" dirty="0" smtClean="0">
                <a:solidFill>
                  <a:srgbClr val="FFFFFF"/>
                </a:solidFill>
                <a:latin typeface="Arial" panose="020B0604020202020204" pitchFamily="34" charset="0"/>
              </a:rPr>
              <a:t>Deployment</a:t>
            </a:r>
            <a:endParaRPr lang="en-US" altLang="en-US" dirty="0"/>
          </a:p>
          <a:p>
            <a:pPr marL="1257300" lvl="3">
              <a:lnSpc>
                <a:spcPct val="95000"/>
              </a:lnSpc>
              <a:spcBef>
                <a:spcPct val="0"/>
              </a:spcBef>
              <a:buClr>
                <a:srgbClr val="000000"/>
              </a:buClr>
              <a:buFont typeface="Wingdings" panose="05000000000000000000" pitchFamily="2" charset="2"/>
              <a:buChar char="§"/>
            </a:pPr>
            <a:r>
              <a:rPr lang="en-US" altLang="en-US" sz="2700" dirty="0" smtClean="0">
                <a:solidFill>
                  <a:srgbClr val="FFFFFF"/>
                </a:solidFill>
                <a:latin typeface="Arial" panose="020B0604020202020204" pitchFamily="34" charset="0"/>
              </a:rPr>
              <a:t>Deploy build artifacts on test servers</a:t>
            </a:r>
            <a:endParaRPr lang="en-US" altLang="en-US" dirty="0"/>
          </a:p>
          <a:p>
            <a:pPr marL="857250" lvl="2">
              <a:lnSpc>
                <a:spcPct val="95000"/>
              </a:lnSpc>
              <a:spcBef>
                <a:spcPct val="0"/>
              </a:spcBef>
              <a:buClr>
                <a:srgbClr val="000000"/>
              </a:buClr>
              <a:buFont typeface="Courier New" panose="02070309020205020404" pitchFamily="49" charset="0"/>
              <a:buChar char="o"/>
            </a:pPr>
            <a:r>
              <a:rPr lang="en-US" altLang="en-US" sz="2700" dirty="0">
                <a:solidFill>
                  <a:srgbClr val="FFFFFF"/>
                </a:solidFill>
                <a:latin typeface="Arial" panose="020B0604020202020204" pitchFamily="34" charset="0"/>
              </a:rPr>
              <a:t>Make </a:t>
            </a:r>
            <a:r>
              <a:rPr lang="en-US" altLang="en-US" sz="2700" dirty="0" smtClean="0">
                <a:solidFill>
                  <a:srgbClr val="FFFFFF"/>
                </a:solidFill>
                <a:latin typeface="Arial" panose="020B0604020202020204" pitchFamily="34" charset="0"/>
              </a:rPr>
              <a:t>build self testing</a:t>
            </a:r>
          </a:p>
          <a:p>
            <a:pPr marL="1200150" lvl="3">
              <a:lnSpc>
                <a:spcPct val="95000"/>
              </a:lnSpc>
              <a:spcBef>
                <a:spcPct val="0"/>
              </a:spcBef>
              <a:buClr>
                <a:srgbClr val="000000"/>
              </a:buClr>
              <a:buFont typeface="Courier New" panose="02070309020205020404" pitchFamily="49" charset="0"/>
              <a:buChar char="o"/>
            </a:pPr>
            <a:r>
              <a:rPr lang="en-US" altLang="en-US" sz="2500" dirty="0" smtClean="0">
                <a:solidFill>
                  <a:srgbClr val="FFFFFF"/>
                </a:solidFill>
                <a:latin typeface="Arial" panose="020B0604020202020204" pitchFamily="34" charset="0"/>
              </a:rPr>
              <a:t>Unit testing</a:t>
            </a:r>
          </a:p>
          <a:p>
            <a:pPr marL="1200150" lvl="3">
              <a:lnSpc>
                <a:spcPct val="95000"/>
              </a:lnSpc>
              <a:spcBef>
                <a:spcPct val="0"/>
              </a:spcBef>
              <a:buClr>
                <a:srgbClr val="000000"/>
              </a:buClr>
              <a:buFont typeface="Courier New" panose="02070309020205020404" pitchFamily="49" charset="0"/>
              <a:buChar char="o"/>
            </a:pPr>
            <a:r>
              <a:rPr lang="en-US" altLang="en-US" sz="2500" dirty="0" smtClean="0">
                <a:solidFill>
                  <a:srgbClr val="FFFFFF"/>
                </a:solidFill>
                <a:latin typeface="Arial" panose="020B0604020202020204" pitchFamily="34" charset="0"/>
              </a:rPr>
              <a:t>Functional testing</a:t>
            </a:r>
          </a:p>
          <a:p>
            <a:pPr marL="1200150" lvl="3">
              <a:lnSpc>
                <a:spcPct val="95000"/>
              </a:lnSpc>
              <a:spcBef>
                <a:spcPct val="0"/>
              </a:spcBef>
              <a:buClr>
                <a:srgbClr val="000000"/>
              </a:buClr>
              <a:buFont typeface="Courier New" panose="02070309020205020404" pitchFamily="49" charset="0"/>
              <a:buChar char="o"/>
            </a:pPr>
            <a:r>
              <a:rPr lang="en-US" altLang="en-US" sz="2500" dirty="0" smtClean="0">
                <a:solidFill>
                  <a:srgbClr val="FFFFFF"/>
                </a:solidFill>
                <a:latin typeface="Arial" panose="020B0604020202020204" pitchFamily="34" charset="0"/>
              </a:rPr>
              <a:t>Integration testing</a:t>
            </a:r>
          </a:p>
          <a:p>
            <a:pPr marL="857250" lvl="2">
              <a:lnSpc>
                <a:spcPct val="95000"/>
              </a:lnSpc>
              <a:spcBef>
                <a:spcPct val="0"/>
              </a:spcBef>
              <a:buClr>
                <a:srgbClr val="000000"/>
              </a:buClr>
              <a:buFont typeface="Courier New" panose="02070309020205020404" pitchFamily="49" charset="0"/>
              <a:buChar char="o"/>
            </a:pPr>
            <a:r>
              <a:rPr lang="en-US" altLang="en-US" sz="2700" dirty="0" smtClean="0">
                <a:solidFill>
                  <a:srgbClr val="FFFFFF"/>
                </a:solidFill>
                <a:latin typeface="Arial" panose="020B0604020202020204" pitchFamily="34" charset="0"/>
              </a:rPr>
              <a:t>Reporting</a:t>
            </a:r>
          </a:p>
          <a:p>
            <a:pPr marL="1200150" lvl="3">
              <a:lnSpc>
                <a:spcPct val="95000"/>
              </a:lnSpc>
              <a:spcBef>
                <a:spcPct val="0"/>
              </a:spcBef>
              <a:buClr>
                <a:srgbClr val="000000"/>
              </a:buClr>
              <a:buFont typeface="Courier New" panose="02070309020205020404" pitchFamily="49" charset="0"/>
              <a:buChar char="o"/>
            </a:pPr>
            <a:r>
              <a:rPr lang="en-US" altLang="en-US" sz="2500" dirty="0" smtClean="0">
                <a:solidFill>
                  <a:srgbClr val="FFFFFF"/>
                </a:solidFill>
                <a:latin typeface="Arial" panose="020B0604020202020204" pitchFamily="34" charset="0"/>
              </a:rPr>
              <a:t>Build report</a:t>
            </a:r>
          </a:p>
          <a:p>
            <a:pPr marL="1200150" lvl="3">
              <a:lnSpc>
                <a:spcPct val="95000"/>
              </a:lnSpc>
              <a:spcBef>
                <a:spcPct val="0"/>
              </a:spcBef>
              <a:buClr>
                <a:srgbClr val="000000"/>
              </a:buClr>
              <a:buFont typeface="Courier New" panose="02070309020205020404" pitchFamily="49" charset="0"/>
              <a:buChar char="o"/>
            </a:pPr>
            <a:r>
              <a:rPr lang="en-US" altLang="en-US" sz="2500" dirty="0" smtClean="0">
                <a:solidFill>
                  <a:srgbClr val="FFFFFF"/>
                </a:solidFill>
                <a:latin typeface="Arial" panose="020B0604020202020204" pitchFamily="34" charset="0"/>
              </a:rPr>
              <a:t>Test report</a:t>
            </a:r>
          </a:p>
          <a:p>
            <a:pPr marL="1200150" lvl="3">
              <a:lnSpc>
                <a:spcPct val="95000"/>
              </a:lnSpc>
              <a:spcBef>
                <a:spcPct val="0"/>
              </a:spcBef>
              <a:buClr>
                <a:srgbClr val="000000"/>
              </a:buClr>
              <a:buFont typeface="Courier New" panose="02070309020205020404" pitchFamily="49" charset="0"/>
              <a:buChar char="o"/>
            </a:pPr>
            <a:endParaRPr lang="en-US" altLang="en-US" sz="2500" dirty="0">
              <a:solidFill>
                <a:srgbClr val="FFFFFF"/>
              </a:solidFill>
              <a:latin typeface="Arial" panose="020B0604020202020204" pitchFamily="34" charset="0"/>
            </a:endParaRPr>
          </a:p>
        </p:txBody>
      </p:sp>
    </p:spTree>
    <p:extLst>
      <p:ext uri="{BB962C8B-B14F-4D97-AF65-F5344CB8AC3E}">
        <p14:creationId xmlns:p14="http://schemas.microsoft.com/office/powerpoint/2010/main" val="28534578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CI</a:t>
            </a:r>
            <a:endParaRPr lang="en-US" dirty="0"/>
          </a:p>
        </p:txBody>
      </p:sp>
      <p:sp>
        <p:nvSpPr>
          <p:cNvPr id="3" name="Content Placeholder 2"/>
          <p:cNvSpPr>
            <a:spLocks noGrp="1"/>
          </p:cNvSpPr>
          <p:nvPr>
            <p:ph idx="1"/>
          </p:nvPr>
        </p:nvSpPr>
        <p:spPr/>
        <p:txBody>
          <a:bodyPr>
            <a:normAutofit lnSpcReduction="10000"/>
          </a:bodyPr>
          <a:lstStyle/>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Fail fast fail early</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Reduces development risks</a:t>
            </a:r>
            <a:endParaRPr lang="en-US" altLang="en-US" dirty="0"/>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Find </a:t>
            </a:r>
            <a:r>
              <a:rPr lang="en-US" altLang="en-US" sz="2700" dirty="0">
                <a:solidFill>
                  <a:srgbClr val="FFFFFF"/>
                </a:solidFill>
                <a:latin typeface="Arial" panose="020B0604020202020204" pitchFamily="34" charset="0"/>
              </a:rPr>
              <a:t>Developer Conflicts </a:t>
            </a:r>
            <a:r>
              <a:rPr lang="en-US" altLang="en-US" sz="2700" dirty="0" smtClean="0">
                <a:solidFill>
                  <a:srgbClr val="FFFFFF"/>
                </a:solidFill>
                <a:latin typeface="Arial" panose="020B0604020202020204" pitchFamily="34" charset="0"/>
              </a:rPr>
              <a:t>Sooner</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Early detection of integration bugs</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Increased Productivity</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Release </a:t>
            </a:r>
            <a:r>
              <a:rPr lang="en-US" altLang="en-US" sz="2700" dirty="0" smtClean="0">
                <a:solidFill>
                  <a:srgbClr val="FFFFFF"/>
                </a:solidFill>
                <a:latin typeface="Arial" panose="020B0604020202020204" pitchFamily="34" charset="0"/>
              </a:rPr>
              <a:t>software </a:t>
            </a:r>
            <a:r>
              <a:rPr lang="en-US" altLang="en-US" sz="2700" dirty="0">
                <a:solidFill>
                  <a:srgbClr val="FFFFFF"/>
                </a:solidFill>
                <a:latin typeface="Arial" panose="020B0604020202020204" pitchFamily="34" charset="0"/>
              </a:rPr>
              <a:t>that </a:t>
            </a:r>
            <a:r>
              <a:rPr lang="en-US" altLang="en-US" sz="2700" dirty="0" smtClean="0">
                <a:solidFill>
                  <a:srgbClr val="FFFFFF"/>
                </a:solidFill>
                <a:latin typeface="Arial" panose="020B0604020202020204" pitchFamily="34" charset="0"/>
              </a:rPr>
              <a:t>contains fewer bugs </a:t>
            </a:r>
            <a:r>
              <a:rPr lang="en-US" altLang="en-US" sz="2700" dirty="0">
                <a:solidFill>
                  <a:srgbClr val="FFFFFF"/>
                </a:solidFill>
                <a:latin typeface="Arial" panose="020B0604020202020204" pitchFamily="34" charset="0"/>
              </a:rPr>
              <a:t>and is More </a:t>
            </a:r>
            <a:r>
              <a:rPr lang="en-US" altLang="en-US" sz="2700" dirty="0" smtClean="0">
                <a:solidFill>
                  <a:srgbClr val="FFFFFF"/>
                </a:solidFill>
                <a:latin typeface="Arial" panose="020B0604020202020204" pitchFamily="34" charset="0"/>
              </a:rPr>
              <a:t>Stable</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Increase deployment frequency</a:t>
            </a:r>
            <a:endParaRPr lang="en-US" altLang="en-US" sz="2700" dirty="0">
              <a:solidFill>
                <a:srgbClr val="FFFFFF"/>
              </a:solidFill>
              <a:latin typeface="Arial" panose="020B0604020202020204" pitchFamily="34" charset="0"/>
            </a:endParaRPr>
          </a:p>
          <a:p>
            <a:endParaRPr lang="en-US" dirty="0"/>
          </a:p>
        </p:txBody>
      </p:sp>
    </p:spTree>
    <p:extLst>
      <p:ext uri="{BB962C8B-B14F-4D97-AF65-F5344CB8AC3E}">
        <p14:creationId xmlns:p14="http://schemas.microsoft.com/office/powerpoint/2010/main" val="10603341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 process</a:t>
            </a:r>
            <a:endParaRPr lang="en-US" dirty="0"/>
          </a:p>
        </p:txBody>
      </p:sp>
      <p:pic>
        <p:nvPicPr>
          <p:cNvPr id="1026" name="Picture 2" descr="Image result for CI proces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9244" y="166249"/>
            <a:ext cx="8624711" cy="4764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264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 code control</a:t>
            </a:r>
            <a:endParaRPr lang="en-US" dirty="0"/>
          </a:p>
        </p:txBody>
      </p:sp>
      <p:sp>
        <p:nvSpPr>
          <p:cNvPr id="3" name="Content Placeholder 2"/>
          <p:cNvSpPr>
            <a:spLocks noGrp="1"/>
          </p:cNvSpPr>
          <p:nvPr>
            <p:ph idx="1"/>
          </p:nvPr>
        </p:nvSpPr>
        <p:spPr/>
        <p:txBody>
          <a:bodyPr>
            <a:normAutofit/>
          </a:bodyPr>
          <a:lstStyle/>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Use a </a:t>
            </a:r>
            <a:r>
              <a:rPr lang="en-US" altLang="en-US" sz="2700" dirty="0" smtClean="0">
                <a:solidFill>
                  <a:srgbClr val="FFFFFF"/>
                </a:solidFill>
                <a:latin typeface="Arial" panose="020B0604020202020204" pitchFamily="34" charset="0"/>
              </a:rPr>
              <a:t>source control system</a:t>
            </a:r>
            <a:endParaRPr lang="en-US" altLang="en-US" dirty="0"/>
          </a:p>
          <a:p>
            <a:pPr marL="857250" lvl="2">
              <a:lnSpc>
                <a:spcPct val="95000"/>
              </a:lnSpc>
              <a:spcBef>
                <a:spcPct val="0"/>
              </a:spcBef>
              <a:buClr>
                <a:srgbClr val="000000"/>
              </a:buClr>
              <a:buFont typeface="Courier New" panose="02070309020205020404" pitchFamily="49" charset="0"/>
              <a:buChar char="o"/>
            </a:pPr>
            <a:r>
              <a:rPr lang="en-US" altLang="en-US" sz="2700" dirty="0" smtClean="0">
                <a:solidFill>
                  <a:srgbClr val="FFFFFF"/>
                </a:solidFill>
                <a:latin typeface="Arial" panose="020B0604020202020204" pitchFamily="34" charset="0"/>
              </a:rPr>
              <a:t>Subversion</a:t>
            </a:r>
            <a:endParaRPr lang="en-US" altLang="en-US" dirty="0"/>
          </a:p>
          <a:p>
            <a:pPr marL="857250" lvl="2">
              <a:lnSpc>
                <a:spcPct val="95000"/>
              </a:lnSpc>
              <a:spcBef>
                <a:spcPct val="0"/>
              </a:spcBef>
              <a:buClr>
                <a:srgbClr val="000000"/>
              </a:buClr>
              <a:buFont typeface="Courier New" panose="02070309020205020404" pitchFamily="49" charset="0"/>
              <a:buChar char="o"/>
            </a:pPr>
            <a:r>
              <a:rPr lang="en-US" altLang="en-US" sz="2700" dirty="0" err="1">
                <a:solidFill>
                  <a:srgbClr val="FFFFFF"/>
                </a:solidFill>
                <a:latin typeface="Arial" panose="020B0604020202020204" pitchFamily="34" charset="0"/>
              </a:rPr>
              <a:t>Git</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Everyone works </a:t>
            </a:r>
            <a:r>
              <a:rPr lang="en-US" altLang="en-US" sz="2700" dirty="0" smtClean="0">
                <a:solidFill>
                  <a:srgbClr val="FFFFFF"/>
                </a:solidFill>
                <a:latin typeface="Arial" panose="020B0604020202020204" pitchFamily="34" charset="0"/>
              </a:rPr>
              <a:t>from "trunk"</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Branches kept to a minimum </a:t>
            </a:r>
            <a:endParaRPr lang="en-US" altLang="en-US" sz="2700" dirty="0" smtClean="0">
              <a:solidFill>
                <a:srgbClr val="FFFFFF"/>
              </a:solidFill>
              <a:latin typeface="Arial" panose="020B0604020202020204" pitchFamily="34" charset="0"/>
            </a:endParaRP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Everything </a:t>
            </a:r>
            <a:r>
              <a:rPr lang="en-US" altLang="en-US" sz="2700" dirty="0">
                <a:solidFill>
                  <a:srgbClr val="FFFFFF"/>
                </a:solidFill>
                <a:latin typeface="Arial" panose="020B0604020202020204" pitchFamily="34" charset="0"/>
              </a:rPr>
              <a:t>needed to build the project goes into source </a:t>
            </a:r>
            <a:r>
              <a:rPr lang="en-US" altLang="en-US" sz="2700" dirty="0" smtClean="0">
                <a:solidFill>
                  <a:srgbClr val="FFFFFF"/>
                </a:solidFill>
                <a:latin typeface="Arial" panose="020B0604020202020204" pitchFamily="34" charset="0"/>
              </a:rPr>
              <a:t>control</a:t>
            </a:r>
          </a:p>
        </p:txBody>
      </p:sp>
    </p:spTree>
    <p:extLst>
      <p:ext uri="{BB962C8B-B14F-4D97-AF65-F5344CB8AC3E}">
        <p14:creationId xmlns:p14="http://schemas.microsoft.com/office/powerpoint/2010/main" val="4080160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commit</a:t>
            </a:r>
            <a:endParaRPr lang="en-US" dirty="0"/>
          </a:p>
        </p:txBody>
      </p:sp>
      <p:sp>
        <p:nvSpPr>
          <p:cNvPr id="3" name="Content Placeholder 2"/>
          <p:cNvSpPr>
            <a:spLocks noGrp="1"/>
          </p:cNvSpPr>
          <p:nvPr>
            <p:ph idx="1"/>
          </p:nvPr>
        </p:nvSpPr>
        <p:spPr/>
        <p:txBody>
          <a:bodyPr>
            <a:normAutofit fontScale="92500"/>
          </a:bodyPr>
          <a:lstStyle/>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Commit many times in a day at least once in a day</a:t>
            </a:r>
            <a:endParaRPr lang="en-US" altLang="en-US" sz="2700" dirty="0">
              <a:solidFill>
                <a:srgbClr val="FFFFFF"/>
              </a:solidFill>
              <a:latin typeface="Arial" panose="020B0604020202020204" pitchFamily="34" charset="0"/>
            </a:endParaRP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Do smaller commits as they </a:t>
            </a:r>
            <a:r>
              <a:rPr lang="en-US" altLang="en-US" sz="2700" dirty="0">
                <a:solidFill>
                  <a:srgbClr val="FFFFFF"/>
                </a:solidFill>
                <a:latin typeface="Arial" panose="020B0604020202020204" pitchFamily="34" charset="0"/>
              </a:rPr>
              <a:t>are less risky</a:t>
            </a:r>
            <a:endParaRPr lang="en-US" altLang="en-US" dirty="0"/>
          </a:p>
          <a:p>
            <a:pPr marL="857250" lvl="2">
              <a:lnSpc>
                <a:spcPct val="95000"/>
              </a:lnSpc>
              <a:spcBef>
                <a:spcPct val="0"/>
              </a:spcBef>
              <a:buClr>
                <a:srgbClr val="000000"/>
              </a:buClr>
              <a:buFont typeface="Courier New" panose="02070309020205020404" pitchFamily="49" charset="0"/>
              <a:buChar char="o"/>
            </a:pPr>
            <a:r>
              <a:rPr lang="en-US" altLang="en-US" sz="2700" dirty="0">
                <a:solidFill>
                  <a:srgbClr val="FFFFFF"/>
                </a:solidFill>
                <a:latin typeface="Arial" panose="020B0604020202020204" pitchFamily="34" charset="0"/>
              </a:rPr>
              <a:t>less chance of conflicts</a:t>
            </a:r>
            <a:endParaRPr lang="en-US" altLang="en-US" dirty="0"/>
          </a:p>
          <a:p>
            <a:pPr marL="857250" lvl="2">
              <a:lnSpc>
                <a:spcPct val="95000"/>
              </a:lnSpc>
              <a:spcBef>
                <a:spcPct val="0"/>
              </a:spcBef>
              <a:buClr>
                <a:srgbClr val="000000"/>
              </a:buClr>
              <a:buFont typeface="Courier New" panose="02070309020205020404" pitchFamily="49" charset="0"/>
              <a:buChar char="o"/>
            </a:pPr>
            <a:r>
              <a:rPr lang="en-US" altLang="en-US" sz="2700" dirty="0">
                <a:solidFill>
                  <a:srgbClr val="FFFFFF"/>
                </a:solidFill>
                <a:latin typeface="Arial" panose="020B0604020202020204" pitchFamily="34" charset="0"/>
              </a:rPr>
              <a:t>conflicts are much easier to </a:t>
            </a:r>
            <a:r>
              <a:rPr lang="en-US" altLang="en-US" sz="2700" dirty="0" smtClean="0">
                <a:solidFill>
                  <a:srgbClr val="FFFFFF"/>
                </a:solidFill>
                <a:latin typeface="Arial" panose="020B0604020202020204" pitchFamily="34" charset="0"/>
              </a:rPr>
              <a:t>resolve</a:t>
            </a:r>
            <a:endParaRPr lang="en-US" altLang="en-US" sz="2700" dirty="0">
              <a:solidFill>
                <a:srgbClr val="FFFFFF"/>
              </a:solidFill>
              <a:latin typeface="Arial" panose="020B0604020202020204" pitchFamily="34" charset="0"/>
            </a:endParaRPr>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Each commit is atomic</a:t>
            </a:r>
            <a:endParaRPr lang="en-US" altLang="en-US" dirty="0"/>
          </a:p>
          <a:p>
            <a:pPr marL="857250" lvl="2">
              <a:lnSpc>
                <a:spcPct val="95000"/>
              </a:lnSpc>
              <a:spcBef>
                <a:spcPct val="0"/>
              </a:spcBef>
              <a:buClr>
                <a:srgbClr val="000000"/>
              </a:buClr>
              <a:buFont typeface="Courier New" panose="02070309020205020404" pitchFamily="49" charset="0"/>
              <a:buChar char="o"/>
            </a:pPr>
            <a:r>
              <a:rPr lang="en-US" altLang="en-US" sz="2700" dirty="0">
                <a:solidFill>
                  <a:srgbClr val="FFFFFF"/>
                </a:solidFill>
                <a:latin typeface="Arial" panose="020B0604020202020204" pitchFamily="34" charset="0"/>
              </a:rPr>
              <a:t>work on a feature, commit a small, logical </a:t>
            </a:r>
            <a:r>
              <a:rPr lang="en-US" altLang="en-US" sz="2700" dirty="0" smtClean="0">
                <a:solidFill>
                  <a:srgbClr val="FFFFFF"/>
                </a:solidFill>
                <a:latin typeface="Arial" panose="020B0604020202020204" pitchFamily="34" charset="0"/>
              </a:rPr>
              <a:t>set of files</a:t>
            </a:r>
            <a:endParaRPr lang="en-US" altLang="en-US" sz="2700" dirty="0">
              <a:solidFill>
                <a:srgbClr val="FFFFFF"/>
              </a:solidFill>
              <a:latin typeface="Arial" panose="020B0604020202020204" pitchFamily="34" charset="0"/>
            </a:endParaRPr>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Do not commit code that breaks the build</a:t>
            </a:r>
            <a:endParaRPr lang="en-US" altLang="en-US" dirty="0"/>
          </a:p>
          <a:p>
            <a:pPr marL="857250" lvl="2">
              <a:lnSpc>
                <a:spcPct val="95000"/>
              </a:lnSpc>
              <a:spcBef>
                <a:spcPct val="0"/>
              </a:spcBef>
              <a:buClr>
                <a:srgbClr val="000000"/>
              </a:buClr>
              <a:buFont typeface="Courier New" panose="02070309020205020404" pitchFamily="49" charset="0"/>
              <a:buChar char="o"/>
            </a:pPr>
            <a:r>
              <a:rPr lang="en-US" altLang="en-US" sz="2700" dirty="0" smtClean="0">
                <a:solidFill>
                  <a:srgbClr val="FFFFFF"/>
                </a:solidFill>
                <a:latin typeface="Arial" panose="020B0604020202020204" pitchFamily="34" charset="0"/>
              </a:rPr>
              <a:t>You should </a:t>
            </a:r>
            <a:r>
              <a:rPr lang="en-US" altLang="en-US" sz="2700" dirty="0">
                <a:solidFill>
                  <a:srgbClr val="FFFFFF"/>
                </a:solidFill>
                <a:latin typeface="Arial" panose="020B0604020202020204" pitchFamily="34" charset="0"/>
              </a:rPr>
              <a:t>not break the build</a:t>
            </a:r>
            <a:r>
              <a:rPr lang="en-US" altLang="en-US" sz="2700" dirty="0" smtClean="0">
                <a:solidFill>
                  <a:srgbClr val="FFFFFF"/>
                </a:solidFill>
                <a:latin typeface="Arial" panose="020B0604020202020204" pitchFamily="34" charset="0"/>
              </a:rPr>
              <a:t>!!!</a:t>
            </a:r>
            <a:endParaRPr lang="en-US" dirty="0"/>
          </a:p>
        </p:txBody>
      </p:sp>
    </p:spTree>
    <p:extLst>
      <p:ext uri="{BB962C8B-B14F-4D97-AF65-F5344CB8AC3E}">
        <p14:creationId xmlns:p14="http://schemas.microsoft.com/office/powerpoint/2010/main" val="8546289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Automate the build</a:t>
            </a:r>
            <a:endParaRPr lang="en-US" dirty="0"/>
          </a:p>
        </p:txBody>
      </p:sp>
      <p:sp>
        <p:nvSpPr>
          <p:cNvPr id="3" name="Content Placeholder 2"/>
          <p:cNvSpPr>
            <a:spLocks noGrp="1"/>
          </p:cNvSpPr>
          <p:nvPr>
            <p:ph idx="1"/>
          </p:nvPr>
        </p:nvSpPr>
        <p:spPr/>
        <p:txBody>
          <a:bodyPr>
            <a:normAutofit lnSpcReduction="10000"/>
          </a:bodyPr>
          <a:lstStyle/>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Ensure </a:t>
            </a:r>
            <a:r>
              <a:rPr lang="en-US" altLang="en-US" sz="2700" dirty="0" smtClean="0">
                <a:solidFill>
                  <a:srgbClr val="FFFFFF"/>
                </a:solidFill>
                <a:latin typeface="Arial" panose="020B0604020202020204" pitchFamily="34" charset="0"/>
              </a:rPr>
              <a:t>that the </a:t>
            </a:r>
            <a:r>
              <a:rPr lang="en-US" altLang="en-US" sz="2700" dirty="0">
                <a:solidFill>
                  <a:srgbClr val="FFFFFF"/>
                </a:solidFill>
                <a:latin typeface="Arial" panose="020B0604020202020204" pitchFamily="34" charset="0"/>
              </a:rPr>
              <a:t>build can be launched with a single command</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Automated build should Include </a:t>
            </a:r>
            <a:r>
              <a:rPr lang="en-US" altLang="en-US" sz="2700" dirty="0" smtClean="0">
                <a:solidFill>
                  <a:srgbClr val="FFFFFF"/>
                </a:solidFill>
                <a:latin typeface="Arial" panose="020B0604020202020204" pitchFamily="34" charset="0"/>
              </a:rPr>
              <a:t>everything: Code, Configurations, other resource files</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Finished build </a:t>
            </a:r>
            <a:r>
              <a:rPr lang="en-US" altLang="en-US" sz="2700" dirty="0" smtClean="0">
                <a:solidFill>
                  <a:srgbClr val="FFFFFF"/>
                </a:solidFill>
                <a:latin typeface="Arial" panose="020B0604020202020204" pitchFamily="34" charset="0"/>
              </a:rPr>
              <a:t>artifacts </a:t>
            </a:r>
            <a:r>
              <a:rPr lang="en-US" altLang="en-US" sz="2700" dirty="0">
                <a:solidFill>
                  <a:srgbClr val="FFFFFF"/>
                </a:solidFill>
                <a:latin typeface="Arial" panose="020B0604020202020204" pitchFamily="34" charset="0"/>
              </a:rPr>
              <a:t>should be a complete running system on the local machine (or dev/test machine)</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Keep the build </a:t>
            </a:r>
            <a:r>
              <a:rPr lang="en-US" altLang="en-US" sz="2700" dirty="0" smtClean="0">
                <a:solidFill>
                  <a:srgbClr val="FFFFFF"/>
                </a:solidFill>
                <a:latin typeface="Arial" panose="020B0604020202020204" pitchFamily="34" charset="0"/>
              </a:rPr>
              <a:t>fast.</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Failed builds should be looked into </a:t>
            </a:r>
            <a:r>
              <a:rPr lang="en-US" altLang="en-US" sz="2700" dirty="0" smtClean="0">
                <a:solidFill>
                  <a:srgbClr val="FFFFFF"/>
                </a:solidFill>
                <a:latin typeface="Arial" panose="020B0604020202020204" pitchFamily="34" charset="0"/>
              </a:rPr>
              <a:t>immediately</a:t>
            </a:r>
            <a:endParaRPr lang="en-US" altLang="en-US" sz="2700" dirty="0">
              <a:solidFill>
                <a:srgbClr val="FFFFFF"/>
              </a:solidFill>
              <a:latin typeface="Arial" panose="020B0604020202020204" pitchFamily="34" charset="0"/>
            </a:endParaRPr>
          </a:p>
        </p:txBody>
      </p:sp>
    </p:spTree>
    <p:extLst>
      <p:ext uri="{BB962C8B-B14F-4D97-AF65-F5344CB8AC3E}">
        <p14:creationId xmlns:p14="http://schemas.microsoft.com/office/powerpoint/2010/main" val="33551145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Automate deployment</a:t>
            </a:r>
            <a:endParaRPr lang="en-US" dirty="0"/>
          </a:p>
        </p:txBody>
      </p:sp>
      <p:sp>
        <p:nvSpPr>
          <p:cNvPr id="3" name="Content Placeholder 2"/>
          <p:cNvSpPr>
            <a:spLocks noGrp="1"/>
          </p:cNvSpPr>
          <p:nvPr>
            <p:ph idx="1"/>
          </p:nvPr>
        </p:nvSpPr>
        <p:spPr/>
        <p:txBody>
          <a:bodyPr>
            <a:normAutofit/>
          </a:bodyPr>
          <a:lstStyle/>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Install infrastructure software e.g. Tomcat</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Setup/Configure infrastructure software</a:t>
            </a:r>
            <a:endParaRPr lang="en-US" altLang="en-US" dirty="0"/>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Deploy application build artifacts</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Configure application</a:t>
            </a:r>
            <a:endParaRPr lang="en-US" altLang="en-US" dirty="0"/>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Create database</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Import database</a:t>
            </a:r>
            <a:endParaRPr lang="en-US" altLang="en-US" dirty="0"/>
          </a:p>
          <a:p>
            <a:pPr marL="457200" lvl="1" indent="-342900">
              <a:lnSpc>
                <a:spcPct val="95000"/>
              </a:lnSpc>
              <a:spcBef>
                <a:spcPct val="0"/>
              </a:spcBef>
              <a:buClr>
                <a:srgbClr val="000000"/>
              </a:buClr>
              <a:buFontTx/>
              <a:buChar char="•"/>
            </a:pPr>
            <a:r>
              <a:rPr lang="en-US" altLang="en-US" sz="2700" dirty="0">
                <a:solidFill>
                  <a:srgbClr val="FFFFFF"/>
                </a:solidFill>
                <a:latin typeface="Arial" panose="020B0604020202020204" pitchFamily="34" charset="0"/>
              </a:rPr>
              <a:t>generate code</a:t>
            </a:r>
            <a:endParaRPr lang="en-US" altLang="en-US" dirty="0"/>
          </a:p>
          <a:p>
            <a:endParaRPr lang="en-US" dirty="0"/>
          </a:p>
        </p:txBody>
      </p:sp>
    </p:spTree>
    <p:extLst>
      <p:ext uri="{BB962C8B-B14F-4D97-AF65-F5344CB8AC3E}">
        <p14:creationId xmlns:p14="http://schemas.microsoft.com/office/powerpoint/2010/main" val="19747217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Automate Testing</a:t>
            </a:r>
            <a:endParaRPr lang="en-US" dirty="0"/>
          </a:p>
        </p:txBody>
      </p:sp>
      <p:sp>
        <p:nvSpPr>
          <p:cNvPr id="3" name="Content Placeholder 2"/>
          <p:cNvSpPr>
            <a:spLocks noGrp="1"/>
          </p:cNvSpPr>
          <p:nvPr>
            <p:ph idx="1"/>
          </p:nvPr>
        </p:nvSpPr>
        <p:spPr/>
        <p:txBody>
          <a:bodyPr>
            <a:normAutofit/>
          </a:bodyPr>
          <a:lstStyle/>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Automate unit testing</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Automate API testing</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Automate GUI testing</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Automate integration testing</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Automate acceptance testing</a:t>
            </a:r>
          </a:p>
          <a:p>
            <a:pPr marL="457200" lvl="1" indent="-342900">
              <a:lnSpc>
                <a:spcPct val="95000"/>
              </a:lnSpc>
              <a:spcBef>
                <a:spcPct val="0"/>
              </a:spcBef>
              <a:buClr>
                <a:srgbClr val="000000"/>
              </a:buClr>
              <a:buFontTx/>
              <a:buChar char="•"/>
            </a:pPr>
            <a:r>
              <a:rPr lang="en-US" altLang="en-US" sz="2700" dirty="0" smtClean="0">
                <a:solidFill>
                  <a:srgbClr val="FFFFFF"/>
                </a:solidFill>
                <a:latin typeface="Arial" panose="020B0604020202020204" pitchFamily="34" charset="0"/>
              </a:rPr>
              <a:t>Automate performance testing</a:t>
            </a:r>
            <a:endParaRPr lang="en-US" altLang="en-US" dirty="0"/>
          </a:p>
          <a:p>
            <a:endParaRPr lang="en-US" dirty="0"/>
          </a:p>
        </p:txBody>
      </p:sp>
    </p:spTree>
    <p:extLst>
      <p:ext uri="{BB962C8B-B14F-4D97-AF65-F5344CB8AC3E}">
        <p14:creationId xmlns:p14="http://schemas.microsoft.com/office/powerpoint/2010/main" val="17474793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 tools</a:t>
            </a:r>
            <a:endParaRPr lang="en-US" dirty="0"/>
          </a:p>
        </p:txBody>
      </p:sp>
      <p:pic>
        <p:nvPicPr>
          <p:cNvPr id="2050" name="Picture 2" descr="Image result for CI tool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4213" y="106373"/>
            <a:ext cx="9509654" cy="4668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3865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 definition</a:t>
            </a:r>
            <a:endParaRPr lang="en-US" dirty="0"/>
          </a:p>
        </p:txBody>
      </p:sp>
      <p:sp>
        <p:nvSpPr>
          <p:cNvPr id="3" name="Content Placeholder 2"/>
          <p:cNvSpPr>
            <a:spLocks noGrp="1"/>
          </p:cNvSpPr>
          <p:nvPr>
            <p:ph idx="1"/>
          </p:nvPr>
        </p:nvSpPr>
        <p:spPr/>
        <p:txBody>
          <a:bodyPr/>
          <a:lstStyle/>
          <a:p>
            <a:r>
              <a:rPr lang="en-US" b="1" dirty="0"/>
              <a:t>Continuous delivery</a:t>
            </a:r>
            <a:r>
              <a:rPr lang="en-US" dirty="0"/>
              <a:t> (</a:t>
            </a:r>
            <a:r>
              <a:rPr lang="en-US" b="1" dirty="0"/>
              <a:t>CD</a:t>
            </a:r>
            <a:r>
              <a:rPr lang="en-US" dirty="0"/>
              <a:t>) is a </a:t>
            </a:r>
            <a:r>
              <a:rPr lang="en-US" dirty="0">
                <a:hlinkClick r:id="rId2" tooltip="Software engineering"/>
              </a:rPr>
              <a:t>software engineering</a:t>
            </a:r>
            <a:r>
              <a:rPr lang="en-US" dirty="0"/>
              <a:t> approach in which teams produce software in short cycles, ensuring that the software can be reliably released at any time.</a:t>
            </a:r>
            <a:r>
              <a:rPr lang="en-US" baseline="30000" dirty="0">
                <a:hlinkClick r:id="rId3"/>
              </a:rPr>
              <a:t>[1]</a:t>
            </a:r>
            <a:r>
              <a:rPr lang="en-US" dirty="0"/>
              <a:t> It aims at building, testing, and releasing software faster and more frequently. The approach helps reduce the cost, time, and risk of delivering changes by allowing for more incremental updates to applications in production. A straightforward and repeatable deployment process is important for continuous delivery.</a:t>
            </a:r>
          </a:p>
        </p:txBody>
      </p:sp>
    </p:spTree>
    <p:extLst>
      <p:ext uri="{BB962C8B-B14F-4D97-AF65-F5344CB8AC3E}">
        <p14:creationId xmlns:p14="http://schemas.microsoft.com/office/powerpoint/2010/main" val="6655179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CD</a:t>
            </a:r>
            <a:endParaRPr lang="en-US" dirty="0"/>
          </a:p>
        </p:txBody>
      </p:sp>
      <p:pic>
        <p:nvPicPr>
          <p:cNvPr id="5"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50171" y="1106311"/>
            <a:ext cx="7018019" cy="2494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Lst>
        </p:spPr>
      </p:pic>
    </p:spTree>
    <p:extLst>
      <p:ext uri="{BB962C8B-B14F-4D97-AF65-F5344CB8AC3E}">
        <p14:creationId xmlns:p14="http://schemas.microsoft.com/office/powerpoint/2010/main" val="36322745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 pipeline</a:t>
            </a:r>
            <a:endParaRPr lang="en-US" dirty="0"/>
          </a:p>
        </p:txBody>
      </p:sp>
      <p:pic>
        <p:nvPicPr>
          <p:cNvPr id="5122" name="Picture 2" descr="Image result for continuous delivery pipelin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0222" y="304956"/>
            <a:ext cx="8274756" cy="3995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6278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p:cNvSpPr>
            <a:spLocks noGrp="1" noChangeArrowheads="1"/>
          </p:cNvSpPr>
          <p:nvPr>
            <p:ph type="title"/>
          </p:nvPr>
        </p:nvSpPr>
        <p:spPr/>
        <p:txBody>
          <a:bodyPr vert="horz" lIns="91440" tIns="45720" rIns="122569" bIns="45720" rtlCol="0" anchor="ctr">
            <a:normAutofit/>
          </a:bodyPr>
          <a:lstStyle/>
          <a:p>
            <a:pPr marL="42097">
              <a:defRPr/>
            </a:pPr>
            <a:r>
              <a:rPr lang="en-US" dirty="0" smtClean="0"/>
              <a:t>CD practices</a:t>
            </a:r>
            <a:endParaRPr lang="en-US" dirty="0" smtClean="0"/>
          </a:p>
        </p:txBody>
      </p:sp>
      <p:sp>
        <p:nvSpPr>
          <p:cNvPr id="48130" name="Rectangle 2"/>
          <p:cNvSpPr>
            <a:spLocks noGrp="1" noChangeArrowheads="1"/>
          </p:cNvSpPr>
          <p:nvPr>
            <p:ph type="body" idx="1"/>
          </p:nvPr>
        </p:nvSpPr>
        <p:spPr>
          <a:xfrm>
            <a:off x="684212" y="330729"/>
            <a:ext cx="7632700" cy="3670300"/>
          </a:xfrm>
        </p:spPr>
        <p:txBody>
          <a:bodyPr vert="horz" lIns="91440" tIns="45720" rIns="122569" bIns="45720" rtlCol="0" anchor="ctr">
            <a:normAutofit fontScale="70000" lnSpcReduction="20000"/>
          </a:bodyPr>
          <a:lstStyle/>
          <a:p>
            <a:pPr marL="486451" indent="-252580">
              <a:lnSpc>
                <a:spcPct val="150000"/>
              </a:lnSpc>
              <a:spcBef>
                <a:spcPts val="516"/>
              </a:spcBef>
              <a:defRPr/>
            </a:pPr>
            <a:r>
              <a:rPr lang="en-US" sz="1800" dirty="0" smtClean="0"/>
              <a:t>Only </a:t>
            </a:r>
            <a:r>
              <a:rPr lang="en-US" sz="1800" dirty="0"/>
              <a:t>build your binaries once</a:t>
            </a:r>
          </a:p>
          <a:p>
            <a:pPr marL="486451" indent="-252580">
              <a:lnSpc>
                <a:spcPct val="150000"/>
              </a:lnSpc>
              <a:spcBef>
                <a:spcPts val="516"/>
              </a:spcBef>
              <a:defRPr/>
            </a:pPr>
            <a:r>
              <a:rPr lang="en-US" sz="1800" dirty="0" smtClean="0"/>
              <a:t>Deploy </a:t>
            </a:r>
            <a:r>
              <a:rPr lang="en-US" sz="1800" dirty="0"/>
              <a:t>the same way to every environment</a:t>
            </a:r>
          </a:p>
          <a:p>
            <a:pPr marL="486451" indent="-252580">
              <a:lnSpc>
                <a:spcPct val="150000"/>
              </a:lnSpc>
              <a:spcBef>
                <a:spcPts val="516"/>
              </a:spcBef>
              <a:defRPr/>
            </a:pPr>
            <a:r>
              <a:rPr lang="en-US" sz="1800" dirty="0" smtClean="0"/>
              <a:t>Smoke </a:t>
            </a:r>
            <a:r>
              <a:rPr lang="en-US" sz="1800" dirty="0"/>
              <a:t>test your deployments</a:t>
            </a:r>
          </a:p>
          <a:p>
            <a:pPr marL="486451" indent="-252580">
              <a:lnSpc>
                <a:spcPct val="150000"/>
              </a:lnSpc>
              <a:spcBef>
                <a:spcPts val="516"/>
              </a:spcBef>
              <a:defRPr/>
            </a:pPr>
            <a:r>
              <a:rPr lang="en-US" sz="1800" dirty="0" smtClean="0"/>
              <a:t>Keep </a:t>
            </a:r>
            <a:r>
              <a:rPr lang="en-US" sz="1800" dirty="0"/>
              <a:t>your environments similar</a:t>
            </a:r>
          </a:p>
          <a:p>
            <a:pPr marL="486451" indent="-252580">
              <a:lnSpc>
                <a:spcPct val="150000"/>
              </a:lnSpc>
              <a:spcBef>
                <a:spcPts val="516"/>
              </a:spcBef>
              <a:defRPr/>
            </a:pPr>
            <a:r>
              <a:rPr lang="en-US" sz="1800" dirty="0" smtClean="0"/>
              <a:t>If </a:t>
            </a:r>
            <a:r>
              <a:rPr lang="en-US" sz="1800" dirty="0"/>
              <a:t>anything fails, stop the </a:t>
            </a:r>
            <a:r>
              <a:rPr lang="en-US" sz="1800" dirty="0" smtClean="0"/>
              <a:t>CD pipeline</a:t>
            </a:r>
          </a:p>
          <a:p>
            <a:pPr marL="486451" indent="-252580">
              <a:lnSpc>
                <a:spcPct val="150000"/>
              </a:lnSpc>
              <a:spcBef>
                <a:spcPts val="516"/>
              </a:spcBef>
              <a:defRPr/>
            </a:pPr>
            <a:r>
              <a:rPr lang="en-US" sz="1800" dirty="0" smtClean="0"/>
              <a:t>Create </a:t>
            </a:r>
            <a:r>
              <a:rPr lang="en-US" sz="1800" dirty="0"/>
              <a:t>a repeatable, reliable process for releasing software</a:t>
            </a:r>
          </a:p>
          <a:p>
            <a:pPr marL="486451" indent="-252580">
              <a:lnSpc>
                <a:spcPct val="150000"/>
              </a:lnSpc>
              <a:spcBef>
                <a:spcPts val="516"/>
              </a:spcBef>
              <a:defRPr/>
            </a:pPr>
            <a:r>
              <a:rPr lang="en-US" sz="1800" dirty="0" smtClean="0"/>
              <a:t>Automate </a:t>
            </a:r>
            <a:r>
              <a:rPr lang="en-US" sz="1800" dirty="0"/>
              <a:t>almost everything</a:t>
            </a:r>
          </a:p>
          <a:p>
            <a:pPr marL="486451" indent="-252580">
              <a:lnSpc>
                <a:spcPct val="150000"/>
              </a:lnSpc>
              <a:spcBef>
                <a:spcPts val="516"/>
              </a:spcBef>
              <a:defRPr/>
            </a:pPr>
            <a:r>
              <a:rPr lang="en-US" sz="1800" dirty="0" smtClean="0"/>
              <a:t>everybody </a:t>
            </a:r>
            <a:r>
              <a:rPr lang="en-US" sz="1800" dirty="0"/>
              <a:t>is responsible for delivery</a:t>
            </a:r>
          </a:p>
          <a:p>
            <a:pPr marL="486451" indent="-252580">
              <a:lnSpc>
                <a:spcPct val="150000"/>
              </a:lnSpc>
              <a:spcBef>
                <a:spcPts val="516"/>
              </a:spcBef>
              <a:defRPr/>
            </a:pPr>
            <a:r>
              <a:rPr lang="en-US" sz="1800" dirty="0"/>
              <a:t>continuous </a:t>
            </a:r>
            <a:r>
              <a:rPr lang="en-US" sz="1800" dirty="0" smtClean="0"/>
              <a:t>improvement</a:t>
            </a:r>
            <a:endParaRPr lang="en-US" sz="1800" dirty="0"/>
          </a:p>
        </p:txBody>
      </p:sp>
    </p:spTree>
    <p:extLst>
      <p:ext uri="{BB962C8B-B14F-4D97-AF65-F5344CB8AC3E}">
        <p14:creationId xmlns:p14="http://schemas.microsoft.com/office/powerpoint/2010/main" val="2063843704"/>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 advantages</a:t>
            </a:r>
            <a:endParaRPr lang="en-US" dirty="0"/>
          </a:p>
        </p:txBody>
      </p:sp>
      <p:sp>
        <p:nvSpPr>
          <p:cNvPr id="3" name="Content Placeholder 2"/>
          <p:cNvSpPr>
            <a:spLocks noGrp="1"/>
          </p:cNvSpPr>
          <p:nvPr>
            <p:ph idx="1"/>
          </p:nvPr>
        </p:nvSpPr>
        <p:spPr/>
        <p:txBody>
          <a:bodyPr/>
          <a:lstStyle/>
          <a:p>
            <a:r>
              <a:rPr lang="en-US" dirty="0" smtClean="0"/>
              <a:t>Consumer feedback</a:t>
            </a:r>
          </a:p>
          <a:p>
            <a:r>
              <a:rPr lang="en-US" dirty="0" smtClean="0"/>
              <a:t>Small releases reduce risk</a:t>
            </a:r>
          </a:p>
          <a:p>
            <a:r>
              <a:rPr lang="en-US" dirty="0" smtClean="0"/>
              <a:t>Easy rollback</a:t>
            </a:r>
          </a:p>
          <a:p>
            <a:r>
              <a:rPr lang="en-US" dirty="0" smtClean="0"/>
              <a:t>Less pain, push button deployment</a:t>
            </a:r>
          </a:p>
          <a:p>
            <a:r>
              <a:rPr lang="en-US" dirty="0" smtClean="0"/>
              <a:t>Less deployment errors</a:t>
            </a:r>
          </a:p>
          <a:p>
            <a:endParaRPr lang="en-US" dirty="0"/>
          </a:p>
        </p:txBody>
      </p:sp>
    </p:spTree>
    <p:extLst>
      <p:ext uri="{BB962C8B-B14F-4D97-AF65-F5344CB8AC3E}">
        <p14:creationId xmlns:p14="http://schemas.microsoft.com/office/powerpoint/2010/main" val="29737371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 cd demo</a:t>
            </a:r>
            <a:endParaRPr lang="en-US" dirty="0"/>
          </a:p>
        </p:txBody>
      </p:sp>
      <p:sp>
        <p:nvSpPr>
          <p:cNvPr id="3" name="Content Placeholder 2"/>
          <p:cNvSpPr>
            <a:spLocks noGrp="1"/>
          </p:cNvSpPr>
          <p:nvPr>
            <p:ph idx="1"/>
          </p:nvPr>
        </p:nvSpPr>
        <p:spPr/>
        <p:txBody>
          <a:bodyPr/>
          <a:lstStyle/>
          <a:p>
            <a:r>
              <a:rPr lang="en-US" dirty="0"/>
              <a:t>https://www.youtube.com/watch?v=jm0HEvxEChE</a:t>
            </a:r>
          </a:p>
        </p:txBody>
      </p:sp>
    </p:spTree>
    <p:extLst>
      <p:ext uri="{BB962C8B-B14F-4D97-AF65-F5344CB8AC3E}">
        <p14:creationId xmlns:p14="http://schemas.microsoft.com/office/powerpoint/2010/main" val="2164114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u="sng" dirty="0">
                <a:solidFill>
                  <a:srgbClr val="959595"/>
                </a:solidFill>
                <a:latin typeface="Arial" panose="020B0604020202020204" pitchFamily="34" charset="0"/>
                <a:hlinkClick r:id="rId2"/>
              </a:rPr>
              <a:t>http://martinfowler.com/articles/continuousIntegration.html</a:t>
            </a:r>
            <a:endParaRPr lang="en-US" altLang="en-US" dirty="0"/>
          </a:p>
          <a:p>
            <a:r>
              <a:rPr lang="en-US" dirty="0">
                <a:hlinkClick r:id="rId3"/>
              </a:rPr>
              <a:t>http://</a:t>
            </a:r>
            <a:r>
              <a:rPr lang="en-US" dirty="0" smtClean="0">
                <a:hlinkClick r:id="rId3"/>
              </a:rPr>
              <a:t>martinfowler.com/bliki/ContinuousDelivery.html</a:t>
            </a:r>
            <a:endParaRPr lang="en-US" dirty="0" smtClean="0"/>
          </a:p>
          <a:p>
            <a:r>
              <a:rPr lang="en-US" dirty="0">
                <a:hlinkClick r:id="rId4"/>
              </a:rPr>
              <a:t>https://</a:t>
            </a:r>
            <a:r>
              <a:rPr lang="en-US" dirty="0" smtClean="0">
                <a:hlinkClick r:id="rId4"/>
              </a:rPr>
              <a:t>en.wikipedia.org/wiki/Continuous_integration</a:t>
            </a:r>
            <a:endParaRPr lang="en-US" dirty="0" smtClean="0"/>
          </a:p>
          <a:p>
            <a:r>
              <a:rPr lang="en-US" dirty="0"/>
              <a:t>https://en.wikipedia.org/wiki/Continuous_delivery</a:t>
            </a:r>
            <a:endParaRPr lang="en-US" dirty="0" smtClean="0"/>
          </a:p>
          <a:p>
            <a:endParaRPr lang="en-US" dirty="0"/>
          </a:p>
        </p:txBody>
      </p:sp>
    </p:spTree>
    <p:extLst>
      <p:ext uri="{BB962C8B-B14F-4D97-AF65-F5344CB8AC3E}">
        <p14:creationId xmlns:p14="http://schemas.microsoft.com/office/powerpoint/2010/main" val="457764661"/>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537</TotalTime>
  <Words>542</Words>
  <Application>Microsoft Office PowerPoint</Application>
  <PresentationFormat>Widescreen</PresentationFormat>
  <Paragraphs>98</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Century Gothic</vt:lpstr>
      <vt:lpstr>Courier New</vt:lpstr>
      <vt:lpstr>Wingdings</vt:lpstr>
      <vt:lpstr>Wingdings 3</vt:lpstr>
      <vt:lpstr>Slice</vt:lpstr>
      <vt:lpstr>Continuous integration and continuous delivery (CI CD)</vt:lpstr>
      <vt:lpstr>What is continuous integration?</vt:lpstr>
      <vt:lpstr>What is continuous integration?</vt:lpstr>
      <vt:lpstr>Advantages of CI</vt:lpstr>
      <vt:lpstr>CI process</vt:lpstr>
      <vt:lpstr>Source code control</vt:lpstr>
      <vt:lpstr>Code commit</vt:lpstr>
      <vt:lpstr>Automate the build</vt:lpstr>
      <vt:lpstr>Automate deployment</vt:lpstr>
      <vt:lpstr>Automate Testing</vt:lpstr>
      <vt:lpstr>CI tools</vt:lpstr>
      <vt:lpstr>CD definition</vt:lpstr>
      <vt:lpstr>What is CD</vt:lpstr>
      <vt:lpstr>CD pipeline</vt:lpstr>
      <vt:lpstr>CD practices</vt:lpstr>
      <vt:lpstr>CD advantages</vt:lpstr>
      <vt:lpstr>Ci cd demo</vt:lpstr>
      <vt:lpstr>PowerPoint Presentation</vt:lpstr>
    </vt:vector>
  </TitlesOfParts>
  <Company>HCL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integration and continuous delivery (CI CD)</dc:title>
  <dc:creator>Kamran Ali Khan - ERS, HCL Tech</dc:creator>
  <cp:lastModifiedBy>Kamran Ali Khan - ERS, HCL Tech</cp:lastModifiedBy>
  <cp:revision>54</cp:revision>
  <dcterms:created xsi:type="dcterms:W3CDTF">2016-11-12T15:04:18Z</dcterms:created>
  <dcterms:modified xsi:type="dcterms:W3CDTF">2016-11-13T00:01:41Z</dcterms:modified>
</cp:coreProperties>
</file>