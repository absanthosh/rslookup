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sldIdLst>
    <p:sldId id="307" r:id="rId3"/>
    <p:sldId id="308" r:id="rId4"/>
    <p:sldId id="310" r:id="rId5"/>
    <p:sldId id="264" r:id="rId6"/>
    <p:sldId id="258" r:id="rId7"/>
    <p:sldId id="259" r:id="rId8"/>
    <p:sldId id="260" r:id="rId9"/>
    <p:sldId id="261" r:id="rId10"/>
    <p:sldId id="262" r:id="rId11"/>
    <p:sldId id="265" r:id="rId12"/>
    <p:sldId id="257" r:id="rId13"/>
    <p:sldId id="295" r:id="rId14"/>
    <p:sldId id="296" r:id="rId15"/>
    <p:sldId id="272" r:id="rId16"/>
    <p:sldId id="273" r:id="rId17"/>
    <p:sldId id="274" r:id="rId18"/>
    <p:sldId id="275" r:id="rId19"/>
    <p:sldId id="276" r:id="rId20"/>
    <p:sldId id="279" r:id="rId21"/>
    <p:sldId id="280" r:id="rId22"/>
    <p:sldId id="297" r:id="rId23"/>
    <p:sldId id="298" r:id="rId24"/>
    <p:sldId id="300" r:id="rId25"/>
    <p:sldId id="277" r:id="rId26"/>
    <p:sldId id="278" r:id="rId27"/>
    <p:sldId id="281" r:id="rId28"/>
    <p:sldId id="282" r:id="rId29"/>
    <p:sldId id="283" r:id="rId30"/>
    <p:sldId id="266" r:id="rId31"/>
    <p:sldId id="267" r:id="rId32"/>
    <p:sldId id="268" r:id="rId33"/>
    <p:sldId id="269" r:id="rId34"/>
    <p:sldId id="284" r:id="rId35"/>
    <p:sldId id="285" r:id="rId36"/>
    <p:sldId id="286" r:id="rId37"/>
    <p:sldId id="287" r:id="rId38"/>
    <p:sldId id="288" r:id="rId39"/>
    <p:sldId id="270" r:id="rId40"/>
    <p:sldId id="271" r:id="rId41"/>
    <p:sldId id="311" r:id="rId42"/>
    <p:sldId id="289" r:id="rId43"/>
    <p:sldId id="290" r:id="rId44"/>
    <p:sldId id="291" r:id="rId45"/>
    <p:sldId id="292" r:id="rId46"/>
    <p:sldId id="293" r:id="rId47"/>
    <p:sldId id="312" r:id="rId48"/>
    <p:sldId id="294"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7AC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80" d="100"/>
          <a:sy n="80" d="100"/>
        </p:scale>
        <p:origin x="787" y="1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2-18T19:28:25.049"/>
    </inkml:context>
    <inkml:brush xml:id="br0">
      <inkml:brushProperty name="width" value="0.35" units="cm"/>
      <inkml:brushProperty name="height" value="0.35" units="cm"/>
      <inkml:brushProperty name="color" value="#FFFFFF"/>
      <inkml:brushProperty name="ignorePressure" value="1"/>
    </inkml:brush>
  </inkml:definitions>
  <inkml:trace contextRef="#ctx0" brushRef="#br0">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2-18T19:28:27"/>
    </inkml:context>
    <inkml:brush xml:id="br0">
      <inkml:brushProperty name="width" value="0.35" units="cm"/>
      <inkml:brushProperty name="height" value="0.35" units="cm"/>
      <inkml:brushProperty name="color" value="#FFFFFF"/>
      <inkml:brushProperty name="ignorePressure" value="1"/>
    </inkml:brush>
  </inkml:definitions>
  <inkml:trace contextRef="#ctx0" brushRef="#br0">1 188,'320'1,"348"-3,-573 0,0-4,0-4,0-4,45-15,27-8,2 8,17 6,-154 19,108-13,133 1,151 18,-394-2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2-18T19:28:29.619"/>
    </inkml:context>
    <inkml:brush xml:id="br0">
      <inkml:brushProperty name="width" value="0.35" units="cm"/>
      <inkml:brushProperty name="height" value="0.35" units="cm"/>
      <inkml:brushProperty name="color" value="#FFFFFF"/>
      <inkml:brushProperty name="ignorePressure" value="1"/>
    </inkml:brush>
  </inkml:definitions>
  <inkml:trace contextRef="#ctx0" brushRef="#br0">3056 0,'1'5,"1"0,0 0,-1 0,2-1,-1 1,0-1,1 0,0 1,0-1,0-1,1 1,-1 0,4 2,6 9,33 45,29 54,-65-98,-1 0,0 1,-2 0,0 0,-1 1,0 0,-2 0,0 0,-1 0,-1 1,-1-1,0 16,-1-31,0 0,-1 0,1 0,-1-1,1 1,-1 0,0 0,0-1,0 1,0 0,-1-1,1 1,-1-1,1 0,-1 1,0-1,0 0,0 0,0 0,0 0,-1-1,1 1,-1-1,1 1,-1-1,1 0,-1 0,0 0,1 0,-1 0,-2 0,-9 1,-1-1,1 0,-1-1,1-1,-1 0,1-1,-18 0,18 1,4 1,-1-1,1 0,-1 0,1-1,-6-2,13 3,0 0,0 0,1-1,-1 1,0-1,1 1,-1-1,1 0,-1 0,1 0,0-1,0 1,0 0,0-1,0 1,1-1,-1 0,1 0,-1 1,0-4,-1-10,0 1,0-1,2 0,0 1,1-1,0 0,3-15,-1-13,-1-51,2-45,-3 137,0 0,0 0,1 0,0 0,-1 0,1 1,0-1,1 0,-1 1,0-1,1 1,-1-1,1 1,0-1,0 1,0 0,2-2,-2 3,-1 0,1 0,0 0,0 0,0 0,0 0,0 1,0-1,0 1,0-1,0 1,0 0,0 0,0 0,0 0,0 0,1 0,-1 1,0-1,0 1,0-1,0 1,0 0,-1 0,2 0,13 9,-1 0,0 1,0 1,-1 0,0 1,-1 1,9 12,5 4,3 4,-1 1,-2 2,6 12,63 119,-93-164,-1 0,0 1,0-1,0 0,-1 1,1-1,-1 1,0 0,-1-1,1 1,-1 1,0-5,-1 1,1 0,0 0,-1-1,0 1,1 0,-1-1,0 1,0-1,0 1,0-1,0 1,0-1,0 0,-1 1,1-1,0 0,-1 0,1 0,-1 0,1 0,-1 0,0-1,1 1,-1 0,0-1,0 1,1-1,-1 0,-1 0,-19 4,0-1,0 0,0-2,-19-2,-90-9,124 9,-188-16,-109 8,16-4,2-1,-1772 15,2251-1,9 0,226 1,533-3,-785-2,0-7,0-8,100-27,-206 29,-23 2</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2-18T19:28:30.636"/>
    </inkml:context>
    <inkml:brush xml:id="br0">
      <inkml:brushProperty name="width" value="0.35" units="cm"/>
      <inkml:brushProperty name="height" value="0.35" units="cm"/>
      <inkml:brushProperty name="color" value="#FFFFFF"/>
      <inkml:brushProperty name="ignorePressure" value="1"/>
    </inkml:brush>
  </inkml:definitions>
  <inkml:trace contextRef="#ctx0" brushRef="#br0">2144 164,'9'-4,"-7"3,0 0,1 0,-1 0,0 0,0-1,1 1,-1-1,0 1,0-1,-1 0,1 1,0-2,-2 3,0-1,0 1,0 0,0-1,1 1,-1-1,0 1,-1-1,1 1,0 0,0-1,0 1,0-1,0 1,0 0,0-1,-1 1,1-1,0 1,0 0,-1-1,1 1,0 0,0-1,-1 1,1 0,0 0,-1-1,-23-13,-24-4,-2 1,0 3,-1 2,-35-3,-49-3,-35 5,-711 5,529 12,23-4,497 0,40 0,1130 0,-1280 0,-11-1,0 2,32 5,-76-5,0-1,0 0,0 1,0 0,1 0,-1 0,0 0,-1 0,1 1,0-1,0 1,1 1,-3-2,-1-1,1 1,-1-1,1 1,-1 0,0-1,1 1,-1-1,0 1,0 0,0-1,1 1,-1 0,0 0,0-1,0 1,0 0,0-1,0 1,0 0,-1 0,1 1,-1 0,0 0,1 0,-1 0,0-1,-1 1,1 0,0 0,0-1,-2 2,-5 5,0-1,0 1,-1-2,0 1,-1-1,-1 0,-70 36,-18 0,-2-3,-41 7,-217 49,149-42,83-19,-240 60,335-88,20-6,12-5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2-18T19:28:30.970"/>
    </inkml:context>
    <inkml:brush xml:id="br0">
      <inkml:brushProperty name="width" value="0.35" units="cm"/>
      <inkml:brushProperty name="height" value="0.35" units="cm"/>
      <inkml:brushProperty name="color" value="#FFFFFF"/>
      <inkml:brushProperty name="ignorePressure" value="1"/>
    </inkml:brush>
  </inkml:definitions>
  <inkml:trace contextRef="#ctx0" brushRef="#br0">1 59,'4'-5,"2"-5,4-11,1-2</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2-18T19:28:46.835"/>
    </inkml:context>
    <inkml:brush xml:id="br0">
      <inkml:brushProperty name="width" value="0.35" units="cm"/>
      <inkml:brushProperty name="height" value="0.35" units="cm"/>
      <inkml:brushProperty name="color" value="#FFFFFF"/>
      <inkml:brushProperty name="ignorePressure" value="1"/>
    </inkml:brush>
  </inkml:definitions>
  <inkml:trace contextRef="#ctx0" brushRef="#br0">1 0</inkml:trace>
</inkml:ink>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2C090D3-8B5A-41AA-9FDA-163FB7D4EF20}" type="datetimeFigureOut">
              <a:rPr lang="en-US" smtClean="0"/>
              <a:t>2/19/2020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B6E08AFC-03DA-45F3-AA57-A2ADB4E2597D}" type="slidenum">
              <a:rPr lang="en-US" smtClean="0"/>
              <a:t>‹#›</a:t>
            </a:fld>
            <a:endParaRPr lang="en-US"/>
          </a:p>
        </p:txBody>
      </p:sp>
    </p:spTree>
    <p:extLst>
      <p:ext uri="{BB962C8B-B14F-4D97-AF65-F5344CB8AC3E}">
        <p14:creationId xmlns:p14="http://schemas.microsoft.com/office/powerpoint/2010/main" val="3490060337"/>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C090D3-8B5A-41AA-9FDA-163FB7D4EF20}" type="datetimeFigureOut">
              <a:rPr lang="en-US" smtClean="0"/>
              <a:t>2/19/2020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E08AFC-03DA-45F3-AA57-A2ADB4E2597D}" type="slidenum">
              <a:rPr lang="en-US" smtClean="0"/>
              <a:t>‹#›</a:t>
            </a:fld>
            <a:endParaRPr lang="en-US"/>
          </a:p>
        </p:txBody>
      </p:sp>
    </p:spTree>
    <p:extLst>
      <p:ext uri="{BB962C8B-B14F-4D97-AF65-F5344CB8AC3E}">
        <p14:creationId xmlns:p14="http://schemas.microsoft.com/office/powerpoint/2010/main" val="3744006516"/>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32C090D3-8B5A-41AA-9FDA-163FB7D4EF20}" type="datetimeFigureOut">
              <a:rPr lang="en-US" smtClean="0"/>
              <a:t>2/19/2020</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B6E08AFC-03DA-45F3-AA57-A2ADB4E2597D}" type="slidenum">
              <a:rPr lang="en-US" smtClean="0"/>
              <a:t>‹#›</a:t>
            </a:fld>
            <a:endParaRPr lang="en-US"/>
          </a:p>
        </p:txBody>
      </p:sp>
    </p:spTree>
    <p:extLst>
      <p:ext uri="{BB962C8B-B14F-4D97-AF65-F5344CB8AC3E}">
        <p14:creationId xmlns:p14="http://schemas.microsoft.com/office/powerpoint/2010/main" val="836328465"/>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2C090D3-8B5A-41AA-9FDA-163FB7D4EF20}" type="datetimeFigureOut">
              <a:rPr lang="en-US" smtClean="0"/>
              <a:t>2/19/2020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E08AFC-03DA-45F3-AA57-A2ADB4E2597D}" type="slidenum">
              <a:rPr lang="en-US" smtClean="0"/>
              <a:t>‹#›</a:t>
            </a:fld>
            <a:endParaRPr lang="en-US"/>
          </a:p>
        </p:txBody>
      </p:sp>
    </p:spTree>
    <p:extLst>
      <p:ext uri="{BB962C8B-B14F-4D97-AF65-F5344CB8AC3E}">
        <p14:creationId xmlns:p14="http://schemas.microsoft.com/office/powerpoint/2010/main" val="612679438"/>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2C090D3-8B5A-41AA-9FDA-163FB7D4EF20}" type="datetimeFigureOut">
              <a:rPr lang="en-US" smtClean="0"/>
              <a:t>2/19/2020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E08AFC-03DA-45F3-AA57-A2ADB4E2597D}" type="slidenum">
              <a:rPr lang="en-US" smtClean="0"/>
              <a:t>‹#›</a:t>
            </a:fld>
            <a:endParaRPr lang="en-US"/>
          </a:p>
        </p:txBody>
      </p:sp>
    </p:spTree>
    <p:extLst>
      <p:ext uri="{BB962C8B-B14F-4D97-AF65-F5344CB8AC3E}">
        <p14:creationId xmlns:p14="http://schemas.microsoft.com/office/powerpoint/2010/main" val="2161710674"/>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2C090D3-8B5A-41AA-9FDA-163FB7D4EF20}" type="datetimeFigureOut">
              <a:rPr lang="en-US" smtClean="0"/>
              <a:t>2/19/2020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E08AFC-03DA-45F3-AA57-A2ADB4E2597D}" type="slidenum">
              <a:rPr lang="en-US" smtClean="0"/>
              <a:t>‹#›</a:t>
            </a:fld>
            <a:endParaRPr lang="en-US"/>
          </a:p>
        </p:txBody>
      </p:sp>
    </p:spTree>
    <p:extLst>
      <p:ext uri="{BB962C8B-B14F-4D97-AF65-F5344CB8AC3E}">
        <p14:creationId xmlns:p14="http://schemas.microsoft.com/office/powerpoint/2010/main" val="2085853611"/>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C090D3-8B5A-41AA-9FDA-163FB7D4EF20}" type="datetimeFigureOut">
              <a:rPr lang="en-US" smtClean="0"/>
              <a:t>2/19/2020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E08AFC-03DA-45F3-AA57-A2ADB4E2597D}" type="slidenum">
              <a:rPr lang="en-US" smtClean="0"/>
              <a:t>‹#›</a:t>
            </a:fld>
            <a:endParaRPr lang="en-US"/>
          </a:p>
        </p:txBody>
      </p:sp>
    </p:spTree>
    <p:extLst>
      <p:ext uri="{BB962C8B-B14F-4D97-AF65-F5344CB8AC3E}">
        <p14:creationId xmlns:p14="http://schemas.microsoft.com/office/powerpoint/2010/main" val="1141528590"/>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C090D3-8B5A-41AA-9FDA-163FB7D4EF20}" type="datetimeFigureOut">
              <a:rPr lang="en-US" smtClean="0"/>
              <a:t>2/19/2020</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B6E08AFC-03DA-45F3-AA57-A2ADB4E2597D}" type="slidenum">
              <a:rPr lang="en-US" smtClean="0"/>
              <a:t>‹#›</a:t>
            </a:fld>
            <a:endParaRPr lang="en-US"/>
          </a:p>
        </p:txBody>
      </p:sp>
    </p:spTree>
    <p:extLst>
      <p:ext uri="{BB962C8B-B14F-4D97-AF65-F5344CB8AC3E}">
        <p14:creationId xmlns:p14="http://schemas.microsoft.com/office/powerpoint/2010/main" val="1485221493"/>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C090D3-8B5A-41AA-9FDA-163FB7D4EF20}" type="datetimeFigureOut">
              <a:rPr lang="en-US" smtClean="0"/>
              <a:t>2/19/2020</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B6E08AFC-03DA-45F3-AA57-A2ADB4E2597D}" type="slidenum">
              <a:rPr lang="en-US" smtClean="0"/>
              <a:t>‹#›</a:t>
            </a:fld>
            <a:endParaRPr lang="en-US"/>
          </a:p>
        </p:txBody>
      </p:sp>
    </p:spTree>
    <p:extLst>
      <p:ext uri="{BB962C8B-B14F-4D97-AF65-F5344CB8AC3E}">
        <p14:creationId xmlns:p14="http://schemas.microsoft.com/office/powerpoint/2010/main" val="2314251256"/>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C090D3-8B5A-41AA-9FDA-163FB7D4EF20}" type="datetimeFigureOut">
              <a:rPr lang="en-US" smtClean="0"/>
              <a:t>2/19/2020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E08AFC-03DA-45F3-AA57-A2ADB4E2597D}" type="slidenum">
              <a:rPr lang="en-US" smtClean="0"/>
              <a:t>‹#›</a:t>
            </a:fld>
            <a:endParaRPr lang="en-US"/>
          </a:p>
        </p:txBody>
      </p:sp>
    </p:spTree>
    <p:extLst>
      <p:ext uri="{BB962C8B-B14F-4D97-AF65-F5344CB8AC3E}">
        <p14:creationId xmlns:p14="http://schemas.microsoft.com/office/powerpoint/2010/main" val="3671235681"/>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C090D3-8B5A-41AA-9FDA-163FB7D4EF20}" type="datetimeFigureOut">
              <a:rPr lang="en-US" smtClean="0"/>
              <a:t>2/19/2020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E08AFC-03DA-45F3-AA57-A2ADB4E2597D}" type="slidenum">
              <a:rPr lang="en-US" smtClean="0"/>
              <a:t>‹#›</a:t>
            </a:fld>
            <a:endParaRPr lang="en-US"/>
          </a:p>
        </p:txBody>
      </p:sp>
    </p:spTree>
    <p:extLst>
      <p:ext uri="{BB962C8B-B14F-4D97-AF65-F5344CB8AC3E}">
        <p14:creationId xmlns:p14="http://schemas.microsoft.com/office/powerpoint/2010/main" val="2824543900"/>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04F53-7BC2-4632-88B1-1D7E9582D3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6B97018-E75F-4D27-89B5-34E0D9EBB0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F5A5761-9BAC-48AF-B593-66C4D5F923AF}"/>
              </a:ext>
            </a:extLst>
          </p:cNvPr>
          <p:cNvSpPr>
            <a:spLocks noGrp="1"/>
          </p:cNvSpPr>
          <p:nvPr>
            <p:ph type="dt" sz="half" idx="10"/>
          </p:nvPr>
        </p:nvSpPr>
        <p:spPr/>
        <p:txBody>
          <a:bodyPr/>
          <a:lstStyle/>
          <a:p>
            <a:fld id="{F2B10744-8844-43C8-9D02-1FBE72D3D44E}" type="datetimeFigureOut">
              <a:rPr lang="en-US" smtClean="0"/>
              <a:t>2/19/2020</a:t>
            </a:fld>
            <a:endParaRPr lang="en-US"/>
          </a:p>
        </p:txBody>
      </p:sp>
      <p:sp>
        <p:nvSpPr>
          <p:cNvPr id="5" name="Footer Placeholder 4">
            <a:extLst>
              <a:ext uri="{FF2B5EF4-FFF2-40B4-BE49-F238E27FC236}">
                <a16:creationId xmlns:a16="http://schemas.microsoft.com/office/drawing/2014/main" id="{9BBB7E20-EAFB-4C9F-BB7D-FCD3885134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A2FB96-2659-4AF6-AB8A-DB0581A48926}"/>
              </a:ext>
            </a:extLst>
          </p:cNvPr>
          <p:cNvSpPr>
            <a:spLocks noGrp="1"/>
          </p:cNvSpPr>
          <p:nvPr>
            <p:ph type="sldNum" sz="quarter" idx="12"/>
          </p:nvPr>
        </p:nvSpPr>
        <p:spPr/>
        <p:txBody>
          <a:bodyPr/>
          <a:lstStyle/>
          <a:p>
            <a:fld id="{0CC96F2B-206E-4DA1-A9F6-3F5FAC22D8F8}" type="slidenum">
              <a:rPr lang="en-US" smtClean="0"/>
              <a:t>‹#›</a:t>
            </a:fld>
            <a:endParaRPr lang="en-US"/>
          </a:p>
        </p:txBody>
      </p:sp>
    </p:spTree>
    <p:extLst>
      <p:ext uri="{BB962C8B-B14F-4D97-AF65-F5344CB8AC3E}">
        <p14:creationId xmlns:p14="http://schemas.microsoft.com/office/powerpoint/2010/main" val="1255766530"/>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563E2-7370-4628-A6F3-BC69B521BA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5086C8-8318-4166-8A99-264059E5285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E9A419-8310-426A-805A-B42B6E9AA296}"/>
              </a:ext>
            </a:extLst>
          </p:cNvPr>
          <p:cNvSpPr>
            <a:spLocks noGrp="1"/>
          </p:cNvSpPr>
          <p:nvPr>
            <p:ph type="dt" sz="half" idx="10"/>
          </p:nvPr>
        </p:nvSpPr>
        <p:spPr/>
        <p:txBody>
          <a:bodyPr/>
          <a:lstStyle/>
          <a:p>
            <a:fld id="{F2B10744-8844-43C8-9D02-1FBE72D3D44E}" type="datetimeFigureOut">
              <a:rPr lang="en-US" smtClean="0"/>
              <a:t>2/19/2020</a:t>
            </a:fld>
            <a:endParaRPr lang="en-US"/>
          </a:p>
        </p:txBody>
      </p:sp>
      <p:sp>
        <p:nvSpPr>
          <p:cNvPr id="5" name="Footer Placeholder 4">
            <a:extLst>
              <a:ext uri="{FF2B5EF4-FFF2-40B4-BE49-F238E27FC236}">
                <a16:creationId xmlns:a16="http://schemas.microsoft.com/office/drawing/2014/main" id="{AAD9A62E-D2BE-4441-A44D-18283C8828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9DE28D-C6C4-4799-8682-E3E9292AA531}"/>
              </a:ext>
            </a:extLst>
          </p:cNvPr>
          <p:cNvSpPr>
            <a:spLocks noGrp="1"/>
          </p:cNvSpPr>
          <p:nvPr>
            <p:ph type="sldNum" sz="quarter" idx="12"/>
          </p:nvPr>
        </p:nvSpPr>
        <p:spPr/>
        <p:txBody>
          <a:bodyPr/>
          <a:lstStyle/>
          <a:p>
            <a:fld id="{0CC96F2B-206E-4DA1-A9F6-3F5FAC22D8F8}" type="slidenum">
              <a:rPr lang="en-US" smtClean="0"/>
              <a:t>‹#›</a:t>
            </a:fld>
            <a:endParaRPr lang="en-US"/>
          </a:p>
        </p:txBody>
      </p:sp>
    </p:spTree>
    <p:extLst>
      <p:ext uri="{BB962C8B-B14F-4D97-AF65-F5344CB8AC3E}">
        <p14:creationId xmlns:p14="http://schemas.microsoft.com/office/powerpoint/2010/main" val="3986178233"/>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C27E5-2BB3-42BC-B4A2-5D39C10537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60A0AAE-D9FE-4A40-8300-2EB3198E64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8F2D03-FF80-460D-88BA-ADFDD8ACA681}"/>
              </a:ext>
            </a:extLst>
          </p:cNvPr>
          <p:cNvSpPr>
            <a:spLocks noGrp="1"/>
          </p:cNvSpPr>
          <p:nvPr>
            <p:ph type="dt" sz="half" idx="10"/>
          </p:nvPr>
        </p:nvSpPr>
        <p:spPr/>
        <p:txBody>
          <a:bodyPr/>
          <a:lstStyle/>
          <a:p>
            <a:fld id="{F2B10744-8844-43C8-9D02-1FBE72D3D44E}" type="datetimeFigureOut">
              <a:rPr lang="en-US" smtClean="0"/>
              <a:t>2/19/2020</a:t>
            </a:fld>
            <a:endParaRPr lang="en-US"/>
          </a:p>
        </p:txBody>
      </p:sp>
      <p:sp>
        <p:nvSpPr>
          <p:cNvPr id="5" name="Footer Placeholder 4">
            <a:extLst>
              <a:ext uri="{FF2B5EF4-FFF2-40B4-BE49-F238E27FC236}">
                <a16:creationId xmlns:a16="http://schemas.microsoft.com/office/drawing/2014/main" id="{FBF6F69D-F30C-474E-8C80-907611BD17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9E8BCB-17AC-4455-B0B0-6DE5FE33B47C}"/>
              </a:ext>
            </a:extLst>
          </p:cNvPr>
          <p:cNvSpPr>
            <a:spLocks noGrp="1"/>
          </p:cNvSpPr>
          <p:nvPr>
            <p:ph type="sldNum" sz="quarter" idx="12"/>
          </p:nvPr>
        </p:nvSpPr>
        <p:spPr/>
        <p:txBody>
          <a:bodyPr/>
          <a:lstStyle/>
          <a:p>
            <a:fld id="{0CC96F2B-206E-4DA1-A9F6-3F5FAC22D8F8}" type="slidenum">
              <a:rPr lang="en-US" smtClean="0"/>
              <a:t>‹#›</a:t>
            </a:fld>
            <a:endParaRPr lang="en-US"/>
          </a:p>
        </p:txBody>
      </p:sp>
    </p:spTree>
    <p:extLst>
      <p:ext uri="{BB962C8B-B14F-4D97-AF65-F5344CB8AC3E}">
        <p14:creationId xmlns:p14="http://schemas.microsoft.com/office/powerpoint/2010/main" val="2136727538"/>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B2815-418A-4A7D-85BC-4189710E6B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86A20E-3C5D-48AD-B2D2-7DE8D79DA7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30B3497-8E47-472A-B364-2BA4961CAA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107286-DA4E-49B6-86F2-26F002D2C853}"/>
              </a:ext>
            </a:extLst>
          </p:cNvPr>
          <p:cNvSpPr>
            <a:spLocks noGrp="1"/>
          </p:cNvSpPr>
          <p:nvPr>
            <p:ph type="dt" sz="half" idx="10"/>
          </p:nvPr>
        </p:nvSpPr>
        <p:spPr/>
        <p:txBody>
          <a:bodyPr/>
          <a:lstStyle/>
          <a:p>
            <a:fld id="{F2B10744-8844-43C8-9D02-1FBE72D3D44E}" type="datetimeFigureOut">
              <a:rPr lang="en-US" smtClean="0"/>
              <a:t>2/19/2020</a:t>
            </a:fld>
            <a:endParaRPr lang="en-US"/>
          </a:p>
        </p:txBody>
      </p:sp>
      <p:sp>
        <p:nvSpPr>
          <p:cNvPr id="6" name="Footer Placeholder 5">
            <a:extLst>
              <a:ext uri="{FF2B5EF4-FFF2-40B4-BE49-F238E27FC236}">
                <a16:creationId xmlns:a16="http://schemas.microsoft.com/office/drawing/2014/main" id="{A9F5AAFC-1202-4C6D-AE7B-5994242830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378C44-FE0F-4FFE-A287-45D00AC6C82D}"/>
              </a:ext>
            </a:extLst>
          </p:cNvPr>
          <p:cNvSpPr>
            <a:spLocks noGrp="1"/>
          </p:cNvSpPr>
          <p:nvPr>
            <p:ph type="sldNum" sz="quarter" idx="12"/>
          </p:nvPr>
        </p:nvSpPr>
        <p:spPr/>
        <p:txBody>
          <a:bodyPr/>
          <a:lstStyle/>
          <a:p>
            <a:fld id="{0CC96F2B-206E-4DA1-A9F6-3F5FAC22D8F8}" type="slidenum">
              <a:rPr lang="en-US" smtClean="0"/>
              <a:t>‹#›</a:t>
            </a:fld>
            <a:endParaRPr lang="en-US"/>
          </a:p>
        </p:txBody>
      </p:sp>
    </p:spTree>
    <p:extLst>
      <p:ext uri="{BB962C8B-B14F-4D97-AF65-F5344CB8AC3E}">
        <p14:creationId xmlns:p14="http://schemas.microsoft.com/office/powerpoint/2010/main" val="2229159020"/>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603AA-DDEB-4D04-BAA4-1529CD82501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2A313A9-F171-4DF3-B451-DF9D3EB53A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F8A180-2547-43AA-BDEC-C9E48A5DC2F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8D1580-15E2-4484-8FA6-2E06828BB7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8A5F56-5688-4606-BA1A-23D32DE812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42F7B8-DFAF-4D65-98E6-96B872EA3145}"/>
              </a:ext>
            </a:extLst>
          </p:cNvPr>
          <p:cNvSpPr>
            <a:spLocks noGrp="1"/>
          </p:cNvSpPr>
          <p:nvPr>
            <p:ph type="dt" sz="half" idx="10"/>
          </p:nvPr>
        </p:nvSpPr>
        <p:spPr/>
        <p:txBody>
          <a:bodyPr/>
          <a:lstStyle/>
          <a:p>
            <a:fld id="{F2B10744-8844-43C8-9D02-1FBE72D3D44E}" type="datetimeFigureOut">
              <a:rPr lang="en-US" smtClean="0"/>
              <a:t>2/19/2020</a:t>
            </a:fld>
            <a:endParaRPr lang="en-US"/>
          </a:p>
        </p:txBody>
      </p:sp>
      <p:sp>
        <p:nvSpPr>
          <p:cNvPr id="8" name="Footer Placeholder 7">
            <a:extLst>
              <a:ext uri="{FF2B5EF4-FFF2-40B4-BE49-F238E27FC236}">
                <a16:creationId xmlns:a16="http://schemas.microsoft.com/office/drawing/2014/main" id="{C35FD952-4880-463E-85AF-BE394C3971A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7E88672-8294-46C7-925D-936D2F74210C}"/>
              </a:ext>
            </a:extLst>
          </p:cNvPr>
          <p:cNvSpPr>
            <a:spLocks noGrp="1"/>
          </p:cNvSpPr>
          <p:nvPr>
            <p:ph type="sldNum" sz="quarter" idx="12"/>
          </p:nvPr>
        </p:nvSpPr>
        <p:spPr/>
        <p:txBody>
          <a:bodyPr/>
          <a:lstStyle/>
          <a:p>
            <a:fld id="{0CC96F2B-206E-4DA1-A9F6-3F5FAC22D8F8}" type="slidenum">
              <a:rPr lang="en-US" smtClean="0"/>
              <a:t>‹#›</a:t>
            </a:fld>
            <a:endParaRPr lang="en-US"/>
          </a:p>
        </p:txBody>
      </p:sp>
    </p:spTree>
    <p:extLst>
      <p:ext uri="{BB962C8B-B14F-4D97-AF65-F5344CB8AC3E}">
        <p14:creationId xmlns:p14="http://schemas.microsoft.com/office/powerpoint/2010/main" val="3786050064"/>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C772C-DAA3-447D-9F31-6D02DC7DDF1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2C1455-777C-4216-8CF4-697F7940829C}"/>
              </a:ext>
            </a:extLst>
          </p:cNvPr>
          <p:cNvSpPr>
            <a:spLocks noGrp="1"/>
          </p:cNvSpPr>
          <p:nvPr>
            <p:ph type="dt" sz="half" idx="10"/>
          </p:nvPr>
        </p:nvSpPr>
        <p:spPr/>
        <p:txBody>
          <a:bodyPr/>
          <a:lstStyle/>
          <a:p>
            <a:fld id="{F2B10744-8844-43C8-9D02-1FBE72D3D44E}" type="datetimeFigureOut">
              <a:rPr lang="en-US" smtClean="0"/>
              <a:t>2/19/2020</a:t>
            </a:fld>
            <a:endParaRPr lang="en-US"/>
          </a:p>
        </p:txBody>
      </p:sp>
      <p:sp>
        <p:nvSpPr>
          <p:cNvPr id="4" name="Footer Placeholder 3">
            <a:extLst>
              <a:ext uri="{FF2B5EF4-FFF2-40B4-BE49-F238E27FC236}">
                <a16:creationId xmlns:a16="http://schemas.microsoft.com/office/drawing/2014/main" id="{4D2ED24C-C095-4C99-9F03-74DC0772311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1F2EBCD-E4AD-4463-BE0F-FCBF6FF977F3}"/>
              </a:ext>
            </a:extLst>
          </p:cNvPr>
          <p:cNvSpPr>
            <a:spLocks noGrp="1"/>
          </p:cNvSpPr>
          <p:nvPr>
            <p:ph type="sldNum" sz="quarter" idx="12"/>
          </p:nvPr>
        </p:nvSpPr>
        <p:spPr/>
        <p:txBody>
          <a:bodyPr/>
          <a:lstStyle/>
          <a:p>
            <a:fld id="{0CC96F2B-206E-4DA1-A9F6-3F5FAC22D8F8}" type="slidenum">
              <a:rPr lang="en-US" smtClean="0"/>
              <a:t>‹#›</a:t>
            </a:fld>
            <a:endParaRPr lang="en-US"/>
          </a:p>
        </p:txBody>
      </p:sp>
    </p:spTree>
    <p:extLst>
      <p:ext uri="{BB962C8B-B14F-4D97-AF65-F5344CB8AC3E}">
        <p14:creationId xmlns:p14="http://schemas.microsoft.com/office/powerpoint/2010/main" val="132593401"/>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0867E2-2514-4920-BC03-EC15D28069EC}"/>
              </a:ext>
            </a:extLst>
          </p:cNvPr>
          <p:cNvSpPr>
            <a:spLocks noGrp="1"/>
          </p:cNvSpPr>
          <p:nvPr>
            <p:ph type="dt" sz="half" idx="10"/>
          </p:nvPr>
        </p:nvSpPr>
        <p:spPr/>
        <p:txBody>
          <a:bodyPr/>
          <a:lstStyle/>
          <a:p>
            <a:fld id="{F2B10744-8844-43C8-9D02-1FBE72D3D44E}" type="datetimeFigureOut">
              <a:rPr lang="en-US" smtClean="0"/>
              <a:t>2/19/2020</a:t>
            </a:fld>
            <a:endParaRPr lang="en-US"/>
          </a:p>
        </p:txBody>
      </p:sp>
      <p:sp>
        <p:nvSpPr>
          <p:cNvPr id="3" name="Footer Placeholder 2">
            <a:extLst>
              <a:ext uri="{FF2B5EF4-FFF2-40B4-BE49-F238E27FC236}">
                <a16:creationId xmlns:a16="http://schemas.microsoft.com/office/drawing/2014/main" id="{5A8FE9DE-E3EF-4D95-95F4-1B28EDADB1F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FF4F721-10D1-4A94-AED4-8B60C83CE6EA}"/>
              </a:ext>
            </a:extLst>
          </p:cNvPr>
          <p:cNvSpPr>
            <a:spLocks noGrp="1"/>
          </p:cNvSpPr>
          <p:nvPr>
            <p:ph type="sldNum" sz="quarter" idx="12"/>
          </p:nvPr>
        </p:nvSpPr>
        <p:spPr/>
        <p:txBody>
          <a:bodyPr/>
          <a:lstStyle/>
          <a:p>
            <a:fld id="{0CC96F2B-206E-4DA1-A9F6-3F5FAC22D8F8}" type="slidenum">
              <a:rPr lang="en-US" smtClean="0"/>
              <a:t>‹#›</a:t>
            </a:fld>
            <a:endParaRPr lang="en-US"/>
          </a:p>
        </p:txBody>
      </p:sp>
    </p:spTree>
    <p:extLst>
      <p:ext uri="{BB962C8B-B14F-4D97-AF65-F5344CB8AC3E}">
        <p14:creationId xmlns:p14="http://schemas.microsoft.com/office/powerpoint/2010/main" val="1984094393"/>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3A302-CD26-497D-82F2-7DB84CD308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5400C83-EDF1-4A86-B067-E18B0CC507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4E22566-C8A3-4C70-B650-912FC628BC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5B6D3B-C008-411C-BAAF-4854E8736813}"/>
              </a:ext>
            </a:extLst>
          </p:cNvPr>
          <p:cNvSpPr>
            <a:spLocks noGrp="1"/>
          </p:cNvSpPr>
          <p:nvPr>
            <p:ph type="dt" sz="half" idx="10"/>
          </p:nvPr>
        </p:nvSpPr>
        <p:spPr/>
        <p:txBody>
          <a:bodyPr/>
          <a:lstStyle/>
          <a:p>
            <a:fld id="{F2B10744-8844-43C8-9D02-1FBE72D3D44E}" type="datetimeFigureOut">
              <a:rPr lang="en-US" smtClean="0"/>
              <a:t>2/19/2020</a:t>
            </a:fld>
            <a:endParaRPr lang="en-US"/>
          </a:p>
        </p:txBody>
      </p:sp>
      <p:sp>
        <p:nvSpPr>
          <p:cNvPr id="6" name="Footer Placeholder 5">
            <a:extLst>
              <a:ext uri="{FF2B5EF4-FFF2-40B4-BE49-F238E27FC236}">
                <a16:creationId xmlns:a16="http://schemas.microsoft.com/office/drawing/2014/main" id="{588FF65A-BA0A-409F-8A69-72896FEAAE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096A49-7313-4F60-9419-B892ED072746}"/>
              </a:ext>
            </a:extLst>
          </p:cNvPr>
          <p:cNvSpPr>
            <a:spLocks noGrp="1"/>
          </p:cNvSpPr>
          <p:nvPr>
            <p:ph type="sldNum" sz="quarter" idx="12"/>
          </p:nvPr>
        </p:nvSpPr>
        <p:spPr/>
        <p:txBody>
          <a:bodyPr/>
          <a:lstStyle/>
          <a:p>
            <a:fld id="{0CC96F2B-206E-4DA1-A9F6-3F5FAC22D8F8}" type="slidenum">
              <a:rPr lang="en-US" smtClean="0"/>
              <a:t>‹#›</a:t>
            </a:fld>
            <a:endParaRPr lang="en-US"/>
          </a:p>
        </p:txBody>
      </p:sp>
    </p:spTree>
    <p:extLst>
      <p:ext uri="{BB962C8B-B14F-4D97-AF65-F5344CB8AC3E}">
        <p14:creationId xmlns:p14="http://schemas.microsoft.com/office/powerpoint/2010/main" val="3942476854"/>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BB2F5-3688-46EA-BA2C-E83AAFEED5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833C7FE-A526-421F-A28D-57AE22B296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C66FF3B-56BE-48FF-8EC0-269F3859CB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C20362-2EB7-4A11-A1EB-7737EBCA47EF}"/>
              </a:ext>
            </a:extLst>
          </p:cNvPr>
          <p:cNvSpPr>
            <a:spLocks noGrp="1"/>
          </p:cNvSpPr>
          <p:nvPr>
            <p:ph type="dt" sz="half" idx="10"/>
          </p:nvPr>
        </p:nvSpPr>
        <p:spPr/>
        <p:txBody>
          <a:bodyPr/>
          <a:lstStyle/>
          <a:p>
            <a:fld id="{F2B10744-8844-43C8-9D02-1FBE72D3D44E}" type="datetimeFigureOut">
              <a:rPr lang="en-US" smtClean="0"/>
              <a:t>2/19/2020</a:t>
            </a:fld>
            <a:endParaRPr lang="en-US"/>
          </a:p>
        </p:txBody>
      </p:sp>
      <p:sp>
        <p:nvSpPr>
          <p:cNvPr id="6" name="Footer Placeholder 5">
            <a:extLst>
              <a:ext uri="{FF2B5EF4-FFF2-40B4-BE49-F238E27FC236}">
                <a16:creationId xmlns:a16="http://schemas.microsoft.com/office/drawing/2014/main" id="{CE9466B3-0889-4BA8-943E-D36F4956D2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97B17F-7C9C-4CB3-8807-6CCD37A3747F}"/>
              </a:ext>
            </a:extLst>
          </p:cNvPr>
          <p:cNvSpPr>
            <a:spLocks noGrp="1"/>
          </p:cNvSpPr>
          <p:nvPr>
            <p:ph type="sldNum" sz="quarter" idx="12"/>
          </p:nvPr>
        </p:nvSpPr>
        <p:spPr/>
        <p:txBody>
          <a:bodyPr/>
          <a:lstStyle/>
          <a:p>
            <a:fld id="{0CC96F2B-206E-4DA1-A9F6-3F5FAC22D8F8}" type="slidenum">
              <a:rPr lang="en-US" smtClean="0"/>
              <a:t>‹#›</a:t>
            </a:fld>
            <a:endParaRPr lang="en-US"/>
          </a:p>
        </p:txBody>
      </p:sp>
    </p:spTree>
    <p:extLst>
      <p:ext uri="{BB962C8B-B14F-4D97-AF65-F5344CB8AC3E}">
        <p14:creationId xmlns:p14="http://schemas.microsoft.com/office/powerpoint/2010/main" val="1850013694"/>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EFD34-5119-4D84-AE02-F993F04F6F7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B2ACD08-32CA-4F5B-A7FE-60BCA1495B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8775E2-2B5F-4C7B-B36D-50611512B5AA}"/>
              </a:ext>
            </a:extLst>
          </p:cNvPr>
          <p:cNvSpPr>
            <a:spLocks noGrp="1"/>
          </p:cNvSpPr>
          <p:nvPr>
            <p:ph type="dt" sz="half" idx="10"/>
          </p:nvPr>
        </p:nvSpPr>
        <p:spPr/>
        <p:txBody>
          <a:bodyPr/>
          <a:lstStyle/>
          <a:p>
            <a:fld id="{F2B10744-8844-43C8-9D02-1FBE72D3D44E}" type="datetimeFigureOut">
              <a:rPr lang="en-US" smtClean="0"/>
              <a:t>2/19/2020</a:t>
            </a:fld>
            <a:endParaRPr lang="en-US"/>
          </a:p>
        </p:txBody>
      </p:sp>
      <p:sp>
        <p:nvSpPr>
          <p:cNvPr id="5" name="Footer Placeholder 4">
            <a:extLst>
              <a:ext uri="{FF2B5EF4-FFF2-40B4-BE49-F238E27FC236}">
                <a16:creationId xmlns:a16="http://schemas.microsoft.com/office/drawing/2014/main" id="{A35BD5B4-C7E0-4ACF-A739-6C2D6C3D36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8954F6-7DB7-4F2D-B0D1-A5203F5BD62C}"/>
              </a:ext>
            </a:extLst>
          </p:cNvPr>
          <p:cNvSpPr>
            <a:spLocks noGrp="1"/>
          </p:cNvSpPr>
          <p:nvPr>
            <p:ph type="sldNum" sz="quarter" idx="12"/>
          </p:nvPr>
        </p:nvSpPr>
        <p:spPr/>
        <p:txBody>
          <a:bodyPr/>
          <a:lstStyle/>
          <a:p>
            <a:fld id="{0CC96F2B-206E-4DA1-A9F6-3F5FAC22D8F8}" type="slidenum">
              <a:rPr lang="en-US" smtClean="0"/>
              <a:t>‹#›</a:t>
            </a:fld>
            <a:endParaRPr lang="en-US"/>
          </a:p>
        </p:txBody>
      </p:sp>
    </p:spTree>
    <p:extLst>
      <p:ext uri="{BB962C8B-B14F-4D97-AF65-F5344CB8AC3E}">
        <p14:creationId xmlns:p14="http://schemas.microsoft.com/office/powerpoint/2010/main" val="78541986"/>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7865CD-4D89-4A36-9B66-9D5E1773A95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54257E5-E0CD-4864-AB5A-DA3FDB2AD5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898579-C09A-49A7-9129-128AC452764F}"/>
              </a:ext>
            </a:extLst>
          </p:cNvPr>
          <p:cNvSpPr>
            <a:spLocks noGrp="1"/>
          </p:cNvSpPr>
          <p:nvPr>
            <p:ph type="dt" sz="half" idx="10"/>
          </p:nvPr>
        </p:nvSpPr>
        <p:spPr/>
        <p:txBody>
          <a:bodyPr/>
          <a:lstStyle/>
          <a:p>
            <a:fld id="{F2B10744-8844-43C8-9D02-1FBE72D3D44E}" type="datetimeFigureOut">
              <a:rPr lang="en-US" smtClean="0"/>
              <a:t>2/19/2020</a:t>
            </a:fld>
            <a:endParaRPr lang="en-US"/>
          </a:p>
        </p:txBody>
      </p:sp>
      <p:sp>
        <p:nvSpPr>
          <p:cNvPr id="5" name="Footer Placeholder 4">
            <a:extLst>
              <a:ext uri="{FF2B5EF4-FFF2-40B4-BE49-F238E27FC236}">
                <a16:creationId xmlns:a16="http://schemas.microsoft.com/office/drawing/2014/main" id="{CEDBBD59-CA4B-434A-9043-173D7AFFA9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4A718C-0F6F-4050-8CCC-7705C7A12D61}"/>
              </a:ext>
            </a:extLst>
          </p:cNvPr>
          <p:cNvSpPr>
            <a:spLocks noGrp="1"/>
          </p:cNvSpPr>
          <p:nvPr>
            <p:ph type="sldNum" sz="quarter" idx="12"/>
          </p:nvPr>
        </p:nvSpPr>
        <p:spPr/>
        <p:txBody>
          <a:bodyPr/>
          <a:lstStyle/>
          <a:p>
            <a:fld id="{0CC96F2B-206E-4DA1-A9F6-3F5FAC22D8F8}" type="slidenum">
              <a:rPr lang="en-US" smtClean="0"/>
              <a:t>‹#›</a:t>
            </a:fld>
            <a:endParaRPr lang="en-US"/>
          </a:p>
        </p:txBody>
      </p:sp>
    </p:spTree>
    <p:extLst>
      <p:ext uri="{BB962C8B-B14F-4D97-AF65-F5344CB8AC3E}">
        <p14:creationId xmlns:p14="http://schemas.microsoft.com/office/powerpoint/2010/main" val="1690575115"/>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32C090D3-8B5A-41AA-9FDA-163FB7D4EF20}" type="datetimeFigureOut">
              <a:rPr lang="en-US" smtClean="0"/>
              <a:t>2/19/2020</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B6E08AFC-03DA-45F3-AA57-A2ADB4E2597D}" type="slidenum">
              <a:rPr lang="en-US" smtClean="0"/>
              <a:t>‹#›</a:t>
            </a:fld>
            <a:endParaRPr lang="en-US"/>
          </a:p>
        </p:txBody>
      </p:sp>
    </p:spTree>
    <p:extLst>
      <p:ext uri="{BB962C8B-B14F-4D97-AF65-F5344CB8AC3E}">
        <p14:creationId xmlns:p14="http://schemas.microsoft.com/office/powerpoint/2010/main" val="11503088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0D4891-6E5A-467D-A8C7-E0D7200FDE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5EE026A-B798-4F15-8E00-2DE55A24F1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3343D7-F622-4687-A7BE-9F94FCF80A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B10744-8844-43C8-9D02-1FBE72D3D44E}" type="datetimeFigureOut">
              <a:rPr lang="en-US" smtClean="0"/>
              <a:t>2/19/2020</a:t>
            </a:fld>
            <a:endParaRPr lang="en-US"/>
          </a:p>
        </p:txBody>
      </p:sp>
      <p:sp>
        <p:nvSpPr>
          <p:cNvPr id="5" name="Footer Placeholder 4">
            <a:extLst>
              <a:ext uri="{FF2B5EF4-FFF2-40B4-BE49-F238E27FC236}">
                <a16:creationId xmlns:a16="http://schemas.microsoft.com/office/drawing/2014/main" id="{95ED9B05-BD65-4369-8150-0E56DFA1E7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0CF47AC-BB9A-40BD-80C6-169B720475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C96F2B-206E-4DA1-A9F6-3F5FAC22D8F8}" type="slidenum">
              <a:rPr lang="en-US" smtClean="0"/>
              <a:t>‹#›</a:t>
            </a:fld>
            <a:endParaRPr lang="en-US"/>
          </a:p>
        </p:txBody>
      </p:sp>
    </p:spTree>
    <p:extLst>
      <p:ext uri="{BB962C8B-B14F-4D97-AF65-F5344CB8AC3E}">
        <p14:creationId xmlns:p14="http://schemas.microsoft.com/office/powerpoint/2010/main" val="199205346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10.png"/><Relationship Id="rId3" Type="http://schemas.microsoft.com/office/2007/relationships/hdphoto" Target="../media/hdphoto3.wdp"/><Relationship Id="rId7" Type="http://schemas.openxmlformats.org/officeDocument/2006/relationships/image" Target="../media/image7.png"/><Relationship Id="rId12" Type="http://schemas.openxmlformats.org/officeDocument/2006/relationships/customXml" Target="../ink/ink5.xml"/><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customXml" Target="../ink/ink6.xml"/></Relationships>
</file>

<file path=ppt/slides/_rels/slide8.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16.PNG"/><Relationship Id="rId4" Type="http://schemas.microsoft.com/office/2007/relationships/hdphoto" Target="../media/hdphoto1.wdp"/></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7.PNG"/><Relationship Id="rId5" Type="http://schemas.microsoft.com/office/2007/relationships/hdphoto" Target="../media/hdphoto2.wdp"/><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8.PNG"/><Relationship Id="rId5" Type="http://schemas.microsoft.com/office/2007/relationships/hdphoto" Target="../media/hdphoto2.wdp"/><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9.PNG"/><Relationship Id="rId5" Type="http://schemas.microsoft.com/office/2007/relationships/hdphoto" Target="../media/hdphoto2.wdp"/><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29.gif"/><Relationship Id="rId2" Type="http://schemas.openxmlformats.org/officeDocument/2006/relationships/image" Target="../media/image28.gif"/><Relationship Id="rId1" Type="http://schemas.openxmlformats.org/officeDocument/2006/relationships/slideLayout" Target="../slideLayouts/slideLayout2.xml"/><Relationship Id="rId6" Type="http://schemas.openxmlformats.org/officeDocument/2006/relationships/image" Target="../media/image32.gif"/><Relationship Id="rId5" Type="http://schemas.openxmlformats.org/officeDocument/2006/relationships/image" Target="../media/image31.gif"/><Relationship Id="rId4" Type="http://schemas.openxmlformats.org/officeDocument/2006/relationships/image" Target="../media/image30.gi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33.PNG"/><Relationship Id="rId5" Type="http://schemas.microsoft.com/office/2007/relationships/hdphoto" Target="../media/hdphoto2.wdp"/><Relationship Id="rId4" Type="http://schemas.openxmlformats.org/officeDocument/2006/relationships/image" Target="../media/image4.png"/></Relationships>
</file>

<file path=ppt/slides/_rels/slide4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34.PNG"/><Relationship Id="rId5" Type="http://schemas.microsoft.com/office/2007/relationships/hdphoto" Target="../media/hdphoto2.wdp"/><Relationship Id="rId4" Type="http://schemas.openxmlformats.org/officeDocument/2006/relationships/image" Target="../media/image4.png"/></Relationships>
</file>

<file path=ppt/slides/_rels/slide4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35.PNG"/><Relationship Id="rId5" Type="http://schemas.microsoft.com/office/2007/relationships/hdphoto" Target="../media/hdphoto2.wdp"/><Relationship Id="rId4" Type="http://schemas.openxmlformats.org/officeDocument/2006/relationships/image" Target="../media/image4.png"/></Relationships>
</file>

<file path=ppt/slides/_rels/slide4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36.PNG"/><Relationship Id="rId5" Type="http://schemas.microsoft.com/office/2007/relationships/hdphoto" Target="../media/hdphoto2.wdp"/><Relationship Id="rId4" Type="http://schemas.openxmlformats.org/officeDocument/2006/relationships/image" Target="../media/image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4C8D697-1729-4290-98E6-D43057F783BC}"/>
              </a:ext>
            </a:extLst>
          </p:cNvPr>
          <p:cNvSpPr/>
          <p:nvPr/>
        </p:nvSpPr>
        <p:spPr>
          <a:xfrm>
            <a:off x="0" y="-33338"/>
            <a:ext cx="12192000" cy="6891338"/>
          </a:xfrm>
          <a:prstGeom prst="rect">
            <a:avLst/>
          </a:prstGeom>
          <a:solidFill>
            <a:schemeClr val="bg1"/>
          </a:solidFill>
          <a:ln w="38100">
            <a:solidFill>
              <a:srgbClr val="507A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ounded Rectangle 2"/>
          <p:cNvSpPr/>
          <p:nvPr/>
        </p:nvSpPr>
        <p:spPr>
          <a:xfrm>
            <a:off x="904942" y="1019175"/>
            <a:ext cx="10191750" cy="481965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 name="Title 1"/>
          <p:cNvSpPr>
            <a:spLocks noGrp="1"/>
          </p:cNvSpPr>
          <p:nvPr>
            <p:ph type="title"/>
          </p:nvPr>
        </p:nvSpPr>
        <p:spPr>
          <a:xfrm>
            <a:off x="1209675" y="2254510"/>
            <a:ext cx="9563100" cy="2852737"/>
          </a:xfrm>
        </p:spPr>
        <p:txBody>
          <a:bodyPr>
            <a:normAutofit/>
          </a:bodyPr>
          <a:lstStyle/>
          <a:p>
            <a:pPr algn="l"/>
            <a:r>
              <a:rPr lang="en-US" sz="2400" b="1" dirty="0"/>
              <a:t>Ministry/Organization name: </a:t>
            </a:r>
            <a:r>
              <a:rPr lang="en-US" sz="2000" dirty="0"/>
              <a:t>Bureau of Police Research and Development</a:t>
            </a:r>
            <a:br>
              <a:rPr lang="en-US" sz="2200" dirty="0"/>
            </a:br>
            <a:r>
              <a:rPr lang="en-US" sz="2400" b="1" dirty="0"/>
              <a:t>Problem Statement: 	</a:t>
            </a:r>
            <a:r>
              <a:rPr lang="en-US" sz="2000" dirty="0"/>
              <a:t>Detection of Child Predators/Cyber Harassers on Social Media</a:t>
            </a:r>
            <a:br>
              <a:rPr lang="en-US" sz="2400" dirty="0"/>
            </a:br>
            <a:br>
              <a:rPr lang="en-US" sz="2400" dirty="0"/>
            </a:br>
            <a:r>
              <a:rPr lang="en-US" sz="2400" b="1" dirty="0"/>
              <a:t>Team Name:		</a:t>
            </a:r>
            <a:r>
              <a:rPr lang="en-US" sz="2000" dirty="0"/>
              <a:t>Kryptonite</a:t>
            </a:r>
            <a:br>
              <a:rPr lang="en-US" sz="2400" dirty="0"/>
            </a:br>
            <a:r>
              <a:rPr lang="en-US" sz="2400" b="1" dirty="0"/>
              <a:t>Team Leader Name:	</a:t>
            </a:r>
            <a:r>
              <a:rPr lang="en-US" sz="2000" dirty="0"/>
              <a:t>V. </a:t>
            </a:r>
            <a:r>
              <a:rPr lang="en-US" sz="2000" dirty="0" err="1"/>
              <a:t>Pratishtha</a:t>
            </a:r>
            <a:r>
              <a:rPr lang="en-US" sz="2000" dirty="0"/>
              <a:t> Sharma </a:t>
            </a:r>
            <a:br>
              <a:rPr lang="en-US" sz="2400" dirty="0"/>
            </a:br>
            <a:r>
              <a:rPr lang="en-US" sz="2400" b="1" dirty="0"/>
              <a:t>College Code:		</a:t>
            </a:r>
            <a:r>
              <a:rPr lang="en-US" sz="2000" b="1" dirty="0"/>
              <a:t>U-0642</a:t>
            </a:r>
            <a:endParaRPr lang="en-US" sz="2200" b="1" dirty="0"/>
          </a:p>
        </p:txBody>
      </p:sp>
      <p:sp>
        <p:nvSpPr>
          <p:cNvPr id="4" name="TextBox 3">
            <a:extLst>
              <a:ext uri="{FF2B5EF4-FFF2-40B4-BE49-F238E27FC236}">
                <a16:creationId xmlns:a16="http://schemas.microsoft.com/office/drawing/2014/main" id="{762D8D00-1194-4A7F-A9A6-68520ACFE62C}"/>
              </a:ext>
            </a:extLst>
          </p:cNvPr>
          <p:cNvSpPr txBox="1"/>
          <p:nvPr/>
        </p:nvSpPr>
        <p:spPr>
          <a:xfrm>
            <a:off x="4083843" y="1406010"/>
            <a:ext cx="4024313" cy="523220"/>
          </a:xfrm>
          <a:prstGeom prst="rect">
            <a:avLst/>
          </a:prstGeom>
          <a:noFill/>
        </p:spPr>
        <p:txBody>
          <a:bodyPr wrap="square" rtlCol="0">
            <a:spAutoFit/>
          </a:bodyPr>
          <a:lstStyle/>
          <a:p>
            <a:pPr algn="ctr"/>
            <a:r>
              <a:rPr lang="en-US" sz="2800" dirty="0">
                <a:solidFill>
                  <a:schemeClr val="bg1"/>
                </a:solidFill>
              </a:rPr>
              <a:t>Idea/Approach Details</a:t>
            </a:r>
            <a:endParaRPr lang="en-IN" sz="2800" dirty="0">
              <a:solidFill>
                <a:schemeClr val="bg1"/>
              </a:solidFill>
            </a:endParaRPr>
          </a:p>
        </p:txBody>
      </p:sp>
    </p:spTree>
    <p:extLst>
      <p:ext uri="{BB962C8B-B14F-4D97-AF65-F5344CB8AC3E}">
        <p14:creationId xmlns:p14="http://schemas.microsoft.com/office/powerpoint/2010/main" val="2325441754"/>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E73ECF-36CB-4900-8EF8-A184C713DEF2}"/>
              </a:ext>
            </a:extLst>
          </p:cNvPr>
          <p:cNvSpPr/>
          <p:nvPr/>
        </p:nvSpPr>
        <p:spPr>
          <a:xfrm>
            <a:off x="0" y="-33338"/>
            <a:ext cx="12192000" cy="6891338"/>
          </a:xfrm>
          <a:prstGeom prst="rect">
            <a:avLst/>
          </a:prstGeom>
          <a:solidFill>
            <a:schemeClr val="bg1"/>
          </a:solidFill>
          <a:ln w="38100">
            <a:solidFill>
              <a:srgbClr val="507A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ounded Rectangle 3"/>
          <p:cNvSpPr/>
          <p:nvPr/>
        </p:nvSpPr>
        <p:spPr>
          <a:xfrm>
            <a:off x="1873250" y="1090084"/>
            <a:ext cx="8445500" cy="233891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bg1"/>
                </a:solidFill>
                <a:effectLst/>
                <a:uLnTx/>
                <a:uFillTx/>
                <a:latin typeface="Calibri"/>
                <a:ea typeface="+mn-ea"/>
                <a:cs typeface="+mn-cs"/>
              </a:rPr>
              <a:t>This idea is born out of a pressing need to curb a growing problem. </a:t>
            </a:r>
            <a:r>
              <a:rPr lang="en-US" sz="2000" dirty="0">
                <a:solidFill>
                  <a:schemeClr val="bg1"/>
                </a:solidFill>
                <a:latin typeface="Calibri"/>
              </a:rPr>
              <a:t>Even the best of things come with their pitfalls. Growing technology and connectivity has led to an increased number of child predators and cyber stalkers online. Our solution aims to efficiently nip this problem in the bud using advanced Machine Learning techniques such as Support Vector Machines (SVM), Decision Trees, K-Nearest </a:t>
            </a:r>
            <a:r>
              <a:rPr lang="en-US" sz="2000" dirty="0" err="1">
                <a:solidFill>
                  <a:schemeClr val="bg1"/>
                </a:solidFill>
                <a:latin typeface="Calibri"/>
              </a:rPr>
              <a:t>Neighbours</a:t>
            </a:r>
            <a:r>
              <a:rPr lang="en-US" sz="2000" dirty="0">
                <a:solidFill>
                  <a:schemeClr val="bg1"/>
                </a:solidFill>
                <a:latin typeface="Calibri"/>
              </a:rPr>
              <a:t> and Random Forests.</a:t>
            </a:r>
            <a:endParaRPr kumimoji="0" lang="en-US" sz="2000" b="0" i="0" u="none" strike="noStrike" kern="1200" cap="none" spc="0" normalizeH="0" baseline="0" noProof="0" dirty="0">
              <a:ln>
                <a:noFill/>
              </a:ln>
              <a:solidFill>
                <a:schemeClr val="bg1"/>
              </a:solidFill>
              <a:effectLst/>
              <a:uLnTx/>
              <a:uFillTx/>
              <a:latin typeface="Calibri"/>
            </a:endParaRPr>
          </a:p>
        </p:txBody>
      </p:sp>
      <p:sp>
        <p:nvSpPr>
          <p:cNvPr id="5" name="Title 1">
            <a:extLst>
              <a:ext uri="{FF2B5EF4-FFF2-40B4-BE49-F238E27FC236}">
                <a16:creationId xmlns:a16="http://schemas.microsoft.com/office/drawing/2014/main" id="{0AF1099F-79BE-4956-80C6-449D3C7E947B}"/>
              </a:ext>
            </a:extLst>
          </p:cNvPr>
          <p:cNvSpPr>
            <a:spLocks noGrp="1"/>
          </p:cNvSpPr>
          <p:nvPr>
            <p:ph type="title"/>
          </p:nvPr>
        </p:nvSpPr>
        <p:spPr>
          <a:xfrm>
            <a:off x="423863" y="0"/>
            <a:ext cx="10972800" cy="1143000"/>
          </a:xfrm>
        </p:spPr>
        <p:txBody>
          <a:bodyPr/>
          <a:lstStyle/>
          <a:p>
            <a:r>
              <a:rPr lang="en-US" dirty="0"/>
              <a:t>Idea/Approach details</a:t>
            </a:r>
          </a:p>
        </p:txBody>
      </p:sp>
      <p:sp>
        <p:nvSpPr>
          <p:cNvPr id="2" name="TextBox 1">
            <a:extLst>
              <a:ext uri="{FF2B5EF4-FFF2-40B4-BE49-F238E27FC236}">
                <a16:creationId xmlns:a16="http://schemas.microsoft.com/office/drawing/2014/main" id="{FB22FCC7-255A-42F0-A010-D1BCF4BDB6A0}"/>
              </a:ext>
            </a:extLst>
          </p:cNvPr>
          <p:cNvSpPr txBox="1"/>
          <p:nvPr/>
        </p:nvSpPr>
        <p:spPr>
          <a:xfrm>
            <a:off x="4150518" y="3433762"/>
            <a:ext cx="3890963" cy="338554"/>
          </a:xfrm>
          <a:prstGeom prst="rect">
            <a:avLst/>
          </a:prstGeom>
          <a:noFill/>
        </p:spPr>
        <p:txBody>
          <a:bodyPr wrap="square" rtlCol="0">
            <a:spAutoFit/>
          </a:bodyPr>
          <a:lstStyle/>
          <a:p>
            <a:pPr algn="ctr"/>
            <a:r>
              <a:rPr lang="en-IN" sz="1600" i="1" dirty="0"/>
              <a:t>Idea</a:t>
            </a:r>
          </a:p>
        </p:txBody>
      </p:sp>
      <p:sp>
        <p:nvSpPr>
          <p:cNvPr id="7" name="TextBox 6">
            <a:extLst>
              <a:ext uri="{FF2B5EF4-FFF2-40B4-BE49-F238E27FC236}">
                <a16:creationId xmlns:a16="http://schemas.microsoft.com/office/drawing/2014/main" id="{C28AEE45-88EF-4D5E-9837-9512F5A288FE}"/>
              </a:ext>
            </a:extLst>
          </p:cNvPr>
          <p:cNvSpPr txBox="1"/>
          <p:nvPr/>
        </p:nvSpPr>
        <p:spPr>
          <a:xfrm>
            <a:off x="4150518" y="6239290"/>
            <a:ext cx="3890963" cy="338554"/>
          </a:xfrm>
          <a:prstGeom prst="rect">
            <a:avLst/>
          </a:prstGeom>
          <a:noFill/>
        </p:spPr>
        <p:txBody>
          <a:bodyPr wrap="square" rtlCol="0">
            <a:spAutoFit/>
          </a:bodyPr>
          <a:lstStyle/>
          <a:p>
            <a:pPr algn="ctr"/>
            <a:r>
              <a:rPr lang="en-IN" sz="1600" i="1" dirty="0"/>
              <a:t>Technology stack</a:t>
            </a:r>
          </a:p>
        </p:txBody>
      </p:sp>
      <p:sp>
        <p:nvSpPr>
          <p:cNvPr id="9" name="Rounded Rectangle 3">
            <a:extLst>
              <a:ext uri="{FF2B5EF4-FFF2-40B4-BE49-F238E27FC236}">
                <a16:creationId xmlns:a16="http://schemas.microsoft.com/office/drawing/2014/main" id="{AD2930F9-C197-40ED-815F-9019063C2C70}"/>
              </a:ext>
            </a:extLst>
          </p:cNvPr>
          <p:cNvSpPr/>
          <p:nvPr/>
        </p:nvSpPr>
        <p:spPr>
          <a:xfrm>
            <a:off x="1873250" y="3895611"/>
            <a:ext cx="8445500" cy="233891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342900" marR="0" lvl="0" indent="-3429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chemeClr val="bg1"/>
                </a:solidFill>
                <a:effectLst/>
                <a:uLnTx/>
                <a:uFillTx/>
                <a:latin typeface="Calibri"/>
                <a:ea typeface="+mn-ea"/>
                <a:cs typeface="+mn-cs"/>
              </a:rPr>
              <a:t>Python</a:t>
            </a:r>
          </a:p>
          <a:p>
            <a:pPr marL="342900" marR="0" lvl="0" indent="-3429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err="1">
                <a:solidFill>
                  <a:schemeClr val="bg1"/>
                </a:solidFill>
                <a:latin typeface="Calibri"/>
              </a:rPr>
              <a:t>Scikit</a:t>
            </a:r>
            <a:r>
              <a:rPr lang="en-US" sz="2000" dirty="0">
                <a:solidFill>
                  <a:schemeClr val="bg1"/>
                </a:solidFill>
                <a:latin typeface="Calibri"/>
              </a:rPr>
              <a:t>-Learn</a:t>
            </a:r>
          </a:p>
          <a:p>
            <a:pPr marL="342900" marR="0" lvl="0" indent="-3429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solidFill>
                  <a:schemeClr val="bg1"/>
                </a:solidFill>
                <a:latin typeface="Calibri"/>
              </a:rPr>
              <a:t>NLTK</a:t>
            </a:r>
          </a:p>
          <a:p>
            <a:pPr marL="342900" marR="0" lvl="0" indent="-3429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solidFill>
                  <a:schemeClr val="bg1"/>
                </a:solidFill>
                <a:latin typeface="Calibri"/>
              </a:rPr>
              <a:t>Pandas</a:t>
            </a:r>
          </a:p>
          <a:p>
            <a:pPr marL="342900" marR="0" lvl="0" indent="-3429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solidFill>
                  <a:schemeClr val="bg1"/>
                </a:solidFill>
                <a:latin typeface="Calibri"/>
              </a:rPr>
              <a:t>MATLAB</a:t>
            </a:r>
          </a:p>
          <a:p>
            <a:pPr marL="342900" marR="0" lvl="0" indent="-3429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err="1">
                <a:ln>
                  <a:noFill/>
                </a:ln>
                <a:solidFill>
                  <a:schemeClr val="bg1"/>
                </a:solidFill>
                <a:effectLst/>
                <a:uLnTx/>
                <a:uFillTx/>
                <a:latin typeface="Calibri"/>
                <a:ea typeface="+mn-ea"/>
                <a:cs typeface="+mn-cs"/>
              </a:rPr>
              <a:t>Keras</a:t>
            </a:r>
            <a:endParaRPr kumimoji="0" lang="en-US" sz="2000" b="0" i="0" u="none" strike="noStrike" kern="1200" cap="none" spc="0" normalizeH="0" baseline="0" noProof="0" dirty="0">
              <a:ln>
                <a:noFill/>
              </a:ln>
              <a:solidFill>
                <a:schemeClr val="bg1"/>
              </a:solidFill>
              <a:effectLst/>
              <a:uLnTx/>
              <a:uFillTx/>
              <a:latin typeface="Calibri"/>
              <a:ea typeface="+mn-ea"/>
              <a:cs typeface="+mn-cs"/>
            </a:endParaRPr>
          </a:p>
        </p:txBody>
      </p:sp>
    </p:spTree>
    <p:extLst>
      <p:ext uri="{BB962C8B-B14F-4D97-AF65-F5344CB8AC3E}">
        <p14:creationId xmlns:p14="http://schemas.microsoft.com/office/powerpoint/2010/main" val="3046636137"/>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E73ECF-36CB-4900-8EF8-A184C713DEF2}"/>
              </a:ext>
            </a:extLst>
          </p:cNvPr>
          <p:cNvSpPr/>
          <p:nvPr/>
        </p:nvSpPr>
        <p:spPr>
          <a:xfrm>
            <a:off x="0" y="-33338"/>
            <a:ext cx="12192000" cy="6891338"/>
          </a:xfrm>
          <a:prstGeom prst="rect">
            <a:avLst/>
          </a:prstGeom>
          <a:solidFill>
            <a:schemeClr val="bg1"/>
          </a:solidFill>
          <a:ln w="38100">
            <a:solidFill>
              <a:srgbClr val="507A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Rounded Rectangle 3"/>
          <p:cNvSpPr/>
          <p:nvPr/>
        </p:nvSpPr>
        <p:spPr>
          <a:xfrm>
            <a:off x="1873250" y="1090084"/>
            <a:ext cx="8445500" cy="233891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bg1"/>
                </a:solidFill>
                <a:effectLst/>
                <a:uLnTx/>
                <a:uFillTx/>
                <a:latin typeface="Calibri"/>
                <a:ea typeface="+mn-ea"/>
                <a:cs typeface="+mn-cs"/>
              </a:rPr>
              <a:t>The use cases for this problem are virtually unlimited. Users on almost all social media websites and discussion forums can fall prey to such predators. Our tool will be prototyped on a particular platform and then generalized to suit the requirements of all such platforms, thereby leaving a huge population much safer than they were before. Any website can use this tool to flag suspicious profiles and become a much better space for all its users.</a:t>
            </a:r>
          </a:p>
        </p:txBody>
      </p:sp>
      <p:sp>
        <p:nvSpPr>
          <p:cNvPr id="5" name="Title 1">
            <a:extLst>
              <a:ext uri="{FF2B5EF4-FFF2-40B4-BE49-F238E27FC236}">
                <a16:creationId xmlns:a16="http://schemas.microsoft.com/office/drawing/2014/main" id="{0AF1099F-79BE-4956-80C6-449D3C7E947B}"/>
              </a:ext>
            </a:extLst>
          </p:cNvPr>
          <p:cNvSpPr>
            <a:spLocks noGrp="1"/>
          </p:cNvSpPr>
          <p:nvPr>
            <p:ph type="title"/>
          </p:nvPr>
        </p:nvSpPr>
        <p:spPr>
          <a:xfrm>
            <a:off x="423863" y="0"/>
            <a:ext cx="10972800" cy="1143000"/>
          </a:xfrm>
        </p:spPr>
        <p:txBody>
          <a:bodyPr/>
          <a:lstStyle/>
          <a:p>
            <a:r>
              <a:rPr lang="en-US" dirty="0"/>
              <a:t>Idea/Approach details</a:t>
            </a:r>
          </a:p>
        </p:txBody>
      </p:sp>
      <p:sp>
        <p:nvSpPr>
          <p:cNvPr id="2" name="TextBox 1">
            <a:extLst>
              <a:ext uri="{FF2B5EF4-FFF2-40B4-BE49-F238E27FC236}">
                <a16:creationId xmlns:a16="http://schemas.microsoft.com/office/drawing/2014/main" id="{FB22FCC7-255A-42F0-A010-D1BCF4BDB6A0}"/>
              </a:ext>
            </a:extLst>
          </p:cNvPr>
          <p:cNvSpPr txBox="1"/>
          <p:nvPr/>
        </p:nvSpPr>
        <p:spPr>
          <a:xfrm>
            <a:off x="4150518" y="3433762"/>
            <a:ext cx="3890963" cy="338554"/>
          </a:xfrm>
          <a:prstGeom prst="rect">
            <a:avLst/>
          </a:prstGeom>
          <a:noFill/>
        </p:spPr>
        <p:txBody>
          <a:bodyPr wrap="square" rtlCol="0">
            <a:spAutoFit/>
          </a:bodyPr>
          <a:lstStyle/>
          <a:p>
            <a:pPr algn="ctr"/>
            <a:r>
              <a:rPr lang="en-IN" sz="1600" i="1" dirty="0"/>
              <a:t>Use Cases</a:t>
            </a:r>
          </a:p>
        </p:txBody>
      </p:sp>
      <p:sp>
        <p:nvSpPr>
          <p:cNvPr id="7" name="TextBox 6">
            <a:extLst>
              <a:ext uri="{FF2B5EF4-FFF2-40B4-BE49-F238E27FC236}">
                <a16:creationId xmlns:a16="http://schemas.microsoft.com/office/drawing/2014/main" id="{C28AEE45-88EF-4D5E-9837-9512F5A288FE}"/>
              </a:ext>
            </a:extLst>
          </p:cNvPr>
          <p:cNvSpPr txBox="1"/>
          <p:nvPr/>
        </p:nvSpPr>
        <p:spPr>
          <a:xfrm>
            <a:off x="4150518" y="6239290"/>
            <a:ext cx="3890963" cy="338554"/>
          </a:xfrm>
          <a:prstGeom prst="rect">
            <a:avLst/>
          </a:prstGeom>
          <a:noFill/>
        </p:spPr>
        <p:txBody>
          <a:bodyPr wrap="square" rtlCol="0">
            <a:spAutoFit/>
          </a:bodyPr>
          <a:lstStyle/>
          <a:p>
            <a:pPr algn="ctr"/>
            <a:r>
              <a:rPr lang="en-IN" sz="1600" i="1" dirty="0"/>
              <a:t>Show Stopper</a:t>
            </a:r>
          </a:p>
        </p:txBody>
      </p:sp>
      <p:sp>
        <p:nvSpPr>
          <p:cNvPr id="9" name="Rounded Rectangle 3">
            <a:extLst>
              <a:ext uri="{FF2B5EF4-FFF2-40B4-BE49-F238E27FC236}">
                <a16:creationId xmlns:a16="http://schemas.microsoft.com/office/drawing/2014/main" id="{AD2930F9-C197-40ED-815F-9019063C2C70}"/>
              </a:ext>
            </a:extLst>
          </p:cNvPr>
          <p:cNvSpPr/>
          <p:nvPr/>
        </p:nvSpPr>
        <p:spPr>
          <a:xfrm>
            <a:off x="1873250" y="3895611"/>
            <a:ext cx="8445500" cy="233891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lvl="0" algn="just">
              <a:defRPr/>
            </a:pPr>
            <a:r>
              <a:rPr lang="en-US" sz="2000" dirty="0">
                <a:solidFill>
                  <a:schemeClr val="bg1"/>
                </a:solidFill>
                <a:latin typeface="Calibri"/>
              </a:rPr>
              <a:t>Through our project, we highlight key concerns of cyber harassment stemming from the use of digital media and discusses existing models of face-to-face bullying which may aid in modelling cyberbullying. This chapter then introduces state-of-the-art research in automated tools to detect cyber harassment. As of now, not much work has been done in this field and also suffers from a severe lack of precision and efficiency. We aim to iron out these flaws and present a novel approach to this age-old problem</a:t>
            </a:r>
          </a:p>
        </p:txBody>
      </p:sp>
    </p:spTree>
    <p:extLst>
      <p:ext uri="{BB962C8B-B14F-4D97-AF65-F5344CB8AC3E}">
        <p14:creationId xmlns:p14="http://schemas.microsoft.com/office/powerpoint/2010/main" val="374322306"/>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49FE5-9A43-42FC-B071-2A43448D798D}"/>
              </a:ext>
            </a:extLst>
          </p:cNvPr>
          <p:cNvSpPr>
            <a:spLocks noGrp="1"/>
          </p:cNvSpPr>
          <p:nvPr>
            <p:ph type="title"/>
          </p:nvPr>
        </p:nvSpPr>
        <p:spPr/>
        <p:txBody>
          <a:bodyPr>
            <a:normAutofit/>
          </a:bodyPr>
          <a:lstStyle/>
          <a:p>
            <a:r>
              <a:rPr lang="en-US" dirty="0"/>
              <a:t>What IS THE PROBLEM?</a:t>
            </a:r>
          </a:p>
        </p:txBody>
      </p:sp>
    </p:spTree>
    <p:extLst>
      <p:ext uri="{BB962C8B-B14F-4D97-AF65-F5344CB8AC3E}">
        <p14:creationId xmlns:p14="http://schemas.microsoft.com/office/powerpoint/2010/main" val="3179177116"/>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ell phone&#10;&#10;Description automatically generated">
            <a:extLst>
              <a:ext uri="{FF2B5EF4-FFF2-40B4-BE49-F238E27FC236}">
                <a16:creationId xmlns:a16="http://schemas.microsoft.com/office/drawing/2014/main" id="{A8A7CBA9-15C6-4791-B2F8-E9A48CBF4D6B}"/>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0" y="0"/>
            <a:ext cx="12192000" cy="5868821"/>
          </a:xfrm>
          <a:prstGeom prst="rect">
            <a:avLst/>
          </a:prstGeom>
          <a:ln>
            <a:noFill/>
          </a:ln>
          <a:effectLst>
            <a:outerShdw blurRad="292100" dist="139700" dir="2700000" algn="tl" rotWithShape="0">
              <a:srgbClr val="333333">
                <a:alpha val="65000"/>
              </a:srgbClr>
            </a:outerShdw>
          </a:effectLst>
        </p:spPr>
      </p:pic>
      <p:grpSp>
        <p:nvGrpSpPr>
          <p:cNvPr id="15" name="Group 14">
            <a:extLst>
              <a:ext uri="{FF2B5EF4-FFF2-40B4-BE49-F238E27FC236}">
                <a16:creationId xmlns:a16="http://schemas.microsoft.com/office/drawing/2014/main" id="{74226CF9-1D7F-4762-B054-7700CAE9E025}"/>
              </a:ext>
            </a:extLst>
          </p:cNvPr>
          <p:cNvGrpSpPr/>
          <p:nvPr/>
        </p:nvGrpSpPr>
        <p:grpSpPr>
          <a:xfrm>
            <a:off x="2852715" y="208590"/>
            <a:ext cx="1237320" cy="286920"/>
            <a:chOff x="2852715" y="208590"/>
            <a:chExt cx="1237320" cy="286920"/>
          </a:xfrm>
        </p:grpSpPr>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6AD35807-A010-4BA0-96A1-44B8C26A2E97}"/>
                    </a:ext>
                  </a:extLst>
                </p14:cNvPr>
                <p14:cNvContentPartPr/>
                <p14:nvPr/>
              </p14:nvContentPartPr>
              <p14:xfrm>
                <a:off x="3123795" y="333150"/>
                <a:ext cx="360" cy="360"/>
              </p14:xfrm>
            </p:contentPart>
          </mc:Choice>
          <mc:Fallback xmlns="">
            <p:pic>
              <p:nvPicPr>
                <p:cNvPr id="7" name="Ink 6">
                  <a:extLst>
                    <a:ext uri="{FF2B5EF4-FFF2-40B4-BE49-F238E27FC236}">
                      <a16:creationId xmlns:a16="http://schemas.microsoft.com/office/drawing/2014/main" id="{6AD35807-A010-4BA0-96A1-44B8C26A2E97}"/>
                    </a:ext>
                  </a:extLst>
                </p:cNvPr>
                <p:cNvPicPr/>
                <p:nvPr/>
              </p:nvPicPr>
              <p:blipFill>
                <a:blip r:embed="rId5"/>
                <a:stretch>
                  <a:fillRect/>
                </a:stretch>
              </p:blipFill>
              <p:spPr>
                <a:xfrm>
                  <a:off x="3061155" y="2701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A05F1D2F-9A90-4209-A677-683E9899DA4E}"/>
                    </a:ext>
                  </a:extLst>
                </p14:cNvPr>
                <p14:cNvContentPartPr/>
                <p14:nvPr/>
              </p14:nvContentPartPr>
              <p14:xfrm>
                <a:off x="2866755" y="208590"/>
                <a:ext cx="1055160" cy="68400"/>
              </p14:xfrm>
            </p:contentPart>
          </mc:Choice>
          <mc:Fallback xmlns="">
            <p:pic>
              <p:nvPicPr>
                <p:cNvPr id="8" name="Ink 7">
                  <a:extLst>
                    <a:ext uri="{FF2B5EF4-FFF2-40B4-BE49-F238E27FC236}">
                      <a16:creationId xmlns:a16="http://schemas.microsoft.com/office/drawing/2014/main" id="{A05F1D2F-9A90-4209-A677-683E9899DA4E}"/>
                    </a:ext>
                  </a:extLst>
                </p:cNvPr>
                <p:cNvPicPr/>
                <p:nvPr/>
              </p:nvPicPr>
              <p:blipFill>
                <a:blip r:embed="rId7"/>
                <a:stretch>
                  <a:fillRect/>
                </a:stretch>
              </p:blipFill>
              <p:spPr>
                <a:xfrm>
                  <a:off x="2804115" y="145590"/>
                  <a:ext cx="118080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EA60CDAC-1C4E-48B0-A7AE-E1DC642A8699}"/>
                    </a:ext>
                  </a:extLst>
                </p14:cNvPr>
                <p14:cNvContentPartPr/>
                <p14:nvPr/>
              </p14:nvContentPartPr>
              <p14:xfrm>
                <a:off x="2852715" y="208950"/>
                <a:ext cx="1237320" cy="213840"/>
              </p14:xfrm>
            </p:contentPart>
          </mc:Choice>
          <mc:Fallback xmlns="">
            <p:pic>
              <p:nvPicPr>
                <p:cNvPr id="10" name="Ink 9">
                  <a:extLst>
                    <a:ext uri="{FF2B5EF4-FFF2-40B4-BE49-F238E27FC236}">
                      <a16:creationId xmlns:a16="http://schemas.microsoft.com/office/drawing/2014/main" id="{EA60CDAC-1C4E-48B0-A7AE-E1DC642A8699}"/>
                    </a:ext>
                  </a:extLst>
                </p:cNvPr>
                <p:cNvPicPr/>
                <p:nvPr/>
              </p:nvPicPr>
              <p:blipFill>
                <a:blip r:embed="rId9"/>
                <a:stretch>
                  <a:fillRect/>
                </a:stretch>
              </p:blipFill>
              <p:spPr>
                <a:xfrm>
                  <a:off x="2789715" y="145950"/>
                  <a:ext cx="1362960" cy="3394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1EB3A538-E680-4E8C-9D34-EFC0C2EC268E}"/>
                    </a:ext>
                  </a:extLst>
                </p14:cNvPr>
                <p14:cNvContentPartPr/>
                <p14:nvPr/>
              </p14:nvContentPartPr>
              <p14:xfrm>
                <a:off x="3056835" y="293190"/>
                <a:ext cx="785160" cy="202320"/>
              </p14:xfrm>
            </p:contentPart>
          </mc:Choice>
          <mc:Fallback xmlns="">
            <p:pic>
              <p:nvPicPr>
                <p:cNvPr id="11" name="Ink 10">
                  <a:extLst>
                    <a:ext uri="{FF2B5EF4-FFF2-40B4-BE49-F238E27FC236}">
                      <a16:creationId xmlns:a16="http://schemas.microsoft.com/office/drawing/2014/main" id="{1EB3A538-E680-4E8C-9D34-EFC0C2EC268E}"/>
                    </a:ext>
                  </a:extLst>
                </p:cNvPr>
                <p:cNvPicPr/>
                <p:nvPr/>
              </p:nvPicPr>
              <p:blipFill>
                <a:blip r:embed="rId11"/>
                <a:stretch>
                  <a:fillRect/>
                </a:stretch>
              </p:blipFill>
              <p:spPr>
                <a:xfrm>
                  <a:off x="2993835" y="230550"/>
                  <a:ext cx="910800" cy="3279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3" name="Ink 12">
                  <a:extLst>
                    <a:ext uri="{FF2B5EF4-FFF2-40B4-BE49-F238E27FC236}">
                      <a16:creationId xmlns:a16="http://schemas.microsoft.com/office/drawing/2014/main" id="{D4AC16F1-07FC-44E7-9A25-88A1CD5C9724}"/>
                    </a:ext>
                  </a:extLst>
                </p14:cNvPr>
                <p14:cNvContentPartPr/>
                <p14:nvPr/>
              </p14:nvContentPartPr>
              <p14:xfrm>
                <a:off x="3228555" y="445470"/>
                <a:ext cx="11520" cy="21600"/>
              </p14:xfrm>
            </p:contentPart>
          </mc:Choice>
          <mc:Fallback xmlns="">
            <p:pic>
              <p:nvPicPr>
                <p:cNvPr id="13" name="Ink 12">
                  <a:extLst>
                    <a:ext uri="{FF2B5EF4-FFF2-40B4-BE49-F238E27FC236}">
                      <a16:creationId xmlns:a16="http://schemas.microsoft.com/office/drawing/2014/main" id="{D4AC16F1-07FC-44E7-9A25-88A1CD5C9724}"/>
                    </a:ext>
                  </a:extLst>
                </p:cNvPr>
                <p:cNvPicPr/>
                <p:nvPr/>
              </p:nvPicPr>
              <p:blipFill>
                <a:blip r:embed="rId13"/>
                <a:stretch>
                  <a:fillRect/>
                </a:stretch>
              </p:blipFill>
              <p:spPr>
                <a:xfrm>
                  <a:off x="3165915" y="382470"/>
                  <a:ext cx="137160" cy="147240"/>
                </a:xfrm>
                <a:prstGeom prst="rect">
                  <a:avLst/>
                </a:prstGeom>
              </p:spPr>
            </p:pic>
          </mc:Fallback>
        </mc:AlternateContent>
      </p:grpSp>
      <p:sp>
        <p:nvSpPr>
          <p:cNvPr id="17" name="TextBox 16">
            <a:extLst>
              <a:ext uri="{FF2B5EF4-FFF2-40B4-BE49-F238E27FC236}">
                <a16:creationId xmlns:a16="http://schemas.microsoft.com/office/drawing/2014/main" id="{441051F3-6CFB-44C8-B55E-81C38F0C9A19}"/>
              </a:ext>
            </a:extLst>
          </p:cNvPr>
          <p:cNvSpPr txBox="1"/>
          <p:nvPr/>
        </p:nvSpPr>
        <p:spPr>
          <a:xfrm>
            <a:off x="0" y="5908781"/>
            <a:ext cx="12192000" cy="830997"/>
          </a:xfrm>
          <a:prstGeom prst="rect">
            <a:avLst/>
          </a:prstGeom>
          <a:noFill/>
        </p:spPr>
        <p:txBody>
          <a:bodyPr wrap="square" rtlCol="0">
            <a:spAutoFit/>
          </a:bodyPr>
          <a:lstStyle/>
          <a:p>
            <a:r>
              <a:rPr lang="en-US" sz="1600" dirty="0"/>
              <a:t>Source: HEALTH BEHAVIOUR IN SCHOOL-AGED CHILDREN. (n.d.). Retrieved February 16, 2020, from http://www.hbsc.org/news/index.aspx?ni=3473) and the 2013 United States School Crime Supplement of the National Crime Victimization Survey (www.icpsr.umich.edu/icpsrweb/NACJD/studies/34980</a:t>
            </a:r>
          </a:p>
        </p:txBody>
      </p:sp>
    </p:spTree>
    <p:extLst>
      <p:ext uri="{BB962C8B-B14F-4D97-AF65-F5344CB8AC3E}">
        <p14:creationId xmlns:p14="http://schemas.microsoft.com/office/powerpoint/2010/main" val="2350201763"/>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ell phone&#10;&#10;Description automatically generated">
            <a:extLst>
              <a:ext uri="{FF2B5EF4-FFF2-40B4-BE49-F238E27FC236}">
                <a16:creationId xmlns:a16="http://schemas.microsoft.com/office/drawing/2014/main" id="{B19219D0-7633-449D-854B-6A2876A1650E}"/>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0" y="0"/>
            <a:ext cx="12192000" cy="5991225"/>
          </a:xfrm>
          <a:prstGeom prst="rect">
            <a:avLst/>
          </a:prstGeom>
          <a:ln>
            <a:no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247518C4-F900-4655-9887-0571AB46D731}"/>
              </a:ext>
            </a:extLst>
          </p:cNvPr>
          <p:cNvSpPr txBox="1"/>
          <p:nvPr/>
        </p:nvSpPr>
        <p:spPr>
          <a:xfrm>
            <a:off x="0" y="6027003"/>
            <a:ext cx="12039600" cy="830997"/>
          </a:xfrm>
          <a:prstGeom prst="rect">
            <a:avLst/>
          </a:prstGeom>
          <a:noFill/>
        </p:spPr>
        <p:txBody>
          <a:bodyPr wrap="square" rtlCol="0">
            <a:spAutoFit/>
          </a:bodyPr>
          <a:lstStyle/>
          <a:p>
            <a:r>
              <a:rPr lang="en-US" sz="1200" dirty="0"/>
              <a:t>Source: </a:t>
            </a:r>
            <a:br>
              <a:rPr lang="en-US" sz="1200" dirty="0"/>
            </a:br>
            <a:r>
              <a:rPr lang="en-US" sz="1200" dirty="0"/>
              <a:t>India's digital war: Surge in cyber crime rate highlights need for deeper scrutiny of medium's social, psychological threats. (2017, December 20). Retrieved February 16, 2020, from https://www.firstpost.com/india/indias-digital-war-surge-in-cyber-crime-rate-highlights-need-for-deeper-scrutiny-of-mediums-social-psychological-threats-4267385.html</a:t>
            </a:r>
          </a:p>
        </p:txBody>
      </p:sp>
    </p:spTree>
    <p:extLst>
      <p:ext uri="{BB962C8B-B14F-4D97-AF65-F5344CB8AC3E}">
        <p14:creationId xmlns:p14="http://schemas.microsoft.com/office/powerpoint/2010/main" val="1521108478"/>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screenshot of a cell phone&#10;&#10;Description automatically generated">
            <a:extLst>
              <a:ext uri="{FF2B5EF4-FFF2-40B4-BE49-F238E27FC236}">
                <a16:creationId xmlns:a16="http://schemas.microsoft.com/office/drawing/2014/main" id="{FB0693F4-A62B-4B41-8FDD-A17C469CCF75}"/>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0" y="0"/>
            <a:ext cx="12192000" cy="6134903"/>
          </a:xfrm>
          <a:prstGeom prst="rect">
            <a:avLst/>
          </a:prstGeom>
          <a:ln>
            <a:noFill/>
          </a:ln>
          <a:effectLst>
            <a:outerShdw blurRad="292100" dist="139700" dir="2700000" algn="tl" rotWithShape="0">
              <a:srgbClr val="333333">
                <a:alpha val="65000"/>
              </a:srgbClr>
            </a:outerShdw>
          </a:effectLst>
        </p:spPr>
      </p:pic>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7E2ABD94-F015-4C1B-A30D-5B352AD04249}"/>
                  </a:ext>
                </a:extLst>
              </p14:cNvPr>
              <p14:cNvContentPartPr/>
              <p14:nvPr/>
            </p14:nvContentPartPr>
            <p14:xfrm>
              <a:off x="5066715" y="3247905"/>
              <a:ext cx="360" cy="360"/>
            </p14:xfrm>
          </p:contentPart>
        </mc:Choice>
        <mc:Fallback xmlns="">
          <p:pic>
            <p:nvPicPr>
              <p:cNvPr id="4" name="Ink 3">
                <a:extLst>
                  <a:ext uri="{FF2B5EF4-FFF2-40B4-BE49-F238E27FC236}">
                    <a16:creationId xmlns:a16="http://schemas.microsoft.com/office/drawing/2014/main" id="{7E2ABD94-F015-4C1B-A30D-5B352AD04249}"/>
                  </a:ext>
                </a:extLst>
              </p:cNvPr>
              <p:cNvPicPr/>
              <p:nvPr/>
            </p:nvPicPr>
            <p:blipFill>
              <a:blip r:embed="rId5"/>
              <a:stretch>
                <a:fillRect/>
              </a:stretch>
            </p:blipFill>
            <p:spPr>
              <a:xfrm>
                <a:off x="5004075" y="3184905"/>
                <a:ext cx="126000" cy="126000"/>
              </a:xfrm>
              <a:prstGeom prst="rect">
                <a:avLst/>
              </a:prstGeom>
            </p:spPr>
          </p:pic>
        </mc:Fallback>
      </mc:AlternateContent>
      <p:sp>
        <p:nvSpPr>
          <p:cNvPr id="7" name="TextBox 6">
            <a:extLst>
              <a:ext uri="{FF2B5EF4-FFF2-40B4-BE49-F238E27FC236}">
                <a16:creationId xmlns:a16="http://schemas.microsoft.com/office/drawing/2014/main" id="{910B281B-8316-4A2E-A739-9C2597E29C6E}"/>
              </a:ext>
            </a:extLst>
          </p:cNvPr>
          <p:cNvSpPr txBox="1"/>
          <p:nvPr/>
        </p:nvSpPr>
        <p:spPr>
          <a:xfrm>
            <a:off x="47625" y="6147061"/>
            <a:ext cx="12096750" cy="954107"/>
          </a:xfrm>
          <a:prstGeom prst="rect">
            <a:avLst/>
          </a:prstGeom>
          <a:noFill/>
        </p:spPr>
        <p:txBody>
          <a:bodyPr wrap="square" rtlCol="0">
            <a:spAutoFit/>
          </a:bodyPr>
          <a:lstStyle/>
          <a:p>
            <a:r>
              <a:rPr lang="en-US" sz="1400" dirty="0"/>
              <a:t>Source: </a:t>
            </a:r>
            <a:r>
              <a:rPr lang="en-US" sz="1400" dirty="0" err="1"/>
              <a:t>Patchin</a:t>
            </a:r>
            <a:r>
              <a:rPr lang="en-US" sz="1400" dirty="0"/>
              <a:t>, J. W., Paula, Paula, Georgina, Georgina, Hinduja, S., &amp; Hinduja, S. (2015, October 21). Our latest research on cyberbullying among school students. Retrieved February 16, 2020, from https://cyberbullying.org/2015-data</a:t>
            </a:r>
          </a:p>
          <a:p>
            <a:br>
              <a:rPr lang="en-US" sz="1400" dirty="0"/>
            </a:br>
            <a:endParaRPr lang="en-US" sz="1400" dirty="0"/>
          </a:p>
        </p:txBody>
      </p:sp>
    </p:spTree>
    <p:extLst>
      <p:ext uri="{BB962C8B-B14F-4D97-AF65-F5344CB8AC3E}">
        <p14:creationId xmlns:p14="http://schemas.microsoft.com/office/powerpoint/2010/main" val="1244443988"/>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ell phone&#10;&#10;Description automatically generated">
            <a:extLst>
              <a:ext uri="{FF2B5EF4-FFF2-40B4-BE49-F238E27FC236}">
                <a16:creationId xmlns:a16="http://schemas.microsoft.com/office/drawing/2014/main" id="{1157434E-711F-4941-BBF0-BD9D6F7821C1}"/>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0" y="1"/>
            <a:ext cx="12120880" cy="6048374"/>
          </a:xfrm>
          <a:prstGeom prst="rect">
            <a:avLst/>
          </a:prstGeom>
          <a:ln>
            <a:no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06B39D5C-3E10-473C-9E36-31E9B1121193}"/>
              </a:ext>
            </a:extLst>
          </p:cNvPr>
          <p:cNvSpPr txBox="1"/>
          <p:nvPr/>
        </p:nvSpPr>
        <p:spPr>
          <a:xfrm>
            <a:off x="0" y="6048375"/>
            <a:ext cx="12087225" cy="646331"/>
          </a:xfrm>
          <a:prstGeom prst="rect">
            <a:avLst/>
          </a:prstGeom>
          <a:noFill/>
        </p:spPr>
        <p:txBody>
          <a:bodyPr wrap="square" rtlCol="0">
            <a:spAutoFit/>
          </a:bodyPr>
          <a:lstStyle/>
          <a:p>
            <a:r>
              <a:rPr lang="en-US" dirty="0"/>
              <a:t>Source: Toxic Twitter - Women's Experiences of Violence and Abuse on Twitter. (n.d.). Retrieved February 16, 2020, from https://www.amnesty.org/en/latest/research/2018/03/online-violence-against-women-chapter-3/ </a:t>
            </a:r>
          </a:p>
        </p:txBody>
      </p:sp>
    </p:spTree>
    <p:extLst>
      <p:ext uri="{BB962C8B-B14F-4D97-AF65-F5344CB8AC3E}">
        <p14:creationId xmlns:p14="http://schemas.microsoft.com/office/powerpoint/2010/main" val="629866274"/>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ell phone&#10;&#10;Description automatically generated">
            <a:extLst>
              <a:ext uri="{FF2B5EF4-FFF2-40B4-BE49-F238E27FC236}">
                <a16:creationId xmlns:a16="http://schemas.microsoft.com/office/drawing/2014/main" id="{98EB3B05-E421-47D6-A357-15947C1E6297}"/>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873918" y="0"/>
            <a:ext cx="10358437" cy="5924550"/>
          </a:xfrm>
          <a:prstGeom prst="rect">
            <a:avLst/>
          </a:prstGeom>
          <a:ln>
            <a:no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A9A11CE5-A361-4223-ADB6-AE053F03F123}"/>
              </a:ext>
            </a:extLst>
          </p:cNvPr>
          <p:cNvSpPr txBox="1"/>
          <p:nvPr/>
        </p:nvSpPr>
        <p:spPr>
          <a:xfrm>
            <a:off x="0" y="6067425"/>
            <a:ext cx="12106275" cy="1107996"/>
          </a:xfrm>
          <a:prstGeom prst="rect">
            <a:avLst/>
          </a:prstGeom>
          <a:noFill/>
        </p:spPr>
        <p:txBody>
          <a:bodyPr wrap="square" rtlCol="0">
            <a:spAutoFit/>
          </a:bodyPr>
          <a:lstStyle/>
          <a:p>
            <a:r>
              <a:rPr lang="en-US" sz="1600" dirty="0"/>
              <a:t>Source: Anderson, M. (2019, December 31). A Majority of Teens Have Experienced Some Form of Cyberbullying. Retrieved February 16, 2020, from https://www.pewresearch.org/internet/2018/09/27/a-majority-of-teens-have-experienced-some-form-of-cyberbullying/</a:t>
            </a:r>
          </a:p>
          <a:p>
            <a:endParaRPr lang="en-US" sz="1600" dirty="0"/>
          </a:p>
        </p:txBody>
      </p:sp>
    </p:spTree>
    <p:extLst>
      <p:ext uri="{BB962C8B-B14F-4D97-AF65-F5344CB8AC3E}">
        <p14:creationId xmlns:p14="http://schemas.microsoft.com/office/powerpoint/2010/main" val="2532471065"/>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89249-1624-42FE-BD52-28ED97776942}"/>
              </a:ext>
            </a:extLst>
          </p:cNvPr>
          <p:cNvSpPr>
            <a:spLocks noGrp="1"/>
          </p:cNvSpPr>
          <p:nvPr>
            <p:ph type="title"/>
          </p:nvPr>
        </p:nvSpPr>
        <p:spPr/>
        <p:txBody>
          <a:bodyPr/>
          <a:lstStyle/>
          <a:p>
            <a:r>
              <a:rPr lang="en-US" dirty="0"/>
              <a:t>Why tackle this problem?</a:t>
            </a:r>
          </a:p>
        </p:txBody>
      </p:sp>
    </p:spTree>
    <p:extLst>
      <p:ext uri="{BB962C8B-B14F-4D97-AF65-F5344CB8AC3E}">
        <p14:creationId xmlns:p14="http://schemas.microsoft.com/office/powerpoint/2010/main" val="1708954178"/>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D96021-1022-4E9C-84FA-2E34D0A8CDE1}"/>
              </a:ext>
            </a:extLst>
          </p:cNvPr>
          <p:cNvSpPr>
            <a:spLocks noGrp="1"/>
          </p:cNvSpPr>
          <p:nvPr>
            <p:ph idx="1"/>
          </p:nvPr>
        </p:nvSpPr>
        <p:spPr>
          <a:xfrm>
            <a:off x="1155573" y="704850"/>
            <a:ext cx="10058400" cy="5543550"/>
          </a:xfrm>
        </p:spPr>
        <p:txBody>
          <a:bodyPr>
            <a:normAutofit/>
          </a:bodyPr>
          <a:lstStyle/>
          <a:p>
            <a:pPr>
              <a:buFont typeface="Wingdings" panose="05000000000000000000" pitchFamily="2" charset="2"/>
              <a:buChar char="q"/>
            </a:pPr>
            <a:r>
              <a:rPr lang="en-US" sz="2800" dirty="0">
                <a:latin typeface="Algerian" panose="04020705040A02060702" pitchFamily="82" charset="0"/>
              </a:rPr>
              <a:t>Majority of children around the globe are bullied online in some form or the other. </a:t>
            </a:r>
          </a:p>
          <a:p>
            <a:pPr>
              <a:buFont typeface="Wingdings" panose="05000000000000000000" pitchFamily="2" charset="2"/>
              <a:buChar char="q"/>
            </a:pPr>
            <a:r>
              <a:rPr lang="en-US" sz="2800" dirty="0">
                <a:latin typeface="Algerian" panose="04020705040A02060702" pitchFamily="82" charset="0"/>
              </a:rPr>
              <a:t>Cyberbullying poses significant threat to physical and mental health of the victims.</a:t>
            </a:r>
          </a:p>
          <a:p>
            <a:pPr>
              <a:buFont typeface="Wingdings" panose="05000000000000000000" pitchFamily="2" charset="2"/>
              <a:buChar char="q"/>
            </a:pPr>
            <a:r>
              <a:rPr lang="en-US" sz="2800" dirty="0">
                <a:latin typeface="Algerian" panose="04020705040A02060702" pitchFamily="82" charset="0"/>
              </a:rPr>
              <a:t>Unlike other criminals, cyber bullies can hide behind a mask of anonymity online, and do not need direct physical access to their victims to do unimaginable harm.</a:t>
            </a:r>
          </a:p>
          <a:p>
            <a:pPr>
              <a:buFont typeface="Wingdings" panose="05000000000000000000" pitchFamily="2" charset="2"/>
              <a:buChar char="q"/>
            </a:pPr>
            <a:r>
              <a:rPr lang="en-US" sz="2800" dirty="0">
                <a:latin typeface="Algerian" panose="04020705040A02060702" pitchFamily="82" charset="0"/>
              </a:rPr>
              <a:t>This tool is a step towards making the cyber-space safer for everyone especially people under the age of 18.</a:t>
            </a:r>
          </a:p>
          <a:p>
            <a:pPr>
              <a:buFont typeface="Wingdings" panose="05000000000000000000" pitchFamily="2" charset="2"/>
              <a:buChar char="q"/>
            </a:pPr>
            <a:endParaRPr lang="en-US" sz="2800" dirty="0">
              <a:latin typeface="Algerian" panose="04020705040A02060702" pitchFamily="82" charset="0"/>
            </a:endParaRPr>
          </a:p>
        </p:txBody>
      </p:sp>
    </p:spTree>
    <p:extLst>
      <p:ext uri="{BB962C8B-B14F-4D97-AF65-F5344CB8AC3E}">
        <p14:creationId xmlns:p14="http://schemas.microsoft.com/office/powerpoint/2010/main" val="3443577180"/>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2D5F-9B43-4B8A-9D72-6EB87899A62F}"/>
              </a:ext>
            </a:extLst>
          </p:cNvPr>
          <p:cNvSpPr>
            <a:spLocks noGrp="1"/>
          </p:cNvSpPr>
          <p:nvPr>
            <p:ph type="title"/>
          </p:nvPr>
        </p:nvSpPr>
        <p:spPr/>
        <p:txBody>
          <a:bodyPr/>
          <a:lstStyle/>
          <a:p>
            <a:r>
              <a:rPr lang="en-US" dirty="0"/>
              <a:t>WHAT CAN BE DONE?</a:t>
            </a:r>
          </a:p>
        </p:txBody>
      </p:sp>
    </p:spTree>
    <p:extLst>
      <p:ext uri="{BB962C8B-B14F-4D97-AF65-F5344CB8AC3E}">
        <p14:creationId xmlns:p14="http://schemas.microsoft.com/office/powerpoint/2010/main" val="3938156945"/>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a:extLst>
              <a:ext uri="{FF2B5EF4-FFF2-40B4-BE49-F238E27FC236}">
                <a16:creationId xmlns:a16="http://schemas.microsoft.com/office/drawing/2014/main" id="{451F6FF4-9039-4308-93F7-8186238B92E8}"/>
              </a:ext>
            </a:extLst>
          </p:cNvPr>
          <p:cNvGraphicFramePr>
            <a:graphicFrameLocks noGrp="1"/>
          </p:cNvGraphicFramePr>
          <p:nvPr>
            <p:extLst>
              <p:ext uri="{D42A27DB-BD31-4B8C-83A1-F6EECF244321}">
                <p14:modId xmlns:p14="http://schemas.microsoft.com/office/powerpoint/2010/main" val="2435402335"/>
              </p:ext>
            </p:extLst>
          </p:nvPr>
        </p:nvGraphicFramePr>
        <p:xfrm>
          <a:off x="791170" y="531018"/>
          <a:ext cx="10609660" cy="5795963"/>
        </p:xfrm>
        <a:graphic>
          <a:graphicData uri="http://schemas.openxmlformats.org/drawingml/2006/table">
            <a:tbl>
              <a:tblPr>
                <a:tableStyleId>{E8034E78-7F5D-4C2E-B375-FC64B27BC917}</a:tableStyleId>
              </a:tblPr>
              <a:tblGrid>
                <a:gridCol w="10609660">
                  <a:extLst>
                    <a:ext uri="{9D8B030D-6E8A-4147-A177-3AD203B41FA5}">
                      <a16:colId xmlns:a16="http://schemas.microsoft.com/office/drawing/2014/main" val="4151577665"/>
                    </a:ext>
                  </a:extLst>
                </a:gridCol>
              </a:tblGrid>
              <a:tr h="5795963">
                <a:tc>
                  <a:txBody>
                    <a:bodyPr/>
                    <a:lstStyle/>
                    <a:p>
                      <a:endParaRPr lang="en-US" dirty="0"/>
                    </a:p>
                  </a:txBody>
                  <a:tcPr/>
                </a:tc>
                <a:extLst>
                  <a:ext uri="{0D108BD9-81ED-4DB2-BD59-A6C34878D82A}">
                    <a16:rowId xmlns:a16="http://schemas.microsoft.com/office/drawing/2014/main" val="485531408"/>
                  </a:ext>
                </a:extLst>
              </a:tr>
            </a:tbl>
          </a:graphicData>
        </a:graphic>
      </p:graphicFrame>
      <p:pic>
        <p:nvPicPr>
          <p:cNvPr id="12" name="Content Placeholder 8">
            <a:extLst>
              <a:ext uri="{FF2B5EF4-FFF2-40B4-BE49-F238E27FC236}">
                <a16:creationId xmlns:a16="http://schemas.microsoft.com/office/drawing/2014/main" id="{092F2C7A-B29C-4CD0-84CF-4437CA513E5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28675" y="576263"/>
            <a:ext cx="5229225" cy="34671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3" name="TextBox 12">
            <a:extLst>
              <a:ext uri="{FF2B5EF4-FFF2-40B4-BE49-F238E27FC236}">
                <a16:creationId xmlns:a16="http://schemas.microsoft.com/office/drawing/2014/main" id="{58D754E2-8101-42EB-AF23-94F90E5D4652}"/>
              </a:ext>
            </a:extLst>
          </p:cNvPr>
          <p:cNvSpPr txBox="1"/>
          <p:nvPr/>
        </p:nvSpPr>
        <p:spPr>
          <a:xfrm>
            <a:off x="6591301" y="657225"/>
            <a:ext cx="4809530" cy="4893647"/>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latin typeface="Algerian" panose="04020705040A02060702" pitchFamily="82" charset="0"/>
              </a:rPr>
              <a:t>We can work under the assumption that people who are likely to be cyber harassers show either one or more of these behaviors towards minors in the cyber space.</a:t>
            </a:r>
          </a:p>
          <a:p>
            <a:pPr marL="342900" indent="-342900">
              <a:buFont typeface="Wingdings" panose="05000000000000000000" pitchFamily="2" charset="2"/>
              <a:buChar char="Ø"/>
            </a:pPr>
            <a:endParaRPr lang="en-US" sz="2400" dirty="0">
              <a:latin typeface="Algerian" panose="04020705040A02060702" pitchFamily="82" charset="0"/>
            </a:endParaRPr>
          </a:p>
          <a:p>
            <a:pPr marL="342900" indent="-342900">
              <a:buFont typeface="Wingdings" panose="05000000000000000000" pitchFamily="2" charset="2"/>
              <a:buChar char="Ø"/>
            </a:pPr>
            <a:r>
              <a:rPr lang="en-US" sz="2400" dirty="0">
                <a:latin typeface="Algerian" panose="04020705040A02060702" pitchFamily="82" charset="0"/>
              </a:rPr>
              <a:t>If we can identify the people who send such content out, we can find out who is a threat to others on the internet.</a:t>
            </a:r>
          </a:p>
        </p:txBody>
      </p:sp>
    </p:spTree>
    <p:extLst>
      <p:ext uri="{BB962C8B-B14F-4D97-AF65-F5344CB8AC3E}">
        <p14:creationId xmlns:p14="http://schemas.microsoft.com/office/powerpoint/2010/main" val="304089390"/>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FA519-D112-475C-909C-9CDF20A87C12}"/>
              </a:ext>
            </a:extLst>
          </p:cNvPr>
          <p:cNvSpPr>
            <a:spLocks noGrp="1"/>
          </p:cNvSpPr>
          <p:nvPr>
            <p:ph type="title"/>
          </p:nvPr>
        </p:nvSpPr>
        <p:spPr/>
        <p:txBody>
          <a:bodyPr/>
          <a:lstStyle/>
          <a:p>
            <a:r>
              <a:rPr lang="en-US" dirty="0"/>
              <a:t>Literature Review of existing algorithms</a:t>
            </a:r>
          </a:p>
        </p:txBody>
      </p:sp>
    </p:spTree>
    <p:extLst>
      <p:ext uri="{BB962C8B-B14F-4D97-AF65-F5344CB8AC3E}">
        <p14:creationId xmlns:p14="http://schemas.microsoft.com/office/powerpoint/2010/main" val="2657584339"/>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2A652-37A3-4178-ADC7-03B585B5549B}"/>
              </a:ext>
            </a:extLst>
          </p:cNvPr>
          <p:cNvSpPr>
            <a:spLocks noGrp="1"/>
          </p:cNvSpPr>
          <p:nvPr>
            <p:ph type="title"/>
          </p:nvPr>
        </p:nvSpPr>
        <p:spPr/>
        <p:txBody>
          <a:bodyPr>
            <a:noAutofit/>
          </a:bodyPr>
          <a:lstStyle/>
          <a:p>
            <a:r>
              <a:rPr lang="en-US" sz="3600" dirty="0"/>
              <a:t>Escalante, Hugo Jair et al. “Sexual predator detection in chats with chained classifiers.” </a:t>
            </a:r>
            <a:r>
              <a:rPr lang="en-US" sz="3600" i="1" dirty="0"/>
              <a:t>WASSA@NAACL-HLT</a:t>
            </a:r>
            <a:r>
              <a:rPr lang="en-US" sz="3600" dirty="0"/>
              <a:t> (2013).</a:t>
            </a:r>
          </a:p>
        </p:txBody>
      </p:sp>
      <p:sp>
        <p:nvSpPr>
          <p:cNvPr id="3" name="Content Placeholder 2">
            <a:extLst>
              <a:ext uri="{FF2B5EF4-FFF2-40B4-BE49-F238E27FC236}">
                <a16:creationId xmlns:a16="http://schemas.microsoft.com/office/drawing/2014/main" id="{E467FA59-5F73-49C9-AD83-24BD2742E7E7}"/>
              </a:ext>
            </a:extLst>
          </p:cNvPr>
          <p:cNvSpPr>
            <a:spLocks noGrp="1"/>
          </p:cNvSpPr>
          <p:nvPr>
            <p:ph idx="1"/>
          </p:nvPr>
        </p:nvSpPr>
        <p:spPr/>
        <p:txBody>
          <a:bodyPr>
            <a:normAutofit fontScale="92500"/>
          </a:bodyPr>
          <a:lstStyle/>
          <a:p>
            <a:pPr>
              <a:buFont typeface="Wingdings" panose="05000000000000000000" pitchFamily="2" charset="2"/>
              <a:buChar char="q"/>
            </a:pPr>
            <a:r>
              <a:rPr lang="en-US" sz="2400" dirty="0">
                <a:latin typeface="Algerian" panose="04020705040A02060702" pitchFamily="82" charset="0"/>
              </a:rPr>
              <a:t> Describes a novel approach for sexual predator detection in chat conversations based on sequences of classifiers.</a:t>
            </a:r>
          </a:p>
          <a:p>
            <a:pPr>
              <a:buFont typeface="Wingdings" panose="05000000000000000000" pitchFamily="2" charset="2"/>
              <a:buChar char="q"/>
            </a:pPr>
            <a:r>
              <a:rPr lang="en-US" sz="2400" dirty="0">
                <a:latin typeface="Algerian" panose="04020705040A02060702" pitchFamily="82" charset="0"/>
              </a:rPr>
              <a:t> The proposed approach divides documents into three parts, which correspond to the different stages that a predator employs when approaching a child.</a:t>
            </a:r>
          </a:p>
          <a:p>
            <a:pPr>
              <a:buFont typeface="Wingdings" panose="05000000000000000000" pitchFamily="2" charset="2"/>
              <a:buChar char="q"/>
            </a:pPr>
            <a:r>
              <a:rPr lang="en-US" sz="2400" dirty="0">
                <a:latin typeface="Algerian" panose="04020705040A02060702" pitchFamily="82" charset="0"/>
              </a:rPr>
              <a:t> Local classifiers are trained for each part of the documents and their outputs are combined by a chain strategy.</a:t>
            </a:r>
          </a:p>
          <a:p>
            <a:pPr>
              <a:buFont typeface="Wingdings" panose="05000000000000000000" pitchFamily="2" charset="2"/>
              <a:buChar char="q"/>
            </a:pPr>
            <a:r>
              <a:rPr lang="en-US" sz="2400" dirty="0">
                <a:latin typeface="Algerian" panose="04020705040A02060702" pitchFamily="82" charset="0"/>
              </a:rPr>
              <a:t> Proposed a ring-based strategy, in which the chaining process is iterated several times, with the goal of further improving the performance of their method.</a:t>
            </a:r>
          </a:p>
        </p:txBody>
      </p:sp>
    </p:spTree>
    <p:extLst>
      <p:ext uri="{BB962C8B-B14F-4D97-AF65-F5344CB8AC3E}">
        <p14:creationId xmlns:p14="http://schemas.microsoft.com/office/powerpoint/2010/main" val="2191591966"/>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93F10-3C7E-444A-9A68-707E09C423A4}"/>
              </a:ext>
            </a:extLst>
          </p:cNvPr>
          <p:cNvSpPr>
            <a:spLocks noGrp="1"/>
          </p:cNvSpPr>
          <p:nvPr>
            <p:ph type="title"/>
          </p:nvPr>
        </p:nvSpPr>
        <p:spPr/>
        <p:txBody>
          <a:bodyPr>
            <a:noAutofit/>
          </a:bodyPr>
          <a:lstStyle/>
          <a:p>
            <a:r>
              <a:rPr lang="en-US" sz="3200" dirty="0"/>
              <a:t>Miah, Md. </a:t>
            </a:r>
            <a:r>
              <a:rPr lang="en-US" sz="3200" dirty="0" err="1"/>
              <a:t>Waliur</a:t>
            </a:r>
            <a:r>
              <a:rPr lang="en-US" sz="3200" dirty="0"/>
              <a:t> Rahman et al. “Detection of child exploiting chats from a mixed chat dataset as a text classification task.” </a:t>
            </a:r>
            <a:r>
              <a:rPr lang="en-US" sz="3200" i="1" dirty="0"/>
              <a:t>ALTA</a:t>
            </a:r>
            <a:r>
              <a:rPr lang="en-US" sz="3200" dirty="0"/>
              <a:t> (2011).</a:t>
            </a:r>
          </a:p>
        </p:txBody>
      </p:sp>
      <p:sp>
        <p:nvSpPr>
          <p:cNvPr id="3" name="Content Placeholder 2">
            <a:extLst>
              <a:ext uri="{FF2B5EF4-FFF2-40B4-BE49-F238E27FC236}">
                <a16:creationId xmlns:a16="http://schemas.microsoft.com/office/drawing/2014/main" id="{47920C14-843B-4C55-A0F7-86D35C3F715F}"/>
              </a:ext>
            </a:extLst>
          </p:cNvPr>
          <p:cNvSpPr>
            <a:spLocks noGrp="1"/>
          </p:cNvSpPr>
          <p:nvPr>
            <p:ph idx="1"/>
          </p:nvPr>
        </p:nvSpPr>
        <p:spPr/>
        <p:txBody>
          <a:bodyPr>
            <a:normAutofit/>
          </a:bodyPr>
          <a:lstStyle/>
          <a:p>
            <a:pPr>
              <a:buFont typeface="Wingdings" panose="05000000000000000000" pitchFamily="2" charset="2"/>
              <a:buChar char="q"/>
            </a:pPr>
            <a:r>
              <a:rPr lang="en-US" sz="2400" dirty="0">
                <a:latin typeface="Algerian" panose="04020705040A02060702" pitchFamily="82" charset="0"/>
              </a:rPr>
              <a:t> The paper investigated the effectiveness of text classifiers to identify Child Exploitation (CE) in chatting.</a:t>
            </a:r>
          </a:p>
          <a:p>
            <a:pPr>
              <a:buFont typeface="Wingdings" panose="05000000000000000000" pitchFamily="2" charset="2"/>
              <a:buChar char="q"/>
            </a:pPr>
            <a:r>
              <a:rPr lang="en-US" sz="2400" dirty="0">
                <a:latin typeface="Algerian" panose="04020705040A02060702" pitchFamily="82" charset="0"/>
              </a:rPr>
              <a:t> Along with three traditional text categorizing techniques a new approach was made to accomplish the task.</a:t>
            </a:r>
          </a:p>
          <a:p>
            <a:pPr>
              <a:buFont typeface="Wingdings" panose="05000000000000000000" pitchFamily="2" charset="2"/>
              <a:buChar char="q"/>
            </a:pPr>
            <a:r>
              <a:rPr lang="en-US" sz="2400" dirty="0">
                <a:latin typeface="Algerian" panose="04020705040A02060702" pitchFamily="82" charset="0"/>
              </a:rPr>
              <a:t> Psychometric and categorical information by LIWC (Linguistic Inquiry and Word Count) was used and improvement of performance in some classifier was found.</a:t>
            </a:r>
          </a:p>
          <a:p>
            <a:pPr>
              <a:buFont typeface="Wingdings" panose="05000000000000000000" pitchFamily="2" charset="2"/>
              <a:buChar char="q"/>
            </a:pPr>
            <a:r>
              <a:rPr lang="en-US" sz="2400" dirty="0">
                <a:latin typeface="Algerian" panose="04020705040A02060702" pitchFamily="82" charset="0"/>
              </a:rPr>
              <a:t> Classification-via-Regression, J-48-Decision-Tree and Naïve-Bayes classifiers are used.</a:t>
            </a:r>
          </a:p>
        </p:txBody>
      </p:sp>
    </p:spTree>
    <p:extLst>
      <p:ext uri="{BB962C8B-B14F-4D97-AF65-F5344CB8AC3E}">
        <p14:creationId xmlns:p14="http://schemas.microsoft.com/office/powerpoint/2010/main" val="3205959427"/>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54E56-BE24-4114-8E97-8195EE65ECDD}"/>
              </a:ext>
            </a:extLst>
          </p:cNvPr>
          <p:cNvSpPr>
            <a:spLocks noGrp="1"/>
          </p:cNvSpPr>
          <p:nvPr>
            <p:ph type="title"/>
          </p:nvPr>
        </p:nvSpPr>
        <p:spPr/>
        <p:txBody>
          <a:bodyPr>
            <a:noAutofit/>
          </a:bodyPr>
          <a:lstStyle/>
          <a:p>
            <a:r>
              <a:rPr lang="en-US" sz="3800" dirty="0" err="1"/>
              <a:t>Nandhini</a:t>
            </a:r>
            <a:r>
              <a:rPr lang="en-US" sz="3800" dirty="0"/>
              <a:t>, B. Sri and J. I. </a:t>
            </a:r>
            <a:r>
              <a:rPr lang="en-US" sz="3800" dirty="0" err="1"/>
              <a:t>Sheeba</a:t>
            </a:r>
            <a:r>
              <a:rPr lang="en-US" sz="3800" dirty="0"/>
              <a:t>. “Online Social Network Bullying Detection Using Intelligence Techniques.” (2015).</a:t>
            </a:r>
          </a:p>
        </p:txBody>
      </p:sp>
      <p:sp>
        <p:nvSpPr>
          <p:cNvPr id="3" name="Content Placeholder 2">
            <a:extLst>
              <a:ext uri="{FF2B5EF4-FFF2-40B4-BE49-F238E27FC236}">
                <a16:creationId xmlns:a16="http://schemas.microsoft.com/office/drawing/2014/main" id="{A9B7AC70-8256-44F2-B68B-562F19D22530}"/>
              </a:ext>
            </a:extLst>
          </p:cNvPr>
          <p:cNvSpPr>
            <a:spLocks noGrp="1"/>
          </p:cNvSpPr>
          <p:nvPr>
            <p:ph idx="1"/>
          </p:nvPr>
        </p:nvSpPr>
        <p:spPr/>
        <p:txBody>
          <a:bodyPr>
            <a:noAutofit/>
          </a:bodyPr>
          <a:lstStyle/>
          <a:p>
            <a:pPr>
              <a:buFont typeface="Wingdings" panose="05000000000000000000" pitchFamily="2" charset="2"/>
              <a:buChar char="q"/>
            </a:pPr>
            <a:r>
              <a:rPr lang="en-US" sz="2400" dirty="0">
                <a:latin typeface="Algerian" panose="04020705040A02060702" pitchFamily="82" charset="0"/>
              </a:rPr>
              <a:t> The proposed method was an effective method to detect cyberbullying activities on social media.</a:t>
            </a:r>
          </a:p>
          <a:p>
            <a:pPr>
              <a:buFont typeface="Wingdings" panose="05000000000000000000" pitchFamily="2" charset="2"/>
              <a:buChar char="q"/>
            </a:pPr>
            <a:r>
              <a:rPr lang="en-US" sz="2400" dirty="0">
                <a:latin typeface="Algerian" panose="04020705040A02060702" pitchFamily="82" charset="0"/>
              </a:rPr>
              <a:t> The detection method can identify the presence of cyberbullying terms and classify cyberbullying activities in social network such as Flaming, Harassment, Racism and Terrorism, using Fuzzy logic and Genetic algorithm. </a:t>
            </a:r>
          </a:p>
          <a:p>
            <a:pPr>
              <a:buFont typeface="Wingdings" panose="05000000000000000000" pitchFamily="2" charset="2"/>
              <a:buChar char="q"/>
            </a:pPr>
            <a:r>
              <a:rPr lang="en-US" sz="2400" dirty="0">
                <a:latin typeface="Algerian" panose="04020705040A02060702" pitchFamily="82" charset="0"/>
              </a:rPr>
              <a:t> The effectiveness of the system was increased using Fuzzy rule set to retrieve relevant data for classification from the input.</a:t>
            </a:r>
          </a:p>
          <a:p>
            <a:pPr>
              <a:buFont typeface="Wingdings" panose="05000000000000000000" pitchFamily="2" charset="2"/>
              <a:buChar char="q"/>
            </a:pPr>
            <a:r>
              <a:rPr lang="en-US" sz="2400" dirty="0">
                <a:latin typeface="Algerian" panose="04020705040A02060702" pitchFamily="82" charset="0"/>
              </a:rPr>
              <a:t> In the proposed method Genetic algorithm was also used, for optimizing the parameters and to obtain precise output.</a:t>
            </a:r>
          </a:p>
          <a:p>
            <a:pPr>
              <a:buFont typeface="Wingdings" panose="05000000000000000000" pitchFamily="2" charset="2"/>
              <a:buChar char="q"/>
            </a:pPr>
            <a:endParaRPr lang="en-US" sz="2400" dirty="0">
              <a:latin typeface="Algerian" panose="04020705040A02060702" pitchFamily="82" charset="0"/>
            </a:endParaRPr>
          </a:p>
        </p:txBody>
      </p:sp>
    </p:spTree>
    <p:extLst>
      <p:ext uri="{BB962C8B-B14F-4D97-AF65-F5344CB8AC3E}">
        <p14:creationId xmlns:p14="http://schemas.microsoft.com/office/powerpoint/2010/main" val="1009714962"/>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4968C-85A0-4083-9E0F-FCD358AA8279}"/>
              </a:ext>
            </a:extLst>
          </p:cNvPr>
          <p:cNvSpPr>
            <a:spLocks noGrp="1"/>
          </p:cNvSpPr>
          <p:nvPr>
            <p:ph type="title"/>
          </p:nvPr>
        </p:nvSpPr>
        <p:spPr/>
        <p:txBody>
          <a:bodyPr>
            <a:noAutofit/>
          </a:bodyPr>
          <a:lstStyle/>
          <a:p>
            <a:r>
              <a:rPr lang="en-US" sz="3800" dirty="0"/>
              <a:t>Huang, </a:t>
            </a:r>
            <a:r>
              <a:rPr lang="en-US" sz="3800" dirty="0" err="1"/>
              <a:t>Qianjia</a:t>
            </a:r>
            <a:r>
              <a:rPr lang="en-US" sz="3800" dirty="0"/>
              <a:t> et al. “Cyber Bullying Detection Using Social and Textual Analysis.” </a:t>
            </a:r>
            <a:r>
              <a:rPr lang="en-US" sz="3800" i="1" dirty="0"/>
              <a:t>SAM@MM</a:t>
            </a:r>
            <a:r>
              <a:rPr lang="en-US" sz="3800" dirty="0"/>
              <a:t> (2014).</a:t>
            </a:r>
          </a:p>
        </p:txBody>
      </p:sp>
      <p:sp>
        <p:nvSpPr>
          <p:cNvPr id="3" name="Content Placeholder 2">
            <a:extLst>
              <a:ext uri="{FF2B5EF4-FFF2-40B4-BE49-F238E27FC236}">
                <a16:creationId xmlns:a16="http://schemas.microsoft.com/office/drawing/2014/main" id="{0716C2C4-C39A-4BF8-BA08-984C3AAC9021}"/>
              </a:ext>
            </a:extLst>
          </p:cNvPr>
          <p:cNvSpPr>
            <a:spLocks noGrp="1"/>
          </p:cNvSpPr>
          <p:nvPr>
            <p:ph idx="1"/>
          </p:nvPr>
        </p:nvSpPr>
        <p:spPr/>
        <p:txBody>
          <a:bodyPr>
            <a:normAutofit lnSpcReduction="10000"/>
          </a:bodyPr>
          <a:lstStyle/>
          <a:p>
            <a:pPr>
              <a:buFont typeface="Wingdings" panose="05000000000000000000" pitchFamily="2" charset="2"/>
              <a:buChar char="q"/>
            </a:pPr>
            <a:r>
              <a:rPr lang="en-US" sz="2800" dirty="0">
                <a:latin typeface="Algerian" panose="04020705040A02060702" pitchFamily="82" charset="0"/>
              </a:rPr>
              <a:t>Aim was to find out if analyzing the social network features can improve the accuracy of cyber bullying detection.</a:t>
            </a:r>
          </a:p>
          <a:p>
            <a:pPr>
              <a:buFont typeface="Wingdings" panose="05000000000000000000" pitchFamily="2" charset="2"/>
              <a:buChar char="q"/>
            </a:pPr>
            <a:r>
              <a:rPr lang="en-US" sz="2800" dirty="0">
                <a:latin typeface="Algerian" panose="04020705040A02060702" pitchFamily="82" charset="0"/>
              </a:rPr>
              <a:t>By analyzing the social network structure between users and deriving features such as number of friends, network embeddedness, and relationship centrality, we find that the detection of cyber bullying can be significantly improved by integrating the textual features with social network features.</a:t>
            </a:r>
          </a:p>
        </p:txBody>
      </p:sp>
    </p:spTree>
    <p:extLst>
      <p:ext uri="{BB962C8B-B14F-4D97-AF65-F5344CB8AC3E}">
        <p14:creationId xmlns:p14="http://schemas.microsoft.com/office/powerpoint/2010/main" val="1526254269"/>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7F187-B55A-496D-AA54-0608D6270585}"/>
              </a:ext>
            </a:extLst>
          </p:cNvPr>
          <p:cNvSpPr>
            <a:spLocks noGrp="1"/>
          </p:cNvSpPr>
          <p:nvPr>
            <p:ph type="title"/>
          </p:nvPr>
        </p:nvSpPr>
        <p:spPr/>
        <p:txBody>
          <a:bodyPr>
            <a:normAutofit/>
          </a:bodyPr>
          <a:lstStyle/>
          <a:p>
            <a:r>
              <a:rPr lang="en-US" sz="7200" dirty="0"/>
              <a:t>EXISTING TOOLS AND the NEED TO IMPROVE</a:t>
            </a:r>
          </a:p>
        </p:txBody>
      </p:sp>
    </p:spTree>
    <p:extLst>
      <p:ext uri="{BB962C8B-B14F-4D97-AF65-F5344CB8AC3E}">
        <p14:creationId xmlns:p14="http://schemas.microsoft.com/office/powerpoint/2010/main" val="3321269393"/>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6F2049-60D1-4D67-BA2F-3447576E68A3}"/>
              </a:ext>
            </a:extLst>
          </p:cNvPr>
          <p:cNvSpPr>
            <a:spLocks noGrp="1"/>
          </p:cNvSpPr>
          <p:nvPr>
            <p:ph idx="1"/>
          </p:nvPr>
        </p:nvSpPr>
        <p:spPr>
          <a:xfrm>
            <a:off x="1069848" y="914400"/>
            <a:ext cx="10058400" cy="5257800"/>
          </a:xfrm>
        </p:spPr>
        <p:txBody>
          <a:bodyPr>
            <a:normAutofit fontScale="92500"/>
          </a:bodyPr>
          <a:lstStyle/>
          <a:p>
            <a:pPr>
              <a:buFont typeface="Wingdings" panose="05000000000000000000" pitchFamily="2" charset="2"/>
              <a:buChar char="v"/>
            </a:pPr>
            <a:r>
              <a:rPr lang="en-US" sz="3200" dirty="0">
                <a:latin typeface="Algerian" panose="04020705040A02060702" pitchFamily="82" charset="0"/>
              </a:rPr>
              <a:t>CYBER HARASSMENT CAN BE TRACKED Using online available applications and tools. </a:t>
            </a:r>
            <a:r>
              <a:rPr lang="en-US" sz="3200" dirty="0" err="1">
                <a:solidFill>
                  <a:srgbClr val="FF0000"/>
                </a:solidFill>
                <a:latin typeface="Algerian" panose="04020705040A02060702" pitchFamily="82" charset="0"/>
              </a:rPr>
              <a:t>eBlaster</a:t>
            </a:r>
            <a:r>
              <a:rPr lang="en-US" sz="3200" dirty="0">
                <a:latin typeface="Algerian" panose="04020705040A02060702" pitchFamily="82" charset="0"/>
              </a:rPr>
              <a:t>, </a:t>
            </a:r>
            <a:r>
              <a:rPr lang="en-US" sz="3200" dirty="0">
                <a:solidFill>
                  <a:srgbClr val="FF0000"/>
                </a:solidFill>
                <a:latin typeface="Algerian" panose="04020705040A02060702" pitchFamily="82" charset="0"/>
              </a:rPr>
              <a:t>Net Nanny</a:t>
            </a:r>
            <a:r>
              <a:rPr lang="en-US" sz="3200" dirty="0">
                <a:latin typeface="Algerian" panose="04020705040A02060702" pitchFamily="82" charset="0"/>
              </a:rPr>
              <a:t>, </a:t>
            </a:r>
            <a:r>
              <a:rPr lang="en-US" sz="3200" dirty="0">
                <a:solidFill>
                  <a:srgbClr val="FF0000"/>
                </a:solidFill>
                <a:latin typeface="Algerian" panose="04020705040A02060702" pitchFamily="82" charset="0"/>
              </a:rPr>
              <a:t>cloud9</a:t>
            </a:r>
            <a:r>
              <a:rPr lang="en-US" sz="3200" dirty="0">
                <a:latin typeface="Algerian" panose="04020705040A02060702" pitchFamily="82" charset="0"/>
              </a:rPr>
              <a:t> and </a:t>
            </a:r>
            <a:r>
              <a:rPr lang="en-US" sz="3200" dirty="0" err="1">
                <a:solidFill>
                  <a:srgbClr val="FF0000"/>
                </a:solidFill>
                <a:latin typeface="Algerian" panose="04020705040A02060702" pitchFamily="82" charset="0"/>
              </a:rPr>
              <a:t>IamBigBrother</a:t>
            </a:r>
            <a:r>
              <a:rPr lang="en-US" sz="3200" dirty="0">
                <a:latin typeface="Algerian" panose="04020705040A02060702" pitchFamily="82" charset="0"/>
              </a:rPr>
              <a:t> are some available commercial tools available to protect children from Internet predators. </a:t>
            </a:r>
          </a:p>
          <a:p>
            <a:pPr>
              <a:buFont typeface="Wingdings" panose="05000000000000000000" pitchFamily="2" charset="2"/>
              <a:buChar char="v"/>
            </a:pPr>
            <a:r>
              <a:rPr lang="en-US" sz="3200" dirty="0">
                <a:latin typeface="Algerian" panose="04020705040A02060702" pitchFamily="82" charset="0"/>
              </a:rPr>
              <a:t>They work on the basis of </a:t>
            </a:r>
            <a:r>
              <a:rPr lang="en-US" sz="3200" u="sng" dirty="0">
                <a:latin typeface="Algerian" panose="04020705040A02060702" pitchFamily="82" charset="0"/>
              </a:rPr>
              <a:t>Packet sniffing</a:t>
            </a:r>
            <a:r>
              <a:rPr lang="en-US" sz="3200" dirty="0">
                <a:latin typeface="Algerian" panose="04020705040A02060702" pitchFamily="82" charset="0"/>
              </a:rPr>
              <a:t>. These tools scan all the outgoing and ingoing traffic in a network and then apply a filter. But the problem with these tools is that </a:t>
            </a:r>
            <a:r>
              <a:rPr lang="en-US" sz="3200" u="sng" dirty="0">
                <a:latin typeface="Algerian" panose="04020705040A02060702" pitchFamily="82" charset="0"/>
              </a:rPr>
              <a:t>they are based on a simple keyword matching</a:t>
            </a:r>
            <a:r>
              <a:rPr lang="en-US" sz="3200" dirty="0">
                <a:latin typeface="Algerian" panose="04020705040A02060702" pitchFamily="82" charset="0"/>
              </a:rPr>
              <a:t> and hence its accuracy is questioned.</a:t>
            </a:r>
          </a:p>
        </p:txBody>
      </p:sp>
    </p:spTree>
    <p:extLst>
      <p:ext uri="{BB962C8B-B14F-4D97-AF65-F5344CB8AC3E}">
        <p14:creationId xmlns:p14="http://schemas.microsoft.com/office/powerpoint/2010/main" val="3806585067"/>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F5737-6DF6-4A43-A6E4-8E36AADC58AB}"/>
              </a:ext>
            </a:extLst>
          </p:cNvPr>
          <p:cNvSpPr>
            <a:spLocks noGrp="1"/>
          </p:cNvSpPr>
          <p:nvPr>
            <p:ph type="title"/>
          </p:nvPr>
        </p:nvSpPr>
        <p:spPr/>
        <p:txBody>
          <a:bodyPr/>
          <a:lstStyle/>
          <a:p>
            <a:r>
              <a:rPr lang="en-US" dirty="0"/>
              <a:t>PROPOSED SOLUTION</a:t>
            </a:r>
          </a:p>
        </p:txBody>
      </p:sp>
    </p:spTree>
    <p:extLst>
      <p:ext uri="{BB962C8B-B14F-4D97-AF65-F5344CB8AC3E}">
        <p14:creationId xmlns:p14="http://schemas.microsoft.com/office/powerpoint/2010/main" val="704365865"/>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BCA67F-E8D5-4B52-9663-CF553B1DFB01}"/>
              </a:ext>
            </a:extLst>
          </p:cNvPr>
          <p:cNvSpPr>
            <a:spLocks noGrp="1"/>
          </p:cNvSpPr>
          <p:nvPr>
            <p:ph idx="1"/>
          </p:nvPr>
        </p:nvSpPr>
        <p:spPr>
          <a:xfrm>
            <a:off x="1069848" y="661988"/>
            <a:ext cx="10058400" cy="5514975"/>
          </a:xfrm>
        </p:spPr>
        <p:txBody>
          <a:bodyPr>
            <a:normAutofit lnSpcReduction="10000"/>
          </a:bodyPr>
          <a:lstStyle/>
          <a:p>
            <a:pPr>
              <a:buFont typeface="Wingdings" panose="05000000000000000000" pitchFamily="2" charset="2"/>
              <a:buChar char="Ø"/>
            </a:pPr>
            <a:r>
              <a:rPr lang="en-US" sz="2800" dirty="0">
                <a:latin typeface="Algerian" panose="04020705040A02060702" pitchFamily="82" charset="0"/>
              </a:rPr>
              <a:t>We propose to make a tool that can be deployed by anyone who wishes to monitor the users of their website in order to identify cyber criminals.</a:t>
            </a:r>
          </a:p>
          <a:p>
            <a:pPr>
              <a:buFont typeface="Wingdings" panose="05000000000000000000" pitchFamily="2" charset="2"/>
              <a:buChar char="Ø"/>
            </a:pPr>
            <a:r>
              <a:rPr lang="en-US" sz="2800" dirty="0">
                <a:latin typeface="Algerian" panose="04020705040A02060702" pitchFamily="82" charset="0"/>
              </a:rPr>
              <a:t>The tool will focus on classifying all the users as suspects or non-suspects based on their activities. THIS classification, though has existing algorithms, isn’t done vey efficiently in today’s day and age.</a:t>
            </a:r>
          </a:p>
          <a:p>
            <a:pPr>
              <a:buFont typeface="Wingdings" panose="05000000000000000000" pitchFamily="2" charset="2"/>
              <a:buChar char="Ø"/>
            </a:pPr>
            <a:r>
              <a:rPr lang="en-US" sz="2800" dirty="0">
                <a:latin typeface="Algerian" panose="04020705040A02060702" pitchFamily="82" charset="0"/>
              </a:rPr>
              <a:t>We strive to have a high accuracy, precision and recall in order to create an environment that is safer for the children in the cyber space.</a:t>
            </a:r>
          </a:p>
          <a:p>
            <a:pPr>
              <a:buFont typeface="Wingdings" panose="05000000000000000000" pitchFamily="2" charset="2"/>
              <a:buChar char="Ø"/>
            </a:pPr>
            <a:r>
              <a:rPr lang="en-US" sz="2800" dirty="0">
                <a:latin typeface="Algerian" panose="04020705040A02060702" pitchFamily="82" charset="0"/>
              </a:rPr>
              <a:t>This tool revolutionizes the way automated identification of suspects happens in the world currently.</a:t>
            </a:r>
          </a:p>
          <a:p>
            <a:pPr>
              <a:buFont typeface="Wingdings" panose="05000000000000000000" pitchFamily="2" charset="2"/>
              <a:buChar char="Ø"/>
            </a:pPr>
            <a:endParaRPr lang="en-US" sz="2800" dirty="0">
              <a:latin typeface="Algerian" panose="04020705040A02060702" pitchFamily="82" charset="0"/>
            </a:endParaRPr>
          </a:p>
          <a:p>
            <a:pPr>
              <a:buFont typeface="Wingdings" panose="05000000000000000000" pitchFamily="2" charset="2"/>
              <a:buChar char="Ø"/>
            </a:pPr>
            <a:endParaRPr lang="en-US" sz="2800" dirty="0">
              <a:latin typeface="Algerian" panose="04020705040A02060702" pitchFamily="82" charset="0"/>
            </a:endParaRPr>
          </a:p>
        </p:txBody>
      </p:sp>
    </p:spTree>
    <p:extLst>
      <p:ext uri="{BB962C8B-B14F-4D97-AF65-F5344CB8AC3E}">
        <p14:creationId xmlns:p14="http://schemas.microsoft.com/office/powerpoint/2010/main" val="2661641712"/>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4011E-D99F-4C37-BC89-48AB050BB6DB}"/>
              </a:ext>
            </a:extLst>
          </p:cNvPr>
          <p:cNvSpPr>
            <a:spLocks noGrp="1"/>
          </p:cNvSpPr>
          <p:nvPr>
            <p:ph type="title"/>
          </p:nvPr>
        </p:nvSpPr>
        <p:spPr/>
        <p:txBody>
          <a:bodyPr/>
          <a:lstStyle/>
          <a:p>
            <a:r>
              <a:rPr lang="en-IN" dirty="0"/>
              <a:t>Dataset and technology stack used</a:t>
            </a:r>
          </a:p>
        </p:txBody>
      </p:sp>
      <p:sp>
        <p:nvSpPr>
          <p:cNvPr id="3" name="Content Placeholder 2">
            <a:extLst>
              <a:ext uri="{FF2B5EF4-FFF2-40B4-BE49-F238E27FC236}">
                <a16:creationId xmlns:a16="http://schemas.microsoft.com/office/drawing/2014/main" id="{1D870CEF-EF39-4D85-9009-D4AFBC28E60A}"/>
              </a:ext>
            </a:extLst>
          </p:cNvPr>
          <p:cNvSpPr>
            <a:spLocks noGrp="1"/>
          </p:cNvSpPr>
          <p:nvPr>
            <p:ph idx="1"/>
          </p:nvPr>
        </p:nvSpPr>
        <p:spPr/>
        <p:txBody>
          <a:bodyPr>
            <a:normAutofit lnSpcReduction="10000"/>
          </a:bodyPr>
          <a:lstStyle/>
          <a:p>
            <a:r>
              <a:rPr lang="en-IN" sz="2400" dirty="0">
                <a:latin typeface="Algerian" panose="04020705040A02060702" pitchFamily="82" charset="0"/>
              </a:rPr>
              <a:t>Datasets</a:t>
            </a:r>
          </a:p>
          <a:p>
            <a:pPr marL="342900" lvl="0" indent="-342900" algn="just" defTabSz="457200">
              <a:lnSpc>
                <a:spcPct val="100000"/>
              </a:lnSpc>
              <a:spcBef>
                <a:spcPts val="0"/>
              </a:spcBef>
              <a:buClrTx/>
              <a:buSzTx/>
              <a:buFont typeface="Arial" panose="020B0604020202020204" pitchFamily="34" charset="0"/>
              <a:buChar char="•"/>
              <a:defRPr/>
            </a:pPr>
            <a:r>
              <a:rPr lang="en-US" dirty="0">
                <a:latin typeface="Algerian" panose="04020705040A02060702" pitchFamily="82" charset="0"/>
              </a:rPr>
              <a:t>Datasets of text conversations on social media</a:t>
            </a:r>
          </a:p>
          <a:p>
            <a:pPr marL="342900" lvl="0" indent="-342900" algn="just" defTabSz="457200">
              <a:lnSpc>
                <a:spcPct val="100000"/>
              </a:lnSpc>
              <a:spcBef>
                <a:spcPts val="0"/>
              </a:spcBef>
              <a:buClrTx/>
              <a:buSzTx/>
              <a:buFont typeface="Arial" panose="020B0604020202020204" pitchFamily="34" charset="0"/>
              <a:buChar char="•"/>
              <a:defRPr/>
            </a:pPr>
            <a:r>
              <a:rPr lang="en-US" dirty="0">
                <a:latin typeface="Algerian" panose="04020705040A02060702" pitchFamily="82" charset="0"/>
              </a:rPr>
              <a:t>Datasets on information related to search history and visited pages.</a:t>
            </a:r>
          </a:p>
          <a:p>
            <a:pPr marL="342900" lvl="0" indent="-342900" algn="just" defTabSz="457200">
              <a:lnSpc>
                <a:spcPct val="100000"/>
              </a:lnSpc>
              <a:spcBef>
                <a:spcPts val="0"/>
              </a:spcBef>
              <a:buClrTx/>
              <a:buSzTx/>
              <a:buFont typeface="Arial" panose="020B0604020202020204" pitchFamily="34" charset="0"/>
              <a:buChar char="•"/>
              <a:defRPr/>
            </a:pPr>
            <a:r>
              <a:rPr lang="en-US" dirty="0">
                <a:latin typeface="Algerian" panose="04020705040A02060702" pitchFamily="82" charset="0"/>
              </a:rPr>
              <a:t>Datasets on user activity.</a:t>
            </a:r>
          </a:p>
          <a:p>
            <a:pPr marL="342900" lvl="0" indent="-342900" algn="just" defTabSz="457200">
              <a:lnSpc>
                <a:spcPct val="100000"/>
              </a:lnSpc>
              <a:spcBef>
                <a:spcPts val="0"/>
              </a:spcBef>
              <a:buClrTx/>
              <a:buSzTx/>
              <a:buFont typeface="Arial" panose="020B0604020202020204" pitchFamily="34" charset="0"/>
              <a:buChar char="•"/>
              <a:defRPr/>
            </a:pPr>
            <a:r>
              <a:rPr lang="en-US" dirty="0">
                <a:latin typeface="Algerian" panose="04020705040A02060702" pitchFamily="82" charset="0"/>
              </a:rPr>
              <a:t>Datasets on user demographics</a:t>
            </a:r>
          </a:p>
          <a:p>
            <a:pPr marL="342900" lvl="0" indent="-342900" algn="just" defTabSz="457200">
              <a:lnSpc>
                <a:spcPct val="100000"/>
              </a:lnSpc>
              <a:spcBef>
                <a:spcPts val="0"/>
              </a:spcBef>
              <a:buClrTx/>
              <a:buSzTx/>
              <a:buFont typeface="Arial" panose="020B0604020202020204" pitchFamily="34" charset="0"/>
              <a:buChar char="•"/>
              <a:defRPr/>
            </a:pPr>
            <a:endParaRPr lang="en-IN" dirty="0">
              <a:latin typeface="Algerian" panose="04020705040A02060702" pitchFamily="82" charset="0"/>
            </a:endParaRPr>
          </a:p>
          <a:p>
            <a:r>
              <a:rPr lang="en-IN" sz="2400" dirty="0">
                <a:latin typeface="Algerian" panose="04020705040A02060702" pitchFamily="82" charset="0"/>
              </a:rPr>
              <a:t>Technology Stack</a:t>
            </a:r>
          </a:p>
          <a:p>
            <a:pPr marL="342900" lvl="0" indent="-342900" algn="just" defTabSz="457200">
              <a:lnSpc>
                <a:spcPct val="100000"/>
              </a:lnSpc>
              <a:spcBef>
                <a:spcPts val="0"/>
              </a:spcBef>
              <a:buClrTx/>
              <a:buSzTx/>
              <a:buFont typeface="Arial" panose="020B0604020202020204" pitchFamily="34" charset="0"/>
              <a:buChar char="•"/>
              <a:defRPr/>
            </a:pPr>
            <a:r>
              <a:rPr lang="en-US" dirty="0">
                <a:latin typeface="Algerian" panose="04020705040A02060702" pitchFamily="82" charset="0"/>
              </a:rPr>
              <a:t>Python</a:t>
            </a:r>
          </a:p>
          <a:p>
            <a:pPr marL="342900" lvl="0" indent="-342900" algn="just" defTabSz="457200">
              <a:lnSpc>
                <a:spcPct val="100000"/>
              </a:lnSpc>
              <a:spcBef>
                <a:spcPts val="0"/>
              </a:spcBef>
              <a:buClrTx/>
              <a:buSzTx/>
              <a:buFont typeface="Arial" panose="020B0604020202020204" pitchFamily="34" charset="0"/>
              <a:buChar char="•"/>
              <a:defRPr/>
            </a:pPr>
            <a:r>
              <a:rPr lang="en-US" dirty="0" err="1">
                <a:latin typeface="Algerian" panose="04020705040A02060702" pitchFamily="82" charset="0"/>
              </a:rPr>
              <a:t>Scikit</a:t>
            </a:r>
            <a:r>
              <a:rPr lang="en-US" dirty="0">
                <a:latin typeface="Algerian" panose="04020705040A02060702" pitchFamily="82" charset="0"/>
              </a:rPr>
              <a:t>-Learn</a:t>
            </a:r>
          </a:p>
          <a:p>
            <a:pPr marL="342900" lvl="0" indent="-342900" algn="just" defTabSz="457200">
              <a:lnSpc>
                <a:spcPct val="100000"/>
              </a:lnSpc>
              <a:spcBef>
                <a:spcPts val="0"/>
              </a:spcBef>
              <a:buClrTx/>
              <a:buSzTx/>
              <a:buFont typeface="Arial" panose="020B0604020202020204" pitchFamily="34" charset="0"/>
              <a:buChar char="•"/>
              <a:defRPr/>
            </a:pPr>
            <a:r>
              <a:rPr lang="en-US" dirty="0">
                <a:latin typeface="Algerian" panose="04020705040A02060702" pitchFamily="82" charset="0"/>
              </a:rPr>
              <a:t>NLTK</a:t>
            </a:r>
          </a:p>
          <a:p>
            <a:pPr marL="342900" lvl="0" indent="-342900" algn="just" defTabSz="457200">
              <a:lnSpc>
                <a:spcPct val="100000"/>
              </a:lnSpc>
              <a:spcBef>
                <a:spcPts val="0"/>
              </a:spcBef>
              <a:buClrTx/>
              <a:buSzTx/>
              <a:buFont typeface="Arial" panose="020B0604020202020204" pitchFamily="34" charset="0"/>
              <a:buChar char="•"/>
              <a:defRPr/>
            </a:pPr>
            <a:r>
              <a:rPr lang="en-US" dirty="0">
                <a:latin typeface="Algerian" panose="04020705040A02060702" pitchFamily="82" charset="0"/>
              </a:rPr>
              <a:t>Pandas</a:t>
            </a:r>
          </a:p>
          <a:p>
            <a:pPr marL="342900" lvl="0" indent="-342900" algn="just" defTabSz="457200">
              <a:lnSpc>
                <a:spcPct val="100000"/>
              </a:lnSpc>
              <a:spcBef>
                <a:spcPts val="0"/>
              </a:spcBef>
              <a:buClrTx/>
              <a:buSzTx/>
              <a:buFont typeface="Arial" panose="020B0604020202020204" pitchFamily="34" charset="0"/>
              <a:buChar char="•"/>
              <a:defRPr/>
            </a:pPr>
            <a:r>
              <a:rPr lang="en-US" dirty="0">
                <a:latin typeface="Algerian" panose="04020705040A02060702" pitchFamily="82" charset="0"/>
              </a:rPr>
              <a:t>MATLAB</a:t>
            </a:r>
          </a:p>
          <a:p>
            <a:pPr marL="342900" lvl="0" indent="-342900" algn="just" defTabSz="457200">
              <a:lnSpc>
                <a:spcPct val="100000"/>
              </a:lnSpc>
              <a:spcBef>
                <a:spcPts val="0"/>
              </a:spcBef>
              <a:buClrTx/>
              <a:buSzTx/>
              <a:buFont typeface="Arial" panose="020B0604020202020204" pitchFamily="34" charset="0"/>
              <a:buChar char="•"/>
              <a:defRPr/>
            </a:pPr>
            <a:r>
              <a:rPr lang="en-US" dirty="0" err="1">
                <a:latin typeface="Algerian" panose="04020705040A02060702" pitchFamily="82" charset="0"/>
              </a:rPr>
              <a:t>Keras</a:t>
            </a:r>
            <a:endParaRPr lang="en-US" dirty="0">
              <a:latin typeface="Algerian" panose="04020705040A02060702" pitchFamily="82" charset="0"/>
            </a:endParaRPr>
          </a:p>
          <a:p>
            <a:endParaRPr lang="en-IN" dirty="0"/>
          </a:p>
        </p:txBody>
      </p:sp>
    </p:spTree>
    <p:extLst>
      <p:ext uri="{BB962C8B-B14F-4D97-AF65-F5344CB8AC3E}">
        <p14:creationId xmlns:p14="http://schemas.microsoft.com/office/powerpoint/2010/main" val="3290830745"/>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5F363-E9CF-4CB1-90E0-42417D1E792C}"/>
              </a:ext>
            </a:extLst>
          </p:cNvPr>
          <p:cNvSpPr>
            <a:spLocks noGrp="1"/>
          </p:cNvSpPr>
          <p:nvPr>
            <p:ph type="title"/>
          </p:nvPr>
        </p:nvSpPr>
        <p:spPr/>
        <p:txBody>
          <a:bodyPr/>
          <a:lstStyle/>
          <a:p>
            <a:r>
              <a:rPr lang="en-US" dirty="0"/>
              <a:t>High-level solution</a:t>
            </a:r>
          </a:p>
        </p:txBody>
      </p:sp>
    </p:spTree>
    <p:extLst>
      <p:ext uri="{BB962C8B-B14F-4D97-AF65-F5344CB8AC3E}">
        <p14:creationId xmlns:p14="http://schemas.microsoft.com/office/powerpoint/2010/main" val="4249679811"/>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9A2622-F814-4F51-BE97-C68F0EC1D5A6}"/>
              </a:ext>
            </a:extLst>
          </p:cNvPr>
          <p:cNvSpPr>
            <a:spLocks noGrp="1"/>
          </p:cNvSpPr>
          <p:nvPr>
            <p:ph idx="1"/>
          </p:nvPr>
        </p:nvSpPr>
        <p:spPr>
          <a:xfrm>
            <a:off x="1066800" y="819150"/>
            <a:ext cx="10058400" cy="5705475"/>
          </a:xfrm>
        </p:spPr>
        <p:txBody>
          <a:bodyPr>
            <a:normAutofit/>
          </a:bodyPr>
          <a:lstStyle/>
          <a:p>
            <a:pPr>
              <a:buFont typeface="Wingdings" panose="05000000000000000000" pitchFamily="2" charset="2"/>
              <a:buChar char="Ø"/>
            </a:pPr>
            <a:r>
              <a:rPr lang="en-US" sz="2800" dirty="0">
                <a:latin typeface="Algerian" panose="04020705040A02060702" pitchFamily="82" charset="0"/>
              </a:rPr>
              <a:t>The proposed tool focuses on higher precision and recall rather than simply taking a gander at the accuracy itself. This is done on the grounds that we would prefer not to leave any "bad" guy escape without being apprehended and on the same hand we don't wish to flag any "good" guy incorrectly.</a:t>
            </a:r>
          </a:p>
          <a:p>
            <a:pPr>
              <a:buFont typeface="Wingdings" panose="05000000000000000000" pitchFamily="2" charset="2"/>
              <a:buChar char="Ø"/>
            </a:pPr>
            <a:r>
              <a:rPr lang="en-US" sz="2800" dirty="0">
                <a:latin typeface="Algerian" panose="04020705040A02060702" pitchFamily="82" charset="0"/>
              </a:rPr>
              <a:t>Keeping this in mind, we aim to use a one of a kind multi-phase classification algorithm and thereafter ensuring that no profile is flagged erroneously in light of their interactions with any other client in a "warm" manner.</a:t>
            </a:r>
          </a:p>
          <a:p>
            <a:pPr marL="0" indent="0">
              <a:buNone/>
            </a:pPr>
            <a:endParaRPr lang="en-US" sz="2800" dirty="0">
              <a:latin typeface="Algerian" panose="04020705040A02060702" pitchFamily="82" charset="0"/>
            </a:endParaRPr>
          </a:p>
        </p:txBody>
      </p:sp>
    </p:spTree>
    <p:extLst>
      <p:ext uri="{BB962C8B-B14F-4D97-AF65-F5344CB8AC3E}">
        <p14:creationId xmlns:p14="http://schemas.microsoft.com/office/powerpoint/2010/main" val="1167112302"/>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30E43-3486-4AC0-BBAA-DBAF97E660EF}"/>
              </a:ext>
            </a:extLst>
          </p:cNvPr>
          <p:cNvSpPr>
            <a:spLocks noGrp="1"/>
          </p:cNvSpPr>
          <p:nvPr>
            <p:ph type="title"/>
          </p:nvPr>
        </p:nvSpPr>
        <p:spPr/>
        <p:txBody>
          <a:bodyPr/>
          <a:lstStyle/>
          <a:p>
            <a:r>
              <a:rPr lang="en-US" dirty="0"/>
              <a:t>APPROACH	</a:t>
            </a:r>
          </a:p>
        </p:txBody>
      </p:sp>
    </p:spTree>
    <p:extLst>
      <p:ext uri="{BB962C8B-B14F-4D97-AF65-F5344CB8AC3E}">
        <p14:creationId xmlns:p14="http://schemas.microsoft.com/office/powerpoint/2010/main" val="2620787250"/>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tint val="75000"/>
                <a:shade val="58000"/>
                <a:satMod val="120000"/>
              </a:schemeClr>
              <a:schemeClr val="bg1">
                <a:tint val="50000"/>
                <a:shade val="96000"/>
              </a:schemeClr>
            </a:duotone>
          </a:blip>
          <a:tile tx="0" ty="0" sx="100000" sy="100000" flip="none" algn="tl"/>
        </a:blipFill>
        <a:effectLst/>
      </p:bgPr>
    </p:bg>
    <p:spTree>
      <p:nvGrpSpPr>
        <p:cNvPr id="1" name=""/>
        <p:cNvGrpSpPr/>
        <p:nvPr/>
      </p:nvGrpSpPr>
      <p:grpSpPr>
        <a:xfrm>
          <a:off x="0" y="0"/>
          <a:ext cx="0" cy="0"/>
          <a:chOff x="0" y="0"/>
          <a:chExt cx="0" cy="0"/>
        </a:xfrm>
      </p:grpSpPr>
      <p:grpSp>
        <p:nvGrpSpPr>
          <p:cNvPr id="16" name="Group 9">
            <a:extLst>
              <a:ext uri="{FF2B5EF4-FFF2-40B4-BE49-F238E27FC236}">
                <a16:creationId xmlns:a16="http://schemas.microsoft.com/office/drawing/2014/main" id="{2A313B03-D361-4EC9-AF52-0B3C1C92C2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1" name="Oval 10">
              <a:extLst>
                <a:ext uri="{FF2B5EF4-FFF2-40B4-BE49-F238E27FC236}">
                  <a16:creationId xmlns:a16="http://schemas.microsoft.com/office/drawing/2014/main" id="{5E79CB85-A08A-4579-86F6-A8AA97551B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2" name="Oval 11">
              <a:extLst>
                <a:ext uri="{FF2B5EF4-FFF2-40B4-BE49-F238E27FC236}">
                  <a16:creationId xmlns:a16="http://schemas.microsoft.com/office/drawing/2014/main" id="{D6C61C9C-364D-4CB6-B9D1-1A6F50F6A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sp>
      </p:grpSp>
      <p:sp>
        <p:nvSpPr>
          <p:cNvPr id="17" name="Freeform: Shape 13">
            <a:extLst>
              <a:ext uri="{FF2B5EF4-FFF2-40B4-BE49-F238E27FC236}">
                <a16:creationId xmlns:a16="http://schemas.microsoft.com/office/drawing/2014/main" id="{3E9FBC8E-8666-4442-8D7D-B250510CD4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84" y="2005"/>
            <a:ext cx="10908632" cy="6853991"/>
          </a:xfrm>
          <a:custGeom>
            <a:avLst/>
            <a:gdLst>
              <a:gd name="connsiteX0" fmla="*/ 9059740 w 10908632"/>
              <a:gd name="connsiteY0" fmla="*/ 0 h 6853991"/>
              <a:gd name="connsiteX1" fmla="*/ 9694921 w 10908632"/>
              <a:gd name="connsiteY1" fmla="*/ 0 h 6853991"/>
              <a:gd name="connsiteX2" fmla="*/ 9825053 w 10908632"/>
              <a:gd name="connsiteY2" fmla="*/ 165594 h 6853991"/>
              <a:gd name="connsiteX3" fmla="*/ 10908632 w 10908632"/>
              <a:gd name="connsiteY3" fmla="*/ 3429000 h 6853991"/>
              <a:gd name="connsiteX4" fmla="*/ 9825053 w 10908632"/>
              <a:gd name="connsiteY4" fmla="*/ 6692406 h 6853991"/>
              <a:gd name="connsiteX5" fmla="*/ 9698072 w 10908632"/>
              <a:gd name="connsiteY5" fmla="*/ 6853991 h 6853991"/>
              <a:gd name="connsiteX6" fmla="*/ 9063562 w 10908632"/>
              <a:gd name="connsiteY6" fmla="*/ 6853991 h 6853991"/>
              <a:gd name="connsiteX7" fmla="*/ 9138428 w 10908632"/>
              <a:gd name="connsiteY7" fmla="*/ 6775466 h 6853991"/>
              <a:gd name="connsiteX8" fmla="*/ 10431379 w 10908632"/>
              <a:gd name="connsiteY8" fmla="*/ 3429000 h 6853991"/>
              <a:gd name="connsiteX9" fmla="*/ 9138428 w 10908632"/>
              <a:gd name="connsiteY9" fmla="*/ 82534 h 6853991"/>
              <a:gd name="connsiteX10" fmla="*/ 2037821 w 10908632"/>
              <a:gd name="connsiteY10" fmla="*/ 0 h 6853991"/>
              <a:gd name="connsiteX11" fmla="*/ 8870811 w 10908632"/>
              <a:gd name="connsiteY11" fmla="*/ 0 h 6853991"/>
              <a:gd name="connsiteX12" fmla="*/ 8877212 w 10908632"/>
              <a:gd name="connsiteY12" fmla="*/ 6103 h 6853991"/>
              <a:gd name="connsiteX13" fmla="*/ 10295021 w 10908632"/>
              <a:gd name="connsiteY13" fmla="*/ 3429000 h 6853991"/>
              <a:gd name="connsiteX14" fmla="*/ 8877212 w 10908632"/>
              <a:gd name="connsiteY14" fmla="*/ 6851897 h 6853991"/>
              <a:gd name="connsiteX15" fmla="*/ 8875015 w 10908632"/>
              <a:gd name="connsiteY15" fmla="*/ 6853991 h 6853991"/>
              <a:gd name="connsiteX16" fmla="*/ 2033617 w 10908632"/>
              <a:gd name="connsiteY16" fmla="*/ 6853991 h 6853991"/>
              <a:gd name="connsiteX17" fmla="*/ 2031421 w 10908632"/>
              <a:gd name="connsiteY17" fmla="*/ 6851897 h 6853991"/>
              <a:gd name="connsiteX18" fmla="*/ 613611 w 10908632"/>
              <a:gd name="connsiteY18" fmla="*/ 3429000 h 6853991"/>
              <a:gd name="connsiteX19" fmla="*/ 2031420 w 10908632"/>
              <a:gd name="connsiteY19" fmla="*/ 6103 h 6853991"/>
              <a:gd name="connsiteX20" fmla="*/ 1213711 w 10908632"/>
              <a:gd name="connsiteY20" fmla="*/ 0 h 6853991"/>
              <a:gd name="connsiteX21" fmla="*/ 1848893 w 10908632"/>
              <a:gd name="connsiteY21" fmla="*/ 0 h 6853991"/>
              <a:gd name="connsiteX22" fmla="*/ 1770204 w 10908632"/>
              <a:gd name="connsiteY22" fmla="*/ 82534 h 6853991"/>
              <a:gd name="connsiteX23" fmla="*/ 477253 w 10908632"/>
              <a:gd name="connsiteY23" fmla="*/ 3429000 h 6853991"/>
              <a:gd name="connsiteX24" fmla="*/ 1770204 w 10908632"/>
              <a:gd name="connsiteY24" fmla="*/ 6775466 h 6853991"/>
              <a:gd name="connsiteX25" fmla="*/ 1845071 w 10908632"/>
              <a:gd name="connsiteY25" fmla="*/ 6853991 h 6853991"/>
              <a:gd name="connsiteX26" fmla="*/ 1210561 w 10908632"/>
              <a:gd name="connsiteY26" fmla="*/ 6853991 h 6853991"/>
              <a:gd name="connsiteX27" fmla="*/ 1083579 w 10908632"/>
              <a:gd name="connsiteY27" fmla="*/ 6692406 h 6853991"/>
              <a:gd name="connsiteX28" fmla="*/ 0 w 10908632"/>
              <a:gd name="connsiteY28" fmla="*/ 3429000 h 6853991"/>
              <a:gd name="connsiteX29" fmla="*/ 1083579 w 10908632"/>
              <a:gd name="connsiteY29" fmla="*/ 165594 h 6853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908632" h="6853991">
                <a:moveTo>
                  <a:pt x="9059740" y="0"/>
                </a:moveTo>
                <a:lnTo>
                  <a:pt x="9694921" y="0"/>
                </a:lnTo>
                <a:lnTo>
                  <a:pt x="9825053" y="165594"/>
                </a:lnTo>
                <a:cubicBezTo>
                  <a:pt x="10505610" y="1075607"/>
                  <a:pt x="10908632" y="2205238"/>
                  <a:pt x="10908632" y="3429000"/>
                </a:cubicBezTo>
                <a:cubicBezTo>
                  <a:pt x="10908632" y="4652762"/>
                  <a:pt x="10505610" y="5782393"/>
                  <a:pt x="9825053" y="6692406"/>
                </a:cubicBezTo>
                <a:lnTo>
                  <a:pt x="9698072" y="6853991"/>
                </a:lnTo>
                <a:lnTo>
                  <a:pt x="9063562" y="6853991"/>
                </a:lnTo>
                <a:lnTo>
                  <a:pt x="9138428" y="6775466"/>
                </a:lnTo>
                <a:cubicBezTo>
                  <a:pt x="9941761" y="5891604"/>
                  <a:pt x="10431379" y="4717480"/>
                  <a:pt x="10431379" y="3429000"/>
                </a:cubicBezTo>
                <a:cubicBezTo>
                  <a:pt x="10431379" y="2140521"/>
                  <a:pt x="9941761" y="966397"/>
                  <a:pt x="9138428" y="82534"/>
                </a:cubicBezTo>
                <a:close/>
                <a:moveTo>
                  <a:pt x="2037821" y="0"/>
                </a:moveTo>
                <a:lnTo>
                  <a:pt x="8870811" y="0"/>
                </a:lnTo>
                <a:lnTo>
                  <a:pt x="8877212" y="6103"/>
                </a:lnTo>
                <a:cubicBezTo>
                  <a:pt x="9753207" y="882099"/>
                  <a:pt x="10295021" y="2092275"/>
                  <a:pt x="10295021" y="3429000"/>
                </a:cubicBezTo>
                <a:cubicBezTo>
                  <a:pt x="10295021" y="4765725"/>
                  <a:pt x="9753207" y="5975902"/>
                  <a:pt x="8877212" y="6851897"/>
                </a:cubicBezTo>
                <a:lnTo>
                  <a:pt x="8875015" y="6853991"/>
                </a:lnTo>
                <a:lnTo>
                  <a:pt x="2033617" y="6853991"/>
                </a:lnTo>
                <a:lnTo>
                  <a:pt x="2031421" y="6851897"/>
                </a:lnTo>
                <a:cubicBezTo>
                  <a:pt x="1155426" y="5975902"/>
                  <a:pt x="613611" y="4765725"/>
                  <a:pt x="613611" y="3429000"/>
                </a:cubicBezTo>
                <a:cubicBezTo>
                  <a:pt x="613611" y="2092275"/>
                  <a:pt x="1155425" y="882099"/>
                  <a:pt x="2031420" y="6103"/>
                </a:cubicBezTo>
                <a:close/>
                <a:moveTo>
                  <a:pt x="1213711" y="0"/>
                </a:moveTo>
                <a:lnTo>
                  <a:pt x="1848893" y="0"/>
                </a:lnTo>
                <a:lnTo>
                  <a:pt x="1770204" y="82534"/>
                </a:lnTo>
                <a:cubicBezTo>
                  <a:pt x="966871" y="966397"/>
                  <a:pt x="477253" y="2140521"/>
                  <a:pt x="477253" y="3429000"/>
                </a:cubicBezTo>
                <a:cubicBezTo>
                  <a:pt x="477253" y="4717480"/>
                  <a:pt x="966872" y="5891604"/>
                  <a:pt x="1770204" y="6775466"/>
                </a:cubicBezTo>
                <a:lnTo>
                  <a:pt x="1845071" y="6853991"/>
                </a:lnTo>
                <a:lnTo>
                  <a:pt x="1210561" y="6853991"/>
                </a:lnTo>
                <a:lnTo>
                  <a:pt x="1083579" y="6692406"/>
                </a:lnTo>
                <a:cubicBezTo>
                  <a:pt x="403022" y="5782393"/>
                  <a:pt x="0" y="4652762"/>
                  <a:pt x="0" y="3429000"/>
                </a:cubicBezTo>
                <a:cubicBezTo>
                  <a:pt x="0" y="2205238"/>
                  <a:pt x="403022" y="1075607"/>
                  <a:pt x="1083579" y="165594"/>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pic>
        <p:nvPicPr>
          <p:cNvPr id="5" name="Picture 4" descr="A close up of a sign&#10;&#10;Description automatically generated">
            <a:extLst>
              <a:ext uri="{FF2B5EF4-FFF2-40B4-BE49-F238E27FC236}">
                <a16:creationId xmlns:a16="http://schemas.microsoft.com/office/drawing/2014/main" id="{3DD6EED3-28FD-478F-80F5-22E835764DF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79520" y="818727"/>
            <a:ext cx="4551680" cy="5220546"/>
          </a:xfrm>
          <a:prstGeom prst="rect">
            <a:avLst/>
          </a:prstGeom>
        </p:spPr>
      </p:pic>
    </p:spTree>
    <p:extLst>
      <p:ext uri="{BB962C8B-B14F-4D97-AF65-F5344CB8AC3E}">
        <p14:creationId xmlns:p14="http://schemas.microsoft.com/office/powerpoint/2010/main" val="342995572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41427F-17EC-452A-A550-5CD27FB4700F}"/>
              </a:ext>
            </a:extLst>
          </p:cNvPr>
          <p:cNvSpPr>
            <a:spLocks noGrp="1"/>
          </p:cNvSpPr>
          <p:nvPr>
            <p:ph idx="1"/>
          </p:nvPr>
        </p:nvSpPr>
        <p:spPr>
          <a:xfrm>
            <a:off x="1069848" y="600075"/>
            <a:ext cx="10058400" cy="5572125"/>
          </a:xfrm>
        </p:spPr>
        <p:txBody>
          <a:bodyPr/>
          <a:lstStyle/>
          <a:p>
            <a:pPr marL="0" indent="0">
              <a:buNone/>
            </a:pPr>
            <a:r>
              <a:rPr lang="en-US" dirty="0"/>
              <a:t>Describe algorithm here.</a:t>
            </a:r>
          </a:p>
          <a:p>
            <a:pPr marL="0" indent="0">
              <a:buNone/>
            </a:pPr>
            <a:r>
              <a:rPr lang="en-US" dirty="0"/>
              <a:t>.</a:t>
            </a:r>
          </a:p>
          <a:p>
            <a:pPr marL="0" indent="0">
              <a:buNone/>
            </a:pPr>
            <a:r>
              <a:rPr lang="en-US" dirty="0"/>
              <a:t>.</a:t>
            </a:r>
          </a:p>
          <a:p>
            <a:pPr marL="0" indent="0">
              <a:buNone/>
            </a:pPr>
            <a:r>
              <a:rPr lang="en-US" dirty="0"/>
              <a:t>.</a:t>
            </a:r>
          </a:p>
          <a:p>
            <a:pPr marL="0" indent="0">
              <a:buNone/>
            </a:pPr>
            <a:r>
              <a:rPr lang="en-US" dirty="0"/>
              <a:t>.</a:t>
            </a:r>
          </a:p>
          <a:p>
            <a:pPr marL="0" indent="0">
              <a:buNone/>
            </a:pPr>
            <a:r>
              <a:rPr lang="en-US" dirty="0"/>
              <a:t>.</a:t>
            </a:r>
          </a:p>
          <a:p>
            <a:pPr marL="0" indent="0">
              <a:buNone/>
            </a:pPr>
            <a:r>
              <a:rPr lang="en-US" dirty="0"/>
              <a:t>.</a:t>
            </a:r>
          </a:p>
          <a:p>
            <a:pPr marL="0" indent="0">
              <a:buNone/>
            </a:pPr>
            <a:r>
              <a:rPr lang="en-US" dirty="0"/>
              <a:t>.</a:t>
            </a:r>
          </a:p>
          <a:p>
            <a:pPr marL="0" indent="0">
              <a:buNone/>
            </a:pPr>
            <a:r>
              <a:rPr lang="en-US" dirty="0"/>
              <a:t>.</a:t>
            </a:r>
          </a:p>
          <a:p>
            <a:pPr marL="0" indent="0">
              <a:buNone/>
            </a:pPr>
            <a:r>
              <a:rPr lang="en-US" dirty="0"/>
              <a:t>.</a:t>
            </a:r>
          </a:p>
          <a:p>
            <a:pPr marL="0" indent="0">
              <a:buNone/>
            </a:pPr>
            <a:r>
              <a:rPr lang="en-US" dirty="0"/>
              <a:t>.</a:t>
            </a:r>
          </a:p>
          <a:p>
            <a:pPr marL="0" indent="0">
              <a:buNone/>
            </a:pPr>
            <a:r>
              <a:rPr lang="en-US" dirty="0"/>
              <a:t>.</a:t>
            </a:r>
          </a:p>
          <a:p>
            <a:pPr marL="0" indent="0">
              <a:buNone/>
            </a:pPr>
            <a:r>
              <a:rPr lang="en-US" dirty="0"/>
              <a:t>.</a:t>
            </a:r>
          </a:p>
        </p:txBody>
      </p:sp>
    </p:spTree>
    <p:extLst>
      <p:ext uri="{BB962C8B-B14F-4D97-AF65-F5344CB8AC3E}">
        <p14:creationId xmlns:p14="http://schemas.microsoft.com/office/powerpoint/2010/main" val="3032773087"/>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B6461-02D5-4855-ADA8-CDDE56592239}"/>
              </a:ext>
            </a:extLst>
          </p:cNvPr>
          <p:cNvSpPr>
            <a:spLocks noGrp="1"/>
          </p:cNvSpPr>
          <p:nvPr>
            <p:ph type="title"/>
          </p:nvPr>
        </p:nvSpPr>
        <p:spPr/>
        <p:txBody>
          <a:bodyPr/>
          <a:lstStyle/>
          <a:p>
            <a:r>
              <a:rPr lang="en-US" dirty="0"/>
              <a:t>Proposed 3-phase suspect classification Algorithm</a:t>
            </a:r>
          </a:p>
        </p:txBody>
      </p:sp>
    </p:spTree>
    <p:extLst>
      <p:ext uri="{BB962C8B-B14F-4D97-AF65-F5344CB8AC3E}">
        <p14:creationId xmlns:p14="http://schemas.microsoft.com/office/powerpoint/2010/main" val="1632054415"/>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2A313B03-D361-4EC9-AF52-0B3C1C92C2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1" name="Oval 10">
              <a:extLst>
                <a:ext uri="{FF2B5EF4-FFF2-40B4-BE49-F238E27FC236}">
                  <a16:creationId xmlns:a16="http://schemas.microsoft.com/office/drawing/2014/main" id="{5E79CB85-A08A-4579-86F6-A8AA97551B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2" name="Oval 11">
              <a:extLst>
                <a:ext uri="{FF2B5EF4-FFF2-40B4-BE49-F238E27FC236}">
                  <a16:creationId xmlns:a16="http://schemas.microsoft.com/office/drawing/2014/main" id="{D6C61C9C-364D-4CB6-B9D1-1A6F50F6A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sp>
      </p:grpSp>
      <p:sp>
        <p:nvSpPr>
          <p:cNvPr id="21" name="Rectangle 13">
            <a:extLst>
              <a:ext uri="{FF2B5EF4-FFF2-40B4-BE49-F238E27FC236}">
                <a16:creationId xmlns:a16="http://schemas.microsoft.com/office/drawing/2014/main" id="{9C5EC292-991E-4C8F-9F55-D72971A4B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15">
            <a:extLst>
              <a:ext uri="{FF2B5EF4-FFF2-40B4-BE49-F238E27FC236}">
                <a16:creationId xmlns:a16="http://schemas.microsoft.com/office/drawing/2014/main" id="{F90B7573-D2CD-4589-B099-E8254726AC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999"/>
          </a:xfrm>
          <a:prstGeom prst="rect">
            <a:avLst/>
          </a:prstGeom>
          <a:blipFill dpi="0" rotWithShape="1">
            <a:blip r:embed="rId4">
              <a:alphaModFix amt="50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18" name="Rectangle 17">
            <a:extLst>
              <a:ext uri="{FF2B5EF4-FFF2-40B4-BE49-F238E27FC236}">
                <a16:creationId xmlns:a16="http://schemas.microsoft.com/office/drawing/2014/main" id="{C26A041F-C32D-4E9C-AD9A-6F8F9710D9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1" y="480059"/>
            <a:ext cx="11237976" cy="5897880"/>
          </a:xfrm>
          <a:prstGeom prst="rect">
            <a:avLst/>
          </a:prstGeom>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lose up of text on a black background&#10;&#10;Description automatically generated">
            <a:extLst>
              <a:ext uri="{FF2B5EF4-FFF2-40B4-BE49-F238E27FC236}">
                <a16:creationId xmlns:a16="http://schemas.microsoft.com/office/drawing/2014/main" id="{C6D97A06-47B6-4244-AA92-E635B97CAA8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7010" y="480058"/>
            <a:ext cx="4176270" cy="5897880"/>
          </a:xfrm>
          <a:prstGeom prst="rect">
            <a:avLst/>
          </a:prstGeom>
        </p:spPr>
      </p:pic>
      <p:sp>
        <p:nvSpPr>
          <p:cNvPr id="13" name="Rectangle 12">
            <a:extLst>
              <a:ext uri="{FF2B5EF4-FFF2-40B4-BE49-F238E27FC236}">
                <a16:creationId xmlns:a16="http://schemas.microsoft.com/office/drawing/2014/main" id="{D55DD65F-8409-471A-8FF5-3F07D77F95DA}"/>
              </a:ext>
            </a:extLst>
          </p:cNvPr>
          <p:cNvSpPr/>
          <p:nvPr/>
        </p:nvSpPr>
        <p:spPr>
          <a:xfrm>
            <a:off x="5167314" y="1558051"/>
            <a:ext cx="6547674" cy="3693319"/>
          </a:xfrm>
          <a:prstGeom prst="rect">
            <a:avLst/>
          </a:prstGeom>
          <a:ln>
            <a:solidFill>
              <a:schemeClr val="tx1"/>
            </a:solidFill>
          </a:ln>
        </p:spPr>
        <p:txBody>
          <a:bodyPr wrap="square">
            <a:spAutoFit/>
          </a:bodyPr>
          <a:lstStyle/>
          <a:p>
            <a:pPr marL="285750" indent="-285750">
              <a:buFont typeface="Wingdings" panose="05000000000000000000" pitchFamily="2" charset="2"/>
              <a:buChar char="Ø"/>
            </a:pPr>
            <a:r>
              <a:rPr lang="en-US" b="1" dirty="0">
                <a:latin typeface="Algerian" panose="04020705040A02060702" pitchFamily="82" charset="0"/>
              </a:rPr>
              <a:t>Input</a:t>
            </a:r>
            <a:r>
              <a:rPr lang="en-US" dirty="0">
                <a:latin typeface="Algerian" panose="04020705040A02060702" pitchFamily="82" charset="0"/>
              </a:rPr>
              <a:t> given in the form of text conversations is pre-processed first and cleaned.</a:t>
            </a:r>
          </a:p>
          <a:p>
            <a:pPr marL="285750" indent="-285750">
              <a:buFont typeface="Wingdings" panose="05000000000000000000" pitchFamily="2" charset="2"/>
              <a:buChar char="Ø"/>
            </a:pPr>
            <a:r>
              <a:rPr lang="en-US" dirty="0">
                <a:latin typeface="Algerian" panose="04020705040A02060702" pitchFamily="82" charset="0"/>
              </a:rPr>
              <a:t>Cleaned data forwarded for feature extraction</a:t>
            </a:r>
          </a:p>
          <a:p>
            <a:pPr marL="285750" indent="-285750">
              <a:buFont typeface="Wingdings" panose="05000000000000000000" pitchFamily="2" charset="2"/>
              <a:buChar char="Ø"/>
            </a:pPr>
            <a:r>
              <a:rPr lang="en-US" dirty="0">
                <a:latin typeface="Algerian" panose="04020705040A02060702" pitchFamily="82" charset="0"/>
              </a:rPr>
              <a:t>Extracted features are fed to the learning algorithm- Genetic algorithm</a:t>
            </a:r>
          </a:p>
          <a:p>
            <a:pPr marL="285750" indent="-285750">
              <a:buFont typeface="Wingdings" panose="05000000000000000000" pitchFamily="2" charset="2"/>
              <a:buChar char="Ø"/>
            </a:pPr>
            <a:r>
              <a:rPr lang="en-US" dirty="0">
                <a:latin typeface="Algerian" panose="04020705040A02060702" pitchFamily="82" charset="0"/>
              </a:rPr>
              <a:t>Algorithm works on the knowledge base of Fuzzy rules set</a:t>
            </a:r>
          </a:p>
          <a:p>
            <a:pPr marL="285750" indent="-285750">
              <a:buFont typeface="Wingdings" panose="05000000000000000000" pitchFamily="2" charset="2"/>
              <a:buChar char="Ø"/>
            </a:pPr>
            <a:r>
              <a:rPr lang="en-US" dirty="0">
                <a:latin typeface="Algerian" panose="04020705040A02060702" pitchFamily="82" charset="0"/>
              </a:rPr>
              <a:t>Chromosomes compete to predict the classification of bullying activities</a:t>
            </a:r>
          </a:p>
          <a:p>
            <a:pPr marL="285750" indent="-285750">
              <a:buFont typeface="Wingdings" panose="05000000000000000000" pitchFamily="2" charset="2"/>
              <a:buChar char="Ø"/>
            </a:pPr>
            <a:r>
              <a:rPr lang="en-US" dirty="0">
                <a:latin typeface="Algerian" panose="04020705040A02060702" pitchFamily="82" charset="0"/>
              </a:rPr>
              <a:t>Output fed to classifier to classify based on fitness value of the chromosome</a:t>
            </a:r>
          </a:p>
          <a:p>
            <a:pPr marL="285750" indent="-285750">
              <a:buFont typeface="Wingdings" panose="05000000000000000000" pitchFamily="2" charset="2"/>
              <a:buChar char="Ø"/>
            </a:pPr>
            <a:r>
              <a:rPr lang="en-US" b="1" dirty="0">
                <a:latin typeface="Algerian" panose="04020705040A02060702" pitchFamily="82" charset="0"/>
              </a:rPr>
              <a:t>Output</a:t>
            </a:r>
            <a:r>
              <a:rPr lang="en-US" dirty="0">
                <a:latin typeface="Algerian" panose="04020705040A02060702" pitchFamily="82" charset="0"/>
              </a:rPr>
              <a:t> of the algorithm is a set of classified bullying words</a:t>
            </a:r>
          </a:p>
        </p:txBody>
      </p:sp>
    </p:spTree>
    <p:extLst>
      <p:ext uri="{BB962C8B-B14F-4D97-AF65-F5344CB8AC3E}">
        <p14:creationId xmlns:p14="http://schemas.microsoft.com/office/powerpoint/2010/main" val="2435973313"/>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2A313B03-D361-4EC9-AF52-0B3C1C92C2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1" name="Oval 10">
              <a:extLst>
                <a:ext uri="{FF2B5EF4-FFF2-40B4-BE49-F238E27FC236}">
                  <a16:creationId xmlns:a16="http://schemas.microsoft.com/office/drawing/2014/main" id="{5E79CB85-A08A-4579-86F6-A8AA97551B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2" name="Oval 11">
              <a:extLst>
                <a:ext uri="{FF2B5EF4-FFF2-40B4-BE49-F238E27FC236}">
                  <a16:creationId xmlns:a16="http://schemas.microsoft.com/office/drawing/2014/main" id="{D6C61C9C-364D-4CB6-B9D1-1A6F50F6A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sp>
      </p:grpSp>
      <p:sp>
        <p:nvSpPr>
          <p:cNvPr id="14" name="Rectangle 13">
            <a:extLst>
              <a:ext uri="{FF2B5EF4-FFF2-40B4-BE49-F238E27FC236}">
                <a16:creationId xmlns:a16="http://schemas.microsoft.com/office/drawing/2014/main" id="{9C5EC292-991E-4C8F-9F55-D72971A4B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90B7573-D2CD-4589-B099-E8254726AC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999"/>
          </a:xfrm>
          <a:prstGeom prst="rect">
            <a:avLst/>
          </a:prstGeom>
          <a:blipFill dpi="0" rotWithShape="1">
            <a:blip r:embed="rId4">
              <a:alphaModFix amt="50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18" name="Rectangle 17">
            <a:extLst>
              <a:ext uri="{FF2B5EF4-FFF2-40B4-BE49-F238E27FC236}">
                <a16:creationId xmlns:a16="http://schemas.microsoft.com/office/drawing/2014/main" id="{C26A041F-C32D-4E9C-AD9A-6F8F9710D9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1" y="480059"/>
            <a:ext cx="11237976" cy="5897880"/>
          </a:xfrm>
          <a:prstGeom prst="rect">
            <a:avLst/>
          </a:prstGeom>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lose up of a logo&#10;&#10;Description automatically generated">
            <a:extLst>
              <a:ext uri="{FF2B5EF4-FFF2-40B4-BE49-F238E27FC236}">
                <a16:creationId xmlns:a16="http://schemas.microsoft.com/office/drawing/2014/main" id="{A5273150-9EA0-4781-98BC-9322F2845E7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7010" y="480058"/>
            <a:ext cx="4521710" cy="5897880"/>
          </a:xfrm>
          <a:prstGeom prst="rect">
            <a:avLst/>
          </a:prstGeom>
        </p:spPr>
      </p:pic>
      <p:sp>
        <p:nvSpPr>
          <p:cNvPr id="6" name="TextBox 5">
            <a:extLst>
              <a:ext uri="{FF2B5EF4-FFF2-40B4-BE49-F238E27FC236}">
                <a16:creationId xmlns:a16="http://schemas.microsoft.com/office/drawing/2014/main" id="{05BFC8A7-8B71-4005-8A64-1F88A7574EF5}"/>
              </a:ext>
            </a:extLst>
          </p:cNvPr>
          <p:cNvSpPr txBox="1"/>
          <p:nvPr/>
        </p:nvSpPr>
        <p:spPr>
          <a:xfrm>
            <a:off x="6370320" y="628939"/>
            <a:ext cx="5344667" cy="5586145"/>
          </a:xfrm>
          <a:prstGeom prst="rect">
            <a:avLst/>
          </a:prstGeom>
          <a:noFill/>
          <a:ln>
            <a:solidFill>
              <a:schemeClr val="tx1"/>
            </a:solidFill>
          </a:ln>
        </p:spPr>
        <p:txBody>
          <a:bodyPr wrap="square" rtlCol="0">
            <a:spAutoFit/>
          </a:bodyPr>
          <a:lstStyle/>
          <a:p>
            <a:pPr marL="285750" indent="-285750">
              <a:buFont typeface="Wingdings" panose="05000000000000000000" pitchFamily="2" charset="2"/>
              <a:buChar char="Ø"/>
            </a:pPr>
            <a:r>
              <a:rPr lang="en-US" sz="2100" dirty="0">
                <a:latin typeface="Algerian" panose="04020705040A02060702" pitchFamily="82" charset="0"/>
              </a:rPr>
              <a:t>Our unique tool employs not one but 4 different machine learning models to get better results.</a:t>
            </a:r>
          </a:p>
          <a:p>
            <a:pPr marL="285750" indent="-285750">
              <a:buFont typeface="Wingdings" panose="05000000000000000000" pitchFamily="2" charset="2"/>
              <a:buChar char="Ø"/>
            </a:pPr>
            <a:r>
              <a:rPr lang="en-US" sz="2100" dirty="0">
                <a:latin typeface="Algerian" panose="04020705040A02060702" pitchFamily="82" charset="0"/>
              </a:rPr>
              <a:t>The four models have been chosen after extensive literature review.</a:t>
            </a:r>
          </a:p>
          <a:p>
            <a:pPr marL="285750" indent="-285750">
              <a:buFont typeface="Wingdings" panose="05000000000000000000" pitchFamily="2" charset="2"/>
              <a:buChar char="Ø"/>
            </a:pPr>
            <a:r>
              <a:rPr lang="en-US" sz="2100" dirty="0">
                <a:latin typeface="Algerian" panose="04020705040A02060702" pitchFamily="82" charset="0"/>
              </a:rPr>
              <a:t>The suspects’ internet usage is monitored. Special attention is paid to his/her posts, comments, messages and search histories.</a:t>
            </a:r>
          </a:p>
          <a:p>
            <a:pPr marL="285750" indent="-285750">
              <a:buFont typeface="Wingdings" panose="05000000000000000000" pitchFamily="2" charset="2"/>
              <a:buChar char="Ø"/>
            </a:pPr>
            <a:r>
              <a:rPr lang="en-US" sz="2100" dirty="0">
                <a:latin typeface="Algerian" panose="04020705040A02060702" pitchFamily="82" charset="0"/>
              </a:rPr>
              <a:t>Based on these parameters, they are further classified as suspects or non-suspects.</a:t>
            </a:r>
          </a:p>
          <a:p>
            <a:pPr marL="285750" indent="-285750">
              <a:buFont typeface="Wingdings" panose="05000000000000000000" pitchFamily="2" charset="2"/>
              <a:buChar char="Ø"/>
            </a:pPr>
            <a:r>
              <a:rPr lang="en-US" sz="2100" dirty="0">
                <a:latin typeface="Algerian" panose="04020705040A02060702" pitchFamily="82" charset="0"/>
              </a:rPr>
              <a:t>Once the profiles are marked as probable “suspects”, they are then cross verified using machine learning techniques.</a:t>
            </a:r>
          </a:p>
        </p:txBody>
      </p:sp>
    </p:spTree>
    <p:extLst>
      <p:ext uri="{BB962C8B-B14F-4D97-AF65-F5344CB8AC3E}">
        <p14:creationId xmlns:p14="http://schemas.microsoft.com/office/powerpoint/2010/main" val="925653843"/>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2A313B03-D361-4EC9-AF52-0B3C1C92C2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1" name="Oval 10">
              <a:extLst>
                <a:ext uri="{FF2B5EF4-FFF2-40B4-BE49-F238E27FC236}">
                  <a16:creationId xmlns:a16="http://schemas.microsoft.com/office/drawing/2014/main" id="{5E79CB85-A08A-4579-86F6-A8AA97551B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2" name="Oval 11">
              <a:extLst>
                <a:ext uri="{FF2B5EF4-FFF2-40B4-BE49-F238E27FC236}">
                  <a16:creationId xmlns:a16="http://schemas.microsoft.com/office/drawing/2014/main" id="{D6C61C9C-364D-4CB6-B9D1-1A6F50F6A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sp>
      </p:grpSp>
      <p:sp>
        <p:nvSpPr>
          <p:cNvPr id="14" name="Rectangle 13">
            <a:extLst>
              <a:ext uri="{FF2B5EF4-FFF2-40B4-BE49-F238E27FC236}">
                <a16:creationId xmlns:a16="http://schemas.microsoft.com/office/drawing/2014/main" id="{9C5EC292-991E-4C8F-9F55-D72971A4B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90B7573-D2CD-4589-B099-E8254726AC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999"/>
          </a:xfrm>
          <a:prstGeom prst="rect">
            <a:avLst/>
          </a:prstGeom>
          <a:blipFill dpi="0" rotWithShape="1">
            <a:blip r:embed="rId4">
              <a:alphaModFix amt="50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18" name="Rectangle 17">
            <a:extLst>
              <a:ext uri="{FF2B5EF4-FFF2-40B4-BE49-F238E27FC236}">
                <a16:creationId xmlns:a16="http://schemas.microsoft.com/office/drawing/2014/main" id="{C26A041F-C32D-4E9C-AD9A-6F8F9710D9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1" y="480059"/>
            <a:ext cx="11237976" cy="5897880"/>
          </a:xfrm>
          <a:prstGeom prst="rect">
            <a:avLst/>
          </a:prstGeom>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lose up of text on a white background&#10;&#10;Description automatically generated">
            <a:extLst>
              <a:ext uri="{FF2B5EF4-FFF2-40B4-BE49-F238E27FC236}">
                <a16:creationId xmlns:a16="http://schemas.microsoft.com/office/drawing/2014/main" id="{99EE882B-AB25-4C24-B5AC-6CBE25C4CF5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4353" y="475294"/>
            <a:ext cx="4581384" cy="5897880"/>
          </a:xfrm>
          <a:prstGeom prst="rect">
            <a:avLst/>
          </a:prstGeom>
        </p:spPr>
      </p:pic>
      <p:sp>
        <p:nvSpPr>
          <p:cNvPr id="7" name="TextBox 6">
            <a:extLst>
              <a:ext uri="{FF2B5EF4-FFF2-40B4-BE49-F238E27FC236}">
                <a16:creationId xmlns:a16="http://schemas.microsoft.com/office/drawing/2014/main" id="{51D74F75-8CB5-4394-91DE-887A50F49E10}"/>
              </a:ext>
            </a:extLst>
          </p:cNvPr>
          <p:cNvSpPr txBox="1"/>
          <p:nvPr/>
        </p:nvSpPr>
        <p:spPr>
          <a:xfrm>
            <a:off x="6096000" y="1443838"/>
            <a:ext cx="5618987" cy="3970318"/>
          </a:xfrm>
          <a:prstGeom prst="rect">
            <a:avLst/>
          </a:prstGeom>
          <a:noFill/>
          <a:ln>
            <a:solidFill>
              <a:schemeClr val="tx1"/>
            </a:solidFill>
          </a:ln>
        </p:spPr>
        <p:txBody>
          <a:bodyPr wrap="square" rtlCol="0">
            <a:spAutoFit/>
          </a:bodyPr>
          <a:lstStyle/>
          <a:p>
            <a:pPr marL="285750" indent="-285750">
              <a:buFont typeface="Wingdings" panose="05000000000000000000" pitchFamily="2" charset="2"/>
              <a:buChar char="Ø"/>
            </a:pPr>
            <a:r>
              <a:rPr lang="en-US" dirty="0">
                <a:latin typeface="Algerian" panose="04020705040A02060702" pitchFamily="82" charset="0"/>
              </a:rPr>
              <a:t>Sentiment analysis is contextual mining of text which identifies and extracts subjective information in source material, and helping a business to understand the social sentiment of their brand, product or service while monitoring online conversations.</a:t>
            </a:r>
          </a:p>
          <a:p>
            <a:endParaRPr lang="en-US" dirty="0">
              <a:latin typeface="Algerian" panose="04020705040A02060702" pitchFamily="82" charset="0"/>
            </a:endParaRPr>
          </a:p>
          <a:p>
            <a:pPr marL="285750" indent="-285750">
              <a:buFont typeface="Wingdings" panose="05000000000000000000" pitchFamily="2" charset="2"/>
              <a:buChar char="Ø"/>
            </a:pPr>
            <a:r>
              <a:rPr lang="en-US" dirty="0">
                <a:latin typeface="Algerian" panose="04020705040A02060702" pitchFamily="82" charset="0"/>
              </a:rPr>
              <a:t>It refers to the use of natural language processing, text analysis, computational linguistics, and biometrics to systematically identify, extract, quantify, and study affective states and subjective information.</a:t>
            </a:r>
          </a:p>
        </p:txBody>
      </p:sp>
    </p:spTree>
    <p:extLst>
      <p:ext uri="{BB962C8B-B14F-4D97-AF65-F5344CB8AC3E}">
        <p14:creationId xmlns:p14="http://schemas.microsoft.com/office/powerpoint/2010/main" val="1490391238"/>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A004A-92BD-49ED-BCF8-759BAB889F12}"/>
              </a:ext>
            </a:extLst>
          </p:cNvPr>
          <p:cNvSpPr>
            <a:spLocks noGrp="1"/>
          </p:cNvSpPr>
          <p:nvPr>
            <p:ph type="title"/>
          </p:nvPr>
        </p:nvSpPr>
        <p:spPr/>
        <p:txBody>
          <a:bodyPr>
            <a:normAutofit/>
          </a:bodyPr>
          <a:lstStyle/>
          <a:p>
            <a:r>
              <a:rPr lang="en-US" dirty="0"/>
              <a:t>Machine learning Models employed</a:t>
            </a:r>
          </a:p>
        </p:txBody>
      </p:sp>
    </p:spTree>
    <p:extLst>
      <p:ext uri="{BB962C8B-B14F-4D97-AF65-F5344CB8AC3E}">
        <p14:creationId xmlns:p14="http://schemas.microsoft.com/office/powerpoint/2010/main" val="1034286711"/>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C1DBBCCD-49F9-4027-856C-F784533987DA}"/>
              </a:ext>
            </a:extLst>
          </p:cNvPr>
          <p:cNvSpPr>
            <a:spLocks noGrp="1"/>
          </p:cNvSpPr>
          <p:nvPr/>
        </p:nvSpPr>
        <p:spPr>
          <a:xfrm>
            <a:off x="1131893" y="278527"/>
            <a:ext cx="10058400" cy="160934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dirty="0"/>
              <a:t>SUPPORT VECTOR MACHINES</a:t>
            </a:r>
          </a:p>
        </p:txBody>
      </p:sp>
      <p:sp>
        <p:nvSpPr>
          <p:cNvPr id="14" name="TextBox 3">
            <a:extLst>
              <a:ext uri="{FF2B5EF4-FFF2-40B4-BE49-F238E27FC236}">
                <a16:creationId xmlns:a16="http://schemas.microsoft.com/office/drawing/2014/main" id="{58AC4802-E966-4651-99D4-54CF63CFE957}"/>
              </a:ext>
            </a:extLst>
          </p:cNvPr>
          <p:cNvSpPr txBox="1"/>
          <p:nvPr/>
        </p:nvSpPr>
        <p:spPr>
          <a:xfrm>
            <a:off x="974035" y="1719373"/>
            <a:ext cx="6280484" cy="313932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dirty="0">
                <a:latin typeface="Algerian" panose="04020705040A02060702" pitchFamily="82" charset="0"/>
              </a:rPr>
              <a:t>A discriminative classifier formally defined by a separating hyperplane.</a:t>
            </a:r>
          </a:p>
          <a:p>
            <a:pPr marL="285750" indent="-285750">
              <a:buFont typeface="Arial" panose="020B0604020202020204" pitchFamily="34" charset="0"/>
              <a:buChar char="•"/>
            </a:pPr>
            <a:r>
              <a:rPr lang="en-US" dirty="0">
                <a:latin typeface="Algerian" panose="04020705040A02060702" pitchFamily="82" charset="0"/>
              </a:rPr>
              <a:t>In two dimension space, this hyperplane is a line dividing a plane into two parts dividing the datapoints into two classes.</a:t>
            </a:r>
          </a:p>
          <a:p>
            <a:pPr marL="285750" indent="-285750">
              <a:buFont typeface="Arial" panose="020B0604020202020204" pitchFamily="34" charset="0"/>
              <a:buChar char="•"/>
            </a:pPr>
            <a:r>
              <a:rPr lang="en-US" dirty="0">
                <a:latin typeface="Algerian" panose="04020705040A02060702" pitchFamily="82" charset="0"/>
              </a:rPr>
              <a:t>Similarly, can be expanded for higher dimensions.</a:t>
            </a:r>
          </a:p>
          <a:p>
            <a:pPr marL="285750" indent="-285750">
              <a:buFont typeface="Arial" panose="020B0604020202020204" pitchFamily="34" charset="0"/>
              <a:buChar char="•"/>
            </a:pPr>
            <a:r>
              <a:rPr lang="en-US" dirty="0">
                <a:latin typeface="Algerian" panose="04020705040A02060702" pitchFamily="82" charset="0"/>
              </a:rPr>
              <a:t>Example-pictorial representation of separating rabbits and tigers by making fence between them.</a:t>
            </a:r>
          </a:p>
          <a:p>
            <a:pPr marL="285750" indent="-285750">
              <a:buFont typeface="Arial" panose="020B0604020202020204" pitchFamily="34" charset="0"/>
              <a:buChar char="•"/>
            </a:pPr>
            <a:endParaRPr lang="en-US" dirty="0">
              <a:latin typeface="Algerian" panose="04020705040A02060702" pitchFamily="82" charset="0"/>
            </a:endParaRPr>
          </a:p>
        </p:txBody>
      </p:sp>
      <p:pic>
        <p:nvPicPr>
          <p:cNvPr id="15" name="Picture 14">
            <a:extLst>
              <a:ext uri="{FF2B5EF4-FFF2-40B4-BE49-F238E27FC236}">
                <a16:creationId xmlns:a16="http://schemas.microsoft.com/office/drawing/2014/main" id="{E2D75C9B-EC3A-4E1E-B741-8D12D8EB5197}"/>
              </a:ext>
            </a:extLst>
          </p:cNvPr>
          <p:cNvPicPr>
            <a:picLocks noChangeAspect="1"/>
          </p:cNvPicPr>
          <p:nvPr/>
        </p:nvPicPr>
        <p:blipFill>
          <a:blip r:embed="rId3"/>
          <a:stretch>
            <a:fillRect/>
          </a:stretch>
        </p:blipFill>
        <p:spPr>
          <a:xfrm>
            <a:off x="7709394" y="1333778"/>
            <a:ext cx="3508571" cy="2004898"/>
          </a:xfrm>
          <a:prstGeom prst="rect">
            <a:avLst/>
          </a:prstGeom>
        </p:spPr>
      </p:pic>
      <p:pic>
        <p:nvPicPr>
          <p:cNvPr id="16" name="Picture 15">
            <a:extLst>
              <a:ext uri="{FF2B5EF4-FFF2-40B4-BE49-F238E27FC236}">
                <a16:creationId xmlns:a16="http://schemas.microsoft.com/office/drawing/2014/main" id="{4352500A-DCCE-4B69-B2A8-11639B382C11}"/>
              </a:ext>
            </a:extLst>
          </p:cNvPr>
          <p:cNvPicPr>
            <a:picLocks noChangeAspect="1"/>
          </p:cNvPicPr>
          <p:nvPr/>
        </p:nvPicPr>
        <p:blipFill>
          <a:blip r:embed="rId4"/>
          <a:stretch>
            <a:fillRect/>
          </a:stretch>
        </p:blipFill>
        <p:spPr>
          <a:xfrm>
            <a:off x="6541190" y="4096161"/>
            <a:ext cx="4676775" cy="2476500"/>
          </a:xfrm>
          <a:prstGeom prst="rect">
            <a:avLst/>
          </a:prstGeom>
        </p:spPr>
      </p:pic>
      <p:cxnSp>
        <p:nvCxnSpPr>
          <p:cNvPr id="17" name="Straight Arrow Connector 16">
            <a:extLst>
              <a:ext uri="{FF2B5EF4-FFF2-40B4-BE49-F238E27FC236}">
                <a16:creationId xmlns:a16="http://schemas.microsoft.com/office/drawing/2014/main" id="{51689C8D-5137-430F-9721-264871810266}"/>
              </a:ext>
            </a:extLst>
          </p:cNvPr>
          <p:cNvCxnSpPr>
            <a:endCxn id="16" idx="0"/>
          </p:cNvCxnSpPr>
          <p:nvPr/>
        </p:nvCxnSpPr>
        <p:spPr>
          <a:xfrm>
            <a:off x="8879577" y="3338676"/>
            <a:ext cx="1" cy="7574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3F9DED9E-5304-4A6F-AC0C-D0DE71B2450F}"/>
              </a:ext>
            </a:extLst>
          </p:cNvPr>
          <p:cNvCxnSpPr>
            <a:stCxn id="16" idx="1"/>
          </p:cNvCxnSpPr>
          <p:nvPr/>
        </p:nvCxnSpPr>
        <p:spPr>
          <a:xfrm flipH="1">
            <a:off x="5780996" y="5334411"/>
            <a:ext cx="7601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9BD2B98A-6BBF-4432-9CE7-5111E9D6F163}"/>
              </a:ext>
            </a:extLst>
          </p:cNvPr>
          <p:cNvPicPr>
            <a:picLocks noChangeAspect="1"/>
          </p:cNvPicPr>
          <p:nvPr/>
        </p:nvPicPr>
        <p:blipFill>
          <a:blip r:embed="rId5"/>
          <a:stretch>
            <a:fillRect/>
          </a:stretch>
        </p:blipFill>
        <p:spPr>
          <a:xfrm>
            <a:off x="1246234" y="4155836"/>
            <a:ext cx="4071657" cy="2476500"/>
          </a:xfrm>
          <a:prstGeom prst="rect">
            <a:avLst/>
          </a:prstGeom>
        </p:spPr>
      </p:pic>
    </p:spTree>
    <p:extLst>
      <p:ext uri="{BB962C8B-B14F-4D97-AF65-F5344CB8AC3E}">
        <p14:creationId xmlns:p14="http://schemas.microsoft.com/office/powerpoint/2010/main" val="3740607554"/>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8756A16-881F-4B34-87FB-29F99B5069B7}"/>
              </a:ext>
            </a:extLst>
          </p:cNvPr>
          <p:cNvSpPr>
            <a:spLocks noGrp="1"/>
          </p:cNvSpPr>
          <p:nvPr/>
        </p:nvSpPr>
        <p:spPr>
          <a:xfrm>
            <a:off x="753054" y="283522"/>
            <a:ext cx="10058400" cy="160934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dirty="0"/>
              <a:t>DECISION TREES</a:t>
            </a:r>
          </a:p>
        </p:txBody>
      </p:sp>
      <p:sp>
        <p:nvSpPr>
          <p:cNvPr id="7" name="TextBox 3">
            <a:extLst>
              <a:ext uri="{FF2B5EF4-FFF2-40B4-BE49-F238E27FC236}">
                <a16:creationId xmlns:a16="http://schemas.microsoft.com/office/drawing/2014/main" id="{9D269467-EE8B-4FF1-A051-BED21F566E0D}"/>
              </a:ext>
            </a:extLst>
          </p:cNvPr>
          <p:cNvSpPr txBox="1"/>
          <p:nvPr/>
        </p:nvSpPr>
        <p:spPr>
          <a:xfrm>
            <a:off x="422398" y="1874723"/>
            <a:ext cx="4641398" cy="424731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dirty="0">
                <a:latin typeface="Algerian" panose="04020705040A02060702" pitchFamily="82" charset="0"/>
              </a:rPr>
              <a:t>A decision supporting tool that uses a tree-like graph or model of decision and their possible consequences.</a:t>
            </a:r>
          </a:p>
          <a:p>
            <a:pPr marL="285750" indent="-285750">
              <a:buFont typeface="Arial" panose="020B0604020202020204" pitchFamily="34" charset="0"/>
              <a:buChar char="•"/>
            </a:pPr>
            <a:r>
              <a:rPr lang="en-US" dirty="0">
                <a:latin typeface="Algerian" panose="04020705040A02060702" pitchFamily="82" charset="0"/>
              </a:rPr>
              <a:t>A flow chart-like structure in which each internal node represents a “test” on an attribute</a:t>
            </a:r>
          </a:p>
          <a:p>
            <a:pPr marL="285750" indent="-285750">
              <a:buFont typeface="Arial" panose="020B0604020202020204" pitchFamily="34" charset="0"/>
              <a:buChar char="•"/>
            </a:pPr>
            <a:r>
              <a:rPr lang="en-US" dirty="0">
                <a:latin typeface="Algerian" panose="04020705040A02060702" pitchFamily="82" charset="0"/>
              </a:rPr>
              <a:t>Each branch represents the outcome of the test, each leaf node represents class label.</a:t>
            </a:r>
          </a:p>
          <a:p>
            <a:pPr marL="285750" indent="-285750">
              <a:buFont typeface="Arial" panose="020B0604020202020204" pitchFamily="34" charset="0"/>
              <a:buChar char="•"/>
            </a:pPr>
            <a:r>
              <a:rPr lang="en-US" dirty="0">
                <a:latin typeface="Algerian" panose="04020705040A02060702" pitchFamily="82" charset="0"/>
              </a:rPr>
              <a:t>Path from root to leaf represents classification rules</a:t>
            </a:r>
          </a:p>
          <a:p>
            <a:pPr marL="285750" indent="-285750">
              <a:buFont typeface="Arial" panose="020B0604020202020204" pitchFamily="34" charset="0"/>
              <a:buChar char="•"/>
            </a:pPr>
            <a:r>
              <a:rPr lang="en-US" dirty="0">
                <a:latin typeface="Algerian" panose="04020705040A02060702" pitchFamily="82" charset="0"/>
              </a:rPr>
              <a:t>Example- temperature prediction model</a:t>
            </a:r>
          </a:p>
        </p:txBody>
      </p:sp>
      <p:pic>
        <p:nvPicPr>
          <p:cNvPr id="8" name="Picture 7">
            <a:extLst>
              <a:ext uri="{FF2B5EF4-FFF2-40B4-BE49-F238E27FC236}">
                <a16:creationId xmlns:a16="http://schemas.microsoft.com/office/drawing/2014/main" id="{938D2996-6DF1-4382-98DE-69207ADEDE94}"/>
              </a:ext>
            </a:extLst>
          </p:cNvPr>
          <p:cNvPicPr>
            <a:picLocks noChangeAspect="1"/>
          </p:cNvPicPr>
          <p:nvPr/>
        </p:nvPicPr>
        <p:blipFill>
          <a:blip r:embed="rId3"/>
          <a:stretch>
            <a:fillRect/>
          </a:stretch>
        </p:blipFill>
        <p:spPr>
          <a:xfrm>
            <a:off x="5302127" y="1629735"/>
            <a:ext cx="6467475" cy="4492305"/>
          </a:xfrm>
          <a:prstGeom prst="rect">
            <a:avLst/>
          </a:prstGeom>
        </p:spPr>
      </p:pic>
    </p:spTree>
    <p:extLst>
      <p:ext uri="{BB962C8B-B14F-4D97-AF65-F5344CB8AC3E}">
        <p14:creationId xmlns:p14="http://schemas.microsoft.com/office/powerpoint/2010/main" val="950280010"/>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A49630C-1ADC-4F46-B2FF-38F82A03B824}"/>
              </a:ext>
            </a:extLst>
          </p:cNvPr>
          <p:cNvSpPr>
            <a:spLocks noGrp="1"/>
          </p:cNvSpPr>
          <p:nvPr/>
        </p:nvSpPr>
        <p:spPr>
          <a:xfrm>
            <a:off x="885901" y="729333"/>
            <a:ext cx="10058400" cy="160934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dirty="0"/>
              <a:t>RANDOM FOREST</a:t>
            </a:r>
          </a:p>
        </p:txBody>
      </p:sp>
      <p:sp>
        <p:nvSpPr>
          <p:cNvPr id="7" name="TextBox 3">
            <a:extLst>
              <a:ext uri="{FF2B5EF4-FFF2-40B4-BE49-F238E27FC236}">
                <a16:creationId xmlns:a16="http://schemas.microsoft.com/office/drawing/2014/main" id="{020D3B5E-55E5-4FAB-A72B-D0A02B59C20F}"/>
              </a:ext>
            </a:extLst>
          </p:cNvPr>
          <p:cNvSpPr txBox="1"/>
          <p:nvPr/>
        </p:nvSpPr>
        <p:spPr>
          <a:xfrm>
            <a:off x="465758" y="2338677"/>
            <a:ext cx="4955965" cy="34163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dirty="0">
                <a:latin typeface="Algerian" panose="04020705040A02060702" pitchFamily="82" charset="0"/>
              </a:rPr>
              <a:t>Random forest is a divide-and-conquer approach used to improve performance.</a:t>
            </a:r>
          </a:p>
          <a:p>
            <a:pPr marL="285750" indent="-285750">
              <a:buFont typeface="Arial" panose="020B0604020202020204" pitchFamily="34" charset="0"/>
              <a:buChar char="•"/>
            </a:pPr>
            <a:r>
              <a:rPr lang="en-US" dirty="0">
                <a:latin typeface="Algerian" panose="04020705040A02060702" pitchFamily="82" charset="0"/>
              </a:rPr>
              <a:t>Can be thought of as a form of nearest neighbor predictor.</a:t>
            </a:r>
          </a:p>
          <a:p>
            <a:pPr marL="285750" indent="-285750">
              <a:buFont typeface="Arial" panose="020B0604020202020204" pitchFamily="34" charset="0"/>
              <a:buChar char="•"/>
            </a:pPr>
            <a:r>
              <a:rPr lang="en-US" dirty="0">
                <a:latin typeface="Algerian" panose="04020705040A02060702" pitchFamily="82" charset="0"/>
              </a:rPr>
              <a:t>The result may either be an average or the weighted average of all of the terminal nodes that are reached.</a:t>
            </a:r>
          </a:p>
          <a:p>
            <a:pPr marL="285750" indent="-285750">
              <a:buFont typeface="Arial" panose="020B0604020202020204" pitchFamily="34" charset="0"/>
              <a:buChar char="•"/>
            </a:pPr>
            <a:r>
              <a:rPr lang="en-US" dirty="0">
                <a:latin typeface="Algerian" panose="04020705040A02060702" pitchFamily="82" charset="0"/>
              </a:rPr>
              <a:t>Runtime is quite fast </a:t>
            </a:r>
          </a:p>
          <a:p>
            <a:pPr marL="285750" indent="-285750">
              <a:buFont typeface="Arial" panose="020B0604020202020204" pitchFamily="34" charset="0"/>
              <a:buChar char="•"/>
            </a:pPr>
            <a:r>
              <a:rPr lang="en-US" dirty="0">
                <a:latin typeface="Algerian" panose="04020705040A02060702" pitchFamily="82" charset="0"/>
              </a:rPr>
              <a:t>Able to deal with unbalanced and missing data</a:t>
            </a:r>
          </a:p>
        </p:txBody>
      </p:sp>
      <p:pic>
        <p:nvPicPr>
          <p:cNvPr id="8" name="Picture 7">
            <a:extLst>
              <a:ext uri="{FF2B5EF4-FFF2-40B4-BE49-F238E27FC236}">
                <a16:creationId xmlns:a16="http://schemas.microsoft.com/office/drawing/2014/main" id="{B1020418-AC2B-4D92-80B8-F88FD728CCC8}"/>
              </a:ext>
            </a:extLst>
          </p:cNvPr>
          <p:cNvPicPr>
            <a:picLocks noChangeAspect="1"/>
          </p:cNvPicPr>
          <p:nvPr/>
        </p:nvPicPr>
        <p:blipFill>
          <a:blip r:embed="rId3"/>
          <a:stretch>
            <a:fillRect/>
          </a:stretch>
        </p:blipFill>
        <p:spPr>
          <a:xfrm>
            <a:off x="5421723" y="1711570"/>
            <a:ext cx="6304520" cy="4417096"/>
          </a:xfrm>
          <a:prstGeom prst="rect">
            <a:avLst/>
          </a:prstGeom>
        </p:spPr>
      </p:pic>
    </p:spTree>
    <p:extLst>
      <p:ext uri="{BB962C8B-B14F-4D97-AF65-F5344CB8AC3E}">
        <p14:creationId xmlns:p14="http://schemas.microsoft.com/office/powerpoint/2010/main" val="3360303328"/>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45B27E9-C8D3-4D09-A5ED-F7EA13011559}"/>
              </a:ext>
            </a:extLst>
          </p:cNvPr>
          <p:cNvSpPr>
            <a:spLocks noGrp="1"/>
          </p:cNvSpPr>
          <p:nvPr/>
        </p:nvSpPr>
        <p:spPr>
          <a:xfrm>
            <a:off x="1050625" y="275917"/>
            <a:ext cx="10058400" cy="160934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dirty="0"/>
              <a:t>K-NEAREST NEIGHBORS</a:t>
            </a:r>
          </a:p>
        </p:txBody>
      </p:sp>
      <p:sp>
        <p:nvSpPr>
          <p:cNvPr id="7" name="TextBox 3">
            <a:extLst>
              <a:ext uri="{FF2B5EF4-FFF2-40B4-BE49-F238E27FC236}">
                <a16:creationId xmlns:a16="http://schemas.microsoft.com/office/drawing/2014/main" id="{25B13DBB-CDB0-4AAC-B809-472BF718F3B9}"/>
              </a:ext>
            </a:extLst>
          </p:cNvPr>
          <p:cNvSpPr txBox="1"/>
          <p:nvPr/>
        </p:nvSpPr>
        <p:spPr>
          <a:xfrm>
            <a:off x="556615" y="1789831"/>
            <a:ext cx="5539385" cy="230832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dirty="0">
                <a:latin typeface="Algerian" panose="04020705040A02060702" pitchFamily="82" charset="0"/>
              </a:rPr>
              <a:t>A non-parametric classification and regression technique.</a:t>
            </a:r>
          </a:p>
          <a:p>
            <a:pPr marL="285750" indent="-285750">
              <a:buFont typeface="Arial" panose="020B0604020202020204" pitchFamily="34" charset="0"/>
              <a:buChar char="•"/>
            </a:pPr>
            <a:r>
              <a:rPr lang="en-US" dirty="0">
                <a:latin typeface="Algerian" panose="04020705040A02060702" pitchFamily="82" charset="0"/>
              </a:rPr>
              <a:t>Input dataset, add any unknown value, and algorithm will tell which class that unknown datapoint belongs to.</a:t>
            </a:r>
          </a:p>
          <a:p>
            <a:pPr marL="285750" indent="-285750">
              <a:buFont typeface="Arial" panose="020B0604020202020204" pitchFamily="34" charset="0"/>
              <a:buChar char="•"/>
            </a:pPr>
            <a:r>
              <a:rPr lang="en-US" dirty="0">
                <a:latin typeface="Algerian" panose="04020705040A02060702" pitchFamily="82" charset="0"/>
              </a:rPr>
              <a:t>The unknown point is classified by simple </a:t>
            </a:r>
            <a:r>
              <a:rPr lang="en-IN" dirty="0">
                <a:latin typeface="Algerian" panose="04020705040A02060702" pitchFamily="82" charset="0"/>
              </a:rPr>
              <a:t>neighbour</a:t>
            </a:r>
            <a:r>
              <a:rPr lang="en-US" dirty="0">
                <a:latin typeface="Algerian" panose="04020705040A02060702" pitchFamily="82" charset="0"/>
              </a:rPr>
              <a:t> voting and class of close </a:t>
            </a:r>
            <a:r>
              <a:rPr lang="en-US" dirty="0" err="1">
                <a:latin typeface="Algerian" panose="04020705040A02060702" pitchFamily="82" charset="0"/>
              </a:rPr>
              <a:t>neighbours</a:t>
            </a:r>
            <a:r>
              <a:rPr lang="en-US" dirty="0">
                <a:latin typeface="Algerian" panose="04020705040A02060702" pitchFamily="82" charset="0"/>
              </a:rPr>
              <a:t> win.</a:t>
            </a:r>
          </a:p>
        </p:txBody>
      </p:sp>
      <p:pic>
        <p:nvPicPr>
          <p:cNvPr id="8" name="Picture 7">
            <a:extLst>
              <a:ext uri="{FF2B5EF4-FFF2-40B4-BE49-F238E27FC236}">
                <a16:creationId xmlns:a16="http://schemas.microsoft.com/office/drawing/2014/main" id="{6D1EAE72-F6B7-44ED-8BDC-6C5BD7A806CE}"/>
              </a:ext>
            </a:extLst>
          </p:cNvPr>
          <p:cNvPicPr>
            <a:picLocks noChangeAspect="1"/>
          </p:cNvPicPr>
          <p:nvPr/>
        </p:nvPicPr>
        <p:blipFill>
          <a:blip r:embed="rId3"/>
          <a:stretch>
            <a:fillRect/>
          </a:stretch>
        </p:blipFill>
        <p:spPr>
          <a:xfrm>
            <a:off x="7603785" y="275917"/>
            <a:ext cx="4000500" cy="2562225"/>
          </a:xfrm>
          <a:prstGeom prst="rect">
            <a:avLst/>
          </a:prstGeom>
        </p:spPr>
      </p:pic>
      <p:pic>
        <p:nvPicPr>
          <p:cNvPr id="9" name="Picture 8">
            <a:extLst>
              <a:ext uri="{FF2B5EF4-FFF2-40B4-BE49-F238E27FC236}">
                <a16:creationId xmlns:a16="http://schemas.microsoft.com/office/drawing/2014/main" id="{23119CAA-C6D0-4656-A98C-D1B101FF4F12}"/>
              </a:ext>
            </a:extLst>
          </p:cNvPr>
          <p:cNvPicPr>
            <a:picLocks noChangeAspect="1"/>
          </p:cNvPicPr>
          <p:nvPr/>
        </p:nvPicPr>
        <p:blipFill>
          <a:blip r:embed="rId4"/>
          <a:stretch>
            <a:fillRect/>
          </a:stretch>
        </p:blipFill>
        <p:spPr>
          <a:xfrm>
            <a:off x="6842090" y="3824915"/>
            <a:ext cx="4114800" cy="2209800"/>
          </a:xfrm>
          <a:prstGeom prst="rect">
            <a:avLst/>
          </a:prstGeom>
        </p:spPr>
      </p:pic>
      <p:pic>
        <p:nvPicPr>
          <p:cNvPr id="10" name="Picture 9">
            <a:extLst>
              <a:ext uri="{FF2B5EF4-FFF2-40B4-BE49-F238E27FC236}">
                <a16:creationId xmlns:a16="http://schemas.microsoft.com/office/drawing/2014/main" id="{5216177C-8537-4BB6-AD40-A02091DB07A0}"/>
              </a:ext>
            </a:extLst>
          </p:cNvPr>
          <p:cNvPicPr>
            <a:picLocks noChangeAspect="1"/>
          </p:cNvPicPr>
          <p:nvPr/>
        </p:nvPicPr>
        <p:blipFill>
          <a:blip r:embed="rId5"/>
          <a:stretch>
            <a:fillRect/>
          </a:stretch>
        </p:blipFill>
        <p:spPr>
          <a:xfrm>
            <a:off x="1196664" y="4193585"/>
            <a:ext cx="3848100" cy="2314575"/>
          </a:xfrm>
          <a:prstGeom prst="rect">
            <a:avLst/>
          </a:prstGeom>
        </p:spPr>
      </p:pic>
      <p:cxnSp>
        <p:nvCxnSpPr>
          <p:cNvPr id="11" name="Straight Arrow Connector 10">
            <a:extLst>
              <a:ext uri="{FF2B5EF4-FFF2-40B4-BE49-F238E27FC236}">
                <a16:creationId xmlns:a16="http://schemas.microsoft.com/office/drawing/2014/main" id="{0AB6D991-5FE1-499B-82D6-BFD203F9CAA6}"/>
              </a:ext>
            </a:extLst>
          </p:cNvPr>
          <p:cNvCxnSpPr/>
          <p:nvPr/>
        </p:nvCxnSpPr>
        <p:spPr>
          <a:xfrm>
            <a:off x="9244047" y="2838142"/>
            <a:ext cx="0" cy="7962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C52C8D04-527C-4F48-8708-F2DA190696AA}"/>
              </a:ext>
            </a:extLst>
          </p:cNvPr>
          <p:cNvCxnSpPr/>
          <p:nvPr/>
        </p:nvCxnSpPr>
        <p:spPr>
          <a:xfrm flipH="1">
            <a:off x="5044764" y="5184920"/>
            <a:ext cx="145608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586767C1-07B5-4DE4-864F-EBC1E406C0FE}"/>
              </a:ext>
            </a:extLst>
          </p:cNvPr>
          <p:cNvSpPr txBox="1"/>
          <p:nvPr/>
        </p:nvSpPr>
        <p:spPr>
          <a:xfrm>
            <a:off x="10653902" y="1789831"/>
            <a:ext cx="1527784" cy="120032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Consider a distribution of random element</a:t>
            </a:r>
          </a:p>
        </p:txBody>
      </p:sp>
      <p:sp>
        <p:nvSpPr>
          <p:cNvPr id="14" name="TextBox 13">
            <a:extLst>
              <a:ext uri="{FF2B5EF4-FFF2-40B4-BE49-F238E27FC236}">
                <a16:creationId xmlns:a16="http://schemas.microsoft.com/office/drawing/2014/main" id="{8F7711D2-D93B-4F66-9C92-D3EADDAC88CB}"/>
              </a:ext>
            </a:extLst>
          </p:cNvPr>
          <p:cNvSpPr txBox="1"/>
          <p:nvPr/>
        </p:nvSpPr>
        <p:spPr>
          <a:xfrm>
            <a:off x="10653902" y="4329650"/>
            <a:ext cx="1288461" cy="92333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Divide them into classes</a:t>
            </a:r>
          </a:p>
        </p:txBody>
      </p:sp>
      <p:sp>
        <p:nvSpPr>
          <p:cNvPr id="15" name="TextBox 14">
            <a:extLst>
              <a:ext uri="{FF2B5EF4-FFF2-40B4-BE49-F238E27FC236}">
                <a16:creationId xmlns:a16="http://schemas.microsoft.com/office/drawing/2014/main" id="{0A1650A4-8EC5-4DD8-AF08-2DB583A805C8}"/>
              </a:ext>
            </a:extLst>
          </p:cNvPr>
          <p:cNvSpPr txBox="1"/>
          <p:nvPr/>
        </p:nvSpPr>
        <p:spPr>
          <a:xfrm>
            <a:off x="10314" y="4827758"/>
            <a:ext cx="1288461" cy="175432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Place the new element at the nearest distance</a:t>
            </a:r>
          </a:p>
        </p:txBody>
      </p:sp>
    </p:spTree>
    <p:extLst>
      <p:ext uri="{BB962C8B-B14F-4D97-AF65-F5344CB8AC3E}">
        <p14:creationId xmlns:p14="http://schemas.microsoft.com/office/powerpoint/2010/main" val="2687351002"/>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DC37F-8AA8-486F-8B14-98202256CAA5}"/>
              </a:ext>
            </a:extLst>
          </p:cNvPr>
          <p:cNvSpPr>
            <a:spLocks noGrp="1"/>
          </p:cNvSpPr>
          <p:nvPr>
            <p:ph type="title"/>
          </p:nvPr>
        </p:nvSpPr>
        <p:spPr/>
        <p:txBody>
          <a:bodyPr/>
          <a:lstStyle/>
          <a:p>
            <a:r>
              <a:rPr lang="en-US" dirty="0"/>
              <a:t>METRICS USED</a:t>
            </a:r>
          </a:p>
        </p:txBody>
      </p:sp>
    </p:spTree>
    <p:extLst>
      <p:ext uri="{BB962C8B-B14F-4D97-AF65-F5344CB8AC3E}">
        <p14:creationId xmlns:p14="http://schemas.microsoft.com/office/powerpoint/2010/main" val="3361254694"/>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4218DF2E-AE7E-4CF2-81B6-1E003E9E3A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674" y="628650"/>
            <a:ext cx="6991351" cy="819150"/>
          </a:xfrm>
          <a:prstGeom prst="rect">
            <a:avLst/>
          </a:prstGeom>
        </p:spPr>
      </p:pic>
      <p:pic>
        <p:nvPicPr>
          <p:cNvPr id="17" name="Picture 16">
            <a:extLst>
              <a:ext uri="{FF2B5EF4-FFF2-40B4-BE49-F238E27FC236}">
                <a16:creationId xmlns:a16="http://schemas.microsoft.com/office/drawing/2014/main" id="{A88B10EB-811C-4776-8ADA-0832FFC80C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6851" y="1809749"/>
            <a:ext cx="6496050" cy="819149"/>
          </a:xfrm>
          <a:prstGeom prst="rect">
            <a:avLst/>
          </a:prstGeom>
        </p:spPr>
      </p:pic>
      <p:pic>
        <p:nvPicPr>
          <p:cNvPr id="19" name="Picture 18">
            <a:extLst>
              <a:ext uri="{FF2B5EF4-FFF2-40B4-BE49-F238E27FC236}">
                <a16:creationId xmlns:a16="http://schemas.microsoft.com/office/drawing/2014/main" id="{3EB95792-0F47-495F-906B-138B9CFB08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7674" y="3019425"/>
            <a:ext cx="6629401" cy="819150"/>
          </a:xfrm>
          <a:prstGeom prst="rect">
            <a:avLst/>
          </a:prstGeom>
        </p:spPr>
      </p:pic>
      <p:pic>
        <p:nvPicPr>
          <p:cNvPr id="21" name="Picture 20">
            <a:extLst>
              <a:ext uri="{FF2B5EF4-FFF2-40B4-BE49-F238E27FC236}">
                <a16:creationId xmlns:a16="http://schemas.microsoft.com/office/drawing/2014/main" id="{983048AF-7807-4B03-BB09-4205D5EA58B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39025" y="4000499"/>
            <a:ext cx="3990975" cy="933451"/>
          </a:xfrm>
          <a:prstGeom prst="rect">
            <a:avLst/>
          </a:prstGeom>
        </p:spPr>
      </p:pic>
      <p:pic>
        <p:nvPicPr>
          <p:cNvPr id="23" name="Picture 22">
            <a:extLst>
              <a:ext uri="{FF2B5EF4-FFF2-40B4-BE49-F238E27FC236}">
                <a16:creationId xmlns:a16="http://schemas.microsoft.com/office/drawing/2014/main" id="{9C6A4328-3D51-441B-B499-72C91BC04F3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3437" y="5591173"/>
            <a:ext cx="4262438" cy="819149"/>
          </a:xfrm>
          <a:prstGeom prst="rect">
            <a:avLst/>
          </a:prstGeom>
        </p:spPr>
      </p:pic>
    </p:spTree>
    <p:extLst>
      <p:ext uri="{BB962C8B-B14F-4D97-AF65-F5344CB8AC3E}">
        <p14:creationId xmlns:p14="http://schemas.microsoft.com/office/powerpoint/2010/main" val="1865377324"/>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46C07-1513-416E-B07F-9BEE666C5847}"/>
              </a:ext>
            </a:extLst>
          </p:cNvPr>
          <p:cNvSpPr>
            <a:spLocks noGrp="1"/>
          </p:cNvSpPr>
          <p:nvPr>
            <p:ph type="title"/>
          </p:nvPr>
        </p:nvSpPr>
        <p:spPr/>
        <p:txBody>
          <a:bodyPr/>
          <a:lstStyle/>
          <a:p>
            <a:pPr algn="ctr"/>
            <a:r>
              <a:rPr lang="en-IN" dirty="0"/>
              <a:t>F1 measure vs F2 measure</a:t>
            </a:r>
          </a:p>
        </p:txBody>
      </p:sp>
      <p:sp>
        <p:nvSpPr>
          <p:cNvPr id="3" name="Content Placeholder 2">
            <a:extLst>
              <a:ext uri="{FF2B5EF4-FFF2-40B4-BE49-F238E27FC236}">
                <a16:creationId xmlns:a16="http://schemas.microsoft.com/office/drawing/2014/main" id="{EBEF11EB-2DA6-4734-AB5D-38892B895954}"/>
              </a:ext>
            </a:extLst>
          </p:cNvPr>
          <p:cNvSpPr>
            <a:spLocks noGrp="1"/>
          </p:cNvSpPr>
          <p:nvPr>
            <p:ph idx="1"/>
          </p:nvPr>
        </p:nvSpPr>
        <p:spPr/>
        <p:txBody>
          <a:bodyPr/>
          <a:lstStyle/>
          <a:p>
            <a:r>
              <a:rPr lang="en-IN" dirty="0">
                <a:latin typeface="Algerian" panose="04020705040A02060702" pitchFamily="82" charset="0"/>
              </a:rPr>
              <a:t>We aim to measure the accuracy of our tool using F-score</a:t>
            </a:r>
          </a:p>
          <a:p>
            <a:r>
              <a:rPr lang="en-IN" dirty="0">
                <a:latin typeface="Algerian" panose="04020705040A02060702" pitchFamily="82" charset="0"/>
              </a:rPr>
              <a:t>F-score does this using precision and recall values</a:t>
            </a:r>
          </a:p>
          <a:p>
            <a:r>
              <a:rPr lang="en-IN" dirty="0">
                <a:latin typeface="Algerian" panose="04020705040A02060702" pitchFamily="82" charset="0"/>
              </a:rPr>
              <a:t>Since we want to assign equal weightage to both precision and recall we will be utilising the F1 Measure</a:t>
            </a:r>
          </a:p>
          <a:p>
            <a:r>
              <a:rPr lang="en-US" dirty="0">
                <a:latin typeface="Algerian" panose="04020705040A02060702" pitchFamily="82" charset="0"/>
              </a:rPr>
              <a:t>We would prefer not to leave any "bad" guy escape without being apprehended and on the same hand we don't wish to flag any "good" guy incorrectly.</a:t>
            </a:r>
          </a:p>
          <a:p>
            <a:r>
              <a:rPr lang="en-US" dirty="0">
                <a:latin typeface="Algerian" panose="04020705040A02060702" pitchFamily="82" charset="0"/>
              </a:rPr>
              <a:t>As with an increase in the value of </a:t>
            </a:r>
            <a:r>
              <a:rPr lang="el-GR" dirty="0"/>
              <a:t>β</a:t>
            </a:r>
            <a:r>
              <a:rPr lang="en-IN" dirty="0">
                <a:latin typeface="Algerian" panose="04020705040A02060702" pitchFamily="82" charset="0"/>
              </a:rPr>
              <a:t>, the weightage given to recall increases, we feel that the F1 measure would be most appropriate</a:t>
            </a:r>
            <a:endParaRPr lang="en-US" dirty="0">
              <a:latin typeface="Algerian" panose="04020705040A02060702" pitchFamily="82" charset="0"/>
            </a:endParaRPr>
          </a:p>
          <a:p>
            <a:endParaRPr lang="en-IN" dirty="0">
              <a:latin typeface="Algerian" panose="04020705040A02060702" pitchFamily="82" charset="0"/>
            </a:endParaRPr>
          </a:p>
        </p:txBody>
      </p:sp>
    </p:spTree>
    <p:extLst>
      <p:ext uri="{BB962C8B-B14F-4D97-AF65-F5344CB8AC3E}">
        <p14:creationId xmlns:p14="http://schemas.microsoft.com/office/powerpoint/2010/main" val="1503668911"/>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AD99F-3A14-474F-821E-3B7C6B6C6B1E}"/>
              </a:ext>
            </a:extLst>
          </p:cNvPr>
          <p:cNvSpPr>
            <a:spLocks noGrp="1"/>
          </p:cNvSpPr>
          <p:nvPr>
            <p:ph type="title"/>
          </p:nvPr>
        </p:nvSpPr>
        <p:spPr/>
        <p:txBody>
          <a:bodyPr/>
          <a:lstStyle/>
          <a:p>
            <a:r>
              <a:rPr lang="en-US" dirty="0"/>
              <a:t>Code snippets</a:t>
            </a:r>
          </a:p>
        </p:txBody>
      </p:sp>
    </p:spTree>
    <p:extLst>
      <p:ext uri="{BB962C8B-B14F-4D97-AF65-F5344CB8AC3E}">
        <p14:creationId xmlns:p14="http://schemas.microsoft.com/office/powerpoint/2010/main" val="2526431715"/>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2A313B03-D361-4EC9-AF52-0B3C1C92C2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1" name="Oval 10">
              <a:extLst>
                <a:ext uri="{FF2B5EF4-FFF2-40B4-BE49-F238E27FC236}">
                  <a16:creationId xmlns:a16="http://schemas.microsoft.com/office/drawing/2014/main" id="{5E79CB85-A08A-4579-86F6-A8AA97551B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2" name="Oval 11">
              <a:extLst>
                <a:ext uri="{FF2B5EF4-FFF2-40B4-BE49-F238E27FC236}">
                  <a16:creationId xmlns:a16="http://schemas.microsoft.com/office/drawing/2014/main" id="{D6C61C9C-364D-4CB6-B9D1-1A6F50F6A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sp>
      </p:grpSp>
      <p:sp useBgFill="1">
        <p:nvSpPr>
          <p:cNvPr id="21" name="Rectangle 13">
            <a:extLst>
              <a:ext uri="{FF2B5EF4-FFF2-40B4-BE49-F238E27FC236}">
                <a16:creationId xmlns:a16="http://schemas.microsoft.com/office/drawing/2014/main" id="{9C9664EF-0D74-4781-B4B4-646A93B50B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4C0CC2-F056-47AD-A361-F33F5EE97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999"/>
          </a:xfrm>
          <a:prstGeom prst="rect">
            <a:avLst/>
          </a:prstGeom>
          <a:blipFill dpi="0" rotWithShape="1">
            <a:blip r:embed="rId4">
              <a:alphaModFix amt="60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18" name="Rectangle 17">
            <a:extLst>
              <a:ext uri="{FF2B5EF4-FFF2-40B4-BE49-F238E27FC236}">
                <a16:creationId xmlns:a16="http://schemas.microsoft.com/office/drawing/2014/main" id="{CD560C9F-7A8F-4FBA-BD3A-EB75B62E45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ln w="22225">
            <a:solidFill>
              <a:srgbClr val="D7D9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 shot of a smart phone&#10;&#10;Description automatically generated">
            <a:extLst>
              <a:ext uri="{FF2B5EF4-FFF2-40B4-BE49-F238E27FC236}">
                <a16:creationId xmlns:a16="http://schemas.microsoft.com/office/drawing/2014/main" id="{85B77F93-CFA2-405D-8312-855D9DADFC6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4332" y="1072911"/>
            <a:ext cx="10577744" cy="4707094"/>
          </a:xfrm>
          <a:prstGeom prst="rect">
            <a:avLst/>
          </a:prstGeom>
        </p:spPr>
      </p:pic>
    </p:spTree>
    <p:extLst>
      <p:ext uri="{BB962C8B-B14F-4D97-AF65-F5344CB8AC3E}">
        <p14:creationId xmlns:p14="http://schemas.microsoft.com/office/powerpoint/2010/main" val="3946414489"/>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5" name="Group 9">
            <a:extLst>
              <a:ext uri="{FF2B5EF4-FFF2-40B4-BE49-F238E27FC236}">
                <a16:creationId xmlns:a16="http://schemas.microsoft.com/office/drawing/2014/main" id="{2A313B03-D361-4EC9-AF52-0B3C1C92C2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1" name="Oval 10">
              <a:extLst>
                <a:ext uri="{FF2B5EF4-FFF2-40B4-BE49-F238E27FC236}">
                  <a16:creationId xmlns:a16="http://schemas.microsoft.com/office/drawing/2014/main" id="{5E79CB85-A08A-4579-86F6-A8AA97551B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2" name="Oval 11">
              <a:extLst>
                <a:ext uri="{FF2B5EF4-FFF2-40B4-BE49-F238E27FC236}">
                  <a16:creationId xmlns:a16="http://schemas.microsoft.com/office/drawing/2014/main" id="{D6C61C9C-364D-4CB6-B9D1-1A6F50F6A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sp>
      </p:grpSp>
      <p:sp useBgFill="1">
        <p:nvSpPr>
          <p:cNvPr id="14" name="Rectangle 13">
            <a:extLst>
              <a:ext uri="{FF2B5EF4-FFF2-40B4-BE49-F238E27FC236}">
                <a16:creationId xmlns:a16="http://schemas.microsoft.com/office/drawing/2014/main" id="{9C9664EF-0D74-4781-B4B4-646A93B50B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4C0CC2-F056-47AD-A361-F33F5EE97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999"/>
          </a:xfrm>
          <a:prstGeom prst="rect">
            <a:avLst/>
          </a:prstGeom>
          <a:blipFill dpi="0" rotWithShape="1">
            <a:blip r:embed="rId4">
              <a:alphaModFix amt="60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18" name="Rectangle 17">
            <a:extLst>
              <a:ext uri="{FF2B5EF4-FFF2-40B4-BE49-F238E27FC236}">
                <a16:creationId xmlns:a16="http://schemas.microsoft.com/office/drawing/2014/main" id="{CD560C9F-7A8F-4FBA-BD3A-EB75B62E45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ln w="22225">
            <a:solidFill>
              <a:srgbClr val="36E5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ell phone&#10;&#10;Description automatically generated">
            <a:extLst>
              <a:ext uri="{FF2B5EF4-FFF2-40B4-BE49-F238E27FC236}">
                <a16:creationId xmlns:a16="http://schemas.microsoft.com/office/drawing/2014/main" id="{73964A89-5168-443C-ABB2-8A28868C7B7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4332" y="874074"/>
            <a:ext cx="10577744" cy="5104767"/>
          </a:xfrm>
          <a:prstGeom prst="rect">
            <a:avLst/>
          </a:prstGeom>
        </p:spPr>
      </p:pic>
    </p:spTree>
    <p:extLst>
      <p:ext uri="{BB962C8B-B14F-4D97-AF65-F5344CB8AC3E}">
        <p14:creationId xmlns:p14="http://schemas.microsoft.com/office/powerpoint/2010/main" val="2857969570"/>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2A313B03-D361-4EC9-AF52-0B3C1C92C2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1" name="Oval 10">
              <a:extLst>
                <a:ext uri="{FF2B5EF4-FFF2-40B4-BE49-F238E27FC236}">
                  <a16:creationId xmlns:a16="http://schemas.microsoft.com/office/drawing/2014/main" id="{5E79CB85-A08A-4579-86F6-A8AA97551B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2" name="Oval 11">
              <a:extLst>
                <a:ext uri="{FF2B5EF4-FFF2-40B4-BE49-F238E27FC236}">
                  <a16:creationId xmlns:a16="http://schemas.microsoft.com/office/drawing/2014/main" id="{D6C61C9C-364D-4CB6-B9D1-1A6F50F6A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sp>
      </p:grpSp>
      <p:sp useBgFill="1">
        <p:nvSpPr>
          <p:cNvPr id="14" name="Rectangle 13">
            <a:extLst>
              <a:ext uri="{FF2B5EF4-FFF2-40B4-BE49-F238E27FC236}">
                <a16:creationId xmlns:a16="http://schemas.microsoft.com/office/drawing/2014/main" id="{9C9664EF-0D74-4781-B4B4-646A93B50B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4C0CC2-F056-47AD-A361-F33F5EE97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999"/>
          </a:xfrm>
          <a:prstGeom prst="rect">
            <a:avLst/>
          </a:prstGeom>
          <a:blipFill dpi="0" rotWithShape="1">
            <a:blip r:embed="rId4">
              <a:alphaModFix amt="60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18" name="Rectangle 17">
            <a:extLst>
              <a:ext uri="{FF2B5EF4-FFF2-40B4-BE49-F238E27FC236}">
                <a16:creationId xmlns:a16="http://schemas.microsoft.com/office/drawing/2014/main" id="{CD560C9F-7A8F-4FBA-BD3A-EB75B62E45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ln w="22225">
            <a:solidFill>
              <a:srgbClr val="45CAD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 shot of a social media post&#10;&#10;Description automatically generated">
            <a:extLst>
              <a:ext uri="{FF2B5EF4-FFF2-40B4-BE49-F238E27FC236}">
                <a16:creationId xmlns:a16="http://schemas.microsoft.com/office/drawing/2014/main" id="{A9EFEE2D-8FC7-4244-AC56-118B65CF690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4332" y="1443131"/>
            <a:ext cx="10577744" cy="3966653"/>
          </a:xfrm>
          <a:prstGeom prst="rect">
            <a:avLst/>
          </a:prstGeom>
        </p:spPr>
      </p:pic>
    </p:spTree>
    <p:extLst>
      <p:ext uri="{BB962C8B-B14F-4D97-AF65-F5344CB8AC3E}">
        <p14:creationId xmlns:p14="http://schemas.microsoft.com/office/powerpoint/2010/main" val="104719533"/>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2A313B03-D361-4EC9-AF52-0B3C1C92C2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1" name="Oval 10">
              <a:extLst>
                <a:ext uri="{FF2B5EF4-FFF2-40B4-BE49-F238E27FC236}">
                  <a16:creationId xmlns:a16="http://schemas.microsoft.com/office/drawing/2014/main" id="{5E79CB85-A08A-4579-86F6-A8AA97551B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2" name="Oval 11">
              <a:extLst>
                <a:ext uri="{FF2B5EF4-FFF2-40B4-BE49-F238E27FC236}">
                  <a16:creationId xmlns:a16="http://schemas.microsoft.com/office/drawing/2014/main" id="{D6C61C9C-364D-4CB6-B9D1-1A6F50F6A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sp>
      </p:grpSp>
      <p:sp useBgFill="1">
        <p:nvSpPr>
          <p:cNvPr id="14" name="Rectangle 13">
            <a:extLst>
              <a:ext uri="{FF2B5EF4-FFF2-40B4-BE49-F238E27FC236}">
                <a16:creationId xmlns:a16="http://schemas.microsoft.com/office/drawing/2014/main" id="{9C9664EF-0D74-4781-B4B4-646A93B50B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4C0CC2-F056-47AD-A361-F33F5EE97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999"/>
          </a:xfrm>
          <a:prstGeom prst="rect">
            <a:avLst/>
          </a:prstGeom>
          <a:blipFill dpi="0" rotWithShape="1">
            <a:blip r:embed="rId4">
              <a:alphaModFix amt="60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18" name="Rectangle 17">
            <a:extLst>
              <a:ext uri="{FF2B5EF4-FFF2-40B4-BE49-F238E27FC236}">
                <a16:creationId xmlns:a16="http://schemas.microsoft.com/office/drawing/2014/main" id="{CD560C9F-7A8F-4FBA-BD3A-EB75B62E45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ln w="22225">
            <a:solidFill>
              <a:srgbClr val="34CD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lose up of a black background&#10;&#10;Description automatically generated">
            <a:extLst>
              <a:ext uri="{FF2B5EF4-FFF2-40B4-BE49-F238E27FC236}">
                <a16:creationId xmlns:a16="http://schemas.microsoft.com/office/drawing/2014/main" id="{04C08E68-8150-4198-A656-FA0388AC242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4332" y="1059689"/>
            <a:ext cx="10577744" cy="4733537"/>
          </a:xfrm>
          <a:prstGeom prst="rect">
            <a:avLst/>
          </a:prstGeom>
        </p:spPr>
      </p:pic>
    </p:spTree>
    <p:extLst>
      <p:ext uri="{BB962C8B-B14F-4D97-AF65-F5344CB8AC3E}">
        <p14:creationId xmlns:p14="http://schemas.microsoft.com/office/powerpoint/2010/main" val="3814743425"/>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5E7D2-3D81-4972-AB1F-739E11E0C1FE}"/>
              </a:ext>
            </a:extLst>
          </p:cNvPr>
          <p:cNvSpPr>
            <a:spLocks noGrp="1"/>
          </p:cNvSpPr>
          <p:nvPr>
            <p:ph type="title"/>
          </p:nvPr>
        </p:nvSpPr>
        <p:spPr/>
        <p:txBody>
          <a:bodyPr/>
          <a:lstStyle/>
          <a:p>
            <a:pPr algn="ctr"/>
            <a:r>
              <a:rPr lang="en-IN" dirty="0"/>
              <a:t>Market Analysis</a:t>
            </a:r>
          </a:p>
        </p:txBody>
      </p:sp>
      <p:sp>
        <p:nvSpPr>
          <p:cNvPr id="3" name="Content Placeholder 2">
            <a:extLst>
              <a:ext uri="{FF2B5EF4-FFF2-40B4-BE49-F238E27FC236}">
                <a16:creationId xmlns:a16="http://schemas.microsoft.com/office/drawing/2014/main" id="{3B6DABEA-9A3D-4AAC-8869-D6AA17985253}"/>
              </a:ext>
            </a:extLst>
          </p:cNvPr>
          <p:cNvSpPr>
            <a:spLocks noGrp="1"/>
          </p:cNvSpPr>
          <p:nvPr>
            <p:ph idx="1"/>
          </p:nvPr>
        </p:nvSpPr>
        <p:spPr/>
        <p:txBody>
          <a:bodyPr>
            <a:normAutofit/>
          </a:bodyPr>
          <a:lstStyle/>
          <a:p>
            <a:r>
              <a:rPr lang="en-IN" sz="2400" dirty="0">
                <a:latin typeface="Algerian" panose="04020705040A02060702" pitchFamily="82" charset="0"/>
              </a:rPr>
              <a:t>There are no such tools that are available at a commercial level</a:t>
            </a:r>
          </a:p>
          <a:p>
            <a:r>
              <a:rPr lang="en-IN" sz="2400" dirty="0">
                <a:latin typeface="Algerian" panose="04020705040A02060702" pitchFamily="82" charset="0"/>
              </a:rPr>
              <a:t>Tools like Net Nanny, </a:t>
            </a:r>
            <a:r>
              <a:rPr lang="en-IN" sz="2400" dirty="0" err="1">
                <a:latin typeface="Algerian" panose="04020705040A02060702" pitchFamily="82" charset="0"/>
              </a:rPr>
              <a:t>IamBigBrother</a:t>
            </a:r>
            <a:r>
              <a:rPr lang="en-IN" sz="2400" dirty="0">
                <a:latin typeface="Algerian" panose="04020705040A02060702" pitchFamily="82" charset="0"/>
              </a:rPr>
              <a:t> and </a:t>
            </a:r>
            <a:r>
              <a:rPr lang="en-IN" sz="2400" dirty="0" err="1">
                <a:latin typeface="Algerian" panose="04020705040A02060702" pitchFamily="82" charset="0"/>
              </a:rPr>
              <a:t>eBlaster</a:t>
            </a:r>
            <a:r>
              <a:rPr lang="en-IN" sz="2400" dirty="0">
                <a:latin typeface="Algerian" panose="04020705040A02060702" pitchFamily="82" charset="0"/>
              </a:rPr>
              <a:t> mentioned in earlier slides allow monitoring of systems remotely as well as imposing certain restrictions and aim to provide protection through either blocking access to certain types of sites completely or by detection of certain keywords in messages exchanged</a:t>
            </a:r>
          </a:p>
          <a:p>
            <a:r>
              <a:rPr lang="en-IN" sz="2400" dirty="0">
                <a:latin typeface="Algerian" panose="04020705040A02060702" pitchFamily="82" charset="0"/>
              </a:rPr>
              <a:t>Our tool aims to provide a higher level of protection by going through comments and monitoring user activity to detect for the slightest hint of suspicious behaviour</a:t>
            </a:r>
          </a:p>
        </p:txBody>
      </p:sp>
    </p:spTree>
    <p:extLst>
      <p:ext uri="{BB962C8B-B14F-4D97-AF65-F5344CB8AC3E}">
        <p14:creationId xmlns:p14="http://schemas.microsoft.com/office/powerpoint/2010/main" val="1909265427"/>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6D21E-6B3E-4CC9-83C7-63A4E0764383}"/>
              </a:ext>
            </a:extLst>
          </p:cNvPr>
          <p:cNvSpPr>
            <a:spLocks noGrp="1"/>
          </p:cNvSpPr>
          <p:nvPr>
            <p:ph type="ctrTitle"/>
          </p:nvPr>
        </p:nvSpPr>
        <p:spPr/>
        <p:txBody>
          <a:bodyPr/>
          <a:lstStyle/>
          <a:p>
            <a:r>
              <a:rPr lang="en-US" sz="19900" dirty="0"/>
              <a:t>THANK YOU</a:t>
            </a:r>
          </a:p>
        </p:txBody>
      </p:sp>
    </p:spTree>
    <p:extLst>
      <p:ext uri="{BB962C8B-B14F-4D97-AF65-F5344CB8AC3E}">
        <p14:creationId xmlns:p14="http://schemas.microsoft.com/office/powerpoint/2010/main" val="1788039798"/>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197</TotalTime>
  <Words>2203</Words>
  <Application>Microsoft Office PowerPoint</Application>
  <PresentationFormat>Widescreen</PresentationFormat>
  <Paragraphs>145</Paragraphs>
  <Slides>47</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47</vt:i4>
      </vt:variant>
    </vt:vector>
  </HeadingPairs>
  <TitlesOfParts>
    <vt:vector size="57" baseType="lpstr">
      <vt:lpstr>Algerian</vt:lpstr>
      <vt:lpstr>Arial</vt:lpstr>
      <vt:lpstr>Calibri</vt:lpstr>
      <vt:lpstr>Calibri Light</vt:lpstr>
      <vt:lpstr>Cambria</vt:lpstr>
      <vt:lpstr>Rockwell</vt:lpstr>
      <vt:lpstr>Rockwell Condensed</vt:lpstr>
      <vt:lpstr>Wingdings</vt:lpstr>
      <vt:lpstr>Wood Type</vt:lpstr>
      <vt:lpstr>Office Theme</vt:lpstr>
      <vt:lpstr>Ministry/Organization name: Bureau of Police Research and Development Problem Statement:  Detection of Child Predators/Cyber Harassers on Social Media  Team Name:  Kryptonite Team Leader Name: V. Pratishtha Sharma  College Code:  U-0642</vt:lpstr>
      <vt:lpstr>Idea/Approach details</vt:lpstr>
      <vt:lpstr>Idea/Approach details</vt:lpstr>
      <vt:lpstr>What IS THE PROBLEM?</vt:lpstr>
      <vt:lpstr>PowerPoint Presentation</vt:lpstr>
      <vt:lpstr>PowerPoint Presentation</vt:lpstr>
      <vt:lpstr>PowerPoint Presentation</vt:lpstr>
      <vt:lpstr>PowerPoint Presentation</vt:lpstr>
      <vt:lpstr>PowerPoint Presentation</vt:lpstr>
      <vt:lpstr>Why tackle this problem?</vt:lpstr>
      <vt:lpstr>PowerPoint Presentation</vt:lpstr>
      <vt:lpstr>WHAT CAN BE DONE?</vt:lpstr>
      <vt:lpstr>PowerPoint Presentation</vt:lpstr>
      <vt:lpstr>Literature Review of existing algorithms</vt:lpstr>
      <vt:lpstr>Escalante, Hugo Jair et al. “Sexual predator detection in chats with chained classifiers.” WASSA@NAACL-HLT (2013).</vt:lpstr>
      <vt:lpstr>Miah, Md. Waliur Rahman et al. “Detection of child exploiting chats from a mixed chat dataset as a text classification task.” ALTA (2011).</vt:lpstr>
      <vt:lpstr>Nandhini, B. Sri and J. I. Sheeba. “Online Social Network Bullying Detection Using Intelligence Techniques.” (2015).</vt:lpstr>
      <vt:lpstr>Huang, Qianjia et al. “Cyber Bullying Detection Using Social and Textual Analysis.” SAM@MM (2014).</vt:lpstr>
      <vt:lpstr>EXISTING TOOLS AND the NEED TO IMPROVE</vt:lpstr>
      <vt:lpstr>PowerPoint Presentation</vt:lpstr>
      <vt:lpstr>PROPOSED SOLUTION</vt:lpstr>
      <vt:lpstr>PowerPoint Presentation</vt:lpstr>
      <vt:lpstr>Dataset and technology stack used</vt:lpstr>
      <vt:lpstr>High-level solution</vt:lpstr>
      <vt:lpstr>PowerPoint Presentation</vt:lpstr>
      <vt:lpstr>APPROACH </vt:lpstr>
      <vt:lpstr>PowerPoint Presentation</vt:lpstr>
      <vt:lpstr>PowerPoint Presentation</vt:lpstr>
      <vt:lpstr>Proposed 3-phase suspect classification Algorithm</vt:lpstr>
      <vt:lpstr>PowerPoint Presentation</vt:lpstr>
      <vt:lpstr>PowerPoint Presentation</vt:lpstr>
      <vt:lpstr>PowerPoint Presentation</vt:lpstr>
      <vt:lpstr>Machine learning Models employed</vt:lpstr>
      <vt:lpstr>PowerPoint Presentation</vt:lpstr>
      <vt:lpstr>PowerPoint Presentation</vt:lpstr>
      <vt:lpstr>PowerPoint Presentation</vt:lpstr>
      <vt:lpstr>PowerPoint Presentation</vt:lpstr>
      <vt:lpstr>METRICS USED</vt:lpstr>
      <vt:lpstr>PowerPoint Presentation</vt:lpstr>
      <vt:lpstr>F1 measure vs F2 measure</vt:lpstr>
      <vt:lpstr>Code snippets</vt:lpstr>
      <vt:lpstr>PowerPoint Presentation</vt:lpstr>
      <vt:lpstr>PowerPoint Presentation</vt:lpstr>
      <vt:lpstr>PowerPoint Presentation</vt:lpstr>
      <vt:lpstr>PowerPoint Presentation</vt:lpstr>
      <vt:lpstr>Market Analysis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THE PROBLEM?</dc:title>
  <dc:creator>Pratishtha Sharma</dc:creator>
  <cp:lastModifiedBy>Kabir Kanha</cp:lastModifiedBy>
  <cp:revision>26</cp:revision>
  <dcterms:created xsi:type="dcterms:W3CDTF">2020-02-18T20:19:09Z</dcterms:created>
  <dcterms:modified xsi:type="dcterms:W3CDTF">2020-02-19T12:02:45Z</dcterms:modified>
</cp:coreProperties>
</file>