
<file path=[Content_Types].xml><?xml version="1.0" encoding="utf-8"?>
<Types xmlns="http://schemas.openxmlformats.org/package/2006/content-types">
  <Default Extension="png" ContentType="image/png"/>
  <Default Extension="pdf" ContentType="application/pdf"/>
  <Default Extension="jpeg" ContentType="image/jpeg"/>
  <Default Extension="emf" ContentType="image/x-emf"/>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71" r:id="rId1"/>
  </p:sldMasterIdLst>
  <p:notesMasterIdLst>
    <p:notesMasterId r:id="rId22"/>
  </p:notesMasterIdLst>
  <p:handoutMasterIdLst>
    <p:handoutMasterId r:id="rId23"/>
  </p:handoutMasterIdLst>
  <p:sldIdLst>
    <p:sldId id="300" r:id="rId2"/>
    <p:sldId id="257" r:id="rId3"/>
    <p:sldId id="472" r:id="rId4"/>
    <p:sldId id="260" r:id="rId5"/>
    <p:sldId id="320" r:id="rId6"/>
    <p:sldId id="467" r:id="rId7"/>
    <p:sldId id="480" r:id="rId8"/>
    <p:sldId id="473" r:id="rId9"/>
    <p:sldId id="326" r:id="rId10"/>
    <p:sldId id="323" r:id="rId11"/>
    <p:sldId id="280" r:id="rId12"/>
    <p:sldId id="341" r:id="rId13"/>
    <p:sldId id="476" r:id="rId14"/>
    <p:sldId id="313" r:id="rId15"/>
    <p:sldId id="292" r:id="rId16"/>
    <p:sldId id="366" r:id="rId17"/>
    <p:sldId id="367" r:id="rId18"/>
    <p:sldId id="342" r:id="rId19"/>
    <p:sldId id="479" r:id="rId20"/>
    <p:sldId id="481" r:id="rId21"/>
  </p:sldIdLst>
  <p:sldSz cx="9144000" cy="6858000" type="screen4x3"/>
  <p:notesSz cx="6858000" cy="9144000"/>
  <p:kinsoku lang="ja-JP" invalStChars="、。，．・：；？！゛゜ヽヾゝゞ々ー’”）〕］｝〉》」』】°‰′″℃￠％ぁぃぅぇぉっゃゅょゎァィゥェォッャュョヮヵヶ!%),.:;?]}｡｣､･ｧｨｩｪｫｬｭｮｯｰﾞﾟ" invalEndChars="‘“（〔［｛〈《「『【￥＄$([\{｢￡"/>
  <p:defaultTextStyle>
    <a:defPPr>
      <a:defRPr lang="en-US"/>
    </a:defPPr>
    <a:lvl1pPr algn="l" rtl="0" eaLnBrk="0" fontAlgn="base" hangingPunct="0">
      <a:spcBef>
        <a:spcPct val="0"/>
      </a:spcBef>
      <a:spcAft>
        <a:spcPct val="0"/>
      </a:spcAft>
      <a:defRPr sz="2400" kern="1200">
        <a:solidFill>
          <a:schemeClr val="tx1"/>
        </a:solidFill>
        <a:latin typeface="Times New Roman" pitchFamily="-1" charset="0"/>
        <a:ea typeface="+mn-ea"/>
        <a:cs typeface="+mn-cs"/>
      </a:defRPr>
    </a:lvl1pPr>
    <a:lvl2pPr marL="457200" algn="l" rtl="0" eaLnBrk="0" fontAlgn="base" hangingPunct="0">
      <a:spcBef>
        <a:spcPct val="0"/>
      </a:spcBef>
      <a:spcAft>
        <a:spcPct val="0"/>
      </a:spcAft>
      <a:defRPr sz="2400" kern="1200">
        <a:solidFill>
          <a:schemeClr val="tx1"/>
        </a:solidFill>
        <a:latin typeface="Times New Roman" pitchFamily="-1" charset="0"/>
        <a:ea typeface="+mn-ea"/>
        <a:cs typeface="+mn-cs"/>
      </a:defRPr>
    </a:lvl2pPr>
    <a:lvl3pPr marL="914400" algn="l" rtl="0" eaLnBrk="0" fontAlgn="base" hangingPunct="0">
      <a:spcBef>
        <a:spcPct val="0"/>
      </a:spcBef>
      <a:spcAft>
        <a:spcPct val="0"/>
      </a:spcAft>
      <a:defRPr sz="2400" kern="1200">
        <a:solidFill>
          <a:schemeClr val="tx1"/>
        </a:solidFill>
        <a:latin typeface="Times New Roman" pitchFamily="-1" charset="0"/>
        <a:ea typeface="+mn-ea"/>
        <a:cs typeface="+mn-cs"/>
      </a:defRPr>
    </a:lvl3pPr>
    <a:lvl4pPr marL="1371600" algn="l" rtl="0" eaLnBrk="0" fontAlgn="base" hangingPunct="0">
      <a:spcBef>
        <a:spcPct val="0"/>
      </a:spcBef>
      <a:spcAft>
        <a:spcPct val="0"/>
      </a:spcAft>
      <a:defRPr sz="2400" kern="1200">
        <a:solidFill>
          <a:schemeClr val="tx1"/>
        </a:solidFill>
        <a:latin typeface="Times New Roman" pitchFamily="-1" charset="0"/>
        <a:ea typeface="+mn-ea"/>
        <a:cs typeface="+mn-cs"/>
      </a:defRPr>
    </a:lvl4pPr>
    <a:lvl5pPr marL="1828800" algn="l" rtl="0" eaLnBrk="0" fontAlgn="base" hangingPunct="0">
      <a:spcBef>
        <a:spcPct val="0"/>
      </a:spcBef>
      <a:spcAft>
        <a:spcPct val="0"/>
      </a:spcAft>
      <a:defRPr sz="2400" kern="1200">
        <a:solidFill>
          <a:schemeClr val="tx1"/>
        </a:solidFill>
        <a:latin typeface="Times New Roman" pitchFamily="-1" charset="0"/>
        <a:ea typeface="+mn-ea"/>
        <a:cs typeface="+mn-cs"/>
      </a:defRPr>
    </a:lvl5pPr>
    <a:lvl6pPr marL="2286000" algn="l" defTabSz="457200" rtl="0" eaLnBrk="1" latinLnBrk="0" hangingPunct="1">
      <a:defRPr sz="2400" kern="1200">
        <a:solidFill>
          <a:schemeClr val="tx1"/>
        </a:solidFill>
        <a:latin typeface="Times New Roman" pitchFamily="-1" charset="0"/>
        <a:ea typeface="+mn-ea"/>
        <a:cs typeface="+mn-cs"/>
      </a:defRPr>
    </a:lvl6pPr>
    <a:lvl7pPr marL="2743200" algn="l" defTabSz="457200" rtl="0" eaLnBrk="1" latinLnBrk="0" hangingPunct="1">
      <a:defRPr sz="2400" kern="1200">
        <a:solidFill>
          <a:schemeClr val="tx1"/>
        </a:solidFill>
        <a:latin typeface="Times New Roman" pitchFamily="-1" charset="0"/>
        <a:ea typeface="+mn-ea"/>
        <a:cs typeface="+mn-cs"/>
      </a:defRPr>
    </a:lvl7pPr>
    <a:lvl8pPr marL="3200400" algn="l" defTabSz="457200" rtl="0" eaLnBrk="1" latinLnBrk="0" hangingPunct="1">
      <a:defRPr sz="2400" kern="1200">
        <a:solidFill>
          <a:schemeClr val="tx1"/>
        </a:solidFill>
        <a:latin typeface="Times New Roman" pitchFamily="-1" charset="0"/>
        <a:ea typeface="+mn-ea"/>
        <a:cs typeface="+mn-cs"/>
      </a:defRPr>
    </a:lvl8pPr>
    <a:lvl9pPr marL="3657600" algn="l" defTabSz="457200" rtl="0" eaLnBrk="1" latinLnBrk="0" hangingPunct="1">
      <a:defRPr sz="2400" kern="1200">
        <a:solidFill>
          <a:schemeClr val="tx1"/>
        </a:solidFill>
        <a:latin typeface="Times New Roman" pitchFamily="-1" charset="0"/>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useTimings="0">
    <p:present/>
    <p:sldAll/>
    <p:penClr>
      <a:schemeClr val="tx1"/>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lastView="sldSorterView">
  <p:normalViewPr horzBarState="maximized">
    <p:restoredLeft sz="23615" autoAdjust="0"/>
    <p:restoredTop sz="94434" autoAdjust="0"/>
  </p:normalViewPr>
  <p:slideViewPr>
    <p:cSldViewPr>
      <p:cViewPr varScale="1">
        <p:scale>
          <a:sx n="110" d="100"/>
          <a:sy n="110" d="100"/>
        </p:scale>
        <p:origin x="1266" y="102"/>
      </p:cViewPr>
      <p:guideLst>
        <p:guide orient="horz" pos="2160"/>
        <p:guide pos="2880"/>
      </p:guideLst>
    </p:cSldViewPr>
  </p:slideViewPr>
  <p:outlineViewPr>
    <p:cViewPr>
      <p:scale>
        <a:sx n="33" d="100"/>
        <a:sy n="33" d="100"/>
      </p:scale>
      <p:origin x="0" y="0"/>
    </p:cViewPr>
    <p:sldLst>
      <p:sld r:id="rId1" collapse="1"/>
      <p:sld r:id="rId2" collapse="1"/>
      <p:sld r:id="rId3" collapse="1"/>
      <p:sld r:id="rId4" collapse="1"/>
    </p:sldLst>
  </p:outlineViewPr>
  <p:notesTextViewPr>
    <p:cViewPr>
      <p:scale>
        <a:sx n="100" d="100"/>
        <a:sy n="100" d="100"/>
      </p:scale>
      <p:origin x="0" y="0"/>
    </p:cViewPr>
  </p:notesTextViewPr>
  <p:sorterViewPr>
    <p:cViewPr varScale="1">
      <p:scale>
        <a:sx n="1" d="1"/>
        <a:sy n="1" d="1"/>
      </p:scale>
      <p:origin x="0" y="-756"/>
    </p:cViewPr>
  </p:sorter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theme" Target="theme/theme1.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viewProps" Target="viewProp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presProps" Target="pres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notesMaster" Target="notesMasters/notesMaster1.xml"/><Relationship Id="rId27" Type="http://schemas.openxmlformats.org/officeDocument/2006/relationships/tableStyles" Target="tableStyles.xml"/></Relationships>
</file>

<file path=ppt/_rels/viewProps.xml.rels><?xml version="1.0" encoding="UTF-8" standalone="yes"?>
<Relationships xmlns="http://schemas.openxmlformats.org/package/2006/relationships"><Relationship Id="rId3" Type="http://schemas.openxmlformats.org/officeDocument/2006/relationships/slide" Target="slides/slide6.xml"/><Relationship Id="rId2" Type="http://schemas.openxmlformats.org/officeDocument/2006/relationships/slide" Target="slides/slide4.xml"/><Relationship Id="rId1" Type="http://schemas.openxmlformats.org/officeDocument/2006/relationships/slide" Target="slides/slide2.xml"/><Relationship Id="rId4" Type="http://schemas.openxmlformats.org/officeDocument/2006/relationships/slide" Target="slides/slide11.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9478749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Rectangle 2"/>
          <p:cNvSpPr>
            <a:spLocks noGrp="1" noRot="1" noChangeAspect="1" noChangeArrowheads="1" noTextEdit="1"/>
          </p:cNvSpPr>
          <p:nvPr>
            <p:ph type="sldImg" idx="2"/>
          </p:nvPr>
        </p:nvSpPr>
        <p:spPr bwMode="auto">
          <a:xfrm>
            <a:off x="1149350" y="692150"/>
            <a:ext cx="4559300" cy="3416300"/>
          </a:xfrm>
          <a:prstGeom prst="rect">
            <a:avLst/>
          </a:prstGeom>
          <a:noFill/>
          <a:ln w="12700">
            <a:solidFill>
              <a:srgbClr val="000000"/>
            </a:solidFill>
            <a:miter lim="800000"/>
            <a:headEnd/>
            <a:tailEnd/>
          </a:ln>
          <a:effectLst/>
        </p:spPr>
      </p:sp>
      <p:sp>
        <p:nvSpPr>
          <p:cNvPr id="2051" name="Rectangle 3"/>
          <p:cNvSpPr>
            <a:spLocks noGrp="1" noChangeArrowheads="1"/>
          </p:cNvSpPr>
          <p:nvPr>
            <p:ph type="body" sz="quarter" idx="3"/>
          </p:nvPr>
        </p:nvSpPr>
        <p:spPr bwMode="auto">
          <a:xfrm>
            <a:off x="914400" y="4343400"/>
            <a:ext cx="5029200" cy="4114800"/>
          </a:xfrm>
          <a:prstGeom prst="rect">
            <a:avLst/>
          </a:prstGeom>
          <a:noFill/>
          <a:ln w="12700">
            <a:noFill/>
            <a:miter lim="800000"/>
            <a:headEnd/>
            <a:tailEnd/>
          </a:ln>
          <a:effectLst/>
        </p:spPr>
        <p:txBody>
          <a:bodyPr vert="horz" wrap="square" lIns="90488" tIns="44450" rIns="90488" bIns="44450" numCol="1" anchor="t" anchorCtr="0" compatLnSpc="1">
            <a:prstTxWarp prst="textNoShape">
              <a:avLst/>
            </a:prstTxWarp>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362505424"/>
      </p:ext>
    </p:extLst>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itchFamily="-1"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2pPr>
    <a:lvl3pPr marL="9144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3pPr>
    <a:lvl4pPr marL="13716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4pPr>
    <a:lvl5pPr marL="1828800" algn="l" rtl="0" eaLnBrk="0" fontAlgn="base" hangingPunct="0">
      <a:spcBef>
        <a:spcPct val="30000"/>
      </a:spcBef>
      <a:spcAft>
        <a:spcPct val="0"/>
      </a:spcAft>
      <a:defRPr sz="1200" kern="1200">
        <a:solidFill>
          <a:schemeClr val="tx1"/>
        </a:solidFill>
        <a:latin typeface="Times New Roman" pitchFamily="-1" charset="0"/>
        <a:ea typeface="ＭＳ Ｐゴシック" pitchFamily="-1" charset="-128"/>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Much of what is discussed in this book is not readily apparent to the user or programmer of a computer. If a programmer is using a high-level language, such as Pascal or Ada, very little of the architecture of the underlying machine is visible.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One boundary where the computer designer and the computer programmer can view the same machine is the machine instruction set. From the designer’s point of view, the machine instruction set provides the functional requirements for the processor: implementing the processor is a task that in large part involves implementing the machine instruction set. The user who chooses to program in machine language (actually, in assembly language; see Appendix B) becomes aware of the register and memory structure, the types of data directly supported by the machine, and the functioning of the ALU.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A description of a computer’s machine instruction set goes a long way toward explaining the computer’s processor. Accordingly, we focus on machine instructions in this chapter and the next. </a:t>
            </a:r>
            <a:endParaRPr lang="en-US" dirty="0" smtClean="0"/>
          </a:p>
          <a:p>
            <a:endParaRPr lang="en-US" dirty="0"/>
          </a:p>
        </p:txBody>
      </p:sp>
      <p:sp>
        <p:nvSpPr>
          <p:cNvPr id="4" name="Slide Number Placeholder 3"/>
          <p:cNvSpPr>
            <a:spLocks noGrp="1"/>
          </p:cNvSpPr>
          <p:nvPr>
            <p:ph type="sldNum" sz="quarter" idx="10"/>
          </p:nvPr>
        </p:nvSpPr>
        <p:spPr>
          <a:xfrm>
            <a:off x="3886200" y="8686800"/>
            <a:ext cx="2971800" cy="457200"/>
          </a:xfrm>
          <a:prstGeom prst="rect">
            <a:avLst/>
          </a:prstGeom>
        </p:spPr>
        <p:txBody>
          <a:bodyPr/>
          <a:lstStyle/>
          <a:p>
            <a:fld id="{426AC9EA-110C-D44B-81A3-E5165EEE361B}" type="slidenum">
              <a:rPr lang="en-US" smtClean="0"/>
              <a:pPr/>
              <a:t>1</a:t>
            </a:fld>
            <a:endParaRPr lang="en-US" dirty="0"/>
          </a:p>
        </p:txBody>
      </p:sp>
    </p:spTree>
    <p:extLst>
      <p:ext uri="{BB962C8B-B14F-4D97-AF65-F5344CB8AC3E}">
        <p14:creationId xmlns:p14="http://schemas.microsoft.com/office/powerpoint/2010/main" val="345745483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1"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a:t>
            </a:r>
          </a:p>
        </p:txBody>
      </p:sp>
      <p:sp>
        <p:nvSpPr>
          <p:cNvPr id="7172"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3"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7174" name="Rectangle 6"/>
          <p:cNvSpPr>
            <a:spLocks noGrp="1" noRot="1" noChangeAspect="1" noChangeArrowheads="1" noTextEdit="1"/>
          </p:cNvSpPr>
          <p:nvPr>
            <p:ph type="sldImg"/>
          </p:nvPr>
        </p:nvSpPr>
        <p:spPr>
          <a:xfrm>
            <a:off x="1150938" y="692150"/>
            <a:ext cx="4556125" cy="3416300"/>
          </a:xfrm>
          <a:ln cap="flat"/>
        </p:spPr>
      </p:sp>
      <p:sp>
        <p:nvSpPr>
          <p:cNvPr id="7175"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operation of the processor is determined by the instructions it executes, referred to as </a:t>
            </a:r>
            <a:r>
              <a:rPr lang="en-US" sz="1200" i="1" kern="1200" dirty="0" smtClean="0">
                <a:solidFill>
                  <a:schemeClr val="tx1"/>
                </a:solidFill>
                <a:latin typeface="Times New Roman" pitchFamily="-1" charset="0"/>
                <a:ea typeface="+mn-ea"/>
                <a:cs typeface="+mn-cs"/>
              </a:rPr>
              <a:t>machine instructions </a:t>
            </a:r>
            <a:r>
              <a:rPr lang="en-US" sz="1200" kern="1200" dirty="0" smtClean="0">
                <a:solidFill>
                  <a:schemeClr val="tx1"/>
                </a:solidFill>
                <a:latin typeface="Times New Roman" pitchFamily="-1" charset="0"/>
                <a:ea typeface="+mn-ea"/>
                <a:cs typeface="+mn-cs"/>
              </a:rPr>
              <a:t>or </a:t>
            </a:r>
            <a:r>
              <a:rPr lang="en-US" sz="1200" i="1" kern="1200" dirty="0" smtClean="0">
                <a:solidFill>
                  <a:schemeClr val="tx1"/>
                </a:solidFill>
                <a:latin typeface="Times New Roman" pitchFamily="-1" charset="0"/>
                <a:ea typeface="+mn-ea"/>
                <a:cs typeface="+mn-cs"/>
              </a:rPr>
              <a:t>computer instructions. </a:t>
            </a:r>
            <a:r>
              <a:rPr lang="en-US" sz="1200" kern="1200" dirty="0" smtClean="0">
                <a:solidFill>
                  <a:schemeClr val="tx1"/>
                </a:solidFill>
                <a:latin typeface="Times New Roman" pitchFamily="-1" charset="0"/>
                <a:ea typeface="+mn-ea"/>
                <a:cs typeface="+mn-cs"/>
              </a:rPr>
              <a:t>The collection of different instructions that the processor can execute is referred to as the processor’s </a:t>
            </a:r>
            <a:r>
              <a:rPr lang="en-US" sz="1200" i="1" kern="1200" dirty="0" smtClean="0">
                <a:solidFill>
                  <a:schemeClr val="tx1"/>
                </a:solidFill>
                <a:latin typeface="Times New Roman" pitchFamily="-1" charset="0"/>
                <a:ea typeface="+mn-ea"/>
                <a:cs typeface="+mn-cs"/>
              </a:rPr>
              <a:t>instruction set.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Each instruction must contain the information required by the processor for execution. </a:t>
            </a:r>
            <a:endParaRPr lang="en-US" dirty="0" smtClean="0"/>
          </a:p>
          <a:p>
            <a:endParaRPr lang="en-GB" dirty="0"/>
          </a:p>
        </p:txBody>
      </p:sp>
    </p:spTree>
    <p:extLst>
      <p:ext uri="{BB962C8B-B14F-4D97-AF65-F5344CB8AC3E}">
        <p14:creationId xmlns:p14="http://schemas.microsoft.com/office/powerpoint/2010/main" val="25384939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5</a:t>
            </a:r>
          </a:p>
        </p:txBody>
      </p:sp>
      <p:sp>
        <p:nvSpPr>
          <p:cNvPr id="1331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3318" name="Rectangle 6"/>
          <p:cNvSpPr>
            <a:spLocks noGrp="1" noRot="1" noChangeAspect="1" noChangeArrowheads="1" noTextEdit="1"/>
          </p:cNvSpPr>
          <p:nvPr>
            <p:ph type="sldImg"/>
          </p:nvPr>
        </p:nvSpPr>
        <p:spPr>
          <a:xfrm>
            <a:off x="1150938" y="692150"/>
            <a:ext cx="4556125" cy="3416300"/>
          </a:xfrm>
          <a:ln cap="flat"/>
        </p:spPr>
      </p:sp>
      <p:sp>
        <p:nvSpPr>
          <p:cNvPr id="13319"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Within the computer, each instruction is represented by a sequence of bits. The instruction is divided into fields, corresponding to the constituent elements of the instruction.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A simple example of an instruction format is shown in Figure 12.2. As another example, the IAS instruction format is shown in Figure 2.2. With most instruction sets, more than one format is used. During instruction execution, an instruction is read into an instruction register (IR) in the processor. The processor must be able to extract the data from the various instruction fields to perform the required operation.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It is difficult for both the programmer and the reader of textbooks to deal with binary representations of machine instructions. Thus, it has become common practice to use a </a:t>
            </a:r>
            <a:r>
              <a:rPr lang="en-US" sz="1200" i="1" kern="1200" dirty="0" smtClean="0">
                <a:solidFill>
                  <a:schemeClr val="tx1"/>
                </a:solidFill>
                <a:latin typeface="Times New Roman" pitchFamily="-1" charset="0"/>
                <a:ea typeface="+mn-ea"/>
                <a:cs typeface="+mn-cs"/>
              </a:rPr>
              <a:t>symbolic representation </a:t>
            </a:r>
            <a:r>
              <a:rPr lang="en-US" sz="1200" kern="1200" dirty="0" smtClean="0">
                <a:solidFill>
                  <a:schemeClr val="tx1"/>
                </a:solidFill>
                <a:latin typeface="Times New Roman" pitchFamily="-1" charset="0"/>
                <a:ea typeface="+mn-ea"/>
                <a:cs typeface="+mn-cs"/>
              </a:rPr>
              <a:t>of machine instructions. An example of this was used for the IAS instruction set, in Table 2.1.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GB" dirty="0"/>
          </a:p>
        </p:txBody>
      </p:sp>
    </p:spTree>
    <p:extLst>
      <p:ext uri="{BB962C8B-B14F-4D97-AF65-F5344CB8AC3E}">
        <p14:creationId xmlns:p14="http://schemas.microsoft.com/office/powerpoint/2010/main" val="3539107324"/>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59"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8</a:t>
            </a:r>
          </a:p>
        </p:txBody>
      </p:sp>
      <p:sp>
        <p:nvSpPr>
          <p:cNvPr id="19460"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61"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9462" name="Rectangle 6"/>
          <p:cNvSpPr>
            <a:spLocks noGrp="1" noRot="1" noChangeAspect="1" noChangeArrowheads="1" noTextEdit="1"/>
          </p:cNvSpPr>
          <p:nvPr>
            <p:ph type="sldImg"/>
          </p:nvPr>
        </p:nvSpPr>
        <p:spPr>
          <a:xfrm>
            <a:off x="1150938" y="692150"/>
            <a:ext cx="4556125" cy="3416300"/>
          </a:xfrm>
          <a:ln cap="flat"/>
        </p:spPr>
      </p:sp>
      <p:sp>
        <p:nvSpPr>
          <p:cNvPr id="19463" name="Rectangle 7"/>
          <p:cNvSpPr>
            <a:spLocks noGrp="1" noChangeArrowheads="1"/>
          </p:cNvSpPr>
          <p:nvPr>
            <p:ph type="body" idx="1"/>
          </p:nvPr>
        </p:nvSpPr>
        <p:spPr>
          <a:ln/>
        </p:spPr>
        <p:txBody>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Table 12.1 summarizes the interpretations to be placed on instructions with zero, one, two, or three addresses. In each case in the table, it is assumed that the address of the next instruction is implicit, and that one operation with two source operands and one result operand is to be performed. </a:t>
            </a:r>
            <a:endParaRPr lang="en-US" dirty="0" smtClean="0"/>
          </a:p>
          <a:p>
            <a:endParaRPr lang="en-GB"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number of addresses per instruction is a basic design decision. Fewer addresses per instruction result in instructions that are more primitive, requiring a less complex processor. It also results in instructions of shorter length. On the other hand, programs contain more total instructions, which in general results in longer execution times and longer, more complex programs. Also, there is an important threshold between one-address and multiple-address instructions. With one-address instructions, the programmer generally has available only one general-purpose register, the accumulator. With multiple-address instructions, it is common to have multiple general-purpose registers. This allows some operations to be performed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solely on registers. Because register references are faster than memory references, this speeds up execution. For reasons of flexibility and ability to use multiple registers, most contemporary machines employ a mixture of two- and three-address instructions. </a:t>
            </a:r>
          </a:p>
          <a:p>
            <a:pPr marL="0" marR="0" indent="0" algn="l" defTabSz="914400" rtl="0" eaLnBrk="0" fontAlgn="base" latinLnBrk="0" hangingPunct="0">
              <a:lnSpc>
                <a:spcPct val="100000"/>
              </a:lnSpc>
              <a:spcBef>
                <a:spcPct val="30000"/>
              </a:spcBef>
              <a:spcAft>
                <a:spcPct val="0"/>
              </a:spcAft>
              <a:buClrTx/>
              <a:buSzTx/>
              <a:buFontTx/>
              <a:buNone/>
              <a:tabLst/>
              <a:defRPr/>
            </a:pPr>
            <a:endParaRPr lang="en-US" sz="1200" kern="1200" dirty="0" smtClean="0">
              <a:solidFill>
                <a:schemeClr val="tx1"/>
              </a:solidFill>
              <a:latin typeface="Times New Roman" pitchFamily="-1" charset="0"/>
              <a:ea typeface="+mn-ea"/>
              <a:cs typeface="+mn-cs"/>
            </a:endParaRPr>
          </a:p>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The design trade-offs involved in choosing the number of addresses per instruction are complicated by other factors. There is the issue of whether an address references a memory location or a register. Because there are fewer registers, fewer bits are needed for a register reference. Also, as we shall see in Chapter 13, a machine may offer a variety of addressing modes, and the specification of mode takes one or more bits. The result is that most processor designs involve a variety of instruction formats.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GB" dirty="0"/>
          </a:p>
        </p:txBody>
      </p:sp>
    </p:spTree>
    <p:extLst>
      <p:ext uri="{BB962C8B-B14F-4D97-AF65-F5344CB8AC3E}">
        <p14:creationId xmlns:p14="http://schemas.microsoft.com/office/powerpoint/2010/main" val="32201907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4274" name="Rectangle 2"/>
          <p:cNvSpPr>
            <a:spLocks noChangeArrowheads="1"/>
          </p:cNvSpPr>
          <p:nvPr/>
        </p:nvSpPr>
        <p:spPr bwMode="auto">
          <a:xfrm>
            <a:off x="388620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4275" name="Rectangle 3"/>
          <p:cNvSpPr>
            <a:spLocks noChangeArrowheads="1"/>
          </p:cNvSpPr>
          <p:nvPr/>
        </p:nvSpPr>
        <p:spPr bwMode="auto">
          <a:xfrm>
            <a:off x="3886200" y="8686800"/>
            <a:ext cx="2971800" cy="457200"/>
          </a:xfrm>
          <a:prstGeom prst="rect">
            <a:avLst/>
          </a:prstGeom>
          <a:noFill/>
          <a:ln w="12700">
            <a:noFill/>
            <a:miter lim="800000"/>
            <a:headEnd/>
            <a:tailEnd/>
          </a:ln>
          <a:effectLst/>
        </p:spPr>
        <p:txBody>
          <a:bodyPr lIns="90488" tIns="44450" rIns="90488" bIns="44450" anchor="b">
            <a:prstTxWarp prst="textNoShape">
              <a:avLst/>
            </a:prstTxWarp>
          </a:bodyPr>
          <a:lstStyle/>
          <a:p>
            <a:pPr algn="r"/>
            <a:r>
              <a:rPr lang="en-US" sz="1200" dirty="0"/>
              <a:t>25</a:t>
            </a:r>
          </a:p>
        </p:txBody>
      </p:sp>
      <p:sp>
        <p:nvSpPr>
          <p:cNvPr id="54276" name="Rectangle 4"/>
          <p:cNvSpPr>
            <a:spLocks noChangeArrowheads="1"/>
          </p:cNvSpPr>
          <p:nvPr/>
        </p:nvSpPr>
        <p:spPr bwMode="auto">
          <a:xfrm>
            <a:off x="0" y="868680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4277" name="Rectangle 5"/>
          <p:cNvSpPr>
            <a:spLocks noChangeArrowheads="1"/>
          </p:cNvSpPr>
          <p:nvPr/>
        </p:nvSpPr>
        <p:spPr bwMode="auto">
          <a:xfrm>
            <a:off x="0" y="0"/>
            <a:ext cx="29718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4278" name="Rectangle 6"/>
          <p:cNvSpPr>
            <a:spLocks noGrp="1" noRot="1" noChangeAspect="1" noChangeArrowheads="1" noTextEdit="1"/>
          </p:cNvSpPr>
          <p:nvPr>
            <p:ph type="sldImg"/>
          </p:nvPr>
        </p:nvSpPr>
        <p:spPr>
          <a:xfrm>
            <a:off x="1150938" y="692150"/>
            <a:ext cx="4556125" cy="3416300"/>
          </a:xfrm>
          <a:ln cap="flat"/>
        </p:spPr>
      </p:sp>
      <p:sp>
        <p:nvSpPr>
          <p:cNvPr id="54279" name="Rectangle 7"/>
          <p:cNvSpPr>
            <a:spLocks noGrp="1" noChangeArrowheads="1"/>
          </p:cNvSpPr>
          <p:nvPr>
            <p:ph type="body" idx="1"/>
          </p:nvPr>
        </p:nvSpPr>
        <p:spPr>
          <a:ln/>
        </p:spPr>
        <p:txBody>
          <a:bodyPr/>
          <a:lstStyle/>
          <a:p>
            <a:r>
              <a:rPr lang="en-US" sz="1200" kern="1200" dirty="0" smtClean="0">
                <a:solidFill>
                  <a:schemeClr val="tx1"/>
                </a:solidFill>
                <a:latin typeface="Times New Roman" pitchFamily="-1" charset="0"/>
                <a:ea typeface="+mn-ea"/>
                <a:cs typeface="+mn-cs"/>
              </a:rPr>
              <a:t>For all of the operation types discussed so far, the next instruction to be performed is the one that immediately follows, in memory, the current instruction. However, a significant fraction of the instructions in any program have as their function changing the sequence of instruction execution. For these instructions, the operation per- formed by the processor is to update the program counter to contain the address of some instruction in memory.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There are a number of reasons why transfer-of-control operations are required. Among the most important are the following: </a:t>
            </a:r>
            <a:endParaRPr lang="en-US" dirty="0" smtClean="0"/>
          </a:p>
          <a:p>
            <a:endParaRPr lang="en-US" sz="1200" b="1"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In the practical use of computers, it is essential to be able to execute each instruction more than once and perhaps many thousands of times. It may require thousands or perhaps millions of instructions to implement an application. This would be unthinkable if each instruction had to be written out separately. If a table or a list of items is to be processed, a program loop is needed. One sequence of instructions is executed repeatedly to process all the data. </a:t>
            </a:r>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Virtually all programs involve some decision making. We would like the computer to do one thing if one condition holds, and another thing if another condition holds. For example, a sequence of instructions computes the square root of a number. At the start of the sequence, the sign of the number is tested. If the number is negative, the computation is not performed, but an error condition is reported. </a:t>
            </a:r>
          </a:p>
          <a:p>
            <a:endParaRPr lang="en-US" sz="1200" b="0" kern="1200" dirty="0" smtClean="0">
              <a:solidFill>
                <a:schemeClr val="tx1"/>
              </a:solidFill>
              <a:latin typeface="Times New Roman" pitchFamily="-1" charset="0"/>
              <a:ea typeface="+mn-ea"/>
              <a:cs typeface="+mn-cs"/>
            </a:endParaRPr>
          </a:p>
          <a:p>
            <a:r>
              <a:rPr lang="en-US" sz="1200" b="0" kern="1200" dirty="0" smtClean="0">
                <a:solidFill>
                  <a:schemeClr val="tx1"/>
                </a:solidFill>
                <a:latin typeface="Times New Roman" pitchFamily="-1" charset="0"/>
                <a:ea typeface="+mn-ea"/>
                <a:cs typeface="+mn-cs"/>
              </a:rPr>
              <a:t>To compose correctly a large or even medium-size computer program is an exceedingly difficult task. It helps if there are mechanisms for breaking the task up into smaller pieces that can be worked on one at a time. </a:t>
            </a:r>
          </a:p>
          <a:p>
            <a:endParaRPr lang="en-GB" dirty="0"/>
          </a:p>
        </p:txBody>
      </p:sp>
    </p:spTree>
    <p:extLst>
      <p:ext uri="{BB962C8B-B14F-4D97-AF65-F5344CB8AC3E}">
        <p14:creationId xmlns:p14="http://schemas.microsoft.com/office/powerpoint/2010/main" val="360065426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r>
              <a:rPr lang="en-US" sz="1200" kern="1200" dirty="0" smtClean="0">
                <a:solidFill>
                  <a:schemeClr val="tx1"/>
                </a:solidFill>
                <a:latin typeface="Times New Roman" pitchFamily="-1" charset="0"/>
                <a:ea typeface="+mn-ea"/>
                <a:cs typeface="+mn-cs"/>
              </a:rPr>
              <a:t>Perhaps the most important innovation in the development of programming languages is the </a:t>
            </a:r>
            <a:r>
              <a:rPr lang="en-US" sz="1200" i="1" kern="1200" dirty="0" smtClean="0">
                <a:solidFill>
                  <a:schemeClr val="tx1"/>
                </a:solidFill>
                <a:latin typeface="Times New Roman" pitchFamily="-1" charset="0"/>
                <a:ea typeface="+mn-ea"/>
                <a:cs typeface="+mn-cs"/>
              </a:rPr>
              <a:t>procedure. </a:t>
            </a:r>
            <a:r>
              <a:rPr lang="en-US" sz="1200" kern="1200" dirty="0" smtClean="0">
                <a:solidFill>
                  <a:schemeClr val="tx1"/>
                </a:solidFill>
                <a:latin typeface="Times New Roman" pitchFamily="-1" charset="0"/>
                <a:ea typeface="+mn-ea"/>
                <a:cs typeface="+mn-cs"/>
              </a:rPr>
              <a:t>A procedure is a self- contained computer program that is incorporated into a larger program. At any point in the program the procedure may be invoked, or </a:t>
            </a:r>
            <a:r>
              <a:rPr lang="en-US" sz="1200" i="1" kern="1200" dirty="0" smtClean="0">
                <a:solidFill>
                  <a:schemeClr val="tx1"/>
                </a:solidFill>
                <a:latin typeface="Times New Roman" pitchFamily="-1" charset="0"/>
                <a:ea typeface="+mn-ea"/>
                <a:cs typeface="+mn-cs"/>
              </a:rPr>
              <a:t>called. </a:t>
            </a:r>
            <a:r>
              <a:rPr lang="en-US" sz="1200" kern="1200" dirty="0" smtClean="0">
                <a:solidFill>
                  <a:schemeClr val="tx1"/>
                </a:solidFill>
                <a:latin typeface="Times New Roman" pitchFamily="-1" charset="0"/>
                <a:ea typeface="+mn-ea"/>
                <a:cs typeface="+mn-cs"/>
              </a:rPr>
              <a:t>The processor is instructed to go and execute the entire procedure and then return to the point from which the call took place.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two principal reasons for the use of procedures are economy and modularity. A procedure allows the same piece of code to be used many times. This is important for economy in programming effort and for making the most efficient use of storage space in the system (the program must be stored). Procedures also allow large programming tasks to be subdivided into smaller units. This use of </a:t>
            </a:r>
            <a:r>
              <a:rPr lang="en-US" sz="1200" i="1" kern="1200" dirty="0" smtClean="0">
                <a:solidFill>
                  <a:schemeClr val="tx1"/>
                </a:solidFill>
                <a:latin typeface="Times New Roman" pitchFamily="-1" charset="0"/>
                <a:ea typeface="+mn-ea"/>
                <a:cs typeface="+mn-cs"/>
              </a:rPr>
              <a:t>modularity </a:t>
            </a:r>
            <a:r>
              <a:rPr lang="en-US" sz="1200" kern="1200" dirty="0" smtClean="0">
                <a:solidFill>
                  <a:schemeClr val="tx1"/>
                </a:solidFill>
                <a:latin typeface="Times New Roman" pitchFamily="-1" charset="0"/>
                <a:ea typeface="+mn-ea"/>
                <a:cs typeface="+mn-cs"/>
              </a:rPr>
              <a:t>greatly eases the programming task. </a:t>
            </a:r>
            <a:endParaRPr lang="en-US" dirty="0" smtClean="0"/>
          </a:p>
          <a:p>
            <a:endParaRPr lang="en-US" sz="1200" kern="1200" dirty="0" smtClean="0">
              <a:solidFill>
                <a:schemeClr val="tx1"/>
              </a:solidFill>
              <a:latin typeface="Times New Roman" pitchFamily="-1" charset="0"/>
              <a:ea typeface="+mn-ea"/>
              <a:cs typeface="+mn-cs"/>
            </a:endParaRPr>
          </a:p>
          <a:p>
            <a:r>
              <a:rPr lang="en-US" sz="1200" kern="1200" dirty="0" smtClean="0">
                <a:solidFill>
                  <a:schemeClr val="tx1"/>
                </a:solidFill>
                <a:latin typeface="Times New Roman" pitchFamily="-1" charset="0"/>
                <a:ea typeface="+mn-ea"/>
                <a:cs typeface="+mn-cs"/>
              </a:rPr>
              <a:t>The procedure mechanism involves two basic instructions: a call instruction that branches from the present location to the procedure, and a return instruction that returns from the procedure to the place from which it was called. Both of these are forms of branching instructions. </a:t>
            </a:r>
            <a:endParaRPr lang="en-US" dirty="0" smtClean="0"/>
          </a:p>
          <a:p>
            <a:endParaRPr lang="en-US" dirty="0"/>
          </a:p>
        </p:txBody>
      </p:sp>
    </p:spTree>
    <p:extLst>
      <p:ext uri="{BB962C8B-B14F-4D97-AF65-F5344CB8AC3E}">
        <p14:creationId xmlns:p14="http://schemas.microsoft.com/office/powerpoint/2010/main" val="1910566004"/>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150938" y="692150"/>
            <a:ext cx="4556125" cy="3416300"/>
          </a:xfrm>
        </p:spPr>
      </p:sp>
      <p:sp>
        <p:nvSpPr>
          <p:cNvPr id="3" name="Notes Placeholder 2"/>
          <p:cNvSpPr>
            <a:spLocks noGrp="1"/>
          </p:cNvSpPr>
          <p:nvPr>
            <p:ph type="body" idx="1"/>
          </p:nvPr>
        </p:nvSpPr>
        <p:spPr/>
        <p:txBody>
          <a:bodyPr>
            <a:normAutofit/>
          </a:bodyPr>
          <a:lstStyle/>
          <a:p>
            <a:pPr marL="0" marR="0" indent="0" algn="l" defTabSz="914400" rtl="0" eaLnBrk="0" fontAlgn="base" latinLnBrk="0" hangingPunct="0">
              <a:lnSpc>
                <a:spcPct val="100000"/>
              </a:lnSpc>
              <a:spcBef>
                <a:spcPct val="30000"/>
              </a:spcBef>
              <a:spcAft>
                <a:spcPct val="0"/>
              </a:spcAft>
              <a:buClrTx/>
              <a:buSzTx/>
              <a:buFontTx/>
              <a:buNone/>
              <a:tabLst/>
              <a:defRPr/>
            </a:pPr>
            <a:r>
              <a:rPr lang="en-US" sz="1200" kern="1200" dirty="0" smtClean="0">
                <a:solidFill>
                  <a:schemeClr val="tx1"/>
                </a:solidFill>
                <a:latin typeface="Times New Roman" pitchFamily="-1" charset="0"/>
                <a:ea typeface="+mn-ea"/>
                <a:cs typeface="+mn-cs"/>
              </a:rPr>
              <a:t>Figure 12.8a illustrates the use of procedures to construct a program. In this example, there is a main program starting at location 4000. This program includes a call to procedure PROC1, starting at location 4500. When this call instruction is encountered, the processor suspends execution of the main program and begins execution of PROC1 by fetching the next instruction from location 4500. Within PROC1, there are two calls to PROC2 at location 4800. In each case, the execution of PROC1 is suspended and PROC2 is executed. The RETURN statement causes the processor to go back to the calling program and continue execution at the instruction after the corresponding CALL instruction. This behavior is illustrated in Figure 12.8b. </a:t>
            </a:r>
            <a:endParaRPr lang="en-US" dirty="0" smtClean="0"/>
          </a:p>
          <a:p>
            <a:pPr marL="0" marR="0" indent="0" algn="l" defTabSz="914400" rtl="0" eaLnBrk="0" fontAlgn="base" latinLnBrk="0" hangingPunct="0">
              <a:lnSpc>
                <a:spcPct val="100000"/>
              </a:lnSpc>
              <a:spcBef>
                <a:spcPct val="30000"/>
              </a:spcBef>
              <a:spcAft>
                <a:spcPct val="0"/>
              </a:spcAft>
              <a:buClrTx/>
              <a:buSzTx/>
              <a:buFontTx/>
              <a:buNone/>
              <a:tabLst/>
              <a:defRPr/>
            </a:pPr>
            <a:endParaRPr lang="en-US" dirty="0" smtClean="0"/>
          </a:p>
          <a:p>
            <a:endParaRPr lang="en-US" dirty="0"/>
          </a:p>
        </p:txBody>
      </p:sp>
    </p:spTree>
    <p:extLst>
      <p:ext uri="{BB962C8B-B14F-4D97-AF65-F5344CB8AC3E}">
        <p14:creationId xmlns:p14="http://schemas.microsoft.com/office/powerpoint/2010/main" val="1516018056"/>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69634" name="Text Box 1"/>
          <p:cNvSpPr txBox="1">
            <a:spLocks noChangeArrowheads="1"/>
          </p:cNvSpPr>
          <p:nvPr/>
        </p:nvSpPr>
        <p:spPr bwMode="auto">
          <a:xfrm>
            <a:off x="1331913" y="511175"/>
            <a:ext cx="7250112" cy="2517775"/>
          </a:xfrm>
          <a:prstGeom prst="rect">
            <a:avLst/>
          </a:prstGeom>
          <a:solidFill>
            <a:srgbClr val="FFFFFF"/>
          </a:solidFill>
          <a:ln w="9360">
            <a:solidFill>
              <a:srgbClr val="000000"/>
            </a:solidFill>
            <a:miter lim="800000"/>
            <a:headEnd/>
            <a:tailEnd/>
          </a:ln>
        </p:spPr>
        <p:txBody>
          <a:bodyPr wrap="none" anchor="ctr"/>
          <a:lstStyle>
            <a:lvl1pPr eaLnBrk="0" hangingPunct="0">
              <a:spcBef>
                <a:spcPct val="30000"/>
              </a:spcBef>
              <a:defRPr sz="1200">
                <a:solidFill>
                  <a:srgbClr val="000000"/>
                </a:solidFill>
                <a:latin typeface="Times New Roman" panose="02020603050405020304" pitchFamily="18" charset="0"/>
              </a:defRPr>
            </a:lvl1pPr>
            <a:lvl2pPr marL="742950" indent="-285750" eaLnBrk="0" hangingPunct="0">
              <a:spcBef>
                <a:spcPct val="30000"/>
              </a:spcBef>
              <a:defRPr sz="1200">
                <a:solidFill>
                  <a:srgbClr val="000000"/>
                </a:solidFill>
                <a:latin typeface="Times New Roman" panose="02020603050405020304" pitchFamily="18" charset="0"/>
              </a:defRPr>
            </a:lvl2pPr>
            <a:lvl3pPr marL="1143000" indent="-228600" eaLnBrk="0" hangingPunct="0">
              <a:spcBef>
                <a:spcPct val="30000"/>
              </a:spcBef>
              <a:defRPr sz="1200">
                <a:solidFill>
                  <a:srgbClr val="000000"/>
                </a:solidFill>
                <a:latin typeface="Times New Roman" panose="02020603050405020304" pitchFamily="18" charset="0"/>
              </a:defRPr>
            </a:lvl3pPr>
            <a:lvl4pPr marL="1600200" indent="-228600" eaLnBrk="0" hangingPunct="0">
              <a:spcBef>
                <a:spcPct val="30000"/>
              </a:spcBef>
              <a:defRPr sz="1200">
                <a:solidFill>
                  <a:srgbClr val="000000"/>
                </a:solidFill>
                <a:latin typeface="Times New Roman" panose="02020603050405020304" pitchFamily="18" charset="0"/>
              </a:defRPr>
            </a:lvl4pPr>
            <a:lvl5pPr marL="2057400" indent="-228600" eaLnBrk="0" hangingPunct="0">
              <a:spcBef>
                <a:spcPct val="30000"/>
              </a:spcBef>
              <a:defRPr sz="1200">
                <a:solidFill>
                  <a:srgbClr val="000000"/>
                </a:solidFill>
                <a:latin typeface="Times New Roman" panose="02020603050405020304" pitchFamily="18" charset="0"/>
              </a:defRPr>
            </a:lvl5pPr>
            <a:lvl6pPr marL="2514600" indent="-228600" defTabSz="4492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6pPr>
            <a:lvl7pPr marL="2971800" indent="-228600" defTabSz="4492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7pPr>
            <a:lvl8pPr marL="3429000" indent="-228600" defTabSz="4492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8pPr>
            <a:lvl9pPr marL="3886200" indent="-228600" defTabSz="449263" eaLnBrk="0" fontAlgn="base" hangingPunct="0">
              <a:spcBef>
                <a:spcPct val="30000"/>
              </a:spcBef>
              <a:spcAft>
                <a:spcPct val="0"/>
              </a:spcAft>
              <a:buClr>
                <a:srgbClr val="000000"/>
              </a:buClr>
              <a:buSzPct val="100000"/>
              <a:buFont typeface="Times New Roman" panose="02020603050405020304" pitchFamily="18" charset="0"/>
              <a:defRPr sz="1200">
                <a:solidFill>
                  <a:srgbClr val="000000"/>
                </a:solidFill>
                <a:latin typeface="Times New Roman" panose="02020603050405020304" pitchFamily="18" charset="0"/>
              </a:defRPr>
            </a:lvl9pPr>
          </a:lstStyle>
          <a:p>
            <a:pPr eaLnBrk="1" hangingPunct="1">
              <a:spcBef>
                <a:spcPct val="0"/>
              </a:spcBef>
            </a:pPr>
            <a:endParaRPr lang="en-US" altLang="en-US" sz="2400">
              <a:solidFill>
                <a:schemeClr val="bg1"/>
              </a:solidFill>
            </a:endParaRPr>
          </a:p>
        </p:txBody>
      </p:sp>
      <p:sp>
        <p:nvSpPr>
          <p:cNvPr id="69635" name="Rectangle 2"/>
          <p:cNvSpPr>
            <a:spLocks noGrp="1" noChangeArrowheads="1"/>
          </p:cNvSpPr>
          <p:nvPr>
            <p:ph type="body"/>
          </p:nvPr>
        </p:nvSpPr>
        <p:spPr>
          <a:xfrm>
            <a:off x="1322388" y="3201988"/>
            <a:ext cx="7259637" cy="3035300"/>
          </a:xfrm>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wrap="none" anchor="ctr"/>
          <a:lstStyle/>
          <a:p>
            <a:endParaRPr lang="en-US" altLang="en-US" smtClean="0">
              <a:latin typeface="Times New Roman" panose="02020603050405020304" pitchFamily="18" charset="0"/>
            </a:endParaRPr>
          </a:p>
        </p:txBody>
      </p:sp>
    </p:spTree>
    <p:extLst>
      <p:ext uri="{BB962C8B-B14F-4D97-AF65-F5344CB8AC3E}">
        <p14:creationId xmlns:p14="http://schemas.microsoft.com/office/powerpoint/2010/main" val="59808618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endParaRPr lang="en-GB" dirty="0"/>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endParaRPr lang="en-GB" dirty="0"/>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algn="ctr" defTabSz="914400" rtl="0" eaLnBrk="1" latinLnBrk="0" hangingPunct="1"/>
            <a:endParaRPr sz="1800" kern="1200">
              <a:solidFill>
                <a:schemeClr val="lt1"/>
              </a:solidFill>
              <a:latin typeface="+mn-lt"/>
              <a:ea typeface="+mn-ea"/>
              <a:cs typeface="+mn-cs"/>
            </a:endParaRP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1" name="Rectangle 10"/>
          <p:cNvSpPr/>
          <p:nvPr/>
        </p:nvSpPr>
        <p:spPr>
          <a:xfrm>
            <a:off x="4624388" y="228600"/>
            <a:ext cx="2057400" cy="2039112"/>
          </a:xfrm>
          <a:prstGeom prst="rect">
            <a:avLst/>
          </a:prstGeom>
          <a:solidFill>
            <a:schemeClr val="accent6"/>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6802438" y="2377440"/>
            <a:ext cx="2057400" cy="2039112"/>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and Content">
    <p:spTree>
      <p:nvGrpSpPr>
        <p:cNvPr id="1" name=""/>
        <p:cNvGrpSpPr/>
        <p:nvPr/>
      </p:nvGrpSpPr>
      <p:grpSpPr>
        <a:xfrm>
          <a:off x="0" y="0"/>
          <a:ext cx="0" cy="0"/>
          <a:chOff x="0" y="0"/>
          <a:chExt cx="0" cy="0"/>
        </a:xfrm>
      </p:grpSpPr>
      <p:sp>
        <p:nvSpPr>
          <p:cNvPr id="7" name="Rectangle 6"/>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589870FB-149D-4255-9221-CF258F891615}" type="datetime1">
              <a:rPr lang="en-US"/>
              <a:pPr/>
              <a:t>9/4/2018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Rectangle 9"/>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Title and Content, Al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8474" y="134471"/>
            <a:ext cx="7556313" cy="995082"/>
          </a:xfrm>
        </p:spPr>
        <p:txBody>
          <a:bodyPr anchor="b" anchorCtr="0"/>
          <a:lstStyle/>
          <a:p>
            <a:r>
              <a:rPr lang="en-US" smtClean="0"/>
              <a:t>Click to edit Master title style</a:t>
            </a:r>
            <a:endParaRPr/>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75AD331-B61B-42C1-B285-1046175C3B63}" type="datetime1">
              <a:rPr lang="en-US"/>
              <a:pPr/>
              <a:t>9/4/2018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10" name="Text Placeholder 3"/>
          <p:cNvSpPr>
            <a:spLocks noGrp="1"/>
          </p:cNvSpPr>
          <p:nvPr>
            <p:ph type="body" sz="half" idx="2"/>
          </p:nvPr>
        </p:nvSpPr>
        <p:spPr>
          <a:xfrm>
            <a:off x="498518" y="1129553"/>
            <a:ext cx="7558960" cy="774700"/>
          </a:xfrm>
        </p:spPr>
        <p:txBody>
          <a:bodyPr vert="horz" lIns="91440" tIns="45720" rIns="91440" bIns="45720" rtlCol="0" anchor="t" anchorCtr="0">
            <a:noAutofit/>
          </a:bodyPr>
          <a:lstStyle>
            <a:lvl1pPr marL="0" indent="0">
              <a:buNone/>
              <a:defRPr kumimoji="0" sz="2400" b="0" i="0" u="none" strike="noStrike" kern="1200" cap="none" spc="0" normalizeH="0" baseline="0">
                <a:ln>
                  <a:noFill/>
                </a:ln>
                <a:solidFill>
                  <a:schemeClr val="accent3"/>
                </a:solidFill>
                <a:effectLst/>
                <a:uLnTx/>
                <a:uFillTx/>
                <a:latin typeface="+mj-lt"/>
                <a:ea typeface="+mj-ea"/>
                <a:cs typeface="+mj-cs"/>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marL="0" marR="0" lvl="0" indent="0" algn="l" defTabSz="914400" rtl="0" eaLnBrk="1" fontAlgn="auto" latinLnBrk="0" hangingPunct="1">
              <a:lnSpc>
                <a:spcPct val="100000"/>
              </a:lnSpc>
              <a:spcBef>
                <a:spcPct val="0"/>
              </a:spcBef>
              <a:spcAft>
                <a:spcPts val="0"/>
              </a:spcAft>
              <a:buClrTx/>
              <a:buSzTx/>
              <a:buFontTx/>
              <a:buNone/>
              <a:tabLst/>
              <a:defRPr/>
            </a:pPr>
            <a:r>
              <a:rPr lang="en-US" smtClean="0"/>
              <a:t>Click to edit Master text styles</a:t>
            </a: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 Slide with 2 Pictures">
    <p:spTree>
      <p:nvGrpSpPr>
        <p:cNvPr id="1" name=""/>
        <p:cNvGrpSpPr/>
        <p:nvPr/>
      </p:nvGrpSpPr>
      <p:grpSpPr>
        <a:xfrm>
          <a:off x="0" y="0"/>
          <a:ext cx="0" cy="0"/>
          <a:chOff x="0" y="0"/>
          <a:chExt cx="0" cy="0"/>
        </a:xfrm>
      </p:grpSpPr>
      <p:sp>
        <p:nvSpPr>
          <p:cNvPr id="2" name="Title 1"/>
          <p:cNvSpPr>
            <a:spLocks noGrp="1"/>
          </p:cNvSpPr>
          <p:nvPr>
            <p:ph type="ctrTitle"/>
          </p:nvPr>
        </p:nvSpPr>
        <p:spPr>
          <a:xfrm>
            <a:off x="4800600" y="4624668"/>
            <a:ext cx="4038600" cy="933450"/>
          </a:xfrm>
        </p:spPr>
        <p:txBody>
          <a:bodyPr>
            <a:normAutofit/>
          </a:bodyPr>
          <a:lstStyle>
            <a:lvl1pPr>
              <a:defRPr sz="2800"/>
            </a:lvl1pPr>
          </a:lstStyle>
          <a:p>
            <a:r>
              <a:rPr lang="en-US" smtClean="0"/>
              <a:t>Click to edit Master title style</a:t>
            </a:r>
            <a:endParaRPr/>
          </a:p>
        </p:txBody>
      </p:sp>
      <p:sp>
        <p:nvSpPr>
          <p:cNvPr id="3" name="Subtitle 2"/>
          <p:cNvSpPr>
            <a:spLocks noGrp="1"/>
          </p:cNvSpPr>
          <p:nvPr>
            <p:ph type="subTitle" idx="1"/>
          </p:nvPr>
        </p:nvSpPr>
        <p:spPr>
          <a:xfrm>
            <a:off x="4800600" y="5562599"/>
            <a:ext cx="4038600" cy="748553"/>
          </a:xfrm>
        </p:spPr>
        <p:txBody>
          <a:bodyPr>
            <a:normAutofit/>
          </a:bodyPr>
          <a:lstStyle>
            <a:lvl1pPr marL="0" indent="0" algn="l">
              <a:spcBef>
                <a:spcPts val="300"/>
              </a:spcBef>
              <a:buNone/>
              <a:defRPr sz="1400">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a:p>
        </p:txBody>
      </p:sp>
      <p:sp>
        <p:nvSpPr>
          <p:cNvPr id="4" name="Date Placeholder 3"/>
          <p:cNvSpPr>
            <a:spLocks noGrp="1"/>
          </p:cNvSpPr>
          <p:nvPr>
            <p:ph type="dt" sz="half" idx="10"/>
          </p:nvPr>
        </p:nvSpPr>
        <p:spPr>
          <a:xfrm>
            <a:off x="4800600" y="6425640"/>
            <a:ext cx="1232647" cy="365125"/>
          </a:xfrm>
        </p:spPr>
        <p:txBody>
          <a:bodyPr/>
          <a:lstStyle>
            <a:lvl1pPr algn="l">
              <a:defRPr/>
            </a:lvl1pPr>
          </a:lstStyle>
          <a:p>
            <a:fld id="{642DA821-B647-4F8C-84A0-7D19D85CB385}" type="datetime1">
              <a:rPr lang="en-US"/>
              <a:pPr/>
              <a:t>9/4/2018</a:t>
            </a:fld>
            <a:endParaRPr/>
          </a:p>
        </p:txBody>
      </p:sp>
      <p:sp>
        <p:nvSpPr>
          <p:cNvPr id="5" name="Footer Placeholder 4"/>
          <p:cNvSpPr>
            <a:spLocks noGrp="1"/>
          </p:cNvSpPr>
          <p:nvPr>
            <p:ph type="ftr" sz="quarter" idx="11"/>
          </p:nvPr>
        </p:nvSpPr>
        <p:spPr>
          <a:xfrm>
            <a:off x="6311153" y="6425640"/>
            <a:ext cx="2617694" cy="365125"/>
          </a:xfrm>
        </p:spPr>
        <p:txBody>
          <a:bodyPr/>
          <a:lstStyle>
            <a:lvl1pPr algn="r">
              <a:defRPr/>
            </a:lvl1pPr>
          </a:lstStyle>
          <a:p>
            <a:r>
              <a:rPr/>
              <a:t>
              </a:t>
            </a:r>
          </a:p>
        </p:txBody>
      </p:sp>
      <p:sp>
        <p:nvSpPr>
          <p:cNvPr id="7" name="Rectangle 6"/>
          <p:cNvSpPr/>
          <p:nvPr/>
        </p:nvSpPr>
        <p:spPr>
          <a:xfrm>
            <a:off x="282575" y="228600"/>
            <a:ext cx="4235450" cy="418795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Rectangle 7"/>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Rectangle 9"/>
          <p:cNvSpPr/>
          <p:nvPr/>
        </p:nvSpPr>
        <p:spPr>
          <a:xfrm>
            <a:off x="4624388" y="237744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3" name="Picture Placeholder 12"/>
          <p:cNvSpPr>
            <a:spLocks noGrp="1"/>
          </p:cNvSpPr>
          <p:nvPr>
            <p:ph type="pic" sz="quarter" idx="12"/>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3"/>
          </p:nvPr>
        </p:nvSpPr>
        <p:spPr>
          <a:xfrm>
            <a:off x="6802438" y="2377440"/>
            <a:ext cx="2057400" cy="2039112"/>
          </a:xfrm>
        </p:spPr>
        <p:txBody>
          <a:bodyPr/>
          <a:lstStyle>
            <a:lvl1pPr>
              <a:buNone/>
              <a:defRPr/>
            </a:lvl1pPr>
          </a:lstStyle>
          <a:p>
            <a:r>
              <a:rPr lang="en-US" dirty="0" smtClean="0"/>
              <a:t>Click icon to add picture</a:t>
            </a:r>
            <a:endParaRPr dirty="0"/>
          </a:p>
        </p:txBody>
      </p:sp>
      <p:sp>
        <p:nvSpPr>
          <p:cNvPr id="16" name="Text Placeholder 3"/>
          <p:cNvSpPr>
            <a:spLocks noGrp="1"/>
          </p:cNvSpPr>
          <p:nvPr>
            <p:ph type="body" sz="half" idx="2"/>
          </p:nvPr>
        </p:nvSpPr>
        <p:spPr>
          <a:xfrm>
            <a:off x="857250" y="1779494"/>
            <a:ext cx="3086100" cy="2040905"/>
          </a:xfrm>
        </p:spPr>
        <p:txBody>
          <a:bodyPr lIns="45720" tIns="45720" rIns="45720" anchor="t">
            <a:noAutofit/>
          </a:bodyPr>
          <a:lstStyle>
            <a:lvl1pPr marL="0" indent="0" algn="ctr">
              <a:buNone/>
              <a:defRPr sz="4600">
                <a:solidFill>
                  <a:schemeClr val="bg1"/>
                </a:solidFill>
              </a:defRPr>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15" name="TextBox 14"/>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7" name="Rectangle 6"/>
          <p:cNvSpPr/>
          <p:nvPr/>
        </p:nvSpPr>
        <p:spPr>
          <a:xfrm>
            <a:off x="658907" y="228600"/>
            <a:ext cx="820093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2286000" y="3124200"/>
            <a:ext cx="5638800" cy="1362075"/>
          </a:xfrm>
        </p:spPr>
        <p:txBody>
          <a:bodyPr anchor="b" anchorCtr="0">
            <a:normAutofit/>
          </a:bodyPr>
          <a:lstStyle>
            <a:lvl1pPr algn="l">
              <a:defRPr sz="3200" b="0" cap="none" baseline="0">
                <a:solidFill>
                  <a:schemeClr val="bg1"/>
                </a:solidFill>
              </a:defRPr>
            </a:lvl1pPr>
          </a:lstStyle>
          <a:p>
            <a:r>
              <a:rPr lang="en-US" smtClean="0"/>
              <a:t>Click to edit Master title style</a:t>
            </a:r>
            <a:endParaRPr/>
          </a:p>
        </p:txBody>
      </p:sp>
      <p:sp>
        <p:nvSpPr>
          <p:cNvPr id="3" name="Text Placeholder 2"/>
          <p:cNvSpPr>
            <a:spLocks noGrp="1"/>
          </p:cNvSpPr>
          <p:nvPr>
            <p:ph type="body" idx="1"/>
          </p:nvPr>
        </p:nvSpPr>
        <p:spPr>
          <a:xfrm>
            <a:off x="2286000" y="4495800"/>
            <a:ext cx="5638800" cy="1500187"/>
          </a:xfrm>
        </p:spPr>
        <p:txBody>
          <a:bodyPr anchor="t" anchorCtr="0">
            <a:normAutofit/>
          </a:bodyPr>
          <a:lstStyle>
            <a:lvl1pPr marL="0" indent="0">
              <a:spcBef>
                <a:spcPts val="300"/>
              </a:spcBef>
              <a:buNone/>
              <a:defRPr sz="1400" cap="none" baseline="0">
                <a:solidFill>
                  <a:schemeClr val="bg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a:xfrm>
            <a:off x="658906" y="6248774"/>
            <a:ext cx="1474694" cy="365125"/>
          </a:xfrm>
        </p:spPr>
        <p:txBody>
          <a:bodyPr/>
          <a:lstStyle>
            <a:lvl1pPr algn="l">
              <a:defRPr>
                <a:solidFill>
                  <a:schemeClr val="bg1"/>
                </a:solidFill>
              </a:defRPr>
            </a:lvl1pPr>
          </a:lstStyle>
          <a:p>
            <a:fld id="{B77F108C-2518-4D60-9FAF-6346FD9D7826}" type="datetime1">
              <a:rPr lang="en-US"/>
              <a:pPr/>
              <a:t>9/4/2018</a:t>
            </a:fld>
            <a:endParaRPr/>
          </a:p>
        </p:txBody>
      </p:sp>
      <p:sp>
        <p:nvSpPr>
          <p:cNvPr id="5" name="Footer Placeholder 4"/>
          <p:cNvSpPr>
            <a:spLocks noGrp="1"/>
          </p:cNvSpPr>
          <p:nvPr>
            <p:ph type="ftr" sz="quarter" idx="11"/>
          </p:nvPr>
        </p:nvSpPr>
        <p:spPr>
          <a:xfrm>
            <a:off x="2286000" y="6248774"/>
            <a:ext cx="5638800" cy="365125"/>
          </a:xfrm>
        </p:spPr>
        <p:txBody>
          <a:bodyPr/>
          <a:lstStyle>
            <a:lvl1pPr>
              <a:defRPr>
                <a:solidFill>
                  <a:schemeClr val="bg1"/>
                </a:solidFill>
              </a:defRPr>
            </a:lvl1pPr>
          </a:lstStyle>
          <a:p>
            <a:r>
              <a:rPr/>
              <a:t>
              </a:t>
            </a:r>
          </a:p>
        </p:txBody>
      </p:sp>
      <p:sp>
        <p:nvSpPr>
          <p:cNvPr id="6" name="Slide Number Placeholder 5"/>
          <p:cNvSpPr>
            <a:spLocks noGrp="1"/>
          </p:cNvSpPr>
          <p:nvPr>
            <p:ph type="sldNum" sz="quarter" idx="12"/>
          </p:nvPr>
        </p:nvSpPr>
        <p:spPr>
          <a:xfrm>
            <a:off x="8305800" y="6248774"/>
            <a:ext cx="554038" cy="365125"/>
          </a:xfrm>
        </p:spPr>
        <p:txBody>
          <a:bodyPr/>
          <a:lstStyle/>
          <a:p>
            <a:fld id="{8AF02B71-8991-4516-A01E-F1A9ACD28BDC}" type="slidenum">
              <a:rPr/>
              <a:pPr/>
              <a:t>‹#›</a:t>
            </a:fld>
            <a:endParaRPr/>
          </a:p>
        </p:txBody>
      </p:sp>
      <p:sp>
        <p:nvSpPr>
          <p:cNvPr id="8" name="TextBox 7"/>
          <p:cNvSpPr txBox="1"/>
          <p:nvPr/>
        </p:nvSpPr>
        <p:spPr>
          <a:xfrm>
            <a:off x="2003612" y="3110754"/>
            <a:ext cx="260909" cy="615553"/>
          </a:xfrm>
          <a:prstGeom prst="rect">
            <a:avLst/>
          </a:prstGeom>
          <a:noFill/>
        </p:spPr>
        <p:txBody>
          <a:bodyPr wrap="square" lIns="0" tIns="0" rIns="0" bIns="0" rtlCol="0">
            <a:spAutoFit/>
          </a:bodyPr>
          <a:lstStyle/>
          <a:p>
            <a:r>
              <a:rPr sz="4000" b="1">
                <a:solidFill>
                  <a:schemeClr val="accent1">
                    <a:lumMod val="60000"/>
                    <a:lumOff val="40000"/>
                  </a:schemeClr>
                </a:solidFill>
              </a:rPr>
              <a:t>+</a:t>
            </a:r>
          </a:p>
        </p:txBody>
      </p:sp>
      <p:sp>
        <p:nvSpPr>
          <p:cNvPr id="9" name="Rectangle 8"/>
          <p:cNvSpPr/>
          <p:nvPr/>
        </p:nvSpPr>
        <p:spPr>
          <a:xfrm>
            <a:off x="285750" y="228600"/>
            <a:ext cx="212725" cy="6345238"/>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wo Content">
    <p:spTree>
      <p:nvGrpSpPr>
        <p:cNvPr id="1" name=""/>
        <p:cNvGrpSpPr/>
        <p:nvPr/>
      </p:nvGrpSpPr>
      <p:grpSpPr>
        <a:xfrm>
          <a:off x="0" y="0"/>
          <a:ext cx="0" cy="0"/>
          <a:chOff x="0" y="0"/>
          <a:chExt cx="0" cy="0"/>
        </a:xfrm>
      </p:grpSpPr>
      <p:sp>
        <p:nvSpPr>
          <p:cNvPr id="11" name="Rectangle 10"/>
          <p:cNvSpPr/>
          <p:nvPr/>
        </p:nvSpPr>
        <p:spPr>
          <a:xfrm>
            <a:off x="8210550" y="282574"/>
            <a:ext cx="642097"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Rectangle 11"/>
          <p:cNvSpPr/>
          <p:nvPr/>
        </p:nvSpPr>
        <p:spPr>
          <a:xfrm>
            <a:off x="8068235" y="282574"/>
            <a:ext cx="91440" cy="1600200"/>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Content Placeholder 3"/>
          <p:cNvSpPr>
            <a:spLocks noGrp="1"/>
          </p:cNvSpPr>
          <p:nvPr>
            <p:ph sz="half" idx="2"/>
          </p:nvPr>
        </p:nvSpPr>
        <p:spPr>
          <a:xfrm>
            <a:off x="439987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DDE52B54-BC1D-466E-98B4-B0082340936C}" type="datetime1">
              <a:rPr lang="en-US"/>
              <a:pPr/>
              <a:t>9/4/2018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Comparison">
    <p:spTree>
      <p:nvGrpSpPr>
        <p:cNvPr id="1" name=""/>
        <p:cNvGrpSpPr/>
        <p:nvPr/>
      </p:nvGrpSpPr>
      <p:grpSpPr>
        <a:xfrm>
          <a:off x="0" y="0"/>
          <a:ext cx="0" cy="0"/>
          <a:chOff x="0" y="0"/>
          <a:chExt cx="0" cy="0"/>
        </a:xfrm>
      </p:grpSpPr>
      <p:sp>
        <p:nvSpPr>
          <p:cNvPr id="10" name="Rectangle 9"/>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TextBox 11"/>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lvl1pPr>
              <a:defRPr/>
            </a:lvl1pPr>
          </a:lstStyle>
          <a:p>
            <a:r>
              <a:rPr lang="en-US" smtClean="0"/>
              <a:t>Click to edit Master title style</a:t>
            </a:r>
            <a:endParaRPr/>
          </a:p>
        </p:txBody>
      </p:sp>
      <p:sp>
        <p:nvSpPr>
          <p:cNvPr id="4" name="Content Placeholder 3"/>
          <p:cNvSpPr>
            <a:spLocks noGrp="1"/>
          </p:cNvSpPr>
          <p:nvPr>
            <p:ph sz="half" idx="2"/>
          </p:nvPr>
        </p:nvSpPr>
        <p:spPr>
          <a:xfrm>
            <a:off x="497541"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6" name="Content Placeholder 5"/>
          <p:cNvSpPr>
            <a:spLocks noGrp="1"/>
          </p:cNvSpPr>
          <p:nvPr>
            <p:ph sz="quarter" idx="4"/>
          </p:nvPr>
        </p:nvSpPr>
        <p:spPr>
          <a:xfrm>
            <a:off x="4399878" y="2447365"/>
            <a:ext cx="3657600" cy="3678797"/>
          </a:xfrm>
        </p:spPr>
        <p:txBody>
          <a:bodyPr>
            <a:normAutofit/>
          </a:bodyPr>
          <a:lstStyle>
            <a:lvl1pPr>
              <a:defRPr sz="1800"/>
            </a:lvl1pPr>
            <a:lvl2pPr>
              <a:defRPr sz="1800"/>
            </a:lvl2pPr>
            <a:lvl3pPr>
              <a:defRPr sz="1800"/>
            </a:lvl3pPr>
            <a:lvl4pPr>
              <a:defRPr sz="1800"/>
            </a:lvl4pPr>
            <a:lvl5pPr>
              <a:defRPr sz="18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7" name="Date Placeholder 6"/>
          <p:cNvSpPr>
            <a:spLocks noGrp="1"/>
          </p:cNvSpPr>
          <p:nvPr>
            <p:ph type="dt" sz="half" idx="10"/>
          </p:nvPr>
        </p:nvSpPr>
        <p:spPr/>
        <p:txBody>
          <a:bodyPr/>
          <a:lstStyle/>
          <a:p>
            <a:fld id="{A1508C9F-E380-43A3-ADC1-0217F1EB7573}" type="datetime1">
              <a:rPr lang="en-US"/>
              <a:pPr/>
              <a:t>9/4/2018</a:t>
            </a:fld>
            <a:endParaRPr/>
          </a:p>
        </p:txBody>
      </p:sp>
      <p:sp>
        <p:nvSpPr>
          <p:cNvPr id="8" name="Footer Placeholder 7"/>
          <p:cNvSpPr>
            <a:spLocks noGrp="1"/>
          </p:cNvSpPr>
          <p:nvPr>
            <p:ph type="ftr" sz="quarter" idx="11"/>
          </p:nvPr>
        </p:nvSpPr>
        <p:spPr/>
        <p:txBody>
          <a:bodyPr/>
          <a:lstStyle/>
          <a:p>
            <a:endParaRPr/>
          </a:p>
        </p:txBody>
      </p:sp>
      <p:sp>
        <p:nvSpPr>
          <p:cNvPr id="9" name="Slide Number Placeholder 8"/>
          <p:cNvSpPr>
            <a:spLocks noGrp="1"/>
          </p:cNvSpPr>
          <p:nvPr>
            <p:ph type="sldNum" sz="quarter" idx="12"/>
          </p:nvPr>
        </p:nvSpPr>
        <p:spPr/>
        <p:txBody>
          <a:bodyPr/>
          <a:lstStyle/>
          <a:p>
            <a:fld id="{8AF02B71-8991-4516-A01E-F1A9ACD28BDC}" type="slidenum">
              <a:rPr/>
              <a:pPr/>
              <a:t>‹#›</a:t>
            </a:fld>
            <a:endParaRPr/>
          </a:p>
        </p:txBody>
      </p:sp>
      <p:sp>
        <p:nvSpPr>
          <p:cNvPr id="3" name="Text Placeholder 2"/>
          <p:cNvSpPr>
            <a:spLocks noGrp="1"/>
          </p:cNvSpPr>
          <p:nvPr>
            <p:ph type="body" idx="1"/>
          </p:nvPr>
        </p:nvSpPr>
        <p:spPr>
          <a:xfrm>
            <a:off x="497541" y="2070847"/>
            <a:ext cx="3657600" cy="322729"/>
          </a:xfrm>
          <a:prstGeom prst="rect">
            <a:avLst/>
          </a:prstGeom>
          <a:solidFill>
            <a:schemeClr val="accent3"/>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5" name="Text Placeholder 4"/>
          <p:cNvSpPr>
            <a:spLocks noGrp="1"/>
          </p:cNvSpPr>
          <p:nvPr>
            <p:ph type="body" sz="quarter" idx="3"/>
          </p:nvPr>
        </p:nvSpPr>
        <p:spPr>
          <a:xfrm>
            <a:off x="4399878" y="2070847"/>
            <a:ext cx="3657600" cy="322729"/>
          </a:xfrm>
          <a:prstGeom prst="rect">
            <a:avLst/>
          </a:prstGeom>
          <a:solidFill>
            <a:schemeClr val="accent3">
              <a:lumMod val="60000"/>
              <a:lumOff val="40000"/>
            </a:schemeClr>
          </a:solidFill>
        </p:spPr>
        <p:txBody>
          <a:bodyPr tIns="0" bIns="0" anchor="ctr" anchorCtr="0">
            <a:noAutofit/>
          </a:bodyPr>
          <a:lstStyle>
            <a:lvl1pPr marL="0" indent="0" algn="ctr">
              <a:spcBef>
                <a:spcPts val="0"/>
              </a:spcBef>
              <a:buNone/>
              <a:defRPr sz="1800" b="0">
                <a:solidFill>
                  <a:schemeClr val="bg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2 Content, Top and Bottom">
    <p:spTree>
      <p:nvGrpSpPr>
        <p:cNvPr id="1" name=""/>
        <p:cNvGrpSpPr/>
        <p:nvPr/>
      </p:nvGrpSpPr>
      <p:grpSpPr>
        <a:xfrm>
          <a:off x="0" y="0"/>
          <a:ext cx="0" cy="0"/>
          <a:chOff x="0" y="0"/>
          <a:chExt cx="0" cy="0"/>
        </a:xfrm>
      </p:grpSpPr>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98517" y="1985963"/>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F2C868E7-101B-4C6B-9C4C-A85A7CD6FD99}" type="datetime1">
              <a:rPr lang="en-US"/>
              <a:pPr/>
              <a:t>9/4/2018</a:t>
            </a:fld>
            <a:endParaRPr/>
          </a:p>
        </p:txBody>
      </p:sp>
      <p:sp>
        <p:nvSpPr>
          <p:cNvPr id="6" name="Footer Placeholder 5"/>
          <p:cNvSpPr>
            <a:spLocks noGrp="1"/>
          </p:cNvSpPr>
          <p:nvPr>
            <p:ph type="ftr" sz="quarter" idx="11"/>
          </p:nvPr>
        </p:nvSpPr>
        <p:spPr/>
        <p:txBody>
          <a:bodyPr/>
          <a:lstStyle/>
          <a:p>
            <a:r>
              <a:rPr/>
              <a:t>
              </a:t>
            </a:r>
          </a:p>
        </p:txBody>
      </p:sp>
      <p:sp>
        <p:nvSpPr>
          <p:cNvPr id="13" name="Content Placeholder 2"/>
          <p:cNvSpPr>
            <a:spLocks noGrp="1"/>
          </p:cNvSpPr>
          <p:nvPr>
            <p:ph sz="half" idx="14"/>
          </p:nvPr>
        </p:nvSpPr>
        <p:spPr>
          <a:xfrm>
            <a:off x="498517" y="4164965"/>
            <a:ext cx="7569157"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Rectangle 13"/>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5" name="Slide Number Placeholder 6"/>
          <p:cNvSpPr>
            <a:spLocks noGrp="1"/>
          </p:cNvSpPr>
          <p:nvPr>
            <p:ph type="sldNum" sz="quarter" idx="12"/>
          </p:nvPr>
        </p:nvSpPr>
        <p:spPr>
          <a:xfrm>
            <a:off x="8305800" y="242234"/>
            <a:ext cx="554038" cy="365125"/>
          </a:xfrm>
        </p:spPr>
        <p:txBody>
          <a:bodyPr/>
          <a:lstStyle/>
          <a:p>
            <a:fld id="{8AF02B71-8991-4516-A01E-F1A9ACD28BDC}" type="slidenum">
              <a:rPr/>
              <a:pPr/>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3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5" name="Date Placeholder 4"/>
          <p:cNvSpPr>
            <a:spLocks noGrp="1"/>
          </p:cNvSpPr>
          <p:nvPr>
            <p:ph type="dt" sz="half" idx="10"/>
          </p:nvPr>
        </p:nvSpPr>
        <p:spPr/>
        <p:txBody>
          <a:bodyPr/>
          <a:lstStyle/>
          <a:p>
            <a:fld id="{B0C83FD2-B255-4F2A-ACF3-B969FC717B42}" type="datetime1">
              <a:rPr lang="en-US"/>
              <a:pPr/>
              <a:t>9/4/2018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1" name="Content Placeholder 2"/>
          <p:cNvSpPr>
            <a:spLocks noGrp="1"/>
          </p:cNvSpPr>
          <p:nvPr>
            <p:ph sz="half" idx="15"/>
          </p:nvPr>
        </p:nvSpPr>
        <p:spPr>
          <a:xfrm>
            <a:off x="498518" y="1985963"/>
            <a:ext cx="3657600" cy="414020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3"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4 Content">
    <p:spTree>
      <p:nvGrpSpPr>
        <p:cNvPr id="1" name=""/>
        <p:cNvGrpSpPr/>
        <p:nvPr/>
      </p:nvGrpSpPr>
      <p:grpSpPr>
        <a:xfrm>
          <a:off x="0" y="0"/>
          <a:ext cx="0" cy="0"/>
          <a:chOff x="0" y="0"/>
          <a:chExt cx="0" cy="0"/>
        </a:xfrm>
      </p:grpSpPr>
      <p:sp>
        <p:nvSpPr>
          <p:cNvPr id="8" name="Rectangle 7"/>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5" name="Date Placeholder 4"/>
          <p:cNvSpPr>
            <a:spLocks noGrp="1"/>
          </p:cNvSpPr>
          <p:nvPr>
            <p:ph type="dt" sz="half" idx="10"/>
          </p:nvPr>
        </p:nvSpPr>
        <p:spPr/>
        <p:txBody>
          <a:bodyPr/>
          <a:lstStyle/>
          <a:p>
            <a:fld id="{1C04C4D9-B721-416B-8577-D7DEE36F49A6}" type="datetime1">
              <a:rPr lang="en-US"/>
              <a:pPr/>
              <a:t>9/4/2018</a:t>
            </a:fld>
            <a:endParaRPr/>
          </a:p>
        </p:txBody>
      </p:sp>
      <p:sp>
        <p:nvSpPr>
          <p:cNvPr id="6" name="Footer Placeholder 5"/>
          <p:cNvSpPr>
            <a:spLocks noGrp="1"/>
          </p:cNvSpPr>
          <p:nvPr>
            <p:ph type="ftr" sz="quarter" idx="11"/>
          </p:nvPr>
        </p:nvSpPr>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2" name="Content Placeholder 2"/>
          <p:cNvSpPr>
            <a:spLocks noGrp="1"/>
          </p:cNvSpPr>
          <p:nvPr>
            <p:ph sz="half" idx="17"/>
          </p:nvPr>
        </p:nvSpPr>
        <p:spPr>
          <a:xfrm>
            <a:off x="502920" y="1985963"/>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4" name="Content Placeholder 2"/>
          <p:cNvSpPr>
            <a:spLocks noGrp="1"/>
          </p:cNvSpPr>
          <p:nvPr>
            <p:ph sz="half" idx="18"/>
          </p:nvPr>
        </p:nvSpPr>
        <p:spPr>
          <a:xfrm>
            <a:off x="502920" y="4164965"/>
            <a:ext cx="3657413"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5" name="Content Placeholder 2"/>
          <p:cNvSpPr>
            <a:spLocks noGrp="1"/>
          </p:cNvSpPr>
          <p:nvPr>
            <p:ph sz="half" idx="1"/>
          </p:nvPr>
        </p:nvSpPr>
        <p:spPr>
          <a:xfrm>
            <a:off x="4410075" y="1985963"/>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16" name="Content Placeholder 2"/>
          <p:cNvSpPr>
            <a:spLocks noGrp="1"/>
          </p:cNvSpPr>
          <p:nvPr>
            <p:ph sz="half" idx="16"/>
          </p:nvPr>
        </p:nvSpPr>
        <p:spPr>
          <a:xfrm>
            <a:off x="4410075" y="4169664"/>
            <a:ext cx="3657600" cy="1965960"/>
          </a:xfrm>
        </p:spPr>
        <p:txBody>
          <a:bodyPr>
            <a:normAutofit/>
          </a:bodyPr>
          <a:lstStyle>
            <a:lvl1pPr>
              <a:defRPr sz="1800"/>
            </a:lvl1pPr>
            <a:lvl2pPr>
              <a:defRPr sz="1800"/>
            </a:lvl2pPr>
            <a:lvl3pPr>
              <a:defRPr sz="18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Only">
    <p:spTree>
      <p:nvGrpSpPr>
        <p:cNvPr id="1" name=""/>
        <p:cNvGrpSpPr/>
        <p:nvPr/>
      </p:nvGrpSpPr>
      <p:grpSpPr>
        <a:xfrm>
          <a:off x="0" y="0"/>
          <a:ext cx="0" cy="0"/>
          <a:chOff x="0" y="0"/>
          <a:chExt cx="0" cy="0"/>
        </a:xfrm>
      </p:grpSpPr>
      <p:sp>
        <p:nvSpPr>
          <p:cNvPr id="6" name="Rectangle 5"/>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8" name="TextBox 7"/>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Date Placeholder 2"/>
          <p:cNvSpPr>
            <a:spLocks noGrp="1"/>
          </p:cNvSpPr>
          <p:nvPr>
            <p:ph type="dt" sz="half" idx="10"/>
          </p:nvPr>
        </p:nvSpPr>
        <p:spPr/>
        <p:txBody>
          <a:bodyPr/>
          <a:lstStyle/>
          <a:p>
            <a:fld id="{1B10C791-6992-4CCF-A244-B250C8BB22F1}" type="datetime1">
              <a:rPr lang="en-US"/>
              <a:pPr/>
              <a:t>9/4/2018</a:t>
            </a:fld>
            <a:endParaRPr/>
          </a:p>
        </p:txBody>
      </p:sp>
      <p:sp>
        <p:nvSpPr>
          <p:cNvPr id="4" name="Footer Placeholder 3"/>
          <p:cNvSpPr>
            <a:spLocks noGrp="1"/>
          </p:cNvSpPr>
          <p:nvPr>
            <p:ph type="ftr" sz="quarter" idx="11"/>
          </p:nvPr>
        </p:nvSpPr>
        <p:spPr/>
        <p:txBody>
          <a:bodyPr/>
          <a:lstStyle/>
          <a:p>
            <a:r>
              <a:rPr/>
              <a:t>
              </a:t>
            </a:r>
          </a:p>
        </p:txBody>
      </p:sp>
      <p:sp>
        <p:nvSpPr>
          <p:cNvPr id="5" name="Slide Number Placeholder 4"/>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Blank">
    <p:spTree>
      <p:nvGrpSpPr>
        <p:cNvPr id="1" name=""/>
        <p:cNvGrpSpPr/>
        <p:nvPr/>
      </p:nvGrpSpPr>
      <p:grpSpPr>
        <a:xfrm>
          <a:off x="0" y="0"/>
          <a:ext cx="0" cy="0"/>
          <a:chOff x="0" y="0"/>
          <a:chExt cx="0" cy="0"/>
        </a:xfrm>
      </p:grpSpPr>
      <p:sp>
        <p:nvSpPr>
          <p:cNvPr id="5" name="Rectangle 4"/>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Date Placeholder 1"/>
          <p:cNvSpPr>
            <a:spLocks noGrp="1"/>
          </p:cNvSpPr>
          <p:nvPr>
            <p:ph type="dt" sz="half" idx="10"/>
          </p:nvPr>
        </p:nvSpPr>
        <p:spPr/>
        <p:txBody>
          <a:bodyPr/>
          <a:lstStyle/>
          <a:p>
            <a:fld id="{51420578-B892-4967-98F8-D0B4A045ADFD}" type="datetime1">
              <a:rPr lang="en-US"/>
              <a:pPr/>
              <a:t>9/4/2018</a:t>
            </a:fld>
            <a:endParaRPr/>
          </a:p>
        </p:txBody>
      </p:sp>
      <p:sp>
        <p:nvSpPr>
          <p:cNvPr id="3" name="Footer Placeholder 2"/>
          <p:cNvSpPr>
            <a:spLocks noGrp="1"/>
          </p:cNvSpPr>
          <p:nvPr>
            <p:ph type="ftr" sz="quarter" idx="11"/>
          </p:nvPr>
        </p:nvSpPr>
        <p:spPr/>
        <p:txBody>
          <a:bodyPr/>
          <a:lstStyle/>
          <a:p>
            <a:r>
              <a:rPr/>
              <a:t>
              </a:t>
            </a:r>
          </a:p>
        </p:txBody>
      </p:sp>
      <p:sp>
        <p:nvSpPr>
          <p:cNvPr id="4" name="Slide Number Placeholder 3"/>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8" name="Rectangle 7"/>
          <p:cNvSpPr/>
          <p:nvPr/>
        </p:nvSpPr>
        <p:spPr>
          <a:xfrm>
            <a:off x="282575" y="228600"/>
            <a:ext cx="3451225"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5" y="2571750"/>
            <a:ext cx="3255264"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3" name="Content Placeholder 2"/>
          <p:cNvSpPr>
            <a:spLocks noGrp="1"/>
          </p:cNvSpPr>
          <p:nvPr>
            <p:ph idx="1"/>
          </p:nvPr>
        </p:nvSpPr>
        <p:spPr>
          <a:xfrm>
            <a:off x="4168775" y="273050"/>
            <a:ext cx="4597399" cy="5853113"/>
          </a:xfrm>
        </p:spPr>
        <p:txBody>
          <a:bodyPr>
            <a:normAutofit/>
          </a:bodyPr>
          <a:lstStyle>
            <a:lvl1pPr>
              <a:defRPr sz="1800"/>
            </a:lvl1pPr>
            <a:lvl2pPr>
              <a:defRPr sz="1800"/>
            </a:lvl2pPr>
            <a:lvl3pPr>
              <a:defRPr sz="1800"/>
            </a:lvl3pPr>
            <a:lvl4pPr>
              <a:defRPr sz="1800"/>
            </a:lvl4pPr>
            <a:lvl5pPr>
              <a:defRPr sz="18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Text Placeholder 3"/>
          <p:cNvSpPr>
            <a:spLocks noGrp="1"/>
          </p:cNvSpPr>
          <p:nvPr>
            <p:ph type="body" sz="half" idx="2"/>
          </p:nvPr>
        </p:nvSpPr>
        <p:spPr>
          <a:xfrm>
            <a:off x="381093" y="3733800"/>
            <a:ext cx="325526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CBDCDF1B-54EC-4432-8649-0FE40DD46F86}" type="datetime1">
              <a:rPr lang="en-US"/>
              <a:pPr/>
              <a:t>9/4/2018</a:t>
            </a:fld>
            <a:endParaRPr/>
          </a:p>
        </p:txBody>
      </p:sp>
      <p:sp>
        <p:nvSpPr>
          <p:cNvPr id="6" name="Footer Placeholder 5"/>
          <p:cNvSpPr>
            <a:spLocks noGrp="1"/>
          </p:cNvSpPr>
          <p:nvPr>
            <p:ph type="ftr" sz="quarter" idx="11"/>
          </p:nvPr>
        </p:nvSpPr>
        <p:spPr>
          <a:xfrm>
            <a:off x="3859305" y="6423585"/>
            <a:ext cx="3316941" cy="365125"/>
          </a:xfrm>
        </p:spPr>
        <p:txBody>
          <a:bodyPr/>
          <a:lstStyle/>
          <a:p>
            <a:r>
              <a:rPr/>
              <a:t>
              </a:t>
            </a: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169404" y="3124200"/>
            <a:ext cx="3898272"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6" y="228600"/>
            <a:ext cx="3460658" cy="6345238"/>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169404" y="3995737"/>
            <a:ext cx="3898272"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4CDA6A0B-D499-425D-9760-7E378B1D24E7}" type="datetime1">
              <a:rPr lang="en-US"/>
              <a:pPr/>
              <a:t>9/4/2018</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3990110"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picTx" preserve="1">
  <p:cSld name="Picture above Caption">
    <p:spTree>
      <p:nvGrpSpPr>
        <p:cNvPr id="1" name=""/>
        <p:cNvGrpSpPr/>
        <p:nvPr/>
      </p:nvGrpSpPr>
      <p:grpSpPr>
        <a:xfrm>
          <a:off x="0" y="0"/>
          <a:ext cx="0" cy="0"/>
          <a:chOff x="0" y="0"/>
          <a:chExt cx="0" cy="0"/>
        </a:xfrm>
      </p:grpSpPr>
      <p:sp>
        <p:nvSpPr>
          <p:cNvPr id="2" name="Title 1"/>
          <p:cNvSpPr>
            <a:spLocks noGrp="1"/>
          </p:cNvSpPr>
          <p:nvPr>
            <p:ph type="title"/>
          </p:nvPr>
        </p:nvSpPr>
        <p:spPr>
          <a:xfrm>
            <a:off x="506505" y="4424082"/>
            <a:ext cx="6191157" cy="83371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28600"/>
            <a:ext cx="637838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506505" y="5257799"/>
            <a:ext cx="6191157" cy="885825"/>
          </a:xfrm>
        </p:spPr>
        <p:txBody>
          <a:bodyPr/>
          <a:lstStyle>
            <a:lvl1pPr marL="0" indent="0">
              <a:spcBef>
                <a:spcPts val="300"/>
              </a:spcBef>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6181B2FE-6867-4DAE-B4E4-C2A1A38F9C0D}" type="datetime1">
              <a:rPr lang="en-US"/>
              <a:pPr/>
              <a:t>9/4/2018</a:t>
            </a:fld>
            <a:endParaRPr/>
          </a:p>
        </p:txBody>
      </p:sp>
      <p:sp>
        <p:nvSpPr>
          <p:cNvPr id="6" name="Footer Placeholder 5"/>
          <p:cNvSpPr>
            <a:spLocks noGrp="1"/>
          </p:cNvSpPr>
          <p:nvPr>
            <p:ph type="ftr" sz="quarter" idx="11"/>
          </p:nvPr>
        </p:nvSpPr>
        <p:spPr/>
        <p:txBody>
          <a:bodyPr/>
          <a:lstStyle/>
          <a:p>
            <a:endParaRP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8" name="Rectangle 7"/>
          <p:cNvSpPr/>
          <p:nvPr/>
        </p:nvSpPr>
        <p:spPr>
          <a:xfrm>
            <a:off x="6802438" y="228600"/>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Rectangle 8"/>
          <p:cNvSpPr/>
          <p:nvPr/>
        </p:nvSpPr>
        <p:spPr>
          <a:xfrm>
            <a:off x="6802438" y="2377440"/>
            <a:ext cx="2057400" cy="2039112"/>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0" name="TextBox 9"/>
          <p:cNvSpPr txBox="1"/>
          <p:nvPr/>
        </p:nvSpPr>
        <p:spPr>
          <a:xfrm>
            <a:off x="327212" y="4632792"/>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2 Pictures with Caption">
    <p:spTree>
      <p:nvGrpSpPr>
        <p:cNvPr id="1" name=""/>
        <p:cNvGrpSpPr/>
        <p:nvPr/>
      </p:nvGrpSpPr>
      <p:grpSpPr>
        <a:xfrm>
          <a:off x="0" y="0"/>
          <a:ext cx="0" cy="0"/>
          <a:chOff x="0" y="0"/>
          <a:chExt cx="0" cy="0"/>
        </a:xfrm>
      </p:grpSpPr>
      <p:sp>
        <p:nvSpPr>
          <p:cNvPr id="8" name="Rectangle 7"/>
          <p:cNvSpPr/>
          <p:nvPr/>
        </p:nvSpPr>
        <p:spPr>
          <a:xfrm>
            <a:off x="282574" y="228600"/>
            <a:ext cx="6387167"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6181611"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6179566"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5212262" y="6235607"/>
            <a:ext cx="1348398" cy="365125"/>
          </a:xfrm>
        </p:spPr>
        <p:txBody>
          <a:bodyPr/>
          <a:lstStyle>
            <a:lvl1pPr>
              <a:defRPr>
                <a:solidFill>
                  <a:schemeClr val="bg1"/>
                </a:solidFill>
              </a:defRPr>
            </a:lvl1pPr>
          </a:lstStyle>
          <a:p>
            <a:fld id="{5CBBBDE9-5D16-425E-B13A-2B2E02B8AFC8}" type="datetime1">
              <a:rPr lang="en-US"/>
              <a:pPr/>
              <a:t>9/4/2018</a:t>
            </a:fld>
            <a:endParaRPr/>
          </a:p>
        </p:txBody>
      </p:sp>
      <p:sp>
        <p:nvSpPr>
          <p:cNvPr id="6" name="Footer Placeholder 5"/>
          <p:cNvSpPr>
            <a:spLocks noGrp="1"/>
          </p:cNvSpPr>
          <p:nvPr>
            <p:ph type="ftr" sz="quarter" idx="11"/>
          </p:nvPr>
        </p:nvSpPr>
        <p:spPr>
          <a:xfrm>
            <a:off x="381095" y="6235607"/>
            <a:ext cx="46481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6802438" y="237494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6802438" y="4535424"/>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3 Pictures with Caption">
    <p:spTree>
      <p:nvGrpSpPr>
        <p:cNvPr id="1" name=""/>
        <p:cNvGrpSpPr/>
        <p:nvPr/>
      </p:nvGrpSpPr>
      <p:grpSpPr>
        <a:xfrm>
          <a:off x="0" y="0"/>
          <a:ext cx="0" cy="0"/>
          <a:chOff x="0" y="0"/>
          <a:chExt cx="0" cy="0"/>
        </a:xfrm>
      </p:grpSpPr>
      <p:sp>
        <p:nvSpPr>
          <p:cNvPr id="8" name="Rectangle 7"/>
          <p:cNvSpPr/>
          <p:nvPr/>
        </p:nvSpPr>
        <p:spPr>
          <a:xfrm>
            <a:off x="282575" y="228600"/>
            <a:ext cx="4235450" cy="6345238"/>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380554" y="2571750"/>
            <a:ext cx="4016633" cy="1162050"/>
          </a:xfrm>
        </p:spPr>
        <p:txBody>
          <a:bodyPr anchor="b">
            <a:normAutofit/>
          </a:bodyPr>
          <a:lstStyle>
            <a:lvl1pPr algn="l">
              <a:defRPr sz="2600" b="0">
                <a:solidFill>
                  <a:schemeClr val="bg1"/>
                </a:solidFill>
              </a:defRPr>
            </a:lvl1pPr>
          </a:lstStyle>
          <a:p>
            <a:r>
              <a:rPr lang="en-US" smtClean="0"/>
              <a:t>Click to edit Master title style</a:t>
            </a:r>
            <a:endParaRPr/>
          </a:p>
        </p:txBody>
      </p:sp>
      <p:sp>
        <p:nvSpPr>
          <p:cNvPr id="4" name="Text Placeholder 3"/>
          <p:cNvSpPr>
            <a:spLocks noGrp="1"/>
          </p:cNvSpPr>
          <p:nvPr>
            <p:ph type="body" sz="half" idx="2"/>
          </p:nvPr>
        </p:nvSpPr>
        <p:spPr>
          <a:xfrm>
            <a:off x="381094" y="3733800"/>
            <a:ext cx="4015304" cy="2392363"/>
          </a:xfrm>
        </p:spPr>
        <p:txBody>
          <a:bodyPr/>
          <a:lstStyle>
            <a:lvl1pPr marL="0" indent="0">
              <a:buNone/>
              <a:defRPr sz="1400">
                <a:solidFill>
                  <a:schemeClr val="bg1"/>
                </a:solidFill>
              </a:defRPr>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048000" y="6235607"/>
            <a:ext cx="1348398" cy="365125"/>
          </a:xfrm>
        </p:spPr>
        <p:txBody>
          <a:bodyPr/>
          <a:lstStyle>
            <a:lvl1pPr>
              <a:defRPr>
                <a:solidFill>
                  <a:schemeClr val="bg1"/>
                </a:solidFill>
              </a:defRPr>
            </a:lvl1pPr>
          </a:lstStyle>
          <a:p>
            <a:fld id="{272344D9-246E-4D78-97F7-CDDE15C7C47A}" type="datetime1">
              <a:rPr lang="en-US"/>
              <a:pPr/>
              <a:t>9/4/2018</a:t>
            </a:fld>
            <a:endParaRPr/>
          </a:p>
        </p:txBody>
      </p:sp>
      <p:sp>
        <p:nvSpPr>
          <p:cNvPr id="6" name="Footer Placeholder 5"/>
          <p:cNvSpPr>
            <a:spLocks noGrp="1"/>
          </p:cNvSpPr>
          <p:nvPr>
            <p:ph type="ftr" sz="quarter" idx="11"/>
          </p:nvPr>
        </p:nvSpPr>
        <p:spPr>
          <a:xfrm>
            <a:off x="381095" y="6235607"/>
            <a:ext cx="2590705" cy="365125"/>
          </a:xfrm>
        </p:spPr>
        <p:txBody>
          <a:bodyPr/>
          <a:lstStyle>
            <a:lvl1pPr>
              <a:defRPr>
                <a:solidFill>
                  <a:schemeClr val="bg1"/>
                </a:solidFill>
              </a:defRPr>
            </a:lvl1p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a:off x="424891" y="174812"/>
            <a:ext cx="413309" cy="830997"/>
          </a:xfrm>
          <a:prstGeom prst="rect">
            <a:avLst/>
          </a:prstGeom>
          <a:noFill/>
        </p:spPr>
        <p:txBody>
          <a:bodyPr wrap="square" lIns="0" tIns="0" rIns="0" bIns="0" rtlCol="0">
            <a:spAutoFit/>
          </a:bodyPr>
          <a:lstStyle/>
          <a:p>
            <a:r>
              <a:rPr sz="5400" b="1">
                <a:solidFill>
                  <a:schemeClr val="accent1">
                    <a:lumMod val="60000"/>
                    <a:lumOff val="40000"/>
                  </a:schemeClr>
                </a:solidFill>
              </a:rPr>
              <a:t>+</a:t>
            </a:r>
          </a:p>
        </p:txBody>
      </p:sp>
      <p:sp>
        <p:nvSpPr>
          <p:cNvPr id="10" name="Rectangle 9"/>
          <p:cNvSpPr/>
          <p:nvPr/>
        </p:nvSpPr>
        <p:spPr>
          <a:xfrm>
            <a:off x="6802438" y="228600"/>
            <a:ext cx="2057400" cy="2039112"/>
          </a:xfrm>
          <a:prstGeom prst="rect">
            <a:avLst/>
          </a:prstGeom>
          <a:solidFill>
            <a:schemeClr val="accent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1" name="Rectangle 10"/>
          <p:cNvSpPr/>
          <p:nvPr/>
        </p:nvSpPr>
        <p:spPr>
          <a:xfrm>
            <a:off x="4624388" y="4534726"/>
            <a:ext cx="2057400" cy="203911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12" name="Picture Placeholder 12"/>
          <p:cNvSpPr>
            <a:spLocks noGrp="1"/>
          </p:cNvSpPr>
          <p:nvPr>
            <p:ph type="pic" sz="quarter" idx="13"/>
          </p:nvPr>
        </p:nvSpPr>
        <p:spPr>
          <a:xfrm>
            <a:off x="4624388" y="228600"/>
            <a:ext cx="2057400" cy="2039112"/>
          </a:xfrm>
        </p:spPr>
        <p:txBody>
          <a:bodyPr/>
          <a:lstStyle>
            <a:lvl1pPr>
              <a:buNone/>
              <a:defRPr/>
            </a:lvl1pPr>
          </a:lstStyle>
          <a:p>
            <a:r>
              <a:rPr lang="en-US" dirty="0" smtClean="0"/>
              <a:t>Click icon to add picture</a:t>
            </a:r>
            <a:endParaRPr dirty="0"/>
          </a:p>
        </p:txBody>
      </p:sp>
      <p:sp>
        <p:nvSpPr>
          <p:cNvPr id="13" name="Picture Placeholder 12"/>
          <p:cNvSpPr>
            <a:spLocks noGrp="1"/>
          </p:cNvSpPr>
          <p:nvPr>
            <p:ph type="pic" sz="quarter" idx="14"/>
          </p:nvPr>
        </p:nvSpPr>
        <p:spPr>
          <a:xfrm>
            <a:off x="4624388" y="2381663"/>
            <a:ext cx="2057400" cy="2039112"/>
          </a:xfrm>
        </p:spPr>
        <p:txBody>
          <a:bodyPr/>
          <a:lstStyle>
            <a:lvl1pPr>
              <a:buNone/>
              <a:defRPr/>
            </a:lvl1pPr>
          </a:lstStyle>
          <a:p>
            <a:r>
              <a:rPr lang="en-US" dirty="0" smtClean="0"/>
              <a:t>Click icon to add picture</a:t>
            </a:r>
            <a:endParaRPr dirty="0"/>
          </a:p>
        </p:txBody>
      </p:sp>
      <p:sp>
        <p:nvSpPr>
          <p:cNvPr id="14" name="Picture Placeholder 12"/>
          <p:cNvSpPr>
            <a:spLocks noGrp="1"/>
          </p:cNvSpPr>
          <p:nvPr>
            <p:ph type="pic" sz="quarter" idx="15"/>
          </p:nvPr>
        </p:nvSpPr>
        <p:spPr>
          <a:xfrm>
            <a:off x="6803136" y="2381662"/>
            <a:ext cx="2057400" cy="418795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3 Pictures with Caption, Alt.">
    <p:spTree>
      <p:nvGrpSpPr>
        <p:cNvPr id="1" name=""/>
        <p:cNvGrpSpPr/>
        <p:nvPr/>
      </p:nvGrpSpPr>
      <p:grpSpPr>
        <a:xfrm>
          <a:off x="0" y="0"/>
          <a:ext cx="0" cy="0"/>
          <a:chOff x="0" y="0"/>
          <a:chExt cx="0" cy="0"/>
        </a:xfrm>
      </p:grpSpPr>
      <p:sp>
        <p:nvSpPr>
          <p:cNvPr id="11" name="Rectangle 10"/>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Title 1"/>
          <p:cNvSpPr>
            <a:spLocks noGrp="1"/>
          </p:cNvSpPr>
          <p:nvPr>
            <p:ph type="title"/>
          </p:nvPr>
        </p:nvSpPr>
        <p:spPr>
          <a:xfrm>
            <a:off x="4953000" y="3124200"/>
            <a:ext cx="3108960" cy="871538"/>
          </a:xfrm>
        </p:spPr>
        <p:txBody>
          <a:bodyPr anchor="b">
            <a:normAutofit/>
          </a:bodyPr>
          <a:lstStyle>
            <a:lvl1pPr algn="l">
              <a:defRPr sz="2600" b="0"/>
            </a:lvl1pPr>
          </a:lstStyle>
          <a:p>
            <a:r>
              <a:rPr lang="en-US" smtClean="0"/>
              <a:t>Click to edit Master title style</a:t>
            </a:r>
            <a:endParaRPr/>
          </a:p>
        </p:txBody>
      </p:sp>
      <p:sp>
        <p:nvSpPr>
          <p:cNvPr id="3" name="Picture Placeholder 2"/>
          <p:cNvSpPr>
            <a:spLocks noGrp="1"/>
          </p:cNvSpPr>
          <p:nvPr>
            <p:ph type="pic" idx="1"/>
          </p:nvPr>
        </p:nvSpPr>
        <p:spPr>
          <a:xfrm>
            <a:off x="277905" y="2365248"/>
            <a:ext cx="4240119" cy="4187952"/>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dirty="0" smtClean="0"/>
              <a:t>Click icon to add picture</a:t>
            </a:r>
            <a:endParaRPr dirty="0"/>
          </a:p>
        </p:txBody>
      </p:sp>
      <p:sp>
        <p:nvSpPr>
          <p:cNvPr id="4" name="Text Placeholder 3"/>
          <p:cNvSpPr>
            <a:spLocks noGrp="1"/>
          </p:cNvSpPr>
          <p:nvPr>
            <p:ph type="body" sz="half" idx="2"/>
          </p:nvPr>
        </p:nvSpPr>
        <p:spPr>
          <a:xfrm>
            <a:off x="4953000" y="3995737"/>
            <a:ext cx="3108960" cy="2147888"/>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7391399" y="6423585"/>
            <a:ext cx="1537447" cy="365125"/>
          </a:xfrm>
        </p:spPr>
        <p:txBody>
          <a:bodyPr/>
          <a:lstStyle/>
          <a:p>
            <a:fld id="{546CB8D4-A311-4DB1-9E65-F6E7BA49F613}" type="datetime1">
              <a:rPr lang="en-US"/>
              <a:pPr/>
              <a:t>9/4/2018</a:t>
            </a:fld>
            <a:endParaRPr/>
          </a:p>
        </p:txBody>
      </p:sp>
      <p:sp>
        <p:nvSpPr>
          <p:cNvPr id="6" name="Footer Placeholder 5"/>
          <p:cNvSpPr>
            <a:spLocks noGrp="1"/>
          </p:cNvSpPr>
          <p:nvPr>
            <p:ph type="ftr" sz="quarter" idx="11"/>
          </p:nvPr>
        </p:nvSpPr>
        <p:spPr>
          <a:xfrm>
            <a:off x="4191000" y="6423585"/>
            <a:ext cx="3005138" cy="365125"/>
          </a:xfrm>
        </p:spPr>
        <p:txBody>
          <a:bodyPr/>
          <a:lstStyle/>
          <a:p>
            <a:r>
              <a:rPr/>
              <a:t>
              </a:t>
            </a:r>
          </a:p>
        </p:txBody>
      </p:sp>
      <p:sp>
        <p:nvSpPr>
          <p:cNvPr id="7" name="Slide Number Placeholder 6"/>
          <p:cNvSpPr>
            <a:spLocks noGrp="1"/>
          </p:cNvSpPr>
          <p:nvPr>
            <p:ph type="sldNum" sz="quarter" idx="12"/>
          </p:nvPr>
        </p:nvSpPr>
        <p:spPr/>
        <p:txBody>
          <a:bodyPr/>
          <a:lstStyle/>
          <a:p>
            <a:fld id="{8AF02B71-8991-4516-A01E-F1A9ACD28BDC}" type="slidenum">
              <a:rPr/>
              <a:pPr/>
              <a:t>‹#›</a:t>
            </a:fld>
            <a:endParaRPr/>
          </a:p>
        </p:txBody>
      </p:sp>
      <p:sp>
        <p:nvSpPr>
          <p:cNvPr id="10" name="TextBox 9"/>
          <p:cNvSpPr txBox="1"/>
          <p:nvPr/>
        </p:nvSpPr>
        <p:spPr>
          <a:xfrm>
            <a:off x="4750361" y="3370730"/>
            <a:ext cx="220568" cy="369332"/>
          </a:xfrm>
          <a:prstGeom prst="rect">
            <a:avLst/>
          </a:prstGeom>
          <a:noFill/>
        </p:spPr>
        <p:txBody>
          <a:bodyPr wrap="square" lIns="0" tIns="0" rIns="0" bIns="0" rtlCol="0">
            <a:spAutoFit/>
          </a:bodyPr>
          <a:lstStyle/>
          <a:p>
            <a:r>
              <a:rPr sz="2400" b="1" baseline="0">
                <a:solidFill>
                  <a:schemeClr val="accent1">
                    <a:lumMod val="60000"/>
                    <a:lumOff val="40000"/>
                  </a:schemeClr>
                </a:solidFill>
              </a:rPr>
              <a:t>+ </a:t>
            </a:r>
          </a:p>
        </p:txBody>
      </p:sp>
      <p:sp>
        <p:nvSpPr>
          <p:cNvPr id="14" name="Picture Placeholder 12"/>
          <p:cNvSpPr>
            <a:spLocks noGrp="1"/>
          </p:cNvSpPr>
          <p:nvPr>
            <p:ph type="pic" sz="quarter" idx="13"/>
          </p:nvPr>
        </p:nvSpPr>
        <p:spPr>
          <a:xfrm>
            <a:off x="277905" y="228600"/>
            <a:ext cx="2057400" cy="2039112"/>
          </a:xfrm>
        </p:spPr>
        <p:txBody>
          <a:bodyPr/>
          <a:lstStyle>
            <a:lvl1pPr>
              <a:buNone/>
              <a:defRPr/>
            </a:lvl1pPr>
          </a:lstStyle>
          <a:p>
            <a:r>
              <a:rPr lang="en-US" dirty="0" smtClean="0"/>
              <a:t>Click icon to add picture</a:t>
            </a:r>
            <a:endParaRPr dirty="0"/>
          </a:p>
        </p:txBody>
      </p:sp>
      <p:sp>
        <p:nvSpPr>
          <p:cNvPr id="15" name="Picture Placeholder 12"/>
          <p:cNvSpPr>
            <a:spLocks noGrp="1"/>
          </p:cNvSpPr>
          <p:nvPr>
            <p:ph type="pic" sz="quarter" idx="14"/>
          </p:nvPr>
        </p:nvSpPr>
        <p:spPr>
          <a:xfrm>
            <a:off x="2460625" y="228600"/>
            <a:ext cx="2057400" cy="2039112"/>
          </a:xfrm>
        </p:spPr>
        <p:txBody>
          <a:bodyPr/>
          <a:lstStyle>
            <a:lvl1pPr>
              <a:buNone/>
              <a:defRPr/>
            </a:lvl1pPr>
          </a:lstStyle>
          <a:p>
            <a:r>
              <a:rPr lang="en-US" dirty="0" smtClean="0"/>
              <a:t>Click icon to add picture</a:t>
            </a:r>
            <a:endParaRPr dirty="0"/>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itle and Vertical Text">
    <p:spTree>
      <p:nvGrpSpPr>
        <p:cNvPr id="1" name=""/>
        <p:cNvGrpSpPr/>
        <p:nvPr/>
      </p:nvGrpSpPr>
      <p:grpSpPr>
        <a:xfrm>
          <a:off x="0" y="0"/>
          <a:ext cx="0" cy="0"/>
          <a:chOff x="0" y="0"/>
          <a:chExt cx="0" cy="0"/>
        </a:xfrm>
      </p:grpSpPr>
      <p:sp>
        <p:nvSpPr>
          <p:cNvPr id="7" name="Rectangle 6"/>
          <p:cNvSpPr/>
          <p:nvPr/>
        </p:nvSpPr>
        <p:spPr>
          <a:xfrm>
            <a:off x="8166847" y="282574"/>
            <a:ext cx="685800" cy="1600200"/>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9" name="TextBox 8"/>
          <p:cNvSpPr txBox="1"/>
          <p:nvPr/>
        </p:nvSpPr>
        <p:spPr>
          <a:xfrm>
            <a:off x="223185" y="228600"/>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
        <p:nvSpPr>
          <p:cNvPr id="2" name="Title 1"/>
          <p:cNvSpPr>
            <a:spLocks noGrp="1"/>
          </p:cNvSpPr>
          <p:nvPr>
            <p:ph type="title"/>
          </p:nvPr>
        </p:nvSpPr>
        <p:spPr/>
        <p:txBody>
          <a:bodyPr/>
          <a:lstStyle/>
          <a:p>
            <a:r>
              <a:rPr lang="en-US" smtClean="0"/>
              <a:t>Click to edit Master title style</a:t>
            </a:r>
            <a:endParaRPr/>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E401B973-48D0-47D2-BD1A-81DAC74A0928}" type="datetime1">
              <a:rPr lang="en-US"/>
              <a:pPr/>
              <a:t>9/4/2018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Vertical Title and Text">
    <p:spTree>
      <p:nvGrpSpPr>
        <p:cNvPr id="1" name=""/>
        <p:cNvGrpSpPr/>
        <p:nvPr/>
      </p:nvGrpSpPr>
      <p:grpSpPr>
        <a:xfrm>
          <a:off x="0" y="0"/>
          <a:ext cx="0" cy="0"/>
          <a:chOff x="0" y="0"/>
          <a:chExt cx="0" cy="0"/>
        </a:xfrm>
      </p:grpSpPr>
      <p:sp>
        <p:nvSpPr>
          <p:cNvPr id="10" name="Rectangle 9"/>
          <p:cNvSpPr/>
          <p:nvPr/>
        </p:nvSpPr>
        <p:spPr>
          <a:xfrm>
            <a:off x="8166847" y="282573"/>
            <a:ext cx="685800" cy="302217"/>
          </a:xfrm>
          <a:prstGeom prst="rec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a:p>
        </p:txBody>
      </p:sp>
      <p:sp>
        <p:nvSpPr>
          <p:cNvPr id="2" name="Vertical Title 1"/>
          <p:cNvSpPr>
            <a:spLocks noGrp="1"/>
          </p:cNvSpPr>
          <p:nvPr>
            <p:ph type="title" orient="vert"/>
          </p:nvPr>
        </p:nvSpPr>
        <p:spPr>
          <a:xfrm>
            <a:off x="7995772" y="954742"/>
            <a:ext cx="681318" cy="5171422"/>
          </a:xfrm>
        </p:spPr>
        <p:txBody>
          <a:bodyPr vert="eaVert" anchor="t" anchorCtr="0"/>
          <a:lstStyle/>
          <a:p>
            <a:r>
              <a:rPr lang="en-US" smtClean="0"/>
              <a:t>Click to edit Master title style</a:t>
            </a:r>
            <a:endParaRPr/>
          </a:p>
        </p:txBody>
      </p:sp>
      <p:sp>
        <p:nvSpPr>
          <p:cNvPr id="3" name="Vertical Text Placeholder 2"/>
          <p:cNvSpPr>
            <a:spLocks noGrp="1"/>
          </p:cNvSpPr>
          <p:nvPr>
            <p:ph type="body" orient="vert" idx="1"/>
          </p:nvPr>
        </p:nvSpPr>
        <p:spPr>
          <a:xfrm>
            <a:off x="457200" y="958756"/>
            <a:ext cx="6858000" cy="5184869"/>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10"/>
          </p:nvPr>
        </p:nvSpPr>
        <p:spPr/>
        <p:txBody>
          <a:bodyPr/>
          <a:lstStyle/>
          <a:p>
            <a:fld id="{93714E26-7EC0-4FCC-8AD8-71E9EC27DEDB}" type="datetime1">
              <a:rPr lang="en-US"/>
              <a:pPr/>
              <a:t>9/4/2018</a:t>
            </a:fld>
            <a:endParaRPr/>
          </a:p>
        </p:txBody>
      </p:sp>
      <p:sp>
        <p:nvSpPr>
          <p:cNvPr id="5" name="Footer Placeholder 4"/>
          <p:cNvSpPr>
            <a:spLocks noGrp="1"/>
          </p:cNvSpPr>
          <p:nvPr>
            <p:ph type="ftr" sz="quarter" idx="11"/>
          </p:nvPr>
        </p:nvSpPr>
        <p:spPr/>
        <p:txBody>
          <a:bodyPr/>
          <a:lstStyle/>
          <a:p>
            <a:r>
              <a:rPr/>
              <a:t>
              </a:t>
            </a:r>
          </a:p>
        </p:txBody>
      </p:sp>
      <p:sp>
        <p:nvSpPr>
          <p:cNvPr id="6" name="Slide Number Placeholder 5"/>
          <p:cNvSpPr>
            <a:spLocks noGrp="1"/>
          </p:cNvSpPr>
          <p:nvPr>
            <p:ph type="sldNum" sz="quarter" idx="12"/>
          </p:nvPr>
        </p:nvSpPr>
        <p:spPr/>
        <p:txBody>
          <a:bodyPr/>
          <a:lstStyle/>
          <a:p>
            <a:fld id="{8AF02B71-8991-4516-A01E-F1A9ACD28BDC}" type="slidenum">
              <a:rPr/>
              <a:pPr/>
              <a:t>‹#›</a:t>
            </a:fld>
            <a:endParaRPr/>
          </a:p>
        </p:txBody>
      </p:sp>
      <p:sp>
        <p:nvSpPr>
          <p:cNvPr id="9" name="TextBox 8"/>
          <p:cNvSpPr txBox="1"/>
          <p:nvPr/>
        </p:nvSpPr>
        <p:spPr>
          <a:xfrm rot="16200000">
            <a:off x="8593111" y="561668"/>
            <a:ext cx="260909" cy="553998"/>
          </a:xfrm>
          <a:prstGeom prst="rect">
            <a:avLst/>
          </a:prstGeom>
          <a:noFill/>
        </p:spPr>
        <p:txBody>
          <a:bodyPr wrap="square" lIns="0" tIns="0" rIns="0" bIns="0" rtlCol="0">
            <a:spAutoFit/>
          </a:bodyPr>
          <a:lstStyle/>
          <a:p>
            <a:r>
              <a:rPr sz="3600" b="1">
                <a:solidFill>
                  <a:schemeClr val="accent1">
                    <a:lumMod val="60000"/>
                    <a:lumOff val="40000"/>
                  </a:schemeClr>
                </a:solidFill>
              </a:rPr>
              <a:t>+</a:t>
            </a: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21"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slideLayout" Target="../slideLayouts/slideLayout19.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image" Target="../media/image1.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22"/>
          <a:srcRect/>
          <a:tile tx="0" ty="0" sx="100000" sy="100000" flip="none" algn="tl"/>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98474" y="484094"/>
            <a:ext cx="7556313" cy="1116106"/>
          </a:xfrm>
          <a:prstGeom prst="rect">
            <a:avLst/>
          </a:prstGeom>
        </p:spPr>
        <p:txBody>
          <a:bodyPr vert="horz" lIns="91440" tIns="45720" rIns="91440" bIns="45720" rtlCol="0" anchor="t" anchorCtr="0">
            <a:noAutofit/>
          </a:bodyPr>
          <a:lstStyle/>
          <a:p>
            <a:r>
              <a:rPr lang="en-US" smtClean="0"/>
              <a:t>Click to edit Master title style</a:t>
            </a:r>
            <a:endParaRPr/>
          </a:p>
        </p:txBody>
      </p:sp>
      <p:sp>
        <p:nvSpPr>
          <p:cNvPr id="3" name="Text Placeholder 2"/>
          <p:cNvSpPr>
            <a:spLocks noGrp="1"/>
          </p:cNvSpPr>
          <p:nvPr>
            <p:ph type="body" idx="1"/>
          </p:nvPr>
        </p:nvSpPr>
        <p:spPr>
          <a:xfrm>
            <a:off x="498474" y="1981200"/>
            <a:ext cx="7556313" cy="4144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a:p>
        </p:txBody>
      </p:sp>
      <p:sp>
        <p:nvSpPr>
          <p:cNvPr id="4" name="Date Placeholder 3"/>
          <p:cNvSpPr>
            <a:spLocks noGrp="1"/>
          </p:cNvSpPr>
          <p:nvPr>
            <p:ph type="dt" sz="half" idx="2"/>
          </p:nvPr>
        </p:nvSpPr>
        <p:spPr>
          <a:xfrm>
            <a:off x="6795247" y="6423585"/>
            <a:ext cx="2133600" cy="365125"/>
          </a:xfrm>
          <a:prstGeom prst="rect">
            <a:avLst/>
          </a:prstGeom>
        </p:spPr>
        <p:txBody>
          <a:bodyPr vert="horz" lIns="91440" tIns="45720" rIns="91440" bIns="45720" rtlCol="0" anchor="ctr"/>
          <a:lstStyle>
            <a:lvl1pPr algn="r">
              <a:defRPr sz="1100">
                <a:solidFill>
                  <a:schemeClr val="tx1">
                    <a:lumMod val="65000"/>
                    <a:lumOff val="35000"/>
                  </a:schemeClr>
                </a:solidFill>
              </a:defRPr>
            </a:lvl1pPr>
          </a:lstStyle>
          <a:p>
            <a:fld id="{7E6C1EDB-CE87-4BA6-95D9-AD3AE9C734F7}" type="datetime1">
              <a:rPr lang="en-US"/>
              <a:pPr/>
              <a:t>9/4/2018</a:t>
            </a:fld>
            <a:endParaRPr/>
          </a:p>
        </p:txBody>
      </p:sp>
      <p:sp>
        <p:nvSpPr>
          <p:cNvPr id="5" name="Footer Placeholder 4"/>
          <p:cNvSpPr>
            <a:spLocks noGrp="1"/>
          </p:cNvSpPr>
          <p:nvPr>
            <p:ph type="ftr" sz="quarter" idx="3"/>
          </p:nvPr>
        </p:nvSpPr>
        <p:spPr>
          <a:xfrm>
            <a:off x="201706" y="6423585"/>
            <a:ext cx="6122894" cy="365125"/>
          </a:xfrm>
          <a:prstGeom prst="rect">
            <a:avLst/>
          </a:prstGeom>
        </p:spPr>
        <p:txBody>
          <a:bodyPr vert="horz" lIns="91440" tIns="45720" rIns="91440" bIns="45720" rtlCol="0" anchor="ctr"/>
          <a:lstStyle>
            <a:lvl1pPr algn="l">
              <a:defRPr sz="1100">
                <a:solidFill>
                  <a:schemeClr val="tx1">
                    <a:lumMod val="65000"/>
                    <a:lumOff val="35000"/>
                  </a:schemeClr>
                </a:solidFill>
              </a:defRPr>
            </a:lvl1pPr>
          </a:lstStyle>
          <a:p>
            <a:r>
              <a:rPr/>
              <a:t>
              </a:t>
            </a:r>
          </a:p>
        </p:txBody>
      </p:sp>
      <p:sp>
        <p:nvSpPr>
          <p:cNvPr id="6" name="Slide Number Placeholder 5"/>
          <p:cNvSpPr>
            <a:spLocks noGrp="1"/>
          </p:cNvSpPr>
          <p:nvPr>
            <p:ph type="sldNum" sz="quarter" idx="4"/>
          </p:nvPr>
        </p:nvSpPr>
        <p:spPr>
          <a:xfrm>
            <a:off x="8305800" y="242234"/>
            <a:ext cx="554038" cy="365125"/>
          </a:xfrm>
          <a:prstGeom prst="rect">
            <a:avLst/>
          </a:prstGeom>
        </p:spPr>
        <p:txBody>
          <a:bodyPr vert="horz" lIns="91440" tIns="45720" rIns="91440" bIns="45720" rtlCol="0" anchor="ctr"/>
          <a:lstStyle>
            <a:lvl1pPr algn="r">
              <a:defRPr sz="1400">
                <a:solidFill>
                  <a:schemeClr val="bg1"/>
                </a:solidFill>
              </a:defRPr>
            </a:lvl1pPr>
          </a:lstStyle>
          <a:p>
            <a:fld id="{8AF02B71-8991-4516-A01E-F1A9ACD28BDC}" type="slidenum">
              <a:rPr/>
              <a:pPr/>
              <a:t>‹#›</a:t>
            </a:fld>
            <a:endParaRPr/>
          </a:p>
        </p:txBody>
      </p:sp>
    </p:spTree>
  </p:cSld>
  <p:clrMap bg1="lt1" tx1="dk1" bg2="lt2" tx2="dk2" accent1="accent1" accent2="accent2" accent3="accent3" accent4="accent4" accent5="accent5" accent6="accent6" hlink="hlink" folHlink="folHlink"/>
  <p:sldLayoutIdLst>
    <p:sldLayoutId id="2147483672" r:id="rId1"/>
    <p:sldLayoutId id="2147483673" r:id="rId2"/>
    <p:sldLayoutId id="2147483674" r:id="rId3"/>
    <p:sldLayoutId id="2147483675" r:id="rId4"/>
    <p:sldLayoutId id="2147483676" r:id="rId5"/>
    <p:sldLayoutId id="2147483677" r:id="rId6"/>
    <p:sldLayoutId id="2147483678" r:id="rId7"/>
    <p:sldLayoutId id="2147483679" r:id="rId8"/>
    <p:sldLayoutId id="2147483680" r:id="rId9"/>
    <p:sldLayoutId id="2147483681" r:id="rId10"/>
    <p:sldLayoutId id="2147483682" r:id="rId11"/>
    <p:sldLayoutId id="2147483683" r:id="rId12"/>
    <p:sldLayoutId id="2147483684" r:id="rId13"/>
    <p:sldLayoutId id="2147483685" r:id="rId14"/>
    <p:sldLayoutId id="2147483686" r:id="rId15"/>
    <p:sldLayoutId id="2147483687" r:id="rId16"/>
    <p:sldLayoutId id="2147483688" r:id="rId17"/>
    <p:sldLayoutId id="2147483689" r:id="rId18"/>
    <p:sldLayoutId id="2147483690" r:id="rId19"/>
    <p:sldLayoutId id="2147483691" r:id="rId20"/>
  </p:sldLayoutIdLst>
  <p:txStyles>
    <p:titleStyle>
      <a:lvl1pPr algn="l" defTabSz="914400" rtl="0" eaLnBrk="1" latinLnBrk="0" hangingPunct="1">
        <a:spcBef>
          <a:spcPct val="0"/>
        </a:spcBef>
        <a:buNone/>
        <a:defRPr sz="3600" b="0" kern="1200">
          <a:solidFill>
            <a:schemeClr val="accent1"/>
          </a:solidFill>
          <a:latin typeface="+mj-lt"/>
          <a:ea typeface="+mj-ea"/>
          <a:cs typeface="+mj-cs"/>
        </a:defRPr>
      </a:lvl1pPr>
    </p:titleStyle>
    <p:bodyStyle>
      <a:lvl1pPr marL="228600" indent="-228600" algn="l" defTabSz="914400" rtl="0" eaLnBrk="1" latinLnBrk="0" hangingPunct="1">
        <a:spcBef>
          <a:spcPts val="2000"/>
        </a:spcBef>
        <a:buClr>
          <a:schemeClr val="accent1"/>
        </a:buClr>
        <a:buSzPct val="75000"/>
        <a:buFont typeface="Wingdings" pitchFamily="2" charset="2"/>
        <a:buChar char="n"/>
        <a:defRPr sz="2000" kern="1200">
          <a:solidFill>
            <a:schemeClr val="tx1">
              <a:lumMod val="65000"/>
              <a:lumOff val="35000"/>
            </a:schemeClr>
          </a:solidFill>
          <a:latin typeface="+mn-lt"/>
          <a:ea typeface="+mn-ea"/>
          <a:cs typeface="+mn-cs"/>
        </a:defRPr>
      </a:lvl1pPr>
      <a:lvl2pPr marL="4572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2pPr>
      <a:lvl3pPr marL="6858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3pPr>
      <a:lvl4pPr marL="914400" indent="-228600" algn="l" defTabSz="914400" rtl="0" eaLnBrk="1" latinLnBrk="0" hangingPunct="1">
        <a:spcBef>
          <a:spcPts val="600"/>
        </a:spcBef>
        <a:buClr>
          <a:schemeClr val="accent1">
            <a:lumMod val="60000"/>
            <a:lumOff val="40000"/>
          </a:schemeClr>
        </a:buClr>
        <a:buSzPct val="75000"/>
        <a:buFont typeface="Wingdings" pitchFamily="2" charset="2"/>
        <a:buChar char="n"/>
        <a:defRPr sz="1800" kern="1200">
          <a:solidFill>
            <a:schemeClr val="tx1">
              <a:lumMod val="65000"/>
              <a:lumOff val="35000"/>
            </a:schemeClr>
          </a:solidFill>
          <a:latin typeface="+mn-lt"/>
          <a:ea typeface="+mn-ea"/>
          <a:cs typeface="+mn-cs"/>
        </a:defRPr>
      </a:lvl4pPr>
      <a:lvl5pPr marL="1143000" indent="-228600" algn="l" defTabSz="914400" rtl="0" eaLnBrk="1" latinLnBrk="0" hangingPunct="1">
        <a:spcBef>
          <a:spcPts val="600"/>
        </a:spcBef>
        <a:buClr>
          <a:schemeClr val="accent1"/>
        </a:buClr>
        <a:buSzPct val="75000"/>
        <a:buFont typeface="Wingdings" pitchFamily="2" charset="2"/>
        <a:buChar char="n"/>
        <a:defRPr sz="1800" kern="1200">
          <a:solidFill>
            <a:schemeClr val="tx1">
              <a:lumMod val="65000"/>
              <a:lumOff val="35000"/>
            </a:schemeClr>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5.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6.pdf"/><Relationship Id="rId2" Type="http://schemas.openxmlformats.org/officeDocument/2006/relationships/notesSlide" Target="../notesSlides/notesSlide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10.pdf"/><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image" Target="../media/image4.png"/><Relationship Id="rId5" Type="http://schemas.openxmlformats.org/officeDocument/2006/relationships/image" Target="../media/image12.pdf"/><Relationship Id="rId4" Type="http://schemas.openxmlformats.org/officeDocument/2006/relationships/image" Target="../media/image3.png"/></Relationships>
</file>

<file path=ppt/slides/_rels/slide7.xml.rels><?xml version="1.0" encoding="UTF-8" standalone="yes"?>
<Relationships xmlns="http://schemas.openxmlformats.org/package/2006/relationships"><Relationship Id="rId2" Type="http://schemas.openxmlformats.org/officeDocument/2006/relationships/image" Target="../media/image5.emf"/><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emf"/><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39.pdf"/><Relationship Id="rId2" Type="http://schemas.openxmlformats.org/officeDocument/2006/relationships/notesSlide" Target="../notesSlides/notesSlide7.xml"/><Relationship Id="rId1" Type="http://schemas.openxmlformats.org/officeDocument/2006/relationships/slideLayout" Target="../slideLayouts/slideLayout13.xml"/><Relationship Id="rId4" Type="http://schemas.openxmlformats.org/officeDocument/2006/relationships/image" Target="../media/image8.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ext Placeholder 10"/>
          <p:cNvSpPr>
            <a:spLocks noGrp="1"/>
          </p:cNvSpPr>
          <p:nvPr>
            <p:ph type="body" sz="half" idx="2"/>
          </p:nvPr>
        </p:nvSpPr>
        <p:spPr>
          <a:xfrm>
            <a:off x="107504" y="3717032"/>
            <a:ext cx="6624736" cy="1584176"/>
          </a:xfrm>
        </p:spPr>
        <p:txBody>
          <a:bodyPr>
            <a:noAutofit/>
          </a:bodyPr>
          <a:lstStyle/>
          <a:p>
            <a:pPr algn="ctr"/>
            <a:r>
              <a:rPr lang="en-US" sz="4800" b="1" dirty="0" smtClean="0"/>
              <a:t>Instruction Sets: Characteristics &amp; Functions</a:t>
            </a:r>
            <a:endParaRPr lang="en-US" sz="4800" b="1" dirty="0"/>
          </a:p>
        </p:txBody>
      </p:sp>
      <p:sp>
        <p:nvSpPr>
          <p:cNvPr id="5" name="TextBox 4"/>
          <p:cNvSpPr txBox="1"/>
          <p:nvPr/>
        </p:nvSpPr>
        <p:spPr>
          <a:xfrm>
            <a:off x="5486400" y="1371600"/>
            <a:ext cx="2286000" cy="1938992"/>
          </a:xfrm>
          <a:prstGeom prst="rect">
            <a:avLst/>
          </a:prstGeom>
          <a:solidFill>
            <a:schemeClr val="accent3"/>
          </a:solidFill>
        </p:spPr>
        <p:txBody>
          <a:bodyPr wrap="square" rtlCol="0">
            <a:spAutoFit/>
          </a:bodyPr>
          <a:lstStyle/>
          <a:p>
            <a:endParaRPr lang="en-US" dirty="0" smtClean="0"/>
          </a:p>
          <a:p>
            <a:endParaRPr lang="en-US" dirty="0" smtClean="0"/>
          </a:p>
          <a:p>
            <a:endParaRPr lang="en-US" dirty="0" smtClean="0"/>
          </a:p>
          <a:p>
            <a:endParaRPr lang="en-US" dirty="0" smtClean="0"/>
          </a:p>
          <a:p>
            <a:endParaRPr lang="en-US" dirty="0" smtClean="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7"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6148" name="Rectangle 4"/>
          <p:cNvSpPr>
            <a:spLocks noGrp="1" noChangeArrowheads="1"/>
          </p:cNvSpPr>
          <p:nvPr>
            <p:ph type="title"/>
          </p:nvPr>
        </p:nvSpPr>
        <p:spPr>
          <a:xfrm>
            <a:off x="762000" y="533400"/>
            <a:ext cx="7556313" cy="1116106"/>
          </a:xfrm>
          <a:noFill/>
          <a:ln/>
        </p:spPr>
        <p:txBody>
          <a:bodyPr lIns="90488" tIns="44450" rIns="90488" bIns="44450"/>
          <a:lstStyle/>
          <a:p>
            <a:r>
              <a:rPr lang="en-US" dirty="0" smtClean="0">
                <a:effectLst>
                  <a:outerShdw blurRad="38100" dist="38100" dir="2700000" algn="tl">
                    <a:srgbClr val="000000">
                      <a:alpha val="43137"/>
                    </a:srgbClr>
                  </a:outerShdw>
                </a:effectLst>
              </a:rPr>
              <a:t>Machine Instruction Characteristics</a:t>
            </a:r>
            <a:endParaRPr lang="en-US" dirty="0">
              <a:effectLst>
                <a:outerShdw blurRad="38100" dist="38100" dir="2700000" algn="tl">
                  <a:srgbClr val="000000">
                    <a:alpha val="43137"/>
                  </a:srgbClr>
                </a:outerShdw>
              </a:effectLst>
            </a:endParaRPr>
          </a:p>
        </p:txBody>
      </p:sp>
      <p:sp>
        <p:nvSpPr>
          <p:cNvPr id="6149" name="Rectangle 5"/>
          <p:cNvSpPr>
            <a:spLocks noGrp="1" noChangeArrowheads="1"/>
          </p:cNvSpPr>
          <p:nvPr>
            <p:ph idx="1"/>
          </p:nvPr>
        </p:nvSpPr>
        <p:spPr>
          <a:xfrm>
            <a:off x="498474" y="2362200"/>
            <a:ext cx="7556313" cy="4038600"/>
          </a:xfrm>
          <a:noFill/>
          <a:ln/>
        </p:spPr>
        <p:txBody>
          <a:bodyPr lIns="90488" tIns="44450" rIns="90488" bIns="44450">
            <a:normAutofit/>
          </a:bodyPr>
          <a:lstStyle/>
          <a:p>
            <a:r>
              <a:rPr lang="en-US" dirty="0" smtClean="0"/>
              <a:t>The operation of the processor is determined by the instructions it executes, referred to as </a:t>
            </a:r>
            <a:r>
              <a:rPr lang="en-US" i="1" dirty="0" smtClean="0"/>
              <a:t>machine instructions </a:t>
            </a:r>
            <a:r>
              <a:rPr lang="en-US" dirty="0" smtClean="0"/>
              <a:t>or </a:t>
            </a:r>
            <a:r>
              <a:rPr lang="en-US" i="1" dirty="0" smtClean="0"/>
              <a:t>computer instructions.</a:t>
            </a:r>
          </a:p>
          <a:p>
            <a:r>
              <a:rPr lang="en-US" dirty="0" smtClean="0"/>
              <a:t>The collection of different instructions that the processor can execute is referred to as the processor’s </a:t>
            </a:r>
            <a:r>
              <a:rPr lang="en-US" i="1" dirty="0" smtClean="0"/>
              <a:t>instruction set.</a:t>
            </a:r>
          </a:p>
          <a:p>
            <a:r>
              <a:rPr lang="en-US" dirty="0" smtClean="0"/>
              <a:t>Each instruction must contain the information required by the processor for execution.</a:t>
            </a:r>
          </a:p>
        </p:txBody>
      </p:sp>
    </p:spTree>
  </p:cSld>
  <p:clrMapOvr>
    <a:masterClrMapping/>
  </p:clrMapOvr>
  <p:transition spd="slow"/>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IN" dirty="0" smtClean="0"/>
              <a:t>Elements of Machine Instruction </a:t>
            </a:r>
            <a:endParaRPr lang="en-IN" dirty="0"/>
          </a:p>
        </p:txBody>
      </p:sp>
      <p:sp>
        <p:nvSpPr>
          <p:cNvPr id="3" name="Content Placeholder 2"/>
          <p:cNvSpPr>
            <a:spLocks noGrp="1"/>
          </p:cNvSpPr>
          <p:nvPr>
            <p:ph idx="1"/>
          </p:nvPr>
        </p:nvSpPr>
        <p:spPr>
          <a:xfrm>
            <a:off x="464289" y="1268760"/>
            <a:ext cx="7556313" cy="4144963"/>
          </a:xfrm>
        </p:spPr>
        <p:txBody>
          <a:bodyPr>
            <a:normAutofit fontScale="85000" lnSpcReduction="20000"/>
          </a:bodyPr>
          <a:lstStyle/>
          <a:p>
            <a:r>
              <a:rPr lang="en-IN" dirty="0" smtClean="0"/>
              <a:t>Operation Code (opcode)</a:t>
            </a:r>
          </a:p>
          <a:p>
            <a:r>
              <a:rPr lang="en-IN" dirty="0" smtClean="0"/>
              <a:t>Source operand reference </a:t>
            </a:r>
          </a:p>
          <a:p>
            <a:r>
              <a:rPr lang="en-IN" dirty="0" smtClean="0"/>
              <a:t>Result operand reference</a:t>
            </a:r>
          </a:p>
          <a:p>
            <a:r>
              <a:rPr lang="en-IN" dirty="0" smtClean="0"/>
              <a:t>Next instruction reference </a:t>
            </a:r>
          </a:p>
          <a:p>
            <a:endParaRPr lang="en-IN" dirty="0"/>
          </a:p>
          <a:p>
            <a:endParaRPr lang="en-IN" dirty="0" smtClean="0"/>
          </a:p>
          <a:p>
            <a:r>
              <a:rPr lang="en-US" dirty="0"/>
              <a:t>Source and result operands can be in one of four </a:t>
            </a:r>
            <a:r>
              <a:rPr lang="en-US" dirty="0" smtClean="0"/>
              <a:t>areas:</a:t>
            </a:r>
          </a:p>
          <a:p>
            <a:pPr lvl="1"/>
            <a:r>
              <a:rPr lang="en-US" dirty="0" smtClean="0"/>
              <a:t>Main memory</a:t>
            </a:r>
          </a:p>
          <a:p>
            <a:pPr lvl="1"/>
            <a:r>
              <a:rPr lang="en-IN" dirty="0" smtClean="0"/>
              <a:t>I/O Device</a:t>
            </a:r>
          </a:p>
          <a:p>
            <a:pPr lvl="1"/>
            <a:r>
              <a:rPr lang="en-IN" dirty="0" smtClean="0"/>
              <a:t>Processor register</a:t>
            </a:r>
          </a:p>
          <a:p>
            <a:pPr lvl="1"/>
            <a:r>
              <a:rPr lang="en-IN" dirty="0" smtClean="0"/>
              <a:t>Immediate</a:t>
            </a:r>
            <a:endParaRPr lang="en-IN" dirty="0"/>
          </a:p>
        </p:txBody>
      </p:sp>
    </p:spTree>
    <p:extLst>
      <p:ext uri="{BB962C8B-B14F-4D97-AF65-F5344CB8AC3E}">
        <p14:creationId xmlns:p14="http://schemas.microsoft.com/office/powerpoint/2010/main" val="149793070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2292" name="Rectangle 4"/>
          <p:cNvSpPr>
            <a:spLocks noGrp="1" noChangeArrowheads="1"/>
          </p:cNvSpPr>
          <p:nvPr>
            <p:ph type="title"/>
          </p:nvPr>
        </p:nvSpPr>
        <p:spPr>
          <a:noFill/>
          <a:ln/>
        </p:spPr>
        <p:txBody>
          <a:bodyPr lIns="90488" tIns="44450" rIns="90488" bIns="44450"/>
          <a:lstStyle/>
          <a:p>
            <a:r>
              <a:rPr lang="en-US" dirty="0">
                <a:effectLst>
                  <a:outerShdw blurRad="38100" dist="38100" dir="2700000" algn="tl">
                    <a:srgbClr val="000000">
                      <a:alpha val="43137"/>
                    </a:srgbClr>
                  </a:outerShdw>
                </a:effectLst>
              </a:rPr>
              <a:t>Instruction Representation</a:t>
            </a:r>
          </a:p>
        </p:txBody>
      </p:sp>
      <p:sp>
        <p:nvSpPr>
          <p:cNvPr id="12293" name="Rectangle 5"/>
          <p:cNvSpPr>
            <a:spLocks noGrp="1" noChangeArrowheads="1"/>
          </p:cNvSpPr>
          <p:nvPr>
            <p:ph idx="1"/>
          </p:nvPr>
        </p:nvSpPr>
        <p:spPr>
          <a:xfrm>
            <a:off x="498474" y="1524000"/>
            <a:ext cx="7556313" cy="4602163"/>
          </a:xfrm>
          <a:noFill/>
          <a:ln/>
        </p:spPr>
        <p:txBody>
          <a:bodyPr lIns="90488" tIns="44450" rIns="90488" bIns="44450"/>
          <a:lstStyle/>
          <a:p>
            <a:r>
              <a:rPr lang="en-US" dirty="0" smtClean="0"/>
              <a:t>Within the computer each instruction is represented by a sequence of bits</a:t>
            </a:r>
          </a:p>
          <a:p>
            <a:r>
              <a:rPr lang="en-US" dirty="0" smtClean="0"/>
              <a:t>The instruction is divided into fields, corresponding to the constituent elements of the instruction</a:t>
            </a:r>
            <a:endParaRPr lang="en-US" dirty="0"/>
          </a:p>
        </p:txBody>
      </p:sp>
      <p:pic>
        <p:nvPicPr>
          <p:cNvPr id="6" name="Picture 5" descr="f2.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10909" t="28235" r="10909" b="25882"/>
              <a:stretch>
                <a:fillRect/>
              </a:stretch>
            </p:blipFill>
          </mc:Choice>
          <mc:Fallback>
            <p:blipFill>
              <a:blip r:embed="rId4"/>
              <a:srcRect l="10909" t="28235" r="10909" b="25882"/>
              <a:stretch>
                <a:fillRect/>
              </a:stretch>
            </p:blipFill>
          </mc:Fallback>
        </mc:AlternateContent>
        <p:spPr>
          <a:xfrm>
            <a:off x="1143000" y="3200400"/>
            <a:ext cx="6938679" cy="3146553"/>
          </a:xfrm>
          <a:prstGeom prst="rect">
            <a:avLst/>
          </a:prstGeom>
        </p:spPr>
      </p:pic>
      <p:sp useBgFill="1">
        <p:nvSpPr>
          <p:cNvPr id="7" name="TextBox 6"/>
          <p:cNvSpPr txBox="1"/>
          <p:nvPr/>
        </p:nvSpPr>
        <p:spPr>
          <a:xfrm>
            <a:off x="2590800" y="5334000"/>
            <a:ext cx="4038600" cy="536761"/>
          </a:xfrm>
          <a:prstGeom prst="rect">
            <a:avLst/>
          </a:prstGeom>
        </p:spPr>
        <p:txBody>
          <a:bodyPr wrap="square" rtlCol="0">
            <a:spAutoFit/>
          </a:bodyPr>
          <a:lstStyle/>
          <a:p>
            <a:endParaRPr lang="en-US" dirty="0"/>
          </a:p>
        </p:txBody>
      </p:sp>
    </p:spTree>
  </p:cSld>
  <p:clrMapOvr>
    <a:masterClrMapping/>
  </p:clrMapOvr>
  <p:transition spd="slow"/>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539552" y="548680"/>
            <a:ext cx="7556313" cy="5904656"/>
          </a:xfrm>
        </p:spPr>
        <p:txBody>
          <a:bodyPr>
            <a:normAutofit/>
          </a:bodyPr>
          <a:lstStyle/>
          <a:p>
            <a:r>
              <a:rPr lang="en-US" sz="2400" dirty="0"/>
              <a:t>Opcodes are represented by abbreviations, called </a:t>
            </a:r>
            <a:r>
              <a:rPr lang="en-US" sz="2400" i="1" dirty="0"/>
              <a:t>mnemonics, </a:t>
            </a:r>
            <a:r>
              <a:rPr lang="en-US" sz="2400" dirty="0"/>
              <a:t>that </a:t>
            </a:r>
            <a:r>
              <a:rPr lang="en-US" sz="2400" dirty="0" smtClean="0"/>
              <a:t>indicate the </a:t>
            </a:r>
            <a:r>
              <a:rPr lang="en-US" sz="2400" dirty="0"/>
              <a:t>operation. </a:t>
            </a:r>
            <a:endParaRPr lang="en-US" sz="2400" dirty="0" smtClean="0"/>
          </a:p>
          <a:p>
            <a:pPr lvl="1"/>
            <a:r>
              <a:rPr lang="en-US" sz="2000" dirty="0" smtClean="0"/>
              <a:t>ADD </a:t>
            </a:r>
            <a:r>
              <a:rPr lang="en-US" sz="2000" dirty="0" err="1"/>
              <a:t>Add</a:t>
            </a:r>
            <a:endParaRPr lang="en-US" sz="2000" dirty="0"/>
          </a:p>
          <a:p>
            <a:pPr lvl="1"/>
            <a:r>
              <a:rPr lang="en-US" sz="2000" dirty="0"/>
              <a:t>SUB Subtract</a:t>
            </a:r>
          </a:p>
          <a:p>
            <a:pPr lvl="1"/>
            <a:r>
              <a:rPr lang="en-US" sz="2000" dirty="0"/>
              <a:t>MUL Multiply</a:t>
            </a:r>
          </a:p>
          <a:p>
            <a:pPr lvl="1"/>
            <a:r>
              <a:rPr lang="en-US" sz="2000" dirty="0"/>
              <a:t>DIV Divide</a:t>
            </a:r>
          </a:p>
          <a:p>
            <a:pPr lvl="1"/>
            <a:r>
              <a:rPr lang="en-US" sz="2000" dirty="0"/>
              <a:t>LOAD </a:t>
            </a:r>
            <a:r>
              <a:rPr lang="en-US" sz="2000" dirty="0" err="1"/>
              <a:t>Load</a:t>
            </a:r>
            <a:r>
              <a:rPr lang="en-US" sz="2000" dirty="0"/>
              <a:t> data from memory</a:t>
            </a:r>
          </a:p>
          <a:p>
            <a:pPr lvl="1"/>
            <a:r>
              <a:rPr lang="en-US" sz="2000" dirty="0"/>
              <a:t>STOR Store data to memory</a:t>
            </a:r>
          </a:p>
          <a:p>
            <a:r>
              <a:rPr lang="en-US" sz="2400" dirty="0"/>
              <a:t>Operands are also represented symbolically. </a:t>
            </a:r>
            <a:endParaRPr lang="en-US" sz="2400" dirty="0" smtClean="0"/>
          </a:p>
          <a:p>
            <a:pPr marL="0" indent="0" algn="ctr">
              <a:buNone/>
            </a:pPr>
            <a:r>
              <a:rPr lang="en-US" sz="2400" dirty="0" smtClean="0"/>
              <a:t>ADD </a:t>
            </a:r>
            <a:r>
              <a:rPr lang="en-US" sz="2400" dirty="0"/>
              <a:t>R, Y</a:t>
            </a:r>
          </a:p>
        </p:txBody>
      </p:sp>
    </p:spTree>
    <p:extLst>
      <p:ext uri="{BB962C8B-B14F-4D97-AF65-F5344CB8AC3E}">
        <p14:creationId xmlns:p14="http://schemas.microsoft.com/office/powerpoint/2010/main" val="216345964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18435"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pic>
        <p:nvPicPr>
          <p:cNvPr id="7" name="Picture 6"/>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tretch>
                <a:fillRect/>
              </a:stretch>
            </p:blipFill>
          </mc:Choice>
          <mc:Fallback>
            <p:blipFill>
              <a:blip r:embed="rId4"/>
              <a:stretch>
                <a:fillRect/>
              </a:stretch>
            </p:blipFill>
          </mc:Fallback>
        </mc:AlternateContent>
        <p:spPr>
          <a:xfrm>
            <a:off x="195385" y="2686050"/>
            <a:ext cx="8720015" cy="2125504"/>
          </a:xfrm>
          <a:prstGeom prst="rect">
            <a:avLst/>
          </a:prstGeom>
        </p:spPr>
      </p:pic>
      <p:pic>
        <p:nvPicPr>
          <p:cNvPr id="9" name="Picture 8"/>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5"/>
              <a:stretch>
                <a:fillRect/>
              </a:stretch>
            </p:blipFill>
          </mc:Choice>
          <mc:Fallback>
            <p:blipFill>
              <a:blip r:embed="rId6"/>
              <a:stretch>
                <a:fillRect/>
              </a:stretch>
            </p:blipFill>
          </mc:Fallback>
        </mc:AlternateContent>
        <p:spPr>
          <a:xfrm>
            <a:off x="381000" y="4800600"/>
            <a:ext cx="7132320" cy="838200"/>
          </a:xfrm>
          <a:prstGeom prst="rect">
            <a:avLst/>
          </a:prstGeom>
        </p:spPr>
      </p:pic>
      <p:sp>
        <p:nvSpPr>
          <p:cNvPr id="8" name="Rectangle 4"/>
          <p:cNvSpPr>
            <a:spLocks noGrp="1" noChangeArrowheads="1"/>
          </p:cNvSpPr>
          <p:nvPr>
            <p:ph type="title"/>
          </p:nvPr>
        </p:nvSpPr>
        <p:spPr>
          <a:noFill/>
          <a:ln/>
        </p:spPr>
        <p:txBody>
          <a:bodyPr lIns="90488" tIns="44450" rIns="90488" bIns="44450"/>
          <a:lstStyle/>
          <a:p>
            <a:pPr algn="ctr"/>
            <a:r>
              <a:rPr lang="en-US" dirty="0"/>
              <a:t>Number of </a:t>
            </a:r>
            <a:r>
              <a:rPr lang="en-US" dirty="0" smtClean="0"/>
              <a:t>Addresses</a:t>
            </a:r>
            <a:endParaRPr lang="en-US" dirty="0"/>
          </a:p>
        </p:txBody>
      </p:sp>
    </p:spTree>
    <p:extLst>
      <p:ext uri="{BB962C8B-B14F-4D97-AF65-F5344CB8AC3E}">
        <p14:creationId xmlns:p14="http://schemas.microsoft.com/office/powerpoint/2010/main" val="3300979094"/>
      </p:ext>
    </p:extLst>
  </p:cSld>
  <p:clrMapOvr>
    <a:masterClrMapping/>
  </p:clrMapOvr>
  <p:transition spd="slow"/>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260648"/>
            <a:ext cx="7776864" cy="6408712"/>
          </a:xfrm>
        </p:spPr>
        <p:txBody>
          <a:bodyPr/>
          <a:lstStyle/>
          <a:p>
            <a:r>
              <a:rPr lang="en-US" sz="2400" dirty="0"/>
              <a:t>Compare zero-, one-, two-, and three-address machines by writing </a:t>
            </a:r>
            <a:r>
              <a:rPr lang="en-US" sz="2400" dirty="0" smtClean="0"/>
              <a:t>instructions </a:t>
            </a:r>
            <a:r>
              <a:rPr lang="en-US" sz="2400" dirty="0"/>
              <a:t>to </a:t>
            </a:r>
            <a:r>
              <a:rPr lang="en-US" sz="2400" dirty="0" smtClean="0"/>
              <a:t>compute:</a:t>
            </a:r>
          </a:p>
          <a:p>
            <a:pPr marL="457200" indent="-457200">
              <a:buFont typeface="+mj-lt"/>
              <a:buAutoNum type="alphaLcParenR"/>
            </a:pPr>
            <a:r>
              <a:rPr lang="en-US" sz="2400" b="1" dirty="0"/>
              <a:t>X=(A+B)*(C+D</a:t>
            </a:r>
            <a:r>
              <a:rPr lang="en-US" sz="2400" b="1" dirty="0" smtClean="0"/>
              <a:t>)</a:t>
            </a:r>
          </a:p>
          <a:p>
            <a:pPr marL="457200" indent="-457200">
              <a:buFont typeface="+mj-lt"/>
              <a:buAutoNum type="alphaLcParenR"/>
            </a:pPr>
            <a:r>
              <a:rPr lang="pt-BR" sz="2400" b="1" dirty="0" smtClean="0"/>
              <a:t>X=(A*B)+(C*D)+E</a:t>
            </a:r>
          </a:p>
          <a:p>
            <a:pPr marL="0" indent="0">
              <a:buNone/>
            </a:pPr>
            <a:r>
              <a:rPr lang="en-US" sz="2400" dirty="0" smtClean="0"/>
              <a:t>for each of the four machines. The instructions available for use are as follows:</a:t>
            </a:r>
          </a:p>
          <a:p>
            <a:pPr marL="0" indent="0">
              <a:buNone/>
            </a:pPr>
            <a:endParaRPr lang="en-US" dirty="0"/>
          </a:p>
        </p:txBody>
      </p:sp>
      <p:pic>
        <p:nvPicPr>
          <p:cNvPr id="4" name="Picture 3"/>
          <p:cNvPicPr>
            <a:picLocks noChangeAspect="1"/>
          </p:cNvPicPr>
          <p:nvPr/>
        </p:nvPicPr>
        <p:blipFill>
          <a:blip r:embed="rId2"/>
          <a:stretch>
            <a:fillRect/>
          </a:stretch>
        </p:blipFill>
        <p:spPr>
          <a:xfrm>
            <a:off x="295807" y="3465004"/>
            <a:ext cx="8197015" cy="2808312"/>
          </a:xfrm>
          <a:prstGeom prst="rect">
            <a:avLst/>
          </a:prstGeom>
        </p:spPr>
      </p:pic>
    </p:spTree>
    <p:extLst>
      <p:ext uri="{BB962C8B-B14F-4D97-AF65-F5344CB8AC3E}">
        <p14:creationId xmlns:p14="http://schemas.microsoft.com/office/powerpoint/2010/main" val="155408050"/>
      </p:ext>
    </p:extLst>
  </p:cSld>
  <p:clrMapOvr>
    <a:masterClrMapping/>
  </p:clrMapOvr>
  <mc:AlternateContent xmlns:mc="http://schemas.openxmlformats.org/markup-compatibility/2006" xmlns:p14="http://schemas.microsoft.com/office/powerpoint/2010/main">
    <mc:Choice Requires="p14">
      <p:transition spd="slow" p14:dur="2000"/>
    </mc:Choice>
    <mc:Fallback xmlns="">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7140" y="260648"/>
            <a:ext cx="7556313" cy="1116106"/>
          </a:xfrm>
        </p:spPr>
        <p:txBody>
          <a:bodyPr/>
          <a:lstStyle/>
          <a:p>
            <a:pPr algn="ctr"/>
            <a:r>
              <a:rPr lang="en-US" dirty="0" smtClean="0"/>
              <a:t>Instruction Types</a:t>
            </a:r>
            <a:endParaRPr lang="en-US" dirty="0"/>
          </a:p>
        </p:txBody>
      </p:sp>
      <p:sp>
        <p:nvSpPr>
          <p:cNvPr id="3" name="Content Placeholder 2"/>
          <p:cNvSpPr>
            <a:spLocks noGrp="1"/>
          </p:cNvSpPr>
          <p:nvPr>
            <p:ph idx="1"/>
          </p:nvPr>
        </p:nvSpPr>
        <p:spPr>
          <a:xfrm>
            <a:off x="497141" y="1268760"/>
            <a:ext cx="7556313" cy="5328592"/>
          </a:xfrm>
        </p:spPr>
        <p:txBody>
          <a:bodyPr>
            <a:normAutofit fontScale="77500" lnSpcReduction="20000"/>
          </a:bodyPr>
          <a:lstStyle/>
          <a:p>
            <a:pPr algn="just"/>
            <a:r>
              <a:rPr lang="en-US" sz="2600" dirty="0" smtClean="0"/>
              <a:t>Data Processing</a:t>
            </a:r>
          </a:p>
          <a:p>
            <a:pPr lvl="1" algn="just"/>
            <a:r>
              <a:rPr lang="en-US" sz="2200" dirty="0"/>
              <a:t>Arithmetic instructions provide computational capabilities for processing numeric data</a:t>
            </a:r>
          </a:p>
          <a:p>
            <a:pPr lvl="1" algn="just"/>
            <a:r>
              <a:rPr lang="en-US" sz="2200" dirty="0"/>
              <a:t>Logic (Boolean) instructions operate on the bits of a word as bits rather than as numbers, thus they provide capabilities for processing any other type of data the user may wish to </a:t>
            </a:r>
            <a:r>
              <a:rPr lang="en-US" sz="2200" dirty="0" smtClean="0"/>
              <a:t>employ</a:t>
            </a:r>
          </a:p>
          <a:p>
            <a:pPr algn="just"/>
            <a:r>
              <a:rPr lang="en-US" sz="2600" dirty="0" smtClean="0"/>
              <a:t>Data Storage</a:t>
            </a:r>
          </a:p>
          <a:p>
            <a:pPr lvl="1" algn="just"/>
            <a:r>
              <a:rPr lang="en-US" sz="2200" dirty="0"/>
              <a:t>Movement of data into or out of register and or memory </a:t>
            </a:r>
            <a:r>
              <a:rPr lang="en-US" sz="2200" dirty="0" smtClean="0"/>
              <a:t>locations</a:t>
            </a:r>
          </a:p>
          <a:p>
            <a:pPr algn="just"/>
            <a:r>
              <a:rPr lang="en-US" sz="2600" dirty="0" smtClean="0"/>
              <a:t>Data Movement</a:t>
            </a:r>
          </a:p>
          <a:p>
            <a:pPr lvl="1" algn="just"/>
            <a:r>
              <a:rPr lang="en-US" sz="2200" dirty="0"/>
              <a:t>I/O instructions are needed to transfer programs and data into memory and the results of computations back out to the </a:t>
            </a:r>
            <a:r>
              <a:rPr lang="en-US" sz="2200" dirty="0" smtClean="0"/>
              <a:t>user</a:t>
            </a:r>
          </a:p>
          <a:p>
            <a:pPr algn="just"/>
            <a:r>
              <a:rPr lang="en-US" sz="2600" dirty="0" smtClean="0"/>
              <a:t>Control</a:t>
            </a:r>
          </a:p>
          <a:p>
            <a:pPr lvl="1" algn="just"/>
            <a:r>
              <a:rPr lang="en-US" sz="2200" dirty="0"/>
              <a:t>Test instructions are used to test the value of a data word or the status of a computation</a:t>
            </a:r>
          </a:p>
          <a:p>
            <a:pPr lvl="1" algn="just"/>
            <a:r>
              <a:rPr lang="en-US" sz="2200" dirty="0"/>
              <a:t>Branch instructions are used to branch to a different set of instructions depending on the decision made</a:t>
            </a:r>
          </a:p>
          <a:p>
            <a:pPr lvl="1"/>
            <a:endParaRPr lang="en-US" dirty="0" smtClean="0"/>
          </a:p>
        </p:txBody>
      </p:sp>
    </p:spTree>
    <p:extLst>
      <p:ext uri="{BB962C8B-B14F-4D97-AF65-F5344CB8AC3E}">
        <p14:creationId xmlns:p14="http://schemas.microsoft.com/office/powerpoint/2010/main" val="116995874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01693" y="0"/>
            <a:ext cx="7556313" cy="1116106"/>
          </a:xfrm>
        </p:spPr>
        <p:txBody>
          <a:bodyPr/>
          <a:lstStyle/>
          <a:p>
            <a:pPr algn="ctr"/>
            <a:r>
              <a:rPr lang="en-US" dirty="0"/>
              <a:t>Types of Operands</a:t>
            </a:r>
          </a:p>
        </p:txBody>
      </p:sp>
      <p:sp>
        <p:nvSpPr>
          <p:cNvPr id="3" name="Content Placeholder 2"/>
          <p:cNvSpPr>
            <a:spLocks noGrp="1"/>
          </p:cNvSpPr>
          <p:nvPr>
            <p:ph idx="1"/>
          </p:nvPr>
        </p:nvSpPr>
        <p:spPr>
          <a:xfrm>
            <a:off x="506969" y="692696"/>
            <a:ext cx="8318779" cy="5904656"/>
          </a:xfrm>
        </p:spPr>
        <p:txBody>
          <a:bodyPr>
            <a:normAutofit fontScale="77500" lnSpcReduction="20000"/>
          </a:bodyPr>
          <a:lstStyle/>
          <a:p>
            <a:r>
              <a:rPr lang="en-US" sz="3300" dirty="0" smtClean="0"/>
              <a:t>Addresses</a:t>
            </a:r>
          </a:p>
          <a:p>
            <a:r>
              <a:rPr lang="en-US" sz="3300" dirty="0" smtClean="0"/>
              <a:t>Numbers</a:t>
            </a:r>
          </a:p>
          <a:p>
            <a:pPr lvl="1"/>
            <a:r>
              <a:rPr lang="en-US" sz="2400" dirty="0"/>
              <a:t>All machine languages include numeric data types</a:t>
            </a:r>
          </a:p>
          <a:p>
            <a:pPr lvl="1"/>
            <a:r>
              <a:rPr lang="en-US" sz="2400" dirty="0"/>
              <a:t>Numbers stored in a computer are </a:t>
            </a:r>
            <a:r>
              <a:rPr lang="en-US" sz="2400" dirty="0" smtClean="0"/>
              <a:t>limited (representable </a:t>
            </a:r>
            <a:r>
              <a:rPr lang="en-US" sz="2400" dirty="0"/>
              <a:t>on a </a:t>
            </a:r>
            <a:r>
              <a:rPr lang="en-US" sz="2400" dirty="0" smtClean="0"/>
              <a:t>machine)</a:t>
            </a:r>
          </a:p>
          <a:p>
            <a:pPr lvl="1"/>
            <a:r>
              <a:rPr lang="en-US" sz="2400" dirty="0" smtClean="0"/>
              <a:t>Numerical </a:t>
            </a:r>
            <a:r>
              <a:rPr lang="en-US" sz="2400" dirty="0"/>
              <a:t>data </a:t>
            </a:r>
            <a:r>
              <a:rPr lang="en-US" sz="2400" dirty="0" smtClean="0"/>
              <a:t>computers: Binary or Decimal</a:t>
            </a:r>
            <a:endParaRPr lang="en-US" sz="3300" dirty="0" smtClean="0"/>
          </a:p>
          <a:p>
            <a:pPr lvl="2"/>
            <a:r>
              <a:rPr lang="en-US" sz="2400" dirty="0" smtClean="0"/>
              <a:t>Packed </a:t>
            </a:r>
            <a:r>
              <a:rPr lang="en-US" sz="2400" dirty="0"/>
              <a:t>decimal</a:t>
            </a:r>
          </a:p>
          <a:p>
            <a:pPr lvl="3"/>
            <a:r>
              <a:rPr lang="en-US" sz="2100" dirty="0"/>
              <a:t>Each decimal digit is represented by a 4-bit code with two digits stored per byte </a:t>
            </a:r>
            <a:endParaRPr lang="en-US" sz="2100" dirty="0" smtClean="0"/>
          </a:p>
          <a:p>
            <a:pPr lvl="3"/>
            <a:r>
              <a:rPr lang="en-US" sz="2100" dirty="0" smtClean="0"/>
              <a:t>Standard </a:t>
            </a:r>
            <a:r>
              <a:rPr lang="en-US" sz="2100" dirty="0"/>
              <a:t>sign values are 1100 for positive (+) and 1101 for negative </a:t>
            </a:r>
            <a:r>
              <a:rPr lang="en-US" sz="2100" dirty="0" smtClean="0"/>
              <a:t>(-)</a:t>
            </a:r>
          </a:p>
          <a:p>
            <a:r>
              <a:rPr lang="en-US" sz="3300" dirty="0" smtClean="0"/>
              <a:t>Characters</a:t>
            </a:r>
          </a:p>
          <a:p>
            <a:pPr lvl="1" algn="just"/>
            <a:r>
              <a:rPr lang="en-US" sz="2400" dirty="0" smtClean="0"/>
              <a:t>Most </a:t>
            </a:r>
            <a:r>
              <a:rPr lang="en-US" sz="2400" dirty="0"/>
              <a:t>commonly used character code is the International Reference Alphabet (IRA</a:t>
            </a:r>
            <a:r>
              <a:rPr lang="en-US" sz="2400" dirty="0" smtClean="0"/>
              <a:t>) or American </a:t>
            </a:r>
            <a:r>
              <a:rPr lang="en-US" sz="2400" dirty="0"/>
              <a:t>Standard Code for Information Interchange (ASCII</a:t>
            </a:r>
            <a:r>
              <a:rPr lang="en-US" sz="2400" dirty="0" smtClean="0"/>
              <a:t>)</a:t>
            </a:r>
            <a:endParaRPr lang="en-US" sz="1900" dirty="0" smtClean="0"/>
          </a:p>
          <a:p>
            <a:r>
              <a:rPr lang="en-US" sz="3300" dirty="0" smtClean="0"/>
              <a:t>Logical Data </a:t>
            </a:r>
          </a:p>
          <a:p>
            <a:pPr lvl="1"/>
            <a:r>
              <a:rPr lang="en-US" sz="2400" dirty="0"/>
              <a:t>An </a:t>
            </a:r>
            <a:r>
              <a:rPr lang="en-US" sz="2400" i="1" dirty="0"/>
              <a:t>n</a:t>
            </a:r>
            <a:r>
              <a:rPr lang="en-US" sz="2400" dirty="0"/>
              <a:t>-bit unit consisting of </a:t>
            </a:r>
            <a:r>
              <a:rPr lang="en-US" sz="2400" i="1" dirty="0"/>
              <a:t>n </a:t>
            </a:r>
            <a:r>
              <a:rPr lang="en-US" sz="2400" dirty="0"/>
              <a:t>1-bit items of data, each item having the value 0 or 1</a:t>
            </a:r>
          </a:p>
          <a:p>
            <a:endParaRPr lang="en-US" dirty="0"/>
          </a:p>
        </p:txBody>
      </p:sp>
    </p:spTree>
    <p:extLst>
      <p:ext uri="{BB962C8B-B14F-4D97-AF65-F5344CB8AC3E}">
        <p14:creationId xmlns:p14="http://schemas.microsoft.com/office/powerpoint/2010/main" val="3112235369"/>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78656" y="116632"/>
            <a:ext cx="7556313" cy="1116106"/>
          </a:xfrm>
        </p:spPr>
        <p:txBody>
          <a:bodyPr/>
          <a:lstStyle/>
          <a:p>
            <a:pPr algn="ctr"/>
            <a:r>
              <a:rPr lang="en-US" b="1" dirty="0" smtClean="0"/>
              <a:t>Types of Operations</a:t>
            </a:r>
            <a:endParaRPr lang="en-US" b="1" dirty="0"/>
          </a:p>
        </p:txBody>
      </p:sp>
      <p:sp>
        <p:nvSpPr>
          <p:cNvPr id="3" name="Content Placeholder 2"/>
          <p:cNvSpPr>
            <a:spLocks noGrp="1"/>
          </p:cNvSpPr>
          <p:nvPr>
            <p:ph idx="1"/>
          </p:nvPr>
        </p:nvSpPr>
        <p:spPr>
          <a:xfrm>
            <a:off x="510246" y="980728"/>
            <a:ext cx="7556313" cy="5544616"/>
          </a:xfrm>
        </p:spPr>
        <p:txBody>
          <a:bodyPr>
            <a:normAutofit fontScale="92500" lnSpcReduction="20000"/>
          </a:bodyPr>
          <a:lstStyle/>
          <a:p>
            <a:r>
              <a:rPr lang="en-US" sz="3200" dirty="0" smtClean="0"/>
              <a:t>Data Transfer</a:t>
            </a:r>
          </a:p>
          <a:p>
            <a:pPr lvl="1"/>
            <a:r>
              <a:rPr lang="en-US" sz="2600" dirty="0"/>
              <a:t>Transfer data from one location to </a:t>
            </a:r>
            <a:r>
              <a:rPr lang="en-US" sz="2600" dirty="0" smtClean="0"/>
              <a:t>another</a:t>
            </a:r>
          </a:p>
          <a:p>
            <a:r>
              <a:rPr lang="en-US" sz="3200" dirty="0" smtClean="0"/>
              <a:t>Arithmetic</a:t>
            </a:r>
          </a:p>
          <a:p>
            <a:pPr lvl="1"/>
            <a:r>
              <a:rPr lang="en-US" sz="2600" dirty="0"/>
              <a:t>Perform functions in ALU, set </a:t>
            </a:r>
            <a:r>
              <a:rPr lang="en-US" sz="2600" dirty="0" smtClean="0"/>
              <a:t>condition </a:t>
            </a:r>
            <a:r>
              <a:rPr lang="en-US" sz="2600" dirty="0"/>
              <a:t>flags</a:t>
            </a:r>
          </a:p>
          <a:p>
            <a:pPr lvl="1"/>
            <a:r>
              <a:rPr lang="en-US" sz="2600" dirty="0"/>
              <a:t>May involve data </a:t>
            </a:r>
            <a:r>
              <a:rPr lang="en-US" sz="2600" dirty="0" smtClean="0"/>
              <a:t>transfer</a:t>
            </a:r>
            <a:endParaRPr lang="en-US" sz="3200" dirty="0" smtClean="0"/>
          </a:p>
          <a:p>
            <a:r>
              <a:rPr lang="en-US" sz="3200" dirty="0" smtClean="0"/>
              <a:t>Logical</a:t>
            </a:r>
          </a:p>
          <a:p>
            <a:r>
              <a:rPr lang="en-US" sz="3200" dirty="0" smtClean="0"/>
              <a:t>Conversion</a:t>
            </a:r>
          </a:p>
          <a:p>
            <a:pPr lvl="1"/>
            <a:r>
              <a:rPr lang="en-US" sz="2600" dirty="0"/>
              <a:t>May involve special logic to perform </a:t>
            </a:r>
            <a:r>
              <a:rPr lang="en-US" sz="2600" dirty="0" smtClean="0"/>
              <a:t>conversion</a:t>
            </a:r>
            <a:endParaRPr lang="en-US" sz="2600" dirty="0"/>
          </a:p>
          <a:p>
            <a:r>
              <a:rPr lang="en-US" sz="3100" dirty="0"/>
              <a:t>I/O</a:t>
            </a:r>
          </a:p>
          <a:p>
            <a:pPr lvl="1"/>
            <a:r>
              <a:rPr lang="en-US" sz="2600" dirty="0"/>
              <a:t>Issue command to I/O </a:t>
            </a:r>
            <a:r>
              <a:rPr lang="en-US" sz="2600" dirty="0" smtClean="0"/>
              <a:t>module</a:t>
            </a:r>
            <a:endParaRPr lang="en-US" sz="3000" dirty="0" smtClean="0"/>
          </a:p>
          <a:p>
            <a:r>
              <a:rPr lang="en-US" sz="3200" dirty="0" smtClean="0"/>
              <a:t>Transfer of Control</a:t>
            </a:r>
          </a:p>
        </p:txBody>
      </p:sp>
    </p:spTree>
    <p:extLst>
      <p:ext uri="{BB962C8B-B14F-4D97-AF65-F5344CB8AC3E}">
        <p14:creationId xmlns:p14="http://schemas.microsoft.com/office/powerpoint/2010/main" val="554836062"/>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0" name="Rectangle 2"/>
          <p:cNvSpPr>
            <a:spLocks noChangeArrowheads="1"/>
          </p:cNvSpPr>
          <p:nvPr/>
        </p:nvSpPr>
        <p:spPr bwMode="auto">
          <a:xfrm>
            <a:off x="431800" y="6229350"/>
            <a:ext cx="19050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3251" name="Rectangle 3"/>
          <p:cNvSpPr>
            <a:spLocks noChangeArrowheads="1"/>
          </p:cNvSpPr>
          <p:nvPr/>
        </p:nvSpPr>
        <p:spPr bwMode="auto">
          <a:xfrm>
            <a:off x="3124200" y="6229350"/>
            <a:ext cx="2895600" cy="457200"/>
          </a:xfrm>
          <a:prstGeom prst="rect">
            <a:avLst/>
          </a:prstGeom>
          <a:noFill/>
          <a:ln w="12700">
            <a:noFill/>
            <a:miter lim="800000"/>
            <a:headEnd/>
            <a:tailEnd/>
          </a:ln>
          <a:effectLst/>
        </p:spPr>
        <p:txBody>
          <a:bodyPr wrap="none" anchor="ctr">
            <a:prstTxWarp prst="textNoShape">
              <a:avLst/>
            </a:prstTxWarp>
          </a:bodyPr>
          <a:lstStyle/>
          <a:p>
            <a:endParaRPr lang="en-US" dirty="0"/>
          </a:p>
        </p:txBody>
      </p:sp>
      <p:sp>
        <p:nvSpPr>
          <p:cNvPr id="53252" name="Rectangle 4"/>
          <p:cNvSpPr>
            <a:spLocks noGrp="1" noChangeArrowheads="1"/>
          </p:cNvSpPr>
          <p:nvPr>
            <p:ph type="title"/>
          </p:nvPr>
        </p:nvSpPr>
        <p:spPr>
          <a:noFill/>
          <a:ln/>
        </p:spPr>
        <p:txBody>
          <a:bodyPr lIns="90488" tIns="44450" rIns="90488" bIns="44450"/>
          <a:lstStyle/>
          <a:p>
            <a:pPr algn="ctr"/>
            <a:r>
              <a:rPr lang="en-US" b="1" dirty="0"/>
              <a:t>Transfer of Control</a:t>
            </a:r>
          </a:p>
        </p:txBody>
      </p:sp>
      <p:sp>
        <p:nvSpPr>
          <p:cNvPr id="53253" name="Rectangle 5"/>
          <p:cNvSpPr>
            <a:spLocks noGrp="1" noChangeArrowheads="1"/>
          </p:cNvSpPr>
          <p:nvPr>
            <p:ph idx="1"/>
          </p:nvPr>
        </p:nvSpPr>
        <p:spPr>
          <a:xfrm>
            <a:off x="611560" y="1268760"/>
            <a:ext cx="7556313" cy="4648200"/>
          </a:xfrm>
          <a:noFill/>
          <a:ln/>
        </p:spPr>
        <p:txBody>
          <a:bodyPr lIns="90488" tIns="44450" rIns="90488" bIns="44450">
            <a:normAutofit/>
          </a:bodyPr>
          <a:lstStyle/>
          <a:p>
            <a:r>
              <a:rPr lang="en-US" dirty="0" smtClean="0"/>
              <a:t>Reasons why transfer-of-control operations are required:</a:t>
            </a:r>
          </a:p>
          <a:p>
            <a:pPr lvl="1"/>
            <a:r>
              <a:rPr lang="en-US" dirty="0" smtClean="0"/>
              <a:t>It is essential to be able to execute each instruction more than once</a:t>
            </a:r>
          </a:p>
          <a:p>
            <a:pPr lvl="1"/>
            <a:r>
              <a:rPr lang="en-US" dirty="0" smtClean="0"/>
              <a:t>Virtually all programs involve some decision making</a:t>
            </a:r>
          </a:p>
          <a:p>
            <a:pPr lvl="1"/>
            <a:r>
              <a:rPr lang="en-US" dirty="0" smtClean="0"/>
              <a:t>It helps if there are mechanisms for breaking the task up into smaller pieces that can be worked on one at a time</a:t>
            </a:r>
          </a:p>
          <a:p>
            <a:pPr marL="228600" lvl="1">
              <a:spcBef>
                <a:spcPts val="2000"/>
              </a:spcBef>
              <a:buClr>
                <a:schemeClr val="accent1"/>
              </a:buClr>
            </a:pPr>
            <a:r>
              <a:rPr lang="en-US" sz="2000" dirty="0" smtClean="0"/>
              <a:t>Most common transfer-of-control operations found in instruction sets:</a:t>
            </a:r>
          </a:p>
          <a:p>
            <a:pPr lvl="1"/>
            <a:r>
              <a:rPr lang="en-US" sz="1765" dirty="0" smtClean="0"/>
              <a:t>Branch</a:t>
            </a:r>
          </a:p>
          <a:p>
            <a:pPr lvl="1"/>
            <a:r>
              <a:rPr lang="en-US" sz="1765" dirty="0" smtClean="0"/>
              <a:t>Skip</a:t>
            </a:r>
          </a:p>
          <a:p>
            <a:pPr lvl="1"/>
            <a:r>
              <a:rPr lang="en-US" sz="1765" dirty="0" smtClean="0"/>
              <a:t>Procedure call</a:t>
            </a:r>
          </a:p>
        </p:txBody>
      </p:sp>
    </p:spTree>
  </p:cSld>
  <p:clrMapOvr>
    <a:masterClrMapping/>
  </p:clrMapOvr>
  <p:transition spd="slow"/>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16632"/>
            <a:ext cx="7556313" cy="1116106"/>
          </a:xfrm>
        </p:spPr>
        <p:txBody>
          <a:bodyPr/>
          <a:lstStyle/>
          <a:p>
            <a:pPr algn="ctr"/>
            <a:r>
              <a:rPr lang="en-US" dirty="0" smtClean="0"/>
              <a:t>Branch Instructions</a:t>
            </a:r>
            <a:endParaRPr lang="en-US" dirty="0"/>
          </a:p>
        </p:txBody>
      </p:sp>
      <p:sp>
        <p:nvSpPr>
          <p:cNvPr id="3" name="Content Placeholder 2"/>
          <p:cNvSpPr>
            <a:spLocks noGrp="1"/>
          </p:cNvSpPr>
          <p:nvPr>
            <p:ph idx="1"/>
          </p:nvPr>
        </p:nvSpPr>
        <p:spPr>
          <a:xfrm>
            <a:off x="251520" y="674685"/>
            <a:ext cx="7916353" cy="5832648"/>
          </a:xfrm>
        </p:spPr>
        <p:txBody>
          <a:bodyPr>
            <a:normAutofit/>
          </a:bodyPr>
          <a:lstStyle/>
          <a:p>
            <a:pPr algn="just"/>
            <a:r>
              <a:rPr lang="en-US" dirty="0"/>
              <a:t>A branch instruction, also called a jump </a:t>
            </a:r>
            <a:r>
              <a:rPr lang="en-US" dirty="0" smtClean="0"/>
              <a:t>instruction, has </a:t>
            </a:r>
            <a:r>
              <a:rPr lang="en-US" dirty="0"/>
              <a:t>as one of its operands the address of the next instruction to be </a:t>
            </a:r>
            <a:r>
              <a:rPr lang="en-US" dirty="0" smtClean="0"/>
              <a:t>executed.</a:t>
            </a:r>
          </a:p>
          <a:p>
            <a:pPr algn="just"/>
            <a:r>
              <a:rPr lang="en-US" dirty="0" smtClean="0"/>
              <a:t>Examples:</a:t>
            </a:r>
          </a:p>
          <a:p>
            <a:pPr lvl="1" algn="just"/>
            <a:r>
              <a:rPr lang="en-US" dirty="0"/>
              <a:t>BRE R1, R2, X Branch to X if contents of R1 = contents of R2</a:t>
            </a:r>
            <a:endParaRPr lang="en-US" dirty="0" smtClean="0"/>
          </a:p>
          <a:p>
            <a:pPr lvl="1"/>
            <a:r>
              <a:rPr lang="en-US" dirty="0" smtClean="0"/>
              <a:t>BRN </a:t>
            </a:r>
            <a:r>
              <a:rPr lang="en-US" dirty="0"/>
              <a:t>X Branch to location X if result is </a:t>
            </a:r>
            <a:r>
              <a:rPr lang="en-US" dirty="0" smtClean="0"/>
              <a:t>negative</a:t>
            </a:r>
            <a:endParaRPr lang="en-US" dirty="0"/>
          </a:p>
          <a:p>
            <a:pPr lvl="1"/>
            <a:r>
              <a:rPr lang="en-US" dirty="0"/>
              <a:t>BRZ X Branch to location X if result is </a:t>
            </a:r>
            <a:r>
              <a:rPr lang="en-US" dirty="0" smtClean="0"/>
              <a:t>zero</a:t>
            </a:r>
            <a:endParaRPr lang="en-US" dirty="0"/>
          </a:p>
          <a:p>
            <a:pPr marL="0" indent="0">
              <a:buNone/>
            </a:pPr>
            <a:endParaRPr lang="en-US" dirty="0" smtClean="0"/>
          </a:p>
          <a:p>
            <a:endParaRPr lang="en-US" dirty="0"/>
          </a:p>
        </p:txBody>
      </p:sp>
      <p:pic>
        <p:nvPicPr>
          <p:cNvPr id="4" name="Picture 3"/>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2051720" y="3212976"/>
            <a:ext cx="5237951" cy="3525749"/>
          </a:xfrm>
          <a:prstGeom prst="rect">
            <a:avLst/>
          </a:prstGeom>
        </p:spPr>
      </p:pic>
    </p:spTree>
    <p:extLst>
      <p:ext uri="{BB962C8B-B14F-4D97-AF65-F5344CB8AC3E}">
        <p14:creationId xmlns:p14="http://schemas.microsoft.com/office/powerpoint/2010/main" val="323110864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519902" y="116632"/>
            <a:ext cx="7556313" cy="1116106"/>
          </a:xfrm>
        </p:spPr>
        <p:txBody>
          <a:bodyPr/>
          <a:lstStyle/>
          <a:p>
            <a:pPr algn="ctr"/>
            <a:r>
              <a:rPr lang="en-US" dirty="0" smtClean="0"/>
              <a:t>Skip Instructions </a:t>
            </a:r>
            <a:endParaRPr lang="en-US" dirty="0"/>
          </a:p>
        </p:txBody>
      </p:sp>
      <p:sp>
        <p:nvSpPr>
          <p:cNvPr id="3" name="Content Placeholder 2"/>
          <p:cNvSpPr>
            <a:spLocks noGrp="1"/>
          </p:cNvSpPr>
          <p:nvPr>
            <p:ph idx="1"/>
          </p:nvPr>
        </p:nvSpPr>
        <p:spPr>
          <a:xfrm>
            <a:off x="519901" y="980728"/>
            <a:ext cx="7556313" cy="4144963"/>
          </a:xfrm>
        </p:spPr>
        <p:txBody>
          <a:bodyPr/>
          <a:lstStyle/>
          <a:p>
            <a:r>
              <a:rPr lang="en-US" dirty="0"/>
              <a:t>Includes an implied address</a:t>
            </a:r>
          </a:p>
          <a:p>
            <a:r>
              <a:rPr lang="en-US" dirty="0"/>
              <a:t>Typically implies that one instruction be skipped, thus the implied address equals the address of the next instruction plus one instruction length</a:t>
            </a:r>
          </a:p>
          <a:p>
            <a:endParaRPr lang="en-US" dirty="0"/>
          </a:p>
          <a:p>
            <a:endParaRPr lang="en-US" dirty="0"/>
          </a:p>
        </p:txBody>
      </p:sp>
      <p:pic>
        <p:nvPicPr>
          <p:cNvPr id="4" name="Picture 3"/>
          <p:cNvPicPr>
            <a:picLocks noChangeAspect="1"/>
          </p:cNvPicPr>
          <p:nvPr/>
        </p:nvPicPr>
        <p:blipFill>
          <a:blip r:embed="rId2"/>
          <a:stretch>
            <a:fillRect/>
          </a:stretch>
        </p:blipFill>
        <p:spPr>
          <a:xfrm>
            <a:off x="2555776" y="2971124"/>
            <a:ext cx="4263038" cy="3554220"/>
          </a:xfrm>
          <a:prstGeom prst="rect">
            <a:avLst/>
          </a:prstGeom>
        </p:spPr>
      </p:pic>
    </p:spTree>
    <p:extLst>
      <p:ext uri="{BB962C8B-B14F-4D97-AF65-F5344CB8AC3E}">
        <p14:creationId xmlns:p14="http://schemas.microsoft.com/office/powerpoint/2010/main" val="212369566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188640"/>
            <a:ext cx="7556313" cy="1116106"/>
          </a:xfrm>
        </p:spPr>
        <p:txBody>
          <a:bodyPr/>
          <a:lstStyle/>
          <a:p>
            <a:pPr algn="ctr"/>
            <a:r>
              <a:rPr lang="en-US" dirty="0" smtClean="0"/>
              <a:t>Procedure Call Instructions</a:t>
            </a:r>
            <a:endParaRPr lang="en-US" dirty="0"/>
          </a:p>
        </p:txBody>
      </p:sp>
      <p:sp>
        <p:nvSpPr>
          <p:cNvPr id="3" name="Content Placeholder 2"/>
          <p:cNvSpPr>
            <a:spLocks noGrp="1"/>
          </p:cNvSpPr>
          <p:nvPr>
            <p:ph idx="1"/>
          </p:nvPr>
        </p:nvSpPr>
        <p:spPr>
          <a:xfrm>
            <a:off x="395536" y="980728"/>
            <a:ext cx="7920880" cy="5616624"/>
          </a:xfrm>
        </p:spPr>
        <p:txBody>
          <a:bodyPr>
            <a:normAutofit/>
          </a:bodyPr>
          <a:lstStyle/>
          <a:p>
            <a:r>
              <a:rPr lang="en-US" dirty="0" smtClean="0"/>
              <a:t>Self-contained computer program that is incorporated into a larger program</a:t>
            </a:r>
          </a:p>
          <a:p>
            <a:pPr lvl="1"/>
            <a:r>
              <a:rPr lang="en-US" dirty="0" smtClean="0"/>
              <a:t>At any point in the program the procedure may be invoked, or </a:t>
            </a:r>
            <a:r>
              <a:rPr lang="en-US" i="1" dirty="0" smtClean="0"/>
              <a:t>called</a:t>
            </a:r>
            <a:endParaRPr lang="en-US" dirty="0" smtClean="0"/>
          </a:p>
          <a:p>
            <a:pPr lvl="1"/>
            <a:r>
              <a:rPr lang="en-US" dirty="0" smtClean="0"/>
              <a:t>Processor is instructed to go and execute the entire procedure and then return to the point from which the call took place</a:t>
            </a:r>
          </a:p>
          <a:p>
            <a:r>
              <a:rPr lang="en-US" dirty="0" smtClean="0"/>
              <a:t>Two principal reasons for use of procedures:</a:t>
            </a:r>
          </a:p>
          <a:p>
            <a:pPr lvl="1"/>
            <a:r>
              <a:rPr lang="en-US" dirty="0" smtClean="0"/>
              <a:t>Economy</a:t>
            </a:r>
          </a:p>
          <a:p>
            <a:pPr lvl="2"/>
            <a:r>
              <a:rPr lang="en-US" dirty="0" smtClean="0"/>
              <a:t>A procedure allows the same piece of code to be used many times</a:t>
            </a:r>
          </a:p>
          <a:p>
            <a:pPr lvl="1"/>
            <a:r>
              <a:rPr lang="en-US" dirty="0" smtClean="0"/>
              <a:t>Modularity</a:t>
            </a:r>
          </a:p>
          <a:p>
            <a:r>
              <a:rPr lang="en-US" dirty="0" smtClean="0"/>
              <a:t>Involves two basic instructions:</a:t>
            </a:r>
          </a:p>
          <a:p>
            <a:pPr lvl="1"/>
            <a:r>
              <a:rPr lang="en-US" dirty="0" smtClean="0"/>
              <a:t>A call instruction that branches from the present location to the procedure</a:t>
            </a:r>
          </a:p>
          <a:p>
            <a:pPr lvl="1"/>
            <a:r>
              <a:rPr lang="en-US" dirty="0" smtClean="0"/>
              <a:t>Return instruction that returns from the procedure to the place from which it was called</a:t>
            </a:r>
          </a:p>
          <a:p>
            <a:endParaRPr lang="en-US" dirty="0"/>
          </a:p>
        </p:txBody>
      </p:sp>
    </p:spTree>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0898" name="Rectangle 2"/>
          <p:cNvSpPr>
            <a:spLocks noGrp="1" noChangeArrowheads="1"/>
          </p:cNvSpPr>
          <p:nvPr>
            <p:ph type="title"/>
          </p:nvPr>
        </p:nvSpPr>
        <p:spPr>
          <a:xfrm>
            <a:off x="381000" y="1143000"/>
            <a:ext cx="3255264" cy="1162050"/>
          </a:xfrm>
        </p:spPr>
        <p:txBody>
          <a:bodyPr/>
          <a:lstStyle/>
          <a:p>
            <a:pPr algn="ctr"/>
            <a:r>
              <a:rPr lang="en-GB" dirty="0"/>
              <a:t>Nested</a:t>
            </a:r>
            <a:r>
              <a:rPr lang="en-GB" dirty="0" smtClean="0"/>
              <a:t> </a:t>
            </a:r>
            <a:br>
              <a:rPr lang="en-GB" dirty="0" smtClean="0"/>
            </a:br>
            <a:r>
              <a:rPr lang="en-GB" dirty="0" smtClean="0"/>
              <a:t>Procedures</a:t>
            </a:r>
            <a:endParaRPr lang="en-GB" dirty="0"/>
          </a:p>
        </p:txBody>
      </p:sp>
      <p:pic>
        <p:nvPicPr>
          <p:cNvPr id="4" name="Picture 3" descr="f8.pdf"/>
          <p:cNvPicPr>
            <a:picLocks noChangeAspect="1"/>
          </p:cNvPicPr>
          <p:nvPr/>
        </p:nvPicPr>
        <mc:AlternateContent xmlns:mc="http://schemas.openxmlformats.org/markup-compatibility/2006">
          <mc:Choice xmlns:ma="http://schemas.microsoft.com/office/mac/drawingml/2008/main" xmlns:mv="urn:schemas-microsoft-com:mac:vml" xmlns="" Requires="ma">
            <p:blipFill>
              <a:blip r:embed="rId3"/>
              <a:srcRect l="2353" t="10909" r="4706" b="13636"/>
              <a:stretch>
                <a:fillRect/>
              </a:stretch>
            </p:blipFill>
          </mc:Choice>
          <mc:Fallback>
            <p:blipFill>
              <a:blip r:embed="rId4"/>
              <a:srcRect l="2353" t="10909" r="4706" b="13636"/>
              <a:stretch>
                <a:fillRect/>
              </a:stretch>
            </p:blipFill>
          </mc:Fallback>
        </mc:AlternateContent>
        <p:spPr>
          <a:xfrm>
            <a:off x="3657600" y="457200"/>
            <a:ext cx="5692962" cy="5981273"/>
          </a:xfrm>
          <a:prstGeom prst="rect">
            <a:avLst/>
          </a:prstGeom>
        </p:spPr>
      </p:pic>
    </p:spTree>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67544" y="548680"/>
            <a:ext cx="8064896" cy="6120680"/>
          </a:xfrm>
        </p:spPr>
        <p:txBody>
          <a:bodyPr>
            <a:normAutofit/>
          </a:bodyPr>
          <a:lstStyle/>
          <a:p>
            <a:r>
              <a:rPr lang="en-US" dirty="0"/>
              <a:t>There are three common places for storing the return address:</a:t>
            </a:r>
          </a:p>
          <a:p>
            <a:pPr marL="0" indent="0">
              <a:buNone/>
            </a:pPr>
            <a:r>
              <a:rPr lang="en-US" dirty="0" smtClean="0"/>
              <a:t>Consider </a:t>
            </a:r>
            <a:r>
              <a:rPr lang="en-US" dirty="0"/>
              <a:t>a machine-language instruction CALL X, which stands for </a:t>
            </a:r>
            <a:r>
              <a:rPr lang="en-US" i="1" dirty="0"/>
              <a:t>call </a:t>
            </a:r>
            <a:r>
              <a:rPr lang="en-US" i="1" dirty="0" smtClean="0"/>
              <a:t>procedure at </a:t>
            </a:r>
            <a:r>
              <a:rPr lang="en-US" i="1" dirty="0"/>
              <a:t>location X. </a:t>
            </a:r>
            <a:endParaRPr lang="en-US" i="1" dirty="0" smtClean="0"/>
          </a:p>
          <a:p>
            <a:pPr marL="0" indent="0">
              <a:buNone/>
            </a:pPr>
            <a:endParaRPr lang="en-US" i="1" dirty="0" smtClean="0"/>
          </a:p>
          <a:p>
            <a:r>
              <a:rPr lang="en-US" dirty="0" smtClean="0"/>
              <a:t>Register:        </a:t>
            </a:r>
            <a:r>
              <a:rPr lang="en-US" b="1" dirty="0" smtClean="0"/>
              <a:t>RN&lt;- PC + ∆ ;   PC&lt;- X</a:t>
            </a:r>
            <a:endParaRPr lang="en-US" b="1" dirty="0"/>
          </a:p>
          <a:p>
            <a:endParaRPr lang="en-US" dirty="0"/>
          </a:p>
          <a:p>
            <a:r>
              <a:rPr lang="en-US" dirty="0"/>
              <a:t>Start of called </a:t>
            </a:r>
            <a:r>
              <a:rPr lang="en-US" dirty="0" smtClean="0"/>
              <a:t>procedure:   </a:t>
            </a:r>
            <a:r>
              <a:rPr lang="en-US" b="1" dirty="0" smtClean="0"/>
              <a:t>X&lt;-</a:t>
            </a:r>
            <a:r>
              <a:rPr lang="en-US" b="1" dirty="0"/>
              <a:t>PC + ∆ </a:t>
            </a:r>
            <a:r>
              <a:rPr lang="en-US" b="1" dirty="0" smtClean="0"/>
              <a:t>;  PC</a:t>
            </a:r>
            <a:r>
              <a:rPr lang="en-US" b="1" dirty="0"/>
              <a:t>&lt;-</a:t>
            </a:r>
            <a:r>
              <a:rPr lang="en-US" b="1" dirty="0" smtClean="0"/>
              <a:t>X+1</a:t>
            </a:r>
          </a:p>
          <a:p>
            <a:r>
              <a:rPr lang="en-IN" dirty="0"/>
              <a:t>The only limitation of these approaches is that they complicate the use of </a:t>
            </a:r>
            <a:r>
              <a:rPr lang="en-IN" dirty="0" err="1"/>
              <a:t>reentrant</a:t>
            </a:r>
            <a:r>
              <a:rPr lang="en-IN" dirty="0"/>
              <a:t> procedures.</a:t>
            </a:r>
          </a:p>
          <a:p>
            <a:pPr lvl="1"/>
            <a:r>
              <a:rPr lang="en-IN" dirty="0"/>
              <a:t>A </a:t>
            </a:r>
            <a:r>
              <a:rPr lang="en-IN" dirty="0" err="1"/>
              <a:t>reentrant</a:t>
            </a:r>
            <a:r>
              <a:rPr lang="en-IN" dirty="0"/>
              <a:t> procedure is one in which it is possible to have several calls open to it at the same time. </a:t>
            </a:r>
            <a:endParaRPr lang="en-US" dirty="0"/>
          </a:p>
          <a:p>
            <a:pPr marL="0" indent="0">
              <a:buNone/>
            </a:pPr>
            <a:endParaRPr lang="en-US" dirty="0"/>
          </a:p>
        </p:txBody>
      </p:sp>
    </p:spTree>
    <p:extLst>
      <p:ext uri="{BB962C8B-B14F-4D97-AF65-F5344CB8AC3E}">
        <p14:creationId xmlns:p14="http://schemas.microsoft.com/office/powerpoint/2010/main" val="258277377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Rectangle 1"/>
          <p:cNvSpPr>
            <a:spLocks noGrp="1" noChangeArrowheads="1"/>
          </p:cNvSpPr>
          <p:nvPr>
            <p:ph type="title"/>
          </p:nvPr>
        </p:nvSpPr>
        <p:spPr>
          <a:xfrm>
            <a:off x="457200" y="257175"/>
            <a:ext cx="8229600" cy="1384995"/>
          </a:xfrm>
        </p:spPr>
        <p:txBody>
          <a:bodyPr>
            <a:spAutoFit/>
          </a:bodyPr>
          <a:lstStyle/>
          <a:p>
            <a:pPr eaLnBrk="1" hangingPunct="1">
              <a:lnSpc>
                <a:spcPct val="100000"/>
              </a:lnSpc>
              <a:tabLst>
                <a:tab pos="0" algn="l"/>
                <a:tab pos="447675" algn="l"/>
                <a:tab pos="896938" algn="l"/>
                <a:tab pos="1346200" algn="l"/>
                <a:tab pos="1795463" algn="l"/>
                <a:tab pos="2244725" algn="l"/>
                <a:tab pos="2693988" algn="l"/>
                <a:tab pos="3143250" algn="l"/>
                <a:tab pos="3592513" algn="l"/>
                <a:tab pos="4041775" algn="l"/>
                <a:tab pos="4491038" algn="l"/>
                <a:tab pos="4940300" algn="l"/>
                <a:tab pos="5389563" algn="l"/>
                <a:tab pos="5838825" algn="l"/>
                <a:tab pos="6288088" algn="l"/>
                <a:tab pos="6737350" algn="l"/>
                <a:tab pos="7186613" algn="l"/>
                <a:tab pos="7635875" algn="l"/>
                <a:tab pos="8085138" algn="l"/>
                <a:tab pos="8534400" algn="l"/>
                <a:tab pos="8983663" algn="l"/>
              </a:tabLst>
            </a:pPr>
            <a:r>
              <a:rPr lang="en-GB" altLang="en-US" sz="2800" dirty="0" smtClean="0"/>
              <a:t>Top of Stack:</a:t>
            </a:r>
            <a:br>
              <a:rPr lang="en-GB" altLang="en-US" sz="2800" dirty="0" smtClean="0"/>
            </a:br>
            <a:r>
              <a:rPr lang="en-GB" altLang="en-US" sz="2800" dirty="0" smtClean="0"/>
              <a:t>Saving the return address for re-entrant procedures</a:t>
            </a:r>
          </a:p>
        </p:txBody>
      </p:sp>
      <p:pic>
        <p:nvPicPr>
          <p:cNvPr id="19459" name="Picture 2"/>
          <p:cNvPicPr>
            <a:picLocks noChangeAspect="1" noChangeArrowheads="1"/>
          </p:cNvPicPr>
          <p:nvPr/>
        </p:nvPicPr>
        <p:blipFill>
          <a:blip r:embed="rId3">
            <a:extLst>
              <a:ext uri="{28A0092B-C50C-407E-A947-70E740481C1C}">
                <a14:useLocalDpi xmlns:a14="http://schemas.microsoft.com/office/drawing/2010/main" val="0"/>
              </a:ext>
            </a:extLst>
          </a:blip>
          <a:srcRect l="5429" t="13150" r="7732" b="57823"/>
          <a:stretch>
            <a:fillRect/>
          </a:stretch>
        </p:blipFill>
        <p:spPr bwMode="auto">
          <a:xfrm>
            <a:off x="0" y="2176463"/>
            <a:ext cx="8991600" cy="2981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pic>
    </p:spTree>
    <p:extLst>
      <p:ext uri="{BB962C8B-B14F-4D97-AF65-F5344CB8AC3E}">
        <p14:creationId xmlns:p14="http://schemas.microsoft.com/office/powerpoint/2010/main" val="2084583662"/>
      </p:ext>
    </p:extLst>
  </p:cSld>
  <p:clrMapOvr>
    <a:masterClrMapping/>
  </p:clrMapOvr>
  <p:transition spd="med"/>
  <p:timing>
    <p:tnLst>
      <p:par>
        <p:cTn id="1" dur="indefinite" restart="never" nodeType="tmRoot">
          <p:childTnLst>
            <p:seq concurrent="1" nextAc="seek">
              <p:cTn id="2" dur="indefinite" nodeType="mainSeq"/>
              <p:prevCondLst>
                <p:cond evt="onPrev" delay="0">
                  <p:tgtEl>
                    <p:sldTgt/>
                  </p:tgtEl>
                </p:cond>
              </p:prevCondLst>
              <p:nextCondLst>
                <p:cond evt="onNext" delay="0">
                  <p:tgtEl>
                    <p:sldTgt/>
                  </p:tgtEl>
                </p:cond>
              </p:nextCondLst>
            </p:seq>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dirty="0" smtClean="0"/>
              <a:t>Instruction Set Design</a:t>
            </a:r>
            <a:endParaRPr lang="en-US" dirty="0"/>
          </a:p>
        </p:txBody>
      </p:sp>
      <p:sp>
        <p:nvSpPr>
          <p:cNvPr id="3" name="Content Placeholder 2"/>
          <p:cNvSpPr>
            <a:spLocks noGrp="1"/>
          </p:cNvSpPr>
          <p:nvPr>
            <p:ph idx="1"/>
          </p:nvPr>
        </p:nvSpPr>
        <p:spPr/>
        <p:txBody>
          <a:bodyPr>
            <a:normAutofit lnSpcReduction="10000"/>
          </a:bodyPr>
          <a:lstStyle/>
          <a:p>
            <a:r>
              <a:rPr lang="en-US" b="1" dirty="0"/>
              <a:t>Operation </a:t>
            </a:r>
            <a:r>
              <a:rPr lang="en-US" b="1" dirty="0" smtClean="0"/>
              <a:t>repository: </a:t>
            </a:r>
            <a:r>
              <a:rPr lang="en-US" dirty="0"/>
              <a:t>How many and which operations to provide, and </a:t>
            </a:r>
            <a:r>
              <a:rPr lang="en-US" dirty="0" smtClean="0"/>
              <a:t>how complex </a:t>
            </a:r>
            <a:r>
              <a:rPr lang="en-US" dirty="0"/>
              <a:t>operations should be</a:t>
            </a:r>
          </a:p>
          <a:p>
            <a:r>
              <a:rPr lang="en-US" b="1" dirty="0" smtClean="0"/>
              <a:t>Data </a:t>
            </a:r>
            <a:r>
              <a:rPr lang="en-US" b="1" dirty="0"/>
              <a:t>types: </a:t>
            </a:r>
            <a:r>
              <a:rPr lang="en-US" dirty="0"/>
              <a:t>The various types of data upon which operations are performed</a:t>
            </a:r>
          </a:p>
          <a:p>
            <a:r>
              <a:rPr lang="en-US" b="1" dirty="0" smtClean="0"/>
              <a:t>Instruction </a:t>
            </a:r>
            <a:r>
              <a:rPr lang="en-US" b="1" dirty="0"/>
              <a:t>format: </a:t>
            </a:r>
            <a:r>
              <a:rPr lang="en-US" dirty="0"/>
              <a:t>Instruction length (in bits), number of addresses, size </a:t>
            </a:r>
            <a:r>
              <a:rPr lang="en-US" dirty="0" smtClean="0"/>
              <a:t>of various </a:t>
            </a:r>
            <a:r>
              <a:rPr lang="en-US" dirty="0"/>
              <a:t>fields, and so on</a:t>
            </a:r>
          </a:p>
          <a:p>
            <a:r>
              <a:rPr lang="en-US" b="1" dirty="0" smtClean="0"/>
              <a:t>Registers</a:t>
            </a:r>
            <a:r>
              <a:rPr lang="en-US" b="1" dirty="0"/>
              <a:t>: </a:t>
            </a:r>
            <a:r>
              <a:rPr lang="en-US" dirty="0"/>
              <a:t>Number of processor registers that can be referenced by </a:t>
            </a:r>
            <a:r>
              <a:rPr lang="en-US" dirty="0" smtClean="0"/>
              <a:t>instructions, and </a:t>
            </a:r>
            <a:r>
              <a:rPr lang="en-US" dirty="0"/>
              <a:t>their use</a:t>
            </a:r>
          </a:p>
          <a:p>
            <a:r>
              <a:rPr lang="en-US" b="1" dirty="0" smtClean="0"/>
              <a:t>Addressing</a:t>
            </a:r>
            <a:r>
              <a:rPr lang="en-US" b="1" dirty="0"/>
              <a:t>: </a:t>
            </a:r>
            <a:r>
              <a:rPr lang="en-US" dirty="0"/>
              <a:t>The mode or modes by which the address of an operand </a:t>
            </a:r>
            <a:r>
              <a:rPr lang="en-US" dirty="0" smtClean="0"/>
              <a:t>is specified</a:t>
            </a:r>
            <a:endParaRPr lang="en-US" dirty="0"/>
          </a:p>
        </p:txBody>
      </p:sp>
    </p:spTree>
    <p:extLst>
      <p:ext uri="{BB962C8B-B14F-4D97-AF65-F5344CB8AC3E}">
        <p14:creationId xmlns:p14="http://schemas.microsoft.com/office/powerpoint/2010/main" val="1088362247"/>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51520" y="188640"/>
            <a:ext cx="7920880" cy="6264696"/>
          </a:xfrm>
        </p:spPr>
        <p:txBody>
          <a:bodyPr>
            <a:noAutofit/>
          </a:bodyPr>
          <a:lstStyle/>
          <a:p>
            <a:r>
              <a:rPr lang="en-IN" dirty="0"/>
              <a:t>Consider a hypothetical computer with an instruction set of only two </a:t>
            </a:r>
            <a:r>
              <a:rPr lang="en-IN" i="1" dirty="0"/>
              <a:t>n</a:t>
            </a:r>
            <a:r>
              <a:rPr lang="en-IN" dirty="0"/>
              <a:t>-bit </a:t>
            </a:r>
            <a:r>
              <a:rPr lang="en-IN" dirty="0" smtClean="0"/>
              <a:t>instructions. The </a:t>
            </a:r>
            <a:r>
              <a:rPr lang="en-IN" dirty="0"/>
              <a:t>first bit specifies the opcode, and the remaining bits specify one of the </a:t>
            </a:r>
            <a:r>
              <a:rPr lang="en-IN" dirty="0" smtClean="0"/>
              <a:t>2^(</a:t>
            </a:r>
            <a:r>
              <a:rPr lang="en-IN" i="1" dirty="0" smtClean="0"/>
              <a:t>n</a:t>
            </a:r>
            <a:r>
              <a:rPr lang="en-IN" dirty="0" smtClean="0"/>
              <a:t>-1) </a:t>
            </a:r>
            <a:r>
              <a:rPr lang="en-IN" i="1" dirty="0" smtClean="0"/>
              <a:t>n</a:t>
            </a:r>
            <a:r>
              <a:rPr lang="en-IN" dirty="0" smtClean="0"/>
              <a:t>-bit </a:t>
            </a:r>
            <a:r>
              <a:rPr lang="en-IN" dirty="0"/>
              <a:t>words of main memory. The two instructions are as follows:</a:t>
            </a:r>
          </a:p>
          <a:p>
            <a:pPr>
              <a:buFont typeface="Wingdings" panose="05000000000000000000" pitchFamily="2" charset="2"/>
              <a:buChar char="ü"/>
            </a:pPr>
            <a:r>
              <a:rPr lang="en-IN" dirty="0"/>
              <a:t>SUBS </a:t>
            </a:r>
            <a:r>
              <a:rPr lang="en-IN" dirty="0" smtClean="0"/>
              <a:t>X: Subtract </a:t>
            </a:r>
            <a:r>
              <a:rPr lang="en-IN" dirty="0"/>
              <a:t>the contents of location X from the accumulator, and store </a:t>
            </a:r>
            <a:r>
              <a:rPr lang="en-IN" dirty="0" smtClean="0"/>
              <a:t>the result </a:t>
            </a:r>
            <a:r>
              <a:rPr lang="en-IN" dirty="0"/>
              <a:t>in location X and the accumulator.</a:t>
            </a:r>
          </a:p>
          <a:p>
            <a:pPr>
              <a:buFont typeface="Wingdings" panose="05000000000000000000" pitchFamily="2" charset="2"/>
              <a:buChar char="ü"/>
            </a:pPr>
            <a:r>
              <a:rPr lang="en-IN" dirty="0"/>
              <a:t>JUMP </a:t>
            </a:r>
            <a:r>
              <a:rPr lang="en-IN" dirty="0" smtClean="0"/>
              <a:t>X: </a:t>
            </a:r>
            <a:r>
              <a:rPr lang="en-IN" dirty="0"/>
              <a:t>Place address X in the program counter.</a:t>
            </a:r>
          </a:p>
          <a:p>
            <a:pPr marL="0" indent="0">
              <a:buNone/>
            </a:pPr>
            <a:r>
              <a:rPr lang="en-IN" dirty="0"/>
              <a:t>A word in main memory may contain either an instruction or a binary number </a:t>
            </a:r>
            <a:r>
              <a:rPr lang="en-IN" dirty="0" smtClean="0"/>
              <a:t>in twos </a:t>
            </a:r>
            <a:r>
              <a:rPr lang="en-IN" dirty="0"/>
              <a:t>complement notation. Demonstrate that this instruction </a:t>
            </a:r>
            <a:r>
              <a:rPr lang="en-IN" dirty="0" smtClean="0"/>
              <a:t>set </a:t>
            </a:r>
            <a:r>
              <a:rPr lang="en-IN" dirty="0"/>
              <a:t>is </a:t>
            </a:r>
            <a:r>
              <a:rPr lang="en-IN" dirty="0" smtClean="0"/>
              <a:t>reasonably complete </a:t>
            </a:r>
            <a:r>
              <a:rPr lang="en-IN" dirty="0"/>
              <a:t>by specifying how the following operations can be </a:t>
            </a:r>
            <a:r>
              <a:rPr lang="en-IN" dirty="0" smtClean="0"/>
              <a:t>programmed:</a:t>
            </a:r>
          </a:p>
          <a:p>
            <a:pPr marL="571500" lvl="1" indent="-342900">
              <a:buFont typeface="+mj-lt"/>
              <a:buAutoNum type="alphaLcParenR"/>
            </a:pPr>
            <a:r>
              <a:rPr lang="en-IN" sz="2000" dirty="0" smtClean="0"/>
              <a:t>Data </a:t>
            </a:r>
            <a:r>
              <a:rPr lang="en-IN" sz="2000" dirty="0"/>
              <a:t>transfer: Location X to accumulator, accumulator to location </a:t>
            </a:r>
            <a:r>
              <a:rPr lang="en-IN" sz="2000" dirty="0" smtClean="0"/>
              <a:t>X</a:t>
            </a:r>
          </a:p>
          <a:p>
            <a:pPr marL="571500" lvl="1" indent="-342900">
              <a:buFont typeface="+mj-lt"/>
              <a:buAutoNum type="alphaLcParenR"/>
            </a:pPr>
            <a:r>
              <a:rPr lang="en-IN" sz="2000" dirty="0" smtClean="0"/>
              <a:t>Addition</a:t>
            </a:r>
            <a:r>
              <a:rPr lang="en-IN" sz="2000" dirty="0"/>
              <a:t>: Add contents of location X to </a:t>
            </a:r>
            <a:r>
              <a:rPr lang="en-IN" sz="2000" dirty="0" smtClean="0"/>
              <a:t>accumulator</a:t>
            </a:r>
          </a:p>
        </p:txBody>
      </p:sp>
    </p:spTree>
    <p:extLst>
      <p:ext uri="{BB962C8B-B14F-4D97-AF65-F5344CB8AC3E}">
        <p14:creationId xmlns:p14="http://schemas.microsoft.com/office/powerpoint/2010/main" val="31047576"/>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pPr algn="ctr"/>
            <a:r>
              <a:rPr lang="en-US" b="1" u="sng" dirty="0" smtClean="0"/>
              <a:t>Reference</a:t>
            </a:r>
            <a:endParaRPr lang="en-IN" b="1" u="sng" dirty="0"/>
          </a:p>
        </p:txBody>
      </p:sp>
      <p:sp>
        <p:nvSpPr>
          <p:cNvPr id="3" name="Content Placeholder 2"/>
          <p:cNvSpPr>
            <a:spLocks noGrp="1"/>
          </p:cNvSpPr>
          <p:nvPr>
            <p:ph idx="1"/>
          </p:nvPr>
        </p:nvSpPr>
        <p:spPr/>
        <p:txBody>
          <a:bodyPr/>
          <a:lstStyle/>
          <a:p>
            <a:r>
              <a:rPr lang="en-US" dirty="0"/>
              <a:t>Computer Organization and Architecture: Designing for Performance, William Stallings, 9</a:t>
            </a:r>
            <a:r>
              <a:rPr lang="en-US" baseline="30000" dirty="0"/>
              <a:t>th</a:t>
            </a:r>
            <a:r>
              <a:rPr lang="en-US" dirty="0"/>
              <a:t> Edition, Pearson India, 2013.</a:t>
            </a:r>
            <a:endParaRPr lang="en-IN" dirty="0"/>
          </a:p>
          <a:p>
            <a:endParaRPr lang="en-IN" dirty="0"/>
          </a:p>
        </p:txBody>
      </p:sp>
    </p:spTree>
    <p:extLst>
      <p:ext uri="{BB962C8B-B14F-4D97-AF65-F5344CB8AC3E}">
        <p14:creationId xmlns:p14="http://schemas.microsoft.com/office/powerpoint/2010/main" val="1624818556"/>
      </p:ext>
    </p:extLst>
  </p:cSld>
  <p:clrMapOvr>
    <a:masterClrMapping/>
  </p:clrMapOvr>
</p:sld>
</file>

<file path=ppt/theme/theme1.xml><?xml version="1.0" encoding="utf-8"?>
<a:theme xmlns:a="http://schemas.openxmlformats.org/drawingml/2006/main" name="Advantage">
  <a:themeElements>
    <a:clrScheme name="Advantage">
      <a:dk1>
        <a:sysClr val="windowText" lastClr="000000"/>
      </a:dk1>
      <a:lt1>
        <a:sysClr val="window" lastClr="FFFFFF"/>
      </a:lt1>
      <a:dk2>
        <a:srgbClr val="2B142D"/>
      </a:dk2>
      <a:lt2>
        <a:srgbClr val="C3AFCC"/>
      </a:lt2>
      <a:accent1>
        <a:srgbClr val="663366"/>
      </a:accent1>
      <a:accent2>
        <a:srgbClr val="330F42"/>
      </a:accent2>
      <a:accent3>
        <a:srgbClr val="666699"/>
      </a:accent3>
      <a:accent4>
        <a:srgbClr val="999966"/>
      </a:accent4>
      <a:accent5>
        <a:srgbClr val="F7901E"/>
      </a:accent5>
      <a:accent6>
        <a:srgbClr val="A3A101"/>
      </a:accent6>
      <a:hlink>
        <a:srgbClr val="BC5FBC"/>
      </a:hlink>
      <a:folHlink>
        <a:srgbClr val="9775A7"/>
      </a:folHlink>
    </a:clrScheme>
    <a:fontScheme name="Advantage">
      <a:majorFont>
        <a:latin typeface="Rockwell"/>
        <a:ea typeface=""/>
        <a:cs typeface=""/>
        <a:font script="Jpan" typeface="ＭＳ ゴシック"/>
      </a:majorFont>
      <a:minorFont>
        <a:latin typeface="Rockwell"/>
        <a:ea typeface=""/>
        <a:cs typeface=""/>
        <a:font script="Jpan" typeface="ＭＳ ゴシック"/>
      </a:minorFont>
    </a:fontScheme>
    <a:fmtScheme name="Advantage">
      <a:fillStyleLst>
        <a:solidFill>
          <a:schemeClr val="phClr"/>
        </a:solidFill>
        <a:gradFill rotWithShape="1">
          <a:gsLst>
            <a:gs pos="0">
              <a:schemeClr val="phClr">
                <a:tint val="100000"/>
                <a:shade val="40000"/>
                <a:alpha val="100000"/>
                <a:satMod val="150000"/>
                <a:lumMod val="100000"/>
              </a:schemeClr>
            </a:gs>
            <a:gs pos="100000">
              <a:schemeClr val="phClr">
                <a:tint val="70000"/>
                <a:shade val="100000"/>
                <a:alpha val="100000"/>
                <a:satMod val="200000"/>
                <a:lumMod val="100000"/>
              </a:schemeClr>
            </a:gs>
          </a:gsLst>
          <a:lin ang="6000000" scaled="1"/>
        </a:gradFill>
        <a:gradFill rotWithShape="1">
          <a:gsLst>
            <a:gs pos="0">
              <a:schemeClr val="phClr">
                <a:shade val="40000"/>
                <a:alpha val="100000"/>
                <a:satMod val="150000"/>
                <a:lumMod val="100000"/>
              </a:schemeClr>
            </a:gs>
            <a:gs pos="100000">
              <a:schemeClr val="phClr">
                <a:tint val="70000"/>
                <a:shade val="100000"/>
                <a:alpha val="100000"/>
                <a:satMod val="200000"/>
                <a:lumMod val="100000"/>
              </a:schemeClr>
            </a:gs>
          </a:gsLst>
          <a:lin ang="5400000" scaled="1"/>
        </a:gradFill>
      </a:fillStyleLst>
      <a:lnStyleLst>
        <a:ln w="12700"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innerShdw blurRad="50800" dist="25400" dir="13500000">
              <a:srgbClr val="FFFFFF">
                <a:alpha val="75000"/>
              </a:srgbClr>
            </a:innerShdw>
            <a:outerShdw blurRad="63500" dist="25400" dir="5400000" rotWithShape="0">
              <a:srgbClr val="808080">
                <a:alpha val="75000"/>
              </a:srgbClr>
            </a:outerShdw>
          </a:effectLst>
        </a:effectStyle>
        <a:effectStyle>
          <a:effectLst/>
          <a:scene3d>
            <a:camera prst="orthographicFront">
              <a:rot lat="0" lon="0" rev="0"/>
            </a:camera>
            <a:lightRig rig="twoPt" dir="tl">
              <a:rot lat="0" lon="0" rev="4500000"/>
            </a:lightRig>
          </a:scene3d>
          <a:sp3d>
            <a:bevelT w="63500" h="50800"/>
          </a:sp3d>
        </a:effectStyle>
      </a:effectStyleLst>
      <a:bgFillStyleLst>
        <a:solidFill>
          <a:schemeClr val="phClr"/>
        </a:solidFill>
        <a:gradFill rotWithShape="1">
          <a:gsLst>
            <a:gs pos="0">
              <a:schemeClr val="phClr">
                <a:tint val="40000"/>
                <a:satMod val="1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rtlCol="0" anchor="ctr"/>
      <a:lstStyle>
        <a:defPPr algn="ctr">
          <a:defRPr/>
        </a:defP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3.xml><?xml version="1.0" encoding="utf-8"?>
<a:theme xmlns:a="http://schemas.openxmlformats.org/drawingml/2006/main" name="Office Theme">
  <a:themeElements>
    <a:clrScheme name="">
      <a:dk1>
        <a:srgbClr val="000000"/>
      </a:dk1>
      <a:lt1>
        <a:srgbClr val="FFFFFF"/>
      </a:lt1>
      <a:dk2>
        <a:srgbClr val="000000"/>
      </a:dk2>
      <a:lt2>
        <a:srgbClr val="808080"/>
      </a:lt2>
      <a:accent1>
        <a:srgbClr val="00CC99"/>
      </a:accent1>
      <a:accent2>
        <a:srgbClr val="3333CC"/>
      </a:accent2>
      <a:accent3>
        <a:srgbClr val="FFFFFF"/>
      </a:accent3>
      <a:accent4>
        <a:srgbClr val="000000"/>
      </a:accent4>
      <a:accent5>
        <a:srgbClr val="AAE2CA"/>
      </a:accent5>
      <a:accent6>
        <a:srgbClr val="2D2DB9"/>
      </a:accent6>
      <a:hlink>
        <a:srgbClr val="CCCCFF"/>
      </a:hlink>
      <a:folHlink>
        <a:srgbClr val="B2B2B2"/>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emplate>Advantage.thmx</Template>
  <TotalTime>5047</TotalTime>
  <Words>2440</Words>
  <Application>Microsoft Office PowerPoint</Application>
  <PresentationFormat>On-screen Show (4:3)</PresentationFormat>
  <Paragraphs>165</Paragraphs>
  <Slides>20</Slides>
  <Notes>8</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20</vt:i4>
      </vt:variant>
    </vt:vector>
  </HeadingPairs>
  <TitlesOfParts>
    <vt:vector size="26" baseType="lpstr">
      <vt:lpstr>ＭＳ Ｐゴシック</vt:lpstr>
      <vt:lpstr>Arial</vt:lpstr>
      <vt:lpstr>Rockwell</vt:lpstr>
      <vt:lpstr>Times New Roman</vt:lpstr>
      <vt:lpstr>Wingdings</vt:lpstr>
      <vt:lpstr>Advantage</vt:lpstr>
      <vt:lpstr>PowerPoint Presentation</vt:lpstr>
      <vt:lpstr>Machine Instruction Characteristics</vt:lpstr>
      <vt:lpstr>Elements of Machine Instruction </vt:lpstr>
      <vt:lpstr>Instruction Representation</vt:lpstr>
      <vt:lpstr>PowerPoint Presentation</vt:lpstr>
      <vt:lpstr>Number of Addresses</vt:lpstr>
      <vt:lpstr>PowerPoint Presentation</vt:lpstr>
      <vt:lpstr>Instruction Types</vt:lpstr>
      <vt:lpstr>Types of Operands</vt:lpstr>
      <vt:lpstr>Types of Operations</vt:lpstr>
      <vt:lpstr>Transfer of Control</vt:lpstr>
      <vt:lpstr>Branch Instructions</vt:lpstr>
      <vt:lpstr>Skip Instructions </vt:lpstr>
      <vt:lpstr>Procedure Call Instructions</vt:lpstr>
      <vt:lpstr>Nested  Procedures</vt:lpstr>
      <vt:lpstr>PowerPoint Presentation</vt:lpstr>
      <vt:lpstr>Top of Stack: Saving the return address for re-entrant procedures</vt:lpstr>
      <vt:lpstr>Instruction Set Design</vt:lpstr>
      <vt:lpstr>PowerPoint Presentation</vt:lpstr>
      <vt:lpstr>Reference</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10 Instruction Sets</dc:title>
  <dc:creator>Adrian J Pullin</dc:creator>
  <cp:lastModifiedBy>Divya Lohani</cp:lastModifiedBy>
  <cp:revision>131</cp:revision>
  <dcterms:created xsi:type="dcterms:W3CDTF">2012-07-20T05:25:30Z</dcterms:created>
  <dcterms:modified xsi:type="dcterms:W3CDTF">2018-09-04T06:52:59Z</dcterms:modified>
</cp:coreProperties>
</file>