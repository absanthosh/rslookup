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</p:sldMasterIdLst>
  <p:notesMasterIdLst>
    <p:notesMasterId r:id="rId18"/>
  </p:notesMasterIdLst>
  <p:handoutMasterIdLst>
    <p:handoutMasterId r:id="rId19"/>
  </p:handoutMasterIdLst>
  <p:sldIdLst>
    <p:sldId id="527" r:id="rId2"/>
    <p:sldId id="528" r:id="rId3"/>
    <p:sldId id="529" r:id="rId4"/>
    <p:sldId id="530" r:id="rId5"/>
    <p:sldId id="518" r:id="rId6"/>
    <p:sldId id="458" r:id="rId7"/>
    <p:sldId id="461" r:id="rId8"/>
    <p:sldId id="463" r:id="rId9"/>
    <p:sldId id="533" r:id="rId10"/>
    <p:sldId id="526" r:id="rId11"/>
    <p:sldId id="474" r:id="rId12"/>
    <p:sldId id="479" r:id="rId13"/>
    <p:sldId id="489" r:id="rId14"/>
    <p:sldId id="483" r:id="rId15"/>
    <p:sldId id="493" r:id="rId16"/>
    <p:sldId id="531" r:id="rId17"/>
  </p:sldIdLst>
  <p:sldSz cx="9144000" cy="6858000" type="screen4x3"/>
  <p:notesSz cx="6858000" cy="9144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-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12" autoAdjust="0"/>
    <p:restoredTop sz="90987" autoAdjust="0"/>
  </p:normalViewPr>
  <p:slideViewPr>
    <p:cSldViewPr>
      <p:cViewPr varScale="1">
        <p:scale>
          <a:sx n="100" d="100"/>
          <a:sy n="100" d="100"/>
        </p:scale>
        <p:origin x="159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171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4.xml"/><Relationship Id="rId7" Type="http://schemas.openxmlformats.org/officeDocument/2006/relationships/slide" Target="slides/slide14.xml"/><Relationship Id="rId2" Type="http://schemas.openxmlformats.org/officeDocument/2006/relationships/slide" Target="slides/slide3.xml"/><Relationship Id="rId1" Type="http://schemas.openxmlformats.org/officeDocument/2006/relationships/slide" Target="slides/slide1.xml"/><Relationship Id="rId6" Type="http://schemas.openxmlformats.org/officeDocument/2006/relationships/slide" Target="slides/slide12.xml"/><Relationship Id="rId5" Type="http://schemas.openxmlformats.org/officeDocument/2006/relationships/slide" Target="slides/slide7.xml"/><Relationship Id="rId4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40607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07741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783316A-F174-4332-8DED-944E6AD6A208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3102317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6119B57-D1B3-4D07-B7DD-4C31244D36CF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2758826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AC9E61F-D568-4A08-BAA3-281BA6594108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121411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B2B417D-19B9-47C8-8EBB-47B379725356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4192620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D374777-A29B-43B4-984A-2F05CDA1451B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2468130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243C744-1D3A-40FC-8A8B-E08D79E70D27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1347875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81E8A7A-6825-441E-898C-D841BE24E5CB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1405074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2B6DC97-B1D9-495D-AF06-A8E2A721E9B4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283229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39F29AE-0AA4-4A46-8337-B2F5CA788D49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2949503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0405288-2F60-40DA-B076-9E0D28643A6E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30839629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084E55A-9629-44F2-85C2-8C173283837F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525406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870FB-149D-4255-9221-CF258F891615}" type="datetime1">
              <a:rPr lang="en-US"/>
              <a:pPr/>
              <a:t>10/9/2018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D331-B61B-42C1-B285-1046175C3B63}" type="datetime1">
              <a:rPr lang="en-US"/>
              <a:pPr/>
              <a:t>10/9/2018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642DA821-B647-4F8C-84A0-7D19D85CB385}" type="datetime1">
              <a:rPr lang="en-US"/>
              <a:pPr/>
              <a:t>10/9/2018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B77F108C-2518-4D60-9FAF-6346FD9D7826}" type="datetime1">
              <a:rPr lang="en-US"/>
              <a:pPr/>
              <a:t>10/9/2018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2B54-BC1D-466E-98B4-B0082340936C}" type="datetime1">
              <a:rPr lang="en-US"/>
              <a:pPr/>
              <a:t>10/9/2018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08C9F-E380-43A3-ADC1-0217F1EB7573}" type="datetime1">
              <a:rPr lang="en-US"/>
              <a:pPr/>
              <a:t>10/9/2018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868E7-101B-4C6B-9C4C-A85A7CD6FD99}" type="datetime1">
              <a:rPr lang="en-US"/>
              <a:pPr/>
              <a:t>10/9/2018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3FD2-B255-4F2A-ACF3-B969FC717B42}" type="datetime1">
              <a:rPr lang="en-US"/>
              <a:pPr/>
              <a:t>10/9/2018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4D9-B721-416B-8577-D7DEE36F49A6}" type="datetime1">
              <a:rPr lang="en-US"/>
              <a:pPr/>
              <a:t>10/9/2018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C791-6992-4CCF-A244-B250C8BB22F1}" type="datetime1">
              <a:rPr lang="en-US"/>
              <a:pPr/>
              <a:t>10/9/2018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0578-B892-4967-98F8-D0B4A045ADFD}" type="datetime1">
              <a:rPr lang="en-US"/>
              <a:pPr/>
              <a:t>10/9/2018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CBDCDF1B-54EC-4432-8649-0FE40DD46F86}" type="datetime1">
              <a:rPr lang="en-US"/>
              <a:pPr/>
              <a:t>10/9/2018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4CDA6A0B-D499-425D-9760-7E378B1D24E7}" type="datetime1">
              <a:rPr lang="en-US"/>
              <a:pPr/>
              <a:t>10/9/2018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B2FE-6867-4DAE-B4E4-C2A1A38F9C0D}" type="datetime1">
              <a:rPr lang="en-US"/>
              <a:pPr/>
              <a:t>10/9/2018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BBBDE9-5D16-425E-B13A-2B2E02B8AFC8}" type="datetime1">
              <a:rPr lang="en-US"/>
              <a:pPr/>
              <a:t>10/9/2018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2344D9-246E-4D78-97F7-CDDE15C7C47A}" type="datetime1">
              <a:rPr lang="en-US"/>
              <a:pPr/>
              <a:t>10/9/2018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546CB8D4-A311-4DB1-9E65-F6E7BA49F613}" type="datetime1">
              <a:rPr lang="en-US"/>
              <a:pPr/>
              <a:t>10/9/2018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B973-48D0-47D2-BD1A-81DAC74A0928}" type="datetime1">
              <a:rPr lang="en-US"/>
              <a:pPr/>
              <a:t>10/9/2018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4E26-7EC0-4FCC-8AD8-71E9EC27DEDB}" type="datetime1">
              <a:rPr lang="en-US"/>
              <a:pPr/>
              <a:t>10/9/2018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E6C1EDB-CE87-4BA6-95D9-AD3AE9C734F7}" type="datetime1">
              <a:rPr lang="en-US"/>
              <a:pPr/>
              <a:t>10/9/2018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55576" y="4581128"/>
            <a:ext cx="6408712" cy="1656184"/>
          </a:xfrm>
        </p:spPr>
        <p:txBody>
          <a:bodyPr>
            <a:normAutofit/>
          </a:bodyPr>
          <a:lstStyle/>
          <a:p>
            <a:pPr algn="ctr"/>
            <a:r>
              <a:rPr lang="en-GB" altLang="en-US" sz="54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Unit</a:t>
            </a:r>
          </a:p>
        </p:txBody>
      </p:sp>
    </p:spTree>
    <p:extLst>
      <p:ext uri="{BB962C8B-B14F-4D97-AF65-F5344CB8AC3E}">
        <p14:creationId xmlns:p14="http://schemas.microsoft.com/office/powerpoint/2010/main" val="2779865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88640"/>
            <a:ext cx="7848872" cy="4144963"/>
          </a:xfrm>
        </p:spPr>
        <p:txBody>
          <a:bodyPr>
            <a:normAutofit/>
          </a:bodyPr>
          <a:lstStyle/>
          <a:p>
            <a:r>
              <a:rPr lang="en-IN" b="1" dirty="0" smtClean="0">
                <a:solidFill>
                  <a:schemeClr val="tx1"/>
                </a:solidFill>
              </a:rPr>
              <a:t>Micro-operations</a:t>
            </a:r>
            <a:r>
              <a:rPr lang="en-IN" dirty="0" smtClean="0">
                <a:solidFill>
                  <a:schemeClr val="tx1"/>
                </a:solidFill>
              </a:rPr>
              <a:t>: atomic operations of a processor.</a:t>
            </a:r>
          </a:p>
          <a:p>
            <a:r>
              <a:rPr lang="en-GB" altLang="en-US" dirty="0" smtClean="0">
                <a:solidFill>
                  <a:schemeClr val="tx1"/>
                </a:solidFill>
              </a:rPr>
              <a:t>Need </a:t>
            </a:r>
            <a:r>
              <a:rPr lang="en-GB" altLang="en-US" dirty="0">
                <a:solidFill>
                  <a:schemeClr val="tx1"/>
                </a:solidFill>
              </a:rPr>
              <a:t>to tie sequences </a:t>
            </a:r>
            <a:r>
              <a:rPr lang="en-GB" altLang="en-US" dirty="0" smtClean="0">
                <a:solidFill>
                  <a:schemeClr val="tx1"/>
                </a:solidFill>
              </a:rPr>
              <a:t>together.</a:t>
            </a:r>
            <a:endParaRPr lang="en-GB" altLang="en-US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GB" altLang="en-US" dirty="0" smtClean="0">
                <a:solidFill>
                  <a:schemeClr val="tx1"/>
                </a:solidFill>
              </a:rPr>
              <a:t>Instruction </a:t>
            </a:r>
            <a:r>
              <a:rPr lang="en-GB" altLang="en-US" dirty="0">
                <a:solidFill>
                  <a:schemeClr val="tx1"/>
                </a:solidFill>
              </a:rPr>
              <a:t>cycle code (ICC) designates which part of cycle processor is </a:t>
            </a:r>
            <a:r>
              <a:rPr lang="en-GB" altLang="en-US" dirty="0" smtClean="0">
                <a:solidFill>
                  <a:schemeClr val="tx1"/>
                </a:solidFill>
              </a:rPr>
              <a:t>in.</a:t>
            </a:r>
            <a:endParaRPr lang="en-GB" altLang="en-US" dirty="0">
              <a:solidFill>
                <a:schemeClr val="tx1"/>
              </a:solidFill>
            </a:endParaRPr>
          </a:p>
          <a:p>
            <a:endParaRPr lang="en-IN" dirty="0" smtClean="0">
              <a:solidFill>
                <a:schemeClr val="tx1"/>
              </a:solidFill>
            </a:endParaRPr>
          </a:p>
          <a:p>
            <a:endParaRPr lang="en-IN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791"/>
          <a:stretch>
            <a:fillRect/>
          </a:stretch>
        </p:blipFill>
        <p:spPr bwMode="auto">
          <a:xfrm>
            <a:off x="171423" y="1844824"/>
            <a:ext cx="8819091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25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 smtClean="0"/>
              <a:t>Fetch Sequence</a:t>
            </a:r>
          </a:p>
        </p:txBody>
      </p:sp>
      <p:sp>
        <p:nvSpPr>
          <p:cNvPr id="1536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98474" y="1412776"/>
            <a:ext cx="8105974" cy="56679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altLang="en-US" sz="2800" dirty="0" smtClean="0">
                <a:solidFill>
                  <a:schemeClr val="tx1"/>
                </a:solidFill>
              </a:rPr>
              <a:t>t1:	MAR &lt;- (PC)</a:t>
            </a:r>
          </a:p>
          <a:p>
            <a:pPr marL="0" indent="0">
              <a:buNone/>
            </a:pPr>
            <a:r>
              <a:rPr lang="en-GB" altLang="en-US" sz="2800" dirty="0" smtClean="0">
                <a:solidFill>
                  <a:schemeClr val="tx1"/>
                </a:solidFill>
              </a:rPr>
              <a:t>t2:	MBR &lt;- M(MAR)</a:t>
            </a:r>
          </a:p>
          <a:p>
            <a:pPr marL="0" indent="0">
              <a:buNone/>
            </a:pPr>
            <a:r>
              <a:rPr lang="en-GB" altLang="en-US" sz="2800" dirty="0" smtClean="0">
                <a:solidFill>
                  <a:schemeClr val="tx1"/>
                </a:solidFill>
              </a:rPr>
              <a:t> 	PC &lt;- (PC) + ∆ </a:t>
            </a:r>
          </a:p>
          <a:p>
            <a:pPr marL="0" indent="0">
              <a:buNone/>
            </a:pPr>
            <a:r>
              <a:rPr lang="en-GB" altLang="en-US" sz="2800" dirty="0" smtClean="0">
                <a:solidFill>
                  <a:schemeClr val="tx1"/>
                </a:solidFill>
              </a:rPr>
              <a:t>t3:	IR &lt;- (MBR)</a:t>
            </a:r>
          </a:p>
          <a:p>
            <a:pPr marL="0" indent="0">
              <a:buNone/>
            </a:pPr>
            <a:r>
              <a:rPr lang="en-GB" altLang="en-US" sz="2800" dirty="0" smtClean="0">
                <a:solidFill>
                  <a:schemeClr val="tx1"/>
                </a:solidFill>
              </a:rPr>
              <a:t>(</a:t>
            </a:r>
            <a:r>
              <a:rPr lang="en-GB" altLang="en-US" sz="2800" dirty="0" err="1" smtClean="0">
                <a:solidFill>
                  <a:schemeClr val="tx1"/>
                </a:solidFill>
              </a:rPr>
              <a:t>tx</a:t>
            </a:r>
            <a:r>
              <a:rPr lang="en-GB" altLang="en-US" sz="2800" dirty="0" smtClean="0">
                <a:solidFill>
                  <a:schemeClr val="tx1"/>
                </a:solidFill>
              </a:rPr>
              <a:t> = time unit/clock cycle)</a:t>
            </a:r>
          </a:p>
          <a:p>
            <a:pPr marL="0" indent="0">
              <a:buNone/>
            </a:pPr>
            <a:endParaRPr lang="en-GB" altLang="en-US" sz="2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935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dirty="0" smtClean="0"/>
              <a:t>Rules for Grouping</a:t>
            </a:r>
          </a:p>
        </p:txBody>
      </p:sp>
      <p:sp>
        <p:nvSpPr>
          <p:cNvPr id="1741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19664" y="1340768"/>
            <a:ext cx="7556313" cy="4144963"/>
          </a:xfrm>
        </p:spPr>
        <p:txBody>
          <a:bodyPr>
            <a:normAutofit/>
          </a:bodyPr>
          <a:lstStyle/>
          <a:p>
            <a:r>
              <a:rPr lang="en-GB" altLang="en-US" sz="2400" dirty="0" smtClean="0">
                <a:solidFill>
                  <a:schemeClr val="tx1"/>
                </a:solidFill>
              </a:rPr>
              <a:t>Proper sequence must be followed</a:t>
            </a:r>
          </a:p>
          <a:p>
            <a:pPr lvl="1"/>
            <a:r>
              <a:rPr lang="en-GB" altLang="en-US" sz="2000" dirty="0" smtClean="0">
                <a:solidFill>
                  <a:schemeClr val="tx1"/>
                </a:solidFill>
              </a:rPr>
              <a:t>MAR &lt;- (PC) must precede MBR &lt;- M(MAR)</a:t>
            </a:r>
          </a:p>
          <a:p>
            <a:r>
              <a:rPr lang="en-GB" altLang="en-US" sz="2400" dirty="0" smtClean="0">
                <a:solidFill>
                  <a:schemeClr val="tx1"/>
                </a:solidFill>
              </a:rPr>
              <a:t>Conflicts must be avoided</a:t>
            </a:r>
          </a:p>
          <a:p>
            <a:pPr lvl="1"/>
            <a:r>
              <a:rPr lang="en-GB" altLang="en-US" sz="2000" dirty="0" smtClean="0">
                <a:solidFill>
                  <a:schemeClr val="tx1"/>
                </a:solidFill>
              </a:rPr>
              <a:t>Must not read &amp; write same register at same time</a:t>
            </a:r>
          </a:p>
          <a:p>
            <a:pPr lvl="1"/>
            <a:r>
              <a:rPr lang="en-GB" altLang="en-US" sz="2000" dirty="0" smtClean="0">
                <a:solidFill>
                  <a:schemeClr val="tx1"/>
                </a:solidFill>
              </a:rPr>
              <a:t>MBR &lt;- M(MAR) &amp; IR &lt;- (MBR) must not be in same cycle</a:t>
            </a:r>
          </a:p>
        </p:txBody>
      </p:sp>
    </p:spTree>
    <p:extLst>
      <p:ext uri="{BB962C8B-B14F-4D97-AF65-F5344CB8AC3E}">
        <p14:creationId xmlns:p14="http://schemas.microsoft.com/office/powerpoint/2010/main" val="3844411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38" y="188640"/>
            <a:ext cx="7556313" cy="1116106"/>
          </a:xfrm>
        </p:spPr>
        <p:txBody>
          <a:bodyPr/>
          <a:lstStyle/>
          <a:p>
            <a:pPr algn="ctr"/>
            <a:r>
              <a:rPr lang="en-IN" dirty="0" smtClean="0"/>
              <a:t>Control Unit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838" y="1124744"/>
            <a:ext cx="7556313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>
                <a:solidFill>
                  <a:schemeClr val="tx1"/>
                </a:solidFill>
              </a:rPr>
              <a:t>The </a:t>
            </a:r>
            <a:r>
              <a:rPr lang="en-IN" dirty="0">
                <a:solidFill>
                  <a:schemeClr val="tx1"/>
                </a:solidFill>
              </a:rPr>
              <a:t>control unit is </a:t>
            </a:r>
            <a:r>
              <a:rPr lang="en-IN" dirty="0" smtClean="0">
                <a:solidFill>
                  <a:schemeClr val="tx1"/>
                </a:solidFill>
              </a:rPr>
              <a:t>the </a:t>
            </a:r>
            <a:r>
              <a:rPr lang="en-IN" dirty="0">
                <a:solidFill>
                  <a:schemeClr val="tx1"/>
                </a:solidFill>
              </a:rPr>
              <a:t>portion of the processor </a:t>
            </a:r>
            <a:r>
              <a:rPr lang="en-IN" dirty="0" smtClean="0">
                <a:solidFill>
                  <a:schemeClr val="tx1"/>
                </a:solidFill>
              </a:rPr>
              <a:t>that: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issues control signals </a:t>
            </a:r>
            <a:r>
              <a:rPr lang="en-IN" dirty="0">
                <a:solidFill>
                  <a:schemeClr val="tx1"/>
                </a:solidFill>
              </a:rPr>
              <a:t>internal to the processor to move data between registers, to cause the </a:t>
            </a:r>
            <a:r>
              <a:rPr lang="en-IN" dirty="0" smtClean="0">
                <a:solidFill>
                  <a:schemeClr val="tx1"/>
                </a:solidFill>
              </a:rPr>
              <a:t>ALU to </a:t>
            </a:r>
            <a:r>
              <a:rPr lang="en-IN" dirty="0">
                <a:solidFill>
                  <a:schemeClr val="tx1"/>
                </a:solidFill>
              </a:rPr>
              <a:t>perform a specified function, and to regulate other internal operations. </a:t>
            </a:r>
            <a:endParaRPr lang="en-IN" dirty="0" smtClean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issues control signals external to the processor to cause data exchange with memory and I/O modules.</a:t>
            </a:r>
          </a:p>
          <a:p>
            <a:endParaRPr lang="en-IN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970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0"/>
            <a:ext cx="7556313" cy="1339552"/>
          </a:xfrm>
        </p:spPr>
        <p:txBody>
          <a:bodyPr/>
          <a:lstStyle/>
          <a:p>
            <a:r>
              <a:rPr lang="en-GB" altLang="en-US" dirty="0" smtClean="0"/>
              <a:t>Functional Requirements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669776"/>
            <a:ext cx="7889950" cy="6188224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tx1"/>
                </a:solidFill>
              </a:rPr>
              <a:t>Basis </a:t>
            </a:r>
            <a:r>
              <a:rPr lang="en-IN" dirty="0">
                <a:solidFill>
                  <a:schemeClr val="tx1"/>
                </a:solidFill>
              </a:rPr>
              <a:t>for </a:t>
            </a:r>
            <a:r>
              <a:rPr lang="en-IN" b="1" dirty="0" smtClean="0">
                <a:solidFill>
                  <a:schemeClr val="tx1"/>
                </a:solidFill>
              </a:rPr>
              <a:t>design </a:t>
            </a:r>
            <a:r>
              <a:rPr lang="en-IN" b="1" dirty="0">
                <a:solidFill>
                  <a:schemeClr val="tx1"/>
                </a:solidFill>
              </a:rPr>
              <a:t>and implementation of the control unit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  <a:p>
            <a:r>
              <a:rPr lang="en-IN" b="1" dirty="0" smtClean="0">
                <a:solidFill>
                  <a:schemeClr val="tx1"/>
                </a:solidFill>
              </a:rPr>
              <a:t>Characterization</a:t>
            </a:r>
            <a:r>
              <a:rPr lang="en-IN" b="1" dirty="0">
                <a:solidFill>
                  <a:schemeClr val="tx1"/>
                </a:solidFill>
              </a:rPr>
              <a:t> </a:t>
            </a:r>
            <a:r>
              <a:rPr lang="en-IN" b="1" dirty="0" smtClean="0">
                <a:solidFill>
                  <a:schemeClr val="tx1"/>
                </a:solidFill>
              </a:rPr>
              <a:t>of </a:t>
            </a:r>
            <a:r>
              <a:rPr lang="en-IN" b="1" dirty="0">
                <a:solidFill>
                  <a:schemeClr val="tx1"/>
                </a:solidFill>
              </a:rPr>
              <a:t>the control unit</a:t>
            </a:r>
            <a:r>
              <a:rPr lang="en-IN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IN" b="1" dirty="0" smtClean="0">
                <a:solidFill>
                  <a:schemeClr val="tx1"/>
                </a:solidFill>
              </a:rPr>
              <a:t>Define </a:t>
            </a:r>
            <a:r>
              <a:rPr lang="en-IN" b="1" dirty="0">
                <a:solidFill>
                  <a:schemeClr val="tx1"/>
                </a:solidFill>
              </a:rPr>
              <a:t>the basic elements of the processor</a:t>
            </a:r>
            <a:r>
              <a:rPr lang="en-IN" b="1" dirty="0" smtClean="0">
                <a:solidFill>
                  <a:schemeClr val="tx1"/>
                </a:solidFill>
              </a:rPr>
              <a:t>.</a:t>
            </a:r>
          </a:p>
          <a:p>
            <a:pPr lvl="2"/>
            <a:r>
              <a:rPr lang="en-GB" altLang="en-US" dirty="0">
                <a:solidFill>
                  <a:schemeClr val="tx1"/>
                </a:solidFill>
              </a:rPr>
              <a:t>ALU</a:t>
            </a:r>
          </a:p>
          <a:p>
            <a:pPr lvl="2"/>
            <a:r>
              <a:rPr lang="en-GB" altLang="en-US" dirty="0">
                <a:solidFill>
                  <a:schemeClr val="tx1"/>
                </a:solidFill>
              </a:rPr>
              <a:t>Registers</a:t>
            </a:r>
          </a:p>
          <a:p>
            <a:pPr lvl="2"/>
            <a:r>
              <a:rPr lang="en-GB" altLang="en-US" dirty="0">
                <a:solidFill>
                  <a:schemeClr val="tx1"/>
                </a:solidFill>
              </a:rPr>
              <a:t>Internal data </a:t>
            </a:r>
            <a:r>
              <a:rPr lang="en-GB" altLang="en-US" dirty="0" smtClean="0">
                <a:solidFill>
                  <a:schemeClr val="tx1"/>
                </a:solidFill>
              </a:rPr>
              <a:t>paths</a:t>
            </a:r>
            <a:endParaRPr lang="en-GB" altLang="en-US" dirty="0">
              <a:solidFill>
                <a:schemeClr val="tx1"/>
              </a:solidFill>
            </a:endParaRPr>
          </a:p>
          <a:p>
            <a:pPr lvl="2"/>
            <a:r>
              <a:rPr lang="en-GB" altLang="en-US" dirty="0">
                <a:solidFill>
                  <a:schemeClr val="tx1"/>
                </a:solidFill>
              </a:rPr>
              <a:t>External data paths</a:t>
            </a:r>
          </a:p>
          <a:p>
            <a:pPr lvl="2"/>
            <a:r>
              <a:rPr lang="en-GB" altLang="en-US" dirty="0">
                <a:solidFill>
                  <a:schemeClr val="tx1"/>
                </a:solidFill>
              </a:rPr>
              <a:t>Control </a:t>
            </a:r>
            <a:r>
              <a:rPr lang="en-GB" altLang="en-US" dirty="0" smtClean="0">
                <a:solidFill>
                  <a:schemeClr val="tx1"/>
                </a:solidFill>
              </a:rPr>
              <a:t>Unit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b="1" dirty="0" smtClean="0">
                <a:solidFill>
                  <a:schemeClr val="tx1"/>
                </a:solidFill>
              </a:rPr>
              <a:t>Describe </a:t>
            </a:r>
            <a:r>
              <a:rPr lang="en-IN" b="1" dirty="0">
                <a:solidFill>
                  <a:schemeClr val="tx1"/>
                </a:solidFill>
              </a:rPr>
              <a:t>the micro-operations that the processor performs</a:t>
            </a:r>
            <a:r>
              <a:rPr lang="en-IN" b="1" dirty="0" smtClean="0">
                <a:solidFill>
                  <a:schemeClr val="tx1"/>
                </a:solidFill>
              </a:rPr>
              <a:t>.</a:t>
            </a:r>
          </a:p>
          <a:p>
            <a:pPr lvl="2"/>
            <a:r>
              <a:rPr lang="en-GB" altLang="en-US" dirty="0">
                <a:solidFill>
                  <a:schemeClr val="tx1"/>
                </a:solidFill>
              </a:rPr>
              <a:t>Transfer data between registers</a:t>
            </a:r>
          </a:p>
          <a:p>
            <a:pPr lvl="2"/>
            <a:r>
              <a:rPr lang="en-GB" altLang="en-US" dirty="0">
                <a:solidFill>
                  <a:schemeClr val="tx1"/>
                </a:solidFill>
              </a:rPr>
              <a:t>Transfer data from register to external</a:t>
            </a:r>
          </a:p>
          <a:p>
            <a:pPr lvl="2"/>
            <a:r>
              <a:rPr lang="en-GB" altLang="en-US" dirty="0">
                <a:solidFill>
                  <a:schemeClr val="tx1"/>
                </a:solidFill>
              </a:rPr>
              <a:t>Transfer data from external to register</a:t>
            </a:r>
          </a:p>
          <a:p>
            <a:pPr lvl="2"/>
            <a:r>
              <a:rPr lang="en-GB" altLang="en-US" dirty="0">
                <a:solidFill>
                  <a:schemeClr val="tx1"/>
                </a:solidFill>
              </a:rPr>
              <a:t>Perform arithmetic or logical </a:t>
            </a:r>
            <a:r>
              <a:rPr lang="en-GB" altLang="en-US" dirty="0" smtClean="0">
                <a:solidFill>
                  <a:schemeClr val="tx1"/>
                </a:solidFill>
              </a:rPr>
              <a:t>ops</a:t>
            </a:r>
            <a:endParaRPr lang="en-IN" dirty="0">
              <a:solidFill>
                <a:schemeClr val="tx1"/>
              </a:solidFill>
            </a:endParaRPr>
          </a:p>
          <a:p>
            <a:pPr lvl="1"/>
            <a:r>
              <a:rPr lang="en-IN" b="1" dirty="0" smtClean="0">
                <a:solidFill>
                  <a:schemeClr val="tx1"/>
                </a:solidFill>
              </a:rPr>
              <a:t>Determine </a:t>
            </a:r>
            <a:r>
              <a:rPr lang="en-IN" b="1" dirty="0">
                <a:solidFill>
                  <a:schemeClr val="tx1"/>
                </a:solidFill>
              </a:rPr>
              <a:t>the functions that the control unit must perform to cause </a:t>
            </a:r>
            <a:r>
              <a:rPr lang="en-IN" b="1" dirty="0" smtClean="0">
                <a:solidFill>
                  <a:schemeClr val="tx1"/>
                </a:solidFill>
              </a:rPr>
              <a:t>the micro-operations </a:t>
            </a:r>
            <a:r>
              <a:rPr lang="en-IN" b="1" dirty="0">
                <a:solidFill>
                  <a:schemeClr val="tx1"/>
                </a:solidFill>
              </a:rPr>
              <a:t>to be performed</a:t>
            </a:r>
            <a:r>
              <a:rPr lang="en-IN" b="1" dirty="0" smtClean="0">
                <a:solidFill>
                  <a:schemeClr val="tx1"/>
                </a:solidFill>
              </a:rPr>
              <a:t>.</a:t>
            </a:r>
            <a:endParaRPr lang="en-GB" altLang="en-US" b="1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560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mtClean="0"/>
              <a:t>Functions of Control Unit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8474" y="1340768"/>
            <a:ext cx="7556313" cy="4144963"/>
          </a:xfrm>
        </p:spPr>
        <p:txBody>
          <a:bodyPr/>
          <a:lstStyle/>
          <a:p>
            <a:r>
              <a:rPr lang="en-GB" altLang="en-US" sz="2400" dirty="0" smtClean="0">
                <a:solidFill>
                  <a:schemeClr val="tx1"/>
                </a:solidFill>
              </a:rPr>
              <a:t>Sequencing</a:t>
            </a:r>
          </a:p>
          <a:p>
            <a:pPr lvl="1"/>
            <a:r>
              <a:rPr lang="en-GB" altLang="en-US" sz="2000" dirty="0" smtClean="0">
                <a:solidFill>
                  <a:schemeClr val="tx1"/>
                </a:solidFill>
              </a:rPr>
              <a:t>Causing the CPU to step through a series of micro-operations</a:t>
            </a:r>
          </a:p>
          <a:p>
            <a:r>
              <a:rPr lang="en-GB" altLang="en-US" sz="2400" dirty="0" smtClean="0">
                <a:solidFill>
                  <a:schemeClr val="tx1"/>
                </a:solidFill>
              </a:rPr>
              <a:t>Execution</a:t>
            </a:r>
          </a:p>
          <a:p>
            <a:pPr lvl="1"/>
            <a:r>
              <a:rPr lang="en-GB" altLang="en-US" sz="2000" dirty="0" smtClean="0">
                <a:solidFill>
                  <a:schemeClr val="tx1"/>
                </a:solidFill>
              </a:rPr>
              <a:t>Causing the performance of each micro-op</a:t>
            </a:r>
          </a:p>
          <a:p>
            <a:r>
              <a:rPr lang="en-GB" altLang="en-US" dirty="0" smtClean="0">
                <a:solidFill>
                  <a:schemeClr val="tx1"/>
                </a:solidFill>
              </a:rPr>
              <a:t>This is done using Control Signals</a:t>
            </a:r>
          </a:p>
        </p:txBody>
      </p:sp>
    </p:spTree>
    <p:extLst>
      <p:ext uri="{BB962C8B-B14F-4D97-AF65-F5344CB8AC3E}">
        <p14:creationId xmlns:p14="http://schemas.microsoft.com/office/powerpoint/2010/main" val="263738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37635"/>
            <a:ext cx="7556313" cy="1116106"/>
          </a:xfrm>
        </p:spPr>
        <p:txBody>
          <a:bodyPr/>
          <a:lstStyle/>
          <a:p>
            <a:pPr algn="ctr"/>
            <a:r>
              <a:rPr lang="en-GB" altLang="en-US" dirty="0" smtClean="0"/>
              <a:t>Control Unit</a:t>
            </a:r>
          </a:p>
        </p:txBody>
      </p:sp>
      <p:pic>
        <p:nvPicPr>
          <p:cNvPr id="4403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16"/>
          <a:stretch>
            <a:fillRect/>
          </a:stretch>
        </p:blipFill>
        <p:spPr bwMode="auto">
          <a:xfrm>
            <a:off x="0" y="1132781"/>
            <a:ext cx="9015413" cy="4649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9408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altLang="en-US" dirty="0" smtClean="0"/>
              <a:t>Data Paths and Control Signals</a:t>
            </a:r>
          </a:p>
        </p:txBody>
      </p:sp>
      <p:pic>
        <p:nvPicPr>
          <p:cNvPr id="5017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73150"/>
            <a:ext cx="8534400" cy="578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4354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332656"/>
            <a:ext cx="7556313" cy="1116106"/>
          </a:xfrm>
        </p:spPr>
        <p:txBody>
          <a:bodyPr/>
          <a:lstStyle/>
          <a:p>
            <a:pPr algn="ctr"/>
            <a:r>
              <a:rPr lang="en-IN" dirty="0" smtClean="0"/>
              <a:t>Hardwired Implementation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232738"/>
            <a:ext cx="7556313" cy="568863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In a hardwired implementation, the control unit is essentially a </a:t>
            </a:r>
            <a:r>
              <a:rPr lang="en-IN" dirty="0" smtClean="0">
                <a:solidFill>
                  <a:schemeClr val="tx1"/>
                </a:solidFill>
              </a:rPr>
              <a:t>logic circuit, </a:t>
            </a:r>
            <a:r>
              <a:rPr lang="en-IN" dirty="0">
                <a:solidFill>
                  <a:schemeClr val="tx1"/>
                </a:solidFill>
              </a:rPr>
              <a:t>featuring a finite number of </a:t>
            </a:r>
            <a:r>
              <a:rPr lang="en-IN" dirty="0" smtClean="0">
                <a:solidFill>
                  <a:schemeClr val="tx1"/>
                </a:solidFill>
              </a:rPr>
              <a:t>gates.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Its input logic signals are transformed into a set of output logic signals, </a:t>
            </a:r>
            <a:r>
              <a:rPr lang="en-IN" dirty="0" smtClean="0">
                <a:solidFill>
                  <a:schemeClr val="tx1"/>
                </a:solidFill>
              </a:rPr>
              <a:t>which are </a:t>
            </a:r>
            <a:r>
              <a:rPr lang="en-IN" dirty="0">
                <a:solidFill>
                  <a:schemeClr val="tx1"/>
                </a:solidFill>
              </a:rPr>
              <a:t>the control signals</a:t>
            </a:r>
            <a:r>
              <a:rPr lang="en-IN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Design </a:t>
            </a:r>
            <a:r>
              <a:rPr lang="en-IN" dirty="0">
                <a:solidFill>
                  <a:schemeClr val="tx1"/>
                </a:solidFill>
              </a:rPr>
              <a:t>uses a fixed architecture—it requires changes in the wiring if the instruction set is modified or </a:t>
            </a:r>
            <a:r>
              <a:rPr lang="en-IN" dirty="0" smtClean="0">
                <a:solidFill>
                  <a:schemeClr val="tx1"/>
                </a:solidFill>
              </a:rPr>
              <a:t>changed. </a:t>
            </a:r>
          </a:p>
        </p:txBody>
      </p:sp>
    </p:spTree>
    <p:extLst>
      <p:ext uri="{BB962C8B-B14F-4D97-AF65-F5344CB8AC3E}">
        <p14:creationId xmlns:p14="http://schemas.microsoft.com/office/powerpoint/2010/main" val="1499596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252538"/>
            <a:ext cx="8651875" cy="5376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98473" y="116632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auto">
              <a:spcAft>
                <a:spcPts val="0"/>
              </a:spcAft>
            </a:pPr>
            <a:r>
              <a:rPr lang="en-IN" dirty="0" smtClean="0"/>
              <a:t>Hardwired Implementation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623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332656"/>
            <a:ext cx="7556313" cy="1116106"/>
          </a:xfrm>
        </p:spPr>
        <p:txBody>
          <a:bodyPr/>
          <a:lstStyle/>
          <a:p>
            <a:r>
              <a:rPr lang="en-GB" altLang="en-US" dirty="0" smtClean="0"/>
              <a:t>Micro-programmed Control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268760"/>
            <a:ext cx="7704856" cy="4896544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Microprogrammed control is a control mechanism that generates control signals by reading the memory called control memory that contains </a:t>
            </a:r>
            <a:r>
              <a:rPr lang="en-IN" dirty="0" smtClean="0">
                <a:solidFill>
                  <a:schemeClr val="tx1"/>
                </a:solidFill>
              </a:rPr>
              <a:t>control words. 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GB" altLang="en-US" dirty="0" smtClean="0">
                <a:solidFill>
                  <a:schemeClr val="tx1"/>
                </a:solidFill>
              </a:rPr>
              <a:t>Use sequences of instructions to control complex operations.</a:t>
            </a:r>
          </a:p>
          <a:p>
            <a:r>
              <a:rPr lang="en-GB" altLang="en-US" dirty="0" smtClean="0">
                <a:solidFill>
                  <a:schemeClr val="tx1"/>
                </a:solidFill>
              </a:rPr>
              <a:t>Called </a:t>
            </a:r>
            <a:r>
              <a:rPr lang="en-GB" altLang="en-US" dirty="0" smtClean="0">
                <a:solidFill>
                  <a:schemeClr val="tx1"/>
                </a:solidFill>
              </a:rPr>
              <a:t>micro-programming.</a:t>
            </a:r>
            <a:endParaRPr lang="en-GB" altLang="en-US" dirty="0" smtClean="0">
              <a:solidFill>
                <a:schemeClr val="tx1"/>
              </a:solidFill>
            </a:endParaRPr>
          </a:p>
          <a:p>
            <a:r>
              <a:rPr lang="en-US" b="1" u="sng" dirty="0">
                <a:solidFill>
                  <a:schemeClr val="tx1"/>
                </a:solidFill>
              </a:rPr>
              <a:t>Firmware</a:t>
            </a:r>
            <a:r>
              <a:rPr lang="en-US" dirty="0">
                <a:solidFill>
                  <a:schemeClr val="tx1"/>
                </a:solidFill>
              </a:rPr>
              <a:t>: Firmware is a pre written program that is stored in ROM. It configures the computer and not easily modified by users. 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altLang="en-US" b="1" u="sng" dirty="0">
                <a:solidFill>
                  <a:schemeClr val="tx1"/>
                </a:solidFill>
              </a:rPr>
              <a:t>Microinstruction</a:t>
            </a:r>
            <a:r>
              <a:rPr lang="en-US" altLang="en-US" dirty="0" smtClean="0">
                <a:solidFill>
                  <a:schemeClr val="tx1"/>
                </a:solidFill>
              </a:rPr>
              <a:t>: </a:t>
            </a:r>
            <a:r>
              <a:rPr lang="en-IN" dirty="0">
                <a:solidFill>
                  <a:schemeClr val="tx1"/>
                </a:solidFill>
              </a:rPr>
              <a:t>an instruction stored in control </a:t>
            </a:r>
            <a:r>
              <a:rPr lang="en-IN" dirty="0" smtClean="0">
                <a:solidFill>
                  <a:schemeClr val="tx1"/>
                </a:solidFill>
              </a:rPr>
              <a:t>memory. It is a set of micro-operations occurring in the same unit of time. </a:t>
            </a:r>
          </a:p>
          <a:p>
            <a:endParaRPr lang="en-GB" altLang="en-US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074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531" y="764704"/>
            <a:ext cx="7556313" cy="1116106"/>
          </a:xfrm>
        </p:spPr>
        <p:txBody>
          <a:bodyPr/>
          <a:lstStyle/>
          <a:p>
            <a:r>
              <a:rPr lang="en-GB" altLang="en-US" dirty="0" smtClean="0"/>
              <a:t>Organization of</a:t>
            </a:r>
            <a:br>
              <a:rPr lang="en-GB" altLang="en-US" dirty="0" smtClean="0"/>
            </a:br>
            <a:r>
              <a:rPr lang="en-GB" altLang="en-US" dirty="0" smtClean="0"/>
              <a:t>Control Memory</a:t>
            </a:r>
          </a:p>
        </p:txBody>
      </p:sp>
      <p:pic>
        <p:nvPicPr>
          <p:cNvPr id="94211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688" y="0"/>
            <a:ext cx="509111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7724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116632"/>
            <a:ext cx="7556313" cy="1116106"/>
          </a:xfrm>
        </p:spPr>
        <p:txBody>
          <a:bodyPr/>
          <a:lstStyle/>
          <a:p>
            <a:pPr algn="ctr"/>
            <a:r>
              <a:rPr lang="en-GB" altLang="en-US" dirty="0" smtClean="0"/>
              <a:t>Micro-instruction Types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908720"/>
            <a:ext cx="7556313" cy="6093296"/>
          </a:xfrm>
        </p:spPr>
        <p:txBody>
          <a:bodyPr>
            <a:normAutofit/>
          </a:bodyPr>
          <a:lstStyle/>
          <a:p>
            <a:r>
              <a:rPr lang="en-GB" altLang="en-US" sz="2800" dirty="0" smtClean="0">
                <a:solidFill>
                  <a:schemeClr val="tx1"/>
                </a:solidFill>
              </a:rPr>
              <a:t>Horizontal </a:t>
            </a:r>
          </a:p>
          <a:p>
            <a:r>
              <a:rPr lang="en-GB" altLang="en-US" sz="2800" dirty="0" smtClean="0">
                <a:solidFill>
                  <a:schemeClr val="tx1"/>
                </a:solidFill>
              </a:rPr>
              <a:t>Vertical </a:t>
            </a:r>
          </a:p>
        </p:txBody>
      </p:sp>
    </p:spTree>
    <p:extLst>
      <p:ext uri="{BB962C8B-B14F-4D97-AF65-F5344CB8AC3E}">
        <p14:creationId xmlns:p14="http://schemas.microsoft.com/office/powerpoint/2010/main" val="350685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-17115"/>
            <a:ext cx="7992888" cy="1116106"/>
          </a:xfrm>
        </p:spPr>
        <p:txBody>
          <a:bodyPr/>
          <a:lstStyle/>
          <a:p>
            <a:pPr algn="ctr"/>
            <a:r>
              <a:rPr lang="en-GB" altLang="en-US" dirty="0" smtClean="0"/>
              <a:t>Microprogrammed Control Unit</a:t>
            </a:r>
          </a:p>
        </p:txBody>
      </p:sp>
      <p:pic>
        <p:nvPicPr>
          <p:cNvPr id="10137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556937"/>
            <a:ext cx="5112568" cy="6337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7697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u="sng" dirty="0" smtClean="0"/>
              <a:t>Reference</a:t>
            </a:r>
            <a:endParaRPr lang="en-IN" sz="32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268760"/>
            <a:ext cx="7556313" cy="4144963"/>
          </a:xfrm>
        </p:spPr>
        <p:txBody>
          <a:bodyPr/>
          <a:lstStyle/>
          <a:p>
            <a:r>
              <a:rPr lang="en-US" dirty="0"/>
              <a:t>Computer Organization and Architecture: Designing for Performance, William Stallings, </a:t>
            </a:r>
            <a:r>
              <a:rPr lang="en-US" dirty="0" smtClean="0"/>
              <a:t>6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r>
              <a:rPr lang="en-US" dirty="0"/>
              <a:t>Edition, Pearson </a:t>
            </a:r>
            <a:r>
              <a:rPr lang="en-US" dirty="0" smtClean="0"/>
              <a:t>India.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6187207"/>
      </p:ext>
    </p:extLst>
  </p:cSld>
  <p:clrMapOvr>
    <a:masterClrMapping/>
  </p:clrMapOvr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7712</TotalTime>
  <Words>396</Words>
  <Application>Microsoft Office PowerPoint</Application>
  <PresentationFormat>On-screen Show (4:3)</PresentationFormat>
  <Paragraphs>72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ＭＳ Ｐゴシック</vt:lpstr>
      <vt:lpstr>Arial</vt:lpstr>
      <vt:lpstr>Rockwell</vt:lpstr>
      <vt:lpstr>Times New Roman</vt:lpstr>
      <vt:lpstr>Wingdings</vt:lpstr>
      <vt:lpstr>Advantage</vt:lpstr>
      <vt:lpstr>PowerPoint Presentation</vt:lpstr>
      <vt:lpstr>PowerPoint Presentation</vt:lpstr>
      <vt:lpstr>Fetch Sequence</vt:lpstr>
      <vt:lpstr>Rules for Grouping</vt:lpstr>
      <vt:lpstr>Control Unit</vt:lpstr>
      <vt:lpstr>Functional Requirements</vt:lpstr>
      <vt:lpstr>Functions of Control Unit</vt:lpstr>
      <vt:lpstr>Control Unit</vt:lpstr>
      <vt:lpstr>Data Paths and Control Signals</vt:lpstr>
      <vt:lpstr>Hardwired Implementation</vt:lpstr>
      <vt:lpstr>PowerPoint Presentation</vt:lpstr>
      <vt:lpstr>Micro-programmed Control</vt:lpstr>
      <vt:lpstr>Organization of Control Memory</vt:lpstr>
      <vt:lpstr>Micro-instruction Types</vt:lpstr>
      <vt:lpstr>Microprogrammed Control Unit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Addressing Modes</dc:title>
  <dc:creator>Adrian &amp; Wendy</dc:creator>
  <cp:lastModifiedBy>Divya Lohani</cp:lastModifiedBy>
  <cp:revision>155</cp:revision>
  <dcterms:created xsi:type="dcterms:W3CDTF">2012-07-21T04:30:17Z</dcterms:created>
  <dcterms:modified xsi:type="dcterms:W3CDTF">2018-10-09T06:49:38Z</dcterms:modified>
</cp:coreProperties>
</file>