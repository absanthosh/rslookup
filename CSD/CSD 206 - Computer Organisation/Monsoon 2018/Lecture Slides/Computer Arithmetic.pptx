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27"/>
  </p:notesMasterIdLst>
  <p:handoutMasterIdLst>
    <p:handoutMasterId r:id="rId28"/>
  </p:handoutMasterIdLst>
  <p:sldIdLst>
    <p:sldId id="332" r:id="rId2"/>
    <p:sldId id="333" r:id="rId3"/>
    <p:sldId id="334" r:id="rId4"/>
    <p:sldId id="469" r:id="rId5"/>
    <p:sldId id="335" r:id="rId6"/>
    <p:sldId id="336" r:id="rId7"/>
    <p:sldId id="337" r:id="rId8"/>
    <p:sldId id="339" r:id="rId9"/>
    <p:sldId id="341" r:id="rId10"/>
    <p:sldId id="344" r:id="rId11"/>
    <p:sldId id="345" r:id="rId12"/>
    <p:sldId id="390" r:id="rId13"/>
    <p:sldId id="346" r:id="rId14"/>
    <p:sldId id="347" r:id="rId15"/>
    <p:sldId id="410" r:id="rId16"/>
    <p:sldId id="411" r:id="rId17"/>
    <p:sldId id="412" r:id="rId18"/>
    <p:sldId id="416" r:id="rId19"/>
    <p:sldId id="417" r:id="rId20"/>
    <p:sldId id="419" r:id="rId21"/>
    <p:sldId id="420" r:id="rId22"/>
    <p:sldId id="421" r:id="rId23"/>
    <p:sldId id="424" r:id="rId24"/>
    <p:sldId id="425" r:id="rId25"/>
    <p:sldId id="470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31103" autoAdjust="0"/>
    <p:restoredTop sz="94434" autoAdjust="0"/>
  </p:normalViewPr>
  <p:slideViewPr>
    <p:cSldViewPr>
      <p:cViewPr varScale="1">
        <p:scale>
          <a:sx n="110" d="100"/>
          <a:sy n="110" d="100"/>
        </p:scale>
        <p:origin x="126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8" d="100"/>
        <a:sy n="12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1.xml"/><Relationship Id="rId3" Type="http://schemas.openxmlformats.org/officeDocument/2006/relationships/slide" Target="slides/slide6.xml"/><Relationship Id="rId7" Type="http://schemas.openxmlformats.org/officeDocument/2006/relationships/slide" Target="slides/slide15.xml"/><Relationship Id="rId2" Type="http://schemas.openxmlformats.org/officeDocument/2006/relationships/slide" Target="slides/slide5.xml"/><Relationship Id="rId1" Type="http://schemas.openxmlformats.org/officeDocument/2006/relationships/slide" Target="slides/slide2.xml"/><Relationship Id="rId6" Type="http://schemas.openxmlformats.org/officeDocument/2006/relationships/slide" Target="slides/slide9.xml"/><Relationship Id="rId5" Type="http://schemas.openxmlformats.org/officeDocument/2006/relationships/slide" Target="slides/slide8.xml"/><Relationship Id="rId4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A3E0E5-FB8F-334C-8FE5-62A44FA30DEC}" type="doc">
      <dgm:prSet loTypeId="urn:microsoft.com/office/officeart/2005/8/layout/target3" loCatId="relationship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83262AA-24DB-9D42-BA49-DFEA9DCEA11E}">
      <dgm:prSet/>
      <dgm:spPr/>
      <dgm:t>
        <a:bodyPr/>
        <a:lstStyle/>
        <a:p>
          <a:pPr rtl="0"/>
          <a:r>
            <a:rPr lang="en-US" dirty="0" smtClean="0"/>
            <a:t>There are several alternative conventions used to represent negative as well as positive integers</a:t>
          </a:r>
          <a:endParaRPr lang="en-US" dirty="0"/>
        </a:p>
      </dgm:t>
    </dgm:pt>
    <dgm:pt modelId="{E1AE39EB-9D06-F54A-8B72-CF80C5205387}" type="parTrans" cxnId="{E351E063-CBB2-5C45-88B7-5DFC7C063C58}">
      <dgm:prSet/>
      <dgm:spPr/>
      <dgm:t>
        <a:bodyPr/>
        <a:lstStyle/>
        <a:p>
          <a:endParaRPr lang="en-US"/>
        </a:p>
      </dgm:t>
    </dgm:pt>
    <dgm:pt modelId="{50F1CEAA-FF30-954B-8964-4E6B2EA0FA15}" type="sibTrans" cxnId="{E351E063-CBB2-5C45-88B7-5DFC7C063C58}">
      <dgm:prSet/>
      <dgm:spPr/>
      <dgm:t>
        <a:bodyPr/>
        <a:lstStyle/>
        <a:p>
          <a:endParaRPr lang="en-US"/>
        </a:p>
      </dgm:t>
    </dgm:pt>
    <dgm:pt modelId="{D421B331-5FF1-894D-BC17-510CC556518C}">
      <dgm:prSet/>
      <dgm:spPr/>
      <dgm:t>
        <a:bodyPr/>
        <a:lstStyle/>
        <a:p>
          <a:pPr rtl="0"/>
          <a:r>
            <a:rPr lang="en-US" dirty="0" smtClean="0"/>
            <a:t>All of these alternatives involve treating the most significant (leftmost) bit in the word as a sign bit</a:t>
          </a:r>
          <a:endParaRPr lang="en-US" dirty="0"/>
        </a:p>
      </dgm:t>
    </dgm:pt>
    <dgm:pt modelId="{F08812C2-D4C2-1D44-B7C3-919E1DF10143}" type="parTrans" cxnId="{C4C79A9E-E948-D343-AD5A-A2169147BC37}">
      <dgm:prSet/>
      <dgm:spPr/>
      <dgm:t>
        <a:bodyPr/>
        <a:lstStyle/>
        <a:p>
          <a:endParaRPr lang="en-US"/>
        </a:p>
      </dgm:t>
    </dgm:pt>
    <dgm:pt modelId="{B998553F-C21F-A245-90B3-D8A962712F85}" type="sibTrans" cxnId="{C4C79A9E-E948-D343-AD5A-A2169147BC37}">
      <dgm:prSet/>
      <dgm:spPr/>
      <dgm:t>
        <a:bodyPr/>
        <a:lstStyle/>
        <a:p>
          <a:endParaRPr lang="en-US"/>
        </a:p>
      </dgm:t>
    </dgm:pt>
    <dgm:pt modelId="{911F3139-331A-9041-947D-2D8029CBE0EE}">
      <dgm:prSet/>
      <dgm:spPr/>
      <dgm:t>
        <a:bodyPr/>
        <a:lstStyle/>
        <a:p>
          <a:pPr rtl="0"/>
          <a:r>
            <a:rPr lang="en-US" dirty="0" smtClean="0"/>
            <a:t>If the sign bit is 0 the number is positive</a:t>
          </a:r>
          <a:endParaRPr lang="en-US" dirty="0"/>
        </a:p>
      </dgm:t>
    </dgm:pt>
    <dgm:pt modelId="{E2DAEE02-3EF1-D541-9387-EEF1F08CEED9}" type="parTrans" cxnId="{8A0E2ECC-F287-3446-8D89-40787812DADB}">
      <dgm:prSet/>
      <dgm:spPr/>
      <dgm:t>
        <a:bodyPr/>
        <a:lstStyle/>
        <a:p>
          <a:endParaRPr lang="en-US"/>
        </a:p>
      </dgm:t>
    </dgm:pt>
    <dgm:pt modelId="{9EE2FA17-EDB9-C341-B441-2C1ABF5FF487}" type="sibTrans" cxnId="{8A0E2ECC-F287-3446-8D89-40787812DADB}">
      <dgm:prSet/>
      <dgm:spPr/>
      <dgm:t>
        <a:bodyPr/>
        <a:lstStyle/>
        <a:p>
          <a:endParaRPr lang="en-US"/>
        </a:p>
      </dgm:t>
    </dgm:pt>
    <dgm:pt modelId="{9AFCBC0B-96A4-474E-96E6-E21053505CD4}">
      <dgm:prSet/>
      <dgm:spPr/>
      <dgm:t>
        <a:bodyPr/>
        <a:lstStyle/>
        <a:p>
          <a:pPr rtl="0"/>
          <a:r>
            <a:rPr lang="en-US" dirty="0" smtClean="0"/>
            <a:t>If the sign bit is 1 the number is negative</a:t>
          </a:r>
          <a:endParaRPr lang="en-US" dirty="0"/>
        </a:p>
      </dgm:t>
    </dgm:pt>
    <dgm:pt modelId="{5BAE50B4-1F31-1144-B548-966D89249933}" type="parTrans" cxnId="{A39C2DDB-0E9A-BE4E-B655-8FB6B5CAD655}">
      <dgm:prSet/>
      <dgm:spPr/>
      <dgm:t>
        <a:bodyPr/>
        <a:lstStyle/>
        <a:p>
          <a:endParaRPr lang="en-US"/>
        </a:p>
      </dgm:t>
    </dgm:pt>
    <dgm:pt modelId="{6D51E86B-54A7-D045-A8BA-7ADC2CFEFEEE}" type="sibTrans" cxnId="{A39C2DDB-0E9A-BE4E-B655-8FB6B5CAD655}">
      <dgm:prSet/>
      <dgm:spPr/>
      <dgm:t>
        <a:bodyPr/>
        <a:lstStyle/>
        <a:p>
          <a:endParaRPr lang="en-US"/>
        </a:p>
      </dgm:t>
    </dgm:pt>
    <dgm:pt modelId="{A70A6160-FC13-2848-AED3-12D569DBABD9}">
      <dgm:prSet/>
      <dgm:spPr/>
      <dgm:t>
        <a:bodyPr/>
        <a:lstStyle/>
        <a:p>
          <a:pPr rtl="0"/>
          <a:r>
            <a:rPr lang="en-US" dirty="0" smtClean="0"/>
            <a:t>Sign-magnitude representation is the simplest form that employs a sign bit</a:t>
          </a:r>
          <a:endParaRPr lang="en-US" dirty="0"/>
        </a:p>
      </dgm:t>
    </dgm:pt>
    <dgm:pt modelId="{86A8D559-4BE4-F946-82B7-23A4E19B377B}" type="parTrans" cxnId="{7D4A7DF4-872E-154D-AE8F-07E2ED4B8CA2}">
      <dgm:prSet/>
      <dgm:spPr/>
      <dgm:t>
        <a:bodyPr/>
        <a:lstStyle/>
        <a:p>
          <a:endParaRPr lang="en-US"/>
        </a:p>
      </dgm:t>
    </dgm:pt>
    <dgm:pt modelId="{6A9AB68E-CE3C-1C46-BF77-B7B1A6791E53}" type="sibTrans" cxnId="{7D4A7DF4-872E-154D-AE8F-07E2ED4B8CA2}">
      <dgm:prSet/>
      <dgm:spPr/>
      <dgm:t>
        <a:bodyPr/>
        <a:lstStyle/>
        <a:p>
          <a:endParaRPr lang="en-US"/>
        </a:p>
      </dgm:t>
    </dgm:pt>
    <dgm:pt modelId="{EA19E746-087D-5747-BD84-D0BDB4D1B743}">
      <dgm:prSet/>
      <dgm:spPr/>
      <dgm:t>
        <a:bodyPr/>
        <a:lstStyle/>
        <a:p>
          <a:pPr rtl="0"/>
          <a:r>
            <a:rPr lang="en-US" dirty="0" smtClean="0"/>
            <a:t>Drawbacks:</a:t>
          </a:r>
          <a:endParaRPr lang="en-US" dirty="0"/>
        </a:p>
      </dgm:t>
    </dgm:pt>
    <dgm:pt modelId="{509BE407-9AF8-1F4F-BE0E-66AD5658203E}" type="parTrans" cxnId="{C96B6C18-59CC-6C4C-B7AE-C3814D3EEC58}">
      <dgm:prSet/>
      <dgm:spPr/>
      <dgm:t>
        <a:bodyPr/>
        <a:lstStyle/>
        <a:p>
          <a:endParaRPr lang="en-US"/>
        </a:p>
      </dgm:t>
    </dgm:pt>
    <dgm:pt modelId="{625E866C-E9D2-A148-8FDD-3BE0CFDA96B9}" type="sibTrans" cxnId="{C96B6C18-59CC-6C4C-B7AE-C3814D3EEC58}">
      <dgm:prSet/>
      <dgm:spPr/>
      <dgm:t>
        <a:bodyPr/>
        <a:lstStyle/>
        <a:p>
          <a:endParaRPr lang="en-US"/>
        </a:p>
      </dgm:t>
    </dgm:pt>
    <dgm:pt modelId="{78BBE99E-AE62-174F-8840-FE9100F0377A}">
      <dgm:prSet/>
      <dgm:spPr/>
      <dgm:t>
        <a:bodyPr/>
        <a:lstStyle/>
        <a:p>
          <a:pPr rtl="0"/>
          <a:r>
            <a:rPr lang="en-US" dirty="0" smtClean="0"/>
            <a:t>Addition and subtraction require a consideration of both the signs of the numbers and their relative magnitudes to carry out the required operation</a:t>
          </a:r>
          <a:endParaRPr lang="en-US" dirty="0"/>
        </a:p>
      </dgm:t>
    </dgm:pt>
    <dgm:pt modelId="{A0D81AF6-D6D6-2E44-B9F4-0468DEA92C8D}" type="parTrans" cxnId="{E3D02617-B661-984E-A8FD-78837F464085}">
      <dgm:prSet/>
      <dgm:spPr/>
      <dgm:t>
        <a:bodyPr/>
        <a:lstStyle/>
        <a:p>
          <a:endParaRPr lang="en-US"/>
        </a:p>
      </dgm:t>
    </dgm:pt>
    <dgm:pt modelId="{7767C167-0AE8-0445-BD5F-1A9B7BB8BEC2}" type="sibTrans" cxnId="{E3D02617-B661-984E-A8FD-78837F464085}">
      <dgm:prSet/>
      <dgm:spPr/>
      <dgm:t>
        <a:bodyPr/>
        <a:lstStyle/>
        <a:p>
          <a:endParaRPr lang="en-US"/>
        </a:p>
      </dgm:t>
    </dgm:pt>
    <dgm:pt modelId="{AFBFAF41-3241-B94E-B5EC-BF583F9BE04B}">
      <dgm:prSet/>
      <dgm:spPr/>
      <dgm:t>
        <a:bodyPr/>
        <a:lstStyle/>
        <a:p>
          <a:pPr rtl="0"/>
          <a:r>
            <a:rPr lang="en-US" dirty="0" smtClean="0"/>
            <a:t>There are two representations of 0</a:t>
          </a:r>
          <a:endParaRPr lang="en-US" dirty="0"/>
        </a:p>
      </dgm:t>
    </dgm:pt>
    <dgm:pt modelId="{B6CC9165-E2A8-DF47-B63D-A92650E204E0}" type="parTrans" cxnId="{12C01CDA-3F30-2B4D-9420-9374A4913455}">
      <dgm:prSet/>
      <dgm:spPr/>
      <dgm:t>
        <a:bodyPr/>
        <a:lstStyle/>
        <a:p>
          <a:endParaRPr lang="en-US"/>
        </a:p>
      </dgm:t>
    </dgm:pt>
    <dgm:pt modelId="{22DD4469-73CD-B949-9383-4B96151B199A}" type="sibTrans" cxnId="{12C01CDA-3F30-2B4D-9420-9374A4913455}">
      <dgm:prSet/>
      <dgm:spPr/>
      <dgm:t>
        <a:bodyPr/>
        <a:lstStyle/>
        <a:p>
          <a:endParaRPr lang="en-US"/>
        </a:p>
      </dgm:t>
    </dgm:pt>
    <dgm:pt modelId="{50457B50-2595-E94F-993C-E177E314EAD1}">
      <dgm:prSet/>
      <dgm:spPr/>
      <dgm:t>
        <a:bodyPr/>
        <a:lstStyle/>
        <a:p>
          <a:pPr rtl="0"/>
          <a:r>
            <a:rPr lang="en-US" dirty="0" smtClean="0"/>
            <a:t>Because of these drawbacks, sign-magnitude representation is rarely used in implementing the integer portion of the ALU</a:t>
          </a:r>
          <a:endParaRPr lang="en-US" dirty="0"/>
        </a:p>
      </dgm:t>
    </dgm:pt>
    <dgm:pt modelId="{91CC0228-9A2F-C44A-B1D9-A5008F223FA6}" type="parTrans" cxnId="{583FB138-40CE-864F-A1A2-B3C03CD737BB}">
      <dgm:prSet/>
      <dgm:spPr/>
      <dgm:t>
        <a:bodyPr/>
        <a:lstStyle/>
        <a:p>
          <a:endParaRPr lang="en-US"/>
        </a:p>
      </dgm:t>
    </dgm:pt>
    <dgm:pt modelId="{703DCEC5-BE7B-B844-A88E-646907E8DD42}" type="sibTrans" cxnId="{583FB138-40CE-864F-A1A2-B3C03CD737BB}">
      <dgm:prSet/>
      <dgm:spPr/>
      <dgm:t>
        <a:bodyPr/>
        <a:lstStyle/>
        <a:p>
          <a:endParaRPr lang="en-US"/>
        </a:p>
      </dgm:t>
    </dgm:pt>
    <dgm:pt modelId="{6D8D805C-8E27-5546-979C-2760A25D2E93}" type="pres">
      <dgm:prSet presAssocID="{13A3E0E5-FB8F-334C-8FE5-62A44FA30DEC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5DB6DD2-519E-7446-8772-54D198A49389}" type="pres">
      <dgm:prSet presAssocID="{183262AA-24DB-9D42-BA49-DFEA9DCEA11E}" presName="circle1" presStyleLbl="node1" presStyleIdx="0" presStyleCnt="4"/>
      <dgm:spPr>
        <a:ln>
          <a:solidFill>
            <a:schemeClr val="accent1"/>
          </a:solidFill>
        </a:ln>
      </dgm:spPr>
    </dgm:pt>
    <dgm:pt modelId="{56542A31-4B1D-9F45-8815-EDDE66040362}" type="pres">
      <dgm:prSet presAssocID="{183262AA-24DB-9D42-BA49-DFEA9DCEA11E}" presName="space" presStyleCnt="0"/>
      <dgm:spPr/>
    </dgm:pt>
    <dgm:pt modelId="{E2A66267-F3CA-834C-8E92-73974C118495}" type="pres">
      <dgm:prSet presAssocID="{183262AA-24DB-9D42-BA49-DFEA9DCEA11E}" presName="rect1" presStyleLbl="alignAcc1" presStyleIdx="0" presStyleCnt="4"/>
      <dgm:spPr/>
      <dgm:t>
        <a:bodyPr/>
        <a:lstStyle/>
        <a:p>
          <a:endParaRPr lang="en-US"/>
        </a:p>
      </dgm:t>
    </dgm:pt>
    <dgm:pt modelId="{0A4D27A1-7560-5740-BE3A-A4E5BD4614A0}" type="pres">
      <dgm:prSet presAssocID="{A70A6160-FC13-2848-AED3-12D569DBABD9}" presName="vertSpace2" presStyleLbl="node1" presStyleIdx="0" presStyleCnt="4"/>
      <dgm:spPr/>
    </dgm:pt>
    <dgm:pt modelId="{0C739B3D-50AE-C948-B1FB-A51F669FD8C3}" type="pres">
      <dgm:prSet presAssocID="{A70A6160-FC13-2848-AED3-12D569DBABD9}" presName="circle2" presStyleLbl="node1" presStyleIdx="1" presStyleCnt="4"/>
      <dgm:spPr>
        <a:solidFill>
          <a:schemeClr val="accent4"/>
        </a:solidFill>
        <a:ln>
          <a:solidFill>
            <a:schemeClr val="accent4"/>
          </a:solidFill>
        </a:ln>
      </dgm:spPr>
    </dgm:pt>
    <dgm:pt modelId="{878DAEEC-84D0-1944-9838-89F9AF5AF114}" type="pres">
      <dgm:prSet presAssocID="{A70A6160-FC13-2848-AED3-12D569DBABD9}" presName="rect2" presStyleLbl="alignAcc1" presStyleIdx="1" presStyleCnt="4"/>
      <dgm:spPr/>
      <dgm:t>
        <a:bodyPr/>
        <a:lstStyle/>
        <a:p>
          <a:endParaRPr lang="en-US"/>
        </a:p>
      </dgm:t>
    </dgm:pt>
    <dgm:pt modelId="{4BBC67E4-19A9-A948-A2C9-4DFBC2C7C256}" type="pres">
      <dgm:prSet presAssocID="{EA19E746-087D-5747-BD84-D0BDB4D1B743}" presName="vertSpace3" presStyleLbl="node1" presStyleIdx="1" presStyleCnt="4"/>
      <dgm:spPr/>
    </dgm:pt>
    <dgm:pt modelId="{7D370A6D-C41B-1044-8DE0-4F85455A5416}" type="pres">
      <dgm:prSet presAssocID="{EA19E746-087D-5747-BD84-D0BDB4D1B743}" presName="circle3" presStyleLbl="node1" presStyleIdx="2" presStyleCnt="4"/>
      <dgm:spPr>
        <a:solidFill>
          <a:schemeClr val="accent3"/>
        </a:solidFill>
        <a:ln>
          <a:solidFill>
            <a:schemeClr val="accent3"/>
          </a:solidFill>
        </a:ln>
      </dgm:spPr>
    </dgm:pt>
    <dgm:pt modelId="{653CC4B6-86EE-DA43-B711-756C2A688905}" type="pres">
      <dgm:prSet presAssocID="{EA19E746-087D-5747-BD84-D0BDB4D1B743}" presName="rect3" presStyleLbl="alignAcc1" presStyleIdx="2" presStyleCnt="4"/>
      <dgm:spPr/>
      <dgm:t>
        <a:bodyPr/>
        <a:lstStyle/>
        <a:p>
          <a:endParaRPr lang="en-US"/>
        </a:p>
      </dgm:t>
    </dgm:pt>
    <dgm:pt modelId="{696C117B-0E32-BE4E-9874-CF9A36F4D455}" type="pres">
      <dgm:prSet presAssocID="{50457B50-2595-E94F-993C-E177E314EAD1}" presName="vertSpace4" presStyleLbl="node1" presStyleIdx="2" presStyleCnt="4"/>
      <dgm:spPr/>
    </dgm:pt>
    <dgm:pt modelId="{6AE7970F-AF50-6847-84A4-AC3F27104EDB}" type="pres">
      <dgm:prSet presAssocID="{50457B50-2595-E94F-993C-E177E314EAD1}" presName="circle4" presStyleLbl="node1" presStyleIdx="3" presStyleCnt="4"/>
      <dgm:spPr>
        <a:ln>
          <a:solidFill>
            <a:schemeClr val="accent1"/>
          </a:solidFill>
        </a:ln>
      </dgm:spPr>
    </dgm:pt>
    <dgm:pt modelId="{C5B53DDF-528D-9E4D-BA41-F8C8C0867C49}" type="pres">
      <dgm:prSet presAssocID="{50457B50-2595-E94F-993C-E177E314EAD1}" presName="rect4" presStyleLbl="alignAcc1" presStyleIdx="3" presStyleCnt="4"/>
      <dgm:spPr/>
      <dgm:t>
        <a:bodyPr/>
        <a:lstStyle/>
        <a:p>
          <a:endParaRPr lang="en-US"/>
        </a:p>
      </dgm:t>
    </dgm:pt>
    <dgm:pt modelId="{9DBFECD6-8A3D-8547-8DAB-53D12B7D2327}" type="pres">
      <dgm:prSet presAssocID="{183262AA-24DB-9D42-BA49-DFEA9DCEA11E}" presName="rect1ParTx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67836C-3F36-8843-BBCE-92D425CCDC28}" type="pres">
      <dgm:prSet presAssocID="{183262AA-24DB-9D42-BA49-DFEA9DCEA11E}" presName="rect1ChTx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15B29A-FC1E-424A-9747-0E0CC8A6C14B}" type="pres">
      <dgm:prSet presAssocID="{A70A6160-FC13-2848-AED3-12D569DBABD9}" presName="rect2ParTx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F3D320-B9E4-D14E-B4C6-590BF47411BC}" type="pres">
      <dgm:prSet presAssocID="{A70A6160-FC13-2848-AED3-12D569DBABD9}" presName="rect2ChTx" presStyleLbl="alignAcc1" presStyleIdx="3" presStyleCnt="4">
        <dgm:presLayoutVars>
          <dgm:bulletEnabled val="1"/>
        </dgm:presLayoutVars>
      </dgm:prSet>
      <dgm:spPr/>
    </dgm:pt>
    <dgm:pt modelId="{1AB44C3C-2B6E-7B4A-B079-9E44E58D790F}" type="pres">
      <dgm:prSet presAssocID="{EA19E746-087D-5747-BD84-D0BDB4D1B743}" presName="rect3ParTx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514997-96B0-7948-A8A1-B4F21AD740E0}" type="pres">
      <dgm:prSet presAssocID="{EA19E746-087D-5747-BD84-D0BDB4D1B743}" presName="rect3ChTx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B2C070-D570-C24E-B8EC-576E04E7C5D5}" type="pres">
      <dgm:prSet presAssocID="{50457B50-2595-E94F-993C-E177E314EAD1}" presName="rect4ParTx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1F3FBC-96BA-9F4F-9EA1-DAE7432D5E3C}" type="pres">
      <dgm:prSet presAssocID="{50457B50-2595-E94F-993C-E177E314EAD1}" presName="rect4ChTx" presStyleLbl="alignAcc1" presStyleIdx="3" presStyleCnt="4">
        <dgm:presLayoutVars>
          <dgm:bulletEnabled val="1"/>
        </dgm:presLayoutVars>
      </dgm:prSet>
      <dgm:spPr/>
    </dgm:pt>
  </dgm:ptLst>
  <dgm:cxnLst>
    <dgm:cxn modelId="{E351E063-CBB2-5C45-88B7-5DFC7C063C58}" srcId="{13A3E0E5-FB8F-334C-8FE5-62A44FA30DEC}" destId="{183262AA-24DB-9D42-BA49-DFEA9DCEA11E}" srcOrd="0" destOrd="0" parTransId="{E1AE39EB-9D06-F54A-8B72-CF80C5205387}" sibTransId="{50F1CEAA-FF30-954B-8964-4E6B2EA0FA15}"/>
    <dgm:cxn modelId="{D6E1AA4F-8695-439A-B29C-1F84CC7121C1}" type="presOf" srcId="{A70A6160-FC13-2848-AED3-12D569DBABD9}" destId="{0D15B29A-FC1E-424A-9747-0E0CC8A6C14B}" srcOrd="1" destOrd="0" presId="urn:microsoft.com/office/officeart/2005/8/layout/target3"/>
    <dgm:cxn modelId="{717E05FB-C686-45F7-8899-9680BB3B98FC}" type="presOf" srcId="{9AFCBC0B-96A4-474E-96E6-E21053505CD4}" destId="{9F67836C-3F36-8843-BBCE-92D425CCDC28}" srcOrd="0" destOrd="2" presId="urn:microsoft.com/office/officeart/2005/8/layout/target3"/>
    <dgm:cxn modelId="{7D4A7DF4-872E-154D-AE8F-07E2ED4B8CA2}" srcId="{13A3E0E5-FB8F-334C-8FE5-62A44FA30DEC}" destId="{A70A6160-FC13-2848-AED3-12D569DBABD9}" srcOrd="1" destOrd="0" parTransId="{86A8D559-4BE4-F946-82B7-23A4E19B377B}" sibTransId="{6A9AB68E-CE3C-1C46-BF77-B7B1A6791E53}"/>
    <dgm:cxn modelId="{8A0E2ECC-F287-3446-8D89-40787812DADB}" srcId="{183262AA-24DB-9D42-BA49-DFEA9DCEA11E}" destId="{911F3139-331A-9041-947D-2D8029CBE0EE}" srcOrd="1" destOrd="0" parTransId="{E2DAEE02-3EF1-D541-9387-EEF1F08CEED9}" sibTransId="{9EE2FA17-EDB9-C341-B441-2C1ABF5FF487}"/>
    <dgm:cxn modelId="{09C36F58-3CAE-4AC7-8870-D98C5B85F962}" type="presOf" srcId="{78BBE99E-AE62-174F-8840-FE9100F0377A}" destId="{51514997-96B0-7948-A8A1-B4F21AD740E0}" srcOrd="0" destOrd="0" presId="urn:microsoft.com/office/officeart/2005/8/layout/target3"/>
    <dgm:cxn modelId="{0BFF8328-C89A-4889-A318-D6220CB2A28D}" type="presOf" srcId="{50457B50-2595-E94F-993C-E177E314EAD1}" destId="{C5B53DDF-528D-9E4D-BA41-F8C8C0867C49}" srcOrd="0" destOrd="0" presId="urn:microsoft.com/office/officeart/2005/8/layout/target3"/>
    <dgm:cxn modelId="{94072EC7-9F3C-452F-A52F-4FA691844178}" type="presOf" srcId="{183262AA-24DB-9D42-BA49-DFEA9DCEA11E}" destId="{E2A66267-F3CA-834C-8E92-73974C118495}" srcOrd="0" destOrd="0" presId="urn:microsoft.com/office/officeart/2005/8/layout/target3"/>
    <dgm:cxn modelId="{B09D0AD7-0652-4AAA-840C-91ACFB90AFCF}" type="presOf" srcId="{EA19E746-087D-5747-BD84-D0BDB4D1B743}" destId="{653CC4B6-86EE-DA43-B711-756C2A688905}" srcOrd="0" destOrd="0" presId="urn:microsoft.com/office/officeart/2005/8/layout/target3"/>
    <dgm:cxn modelId="{5065AF57-FF79-47D5-913B-9C03A79462BB}" type="presOf" srcId="{EA19E746-087D-5747-BD84-D0BDB4D1B743}" destId="{1AB44C3C-2B6E-7B4A-B079-9E44E58D790F}" srcOrd="1" destOrd="0" presId="urn:microsoft.com/office/officeart/2005/8/layout/target3"/>
    <dgm:cxn modelId="{AD7BABA1-4198-476E-A2DE-459769F3F2BD}" type="presOf" srcId="{D421B331-5FF1-894D-BC17-510CC556518C}" destId="{9F67836C-3F36-8843-BBCE-92D425CCDC28}" srcOrd="0" destOrd="0" presId="urn:microsoft.com/office/officeart/2005/8/layout/target3"/>
    <dgm:cxn modelId="{5F51F831-862D-4043-A776-624379C0C2A5}" type="presOf" srcId="{13A3E0E5-FB8F-334C-8FE5-62A44FA30DEC}" destId="{6D8D805C-8E27-5546-979C-2760A25D2E93}" srcOrd="0" destOrd="0" presId="urn:microsoft.com/office/officeart/2005/8/layout/target3"/>
    <dgm:cxn modelId="{A39C2DDB-0E9A-BE4E-B655-8FB6B5CAD655}" srcId="{183262AA-24DB-9D42-BA49-DFEA9DCEA11E}" destId="{9AFCBC0B-96A4-474E-96E6-E21053505CD4}" srcOrd="2" destOrd="0" parTransId="{5BAE50B4-1F31-1144-B548-966D89249933}" sibTransId="{6D51E86B-54A7-D045-A8BA-7ADC2CFEFEEE}"/>
    <dgm:cxn modelId="{583FB138-40CE-864F-A1A2-B3C03CD737BB}" srcId="{13A3E0E5-FB8F-334C-8FE5-62A44FA30DEC}" destId="{50457B50-2595-E94F-993C-E177E314EAD1}" srcOrd="3" destOrd="0" parTransId="{91CC0228-9A2F-C44A-B1D9-A5008F223FA6}" sibTransId="{703DCEC5-BE7B-B844-A88E-646907E8DD42}"/>
    <dgm:cxn modelId="{3E8CA156-962D-4EE9-9892-4B5675229456}" type="presOf" srcId="{183262AA-24DB-9D42-BA49-DFEA9DCEA11E}" destId="{9DBFECD6-8A3D-8547-8DAB-53D12B7D2327}" srcOrd="1" destOrd="0" presId="urn:microsoft.com/office/officeart/2005/8/layout/target3"/>
    <dgm:cxn modelId="{C96B6C18-59CC-6C4C-B7AE-C3814D3EEC58}" srcId="{13A3E0E5-FB8F-334C-8FE5-62A44FA30DEC}" destId="{EA19E746-087D-5747-BD84-D0BDB4D1B743}" srcOrd="2" destOrd="0" parTransId="{509BE407-9AF8-1F4F-BE0E-66AD5658203E}" sibTransId="{625E866C-E9D2-A148-8FDD-3BE0CFDA96B9}"/>
    <dgm:cxn modelId="{C4C79A9E-E948-D343-AD5A-A2169147BC37}" srcId="{183262AA-24DB-9D42-BA49-DFEA9DCEA11E}" destId="{D421B331-5FF1-894D-BC17-510CC556518C}" srcOrd="0" destOrd="0" parTransId="{F08812C2-D4C2-1D44-B7C3-919E1DF10143}" sibTransId="{B998553F-C21F-A245-90B3-D8A962712F85}"/>
    <dgm:cxn modelId="{12C01CDA-3F30-2B4D-9420-9374A4913455}" srcId="{EA19E746-087D-5747-BD84-D0BDB4D1B743}" destId="{AFBFAF41-3241-B94E-B5EC-BF583F9BE04B}" srcOrd="1" destOrd="0" parTransId="{B6CC9165-E2A8-DF47-B63D-A92650E204E0}" sibTransId="{22DD4469-73CD-B949-9383-4B96151B199A}"/>
    <dgm:cxn modelId="{E3D02617-B661-984E-A8FD-78837F464085}" srcId="{EA19E746-087D-5747-BD84-D0BDB4D1B743}" destId="{78BBE99E-AE62-174F-8840-FE9100F0377A}" srcOrd="0" destOrd="0" parTransId="{A0D81AF6-D6D6-2E44-B9F4-0468DEA92C8D}" sibTransId="{7767C167-0AE8-0445-BD5F-1A9B7BB8BEC2}"/>
    <dgm:cxn modelId="{E905E468-653D-4CFF-BA68-1473C8A3D4A3}" type="presOf" srcId="{AFBFAF41-3241-B94E-B5EC-BF583F9BE04B}" destId="{51514997-96B0-7948-A8A1-B4F21AD740E0}" srcOrd="0" destOrd="1" presId="urn:microsoft.com/office/officeart/2005/8/layout/target3"/>
    <dgm:cxn modelId="{283891F5-2BC6-45DA-80BE-8F10036967E6}" type="presOf" srcId="{50457B50-2595-E94F-993C-E177E314EAD1}" destId="{7DB2C070-D570-C24E-B8EC-576E04E7C5D5}" srcOrd="1" destOrd="0" presId="urn:microsoft.com/office/officeart/2005/8/layout/target3"/>
    <dgm:cxn modelId="{34E7FA73-FE0E-4B08-9621-D1FC76790874}" type="presOf" srcId="{A70A6160-FC13-2848-AED3-12D569DBABD9}" destId="{878DAEEC-84D0-1944-9838-89F9AF5AF114}" srcOrd="0" destOrd="0" presId="urn:microsoft.com/office/officeart/2005/8/layout/target3"/>
    <dgm:cxn modelId="{9116B931-5AFB-41BD-AE8D-70C16A235144}" type="presOf" srcId="{911F3139-331A-9041-947D-2D8029CBE0EE}" destId="{9F67836C-3F36-8843-BBCE-92D425CCDC28}" srcOrd="0" destOrd="1" presId="urn:microsoft.com/office/officeart/2005/8/layout/target3"/>
    <dgm:cxn modelId="{F5154860-34BF-4C7E-9DEB-73D4C4E49B6C}" type="presParOf" srcId="{6D8D805C-8E27-5546-979C-2760A25D2E93}" destId="{25DB6DD2-519E-7446-8772-54D198A49389}" srcOrd="0" destOrd="0" presId="urn:microsoft.com/office/officeart/2005/8/layout/target3"/>
    <dgm:cxn modelId="{FD935CD8-A291-49A8-BD09-0452A841FEB4}" type="presParOf" srcId="{6D8D805C-8E27-5546-979C-2760A25D2E93}" destId="{56542A31-4B1D-9F45-8815-EDDE66040362}" srcOrd="1" destOrd="0" presId="urn:microsoft.com/office/officeart/2005/8/layout/target3"/>
    <dgm:cxn modelId="{D4E25E77-4B32-45DB-B15B-7793A4B1D1CA}" type="presParOf" srcId="{6D8D805C-8E27-5546-979C-2760A25D2E93}" destId="{E2A66267-F3CA-834C-8E92-73974C118495}" srcOrd="2" destOrd="0" presId="urn:microsoft.com/office/officeart/2005/8/layout/target3"/>
    <dgm:cxn modelId="{E1A84577-64E2-4934-89A5-C81FD271F2CB}" type="presParOf" srcId="{6D8D805C-8E27-5546-979C-2760A25D2E93}" destId="{0A4D27A1-7560-5740-BE3A-A4E5BD4614A0}" srcOrd="3" destOrd="0" presId="urn:microsoft.com/office/officeart/2005/8/layout/target3"/>
    <dgm:cxn modelId="{D44352C8-9A7C-41D6-884E-D1EAA060C667}" type="presParOf" srcId="{6D8D805C-8E27-5546-979C-2760A25D2E93}" destId="{0C739B3D-50AE-C948-B1FB-A51F669FD8C3}" srcOrd="4" destOrd="0" presId="urn:microsoft.com/office/officeart/2005/8/layout/target3"/>
    <dgm:cxn modelId="{9B16A938-8837-4D51-9FE2-4459A1DB2972}" type="presParOf" srcId="{6D8D805C-8E27-5546-979C-2760A25D2E93}" destId="{878DAEEC-84D0-1944-9838-89F9AF5AF114}" srcOrd="5" destOrd="0" presId="urn:microsoft.com/office/officeart/2005/8/layout/target3"/>
    <dgm:cxn modelId="{5FADF203-2270-4B74-89AB-8A0573D1FB21}" type="presParOf" srcId="{6D8D805C-8E27-5546-979C-2760A25D2E93}" destId="{4BBC67E4-19A9-A948-A2C9-4DFBC2C7C256}" srcOrd="6" destOrd="0" presId="urn:microsoft.com/office/officeart/2005/8/layout/target3"/>
    <dgm:cxn modelId="{7D91CCC9-EC8E-4D70-84F4-C3957307A167}" type="presParOf" srcId="{6D8D805C-8E27-5546-979C-2760A25D2E93}" destId="{7D370A6D-C41B-1044-8DE0-4F85455A5416}" srcOrd="7" destOrd="0" presId="urn:microsoft.com/office/officeart/2005/8/layout/target3"/>
    <dgm:cxn modelId="{997DA008-3838-47BC-B220-4DBAFD1DB54D}" type="presParOf" srcId="{6D8D805C-8E27-5546-979C-2760A25D2E93}" destId="{653CC4B6-86EE-DA43-B711-756C2A688905}" srcOrd="8" destOrd="0" presId="urn:microsoft.com/office/officeart/2005/8/layout/target3"/>
    <dgm:cxn modelId="{F4CE7D13-EA13-4461-B3E8-968B02FCD8E1}" type="presParOf" srcId="{6D8D805C-8E27-5546-979C-2760A25D2E93}" destId="{696C117B-0E32-BE4E-9874-CF9A36F4D455}" srcOrd="9" destOrd="0" presId="urn:microsoft.com/office/officeart/2005/8/layout/target3"/>
    <dgm:cxn modelId="{1CB73E3D-2533-4C8B-80BA-D21AB929EC25}" type="presParOf" srcId="{6D8D805C-8E27-5546-979C-2760A25D2E93}" destId="{6AE7970F-AF50-6847-84A4-AC3F27104EDB}" srcOrd="10" destOrd="0" presId="urn:microsoft.com/office/officeart/2005/8/layout/target3"/>
    <dgm:cxn modelId="{90189D6C-4901-4930-924F-DB4CE3BE90E9}" type="presParOf" srcId="{6D8D805C-8E27-5546-979C-2760A25D2E93}" destId="{C5B53DDF-528D-9E4D-BA41-F8C8C0867C49}" srcOrd="11" destOrd="0" presId="urn:microsoft.com/office/officeart/2005/8/layout/target3"/>
    <dgm:cxn modelId="{D222533E-B46C-449F-923F-C508B6CB410D}" type="presParOf" srcId="{6D8D805C-8E27-5546-979C-2760A25D2E93}" destId="{9DBFECD6-8A3D-8547-8DAB-53D12B7D2327}" srcOrd="12" destOrd="0" presId="urn:microsoft.com/office/officeart/2005/8/layout/target3"/>
    <dgm:cxn modelId="{340738FC-00D0-4F09-B99F-AC4BDC156083}" type="presParOf" srcId="{6D8D805C-8E27-5546-979C-2760A25D2E93}" destId="{9F67836C-3F36-8843-BBCE-92D425CCDC28}" srcOrd="13" destOrd="0" presId="urn:microsoft.com/office/officeart/2005/8/layout/target3"/>
    <dgm:cxn modelId="{CCE0EE72-3691-4D2A-96C3-32484C05EC39}" type="presParOf" srcId="{6D8D805C-8E27-5546-979C-2760A25D2E93}" destId="{0D15B29A-FC1E-424A-9747-0E0CC8A6C14B}" srcOrd="14" destOrd="0" presId="urn:microsoft.com/office/officeart/2005/8/layout/target3"/>
    <dgm:cxn modelId="{88628C2F-DAD9-42EF-840D-79DC69771984}" type="presParOf" srcId="{6D8D805C-8E27-5546-979C-2760A25D2E93}" destId="{DEF3D320-B9E4-D14E-B4C6-590BF47411BC}" srcOrd="15" destOrd="0" presId="urn:microsoft.com/office/officeart/2005/8/layout/target3"/>
    <dgm:cxn modelId="{F9EEBA17-AA6D-4657-9299-6C9FF013A5A3}" type="presParOf" srcId="{6D8D805C-8E27-5546-979C-2760A25D2E93}" destId="{1AB44C3C-2B6E-7B4A-B079-9E44E58D790F}" srcOrd="16" destOrd="0" presId="urn:microsoft.com/office/officeart/2005/8/layout/target3"/>
    <dgm:cxn modelId="{C3E7DAA5-C803-4561-9755-4793B63DCD44}" type="presParOf" srcId="{6D8D805C-8E27-5546-979C-2760A25D2E93}" destId="{51514997-96B0-7948-A8A1-B4F21AD740E0}" srcOrd="17" destOrd="0" presId="urn:microsoft.com/office/officeart/2005/8/layout/target3"/>
    <dgm:cxn modelId="{239E7626-7785-4EA7-8B34-0DBF15365309}" type="presParOf" srcId="{6D8D805C-8E27-5546-979C-2760A25D2E93}" destId="{7DB2C070-D570-C24E-B8EC-576E04E7C5D5}" srcOrd="18" destOrd="0" presId="urn:microsoft.com/office/officeart/2005/8/layout/target3"/>
    <dgm:cxn modelId="{4378680B-EFB9-4207-954D-D89E007651A4}" type="presParOf" srcId="{6D8D805C-8E27-5546-979C-2760A25D2E93}" destId="{5C1F3FBC-96BA-9F4F-9EA1-DAE7432D5E3C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B6DD2-519E-7446-8772-54D198A49389}">
      <dsp:nvSpPr>
        <dsp:cNvPr id="0" name=""/>
        <dsp:cNvSpPr/>
      </dsp:nvSpPr>
      <dsp:spPr>
        <a:xfrm>
          <a:off x="0" y="0"/>
          <a:ext cx="4830762" cy="4830762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A66267-F3CA-834C-8E92-73974C118495}">
      <dsp:nvSpPr>
        <dsp:cNvPr id="0" name=""/>
        <dsp:cNvSpPr/>
      </dsp:nvSpPr>
      <dsp:spPr>
        <a:xfrm>
          <a:off x="2415381" y="0"/>
          <a:ext cx="6119018" cy="48307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There are several alternative conventions used to represent negative as well as positive integers</a:t>
          </a:r>
          <a:endParaRPr lang="en-US" sz="1500" kern="1200" dirty="0"/>
        </a:p>
      </dsp:txBody>
      <dsp:txXfrm>
        <a:off x="2415381" y="0"/>
        <a:ext cx="3059509" cy="1026537"/>
      </dsp:txXfrm>
    </dsp:sp>
    <dsp:sp modelId="{0C739B3D-50AE-C948-B1FB-A51F669FD8C3}">
      <dsp:nvSpPr>
        <dsp:cNvPr id="0" name=""/>
        <dsp:cNvSpPr/>
      </dsp:nvSpPr>
      <dsp:spPr>
        <a:xfrm>
          <a:off x="634037" y="1026537"/>
          <a:ext cx="3562687" cy="3562687"/>
        </a:xfrm>
        <a:prstGeom prst="pie">
          <a:avLst>
            <a:gd name="adj1" fmla="val 5400000"/>
            <a:gd name="adj2" fmla="val 16200000"/>
          </a:avLst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8DAEEC-84D0-1944-9838-89F9AF5AF114}">
      <dsp:nvSpPr>
        <dsp:cNvPr id="0" name=""/>
        <dsp:cNvSpPr/>
      </dsp:nvSpPr>
      <dsp:spPr>
        <a:xfrm>
          <a:off x="2415381" y="1026537"/>
          <a:ext cx="6119018" cy="35626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Sign-magnitude representation is the simplest form that employs a sign bit</a:t>
          </a:r>
          <a:endParaRPr lang="en-US" sz="1500" kern="1200" dirty="0"/>
        </a:p>
      </dsp:txBody>
      <dsp:txXfrm>
        <a:off x="2415381" y="1026537"/>
        <a:ext cx="3059509" cy="1026537"/>
      </dsp:txXfrm>
    </dsp:sp>
    <dsp:sp modelId="{7D370A6D-C41B-1044-8DE0-4F85455A5416}">
      <dsp:nvSpPr>
        <dsp:cNvPr id="0" name=""/>
        <dsp:cNvSpPr/>
      </dsp:nvSpPr>
      <dsp:spPr>
        <a:xfrm>
          <a:off x="1268075" y="2053074"/>
          <a:ext cx="2294612" cy="2294612"/>
        </a:xfrm>
        <a:prstGeom prst="pie">
          <a:avLst>
            <a:gd name="adj1" fmla="val 5400000"/>
            <a:gd name="adj2" fmla="val 1620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3CC4B6-86EE-DA43-B711-756C2A688905}">
      <dsp:nvSpPr>
        <dsp:cNvPr id="0" name=""/>
        <dsp:cNvSpPr/>
      </dsp:nvSpPr>
      <dsp:spPr>
        <a:xfrm>
          <a:off x="2415381" y="2053074"/>
          <a:ext cx="6119018" cy="22946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Drawbacks:</a:t>
          </a:r>
          <a:endParaRPr lang="en-US" sz="1500" kern="1200" dirty="0"/>
        </a:p>
      </dsp:txBody>
      <dsp:txXfrm>
        <a:off x="2415381" y="2053074"/>
        <a:ext cx="3059509" cy="1026537"/>
      </dsp:txXfrm>
    </dsp:sp>
    <dsp:sp modelId="{6AE7970F-AF50-6847-84A4-AC3F27104EDB}">
      <dsp:nvSpPr>
        <dsp:cNvPr id="0" name=""/>
        <dsp:cNvSpPr/>
      </dsp:nvSpPr>
      <dsp:spPr>
        <a:xfrm>
          <a:off x="1902112" y="3079611"/>
          <a:ext cx="1026537" cy="1026537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B53DDF-528D-9E4D-BA41-F8C8C0867C49}">
      <dsp:nvSpPr>
        <dsp:cNvPr id="0" name=""/>
        <dsp:cNvSpPr/>
      </dsp:nvSpPr>
      <dsp:spPr>
        <a:xfrm>
          <a:off x="2415381" y="3079611"/>
          <a:ext cx="6119018" cy="10265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Because of these drawbacks, sign-magnitude representation is rarely used in implementing the integer portion of the ALU</a:t>
          </a:r>
          <a:endParaRPr lang="en-US" sz="1500" kern="1200" dirty="0"/>
        </a:p>
      </dsp:txBody>
      <dsp:txXfrm>
        <a:off x="2415381" y="3079611"/>
        <a:ext cx="3059509" cy="1026537"/>
      </dsp:txXfrm>
    </dsp:sp>
    <dsp:sp modelId="{9F67836C-3F36-8843-BBCE-92D425CCDC28}">
      <dsp:nvSpPr>
        <dsp:cNvPr id="0" name=""/>
        <dsp:cNvSpPr/>
      </dsp:nvSpPr>
      <dsp:spPr>
        <a:xfrm>
          <a:off x="5474890" y="0"/>
          <a:ext cx="3059509" cy="1026537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All of these alternatives involve treating the most significant (leftmost) bit in the word as a sign bit</a:t>
          </a:r>
          <a:endParaRPr lang="en-US" sz="1100" kern="120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If the sign bit is 0 the number is positive</a:t>
          </a:r>
          <a:endParaRPr lang="en-US" sz="1100" kern="120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If the sign bit is 1 the number is negative</a:t>
          </a:r>
          <a:endParaRPr lang="en-US" sz="1100" kern="1200" dirty="0"/>
        </a:p>
      </dsp:txBody>
      <dsp:txXfrm>
        <a:off x="5474890" y="0"/>
        <a:ext cx="3059509" cy="1026537"/>
      </dsp:txXfrm>
    </dsp:sp>
    <dsp:sp modelId="{51514997-96B0-7948-A8A1-B4F21AD740E0}">
      <dsp:nvSpPr>
        <dsp:cNvPr id="0" name=""/>
        <dsp:cNvSpPr/>
      </dsp:nvSpPr>
      <dsp:spPr>
        <a:xfrm>
          <a:off x="5474890" y="2053074"/>
          <a:ext cx="3059509" cy="1026537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Addition and subtraction require a consideration of both the signs of the numbers and their relative magnitudes to carry out the required operation</a:t>
          </a:r>
          <a:endParaRPr lang="en-US" sz="1100" kern="120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There are two representations of 0</a:t>
          </a:r>
          <a:endParaRPr lang="en-US" sz="1100" kern="1200" dirty="0"/>
        </a:p>
      </dsp:txBody>
      <dsp:txXfrm>
        <a:off x="5474890" y="2053074"/>
        <a:ext cx="3059509" cy="10265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A63070-95B0-C841-848B-70D96460402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3639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1D245E4-CB43-F844-B5DA-3C7BAF45101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1845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begin our examination of the processor with an overview of the arithmetic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 unit (ALU). The chapter then focuses on the most complex aspect of the ALU,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computer arithmetic. The logic functions that are part of the ALU are described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Chapter 12, and implementations of simple logic and arithmetic functions in digital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 are described in Chapter 11.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Computer arithmetic is commonly performed on two very different types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numbers: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integer and floating point. In both cases, the representation chosen is a crucial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design issue and is treated first, followed by a discussion of arithmetic operations.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chapter includes a number of examples, each of which is highlighted 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shaded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54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5C514E-DDFD-0E4A-B3F8-829B0E7F37A1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ALU is that part of the computer that actually performs arithmetic and logical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operations on data. All of the other elements of the computer system—control unit,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registers, memory, I/O—are there mainly to bring data into the ALU for it to process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then to take the results back out. We have, in a sense, reached the core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essence of a computer when we consider the ALU.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ALU and, indeed, all electronic components in the computer are based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 of simple digital logic devices that can store binary digits and perform simple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Boolean logic operations.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42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051D3E-919C-AB48-B297-5EAA28E5280B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10.1 indicates, in general terms, how the ALU is interconnected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rest of the processor. Operands for arithmetic and logic operations are presented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ALU in registers, and the results of an operation are stored in registers.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registers are temporary storage locations within the processor that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connected by signal paths to the ALU (e.g., see Figure 2.3). The ALU may also set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flags as the result of an operation. For example, an overflow flag is set to 1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result of a computation exceeds the length of the register into which it is to be stored.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flag values are also stored in registers within the processor.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provides signals that control the operation of the ALU and the movement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into and out of the ALU.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594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2521C9-180F-994B-8A62-96D4CD2B6058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binary number system, arbitrary numbers can be represented with just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digits zero and one, the minus sign (for negative numbers), and the period, or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radix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point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(for numbers with a fractional component).</a:t>
            </a:r>
            <a:endParaRPr lang="en-GB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GB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purposes of computer storage and processing, however, we do not have the benefit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special symbols for the minus sign and radix point. Only binary digits (0 and 1)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may be used to represent numbers. If we are limited to nonnegative integers,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representation is straightforward.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688538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F448AC-8E1C-CC4C-BFB1-A0EEFAD70676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are several alternative conventions used to represent negative as well as positive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integers, all of which involve treating the most significant (leftmost) bit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word as a sign bit. If the sign bit is 0, the number is positive; if the sign bit is 1,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number is negative.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simplest form of representation that employs a sign bit is the sign-magnitude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representation. In an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 word, the rightmost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- 1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bits hold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magnitude of the integer.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are several drawbacks to sign-magnitude representation. One is that addition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subtraction require a consideration of both the signs of the numbers and their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relative magnitudes to carry out the required operation. This should become clear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discussion in Section 10.3. Another drawback is that there are two representations of 0: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is inconvenient because it is slightly more difficult to test for 0 (an operation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performed frequently on computers) than if there were a single representation.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of these drawbacks, sign-magnitude representation is rarely used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implementing the integer portion of the ALU. Instead, the most common scheme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twos complement representation.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3066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F9729C-03CD-2E45-8373-3BD9AF5F8DE3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Like sign magnitude, twos complement representation uses the most significant 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a sign bit, making it easy to test whether an integer is positive or negative.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differs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the use of the sign-magnitude representation in the way that the 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bits are interpreted. Table 10.1 highlights key characteristics of twos complement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representation and arithmetic, which are elaborated in this section and the next.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Most treatments of twos complement representation focus on the rules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producing negative numbers, with no formal proof that the scheme is valid. Instead,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our presentation of twos complement integers in this section and in Section 10.3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based on [DATT93], which suggests that twos complement representation is best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understood by defining it in terms of a weighted sum of bits, as we did previously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unsigned and sign-magnitude representations. The advantage of this treatment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that it does not leave any lingering doubt that the rules for arithmetic operations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twos complement notation may not work for some special cases.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689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1E1A0C-4E0F-204B-ABAE-B535A498F255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sometimes desirable to take an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n-bit integer and store it in m bits, where m 7 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expansion of bit length is referred to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range extension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because the range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numbers that can be expressed is extended by increasing the bit length.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sign-magnitude notation, this is easily accomplished: simply move the sign 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new leftmost position and fill in with zeros.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procedure will not work for twos complement negative integers.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Instead, the rule for twos complement integers is to move the sign bit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new leftmost position and fill in with copies of the sign bit. For positive numbers, fill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with zeros, and for negative numbers, fill in with ones. This is called sign extension.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4094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1322CD-B268-9C4D-A0E6-532DCE695FA9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sign-magnitude representation, the rule for forming the negation of an integer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simple: invert the sign bit. In twos complement notation, the negation of an integer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formed with the following rules: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Take the Boolean complement of each bit of the integer (including the sign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bit). That is, set each 1 to 0 and each 0 to 1.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Treating the result as an unsigned binary integer, add 1.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two-step process is referred to as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twos complement operation,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the taking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twos complement of an integer.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expected, the negative of the negative of that number is itself: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444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Addition in twos complement is illustrated in Figure 10.3. Addition proceeds as if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two numbers were unsigned integers. The first four examples illustrate successful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operations. If the result of the operation is positive, we get a positive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twos complement form, which is the same as in unsigned-integer form.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result of the operation is negative, we get a negative number in twos complement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form. Note that, in some instances, there is a carry bit beyond the end of the word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(indicated by shading), which is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E27EA-A634-9140-BAF9-5BB17D98E52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527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any addition, the result may be larger than can be held in the word size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being used. This condition is called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overflow.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overflow occurs, the ALU must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signal this fact so that no attempt is made to use the result.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Figures 10.3e and f show examples of overflow. Note that overflow can occur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whether or not there is a carry.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E27EA-A634-9140-BAF9-5BB17D98E52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403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Subtraction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E27EA-A634-9140-BAF9-5BB17D98E52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65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Thus, subtraction is achieved using addition, as illustrated in Figure 10.4.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last two examples demonstrate that the overflow rule still applies.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E27EA-A634-9140-BAF9-5BB17D98E52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13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DB81AD-687E-184A-BB1E-1687D0D8A52A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Compared with addition and subtraction, multiplication is a complex operation,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whether performed in hardware or software. A wide variety of algorithms have been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used in various computers. The purpose of this subsection is to give the reader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feel for the type of approach typically taken. We begin with the simpler problem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multiplying two unsigned (nonnegative) integers, and then we look at one of the most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common techniques for multiplication of numbers in twos complement representation.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10.7 illustrates the multiplication of unsigned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binary integers, as might be carried out using paper and pencil. Several important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observations can be made: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Multiplication involves the generation of partial products, one for each digit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multiplier. These partial products are then summed to produce the final product.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The partial products are easily defined. When the multiplier bit is 0, the partial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product is 0. When the multiplier is 1, the partial product is the multiplicand.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The total product is produced by summing the partial products. For this operation,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successive partial product is shifted one position to the left relative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preceding partial product.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4. The multiplication of two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n-bit binary integers results in a product of up to 2n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bits in length (e.g., 11 * 11 = 1001).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Compared with the pencil-and-paper approach, there are several things we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 to make computerized multiplication more efficient. First, we can perform a running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addition on the partial products rather than waiting until the end. This eliminates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need for storage of all the partial products; fewer registers are needed. Second,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can save some time on the generation of partial products. For each 1 on the multiplier,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add and a shift operation are required; but for each 0, only a shift is required.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4071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1FF392-6089-A84C-8297-209AC25DB4DF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operation of the multiplier is as follows. Control logic reads the bits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multiplier one at a time. If Q</a:t>
            </a:r>
            <a:r>
              <a:rPr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0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is 1, then the multiplicand is added to the A register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result is stored in the A register, with the C bit used for overflow. Then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bits of the C, A, and Q registers are shifted to the right one bit, so that the 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 goes into A</a:t>
            </a:r>
            <a:r>
              <a:rPr lang="en-US" sz="1200" i="1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n-1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A</a:t>
            </a:r>
            <a:r>
              <a:rPr lang="en-US" sz="1200" i="1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0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goes into Q</a:t>
            </a:r>
            <a:r>
              <a:rPr lang="en-US" sz="1200" i="1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n-1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Q</a:t>
            </a:r>
            <a:r>
              <a:rPr lang="en-US" sz="1200" i="1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0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is lost. If Q</a:t>
            </a:r>
            <a:r>
              <a:rPr lang="en-US" sz="1200" i="1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0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is 0, then no addition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performed, just the shift. This process is repeated for each bit of the original multiplier.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resulting 2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 product is contained in the A and Q registers. A flowchart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operation is shown in Figure 10.9, and an example is given in Figure 10.8b.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Note that on the second cycle, when the multiplier bit is 0, there is no add operation.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5581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BBEAF7-98B9-424D-8C84-5485C427F3FF}" type="slidenum">
              <a:rPr lang="en-US"/>
              <a:pPr/>
              <a:t>18</a:t>
            </a:fld>
            <a:endParaRPr lang="en-US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Booth’s algorithm is depicted in Figure 10.12 and can be described as follows.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before, the multiplier and multiplicand are placed in the Q and M registers,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respectively. There is also a 1-bit register placed logically to the right of the least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significant bit (Q</a:t>
            </a:r>
            <a:r>
              <a:rPr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0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) of the Q register and </a:t>
            </a:r>
            <a:r>
              <a:rPr lang="en-US" sz="80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designated Q</a:t>
            </a:r>
            <a:r>
              <a:rPr lang="en-US" sz="80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-1</a:t>
            </a:r>
            <a:r>
              <a:rPr lang="en-US" sz="80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its use is explained 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shortly.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results of the multiplication will appear in the A and Q registers. A and Q</a:t>
            </a:r>
            <a:r>
              <a:rPr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-1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initialized to 0. As before, control logic scans the bits of the multiplier one at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time. Now, as each bit is examined, the bit to its right is also examined. If the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bits are the same (1–1 or 0–0), then all of the bits of the A, Q, and Q</a:t>
            </a:r>
            <a:r>
              <a:rPr lang="en-US" sz="1200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-1 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registers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shifted to the right 1 bit. If the two bits differ, then the multiplicand is added to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subtracted from the A register, depending on whether the two bits are 0–1 or 1–0.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Following the addition or subtraction, the right shift occurs. In either case, the right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shift is such that the leftmost bit of A, namely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A</a:t>
            </a:r>
            <a:r>
              <a:rPr lang="en-US" sz="1200" i="1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n-1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only is shifted into A</a:t>
            </a:r>
            <a:r>
              <a:rPr lang="en-US" sz="1200" i="1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n-2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also remains in A</a:t>
            </a:r>
            <a:r>
              <a:rPr lang="en-US" sz="1200" i="1" kern="1200" baseline="-25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n-1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is required to preserve the sign of the number 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Q. It is known as an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arithmetic shift,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it preserves the sign bit.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05208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E6C34B1-B3C4-45E2-9A8C-D7517FBE54BD}" type="slidenum">
              <a:rPr lang="en-US" altLang="en-US" sz="1200" smtClean="0"/>
              <a:pPr/>
              <a:t>20</a:t>
            </a:fld>
            <a:endParaRPr lang="en-US" altLang="en-US" sz="120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807783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ECDA33-A84D-B442-90D7-954600C6F1E4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Division is somewhat more complex than multiplication but is based on the same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general principles. As before, the basis for the algorithm is the paper-and-pencil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approach, and the operation involves repetitive shifting and addition or subtraction.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10.15 shows an example of the long division of unsigned binary integers.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instructive to describe the process in detail. First, the bits of the dividend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examined from left to right, until the set of bits examined represents a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greater than or equal to the divisor; this is referred to as the divisor being able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divide the number. Until this event occurs, 0s are placed in the quotient from left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right. When the event occurs, a 1 is placed in the quotient and the divisor is subtracted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the partial dividend. The result is referred to as a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partial remainder.</a:t>
            </a:r>
          </a:p>
          <a:p>
            <a:endParaRPr lang="en-US" sz="1200" i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this point on, the division follows a cyclic pattern. At each cycle, additional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bits from the dividend are appended to the partial remainder until the result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greater than or equal to the divisor. As before, the divisor is subtracted from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number to produce a new partial remainder. The process continues until all the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dividend are exhausted.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9158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10.16 shows a machine algorithm that corresponds to the long division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E27EA-A634-9140-BAF9-5BB17D98E520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679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8/31/2018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8/31/2018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8/31/2018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8/31/2018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8/31/2018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8/31/2018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8/31/2018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8/31/2018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8/31/2018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8/31/2018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8/31/2018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8/31/2018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8/31/2018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8/31/2018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8/31/2018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8/31/2018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8/31/2018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8/31/2018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8/31/2018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8/31/2018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71878" y="1924237"/>
            <a:ext cx="6191157" cy="833718"/>
          </a:xfrm>
        </p:spPr>
        <p:txBody>
          <a:bodyPr>
            <a:noAutofit/>
          </a:bodyPr>
          <a:lstStyle/>
          <a:p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>
          <a:xfrm>
            <a:off x="107504" y="3167811"/>
            <a:ext cx="8610600" cy="83820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Computer Arithmetic</a:t>
            </a:r>
            <a:endParaRPr lang="en-US" sz="4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96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572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Arithmetic &amp; Logic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(ALU)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Part of the computer that actually performs arithmetic and logical operations on data</a:t>
            </a:r>
          </a:p>
          <a:p>
            <a:r>
              <a:rPr lang="en-US" dirty="0" smtClean="0"/>
              <a:t>All of the other elements of the computer system are there mainly to bring data into the ALU for it to process and then to take the results back out</a:t>
            </a:r>
          </a:p>
          <a:p>
            <a:r>
              <a:rPr lang="en-US" dirty="0" smtClean="0"/>
              <a:t>Based on the use of simple digital logic devices that can store binary digits and perform simple Boolean logic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1467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7556500" cy="111601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ALU Inputs and Outputs</a:t>
            </a:r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25455" b="24545"/>
              <a:stretch>
                <a:fillRect/>
              </a:stretch>
            </p:blipFill>
          </mc:Choice>
          <mc:Fallback>
            <p:blipFill>
              <a:blip r:embed="rId4"/>
              <a:srcRect t="25455" b="24545"/>
              <a:stretch>
                <a:fillRect/>
              </a:stretch>
            </p:blipFill>
          </mc:Fallback>
        </mc:AlternateContent>
        <p:spPr>
          <a:xfrm>
            <a:off x="-79876" y="889786"/>
            <a:ext cx="9223876" cy="596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25937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Fixed-Point Representation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3" y="1412776"/>
            <a:ext cx="7556313" cy="4144963"/>
          </a:xfrm>
        </p:spPr>
        <p:txBody>
          <a:bodyPr/>
          <a:lstStyle/>
          <a:p>
            <a:pPr lvl="0"/>
            <a:r>
              <a:rPr lang="en-US" dirty="0"/>
              <a:t>The radix point (binary point) is fixed and assumed to be to the right of the rightmost </a:t>
            </a:r>
            <a:r>
              <a:rPr lang="en-US" dirty="0" smtClean="0"/>
              <a:t>digit.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004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Representation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828800"/>
            <a:ext cx="7556313" cy="4297363"/>
          </a:xfrm>
        </p:spPr>
        <p:txBody>
          <a:bodyPr/>
          <a:lstStyle/>
          <a:p>
            <a:r>
              <a:rPr lang="en-US" dirty="0" smtClean="0"/>
              <a:t>In the binary number system arbitrary numbers can be represented with: </a:t>
            </a:r>
          </a:p>
          <a:p>
            <a:pPr lvl="1"/>
            <a:r>
              <a:rPr lang="en-US" dirty="0" smtClean="0"/>
              <a:t>The digits zero and one</a:t>
            </a:r>
          </a:p>
          <a:p>
            <a:pPr lvl="1"/>
            <a:r>
              <a:rPr lang="en-US" dirty="0" smtClean="0"/>
              <a:t>The minus sign (for negative numbers)</a:t>
            </a:r>
          </a:p>
          <a:p>
            <a:pPr lvl="1"/>
            <a:r>
              <a:rPr lang="en-US" dirty="0" smtClean="0"/>
              <a:t>The period, or </a:t>
            </a:r>
            <a:r>
              <a:rPr lang="en-US" b="1" i="1" dirty="0" smtClean="0"/>
              <a:t>radix point </a:t>
            </a:r>
            <a:r>
              <a:rPr lang="en-US" dirty="0" smtClean="0"/>
              <a:t>(for numbers with a fractional component)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For purposes of computer storage and processing we do not have the benefit of special symbols for the minus sign and radix point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Only binary digits (0,1) may be used to represent numbers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1292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7556500" cy="111601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Sign-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Magnitude Representation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4294967295"/>
          </p:nvPr>
        </p:nvGraphicFramePr>
        <p:xfrm>
          <a:off x="304800" y="1600200"/>
          <a:ext cx="8534400" cy="4830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622119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Twos Complement Representation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600" y="1295400"/>
            <a:ext cx="7696200" cy="1371600"/>
          </a:xfrm>
        </p:spPr>
        <p:txBody>
          <a:bodyPr/>
          <a:lstStyle/>
          <a:p>
            <a:pPr>
              <a:spcBef>
                <a:spcPts val="1400"/>
              </a:spcBef>
            </a:pPr>
            <a:r>
              <a:rPr lang="en-US" dirty="0" smtClean="0"/>
              <a:t>Uses the most significant bit as a sign bit</a:t>
            </a:r>
          </a:p>
          <a:p>
            <a:pPr>
              <a:spcBef>
                <a:spcPts val="1400"/>
              </a:spcBef>
            </a:pPr>
            <a:r>
              <a:rPr lang="en-US" dirty="0" smtClean="0"/>
              <a:t>Differs from sign-magnitude representation in the way that the other bits are interpreted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609600" y="2667000"/>
            <a:ext cx="7770952" cy="3844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6324600"/>
            <a:ext cx="7772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Table 10.1  Characteristics of Twos Complement Representation and Arithmetic</a:t>
            </a:r>
            <a:r>
              <a:rPr lang="en-US" sz="1600" dirty="0" smtClean="0">
                <a:latin typeface="+mn-lt"/>
              </a:rPr>
              <a:t> 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293895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Range Extension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81200"/>
            <a:ext cx="7556313" cy="4495800"/>
          </a:xfrm>
        </p:spPr>
        <p:txBody>
          <a:bodyPr>
            <a:normAutofit/>
          </a:bodyPr>
          <a:lstStyle/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Range of numbers that can be expressed is extended by increasing the bit length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In sign-magnitude notation this is accomplished by moving the sign bit to the new leftmost position and fill in with zeros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This procedure will not work for twos complement negative integers</a:t>
            </a:r>
          </a:p>
          <a:p>
            <a:pPr lvl="1"/>
            <a:r>
              <a:rPr lang="en-US" dirty="0" smtClean="0"/>
              <a:t>Rule is to move the sign bit to the new leftmost position and fill in with copies of the sign bit</a:t>
            </a:r>
          </a:p>
          <a:p>
            <a:pPr lvl="1"/>
            <a:r>
              <a:rPr lang="en-US" dirty="0" smtClean="0"/>
              <a:t>For positive numbers, fill in with zeros, and for negative numbers, fill in with ones</a:t>
            </a:r>
          </a:p>
          <a:p>
            <a:pPr lvl="1"/>
            <a:r>
              <a:rPr lang="en-US" dirty="0" smtClean="0"/>
              <a:t>This is called </a:t>
            </a:r>
            <a:r>
              <a:rPr lang="en-US" i="1" dirty="0" smtClean="0"/>
              <a:t>sign extension</a:t>
            </a:r>
            <a:endParaRPr lang="en-US" dirty="0" smtClean="0"/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607913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752600"/>
            <a:ext cx="7556313" cy="4800600"/>
          </a:xfrm>
        </p:spPr>
        <p:txBody>
          <a:bodyPr/>
          <a:lstStyle/>
          <a:p>
            <a:r>
              <a:rPr lang="en-US" dirty="0" smtClean="0"/>
              <a:t> Twos complement operation</a:t>
            </a:r>
          </a:p>
          <a:p>
            <a:pPr lvl="1"/>
            <a:r>
              <a:rPr lang="en-US" dirty="0" smtClean="0"/>
              <a:t>Take the Boolean complement of each bit of the integer (including the sign bit)</a:t>
            </a:r>
          </a:p>
          <a:p>
            <a:pPr lvl="1"/>
            <a:r>
              <a:rPr lang="en-US" dirty="0" smtClean="0"/>
              <a:t>Treating the result as an unsigned binary integer, add 1</a:t>
            </a:r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2438400" y="3276600"/>
            <a:ext cx="670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>
                <a:solidFill>
                  <a:schemeClr val="accent1"/>
                </a:solidFill>
                <a:latin typeface="+mn-lt"/>
              </a:rPr>
              <a:t>                              +</a:t>
            </a:r>
            <a:r>
              <a:rPr lang="en-US" sz="1800" dirty="0">
                <a:solidFill>
                  <a:schemeClr val="accent1"/>
                </a:solidFill>
                <a:latin typeface="+mn-lt"/>
              </a:rPr>
              <a:t>18 = 00010010 (twos complement)</a:t>
            </a:r>
          </a:p>
          <a:p>
            <a:r>
              <a:rPr lang="en-US" sz="1800" dirty="0">
                <a:solidFill>
                  <a:schemeClr val="accent1"/>
                </a:solidFill>
                <a:latin typeface="+mn-lt"/>
              </a:rPr>
              <a:t>bitwise complement = 11101101</a:t>
            </a:r>
            <a:endParaRPr lang="en-US" sz="1800" dirty="0" smtClean="0">
              <a:solidFill>
                <a:schemeClr val="accent1"/>
              </a:solidFill>
              <a:latin typeface="+mn-lt"/>
            </a:endParaRPr>
          </a:p>
          <a:p>
            <a:r>
              <a:rPr lang="en-US" sz="1800" dirty="0" smtClean="0">
                <a:solidFill>
                  <a:schemeClr val="accent1"/>
                </a:solidFill>
                <a:latin typeface="+mn-lt"/>
              </a:rPr>
              <a:t>                                         </a:t>
            </a:r>
            <a:r>
              <a:rPr lang="en-US" sz="1800" u="sng" dirty="0" smtClean="0">
                <a:solidFill>
                  <a:schemeClr val="accent1"/>
                </a:solidFill>
                <a:latin typeface="+mn-lt"/>
              </a:rPr>
              <a:t>+              1</a:t>
            </a:r>
          </a:p>
          <a:p>
            <a:r>
              <a:rPr lang="en-US" sz="1800" dirty="0" smtClean="0">
                <a:solidFill>
                  <a:schemeClr val="accent1"/>
                </a:solidFill>
                <a:latin typeface="+mn-lt"/>
              </a:rPr>
              <a:t>                                          11101110 </a:t>
            </a:r>
            <a:r>
              <a:rPr lang="en-US" sz="1800" dirty="0">
                <a:solidFill>
                  <a:schemeClr val="accent1"/>
                </a:solidFill>
                <a:latin typeface="+mn-lt"/>
              </a:rPr>
              <a:t>= -18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5257800"/>
            <a:ext cx="6629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+mn-lt"/>
              </a:rPr>
              <a:t>                                -18 =  11101110 (twos complement)</a:t>
            </a:r>
          </a:p>
          <a:p>
            <a:r>
              <a:rPr lang="en-US" sz="1800" dirty="0">
                <a:solidFill>
                  <a:schemeClr val="accent1"/>
                </a:solidFill>
                <a:latin typeface="+mn-lt"/>
              </a:rPr>
              <a:t>bitwise complement =  00010001</a:t>
            </a:r>
          </a:p>
          <a:p>
            <a:r>
              <a:rPr lang="en-US" sz="1800" dirty="0">
                <a:solidFill>
                  <a:schemeClr val="accent1"/>
                </a:solidFill>
                <a:latin typeface="+mn-lt"/>
              </a:rPr>
              <a:t>                                         +               1</a:t>
            </a:r>
          </a:p>
          <a:p>
            <a:r>
              <a:rPr lang="en-US" sz="1800" dirty="0">
                <a:solidFill>
                  <a:schemeClr val="accent1"/>
                </a:solidFill>
                <a:latin typeface="+mn-lt"/>
              </a:rPr>
              <a:t>                                            00010010 = +18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Negation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66538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1765" t="8182" r="10588" b="47273"/>
              <a:stretch>
                <a:fillRect/>
              </a:stretch>
            </p:blipFill>
          </mc:Choice>
          <mc:Fallback>
            <p:blipFill>
              <a:blip r:embed="rId4"/>
              <a:srcRect l="11765" t="8182" r="10588" b="47273"/>
              <a:stretch>
                <a:fillRect/>
              </a:stretch>
            </p:blipFill>
          </mc:Fallback>
        </mc:AlternateContent>
        <p:spPr>
          <a:xfrm>
            <a:off x="685800" y="1066800"/>
            <a:ext cx="8061437" cy="59851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81400" y="45720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Addition</a:t>
            </a:r>
            <a:endParaRPr lang="en-US" sz="36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Plus 3"/>
          <p:cNvSpPr/>
          <p:nvPr/>
        </p:nvSpPr>
        <p:spPr>
          <a:xfrm>
            <a:off x="381000" y="228600"/>
            <a:ext cx="1447800" cy="1447800"/>
          </a:xfrm>
          <a:prstGeom prst="math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7884964" y="176412"/>
            <a:ext cx="1259036" cy="50938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53191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90600" y="1676400"/>
            <a:ext cx="5715000" cy="4524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      OVERFLOW 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RULE: </a:t>
            </a:r>
          </a:p>
          <a:p>
            <a:endParaRPr lang="en-US" sz="3600" b="1" dirty="0">
              <a:solidFill>
                <a:schemeClr val="accent1"/>
              </a:solidFill>
              <a:latin typeface="+mn-lt"/>
            </a:endParaRPr>
          </a:p>
          <a:p>
            <a:r>
              <a:rPr lang="en-US" sz="3600" dirty="0" smtClean="0">
                <a:solidFill>
                  <a:schemeClr val="accent1"/>
                </a:solidFill>
                <a:latin typeface="+mn-lt"/>
              </a:rPr>
              <a:t>If </a:t>
            </a:r>
            <a:r>
              <a:rPr lang="en-US" sz="3600" dirty="0">
                <a:solidFill>
                  <a:schemeClr val="accent1"/>
                </a:solidFill>
                <a:latin typeface="+mn-lt"/>
              </a:rPr>
              <a:t>two numbers are added, and they are both positive </a:t>
            </a:r>
            <a:r>
              <a:rPr lang="en-US" sz="3600" dirty="0" smtClean="0">
                <a:solidFill>
                  <a:schemeClr val="accent1"/>
                </a:solidFill>
                <a:latin typeface="+mn-lt"/>
              </a:rPr>
              <a:t>or both </a:t>
            </a:r>
            <a:r>
              <a:rPr lang="en-US" sz="3600" dirty="0">
                <a:solidFill>
                  <a:schemeClr val="accent1"/>
                </a:solidFill>
                <a:latin typeface="+mn-lt"/>
              </a:rPr>
              <a:t>negative, then overflow occurs if and only if the result has the opposite 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10400" y="990600"/>
            <a:ext cx="1752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Overflow</a:t>
            </a:r>
            <a:endParaRPr lang="en-US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86600" y="3200400"/>
            <a:ext cx="152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n-lt"/>
              </a:rPr>
              <a:t>Rule</a:t>
            </a:r>
          </a:p>
        </p:txBody>
      </p:sp>
      <p:sp useBgFill="1">
        <p:nvSpPr>
          <p:cNvPr id="9" name="TextBox 8"/>
          <p:cNvSpPr txBox="1"/>
          <p:nvPr/>
        </p:nvSpPr>
        <p:spPr>
          <a:xfrm>
            <a:off x="228600" y="4569060"/>
            <a:ext cx="381000" cy="6887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52318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3" y="3638643"/>
            <a:ext cx="7556313" cy="1116106"/>
          </a:xfrm>
        </p:spPr>
        <p:txBody>
          <a:bodyPr/>
          <a:lstStyle/>
          <a:p>
            <a:r>
              <a:rPr lang="en-US" sz="3200" dirty="0" smtClean="0"/>
              <a:t>-103+ -69 = -172 (Overflow with carryout</a:t>
            </a:r>
            <a:r>
              <a:rPr lang="en-US" sz="3200" dirty="0"/>
              <a:t>. Sum is not correct</a:t>
            </a:r>
            <a:r>
              <a:rPr lang="en-US" sz="3200" dirty="0" smtClean="0"/>
              <a:t>.)</a:t>
            </a:r>
            <a:endParaRPr lang="en-US" sz="32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2289054"/>
              </p:ext>
            </p:extLst>
          </p:nvPr>
        </p:nvGraphicFramePr>
        <p:xfrm>
          <a:off x="683568" y="1772816"/>
          <a:ext cx="7556499" cy="1463040"/>
        </p:xfrm>
        <a:graphic>
          <a:graphicData uri="http://schemas.openxmlformats.org/drawingml/2006/table">
            <a:tbl>
              <a:tblPr/>
              <a:tblGrid>
                <a:gridCol w="839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796343"/>
              </p:ext>
            </p:extLst>
          </p:nvPr>
        </p:nvGraphicFramePr>
        <p:xfrm>
          <a:off x="656030" y="4797152"/>
          <a:ext cx="7556499" cy="1463040"/>
        </p:xfrm>
        <a:graphic>
          <a:graphicData uri="http://schemas.openxmlformats.org/drawingml/2006/table">
            <a:tbl>
              <a:tblPr/>
              <a:tblGrid>
                <a:gridCol w="839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96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650874" y="6364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smtClean="0"/>
              <a:t>104 + 45 = 149 (Overflow, no carryout. Sum is not correct.)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9152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0" y="1524000"/>
            <a:ext cx="5715000" cy="5078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SUBTRACTION 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RULE: </a:t>
            </a:r>
          </a:p>
          <a:p>
            <a:endParaRPr lang="en-US" sz="3600" b="1" dirty="0" smtClean="0">
              <a:solidFill>
                <a:schemeClr val="accent1"/>
              </a:solidFill>
              <a:latin typeface="+mn-lt"/>
            </a:endParaRPr>
          </a:p>
          <a:p>
            <a:r>
              <a:rPr lang="en-US" sz="3600" dirty="0" smtClean="0">
                <a:solidFill>
                  <a:schemeClr val="accent1"/>
                </a:solidFill>
                <a:latin typeface="+mn-lt"/>
              </a:rPr>
              <a:t>To </a:t>
            </a:r>
            <a:r>
              <a:rPr lang="en-US" sz="3600" dirty="0">
                <a:solidFill>
                  <a:schemeClr val="accent1"/>
                </a:solidFill>
                <a:latin typeface="+mn-lt"/>
              </a:rPr>
              <a:t>subtract one number (subtrahend) from </a:t>
            </a:r>
            <a:r>
              <a:rPr lang="en-US" sz="3600" dirty="0" smtClean="0">
                <a:solidFill>
                  <a:schemeClr val="accent1"/>
                </a:solidFill>
                <a:latin typeface="+mn-lt"/>
              </a:rPr>
              <a:t>another (</a:t>
            </a:r>
            <a:r>
              <a:rPr lang="en-US" sz="3600" dirty="0">
                <a:solidFill>
                  <a:schemeClr val="accent1"/>
                </a:solidFill>
                <a:latin typeface="+mn-lt"/>
              </a:rPr>
              <a:t>minuend), take the twos complement (negation) of the subtrahend and add it</a:t>
            </a:r>
          </a:p>
          <a:p>
            <a:r>
              <a:rPr lang="en-US" sz="3600" dirty="0">
                <a:solidFill>
                  <a:schemeClr val="accent1"/>
                </a:solidFill>
                <a:latin typeface="+mn-lt"/>
              </a:rPr>
              <a:t>to the minuend.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990600"/>
            <a:ext cx="1981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n-lt"/>
              </a:rPr>
              <a:t>Subtraction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3200400"/>
            <a:ext cx="152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n-lt"/>
              </a:rPr>
              <a:t>Rule</a:t>
            </a:r>
          </a:p>
        </p:txBody>
      </p:sp>
      <p:sp useBgFill="1">
        <p:nvSpPr>
          <p:cNvPr id="9" name="TextBox 8"/>
          <p:cNvSpPr txBox="1"/>
          <p:nvPr/>
        </p:nvSpPr>
        <p:spPr>
          <a:xfrm>
            <a:off x="228600" y="4569060"/>
            <a:ext cx="381000" cy="6887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96241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4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9412" t="7273" r="8235" b="30000"/>
              <a:stretch>
                <a:fillRect/>
              </a:stretch>
            </p:blipFill>
          </mc:Choice>
          <mc:Fallback>
            <p:blipFill>
              <a:blip r:embed="rId4"/>
              <a:srcRect l="9412" t="7273" r="8235" b="30000"/>
              <a:stretch>
                <a:fillRect/>
              </a:stretch>
            </p:blipFill>
          </mc:Fallback>
        </mc:AlternateContent>
        <p:spPr>
          <a:xfrm>
            <a:off x="1447800" y="762000"/>
            <a:ext cx="6367200" cy="6324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76600" y="304800"/>
            <a:ext cx="2819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Subtraction</a:t>
            </a:r>
            <a:endParaRPr lang="en-US" sz="36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Minus 6"/>
          <p:cNvSpPr/>
          <p:nvPr/>
        </p:nvSpPr>
        <p:spPr>
          <a:xfrm>
            <a:off x="304800" y="0"/>
            <a:ext cx="1447800" cy="1219200"/>
          </a:xfrm>
          <a:prstGeom prst="mathMin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TextBox 7"/>
          <p:cNvSpPr txBox="1"/>
          <p:nvPr/>
        </p:nvSpPr>
        <p:spPr>
          <a:xfrm>
            <a:off x="8079000" y="176412"/>
            <a:ext cx="836399" cy="50938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691356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9144000" cy="963613"/>
          </a:xfrm>
        </p:spPr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Multiplication</a:t>
            </a:r>
          </a:p>
        </p:txBody>
      </p:sp>
      <p:sp useBgFill="1">
        <p:nvSpPr>
          <p:cNvPr id="5" name="TextBox 4"/>
          <p:cNvSpPr txBox="1"/>
          <p:nvPr/>
        </p:nvSpPr>
        <p:spPr>
          <a:xfrm>
            <a:off x="7955522" y="158770"/>
            <a:ext cx="1188477" cy="5270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f7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5882" t="32727" r="12941" b="29091"/>
              <a:stretch>
                <a:fillRect/>
              </a:stretch>
            </p:blipFill>
          </mc:Choice>
          <mc:Fallback>
            <p:blipFill>
              <a:blip r:embed="rId4"/>
              <a:srcRect l="5882" t="32727" r="12941" b="29091"/>
              <a:stretch>
                <a:fillRect/>
              </a:stretch>
            </p:blipFill>
          </mc:Fallback>
        </mc:AlternateContent>
        <p:spPr>
          <a:xfrm>
            <a:off x="609600" y="1676400"/>
            <a:ext cx="7716366" cy="4697038"/>
          </a:xfrm>
          <a:prstGeom prst="rect">
            <a:avLst/>
          </a:prstGeom>
        </p:spPr>
      </p:pic>
      <p:sp>
        <p:nvSpPr>
          <p:cNvPr id="7" name="Multiply 6"/>
          <p:cNvSpPr/>
          <p:nvPr/>
        </p:nvSpPr>
        <p:spPr>
          <a:xfrm>
            <a:off x="304800" y="228600"/>
            <a:ext cx="1371600" cy="1447800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396047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0555" y="1981200"/>
            <a:ext cx="3255264" cy="220980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Flowchart for Unsigned Binary Multiplication</a:t>
            </a:r>
          </a:p>
        </p:txBody>
      </p:sp>
      <p:pic>
        <p:nvPicPr>
          <p:cNvPr id="4" name="Picture 3" descr="f9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8235" t="3636" r="9412" b="12727"/>
              <a:stretch>
                <a:fillRect/>
              </a:stretch>
            </p:blipFill>
          </mc:Choice>
          <mc:Fallback>
            <p:blipFill>
              <a:blip r:embed="rId4"/>
              <a:srcRect l="8235" t="3636" r="9412" b="12727"/>
              <a:stretch>
                <a:fillRect/>
              </a:stretch>
            </p:blipFill>
          </mc:Fallback>
        </mc:AlternateContent>
        <p:spPr>
          <a:xfrm>
            <a:off x="3581400" y="0"/>
            <a:ext cx="5337309" cy="70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7510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Multiplication of 13 and 11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904253"/>
            <a:ext cx="7760348" cy="476427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2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4545" b="12727"/>
              <a:stretch>
                <a:fillRect/>
              </a:stretch>
            </p:blipFill>
          </mc:Choice>
          <mc:Fallback>
            <p:blipFill>
              <a:blip r:embed="rId4"/>
              <a:srcRect t="4545" b="12727"/>
              <a:stretch>
                <a:fillRect/>
              </a:stretch>
            </p:blipFill>
          </mc:Fallback>
        </mc:AlternateContent>
        <p:spPr>
          <a:xfrm>
            <a:off x="0" y="-96104"/>
            <a:ext cx="6495656" cy="6954104"/>
          </a:xfrm>
          <a:prstGeom prst="rect">
            <a:avLst/>
          </a:prstGeom>
        </p:spPr>
      </p:pic>
      <p:sp useBgFill="1">
        <p:nvSpPr>
          <p:cNvPr id="7" name="TextBox 6"/>
          <p:cNvSpPr txBox="1"/>
          <p:nvPr/>
        </p:nvSpPr>
        <p:spPr>
          <a:xfrm>
            <a:off x="228600" y="4637950"/>
            <a:ext cx="380999" cy="61985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781800" y="9906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n-lt"/>
              </a:rPr>
              <a:t>Booth’s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800" y="3200400"/>
            <a:ext cx="2005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n-lt"/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54580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88640"/>
            <a:ext cx="7556313" cy="5937523"/>
          </a:xfrm>
        </p:spPr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Multiplication of 5 x -6, both represented in 4-bit 2’s complement notation.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611560" y="1340768"/>
          <a:ext cx="8136904" cy="3759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A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Q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Q </a:t>
                      </a:r>
                      <a:r>
                        <a:rPr lang="en-US" sz="2400" baseline="-25000" dirty="0" smtClean="0">
                          <a:effectLst/>
                        </a:rPr>
                        <a:t>–</a:t>
                      </a:r>
                      <a:r>
                        <a:rPr lang="en-US" sz="2400" baseline="-25000" dirty="0">
                          <a:effectLst/>
                        </a:rPr>
                        <a:t>1</a:t>
                      </a:r>
                      <a:endParaRPr lang="en-US" sz="2400" baseline="-25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>
                          <a:effectLst/>
                        </a:rPr>
                        <a:t>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0000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1010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>
                          <a:effectLst/>
                        </a:rPr>
                        <a:t>0101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>
                          <a:effectLst/>
                        </a:rPr>
                        <a:t>Initial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0000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0101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>
                          <a:effectLst/>
                        </a:rPr>
                        <a:t>0101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ASR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First Cycle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 1011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0101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>
                          <a:effectLst/>
                        </a:rPr>
                        <a:t>0101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>
                          <a:effectLst/>
                        </a:rPr>
                        <a:t>A </a:t>
                      </a:r>
                      <a:r>
                        <a:rPr lang="en-US" sz="2400">
                          <a:effectLst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en-US" sz="2400">
                          <a:effectLst/>
                        </a:rPr>
                        <a:t> A – 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r>
                        <a:rPr lang="en-US" sz="2400" dirty="0" smtClean="0"/>
                        <a:t>Second</a:t>
                      </a:r>
                      <a:r>
                        <a:rPr lang="en-US" sz="2400" baseline="0" dirty="0" smtClean="0"/>
                        <a:t> Cycle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1101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1010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0101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ASR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0010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1010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0101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A </a:t>
                      </a:r>
                      <a:r>
                        <a:rPr lang="en-US" sz="2400" dirty="0">
                          <a:effectLst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en-US" sz="2400" dirty="0">
                          <a:effectLst/>
                        </a:rPr>
                        <a:t> A + M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r>
                        <a:rPr lang="en-US" sz="2400" dirty="0" smtClean="0"/>
                        <a:t>Third Cycle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>
                          <a:effectLst/>
                        </a:rPr>
                        <a:t>0001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0101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0101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ASR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>
                          <a:effectLst/>
                        </a:rPr>
                        <a:t>1100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0101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0101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>
                          <a:effectLst/>
                        </a:rPr>
                        <a:t>A </a:t>
                      </a:r>
                      <a:r>
                        <a:rPr lang="en-US" sz="2400" dirty="0">
                          <a:effectLst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en-US" sz="2400" dirty="0">
                          <a:effectLst/>
                        </a:rPr>
                        <a:t> A – M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r>
                        <a:rPr lang="en-US" sz="2400" dirty="0" smtClean="0"/>
                        <a:t>Fourth</a:t>
                      </a:r>
                      <a:r>
                        <a:rPr lang="en-US" sz="2400" baseline="0" dirty="0" smtClean="0"/>
                        <a:t> Cycle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1110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0010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0101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ASR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1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pPr algn="ctr" eaLnBrk="1" hangingPunct="1"/>
            <a:r>
              <a:rPr lang="en-US" altLang="en-US" sz="4000" smtClean="0"/>
              <a:t>Division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229600" cy="38862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More complex than multiplication</a:t>
            </a:r>
          </a:p>
          <a:p>
            <a:pPr eaLnBrk="1" hangingPunct="1"/>
            <a:r>
              <a:rPr lang="en-US" altLang="en-US" sz="2800" dirty="0" smtClean="0"/>
              <a:t>General principle is the same as multiplication.</a:t>
            </a:r>
          </a:p>
          <a:p>
            <a:pPr eaLnBrk="1" hangingPunct="1"/>
            <a:r>
              <a:rPr lang="en-US" altLang="en-US" sz="2800" dirty="0" smtClean="0"/>
              <a:t>Operation involves repetitive shifting and add/sub.</a:t>
            </a:r>
          </a:p>
        </p:txBody>
      </p:sp>
    </p:spTree>
    <p:extLst>
      <p:ext uri="{BB962C8B-B14F-4D97-AF65-F5344CB8AC3E}">
        <p14:creationId xmlns:p14="http://schemas.microsoft.com/office/powerpoint/2010/main" val="4672816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62000"/>
            <a:ext cx="9144000" cy="963613"/>
          </a:xfrm>
        </p:spPr>
        <p:txBody>
          <a:bodyPr/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Division</a:t>
            </a:r>
          </a:p>
        </p:txBody>
      </p:sp>
      <p:pic>
        <p:nvPicPr>
          <p:cNvPr id="5" name="Picture 4" descr="f1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176" t="31818" r="10588" b="29091"/>
              <a:stretch>
                <a:fillRect/>
              </a:stretch>
            </p:blipFill>
          </mc:Choice>
          <mc:Fallback>
            <p:blipFill>
              <a:blip r:embed="rId4"/>
              <a:srcRect l="1176" t="31818" r="10588" b="29091"/>
              <a:stretch>
                <a:fillRect/>
              </a:stretch>
            </p:blipFill>
          </mc:Fallback>
        </mc:AlternateContent>
        <p:spPr>
          <a:xfrm>
            <a:off x="381000" y="1828800"/>
            <a:ext cx="8376151" cy="4802356"/>
          </a:xfrm>
          <a:prstGeom prst="rect">
            <a:avLst/>
          </a:prstGeom>
        </p:spPr>
      </p:pic>
      <p:sp useBgFill="1">
        <p:nvSpPr>
          <p:cNvPr id="6" name="TextBox 5"/>
          <p:cNvSpPr txBox="1"/>
          <p:nvPr/>
        </p:nvSpPr>
        <p:spPr>
          <a:xfrm>
            <a:off x="7920242" y="141129"/>
            <a:ext cx="1223757" cy="69707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371304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0555" y="1828800"/>
            <a:ext cx="3255264" cy="2514600"/>
          </a:xfrm>
        </p:spPr>
        <p:txBody>
          <a:bodyPr>
            <a:noAutofit/>
          </a:bodyPr>
          <a:lstStyle/>
          <a:p>
            <a:pPr algn="ctr"/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Flowchart for Unsigned Binary Division</a:t>
            </a:r>
          </a:p>
        </p:txBody>
      </p:sp>
      <p:pic>
        <p:nvPicPr>
          <p:cNvPr id="4" name="Picture 3" descr="f16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2941" t="5455" r="3529" b="5455"/>
              <a:stretch>
                <a:fillRect/>
              </a:stretch>
            </p:blipFill>
          </mc:Choice>
          <mc:Fallback>
            <p:blipFill>
              <a:blip r:embed="rId4"/>
              <a:srcRect l="12941" t="5455" r="3529" b="5455"/>
              <a:stretch>
                <a:fillRect/>
              </a:stretch>
            </p:blipFill>
          </mc:Fallback>
        </mc:AlternateContent>
        <p:spPr>
          <a:xfrm>
            <a:off x="3635819" y="-99392"/>
            <a:ext cx="54383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5369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637381" y="113506"/>
            <a:ext cx="8229600" cy="379413"/>
          </a:xfrm>
        </p:spPr>
        <p:txBody>
          <a:bodyPr/>
          <a:lstStyle/>
          <a:p>
            <a:pPr algn="ctr" eaLnBrk="1" hangingPunct="1"/>
            <a:r>
              <a:rPr lang="en-US" altLang="en-US" sz="3200" b="1" u="sng" dirty="0" smtClean="0"/>
              <a:t>Two’s complement Division 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2738438" y="-9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33797" name="Object 9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6516637"/>
              </p:ext>
            </p:extLst>
          </p:nvPr>
        </p:nvGraphicFramePr>
        <p:xfrm>
          <a:off x="2232024" y="764704"/>
          <a:ext cx="5040313" cy="586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Visio" r:id="rId3" imgW="5133975" imgH="5971996" progId="Visio.Drawing.11">
                  <p:embed/>
                </p:oleObj>
              </mc:Choice>
              <mc:Fallback>
                <p:oleObj name="Visio" r:id="rId3" imgW="5133975" imgH="597199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4" y="764704"/>
                        <a:ext cx="5040313" cy="586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985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9472"/>
            <a:ext cx="7556313" cy="1116106"/>
          </a:xfrm>
        </p:spPr>
        <p:txBody>
          <a:bodyPr/>
          <a:lstStyle/>
          <a:p>
            <a:r>
              <a:rPr lang="en-US" altLang="en-US" b="1" dirty="0" smtClean="0">
                <a:latin typeface="Times New Roman" panose="02020603050405020304" pitchFamily="18" charset="0"/>
              </a:rPr>
              <a:t>Divide -7 </a:t>
            </a:r>
            <a:r>
              <a:rPr lang="en-US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 2</a:t>
            </a:r>
            <a:br>
              <a:rPr lang="en-US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endParaRPr lang="en-US" dirty="0"/>
          </a:p>
        </p:txBody>
      </p:sp>
      <p:graphicFrame>
        <p:nvGraphicFramePr>
          <p:cNvPr id="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3480299"/>
              </p:ext>
            </p:extLst>
          </p:nvPr>
        </p:nvGraphicFramePr>
        <p:xfrm>
          <a:off x="323528" y="577525"/>
          <a:ext cx="8712968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A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Q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M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1111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1001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Initial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1111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Shift Left</a:t>
                      </a:r>
                      <a:endParaRPr lang="en-US" sz="1600" b="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First Cycle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0001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effectLst/>
                          <a:latin typeface="+mn-lt"/>
                        </a:rPr>
                        <a:t>A </a:t>
                      </a:r>
                      <a:r>
                        <a:rPr lang="en-US" sz="1600" b="0" dirty="0" smtClean="0">
                          <a:effectLst/>
                          <a:latin typeface="+mn-lt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 A +</a:t>
                      </a:r>
                      <a:r>
                        <a:rPr lang="en-US" sz="16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M, Sign of A changed</a:t>
                      </a:r>
                      <a:endParaRPr lang="en-US" sz="16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1111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/>
                        <a:t>Restore A, Q</a:t>
                      </a:r>
                      <a:r>
                        <a:rPr lang="en-US" sz="1600" b="0" baseline="-25000" dirty="0" smtClean="0"/>
                        <a:t>0</a:t>
                      </a:r>
                      <a:r>
                        <a:rPr lang="en-US" sz="1600" b="0" dirty="0" smtClean="0"/>
                        <a:t> </a:t>
                      </a:r>
                      <a:r>
                        <a:rPr lang="en-US" sz="1600" b="0" dirty="0" smtClean="0">
                          <a:effectLst/>
                          <a:latin typeface="+mn-lt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en-US" sz="1600" b="0" dirty="0" smtClean="0"/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1110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0100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Shift Left</a:t>
                      </a:r>
                      <a:endParaRPr lang="en-US" sz="1600" b="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/>
                        <a:t>Second 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0000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0100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effectLst/>
                          <a:latin typeface="+mn-lt"/>
                        </a:rPr>
                        <a:t>A </a:t>
                      </a:r>
                      <a:r>
                        <a:rPr lang="en-US" sz="1600" b="0" dirty="0" smtClean="0">
                          <a:effectLst/>
                          <a:latin typeface="+mn-lt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 A +</a:t>
                      </a:r>
                      <a:r>
                        <a:rPr lang="en-US" sz="16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M, Sign of A changed</a:t>
                      </a:r>
                      <a:endParaRPr lang="en-US" sz="1600" b="0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1110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0100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/>
                        <a:t>Restore A, Q</a:t>
                      </a:r>
                      <a:r>
                        <a:rPr lang="en-US" sz="1600" b="0" baseline="-25000" dirty="0" smtClean="0"/>
                        <a:t>0</a:t>
                      </a:r>
                      <a:r>
                        <a:rPr lang="en-US" sz="1600" b="0" dirty="0" smtClean="0"/>
                        <a:t> </a:t>
                      </a:r>
                      <a:r>
                        <a:rPr lang="en-US" sz="1600" b="0" dirty="0" smtClean="0">
                          <a:effectLst/>
                          <a:latin typeface="+mn-lt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en-US" sz="1600" b="0" dirty="0" smtClean="0"/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1100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1000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Shift Left</a:t>
                      </a:r>
                      <a:endParaRPr lang="en-US" sz="1600" b="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Third Cycle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1110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1000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effectLst/>
                          <a:latin typeface="+mn-lt"/>
                        </a:rPr>
                        <a:t>A </a:t>
                      </a:r>
                      <a:r>
                        <a:rPr lang="en-US" sz="1600" b="0" dirty="0" smtClean="0">
                          <a:effectLst/>
                          <a:latin typeface="+mn-lt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 A +</a:t>
                      </a:r>
                      <a:r>
                        <a:rPr lang="en-US" sz="16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M, Sign of A unchanged</a:t>
                      </a:r>
                      <a:endParaRPr lang="en-US" sz="1600" b="0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1110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1001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Q</a:t>
                      </a:r>
                      <a:r>
                        <a:rPr lang="en-US" sz="1600" b="0" baseline="-25000" dirty="0" smtClean="0"/>
                        <a:t>0</a:t>
                      </a:r>
                      <a:r>
                        <a:rPr lang="en-US" sz="1600" b="0" dirty="0" smtClean="0">
                          <a:effectLst/>
                          <a:latin typeface="+mn-lt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en-US" sz="1600" b="0" dirty="0" smtClean="0"/>
                        <a:t>1</a:t>
                      </a:r>
                      <a:endParaRPr lang="en-US" sz="16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1101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Shift Left</a:t>
                      </a:r>
                      <a:endParaRPr lang="en-US" sz="1600" b="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Fourth cycle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1111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smtClean="0">
                          <a:effectLst/>
                          <a:latin typeface="+mn-lt"/>
                        </a:rPr>
                        <a:t>A </a:t>
                      </a:r>
                      <a:r>
                        <a:rPr lang="en-US" sz="1600" b="0" dirty="0" smtClean="0">
                          <a:effectLst/>
                          <a:latin typeface="+mn-lt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 A +</a:t>
                      </a:r>
                      <a:r>
                        <a:rPr lang="en-US" sz="16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M,</a:t>
                      </a:r>
                      <a:r>
                        <a:rPr lang="en-US" sz="1600" b="0" dirty="0" smtClean="0"/>
                        <a:t> 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Sign of A unchanged</a:t>
                      </a:r>
                      <a:endParaRPr lang="en-US" sz="16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1111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0011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0010 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Q</a:t>
                      </a:r>
                      <a:r>
                        <a:rPr lang="en-US" sz="1600" b="0" baseline="-25000" dirty="0" smtClean="0"/>
                        <a:t>0</a:t>
                      </a:r>
                      <a:r>
                        <a:rPr lang="en-US" sz="1600" b="0" dirty="0" smtClean="0"/>
                        <a:t> </a:t>
                      </a:r>
                      <a:r>
                        <a:rPr lang="en-US" sz="1600" b="0" dirty="0" smtClean="0">
                          <a:effectLst/>
                          <a:latin typeface="+mn-lt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en-US" sz="1600" b="0" dirty="0" smtClean="0"/>
                        <a:t>1</a:t>
                      </a:r>
                      <a:endParaRPr lang="en-US" sz="16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16886" y="5776478"/>
            <a:ext cx="85337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ym typeface="Symbol" panose="05050102010706020507" pitchFamily="18" charset="2"/>
              </a:rPr>
              <a:t>Sign of dividend &amp; divisor are different </a:t>
            </a:r>
            <a:r>
              <a:rPr lang="en-US" altLang="en-US" dirty="0">
                <a:sym typeface="Wingdings" panose="05000000000000000000" pitchFamily="2" charset="2"/>
              </a:rPr>
              <a:t> negate </a:t>
            </a:r>
            <a:r>
              <a:rPr lang="en-US" altLang="en-US" dirty="0" smtClean="0">
                <a:sym typeface="Wingdings" panose="05000000000000000000" pitchFamily="2" charset="2"/>
              </a:rPr>
              <a:t>Q   </a:t>
            </a:r>
          </a:p>
          <a:p>
            <a:r>
              <a:rPr lang="en-US" altLang="en-US" dirty="0" smtClean="0">
                <a:sym typeface="Symbol" panose="05050102010706020507" pitchFamily="18" charset="2"/>
              </a:rPr>
              <a:t> </a:t>
            </a:r>
            <a:r>
              <a:rPr lang="en-US" altLang="en-US" dirty="0">
                <a:sym typeface="Symbol" panose="05050102010706020507" pitchFamily="18" charset="2"/>
              </a:rPr>
              <a:t>Quotient = -Q =1101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= -</a:t>
            </a:r>
            <a:r>
              <a:rPr lang="en-US" altLang="en-US" dirty="0" smtClean="0">
                <a:sym typeface="Symbol" panose="05050102010706020507" pitchFamily="18" charset="2"/>
              </a:rPr>
              <a:t>3</a:t>
            </a:r>
            <a:r>
              <a:rPr lang="en-US" altLang="en-US" baseline="-25000" dirty="0" smtClean="0">
                <a:sym typeface="Symbol" panose="05050102010706020507" pitchFamily="18" charset="2"/>
              </a:rPr>
              <a:t>10 </a:t>
            </a:r>
            <a:r>
              <a:rPr lang="en-US" altLang="en-US" dirty="0" smtClean="0">
                <a:sym typeface="Symbol" panose="05050102010706020507" pitchFamily="18" charset="2"/>
              </a:rPr>
              <a:t>; Remainder </a:t>
            </a:r>
            <a:r>
              <a:rPr lang="en-US" altLang="en-US" dirty="0">
                <a:sym typeface="Symbol" panose="05050102010706020507" pitchFamily="18" charset="2"/>
              </a:rPr>
              <a:t>= 1111</a:t>
            </a:r>
            <a:r>
              <a:rPr lang="en-US" altLang="en-US" baseline="-25000" dirty="0">
                <a:sym typeface="Symbol" panose="05050102010706020507" pitchFamily="18" charset="2"/>
              </a:rPr>
              <a:t>2 =  </a:t>
            </a:r>
            <a:r>
              <a:rPr lang="en-US" altLang="en-US" dirty="0">
                <a:sym typeface="Symbol" panose="05050102010706020507" pitchFamily="18" charset="2"/>
              </a:rPr>
              <a:t>-1</a:t>
            </a:r>
            <a:r>
              <a:rPr lang="en-US" altLang="en-US" baseline="-25000" dirty="0">
                <a:sym typeface="Symbol" panose="05050102010706020507" pitchFamily="18" charset="2"/>
              </a:rPr>
              <a:t>10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997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Reference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Organization and Architecture: Designing for Performance, William Stallings, 9</a:t>
            </a:r>
            <a:r>
              <a:rPr lang="en-US" baseline="30000" dirty="0"/>
              <a:t>th</a:t>
            </a:r>
            <a:r>
              <a:rPr lang="en-US" dirty="0"/>
              <a:t> Edition, Pearson India, 2013.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0650933"/>
      </p:ext>
    </p:extLst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6916</TotalTime>
  <Words>3310</Words>
  <Application>Microsoft Office PowerPoint</Application>
  <PresentationFormat>On-screen Show (4:3)</PresentationFormat>
  <Paragraphs>458</Paragraphs>
  <Slides>25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ＭＳ Ｐゴシック</vt:lpstr>
      <vt:lpstr>Arial</vt:lpstr>
      <vt:lpstr>Calibri</vt:lpstr>
      <vt:lpstr>Rockwell</vt:lpstr>
      <vt:lpstr>Symbol</vt:lpstr>
      <vt:lpstr>Times New Roman</vt:lpstr>
      <vt:lpstr>Wingdings</vt:lpstr>
      <vt:lpstr>Advantage</vt:lpstr>
      <vt:lpstr>Visio</vt:lpstr>
      <vt:lpstr>PowerPoint Presentation</vt:lpstr>
      <vt:lpstr>Arithmetic &amp; Logic Unit (ALU)</vt:lpstr>
      <vt:lpstr>ALU Inputs and Outputs</vt:lpstr>
      <vt:lpstr>Fixed-Point Representation</vt:lpstr>
      <vt:lpstr>Integer Representation</vt:lpstr>
      <vt:lpstr>Sign-Magnitude Representation</vt:lpstr>
      <vt:lpstr>Twos Complement Representation</vt:lpstr>
      <vt:lpstr>Range Extension</vt:lpstr>
      <vt:lpstr>Negation</vt:lpstr>
      <vt:lpstr>PowerPoint Presentation</vt:lpstr>
      <vt:lpstr>PowerPoint Presentation</vt:lpstr>
      <vt:lpstr>-103+ -69 = -172 (Overflow with carryout. Sum is not correct.)</vt:lpstr>
      <vt:lpstr>PowerPoint Presentation</vt:lpstr>
      <vt:lpstr>PowerPoint Presentation</vt:lpstr>
      <vt:lpstr>Multiplication</vt:lpstr>
      <vt:lpstr>Flowchart for Unsigned Binary Multiplication</vt:lpstr>
      <vt:lpstr>Multiplication of 13 and 11</vt:lpstr>
      <vt:lpstr>PowerPoint Presentation</vt:lpstr>
      <vt:lpstr>PowerPoint Presentation</vt:lpstr>
      <vt:lpstr>Division</vt:lpstr>
      <vt:lpstr>Division</vt:lpstr>
      <vt:lpstr>Flowchart for Unsigned Binary Division</vt:lpstr>
      <vt:lpstr>Two’s complement Division </vt:lpstr>
      <vt:lpstr>Divide -7  2 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External Memory</dc:title>
  <dc:creator>Adrian J Pullin</dc:creator>
  <cp:lastModifiedBy>Divya Lohani</cp:lastModifiedBy>
  <cp:revision>173</cp:revision>
  <dcterms:created xsi:type="dcterms:W3CDTF">2012-07-02T17:43:03Z</dcterms:created>
  <dcterms:modified xsi:type="dcterms:W3CDTF">2018-08-31T09:00:42Z</dcterms:modified>
</cp:coreProperties>
</file>