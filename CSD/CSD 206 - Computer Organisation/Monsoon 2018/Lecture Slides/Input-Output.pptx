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8"/>
  </p:notesMasterIdLst>
  <p:handoutMasterIdLst>
    <p:handoutMasterId r:id="rId19"/>
  </p:handoutMasterIdLst>
  <p:sldIdLst>
    <p:sldId id="335" r:id="rId2"/>
    <p:sldId id="394" r:id="rId3"/>
    <p:sldId id="361" r:id="rId4"/>
    <p:sldId id="374" r:id="rId5"/>
    <p:sldId id="336" r:id="rId6"/>
    <p:sldId id="376" r:id="rId7"/>
    <p:sldId id="263" r:id="rId8"/>
    <p:sldId id="379" r:id="rId9"/>
    <p:sldId id="382" r:id="rId10"/>
    <p:sldId id="398" r:id="rId11"/>
    <p:sldId id="373" r:id="rId12"/>
    <p:sldId id="284" r:id="rId13"/>
    <p:sldId id="388" r:id="rId14"/>
    <p:sldId id="339" r:id="rId15"/>
    <p:sldId id="340" r:id="rId16"/>
    <p:sldId id="378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1731" autoAdjust="0"/>
    <p:restoredTop sz="44093" autoAdjust="0"/>
  </p:normalViewPr>
  <p:slideViewPr>
    <p:cSldViewPr>
      <p:cViewPr varScale="1">
        <p:scale>
          <a:sx n="48" d="100"/>
          <a:sy n="48" d="100"/>
        </p:scale>
        <p:origin x="306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6" d="100"/>
        <a:sy n="10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2.xml"/><Relationship Id="rId2" Type="http://schemas.openxmlformats.org/officeDocument/2006/relationships/slide" Target="slides/slide10.xml"/><Relationship Id="rId1" Type="http://schemas.openxmlformats.org/officeDocument/2006/relationships/slide" Target="slides/slide7.xml"/><Relationship Id="rId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8CCCA79-BE30-0B48-8BF4-C10904032E3C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324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737347-1095-3242-A55B-1E86453C57DC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5987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254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900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63CC4A-327B-9546-A928-3FE3CAFF5135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5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D111EC-A35E-1049-8F7D-8F155740D35A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8770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BDBA6A-22A5-9942-8267-909B6723AC8A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2243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709E80-2055-9541-A849-BA0D63923471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DMA mechanism can be configured in a variety of ways. Some possibilities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shown in Figure 7.13. In the first example, all modules share the same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bus. The DMA module, acting as a surrogate processor, uses programmed I/O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exchange data between memory and an I/O module through the DMA module. This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configuration, while it may be inexpensive, is clearly inefficient. As with processor controlled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programmed I/O, each transfer of a word consumes two bus cycles.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number of required bus cycles can be cut substantially by integrating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 and I/O functions. As Figure 7.13b indicates, this means that there is a path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the DMA module and one or more I/O modules that does not include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bus. The DMA logic may actually be a part of an I/O module, or it may be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separate module that controls one or more I/O modules. This concept can be taken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step further by connecting I/O modules to the DMA module using an I/O bus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7.13c). This reduces the number of I/O interfaces in the DMA module to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provides for an easily expandable configuration. In both of these cases (Figures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7.13b and c), the system bus that the DMA module shares with the processor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is used by the DMA module only to exchange data with memory.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exchange of data between the DMA and I/O modules takes place off the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0234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307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37347-1095-3242-A55B-1E86453C57D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304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10/11/2018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10/11/2018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10/11/2018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10/11/2018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10/11/2018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10/11/2018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10/11/2018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10/11/2018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10/11/2018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10/11/2018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10/11/2018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d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d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d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 err="1"/>
              <a:t>Input/Output</a:t>
            </a:r>
            <a:endParaRPr lang="en-US" sz="54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7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3400" y="5410200"/>
            <a:ext cx="8104095" cy="1190624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88640"/>
            <a:ext cx="7556313" cy="6669360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>
                <a:solidFill>
                  <a:schemeClr val="tx1"/>
                </a:solidFill>
              </a:rPr>
              <a:t>I/O modules are key element of a </a:t>
            </a:r>
            <a:r>
              <a:rPr lang="en-IN" dirty="0">
                <a:solidFill>
                  <a:schemeClr val="tx1"/>
                </a:solidFill>
              </a:rPr>
              <a:t>computer </a:t>
            </a:r>
            <a:r>
              <a:rPr lang="en-IN" dirty="0" smtClean="0">
                <a:solidFill>
                  <a:schemeClr val="tx1"/>
                </a:solidFill>
              </a:rPr>
              <a:t>system. </a:t>
            </a:r>
            <a:r>
              <a:rPr lang="en-IN" dirty="0">
                <a:solidFill>
                  <a:schemeClr val="tx1"/>
                </a:solidFill>
              </a:rPr>
              <a:t>Each module interfaces to the </a:t>
            </a:r>
            <a:r>
              <a:rPr lang="en-IN" dirty="0" smtClean="0">
                <a:solidFill>
                  <a:schemeClr val="tx1"/>
                </a:solidFill>
              </a:rPr>
              <a:t>system bus and </a:t>
            </a:r>
            <a:r>
              <a:rPr lang="en-IN" dirty="0">
                <a:solidFill>
                  <a:schemeClr val="tx1"/>
                </a:solidFill>
              </a:rPr>
              <a:t>controls one or more peripheral devices. </a:t>
            </a:r>
            <a:r>
              <a:rPr lang="en-IN" dirty="0" smtClean="0">
                <a:solidFill>
                  <a:schemeClr val="tx1"/>
                </a:solidFill>
              </a:rPr>
              <a:t>I/O </a:t>
            </a:r>
            <a:r>
              <a:rPr lang="en-IN" dirty="0">
                <a:solidFill>
                  <a:schemeClr val="tx1"/>
                </a:solidFill>
              </a:rPr>
              <a:t>module contains logic for performing a communication </a:t>
            </a:r>
            <a:r>
              <a:rPr lang="en-IN" dirty="0" smtClean="0">
                <a:solidFill>
                  <a:schemeClr val="tx1"/>
                </a:solidFill>
              </a:rPr>
              <a:t>function between </a:t>
            </a:r>
            <a:r>
              <a:rPr lang="en-IN" dirty="0">
                <a:solidFill>
                  <a:schemeClr val="tx1"/>
                </a:solidFill>
              </a:rPr>
              <a:t>the peripheral and the bus</a:t>
            </a:r>
            <a:r>
              <a:rPr lang="en-IN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706" t="14545" r="9412" b="9091"/>
              <a:stretch>
                <a:fillRect/>
              </a:stretch>
            </p:blipFill>
          </mc:Choice>
          <mc:Fallback>
            <p:blipFill>
              <a:blip r:embed="rId4"/>
              <a:srcRect l="4706" t="14545" r="9412" b="9091"/>
              <a:stretch>
                <a:fillRect/>
              </a:stretch>
            </p:blipFill>
          </mc:Fallback>
        </mc:AlternateContent>
        <p:spPr>
          <a:xfrm>
            <a:off x="2051720" y="1556792"/>
            <a:ext cx="5112568" cy="588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9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7556313" cy="1116106"/>
          </a:xfrm>
        </p:spPr>
        <p:txBody>
          <a:bodyPr/>
          <a:lstStyle/>
          <a:p>
            <a:pPr algn="ctr"/>
            <a:r>
              <a:rPr lang="en-US" dirty="0" smtClean="0"/>
              <a:t>I/O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04489"/>
            <a:ext cx="7556313" cy="638587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Why needed?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Computers </a:t>
            </a:r>
            <a:r>
              <a:rPr lang="en-US" dirty="0">
                <a:solidFill>
                  <a:schemeClr val="tx1"/>
                </a:solidFill>
              </a:rPr>
              <a:t>have a wide variety of peripherals 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Delivering </a:t>
            </a:r>
            <a:r>
              <a:rPr lang="en-US" dirty="0">
                <a:solidFill>
                  <a:schemeClr val="tx1"/>
                </a:solidFill>
              </a:rPr>
              <a:t>different amounts of data, at different speeds, in different formats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Most </a:t>
            </a:r>
            <a:r>
              <a:rPr lang="en-US" dirty="0">
                <a:solidFill>
                  <a:schemeClr val="tx1"/>
                </a:solidFill>
              </a:rPr>
              <a:t>peripherals are slower than CPU and RAM; a few are faster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Word </a:t>
            </a:r>
            <a:r>
              <a:rPr lang="en-US" dirty="0">
                <a:solidFill>
                  <a:schemeClr val="tx1"/>
                </a:solidFill>
              </a:rPr>
              <a:t>length for peripherals may vary from the CPU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Data </a:t>
            </a:r>
            <a:r>
              <a:rPr lang="en-US" dirty="0">
                <a:solidFill>
                  <a:schemeClr val="tx1"/>
                </a:solidFill>
              </a:rPr>
              <a:t>format may vary (e.g., one word might include parity bits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Two major functions: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Interface to processor or memory via bus or central link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 Interface to one or more peripherals via tailored data links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10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88640"/>
            <a:ext cx="7556313" cy="1116106"/>
          </a:xfrm>
        </p:spPr>
        <p:txBody>
          <a:bodyPr/>
          <a:lstStyle/>
          <a:p>
            <a:pPr algn="ctr"/>
            <a:r>
              <a:rPr lang="en-US" dirty="0" smtClean="0"/>
              <a:t>External Device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551" y="1052736"/>
            <a:ext cx="7556313" cy="561662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Provide a means of exchanging data between the external environment and the </a:t>
            </a:r>
            <a:r>
              <a:rPr lang="en-US" dirty="0" smtClean="0">
                <a:solidFill>
                  <a:schemeClr val="tx1"/>
                </a:solidFill>
              </a:rPr>
              <a:t>computer.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3636" t="11765" r="22727" b="20000"/>
              <a:stretch>
                <a:fillRect/>
              </a:stretch>
            </p:blipFill>
          </mc:Choice>
          <mc:Fallback>
            <p:blipFill>
              <a:blip r:embed="rId4"/>
              <a:srcRect l="23636" t="11765" r="22727" b="20000"/>
              <a:stretch>
                <a:fillRect/>
              </a:stretch>
            </p:blipFill>
          </mc:Fallback>
        </mc:AlternateContent>
        <p:spPr>
          <a:xfrm>
            <a:off x="1475656" y="1700808"/>
            <a:ext cx="5379634" cy="528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47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152400"/>
            <a:ext cx="7556500" cy="1116013"/>
          </a:xfrm>
        </p:spPr>
        <p:txBody>
          <a:bodyPr/>
          <a:lstStyle/>
          <a:p>
            <a:pPr algn="ctr"/>
            <a:r>
              <a:rPr lang="en-US" dirty="0" smtClean="0"/>
              <a:t>I/O Module</a:t>
            </a:r>
            <a:endParaRPr lang="en-US" dirty="0"/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6364" t="11765" r="8182" b="11765"/>
              <a:stretch>
                <a:fillRect/>
              </a:stretch>
            </p:blipFill>
          </mc:Choice>
          <mc:Fallback>
            <p:blipFill>
              <a:blip r:embed="rId4"/>
              <a:srcRect l="6364" t="11765" r="8182" b="11765"/>
              <a:stretch>
                <a:fillRect/>
              </a:stretch>
            </p:blipFill>
          </mc:Fallback>
        </mc:AlternateContent>
        <p:spPr>
          <a:xfrm>
            <a:off x="204559" y="838200"/>
            <a:ext cx="8705881" cy="601980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97" y="188640"/>
            <a:ext cx="7556313" cy="1116106"/>
          </a:xfrm>
        </p:spPr>
        <p:txBody>
          <a:bodyPr/>
          <a:lstStyle/>
          <a:p>
            <a:pPr algn="ctr"/>
            <a:r>
              <a:rPr lang="en-US" dirty="0" smtClean="0"/>
              <a:t>I/O Module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396" y="1052736"/>
            <a:ext cx="7556313" cy="568863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Control </a:t>
            </a:r>
            <a:r>
              <a:rPr lang="en-US" dirty="0">
                <a:solidFill>
                  <a:schemeClr val="tx1"/>
                </a:solidFill>
              </a:rPr>
              <a:t>and timing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Coordinates the flow of traffic between internal resources and external </a:t>
            </a:r>
            <a:r>
              <a:rPr lang="en-US" dirty="0" smtClean="0">
                <a:solidFill>
                  <a:schemeClr val="tx1"/>
                </a:solidFill>
              </a:rPr>
              <a:t>devices, sharing of resources.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Processor communication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command </a:t>
            </a:r>
            <a:r>
              <a:rPr lang="en-US" dirty="0">
                <a:solidFill>
                  <a:schemeClr val="tx1"/>
                </a:solidFill>
              </a:rPr>
              <a:t>decoding, data, status reporting, address recognition</a:t>
            </a:r>
          </a:p>
          <a:p>
            <a:r>
              <a:rPr lang="en-US" dirty="0">
                <a:solidFill>
                  <a:schemeClr val="tx1"/>
                </a:solidFill>
              </a:rPr>
              <a:t>Device communication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Data </a:t>
            </a:r>
            <a:r>
              <a:rPr lang="en-US" dirty="0">
                <a:solidFill>
                  <a:schemeClr val="tx1"/>
                </a:solidFill>
              </a:rPr>
              <a:t>buffering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Error </a:t>
            </a:r>
            <a:r>
              <a:rPr lang="en-US" dirty="0">
                <a:solidFill>
                  <a:schemeClr val="tx1"/>
                </a:solidFill>
              </a:rPr>
              <a:t>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15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556313" cy="963706"/>
          </a:xfrm>
        </p:spPr>
        <p:txBody>
          <a:bodyPr/>
          <a:lstStyle/>
          <a:p>
            <a:pPr algn="ctr"/>
            <a:r>
              <a:rPr lang="en-US" dirty="0" smtClean="0"/>
              <a:t>Techniques for I/O Operations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>
          <a:xfrm>
            <a:off x="457200" y="1524000"/>
            <a:ext cx="7556313" cy="5029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Three techniques are possible for I/O operations:</a:t>
            </a:r>
          </a:p>
          <a:p>
            <a:pPr lvl="1">
              <a:spcBef>
                <a:spcPts val="800"/>
              </a:spcBef>
            </a:pPr>
            <a:r>
              <a:rPr lang="en-US" dirty="0" smtClean="0">
                <a:solidFill>
                  <a:schemeClr val="tx1"/>
                </a:solidFill>
              </a:rPr>
              <a:t>Programmed I/O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spcBef>
                <a:spcPts val="800"/>
              </a:spcBef>
            </a:pPr>
            <a:r>
              <a:rPr lang="en-US" dirty="0" smtClean="0">
                <a:solidFill>
                  <a:schemeClr val="tx1"/>
                </a:solidFill>
              </a:rPr>
              <a:t>Interrupt-driven I/O</a:t>
            </a:r>
          </a:p>
          <a:p>
            <a:pPr lvl="1">
              <a:spcBef>
                <a:spcPts val="800"/>
              </a:spcBef>
            </a:pPr>
            <a:r>
              <a:rPr lang="en-US" dirty="0" smtClean="0">
                <a:solidFill>
                  <a:schemeClr val="tx1"/>
                </a:solidFill>
              </a:rPr>
              <a:t>Direct memory access (DMA)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4624"/>
            <a:ext cx="7556313" cy="1116106"/>
          </a:xfrm>
        </p:spPr>
        <p:txBody>
          <a:bodyPr/>
          <a:lstStyle/>
          <a:p>
            <a:pPr algn="ctr"/>
            <a:r>
              <a:rPr lang="en-US" dirty="0"/>
              <a:t>Programmed I/O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052736"/>
            <a:ext cx="3657600" cy="4140200"/>
          </a:xfrm>
        </p:spPr>
        <p:txBody>
          <a:bodyPr>
            <a:normAutofit/>
          </a:bodyPr>
          <a:lstStyle/>
          <a:p>
            <a:pPr marL="457200" algn="just">
              <a:spcBef>
                <a:spcPts val="800"/>
              </a:spcBef>
            </a:pPr>
            <a:r>
              <a:rPr lang="en-US" dirty="0" smtClean="0">
                <a:solidFill>
                  <a:schemeClr val="tx1"/>
                </a:solidFill>
              </a:rPr>
              <a:t>When </a:t>
            </a:r>
            <a:r>
              <a:rPr lang="en-US" dirty="0">
                <a:solidFill>
                  <a:schemeClr val="tx1"/>
                </a:solidFill>
              </a:rPr>
              <a:t>the processor issues a command it must wait until the I/O operation is complete</a:t>
            </a:r>
          </a:p>
          <a:p>
            <a:pPr marL="457200" algn="just">
              <a:spcBef>
                <a:spcPts val="800"/>
              </a:spcBef>
            </a:pPr>
            <a:r>
              <a:rPr lang="en-US" dirty="0">
                <a:solidFill>
                  <a:schemeClr val="tx1"/>
                </a:solidFill>
              </a:rPr>
              <a:t>If the processor is faster than the I/O module this is wasteful of processor time</a:t>
            </a:r>
          </a:p>
          <a:p>
            <a:pPr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b="3818"/>
          <a:stretch/>
        </p:blipFill>
        <p:spPr>
          <a:xfrm>
            <a:off x="4728408" y="602677"/>
            <a:ext cx="2795920" cy="623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9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518" y="0"/>
            <a:ext cx="7556313" cy="1116106"/>
          </a:xfrm>
        </p:spPr>
        <p:txBody>
          <a:bodyPr/>
          <a:lstStyle/>
          <a:p>
            <a:pPr algn="ctr"/>
            <a:r>
              <a:rPr lang="en-US" dirty="0"/>
              <a:t>Interrupt-Driven I/O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074" y="980728"/>
            <a:ext cx="3657600" cy="4140200"/>
          </a:xfrm>
        </p:spPr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Processor issues an I/O command, continues to execute other instructions, and is interrupted by the I/O module when the latter has completed its work</a:t>
            </a:r>
          </a:p>
          <a:p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b="4640"/>
          <a:stretch/>
        </p:blipFill>
        <p:spPr>
          <a:xfrm>
            <a:off x="4572000" y="620687"/>
            <a:ext cx="3312368" cy="622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5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xfrm>
            <a:off x="539552" y="-86362"/>
            <a:ext cx="7556313" cy="995082"/>
          </a:xfrm>
        </p:spPr>
        <p:txBody>
          <a:bodyPr/>
          <a:lstStyle/>
          <a:p>
            <a:pPr algn="ctr"/>
            <a:r>
              <a:rPr lang="en-US" dirty="0" smtClean="0"/>
              <a:t>Device Identification</a:t>
            </a:r>
            <a:endParaRPr lang="en-US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idx="1"/>
          </p:nvPr>
        </p:nvSpPr>
        <p:spPr>
          <a:xfrm>
            <a:off x="467544" y="908720"/>
            <a:ext cx="7848600" cy="4680520"/>
          </a:xfrm>
        </p:spPr>
        <p:txBody>
          <a:bodyPr>
            <a:normAutofit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b="1" dirty="0" smtClean="0"/>
              <a:t>Multiple interrupt lines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b="1" dirty="0" smtClean="0"/>
              <a:t>Software poll</a:t>
            </a:r>
          </a:p>
          <a:p>
            <a:pPr lvl="1"/>
            <a:r>
              <a:rPr lang="en-US" dirty="0" smtClean="0"/>
              <a:t>When processor detects an interrupt it branches to an interrupt-service routine whose job is to poll each I/O module to determine which module caused the interrupt.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b="1" dirty="0" smtClean="0"/>
              <a:t>Daisy chain (hardware poll, vectored)</a:t>
            </a:r>
          </a:p>
          <a:p>
            <a:pPr lvl="1"/>
            <a:r>
              <a:rPr lang="en-US" sz="2000" dirty="0" smtClean="0"/>
              <a:t>Interrupt acknowledge line is daisy chained through the modules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b="1" dirty="0" smtClean="0"/>
              <a:t>Bus </a:t>
            </a:r>
            <a:r>
              <a:rPr lang="en-US" b="1" dirty="0" smtClean="0"/>
              <a:t>arbitration (vectored)</a:t>
            </a:r>
          </a:p>
          <a:p>
            <a:pPr lvl="1"/>
            <a:r>
              <a:rPr lang="en-US" sz="2000" dirty="0" smtClean="0"/>
              <a:t>An I/O module must first gain control of the bus before it can raise the interrupt request line</a:t>
            </a:r>
          </a:p>
        </p:txBody>
      </p:sp>
    </p:spTree>
    <p:extLst>
      <p:ext uri="{BB962C8B-B14F-4D97-AF65-F5344CB8AC3E}">
        <p14:creationId xmlns:p14="http://schemas.microsoft.com/office/powerpoint/2010/main" val="23882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1" y="155476"/>
            <a:ext cx="7556313" cy="1116106"/>
          </a:xfrm>
        </p:spPr>
        <p:txBody>
          <a:bodyPr/>
          <a:lstStyle/>
          <a:p>
            <a:pPr algn="ctr"/>
            <a:r>
              <a:rPr lang="en-US" dirty="0"/>
              <a:t>Direct </a:t>
            </a:r>
            <a:r>
              <a:rPr lang="en-US" dirty="0" smtClean="0"/>
              <a:t>Memory Access </a:t>
            </a:r>
            <a:r>
              <a:rPr lang="en-US" dirty="0"/>
              <a:t>(DMA)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1" y="836712"/>
            <a:ext cx="7556313" cy="4144963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I/O </a:t>
            </a:r>
            <a:r>
              <a:rPr lang="en-US" dirty="0">
                <a:solidFill>
                  <a:schemeClr val="tx1"/>
                </a:solidFill>
              </a:rPr>
              <a:t>module and main memory exchange data directly without processor </a:t>
            </a:r>
            <a:r>
              <a:rPr lang="en-US" dirty="0" smtClean="0">
                <a:solidFill>
                  <a:schemeClr val="tx1"/>
                </a:solidFill>
              </a:rPr>
              <a:t>involvement.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 descr="f11.pdf"/>
          <p:cNvPicPr>
            <a:picLocks noChangeAspect="1"/>
          </p:cNvPicPr>
          <p:nvPr/>
        </p:nvPicPr>
        <p:blipFill rotWithShape="1">
          <a:blip r:embed="rId2"/>
          <a:srcRect l="4706" t="10909" r="8235" b="33642"/>
          <a:stretch/>
        </p:blipFill>
        <p:spPr>
          <a:xfrm>
            <a:off x="3563888" y="1456985"/>
            <a:ext cx="6552728" cy="54010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19608"/>
          <a:stretch/>
        </p:blipFill>
        <p:spPr>
          <a:xfrm>
            <a:off x="179512" y="2029347"/>
            <a:ext cx="371543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5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12.pdf"/>
          <p:cNvPicPr>
            <a:picLocks noGrp="1" noChangeAspect="1"/>
          </p:cNvPicPr>
          <p:nvPr>
            <p:ph type="pic"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2091" t="12941" r="10273" b="14118"/>
              <a:stretch>
                <a:fillRect/>
              </a:stretch>
            </p:blipFill>
          </mc:Choice>
          <mc:Fallback>
            <p:blipFill>
              <a:blip r:embed="rId4"/>
              <a:srcRect l="12091" t="12941" r="10273" b="14118"/>
              <a:stretch>
                <a:fillRect/>
              </a:stretch>
            </p:blipFill>
          </mc:Fallback>
        </mc:AlternateContent>
        <p:spPr>
          <a:xfrm>
            <a:off x="454753" y="-638"/>
            <a:ext cx="6174647" cy="4482959"/>
          </a:xfrm>
        </p:spPr>
      </p:pic>
      <p:sp>
        <p:nvSpPr>
          <p:cNvPr id="12" name="TextBox 11"/>
          <p:cNvSpPr txBox="1"/>
          <p:nvPr/>
        </p:nvSpPr>
        <p:spPr>
          <a:xfrm>
            <a:off x="6781800" y="914401"/>
            <a:ext cx="2133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</a:t>
            </a:r>
            <a:endParaRPr 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05600" y="3048000"/>
            <a:ext cx="2133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</a:t>
            </a:r>
            <a:endParaRPr 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3255264" cy="2362200"/>
          </a:xfrm>
        </p:spPr>
        <p:txBody>
          <a:bodyPr>
            <a:normAutofit/>
          </a:bodyPr>
          <a:lstStyle/>
          <a:p>
            <a:pPr algn="ctr"/>
            <a: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Alternative </a:t>
            </a:r>
            <a:b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 </a:t>
            </a:r>
            <a:b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Configurations</a:t>
            </a:r>
            <a:endParaRPr lang="en-GB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1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44636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0768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381000" y="1219200"/>
            <a:ext cx="3255264" cy="1828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 Architecture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44636" y="0"/>
            <a:ext cx="5299364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3255264" cy="27432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Parallel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Serial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1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5455" r="15455"/>
              <a:stretch>
                <a:fillRect/>
              </a:stretch>
            </p:blipFill>
          </mc:Choice>
          <mc:Fallback>
            <p:blipFill>
              <a:blip r:embed="rId4"/>
              <a:srcRect l="15455" r="15455"/>
              <a:stretch>
                <a:fillRect/>
              </a:stretch>
            </p:blipFill>
          </mc:Fallback>
        </mc:AlternateContent>
        <p:spPr>
          <a:xfrm>
            <a:off x="3557376" y="304800"/>
            <a:ext cx="5586624" cy="624840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Reference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340768"/>
            <a:ext cx="7556313" cy="4144963"/>
          </a:xfrm>
        </p:spPr>
        <p:txBody>
          <a:bodyPr/>
          <a:lstStyle/>
          <a:p>
            <a:r>
              <a:rPr lang="en-US" dirty="0"/>
              <a:t>Computer Organization and Architecture: Designing for Performance, William Stallings, 9</a:t>
            </a:r>
            <a:r>
              <a:rPr lang="en-US" baseline="30000" dirty="0"/>
              <a:t>th</a:t>
            </a:r>
            <a:r>
              <a:rPr lang="en-US" dirty="0"/>
              <a:t> Edition, Pearson India, 2013.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271312"/>
      </p:ext>
    </p:extLst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3297</TotalTime>
  <Words>659</Words>
  <Application>Microsoft Office PowerPoint</Application>
  <PresentationFormat>On-screen Show (4:3)</PresentationFormat>
  <Paragraphs>84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Rockwell</vt:lpstr>
      <vt:lpstr>Times New Roman</vt:lpstr>
      <vt:lpstr>Wingdings</vt:lpstr>
      <vt:lpstr>Advantage</vt:lpstr>
      <vt:lpstr>Input/Output</vt:lpstr>
      <vt:lpstr>PowerPoint Presentation</vt:lpstr>
      <vt:lpstr>I/O Modules</vt:lpstr>
      <vt:lpstr>External Device</vt:lpstr>
      <vt:lpstr>I/O Module</vt:lpstr>
      <vt:lpstr>I/O Module Functions</vt:lpstr>
      <vt:lpstr>Techniques for I/O Operations</vt:lpstr>
      <vt:lpstr>Programmed I/O</vt:lpstr>
      <vt:lpstr>Interrupt-Driven I/O</vt:lpstr>
      <vt:lpstr>Device Identification</vt:lpstr>
      <vt:lpstr>Direct Memory Access (DMA) </vt:lpstr>
      <vt:lpstr>PowerPoint Presentation</vt:lpstr>
      <vt:lpstr>Alternative  DMA  Configurations</vt:lpstr>
      <vt:lpstr>I/O  Channel Architecture</vt:lpstr>
      <vt:lpstr>Parallel  and  Serial  I/O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Input Output</dc:title>
  <dc:creator>Adrian J Pullin</dc:creator>
  <cp:lastModifiedBy>Divya Lohani</cp:lastModifiedBy>
  <cp:revision>160</cp:revision>
  <dcterms:created xsi:type="dcterms:W3CDTF">2012-06-24T19:18:50Z</dcterms:created>
  <dcterms:modified xsi:type="dcterms:W3CDTF">2018-10-11T08:50:47Z</dcterms:modified>
</cp:coreProperties>
</file>