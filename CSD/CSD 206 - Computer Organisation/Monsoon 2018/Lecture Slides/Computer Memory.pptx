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30"/>
  </p:notesMasterIdLst>
  <p:handoutMasterIdLst>
    <p:handoutMasterId r:id="rId31"/>
  </p:handoutMasterIdLst>
  <p:sldIdLst>
    <p:sldId id="445" r:id="rId2"/>
    <p:sldId id="409" r:id="rId3"/>
    <p:sldId id="535" r:id="rId4"/>
    <p:sldId id="451" r:id="rId5"/>
    <p:sldId id="365" r:id="rId6"/>
    <p:sldId id="509" r:id="rId7"/>
    <p:sldId id="453" r:id="rId8"/>
    <p:sldId id="455" r:id="rId9"/>
    <p:sldId id="456" r:id="rId10"/>
    <p:sldId id="454" r:id="rId11"/>
    <p:sldId id="496" r:id="rId12"/>
    <p:sldId id="534" r:id="rId13"/>
    <p:sldId id="532" r:id="rId14"/>
    <p:sldId id="533" r:id="rId15"/>
    <p:sldId id="510" r:id="rId16"/>
    <p:sldId id="511" r:id="rId17"/>
    <p:sldId id="512" r:id="rId18"/>
    <p:sldId id="513" r:id="rId19"/>
    <p:sldId id="515" r:id="rId20"/>
    <p:sldId id="516" r:id="rId21"/>
    <p:sldId id="517" r:id="rId22"/>
    <p:sldId id="518" r:id="rId23"/>
    <p:sldId id="521" r:id="rId24"/>
    <p:sldId id="523" r:id="rId25"/>
    <p:sldId id="525" r:id="rId26"/>
    <p:sldId id="527" r:id="rId27"/>
    <p:sldId id="530" r:id="rId28"/>
    <p:sldId id="531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7547" autoAdjust="0"/>
    <p:restoredTop sz="96224" autoAdjust="0"/>
  </p:normalViewPr>
  <p:slideViewPr>
    <p:cSldViewPr>
      <p:cViewPr varScale="1">
        <p:scale>
          <a:sx n="110" d="100"/>
          <a:sy n="110" d="100"/>
        </p:scale>
        <p:origin x="126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2" Type="http://schemas.openxmlformats.org/officeDocument/2006/relationships/slide" Target="slides/slide5.xml"/><Relationship Id="rId1" Type="http://schemas.openxmlformats.org/officeDocument/2006/relationships/slide" Target="slides/slide3.xml"/><Relationship Id="rId4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A63070-95B0-C841-848B-70D96460402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3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D245E4-CB43-F844-B5DA-3C7BAF45101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365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521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75EE1B-C934-B74D-A270-01132EE6DE65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complex subject of computer memory is made more manageable if we classify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systems according to their key characteristics. The most important of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listed in Table 4.1.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13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40E98-D33D-704E-929D-27FB84CF563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407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543B77-195A-401B-A4E2-734078AE388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3121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40E98-D33D-704E-929D-27FB84CF563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824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40E98-D33D-704E-929D-27FB84CF563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391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DC8EB7-64A6-2345-BE9F-FA0A456F7B44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046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C40E98-D33D-704E-929D-27FB84CF563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306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D4027A-1F35-5E4F-A396-E4C0090964D1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7053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104403-97C8-424F-9205-9E80F543074F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319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97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38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398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11/15/2018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11/15/2018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11/15/2018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11/15/2018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11/15/2018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d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d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79512" y="3933056"/>
            <a:ext cx="6558880" cy="833718"/>
          </a:xfrm>
        </p:spPr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Memory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450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719" y="188640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Introduction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619" y="1052736"/>
            <a:ext cx="7830414" cy="511256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C</a:t>
            </a:r>
            <a:r>
              <a:rPr lang="en-IN" dirty="0" smtClean="0">
                <a:solidFill>
                  <a:schemeClr val="tx1"/>
                </a:solidFill>
              </a:rPr>
              <a:t>omputer </a:t>
            </a:r>
            <a:r>
              <a:rPr lang="en-IN" dirty="0">
                <a:solidFill>
                  <a:schemeClr val="tx1"/>
                </a:solidFill>
              </a:rPr>
              <a:t>memory exhibits </a:t>
            </a:r>
            <a:r>
              <a:rPr lang="en-IN" dirty="0" smtClean="0">
                <a:solidFill>
                  <a:schemeClr val="tx1"/>
                </a:solidFill>
              </a:rPr>
              <a:t>the widest range </a:t>
            </a:r>
            <a:r>
              <a:rPr lang="en-IN" dirty="0">
                <a:solidFill>
                  <a:schemeClr val="tx1"/>
                </a:solidFill>
              </a:rPr>
              <a:t>of type, technology, organization, performance, and cost of any </a:t>
            </a:r>
            <a:r>
              <a:rPr lang="en-IN" dirty="0" smtClean="0">
                <a:solidFill>
                  <a:schemeClr val="tx1"/>
                </a:solidFill>
              </a:rPr>
              <a:t>feature of </a:t>
            </a:r>
            <a:r>
              <a:rPr lang="en-IN" dirty="0">
                <a:solidFill>
                  <a:schemeClr val="tx1"/>
                </a:solidFill>
              </a:rPr>
              <a:t>a computer system. </a:t>
            </a:r>
            <a:endParaRPr lang="en-IN" dirty="0" smtClean="0">
              <a:solidFill>
                <a:schemeClr val="tx1"/>
              </a:solidFill>
            </a:endParaRPr>
          </a:p>
          <a:p>
            <a:pPr algn="just"/>
            <a:r>
              <a:rPr lang="en-IN" dirty="0" smtClean="0">
                <a:solidFill>
                  <a:schemeClr val="tx1"/>
                </a:solidFill>
              </a:rPr>
              <a:t>No </a:t>
            </a:r>
            <a:r>
              <a:rPr lang="en-IN" dirty="0">
                <a:solidFill>
                  <a:schemeClr val="tx1"/>
                </a:solidFill>
              </a:rPr>
              <a:t>single technology is optimal in satisfying the </a:t>
            </a:r>
            <a:r>
              <a:rPr lang="en-IN" dirty="0" smtClean="0">
                <a:solidFill>
                  <a:schemeClr val="tx1"/>
                </a:solidFill>
              </a:rPr>
              <a:t>memory requirements </a:t>
            </a:r>
            <a:r>
              <a:rPr lang="en-IN" dirty="0">
                <a:solidFill>
                  <a:schemeClr val="tx1"/>
                </a:solidFill>
              </a:rPr>
              <a:t>for a computer system. 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C</a:t>
            </a:r>
            <a:r>
              <a:rPr lang="en-IN" dirty="0" smtClean="0">
                <a:solidFill>
                  <a:schemeClr val="tx1"/>
                </a:solidFill>
              </a:rPr>
              <a:t>omputer system </a:t>
            </a:r>
            <a:r>
              <a:rPr lang="en-IN" dirty="0">
                <a:solidFill>
                  <a:schemeClr val="tx1"/>
                </a:solidFill>
              </a:rPr>
              <a:t>is equipped with a hierarchy of memory subsystems, some internal to </a:t>
            </a:r>
            <a:r>
              <a:rPr lang="en-IN" dirty="0" smtClean="0">
                <a:solidFill>
                  <a:schemeClr val="tx1"/>
                </a:solidFill>
              </a:rPr>
              <a:t>the system </a:t>
            </a:r>
            <a:r>
              <a:rPr lang="en-IN" dirty="0">
                <a:solidFill>
                  <a:schemeClr val="tx1"/>
                </a:solidFill>
              </a:rPr>
              <a:t>(directly accessible by the processor) and some external (accessible by </a:t>
            </a:r>
            <a:r>
              <a:rPr lang="en-IN" dirty="0" smtClean="0">
                <a:solidFill>
                  <a:schemeClr val="tx1"/>
                </a:solidFill>
              </a:rPr>
              <a:t>the processor </a:t>
            </a:r>
            <a:r>
              <a:rPr lang="en-IN" dirty="0">
                <a:solidFill>
                  <a:schemeClr val="tx1"/>
                </a:solidFill>
              </a:rPr>
              <a:t>via an I/O module</a:t>
            </a:r>
            <a:r>
              <a:rPr lang="en-IN" dirty="0" smtClean="0">
                <a:solidFill>
                  <a:schemeClr val="tx1"/>
                </a:solidFill>
              </a:rPr>
              <a:t>).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22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533400"/>
            <a:ext cx="7556500" cy="1116012"/>
          </a:xfrm>
        </p:spPr>
        <p:txBody>
          <a:bodyPr/>
          <a:lstStyle/>
          <a:p>
            <a:r>
              <a:rPr lang="en-GB" dirty="0" smtClean="0"/>
              <a:t>Key Characteristics of Computer Memory Systems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1000" y="1905000"/>
            <a:ext cx="8431917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4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Memory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4"/>
            <a:ext cx="7556313" cy="4724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Design constraints on a computer’s memory can be summed up by three questions: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How much, how fast, how expensive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There is a trade-off among capacity, access time, and cost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Faster access time, greater cost per bit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Greater capacity, smaller cost per bit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Greater capacity, slower access time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The way out of the memory dilemma is not to rely on a single memory component or technology, but to employ a memory hierarchy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Hierarchy List</a:t>
            </a:r>
          </a:p>
        </p:txBody>
      </p:sp>
      <p:sp>
        <p:nvSpPr>
          <p:cNvPr id="2" name="Rectangle 1"/>
          <p:cNvSpPr/>
          <p:nvPr/>
        </p:nvSpPr>
        <p:spPr>
          <a:xfrm>
            <a:off x="3923928" y="1048380"/>
            <a:ext cx="40324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As one goes down the </a:t>
            </a:r>
            <a:r>
              <a:rPr lang="en-IN" dirty="0" smtClean="0">
                <a:solidFill>
                  <a:srgbClr val="FF0000"/>
                </a:solidFill>
              </a:rPr>
              <a:t>hierarchy, following occurs: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dirty="0" smtClean="0">
                <a:solidFill>
                  <a:srgbClr val="FF0000"/>
                </a:solidFill>
              </a:rPr>
              <a:t>Decreasing </a:t>
            </a:r>
            <a:r>
              <a:rPr lang="en-IN" dirty="0">
                <a:solidFill>
                  <a:srgbClr val="FF0000"/>
                </a:solidFill>
              </a:rPr>
              <a:t>cost per bit, </a:t>
            </a:r>
            <a:endParaRPr lang="en-IN" dirty="0" smtClean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dirty="0" smtClean="0">
                <a:solidFill>
                  <a:srgbClr val="FF0000"/>
                </a:solidFill>
              </a:rPr>
              <a:t>Increasing </a:t>
            </a:r>
            <a:r>
              <a:rPr lang="en-IN" dirty="0">
                <a:solidFill>
                  <a:srgbClr val="FF0000"/>
                </a:solidFill>
              </a:rPr>
              <a:t>capacity, </a:t>
            </a:r>
            <a:endParaRPr lang="en-IN" dirty="0" smtClean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dirty="0" smtClean="0">
                <a:solidFill>
                  <a:srgbClr val="FF0000"/>
                </a:solidFill>
              </a:rPr>
              <a:t>Increasing </a:t>
            </a:r>
            <a:r>
              <a:rPr lang="en-IN" dirty="0">
                <a:solidFill>
                  <a:srgbClr val="FF0000"/>
                </a:solidFill>
              </a:rPr>
              <a:t>access time, </a:t>
            </a:r>
            <a:endParaRPr lang="en-IN" dirty="0" smtClean="0">
              <a:solidFill>
                <a:srgbClr val="FF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IN" dirty="0" smtClean="0">
                <a:solidFill>
                  <a:srgbClr val="FF0000"/>
                </a:solidFill>
              </a:rPr>
              <a:t>Decreasing </a:t>
            </a:r>
            <a:r>
              <a:rPr lang="en-IN" dirty="0">
                <a:solidFill>
                  <a:srgbClr val="FF0000"/>
                </a:solidFill>
              </a:rPr>
              <a:t>frequency of access of the memory by the processor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520" y="1340768"/>
            <a:ext cx="367240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Registers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L1 Cache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L2 Cache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Main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Hard </a:t>
            </a:r>
            <a:r>
              <a:rPr lang="en-GB" altLang="en-US" sz="3200" dirty="0"/>
              <a:t>Drive/ Magnetic </a:t>
            </a:r>
            <a:r>
              <a:rPr lang="en-GB" altLang="en-US" sz="3200" dirty="0" smtClean="0"/>
              <a:t>Disks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Optical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3200" dirty="0" smtClean="0"/>
              <a:t>Magnetic Tape</a:t>
            </a:r>
            <a:endParaRPr lang="en-GB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0769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Locality of Reference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268760"/>
            <a:ext cx="7556313" cy="547260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>
                <a:solidFill>
                  <a:schemeClr val="tx1"/>
                </a:solidFill>
              </a:rPr>
              <a:t>Programs tend to reuse data and instructions they have used </a:t>
            </a:r>
            <a:r>
              <a:rPr lang="en-US" altLang="en-US" dirty="0" smtClean="0">
                <a:solidFill>
                  <a:schemeClr val="tx1"/>
                </a:solidFill>
              </a:rPr>
              <a:t>recently (subroutines and iterations).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r>
              <a:rPr lang="en-IN" dirty="0" smtClean="0">
                <a:solidFill>
                  <a:schemeClr val="tx1"/>
                </a:solidFill>
              </a:rPr>
              <a:t>Memory references tend </a:t>
            </a:r>
            <a:r>
              <a:rPr lang="en-IN" dirty="0">
                <a:solidFill>
                  <a:schemeClr val="tx1"/>
                </a:solidFill>
              </a:rPr>
              <a:t>to </a:t>
            </a:r>
            <a:r>
              <a:rPr lang="en-IN" dirty="0" smtClean="0">
                <a:solidFill>
                  <a:schemeClr val="tx1"/>
                </a:solidFill>
              </a:rPr>
              <a:t>cluster - over </a:t>
            </a:r>
            <a:r>
              <a:rPr lang="en-IN" dirty="0">
                <a:solidFill>
                  <a:schemeClr val="tx1"/>
                </a:solidFill>
              </a:rPr>
              <a:t>a short period of time, the processor is primarily working with fixed clusters </a:t>
            </a:r>
            <a:r>
              <a:rPr lang="en-IN" dirty="0" smtClean="0">
                <a:solidFill>
                  <a:schemeClr val="tx1"/>
                </a:solidFill>
              </a:rPr>
              <a:t>of memory references.</a:t>
            </a:r>
          </a:p>
          <a:p>
            <a:pPr algn="just"/>
            <a:r>
              <a:rPr lang="en-US" altLang="en-US" dirty="0">
                <a:solidFill>
                  <a:schemeClr val="tx1"/>
                </a:solidFill>
              </a:rPr>
              <a:t>An implication of locality is that we can predict with reasonable accuracy what instructions and data a </a:t>
            </a:r>
            <a:r>
              <a:rPr lang="en-US" altLang="en-US" dirty="0" smtClean="0">
                <a:solidFill>
                  <a:schemeClr val="tx1"/>
                </a:solidFill>
              </a:rPr>
              <a:t>program will </a:t>
            </a:r>
            <a:r>
              <a:rPr lang="en-US" altLang="en-US" dirty="0">
                <a:solidFill>
                  <a:schemeClr val="tx1"/>
                </a:solidFill>
              </a:rPr>
              <a:t>use in the near future based on its accesses in the recent past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IN" b="1" dirty="0">
                <a:solidFill>
                  <a:schemeClr val="tx1"/>
                </a:solidFill>
              </a:rPr>
              <a:t>Spatial locality </a:t>
            </a:r>
          </a:p>
          <a:p>
            <a:pPr lvl="1" algn="just"/>
            <a:r>
              <a:rPr lang="en-IN" dirty="0" smtClean="0">
                <a:solidFill>
                  <a:schemeClr val="tx1"/>
                </a:solidFill>
              </a:rPr>
              <a:t>tendency </a:t>
            </a:r>
            <a:r>
              <a:rPr lang="en-IN" dirty="0">
                <a:solidFill>
                  <a:schemeClr val="tx1"/>
                </a:solidFill>
              </a:rPr>
              <a:t>of a processor to involve a number of memory </a:t>
            </a:r>
            <a:r>
              <a:rPr lang="en-IN" dirty="0" smtClean="0">
                <a:solidFill>
                  <a:schemeClr val="tx1"/>
                </a:solidFill>
              </a:rPr>
              <a:t>locations </a:t>
            </a:r>
            <a:r>
              <a:rPr lang="en-IN" dirty="0">
                <a:solidFill>
                  <a:schemeClr val="tx1"/>
                </a:solidFill>
              </a:rPr>
              <a:t>that are </a:t>
            </a:r>
            <a:r>
              <a:rPr lang="en-IN" dirty="0" smtClean="0">
                <a:solidFill>
                  <a:schemeClr val="tx1"/>
                </a:solidFill>
              </a:rPr>
              <a:t>clustered (addresses are near to one another).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r>
              <a:rPr lang="en-IN" b="1" dirty="0">
                <a:solidFill>
                  <a:schemeClr val="tx1"/>
                </a:solidFill>
              </a:rPr>
              <a:t>Temporal locality</a:t>
            </a:r>
          </a:p>
          <a:p>
            <a:pPr lvl="1" algn="just"/>
            <a:r>
              <a:rPr lang="en-IN" dirty="0" smtClean="0">
                <a:solidFill>
                  <a:schemeClr val="tx1"/>
                </a:solidFill>
              </a:rPr>
              <a:t>tendency </a:t>
            </a:r>
            <a:r>
              <a:rPr lang="en-IN" dirty="0">
                <a:solidFill>
                  <a:schemeClr val="tx1"/>
                </a:solidFill>
              </a:rPr>
              <a:t>of a processor to access memory locations that have been used recently. 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  <a:p>
            <a:pPr algn="just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76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7556500" cy="1116012"/>
          </a:xfrm>
        </p:spPr>
        <p:txBody>
          <a:bodyPr/>
          <a:lstStyle/>
          <a:p>
            <a:pPr algn="ctr"/>
            <a:r>
              <a:rPr lang="en-GB" dirty="0"/>
              <a:t>Cache and Main Memory</a:t>
            </a:r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909" b="27273"/>
              <a:stretch>
                <a:fillRect/>
              </a:stretch>
            </p:blipFill>
          </mc:Choice>
          <mc:Fallback>
            <p:blipFill>
              <a:blip r:embed="rId4"/>
              <a:srcRect t="909" b="27273"/>
              <a:stretch>
                <a:fillRect/>
              </a:stretch>
            </p:blipFill>
          </mc:Fallback>
        </mc:AlternateContent>
        <p:spPr>
          <a:xfrm>
            <a:off x="1752600" y="914400"/>
            <a:ext cx="639517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2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86400" y="762000"/>
            <a:ext cx="4038600" cy="1725612"/>
          </a:xfrm>
        </p:spPr>
        <p:txBody>
          <a:bodyPr/>
          <a:lstStyle/>
          <a:p>
            <a:r>
              <a:rPr lang="en-GB" dirty="0"/>
              <a:t>Cache Read </a:t>
            </a:r>
            <a:r>
              <a:rPr lang="en-GB" dirty="0" smtClean="0"/>
              <a:t>Operation</a:t>
            </a:r>
            <a:endParaRPr lang="en-GB" dirty="0"/>
          </a:p>
        </p:txBody>
      </p:sp>
      <p:pic>
        <p:nvPicPr>
          <p:cNvPr id="5" name="Picture 4" descr="f5.pdf"/>
          <p:cNvPicPr>
            <a:picLocks noChangeAspect="1"/>
          </p:cNvPicPr>
          <p:nvPr/>
        </p:nvPicPr>
        <p:blipFill rotWithShape="1">
          <a:blip r:embed="rId3"/>
          <a:srcRect t="9091" b="18123"/>
          <a:stretch/>
        </p:blipFill>
        <p:spPr>
          <a:xfrm>
            <a:off x="914400" y="583109"/>
            <a:ext cx="5926282" cy="558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82665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pPr algn="ctr"/>
            <a:r>
              <a:rPr lang="en-GB" dirty="0" smtClean="0"/>
              <a:t>Typical Cache Organization</a:t>
            </a:r>
            <a:endParaRPr lang="en-GB" dirty="0"/>
          </a:p>
        </p:txBody>
      </p:sp>
      <p:pic>
        <p:nvPicPr>
          <p:cNvPr id="5" name="Picture 4" descr="f6.pdf"/>
          <p:cNvPicPr>
            <a:picLocks noChangeAspect="1"/>
          </p:cNvPicPr>
          <p:nvPr/>
        </p:nvPicPr>
        <p:blipFill rotWithShape="1">
          <a:blip r:embed="rId3"/>
          <a:srcRect t="19999" b="25768"/>
          <a:stretch/>
        </p:blipFill>
        <p:spPr>
          <a:xfrm>
            <a:off x="1219200" y="1098992"/>
            <a:ext cx="6705600" cy="470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1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2"/>
          </a:xfrm>
        </p:spPr>
        <p:txBody>
          <a:bodyPr/>
          <a:lstStyle/>
          <a:p>
            <a:pPr algn="ctr"/>
            <a:r>
              <a:rPr lang="en-GB" dirty="0"/>
              <a:t>Cache/Main Memory Structure</a:t>
            </a:r>
          </a:p>
        </p:txBody>
      </p:sp>
      <p:pic>
        <p:nvPicPr>
          <p:cNvPr id="4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4545" t="9412" r="4545" b="5882"/>
              <a:stretch>
                <a:fillRect/>
              </a:stretch>
            </p:blipFill>
          </mc:Choice>
          <mc:Fallback>
            <p:blipFill>
              <a:blip r:embed="rId4"/>
              <a:srcRect l="4545" t="9412" r="4545" b="5882"/>
              <a:stretch>
                <a:fillRect/>
              </a:stretch>
            </p:blipFill>
          </mc:Fallback>
        </mc:AlternateContent>
        <p:spPr>
          <a:xfrm>
            <a:off x="533400" y="1048982"/>
            <a:ext cx="8068087" cy="580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7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72" y="1196752"/>
            <a:ext cx="7556313" cy="5616624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Cache Size</a:t>
            </a:r>
          </a:p>
          <a:p>
            <a:r>
              <a:rPr lang="en-US" sz="2400" dirty="0">
                <a:solidFill>
                  <a:schemeClr val="tx1"/>
                </a:solidFill>
              </a:rPr>
              <a:t>Line Size</a:t>
            </a:r>
          </a:p>
          <a:p>
            <a:r>
              <a:rPr lang="en-US" sz="2400" dirty="0">
                <a:solidFill>
                  <a:schemeClr val="tx1"/>
                </a:solidFill>
              </a:rPr>
              <a:t>Number of </a:t>
            </a:r>
            <a:r>
              <a:rPr lang="en-US" sz="2400" dirty="0" smtClean="0">
                <a:solidFill>
                  <a:schemeClr val="tx1"/>
                </a:solidFill>
              </a:rPr>
              <a:t>Caches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Cache Mapping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Replacement Algorithms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Write Policy</a:t>
            </a:r>
          </a:p>
          <a:p>
            <a:pPr lvl="1"/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12186" y="332656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Elements of Cache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3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72" y="1196752"/>
            <a:ext cx="7556313" cy="5616624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Direct Mapping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Associative Mapping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Set associative mapping</a:t>
            </a:r>
          </a:p>
          <a:p>
            <a:pPr lvl="1"/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12186" y="332656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Cache 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0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 smtClean="0"/>
              <a:t>Internal Memory</a:t>
            </a:r>
            <a:endParaRPr lang="en-IN" sz="44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39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260648"/>
            <a:ext cx="7556313" cy="1116106"/>
          </a:xfrm>
        </p:spPr>
        <p:txBody>
          <a:bodyPr/>
          <a:lstStyle/>
          <a:p>
            <a:pPr algn="ctr"/>
            <a:r>
              <a:rPr lang="en-IN" dirty="0" smtClean="0"/>
              <a:t>Internal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052736"/>
            <a:ext cx="7556313" cy="5760640"/>
          </a:xfrm>
        </p:spPr>
        <p:txBody>
          <a:bodyPr>
            <a:normAutofit/>
          </a:bodyPr>
          <a:lstStyle/>
          <a:p>
            <a:r>
              <a:rPr lang="en-IN" sz="2400" dirty="0" smtClean="0">
                <a:solidFill>
                  <a:schemeClr val="tx1"/>
                </a:solidFill>
              </a:rPr>
              <a:t>Organization</a:t>
            </a:r>
          </a:p>
          <a:p>
            <a:r>
              <a:rPr lang="en-IN" sz="2400" dirty="0" smtClean="0">
                <a:solidFill>
                  <a:schemeClr val="tx1"/>
                </a:solidFill>
              </a:rPr>
              <a:t>SRAM DRAM</a:t>
            </a:r>
          </a:p>
          <a:p>
            <a:r>
              <a:rPr lang="en-IN" sz="2400" dirty="0" smtClean="0">
                <a:solidFill>
                  <a:schemeClr val="tx1"/>
                </a:solidFill>
              </a:rPr>
              <a:t>Types </a:t>
            </a:r>
            <a:r>
              <a:rPr lang="en-IN" sz="2400" dirty="0">
                <a:solidFill>
                  <a:schemeClr val="tx1"/>
                </a:solidFill>
              </a:rPr>
              <a:t>of ROM</a:t>
            </a:r>
          </a:p>
        </p:txBody>
      </p:sp>
    </p:spTree>
    <p:extLst>
      <p:ext uri="{BB962C8B-B14F-4D97-AF65-F5344CB8AC3E}">
        <p14:creationId xmlns:p14="http://schemas.microsoft.com/office/powerpoint/2010/main" val="371902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smtClean="0"/>
              <a:t>External Memory</a:t>
            </a:r>
            <a:endParaRPr lang="en-US" sz="44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3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16632"/>
            <a:ext cx="7368987" cy="1116106"/>
          </a:xfrm>
        </p:spPr>
        <p:txBody>
          <a:bodyPr/>
          <a:lstStyle/>
          <a:p>
            <a:pPr algn="ctr"/>
            <a:r>
              <a:rPr lang="en-GB" dirty="0"/>
              <a:t>Magnetic Tape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908720"/>
            <a:ext cx="8712968" cy="6048672"/>
          </a:xfrm>
        </p:spPr>
        <p:txBody>
          <a:bodyPr>
            <a:normAutofit/>
          </a:bodyPr>
          <a:lstStyle/>
          <a:p>
            <a:r>
              <a:rPr lang="en-GB" sz="2400" dirty="0" smtClean="0">
                <a:solidFill>
                  <a:schemeClr val="tx1"/>
                </a:solidFill>
              </a:rPr>
              <a:t>Magnetic tape was the first kind of secondary memory.</a:t>
            </a:r>
          </a:p>
          <a:p>
            <a:r>
              <a:rPr lang="en-GB" sz="2400" dirty="0" smtClean="0">
                <a:solidFill>
                  <a:schemeClr val="tx1"/>
                </a:solidFill>
              </a:rPr>
              <a:t>Still Used as low cost, slowest speed member of the memory hierarchy.</a:t>
            </a:r>
          </a:p>
          <a:p>
            <a:r>
              <a:rPr lang="en-GB" sz="2400" dirty="0" smtClean="0">
                <a:solidFill>
                  <a:schemeClr val="tx1"/>
                </a:solidFill>
              </a:rPr>
              <a:t>Medium is flexible polyester tape coated with </a:t>
            </a:r>
            <a:r>
              <a:rPr lang="en-GB" sz="2400" dirty="0" err="1" smtClean="0">
                <a:solidFill>
                  <a:schemeClr val="tx1"/>
                </a:solidFill>
              </a:rPr>
              <a:t>magnetizable</a:t>
            </a:r>
            <a:r>
              <a:rPr lang="en-GB" sz="2400" dirty="0" smtClean="0">
                <a:solidFill>
                  <a:schemeClr val="tx1"/>
                </a:solidFill>
              </a:rPr>
              <a:t> material.</a:t>
            </a:r>
          </a:p>
          <a:p>
            <a:r>
              <a:rPr lang="en-GB" sz="2400" dirty="0" smtClean="0">
                <a:solidFill>
                  <a:schemeClr val="tx1"/>
                </a:solidFill>
              </a:rPr>
              <a:t>Data on the tape are structured as a number of  parallel tracks running lengthwise</a:t>
            </a:r>
          </a:p>
          <a:p>
            <a:r>
              <a:rPr lang="en-GB" sz="2400" dirty="0" smtClean="0">
                <a:solidFill>
                  <a:schemeClr val="tx1"/>
                </a:solidFill>
              </a:rPr>
              <a:t>Serial recording (serpentine recording)</a:t>
            </a:r>
          </a:p>
          <a:p>
            <a:pPr lvl="1"/>
            <a:r>
              <a:rPr lang="en-GB" sz="2000" dirty="0" smtClean="0">
                <a:solidFill>
                  <a:schemeClr val="tx1"/>
                </a:solidFill>
              </a:rPr>
              <a:t>Data are laid out as a sequence of bits along each track</a:t>
            </a: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38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344" y="188640"/>
            <a:ext cx="7556313" cy="1116106"/>
          </a:xfrm>
        </p:spPr>
        <p:txBody>
          <a:bodyPr/>
          <a:lstStyle/>
          <a:p>
            <a:pPr algn="ctr"/>
            <a:r>
              <a:rPr lang="en-GB" dirty="0"/>
              <a:t>Magnetic Disk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47028" y="836712"/>
            <a:ext cx="8496944" cy="4724400"/>
          </a:xfrm>
        </p:spPr>
        <p:txBody>
          <a:bodyPr>
            <a:normAutofit/>
          </a:bodyPr>
          <a:lstStyle/>
          <a:p>
            <a:r>
              <a:rPr lang="en-GB" dirty="0" smtClean="0"/>
              <a:t>A disk is a circular </a:t>
            </a:r>
            <a:r>
              <a:rPr lang="en-GB" i="1" dirty="0" smtClean="0"/>
              <a:t>platter</a:t>
            </a:r>
            <a:r>
              <a:rPr lang="en-GB" dirty="0" smtClean="0"/>
              <a:t> constructed of nonmagnetic material, called the </a:t>
            </a:r>
            <a:r>
              <a:rPr lang="en-GB" i="1" dirty="0" smtClean="0"/>
              <a:t>substrate, </a:t>
            </a:r>
            <a:r>
              <a:rPr lang="en-GB" dirty="0" smtClean="0"/>
              <a:t>coated with a magnetizable material</a:t>
            </a:r>
          </a:p>
          <a:p>
            <a:pPr lvl="1"/>
            <a:r>
              <a:rPr lang="en-GB" dirty="0" smtClean="0"/>
              <a:t>Traditionally the substrate has been an aluminium or aluminium alloy</a:t>
            </a:r>
          </a:p>
          <a:p>
            <a:pPr lvl="1"/>
            <a:r>
              <a:rPr lang="en-GB" dirty="0" smtClean="0"/>
              <a:t>Recently glass substrates have been introduced</a:t>
            </a:r>
          </a:p>
          <a:p>
            <a:pPr lvl="1"/>
            <a:endParaRPr lang="en-GB" dirty="0"/>
          </a:p>
          <a:p>
            <a:pPr lvl="1"/>
            <a:endParaRPr lang="en-GB" dirty="0" smtClean="0"/>
          </a:p>
        </p:txBody>
      </p:sp>
      <p:pic>
        <p:nvPicPr>
          <p:cNvPr id="6" name="Picture 2" descr="http://1.bp.blogspot.com/-QoOptHbzHYg/UPohKm0Yn_I/AAAAAAAAATk/7Cx9KrBDd8E/s1600/hard-drive-labeled+(1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7992888" cy="438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04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6364" b="28182"/>
              <a:stretch>
                <a:fillRect/>
              </a:stretch>
            </p:blipFill>
          </mc:Choice>
          <mc:Fallback>
            <p:blipFill>
              <a:blip r:embed="rId4"/>
              <a:srcRect t="16364" b="28182"/>
              <a:stretch>
                <a:fillRect/>
              </a:stretch>
            </p:blipFill>
          </mc:Fallback>
        </mc:AlternateContent>
        <p:spPr>
          <a:xfrm>
            <a:off x="-540568" y="260648"/>
            <a:ext cx="10441160" cy="749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7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25600" y="384678"/>
            <a:ext cx="5715000" cy="474663"/>
          </a:xfrm>
          <a:noFill/>
          <a:ln/>
        </p:spPr>
        <p:txBody>
          <a:bodyPr wrap="square" lIns="90487" tIns="44450" rIns="90487" bIns="44450" anchor="ctr"/>
          <a:lstStyle/>
          <a:p>
            <a:pPr algn="ctr"/>
            <a:r>
              <a:rPr lang="en-US" altLang="en-US" dirty="0">
                <a:solidFill>
                  <a:srgbClr val="020054"/>
                </a:solidFill>
              </a:rPr>
              <a:t>Disk Device Terminology</a:t>
            </a:r>
            <a:endParaRPr lang="en-US" altLang="en-US" dirty="0">
              <a:solidFill>
                <a:srgbClr val="FC0128"/>
              </a:solidFill>
            </a:endParaRPr>
          </a:p>
        </p:txBody>
      </p:sp>
      <p:grpSp>
        <p:nvGrpSpPr>
          <p:cNvPr id="604166" name="Group 6"/>
          <p:cNvGrpSpPr>
            <a:grpSpLocks/>
          </p:cNvGrpSpPr>
          <p:nvPr/>
        </p:nvGrpSpPr>
        <p:grpSpPr bwMode="auto">
          <a:xfrm>
            <a:off x="304800" y="1305002"/>
            <a:ext cx="8521700" cy="4068214"/>
            <a:chOff x="192" y="694"/>
            <a:chExt cx="5368" cy="1406"/>
          </a:xfrm>
        </p:grpSpPr>
        <p:grpSp>
          <p:nvGrpSpPr>
            <p:cNvPr id="604167" name="Group 7"/>
            <p:cNvGrpSpPr>
              <a:grpSpLocks/>
            </p:cNvGrpSpPr>
            <p:nvPr/>
          </p:nvGrpSpPr>
          <p:grpSpPr bwMode="auto">
            <a:xfrm flipH="1">
              <a:off x="1392" y="1056"/>
              <a:ext cx="4168" cy="1029"/>
              <a:chOff x="192" y="1056"/>
              <a:chExt cx="4168" cy="1029"/>
            </a:xfrm>
          </p:grpSpPr>
          <p:sp>
            <p:nvSpPr>
              <p:cNvPr id="604168" name="Text Box 8"/>
              <p:cNvSpPr txBox="1">
                <a:spLocks noChangeArrowheads="1"/>
              </p:cNvSpPr>
              <p:nvPr/>
            </p:nvSpPr>
            <p:spPr bwMode="auto">
              <a:xfrm>
                <a:off x="192" y="1440"/>
                <a:ext cx="81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/>
                  <a:t>Platter</a:t>
                </a:r>
              </a:p>
            </p:txBody>
          </p:sp>
          <p:sp>
            <p:nvSpPr>
              <p:cNvPr id="604169" name="Line 9"/>
              <p:cNvSpPr>
                <a:spLocks noChangeShapeType="1"/>
              </p:cNvSpPr>
              <p:nvPr/>
            </p:nvSpPr>
            <p:spPr bwMode="auto">
              <a:xfrm flipV="1">
                <a:off x="960" y="1296"/>
                <a:ext cx="336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170" name="Line 10"/>
              <p:cNvSpPr>
                <a:spLocks noChangeShapeType="1"/>
              </p:cNvSpPr>
              <p:nvPr/>
            </p:nvSpPr>
            <p:spPr bwMode="auto">
              <a:xfrm flipV="1">
                <a:off x="960" y="1536"/>
                <a:ext cx="336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171" name="Line 11"/>
              <p:cNvSpPr>
                <a:spLocks noChangeShapeType="1"/>
              </p:cNvSpPr>
              <p:nvPr/>
            </p:nvSpPr>
            <p:spPr bwMode="auto">
              <a:xfrm>
                <a:off x="960" y="1632"/>
                <a:ext cx="336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grpSp>
            <p:nvGrpSpPr>
              <p:cNvPr id="604172" name="Group 12"/>
              <p:cNvGrpSpPr>
                <a:grpSpLocks/>
              </p:cNvGrpSpPr>
              <p:nvPr/>
            </p:nvGrpSpPr>
            <p:grpSpPr bwMode="auto">
              <a:xfrm>
                <a:off x="1344" y="1776"/>
                <a:ext cx="3016" cy="309"/>
                <a:chOff x="1337" y="1535"/>
                <a:chExt cx="3016" cy="309"/>
              </a:xfrm>
            </p:grpSpPr>
            <p:sp>
              <p:nvSpPr>
                <p:cNvPr id="604173" name="Oval 13"/>
                <p:cNvSpPr>
                  <a:spLocks noChangeArrowheads="1"/>
                </p:cNvSpPr>
                <p:nvPr/>
              </p:nvSpPr>
              <p:spPr bwMode="auto">
                <a:xfrm>
                  <a:off x="1358" y="1556"/>
                  <a:ext cx="2974" cy="267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74" name="Oval 14"/>
                <p:cNvSpPr>
                  <a:spLocks noChangeArrowheads="1"/>
                </p:cNvSpPr>
                <p:nvPr/>
              </p:nvSpPr>
              <p:spPr bwMode="auto">
                <a:xfrm>
                  <a:off x="1337" y="1535"/>
                  <a:ext cx="3016" cy="309"/>
                </a:xfrm>
                <a:prstGeom prst="ellipse">
                  <a:avLst/>
                </a:prstGeom>
                <a:noFill/>
                <a:ln w="333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04175" name="Group 15"/>
              <p:cNvGrpSpPr>
                <a:grpSpLocks/>
              </p:cNvGrpSpPr>
              <p:nvPr/>
            </p:nvGrpSpPr>
            <p:grpSpPr bwMode="auto">
              <a:xfrm>
                <a:off x="1296" y="1392"/>
                <a:ext cx="3016" cy="309"/>
                <a:chOff x="1327" y="1311"/>
                <a:chExt cx="3016" cy="309"/>
              </a:xfrm>
            </p:grpSpPr>
            <p:sp>
              <p:nvSpPr>
                <p:cNvPr id="604176" name="Oval 16"/>
                <p:cNvSpPr>
                  <a:spLocks noChangeArrowheads="1"/>
                </p:cNvSpPr>
                <p:nvPr/>
              </p:nvSpPr>
              <p:spPr bwMode="auto">
                <a:xfrm>
                  <a:off x="1327" y="1311"/>
                  <a:ext cx="3016" cy="309"/>
                </a:xfrm>
                <a:prstGeom prst="ellipse">
                  <a:avLst/>
                </a:prstGeom>
                <a:noFill/>
                <a:ln w="333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77" name="Oval 17"/>
                <p:cNvSpPr>
                  <a:spLocks noChangeArrowheads="1"/>
                </p:cNvSpPr>
                <p:nvPr/>
              </p:nvSpPr>
              <p:spPr bwMode="auto">
                <a:xfrm>
                  <a:off x="1344" y="1344"/>
                  <a:ext cx="2974" cy="24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04178" name="Group 18"/>
              <p:cNvGrpSpPr>
                <a:grpSpLocks/>
              </p:cNvGrpSpPr>
              <p:nvPr/>
            </p:nvGrpSpPr>
            <p:grpSpPr bwMode="auto">
              <a:xfrm>
                <a:off x="1344" y="1056"/>
                <a:ext cx="3016" cy="309"/>
                <a:chOff x="1316" y="1108"/>
                <a:chExt cx="3016" cy="309"/>
              </a:xfrm>
            </p:grpSpPr>
            <p:sp>
              <p:nvSpPr>
                <p:cNvPr id="604179" name="Oval 19"/>
                <p:cNvSpPr>
                  <a:spLocks noChangeArrowheads="1"/>
                </p:cNvSpPr>
                <p:nvPr/>
              </p:nvSpPr>
              <p:spPr bwMode="auto">
                <a:xfrm>
                  <a:off x="1316" y="1108"/>
                  <a:ext cx="3016" cy="309"/>
                </a:xfrm>
                <a:prstGeom prst="ellipse">
                  <a:avLst/>
                </a:prstGeom>
                <a:solidFill>
                  <a:schemeClr val="bg1"/>
                </a:solidFill>
                <a:ln w="333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80" name="Oval 20"/>
                <p:cNvSpPr>
                  <a:spLocks noChangeArrowheads="1"/>
                </p:cNvSpPr>
                <p:nvPr/>
              </p:nvSpPr>
              <p:spPr bwMode="auto">
                <a:xfrm>
                  <a:off x="1344" y="1152"/>
                  <a:ext cx="2974" cy="19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604181" name="Group 21"/>
            <p:cNvGrpSpPr>
              <a:grpSpLocks/>
            </p:cNvGrpSpPr>
            <p:nvPr/>
          </p:nvGrpSpPr>
          <p:grpSpPr bwMode="auto">
            <a:xfrm flipH="1">
              <a:off x="1872" y="694"/>
              <a:ext cx="3261" cy="1327"/>
              <a:chOff x="684" y="694"/>
              <a:chExt cx="3261" cy="1327"/>
            </a:xfrm>
          </p:grpSpPr>
          <p:grpSp>
            <p:nvGrpSpPr>
              <p:cNvPr id="604182" name="Group 22"/>
              <p:cNvGrpSpPr>
                <a:grpSpLocks/>
              </p:cNvGrpSpPr>
              <p:nvPr/>
            </p:nvGrpSpPr>
            <p:grpSpPr bwMode="auto">
              <a:xfrm>
                <a:off x="684" y="807"/>
                <a:ext cx="996" cy="596"/>
                <a:chOff x="684" y="807"/>
                <a:chExt cx="996" cy="596"/>
              </a:xfrm>
            </p:grpSpPr>
            <p:sp>
              <p:nvSpPr>
                <p:cNvPr id="604183" name="Line 23"/>
                <p:cNvSpPr>
                  <a:spLocks noChangeShapeType="1"/>
                </p:cNvSpPr>
                <p:nvPr/>
              </p:nvSpPr>
              <p:spPr bwMode="auto">
                <a:xfrm>
                  <a:off x="1327" y="1119"/>
                  <a:ext cx="353" cy="129"/>
                </a:xfrm>
                <a:prstGeom prst="lin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84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684" y="807"/>
                  <a:ext cx="715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2800" dirty="0"/>
                    <a:t>Outer</a:t>
                  </a:r>
                </a:p>
                <a:p>
                  <a:r>
                    <a:rPr lang="en-US" altLang="en-US" sz="2800" dirty="0"/>
                    <a:t>Track</a:t>
                  </a:r>
                </a:p>
              </p:txBody>
            </p:sp>
          </p:grpSp>
          <p:grpSp>
            <p:nvGrpSpPr>
              <p:cNvPr id="604185" name="Group 25"/>
              <p:cNvGrpSpPr>
                <a:grpSpLocks/>
              </p:cNvGrpSpPr>
              <p:nvPr/>
            </p:nvGrpSpPr>
            <p:grpSpPr bwMode="auto">
              <a:xfrm>
                <a:off x="1680" y="1488"/>
                <a:ext cx="2265" cy="160"/>
                <a:chOff x="1680" y="1488"/>
                <a:chExt cx="2265" cy="160"/>
              </a:xfrm>
            </p:grpSpPr>
            <p:sp>
              <p:nvSpPr>
                <p:cNvPr id="604186" name="Oval 26"/>
                <p:cNvSpPr>
                  <a:spLocks noChangeArrowheads="1"/>
                </p:cNvSpPr>
                <p:nvPr/>
              </p:nvSpPr>
              <p:spPr bwMode="auto">
                <a:xfrm>
                  <a:off x="1680" y="1488"/>
                  <a:ext cx="2243" cy="138"/>
                </a:xfrm>
                <a:prstGeom prst="ellipse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87" name="Oval 27"/>
                <p:cNvSpPr>
                  <a:spLocks noChangeArrowheads="1"/>
                </p:cNvSpPr>
                <p:nvPr/>
              </p:nvSpPr>
              <p:spPr bwMode="auto">
                <a:xfrm>
                  <a:off x="1680" y="1488"/>
                  <a:ext cx="2265" cy="160"/>
                </a:xfrm>
                <a:prstGeom prst="ellips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88" name="Oval 28"/>
                <p:cNvSpPr>
                  <a:spLocks noChangeArrowheads="1"/>
                </p:cNvSpPr>
                <p:nvPr/>
              </p:nvSpPr>
              <p:spPr bwMode="auto">
                <a:xfrm>
                  <a:off x="2402" y="1536"/>
                  <a:ext cx="814" cy="6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66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04189" name="Group 29"/>
              <p:cNvGrpSpPr>
                <a:grpSpLocks/>
              </p:cNvGrpSpPr>
              <p:nvPr/>
            </p:nvGrpSpPr>
            <p:grpSpPr bwMode="auto">
              <a:xfrm>
                <a:off x="1671" y="1861"/>
                <a:ext cx="2265" cy="160"/>
                <a:chOff x="1671" y="1861"/>
                <a:chExt cx="2265" cy="160"/>
              </a:xfrm>
            </p:grpSpPr>
            <p:sp>
              <p:nvSpPr>
                <p:cNvPr id="604190" name="Oval 30"/>
                <p:cNvSpPr>
                  <a:spLocks noChangeArrowheads="1"/>
                </p:cNvSpPr>
                <p:nvPr/>
              </p:nvSpPr>
              <p:spPr bwMode="auto">
                <a:xfrm>
                  <a:off x="1682" y="1872"/>
                  <a:ext cx="2243" cy="139"/>
                </a:xfrm>
                <a:prstGeom prst="ellipse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91" name="Oval 31"/>
                <p:cNvSpPr>
                  <a:spLocks noChangeArrowheads="1"/>
                </p:cNvSpPr>
                <p:nvPr/>
              </p:nvSpPr>
              <p:spPr bwMode="auto">
                <a:xfrm>
                  <a:off x="1671" y="1861"/>
                  <a:ext cx="2265" cy="160"/>
                </a:xfrm>
                <a:prstGeom prst="ellips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92" name="Oval 32"/>
                <p:cNvSpPr>
                  <a:spLocks noChangeArrowheads="1"/>
                </p:cNvSpPr>
                <p:nvPr/>
              </p:nvSpPr>
              <p:spPr bwMode="auto">
                <a:xfrm>
                  <a:off x="2402" y="1920"/>
                  <a:ext cx="814" cy="6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66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04193" name="Group 33"/>
              <p:cNvGrpSpPr>
                <a:grpSpLocks/>
              </p:cNvGrpSpPr>
              <p:nvPr/>
            </p:nvGrpSpPr>
            <p:grpSpPr bwMode="auto">
              <a:xfrm>
                <a:off x="1680" y="1152"/>
                <a:ext cx="2265" cy="160"/>
                <a:chOff x="1680" y="1488"/>
                <a:chExt cx="2265" cy="160"/>
              </a:xfrm>
            </p:grpSpPr>
            <p:sp>
              <p:nvSpPr>
                <p:cNvPr id="604194" name="Oval 34"/>
                <p:cNvSpPr>
                  <a:spLocks noChangeArrowheads="1"/>
                </p:cNvSpPr>
                <p:nvPr/>
              </p:nvSpPr>
              <p:spPr bwMode="auto">
                <a:xfrm>
                  <a:off x="1680" y="1488"/>
                  <a:ext cx="2243" cy="138"/>
                </a:xfrm>
                <a:prstGeom prst="ellipse">
                  <a:avLst/>
                </a:prstGeom>
                <a:solidFill>
                  <a:srgbClr val="C0C0C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95" name="Oval 35"/>
                <p:cNvSpPr>
                  <a:spLocks noChangeArrowheads="1"/>
                </p:cNvSpPr>
                <p:nvPr/>
              </p:nvSpPr>
              <p:spPr bwMode="auto">
                <a:xfrm>
                  <a:off x="1680" y="1488"/>
                  <a:ext cx="2265" cy="160"/>
                </a:xfrm>
                <a:prstGeom prst="ellipse">
                  <a:avLst/>
                </a:prstGeom>
                <a:noFill/>
                <a:ln w="3810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96" name="Oval 36"/>
                <p:cNvSpPr>
                  <a:spLocks noChangeArrowheads="1"/>
                </p:cNvSpPr>
                <p:nvPr/>
              </p:nvSpPr>
              <p:spPr bwMode="auto">
                <a:xfrm>
                  <a:off x="2402" y="1536"/>
                  <a:ext cx="814" cy="6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66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grpSp>
            <p:nvGrpSpPr>
              <p:cNvPr id="604197" name="Group 37"/>
              <p:cNvGrpSpPr>
                <a:grpSpLocks/>
              </p:cNvGrpSpPr>
              <p:nvPr/>
            </p:nvGrpSpPr>
            <p:grpSpPr bwMode="auto">
              <a:xfrm>
                <a:off x="1651" y="694"/>
                <a:ext cx="749" cy="596"/>
                <a:chOff x="1699" y="742"/>
                <a:chExt cx="749" cy="596"/>
              </a:xfrm>
            </p:grpSpPr>
            <p:sp>
              <p:nvSpPr>
                <p:cNvPr id="604198" name="Line 38"/>
                <p:cNvSpPr>
                  <a:spLocks noChangeShapeType="1"/>
                </p:cNvSpPr>
                <p:nvPr/>
              </p:nvSpPr>
              <p:spPr bwMode="auto">
                <a:xfrm>
                  <a:off x="2208" y="1056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rgbClr val="FF66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60419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699" y="742"/>
                  <a:ext cx="715" cy="5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en-US" sz="2800"/>
                    <a:t>Inner</a:t>
                  </a:r>
                </a:p>
                <a:p>
                  <a:r>
                    <a:rPr lang="en-US" altLang="en-US" sz="2800"/>
                    <a:t>Track</a:t>
                  </a:r>
                </a:p>
              </p:txBody>
            </p:sp>
          </p:grpSp>
        </p:grpSp>
        <p:grpSp>
          <p:nvGrpSpPr>
            <p:cNvPr id="604200" name="Group 40"/>
            <p:cNvGrpSpPr>
              <a:grpSpLocks/>
            </p:cNvGrpSpPr>
            <p:nvPr/>
          </p:nvGrpSpPr>
          <p:grpSpPr bwMode="auto">
            <a:xfrm>
              <a:off x="2690" y="717"/>
              <a:ext cx="814" cy="531"/>
              <a:chOff x="2498" y="717"/>
              <a:chExt cx="814" cy="531"/>
            </a:xfrm>
          </p:grpSpPr>
          <p:sp>
            <p:nvSpPr>
              <p:cNvPr id="604201" name="Line 41"/>
              <p:cNvSpPr>
                <a:spLocks noChangeShapeType="1"/>
              </p:cNvSpPr>
              <p:nvPr/>
            </p:nvSpPr>
            <p:spPr bwMode="auto">
              <a:xfrm flipH="1">
                <a:off x="2880" y="912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4202" name="Text Box 42"/>
              <p:cNvSpPr txBox="1">
                <a:spLocks noChangeArrowheads="1"/>
              </p:cNvSpPr>
              <p:nvPr/>
            </p:nvSpPr>
            <p:spPr bwMode="auto">
              <a:xfrm>
                <a:off x="2498" y="717"/>
                <a:ext cx="81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dirty="0"/>
                  <a:t>Sector</a:t>
                </a:r>
              </a:p>
            </p:txBody>
          </p:sp>
          <p:sp>
            <p:nvSpPr>
              <p:cNvPr id="604203" name="Line 43"/>
              <p:cNvSpPr>
                <a:spLocks noChangeShapeType="1"/>
              </p:cNvSpPr>
              <p:nvPr/>
            </p:nvSpPr>
            <p:spPr bwMode="auto">
              <a:xfrm>
                <a:off x="2784" y="115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04" name="Line 44"/>
              <p:cNvSpPr>
                <a:spLocks noChangeShapeType="1"/>
              </p:cNvSpPr>
              <p:nvPr/>
            </p:nvSpPr>
            <p:spPr bwMode="auto">
              <a:xfrm flipV="1">
                <a:off x="2880" y="1056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05" name="Line 45"/>
              <p:cNvSpPr>
                <a:spLocks noChangeShapeType="1"/>
              </p:cNvSpPr>
              <p:nvPr/>
            </p:nvSpPr>
            <p:spPr bwMode="auto">
              <a:xfrm flipH="1" flipV="1">
                <a:off x="2688" y="1056"/>
                <a:ext cx="14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604206" name="Group 46"/>
            <p:cNvGrpSpPr>
              <a:grpSpLocks/>
            </p:cNvGrpSpPr>
            <p:nvPr/>
          </p:nvGrpSpPr>
          <p:grpSpPr bwMode="auto">
            <a:xfrm flipH="1">
              <a:off x="192" y="1172"/>
              <a:ext cx="1148" cy="928"/>
              <a:chOff x="4499" y="1172"/>
              <a:chExt cx="1148" cy="928"/>
            </a:xfrm>
          </p:grpSpPr>
          <p:sp>
            <p:nvSpPr>
              <p:cNvPr id="604207" name="Rectangle 47"/>
              <p:cNvSpPr>
                <a:spLocks noChangeArrowheads="1"/>
              </p:cNvSpPr>
              <p:nvPr/>
            </p:nvSpPr>
            <p:spPr bwMode="auto">
              <a:xfrm>
                <a:off x="4499" y="1172"/>
                <a:ext cx="84" cy="459"/>
              </a:xfrm>
              <a:prstGeom prst="rect">
                <a:avLst/>
              </a:prstGeom>
              <a:noFill/>
              <a:ln w="333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4208" name="Rectangle 48"/>
              <p:cNvSpPr>
                <a:spLocks noChangeArrowheads="1"/>
              </p:cNvSpPr>
              <p:nvPr/>
            </p:nvSpPr>
            <p:spPr bwMode="auto">
              <a:xfrm>
                <a:off x="4499" y="1641"/>
                <a:ext cx="84" cy="459"/>
              </a:xfrm>
              <a:prstGeom prst="rect">
                <a:avLst/>
              </a:prstGeom>
              <a:noFill/>
              <a:ln w="33338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4209" name="Text Box 49"/>
              <p:cNvSpPr txBox="1">
                <a:spLocks noChangeArrowheads="1"/>
              </p:cNvSpPr>
              <p:nvPr/>
            </p:nvSpPr>
            <p:spPr bwMode="auto">
              <a:xfrm>
                <a:off x="4608" y="1488"/>
                <a:ext cx="103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/>
                  <a:t>Actuator</a:t>
                </a:r>
              </a:p>
            </p:txBody>
          </p:sp>
        </p:grpSp>
        <p:grpSp>
          <p:nvGrpSpPr>
            <p:cNvPr id="604210" name="Group 50"/>
            <p:cNvGrpSpPr>
              <a:grpSpLocks/>
            </p:cNvGrpSpPr>
            <p:nvPr/>
          </p:nvGrpSpPr>
          <p:grpSpPr bwMode="auto">
            <a:xfrm flipH="1">
              <a:off x="1817" y="731"/>
              <a:ext cx="701" cy="1333"/>
              <a:chOff x="3283" y="731"/>
              <a:chExt cx="701" cy="1333"/>
            </a:xfrm>
          </p:grpSpPr>
          <p:sp>
            <p:nvSpPr>
              <p:cNvPr id="604211" name="Line 51"/>
              <p:cNvSpPr>
                <a:spLocks noChangeShapeType="1"/>
              </p:cNvSpPr>
              <p:nvPr/>
            </p:nvSpPr>
            <p:spPr bwMode="auto">
              <a:xfrm>
                <a:off x="3648" y="912"/>
                <a:ext cx="192" cy="288"/>
              </a:xfrm>
              <a:prstGeom prst="line">
                <a:avLst/>
              </a:prstGeom>
              <a:noFill/>
              <a:ln w="38100">
                <a:solidFill>
                  <a:srgbClr val="FF8DA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04212" name="Text Box 52"/>
              <p:cNvSpPr txBox="1">
                <a:spLocks noChangeArrowheads="1"/>
              </p:cNvSpPr>
              <p:nvPr/>
            </p:nvSpPr>
            <p:spPr bwMode="auto">
              <a:xfrm>
                <a:off x="3283" y="731"/>
                <a:ext cx="6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dirty="0"/>
                  <a:t>Head</a:t>
                </a:r>
              </a:p>
            </p:txBody>
          </p:sp>
          <p:sp>
            <p:nvSpPr>
              <p:cNvPr id="604213" name="Rectangle 53"/>
              <p:cNvSpPr>
                <a:spLocks noChangeArrowheads="1"/>
              </p:cNvSpPr>
              <p:nvPr/>
            </p:nvSpPr>
            <p:spPr bwMode="auto">
              <a:xfrm>
                <a:off x="3840" y="1200"/>
                <a:ext cx="144" cy="48"/>
              </a:xfrm>
              <a:prstGeom prst="rect">
                <a:avLst/>
              </a:prstGeom>
              <a:solidFill>
                <a:srgbClr val="FF8DA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14" name="AutoShape 54"/>
              <p:cNvSpPr>
                <a:spLocks noChangeArrowheads="1"/>
              </p:cNvSpPr>
              <p:nvPr/>
            </p:nvSpPr>
            <p:spPr bwMode="auto">
              <a:xfrm flipH="1">
                <a:off x="3888" y="1296"/>
                <a:ext cx="96" cy="48"/>
              </a:xfrm>
              <a:prstGeom prst="rtTriangle">
                <a:avLst/>
              </a:prstGeom>
              <a:solidFill>
                <a:srgbClr val="FF8DA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15" name="Rectangle 55"/>
              <p:cNvSpPr>
                <a:spLocks noChangeArrowheads="1"/>
              </p:cNvSpPr>
              <p:nvPr/>
            </p:nvSpPr>
            <p:spPr bwMode="auto">
              <a:xfrm>
                <a:off x="3840" y="1536"/>
                <a:ext cx="144" cy="48"/>
              </a:xfrm>
              <a:prstGeom prst="rect">
                <a:avLst/>
              </a:prstGeom>
              <a:solidFill>
                <a:srgbClr val="FF8DA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16" name="AutoShape 56"/>
              <p:cNvSpPr>
                <a:spLocks noChangeArrowheads="1"/>
              </p:cNvSpPr>
              <p:nvPr/>
            </p:nvSpPr>
            <p:spPr bwMode="auto">
              <a:xfrm flipH="1">
                <a:off x="3888" y="1632"/>
                <a:ext cx="96" cy="48"/>
              </a:xfrm>
              <a:prstGeom prst="rtTriangle">
                <a:avLst/>
              </a:prstGeom>
              <a:solidFill>
                <a:srgbClr val="FF8DA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17" name="Rectangle 57"/>
              <p:cNvSpPr>
                <a:spLocks noChangeArrowheads="1"/>
              </p:cNvSpPr>
              <p:nvPr/>
            </p:nvSpPr>
            <p:spPr bwMode="auto">
              <a:xfrm>
                <a:off x="3840" y="1920"/>
                <a:ext cx="144" cy="48"/>
              </a:xfrm>
              <a:prstGeom prst="rect">
                <a:avLst/>
              </a:prstGeom>
              <a:solidFill>
                <a:srgbClr val="FF8DA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18" name="AutoShape 58"/>
              <p:cNvSpPr>
                <a:spLocks noChangeArrowheads="1"/>
              </p:cNvSpPr>
              <p:nvPr/>
            </p:nvSpPr>
            <p:spPr bwMode="auto">
              <a:xfrm flipH="1">
                <a:off x="3888" y="2016"/>
                <a:ext cx="96" cy="48"/>
              </a:xfrm>
              <a:prstGeom prst="rtTriangle">
                <a:avLst/>
              </a:prstGeom>
              <a:solidFill>
                <a:srgbClr val="FF8DA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604219" name="Group 59"/>
            <p:cNvGrpSpPr>
              <a:grpSpLocks/>
            </p:cNvGrpSpPr>
            <p:nvPr/>
          </p:nvGrpSpPr>
          <p:grpSpPr bwMode="auto">
            <a:xfrm flipH="1">
              <a:off x="1089" y="717"/>
              <a:ext cx="723" cy="1299"/>
              <a:chOff x="3984" y="717"/>
              <a:chExt cx="723" cy="1299"/>
            </a:xfrm>
          </p:grpSpPr>
          <p:sp>
            <p:nvSpPr>
              <p:cNvPr id="604220" name="Text Box 60"/>
              <p:cNvSpPr txBox="1">
                <a:spLocks noChangeArrowheads="1"/>
              </p:cNvSpPr>
              <p:nvPr/>
            </p:nvSpPr>
            <p:spPr bwMode="auto">
              <a:xfrm>
                <a:off x="4143" y="717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2800" dirty="0"/>
                  <a:t>Arm</a:t>
                </a:r>
              </a:p>
            </p:txBody>
          </p:sp>
          <p:sp>
            <p:nvSpPr>
              <p:cNvPr id="604221" name="Line 61"/>
              <p:cNvSpPr>
                <a:spLocks noChangeShapeType="1"/>
              </p:cNvSpPr>
              <p:nvPr/>
            </p:nvSpPr>
            <p:spPr bwMode="auto">
              <a:xfrm flipH="1">
                <a:off x="4272" y="912"/>
                <a:ext cx="144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22" name="Line 62"/>
              <p:cNvSpPr>
                <a:spLocks noChangeShapeType="1"/>
              </p:cNvSpPr>
              <p:nvPr/>
            </p:nvSpPr>
            <p:spPr bwMode="auto">
              <a:xfrm flipH="1">
                <a:off x="3984" y="1200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23" name="Line 63"/>
              <p:cNvSpPr>
                <a:spLocks noChangeShapeType="1"/>
              </p:cNvSpPr>
              <p:nvPr/>
            </p:nvSpPr>
            <p:spPr bwMode="auto">
              <a:xfrm flipH="1">
                <a:off x="4080" y="129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24" name="Line 64"/>
              <p:cNvSpPr>
                <a:spLocks noChangeShapeType="1"/>
              </p:cNvSpPr>
              <p:nvPr/>
            </p:nvSpPr>
            <p:spPr bwMode="auto">
              <a:xfrm flipH="1">
                <a:off x="3984" y="1536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25" name="Line 65"/>
              <p:cNvSpPr>
                <a:spLocks noChangeShapeType="1"/>
              </p:cNvSpPr>
              <p:nvPr/>
            </p:nvSpPr>
            <p:spPr bwMode="auto">
              <a:xfrm flipH="1">
                <a:off x="4080" y="1632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26" name="Line 66"/>
              <p:cNvSpPr>
                <a:spLocks noChangeShapeType="1"/>
              </p:cNvSpPr>
              <p:nvPr/>
            </p:nvSpPr>
            <p:spPr bwMode="auto">
              <a:xfrm flipH="1">
                <a:off x="3984" y="1920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4227" name="Line 67"/>
              <p:cNvSpPr>
                <a:spLocks noChangeShapeType="1"/>
              </p:cNvSpPr>
              <p:nvPr/>
            </p:nvSpPr>
            <p:spPr bwMode="auto">
              <a:xfrm flipH="1">
                <a:off x="4080" y="201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07212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6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529" t="24545" r="20000" b="16364"/>
              <a:stretch>
                <a:fillRect/>
              </a:stretch>
            </p:blipFill>
          </mc:Choice>
          <mc:Fallback>
            <p:blipFill>
              <a:blip r:embed="rId4"/>
              <a:srcRect l="23529" t="24545" r="20000" b="16364"/>
              <a:stretch>
                <a:fillRect/>
              </a:stretch>
            </p:blipFill>
          </mc:Fallback>
        </mc:AlternateContent>
        <p:spPr>
          <a:xfrm>
            <a:off x="2627784" y="1988840"/>
            <a:ext cx="4176464" cy="56555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5536" y="188640"/>
            <a:ext cx="77048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 cylinder is the set of tracks at a given radius of a disk pack. i.e. a cylinder is the set of tracks that can be accessed without moving the disk arm. </a:t>
            </a:r>
            <a:r>
              <a:rPr lang="en-IN" dirty="0" smtClean="0"/>
              <a:t></a:t>
            </a:r>
          </a:p>
          <a:p>
            <a:r>
              <a:rPr lang="en-IN" dirty="0" smtClean="0"/>
              <a:t>All </a:t>
            </a:r>
            <a:r>
              <a:rPr lang="en-IN" dirty="0"/>
              <a:t>the information on a cylinder can be accessed without moving the read/write arm.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5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1897" y="-20109"/>
            <a:ext cx="7556500" cy="1116012"/>
          </a:xfrm>
        </p:spPr>
        <p:txBody>
          <a:bodyPr/>
          <a:lstStyle/>
          <a:p>
            <a:pPr algn="ctr"/>
            <a:r>
              <a:rPr lang="en-GB" dirty="0"/>
              <a:t>Disk Layout </a:t>
            </a:r>
            <a:r>
              <a:rPr lang="en-GB" dirty="0" smtClean="0"/>
              <a:t>Methods</a:t>
            </a:r>
            <a:endParaRPr lang="en-GB" dirty="0"/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273" t="16471" r="8182" b="12941"/>
              <a:stretch>
                <a:fillRect/>
              </a:stretch>
            </p:blipFill>
          </mc:Choice>
          <mc:Fallback>
            <p:blipFill>
              <a:blip r:embed="rId4"/>
              <a:srcRect l="7273" t="16471" r="8182" b="12941"/>
              <a:stretch>
                <a:fillRect/>
              </a:stretch>
            </p:blipFill>
          </mc:Fallback>
        </mc:AlternateContent>
        <p:spPr>
          <a:xfrm>
            <a:off x="-180528" y="1556792"/>
            <a:ext cx="9661351" cy="62330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1520" y="864683"/>
            <a:ext cx="4320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 smtClean="0"/>
              <a:t>Disk storage capacity is limited by the maximum recording density that can be achieved on the innermost track.</a:t>
            </a:r>
            <a:endParaRPr lang="en-IN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5011458" y="861341"/>
            <a:ext cx="41325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 smtClean="0"/>
              <a:t>Zones farther from the centre contains more bits(more sectors) than zones closer to the centre.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8232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telcontar.net/Misc/maths/diag-CAVvsCLV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96752"/>
            <a:ext cx="889919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02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165" y="260648"/>
            <a:ext cx="7556313" cy="1116106"/>
          </a:xfrm>
        </p:spPr>
        <p:txBody>
          <a:bodyPr/>
          <a:lstStyle/>
          <a:p>
            <a:pPr algn="ctr"/>
            <a:r>
              <a:rPr lang="en-GB" dirty="0"/>
              <a:t>Physical Characteristics </a:t>
            </a:r>
            <a:br>
              <a:rPr lang="en-GB" dirty="0"/>
            </a:br>
            <a:r>
              <a:rPr lang="en-GB" dirty="0"/>
              <a:t>of Disk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165" y="1556792"/>
            <a:ext cx="3657600" cy="5112568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Head Motion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Fixed head (one per head)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Movable Head (one per surface)</a:t>
            </a:r>
          </a:p>
          <a:p>
            <a:r>
              <a:rPr lang="en-US" sz="2000" dirty="0">
                <a:solidFill>
                  <a:schemeClr val="tx1"/>
                </a:solidFill>
              </a:rPr>
              <a:t>Disk Portability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Non-removable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Removable</a:t>
            </a:r>
          </a:p>
          <a:p>
            <a:r>
              <a:rPr lang="en-US" sz="2000" dirty="0">
                <a:solidFill>
                  <a:schemeClr val="tx1"/>
                </a:solidFill>
              </a:rPr>
              <a:t>Sides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Single Sided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Double Sided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564052"/>
            <a:ext cx="3657600" cy="474526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Platters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Single Platter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Multiple Platter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Head Mechanism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Contact (floppy)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Fixed gap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635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7556313" cy="1116106"/>
          </a:xfrm>
        </p:spPr>
        <p:txBody>
          <a:bodyPr/>
          <a:lstStyle/>
          <a:p>
            <a:pPr algn="ctr"/>
            <a:r>
              <a:rPr lang="en-US" dirty="0" smtClean="0"/>
              <a:t>Disk Performance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132" y="908720"/>
            <a:ext cx="7556313" cy="4953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When the disk drive is operating the disk is rotating at constant speed.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To read or write the head must be positioned at the desired track and at the beginning of the desired sector on the track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Track selection involves moving the head in a movable-head system or electronically selecting one head on a fixed-head system.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Once the track is selected, the disk controller waits until the appropriate sector rotates to line up with the head.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Seek time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Rotational delay </a:t>
            </a:r>
            <a:r>
              <a:rPr lang="en-US" sz="2000" i="1" dirty="0" smtClean="0">
                <a:solidFill>
                  <a:schemeClr val="tx1"/>
                </a:solidFill>
              </a:rPr>
              <a:t>(rotational latency)</a:t>
            </a:r>
            <a:endParaRPr lang="en-US" sz="1760" dirty="0" smtClean="0">
              <a:solidFill>
                <a:schemeClr val="tx1"/>
              </a:solidFill>
            </a:endParaRP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Transfer time</a:t>
            </a:r>
          </a:p>
          <a:p>
            <a:pPr lvl="1"/>
            <a:endParaRPr lang="en-US" sz="1760" dirty="0" smtClean="0"/>
          </a:p>
          <a:p>
            <a:pPr lvl="1"/>
            <a:endParaRPr lang="en-US" sz="1760" dirty="0" smtClean="0"/>
          </a:p>
        </p:txBody>
      </p:sp>
    </p:spTree>
    <p:extLst>
      <p:ext uri="{BB962C8B-B14F-4D97-AF65-F5344CB8AC3E}">
        <p14:creationId xmlns:p14="http://schemas.microsoft.com/office/powerpoint/2010/main" val="74223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404664"/>
            <a:ext cx="7556313" cy="6192688"/>
          </a:xfrm>
        </p:spPr>
        <p:txBody>
          <a:bodyPr/>
          <a:lstStyle/>
          <a:p>
            <a:pPr marL="0" lvl="1" indent="0" algn="just">
              <a:spcBef>
                <a:spcPts val="2000"/>
              </a:spcBef>
              <a:buClr>
                <a:schemeClr val="accent1"/>
              </a:buClr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Consider a </a:t>
            </a:r>
            <a:r>
              <a:rPr lang="en-IN" sz="2000" dirty="0">
                <a:solidFill>
                  <a:schemeClr val="tx1"/>
                </a:solidFill>
              </a:rPr>
              <a:t>disk with an advertised average seek time of 4 </a:t>
            </a:r>
            <a:r>
              <a:rPr lang="en-IN" sz="2000" dirty="0" err="1">
                <a:solidFill>
                  <a:schemeClr val="tx1"/>
                </a:solidFill>
              </a:rPr>
              <a:t>ms</a:t>
            </a:r>
            <a:r>
              <a:rPr lang="en-IN" sz="2000" dirty="0">
                <a:solidFill>
                  <a:schemeClr val="tx1"/>
                </a:solidFill>
              </a:rPr>
              <a:t>, </a:t>
            </a:r>
            <a:r>
              <a:rPr lang="en-IN" sz="2000" dirty="0" smtClean="0">
                <a:solidFill>
                  <a:schemeClr val="tx1"/>
                </a:solidFill>
              </a:rPr>
              <a:t>time </a:t>
            </a:r>
            <a:r>
              <a:rPr lang="en-IN" sz="2000" dirty="0">
                <a:solidFill>
                  <a:schemeClr val="tx1"/>
                </a:solidFill>
              </a:rPr>
              <a:t>taken by the head to move from one track to adjacent track is 0.5 </a:t>
            </a:r>
            <a:r>
              <a:rPr lang="en-IN" sz="2000" dirty="0" err="1" smtClean="0">
                <a:solidFill>
                  <a:schemeClr val="tx1"/>
                </a:solidFill>
              </a:rPr>
              <a:t>ms</a:t>
            </a:r>
            <a:r>
              <a:rPr lang="en-IN" sz="2000" dirty="0" smtClean="0">
                <a:solidFill>
                  <a:schemeClr val="tx1"/>
                </a:solidFill>
              </a:rPr>
              <a:t>, rotation </a:t>
            </a:r>
            <a:r>
              <a:rPr lang="en-IN" sz="2000" dirty="0">
                <a:solidFill>
                  <a:schemeClr val="tx1"/>
                </a:solidFill>
              </a:rPr>
              <a:t>speed </a:t>
            </a:r>
            <a:r>
              <a:rPr lang="en-IN" sz="2000" dirty="0" smtClean="0">
                <a:solidFill>
                  <a:schemeClr val="tx1"/>
                </a:solidFill>
              </a:rPr>
              <a:t>of 15,000 </a:t>
            </a:r>
            <a:r>
              <a:rPr lang="en-IN" sz="2000" dirty="0">
                <a:solidFill>
                  <a:schemeClr val="tx1"/>
                </a:solidFill>
              </a:rPr>
              <a:t>rpm, and 512-byte sectors with 500 sectors per track. Suppose that we </a:t>
            </a:r>
            <a:r>
              <a:rPr lang="en-IN" sz="2000" dirty="0" smtClean="0">
                <a:solidFill>
                  <a:schemeClr val="tx1"/>
                </a:solidFill>
              </a:rPr>
              <a:t>wish to </a:t>
            </a:r>
            <a:r>
              <a:rPr lang="en-IN" sz="2000" dirty="0">
                <a:solidFill>
                  <a:schemeClr val="tx1"/>
                </a:solidFill>
              </a:rPr>
              <a:t>read a file consisting of 2500 sectors for a total of 1.28 Mbytes. E</a:t>
            </a:r>
            <a:r>
              <a:rPr lang="en-IN" sz="2000" dirty="0" smtClean="0">
                <a:solidFill>
                  <a:schemeClr val="tx1"/>
                </a:solidFill>
              </a:rPr>
              <a:t>stimate </a:t>
            </a:r>
            <a:r>
              <a:rPr lang="en-IN" sz="2000" dirty="0">
                <a:solidFill>
                  <a:schemeClr val="tx1"/>
                </a:solidFill>
              </a:rPr>
              <a:t>the total time for the </a:t>
            </a:r>
            <a:r>
              <a:rPr lang="en-IN" sz="2000" dirty="0" smtClean="0">
                <a:solidFill>
                  <a:schemeClr val="tx1"/>
                </a:solidFill>
              </a:rPr>
              <a:t>transfer.</a:t>
            </a:r>
          </a:p>
          <a:p>
            <a:pPr marL="571500" lvl="1" indent="-342900" algn="just">
              <a:buAutoNum type="alphaLcParenR"/>
            </a:pPr>
            <a:r>
              <a:rPr lang="en-IN" sz="2000" dirty="0" smtClean="0">
                <a:solidFill>
                  <a:schemeClr val="tx1"/>
                </a:solidFill>
              </a:rPr>
              <a:t>For sequential organization (file occupies all sectors on adjacent tracks)</a:t>
            </a:r>
          </a:p>
          <a:p>
            <a:pPr marL="571500" lvl="1" indent="-342900" algn="just">
              <a:buAutoNum type="alphaLcParenR"/>
            </a:pPr>
            <a:r>
              <a:rPr lang="en-IN" sz="2000" dirty="0" smtClean="0">
                <a:solidFill>
                  <a:schemeClr val="tx1"/>
                </a:solidFill>
              </a:rPr>
              <a:t>For random organization (</a:t>
            </a:r>
            <a:r>
              <a:rPr lang="en-IN" sz="2000" dirty="0">
                <a:solidFill>
                  <a:schemeClr val="tx1"/>
                </a:solidFill>
              </a:rPr>
              <a:t>accesses to the sectors are </a:t>
            </a:r>
            <a:r>
              <a:rPr lang="en-IN" sz="2000" dirty="0" smtClean="0">
                <a:solidFill>
                  <a:schemeClr val="tx1"/>
                </a:solidFill>
              </a:rPr>
              <a:t>distributed randomly </a:t>
            </a:r>
            <a:r>
              <a:rPr lang="en-IN" sz="2000" dirty="0">
                <a:solidFill>
                  <a:schemeClr val="tx1"/>
                </a:solidFill>
              </a:rPr>
              <a:t>over the </a:t>
            </a:r>
            <a:r>
              <a:rPr lang="en-IN" sz="2000" dirty="0" smtClean="0">
                <a:solidFill>
                  <a:schemeClr val="tx1"/>
                </a:solidFill>
              </a:rPr>
              <a:t>disk) </a:t>
            </a:r>
          </a:p>
          <a:p>
            <a:pPr marL="571500" lvl="1" indent="-342900">
              <a:buAutoNum type="alphaLcParenR"/>
            </a:pPr>
            <a:endParaRPr lang="en-IN" dirty="0">
              <a:solidFill>
                <a:schemeClr val="tx1"/>
              </a:solidFill>
            </a:endParaRPr>
          </a:p>
          <a:p>
            <a:pPr marL="571500" lvl="1" indent="-342900">
              <a:buAutoNum type="alphaLcParenR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25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76672"/>
            <a:ext cx="7556313" cy="63813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</a:rPr>
              <a:t>A distinction is made between physical records and logical records. A </a:t>
            </a:r>
            <a:r>
              <a:rPr lang="en-IN" b="1" dirty="0">
                <a:solidFill>
                  <a:schemeClr val="tx1"/>
                </a:solidFill>
              </a:rPr>
              <a:t>logical </a:t>
            </a:r>
            <a:r>
              <a:rPr lang="en-IN" b="1" dirty="0" smtClean="0">
                <a:solidFill>
                  <a:schemeClr val="tx1"/>
                </a:solidFill>
              </a:rPr>
              <a:t>record </a:t>
            </a:r>
            <a:r>
              <a:rPr lang="en-IN" dirty="0" smtClean="0">
                <a:solidFill>
                  <a:schemeClr val="tx1"/>
                </a:solidFill>
              </a:rPr>
              <a:t>is </a:t>
            </a:r>
            <a:r>
              <a:rPr lang="en-IN" dirty="0">
                <a:solidFill>
                  <a:schemeClr val="tx1"/>
                </a:solidFill>
              </a:rPr>
              <a:t>a collection of related data elements treated as a conceptual unit, independent </a:t>
            </a:r>
            <a:r>
              <a:rPr lang="en-IN" dirty="0" smtClean="0">
                <a:solidFill>
                  <a:schemeClr val="tx1"/>
                </a:solidFill>
              </a:rPr>
              <a:t>of how </a:t>
            </a:r>
            <a:r>
              <a:rPr lang="en-IN" dirty="0">
                <a:solidFill>
                  <a:schemeClr val="tx1"/>
                </a:solidFill>
              </a:rPr>
              <a:t>or where the information is stored. A </a:t>
            </a:r>
            <a:r>
              <a:rPr lang="en-IN" b="1" dirty="0">
                <a:solidFill>
                  <a:schemeClr val="tx1"/>
                </a:solidFill>
              </a:rPr>
              <a:t>physical record </a:t>
            </a:r>
            <a:r>
              <a:rPr lang="en-IN" dirty="0">
                <a:solidFill>
                  <a:schemeClr val="tx1"/>
                </a:solidFill>
              </a:rPr>
              <a:t>is a contiguous area of </a:t>
            </a:r>
            <a:r>
              <a:rPr lang="en-IN" dirty="0" smtClean="0">
                <a:solidFill>
                  <a:schemeClr val="tx1"/>
                </a:solidFill>
              </a:rPr>
              <a:t>storage space </a:t>
            </a:r>
            <a:r>
              <a:rPr lang="en-IN" dirty="0">
                <a:solidFill>
                  <a:schemeClr val="tx1"/>
                </a:solidFill>
              </a:rPr>
              <a:t>that is defined by the characteristics of the storage device and </a:t>
            </a:r>
            <a:r>
              <a:rPr lang="en-IN" dirty="0" smtClean="0">
                <a:solidFill>
                  <a:schemeClr val="tx1"/>
                </a:solidFill>
              </a:rPr>
              <a:t>operating system</a:t>
            </a:r>
            <a:r>
              <a:rPr lang="en-IN" dirty="0">
                <a:solidFill>
                  <a:schemeClr val="tx1"/>
                </a:solidFill>
              </a:rPr>
              <a:t>. Assume a disk system in which each physical record contains thirty </a:t>
            </a:r>
            <a:r>
              <a:rPr lang="en-IN" dirty="0" smtClean="0">
                <a:solidFill>
                  <a:schemeClr val="tx1"/>
                </a:solidFill>
              </a:rPr>
              <a:t>120-byte logical </a:t>
            </a:r>
            <a:r>
              <a:rPr lang="en-IN" dirty="0">
                <a:solidFill>
                  <a:schemeClr val="tx1"/>
                </a:solidFill>
              </a:rPr>
              <a:t>records. Calculate how much disk space (in sectors, tracks, and surfaces) will </a:t>
            </a:r>
            <a:r>
              <a:rPr lang="en-IN" dirty="0" smtClean="0">
                <a:solidFill>
                  <a:schemeClr val="tx1"/>
                </a:solidFill>
              </a:rPr>
              <a:t>be required </a:t>
            </a:r>
            <a:r>
              <a:rPr lang="en-IN" dirty="0">
                <a:solidFill>
                  <a:schemeClr val="tx1"/>
                </a:solidFill>
              </a:rPr>
              <a:t>to store 300,000 logical records if the disk is fixed-sector with 512 </a:t>
            </a:r>
            <a:r>
              <a:rPr lang="en-IN" dirty="0" smtClean="0">
                <a:solidFill>
                  <a:schemeClr val="tx1"/>
                </a:solidFill>
              </a:rPr>
              <a:t>bytes/sector, with </a:t>
            </a:r>
            <a:r>
              <a:rPr lang="en-IN" dirty="0">
                <a:solidFill>
                  <a:schemeClr val="tx1"/>
                </a:solidFill>
              </a:rPr>
              <a:t>96 sectors/track, 110 tracks per surface, and 8 usable surfaces. Ignore any </a:t>
            </a:r>
            <a:r>
              <a:rPr lang="en-IN" dirty="0" smtClean="0">
                <a:solidFill>
                  <a:schemeClr val="tx1"/>
                </a:solidFill>
              </a:rPr>
              <a:t>file header </a:t>
            </a:r>
            <a:r>
              <a:rPr lang="en-IN" dirty="0">
                <a:solidFill>
                  <a:schemeClr val="tx1"/>
                </a:solidFill>
              </a:rPr>
              <a:t>record(s) and track indexes, and assume that records cannot span two sectors.</a:t>
            </a:r>
          </a:p>
        </p:txBody>
      </p:sp>
    </p:spTree>
    <p:extLst>
      <p:ext uri="{BB962C8B-B14F-4D97-AF65-F5344CB8AC3E}">
        <p14:creationId xmlns:p14="http://schemas.microsoft.com/office/powerpoint/2010/main" val="97262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External Memory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03" y="1412776"/>
            <a:ext cx="7556313" cy="41449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Optical Memory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CD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DVD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High Definition optical disks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Solid State Drives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31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Reference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340768"/>
            <a:ext cx="7556313" cy="4144963"/>
          </a:xfrm>
        </p:spPr>
        <p:txBody>
          <a:bodyPr/>
          <a:lstStyle/>
          <a:p>
            <a:r>
              <a:rPr lang="en-US" dirty="0"/>
              <a:t>Computer Organization and Architecture: Designing for Performance, William Stallings, 9</a:t>
            </a:r>
            <a:r>
              <a:rPr lang="en-US" baseline="30000" dirty="0"/>
              <a:t>th</a:t>
            </a:r>
            <a:r>
              <a:rPr lang="en-US" dirty="0"/>
              <a:t> Edition, Pearson India, 2013.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301592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7596</TotalTime>
  <Words>985</Words>
  <Application>Microsoft Office PowerPoint</Application>
  <PresentationFormat>On-screen Show (4:3)</PresentationFormat>
  <Paragraphs>138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ＭＳ Ｐゴシック</vt:lpstr>
      <vt:lpstr>Arial</vt:lpstr>
      <vt:lpstr>Rockwell</vt:lpstr>
      <vt:lpstr>Times New Roman</vt:lpstr>
      <vt:lpstr>Wingdings</vt:lpstr>
      <vt:lpstr>Advantage</vt:lpstr>
      <vt:lpstr>Computer Memory</vt:lpstr>
      <vt:lpstr>Introduction </vt:lpstr>
      <vt:lpstr>Key Characteristics of Computer Memory Systems</vt:lpstr>
      <vt:lpstr>Memory Hierarchy</vt:lpstr>
      <vt:lpstr>Hierarchy List</vt:lpstr>
      <vt:lpstr>Locality of Reference </vt:lpstr>
      <vt:lpstr>Cache and Main Memory</vt:lpstr>
      <vt:lpstr>Cache Read Operation</vt:lpstr>
      <vt:lpstr>Typical Cache Organization</vt:lpstr>
      <vt:lpstr>Cache/Main Memory Structure</vt:lpstr>
      <vt:lpstr>Elements of Cache Design</vt:lpstr>
      <vt:lpstr>Cache Mapping</vt:lpstr>
      <vt:lpstr>Internal Memory</vt:lpstr>
      <vt:lpstr>Internal Memory</vt:lpstr>
      <vt:lpstr>External Memory</vt:lpstr>
      <vt:lpstr>Magnetic Tape</vt:lpstr>
      <vt:lpstr>Magnetic Disk</vt:lpstr>
      <vt:lpstr>PowerPoint Presentation</vt:lpstr>
      <vt:lpstr>Disk Device Terminology</vt:lpstr>
      <vt:lpstr>PowerPoint Presentation</vt:lpstr>
      <vt:lpstr>Disk Layout Methods</vt:lpstr>
      <vt:lpstr>PowerPoint Presentation</vt:lpstr>
      <vt:lpstr>Physical Characteristics  of Disk Systems</vt:lpstr>
      <vt:lpstr>Disk Performance Parameters</vt:lpstr>
      <vt:lpstr>PowerPoint Presentation</vt:lpstr>
      <vt:lpstr>PowerPoint Presentation</vt:lpstr>
      <vt:lpstr>Other External Memory Examples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External Memory</dc:title>
  <dc:creator>Adrian J Pullin</dc:creator>
  <cp:lastModifiedBy>Divya Lohani</cp:lastModifiedBy>
  <cp:revision>233</cp:revision>
  <dcterms:created xsi:type="dcterms:W3CDTF">2012-06-20T16:57:50Z</dcterms:created>
  <dcterms:modified xsi:type="dcterms:W3CDTF">2018-11-15T06:47:58Z</dcterms:modified>
</cp:coreProperties>
</file>