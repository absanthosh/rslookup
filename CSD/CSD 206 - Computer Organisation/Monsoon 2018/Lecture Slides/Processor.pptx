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1" r:id="rId1"/>
  </p:sldMasterIdLst>
  <p:notesMasterIdLst>
    <p:notesMasterId r:id="rId26"/>
  </p:notesMasterIdLst>
  <p:handoutMasterIdLst>
    <p:handoutMasterId r:id="rId27"/>
  </p:handoutMasterIdLst>
  <p:sldIdLst>
    <p:sldId id="430" r:id="rId2"/>
    <p:sldId id="466" r:id="rId3"/>
    <p:sldId id="431" r:id="rId4"/>
    <p:sldId id="432" r:id="rId5"/>
    <p:sldId id="435" r:id="rId6"/>
    <p:sldId id="468" r:id="rId7"/>
    <p:sldId id="483" r:id="rId8"/>
    <p:sldId id="439" r:id="rId9"/>
    <p:sldId id="443" r:id="rId10"/>
    <p:sldId id="444" r:id="rId11"/>
    <p:sldId id="445" r:id="rId12"/>
    <p:sldId id="446" r:id="rId13"/>
    <p:sldId id="449" r:id="rId14"/>
    <p:sldId id="470" r:id="rId15"/>
    <p:sldId id="451" r:id="rId16"/>
    <p:sldId id="472" r:id="rId17"/>
    <p:sldId id="454" r:id="rId18"/>
    <p:sldId id="455" r:id="rId19"/>
    <p:sldId id="456" r:id="rId20"/>
    <p:sldId id="473" r:id="rId21"/>
    <p:sldId id="474" r:id="rId22"/>
    <p:sldId id="475" r:id="rId23"/>
    <p:sldId id="465" r:id="rId24"/>
    <p:sldId id="484" r:id="rId25"/>
  </p:sldIdLst>
  <p:sldSz cx="9144000" cy="6858000" type="screen4x3"/>
  <p:notesSz cx="6858000" cy="91440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2400" kern="1200">
        <a:solidFill>
          <a:schemeClr val="tx1"/>
        </a:solidFill>
        <a:latin typeface="Times New Roman" pitchFamily="-1"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 charset="0"/>
        <a:ea typeface="+mn-ea"/>
        <a:cs typeface="+mn-cs"/>
      </a:defRPr>
    </a:lvl5pPr>
    <a:lvl6pPr marL="2286000" algn="l" defTabSz="457200" rtl="0" eaLnBrk="1" latinLnBrk="0" hangingPunct="1">
      <a:defRPr sz="2400" kern="1200">
        <a:solidFill>
          <a:schemeClr val="tx1"/>
        </a:solidFill>
        <a:latin typeface="Times New Roman" pitchFamily="-1" charset="0"/>
        <a:ea typeface="+mn-ea"/>
        <a:cs typeface="+mn-cs"/>
      </a:defRPr>
    </a:lvl6pPr>
    <a:lvl7pPr marL="2743200" algn="l" defTabSz="457200" rtl="0" eaLnBrk="1" latinLnBrk="0" hangingPunct="1">
      <a:defRPr sz="2400" kern="1200">
        <a:solidFill>
          <a:schemeClr val="tx1"/>
        </a:solidFill>
        <a:latin typeface="Times New Roman" pitchFamily="-1" charset="0"/>
        <a:ea typeface="+mn-ea"/>
        <a:cs typeface="+mn-cs"/>
      </a:defRPr>
    </a:lvl7pPr>
    <a:lvl8pPr marL="3200400" algn="l" defTabSz="457200" rtl="0" eaLnBrk="1" latinLnBrk="0" hangingPunct="1">
      <a:defRPr sz="2400" kern="1200">
        <a:solidFill>
          <a:schemeClr val="tx1"/>
        </a:solidFill>
        <a:latin typeface="Times New Roman" pitchFamily="-1" charset="0"/>
        <a:ea typeface="+mn-ea"/>
        <a:cs typeface="+mn-cs"/>
      </a:defRPr>
    </a:lvl8pPr>
    <a:lvl9pPr marL="3657600" algn="l" defTabSz="457200" rtl="0" eaLnBrk="1" latinLnBrk="0" hangingPunct="1">
      <a:defRPr sz="2400" kern="1200">
        <a:solidFill>
          <a:schemeClr val="tx1"/>
        </a:solidFill>
        <a:latin typeface="Times New Roman" pitchFamily="-1"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615" autoAdjust="0"/>
    <p:restoredTop sz="94434" autoAdjust="0"/>
  </p:normalViewPr>
  <p:slideViewPr>
    <p:cSldViewPr>
      <p:cViewPr varScale="1">
        <p:scale>
          <a:sx n="110" d="100"/>
          <a:sy n="110" d="100"/>
        </p:scale>
        <p:origin x="1266"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48" d="100"/>
        <a:sy n="148" d="100"/>
      </p:scale>
      <p:origin x="0" y="-565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478749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Rot="1" noChangeAspect="1" noChangeArrowheads="1" noTextEdit="1"/>
          </p:cNvSpPr>
          <p:nvPr>
            <p:ph type="sldImg" idx="2"/>
          </p:nvPr>
        </p:nvSpPr>
        <p:spPr bwMode="auto">
          <a:xfrm>
            <a:off x="1149350" y="692150"/>
            <a:ext cx="4559300" cy="3416300"/>
          </a:xfrm>
          <a:prstGeom prst="rect">
            <a:avLst/>
          </a:prstGeom>
          <a:noFill/>
          <a:ln w="12700">
            <a:solidFill>
              <a:srgbClr val="000000"/>
            </a:solidFill>
            <a:miter lim="800000"/>
            <a:headEnd/>
            <a:tailEnd/>
          </a:ln>
          <a:effectLst/>
        </p:spPr>
      </p:sp>
      <p:sp>
        <p:nvSpPr>
          <p:cNvPr id="2051" name="Rectangle 3"/>
          <p:cNvSpPr>
            <a:spLocks noGrp="1" noChangeArrowheads="1"/>
          </p:cNvSpPr>
          <p:nvPr>
            <p:ph type="body" sz="quarter" idx="3"/>
          </p:nvPr>
        </p:nvSpPr>
        <p:spPr bwMode="auto">
          <a:xfrm>
            <a:off x="914400" y="4343400"/>
            <a:ext cx="5029200" cy="4114800"/>
          </a:xfrm>
          <a:prstGeom prst="rect">
            <a:avLst/>
          </a:prstGeom>
          <a:noFill/>
          <a:ln w="12700">
            <a:noFill/>
            <a:miter lim="800000"/>
            <a:headEnd/>
            <a:tailEnd/>
          </a:ln>
          <a:effectLst/>
        </p:spPr>
        <p:txBody>
          <a:bodyPr vert="horz" wrap="square" lIns="90488" tIns="44450" rIns="90488" bIns="4445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250542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8131"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22</a:t>
            </a:r>
          </a:p>
        </p:txBody>
      </p:sp>
      <p:sp>
        <p:nvSpPr>
          <p:cNvPr id="48132"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8133"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48134" name="Rectangle 6"/>
          <p:cNvSpPr>
            <a:spLocks noGrp="1" noRot="1" noChangeAspect="1" noChangeArrowheads="1" noTextEdit="1"/>
          </p:cNvSpPr>
          <p:nvPr>
            <p:ph type="sldImg"/>
          </p:nvPr>
        </p:nvSpPr>
        <p:spPr>
          <a:xfrm>
            <a:off x="1150938" y="692150"/>
            <a:ext cx="4556125" cy="3416300"/>
          </a:xfrm>
          <a:ln cap="flat"/>
        </p:spPr>
      </p:sp>
      <p:sp>
        <p:nvSpPr>
          <p:cNvPr id="48135" name="Rectangle 7"/>
          <p:cNvSpPr>
            <a:spLocks noGrp="1" noChangeArrowheads="1"/>
          </p:cNvSpPr>
          <p:nvPr>
            <p:ph type="body" idx="1"/>
          </p:nvPr>
        </p:nvSpPr>
        <p:spPr>
          <a:ln/>
        </p:spPr>
        <p:txBody>
          <a:bodyPr/>
          <a:lstStyle/>
          <a:p>
            <a:r>
              <a:rPr lang="en-US" sz="1200" kern="1200" dirty="0" smtClean="0">
                <a:solidFill>
                  <a:schemeClr val="tx1"/>
                </a:solidFill>
                <a:latin typeface="Times New Roman" pitchFamily="-1" charset="0"/>
                <a:ea typeface="+mn-ea"/>
                <a:cs typeface="+mn-cs"/>
              </a:rPr>
              <a:t>To understand the organization of the processor, let us consider the requirements placed on the processor, the things that it must do: </a:t>
            </a:r>
            <a:endParaRPr lang="en-US" dirty="0" smtClean="0"/>
          </a:p>
          <a:p>
            <a:endParaRPr lang="en-US" sz="1200" b="0" kern="1200" dirty="0" smtClean="0">
              <a:solidFill>
                <a:schemeClr val="tx1"/>
              </a:solidFill>
              <a:latin typeface="Times New Roman" pitchFamily="-1" charset="0"/>
              <a:ea typeface="+mn-ea"/>
              <a:cs typeface="+mn-cs"/>
            </a:endParaRPr>
          </a:p>
          <a:p>
            <a:r>
              <a:rPr lang="en-US" sz="1200" b="0" kern="1200" dirty="0" smtClean="0">
                <a:solidFill>
                  <a:schemeClr val="tx1"/>
                </a:solidFill>
                <a:latin typeface="Times New Roman" pitchFamily="-1" charset="0"/>
                <a:ea typeface="+mn-ea"/>
                <a:cs typeface="+mn-cs"/>
              </a:rPr>
              <a:t>Fetch instruction: The processor reads an instruction from memory (register, cache, main memory). </a:t>
            </a:r>
          </a:p>
          <a:p>
            <a:endParaRPr lang="en-US" sz="1200" b="0" kern="1200" dirty="0" smtClean="0">
              <a:solidFill>
                <a:schemeClr val="tx1"/>
              </a:solidFill>
              <a:latin typeface="Times New Roman" pitchFamily="-1" charset="0"/>
              <a:ea typeface="+mn-ea"/>
              <a:cs typeface="+mn-cs"/>
            </a:endParaRPr>
          </a:p>
          <a:p>
            <a:r>
              <a:rPr lang="en-US" sz="1200" b="0" kern="1200" dirty="0" smtClean="0">
                <a:solidFill>
                  <a:schemeClr val="tx1"/>
                </a:solidFill>
                <a:latin typeface="Times New Roman" pitchFamily="-1" charset="0"/>
                <a:ea typeface="+mn-ea"/>
                <a:cs typeface="+mn-cs"/>
              </a:rPr>
              <a:t>Interpret instruction: The </a:t>
            </a:r>
            <a:r>
              <a:rPr lang="en-US" sz="1200" kern="1200" dirty="0" smtClean="0">
                <a:solidFill>
                  <a:schemeClr val="tx1"/>
                </a:solidFill>
                <a:latin typeface="Times New Roman" pitchFamily="-1" charset="0"/>
                <a:ea typeface="+mn-ea"/>
                <a:cs typeface="+mn-cs"/>
              </a:rPr>
              <a:t>instruction is decoded to determine what action is required. </a:t>
            </a:r>
          </a:p>
          <a:p>
            <a:endParaRPr lang="en-US" sz="1200" b="1" kern="1200" dirty="0" smtClean="0">
              <a:solidFill>
                <a:schemeClr val="tx1"/>
              </a:solidFill>
              <a:latin typeface="Times New Roman" pitchFamily="-1" charset="0"/>
              <a:ea typeface="+mn-ea"/>
              <a:cs typeface="+mn-cs"/>
            </a:endParaRPr>
          </a:p>
          <a:p>
            <a:r>
              <a:rPr lang="en-US" sz="1200" b="0" kern="1200" dirty="0" smtClean="0">
                <a:solidFill>
                  <a:schemeClr val="tx1"/>
                </a:solidFill>
                <a:latin typeface="Times New Roman" pitchFamily="-1" charset="0"/>
                <a:ea typeface="+mn-ea"/>
                <a:cs typeface="+mn-cs"/>
              </a:rPr>
              <a:t>Fetch data: The execution of an instruction may require reading data from memory or an I/O module. </a:t>
            </a:r>
          </a:p>
          <a:p>
            <a:endParaRPr lang="en-US" sz="1200" b="0" kern="1200" dirty="0" smtClean="0">
              <a:solidFill>
                <a:schemeClr val="tx1"/>
              </a:solidFill>
              <a:latin typeface="Times New Roman" pitchFamily="-1" charset="0"/>
              <a:ea typeface="+mn-ea"/>
              <a:cs typeface="+mn-cs"/>
            </a:endParaRPr>
          </a:p>
          <a:p>
            <a:r>
              <a:rPr lang="en-US" sz="1200" b="0" kern="1200" dirty="0" smtClean="0">
                <a:solidFill>
                  <a:schemeClr val="tx1"/>
                </a:solidFill>
                <a:latin typeface="Times New Roman" pitchFamily="-1" charset="0"/>
                <a:ea typeface="+mn-ea"/>
                <a:cs typeface="+mn-cs"/>
              </a:rPr>
              <a:t>Process data: The execution of an instruction may require performing some arithmetic or logical operation on data. </a:t>
            </a:r>
          </a:p>
          <a:p>
            <a:endParaRPr lang="en-US" sz="1200" b="0" kern="1200" dirty="0" smtClean="0">
              <a:solidFill>
                <a:schemeClr val="tx1"/>
              </a:solidFill>
              <a:latin typeface="Times New Roman" pitchFamily="-1" charset="0"/>
              <a:ea typeface="+mn-ea"/>
              <a:cs typeface="+mn-cs"/>
            </a:endParaRPr>
          </a:p>
          <a:p>
            <a:r>
              <a:rPr lang="en-US" sz="1200" b="0" kern="1200" dirty="0" smtClean="0">
                <a:solidFill>
                  <a:schemeClr val="tx1"/>
                </a:solidFill>
                <a:latin typeface="Times New Roman" pitchFamily="-1" charset="0"/>
                <a:ea typeface="+mn-ea"/>
                <a:cs typeface="+mn-cs"/>
              </a:rPr>
              <a:t>Write data: The results of an execution may require writing data to memory or an I/O module. </a:t>
            </a:r>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To do these things, it should be clear that the processor needs to store some data temporarily. It must remember the location of the last instruction so that it can know where to get the next instruction. It needs to store instructions and data temporarily while an instruction is being executed. In other words, the processor needs a small internal memory. </a:t>
            </a:r>
          </a:p>
          <a:p>
            <a:endParaRPr lang="en-GB" dirty="0"/>
          </a:p>
        </p:txBody>
      </p:sp>
    </p:spTree>
    <p:extLst>
      <p:ext uri="{BB962C8B-B14F-4D97-AF65-F5344CB8AC3E}">
        <p14:creationId xmlns:p14="http://schemas.microsoft.com/office/powerpoint/2010/main" val="31098283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Figure 14.1 is a simplified view of a processor, indicating its connection to the rest of the system via the system bus. A similar interface would be needed for any of the interconnection structures described in Chapter 3. The reader will recall that the major components of the processor are an </a:t>
            </a:r>
            <a:r>
              <a:rPr lang="en-US" sz="1200" i="1" kern="1200" dirty="0" smtClean="0">
                <a:solidFill>
                  <a:schemeClr val="tx1"/>
                </a:solidFill>
                <a:latin typeface="Times New Roman" pitchFamily="-1" charset="0"/>
                <a:ea typeface="+mn-ea"/>
                <a:cs typeface="+mn-cs"/>
              </a:rPr>
              <a:t>arithmetic and logic unit </a:t>
            </a:r>
            <a:r>
              <a:rPr lang="en-US" sz="1200" kern="1200" dirty="0" smtClean="0">
                <a:solidFill>
                  <a:schemeClr val="tx1"/>
                </a:solidFill>
                <a:latin typeface="Times New Roman" pitchFamily="-1" charset="0"/>
                <a:ea typeface="+mn-ea"/>
                <a:cs typeface="+mn-cs"/>
              </a:rPr>
              <a:t>(ALU) and a </a:t>
            </a:r>
            <a:r>
              <a:rPr lang="en-US" sz="1200" i="1" kern="1200" dirty="0" smtClean="0">
                <a:solidFill>
                  <a:schemeClr val="tx1"/>
                </a:solidFill>
                <a:latin typeface="Times New Roman" pitchFamily="-1" charset="0"/>
                <a:ea typeface="+mn-ea"/>
                <a:cs typeface="+mn-cs"/>
              </a:rPr>
              <a:t>control unit </a:t>
            </a:r>
            <a:r>
              <a:rPr lang="en-US" sz="1200" kern="1200" dirty="0" smtClean="0">
                <a:solidFill>
                  <a:schemeClr val="tx1"/>
                </a:solidFill>
                <a:latin typeface="Times New Roman" pitchFamily="-1" charset="0"/>
                <a:ea typeface="+mn-ea"/>
                <a:cs typeface="+mn-cs"/>
              </a:rPr>
              <a:t>(CU). The ALU does the actual computation or processing of data. The control unit controls the movement of data and instructions into and out of the processor and controls the operation of the ALU. In addition, the figure shows a minimal internal memory, consisting of a set of storage locations, called </a:t>
            </a:r>
            <a:r>
              <a:rPr lang="en-US" sz="1200" i="1" kern="1200" dirty="0" smtClean="0">
                <a:solidFill>
                  <a:schemeClr val="tx1"/>
                </a:solidFill>
                <a:latin typeface="Times New Roman" pitchFamily="-1" charset="0"/>
                <a:ea typeface="+mn-ea"/>
                <a:cs typeface="+mn-cs"/>
              </a:rPr>
              <a:t>registers. </a:t>
            </a:r>
            <a:endParaRPr lang="en-US" dirty="0" smtClean="0"/>
          </a:p>
          <a:p>
            <a:endParaRPr lang="en-US" dirty="0"/>
          </a:p>
        </p:txBody>
      </p:sp>
    </p:spTree>
    <p:extLst>
      <p:ext uri="{BB962C8B-B14F-4D97-AF65-F5344CB8AC3E}">
        <p14:creationId xmlns:p14="http://schemas.microsoft.com/office/powerpoint/2010/main" val="36773431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Figure 14.2 is a slightly more detailed view of the processor. The data transfer and logic control paths are indicated, including an element labeled </a:t>
            </a:r>
            <a:r>
              <a:rPr lang="en-US" sz="1200" i="1" kern="1200" dirty="0" smtClean="0">
                <a:solidFill>
                  <a:schemeClr val="tx1"/>
                </a:solidFill>
                <a:latin typeface="Times New Roman" pitchFamily="-1" charset="0"/>
                <a:ea typeface="+mn-ea"/>
                <a:cs typeface="+mn-cs"/>
              </a:rPr>
              <a:t>internal </a:t>
            </a: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i="1" kern="1200" dirty="0" smtClean="0">
                <a:solidFill>
                  <a:schemeClr val="tx1"/>
                </a:solidFill>
                <a:latin typeface="Times New Roman" pitchFamily="-1" charset="0"/>
                <a:ea typeface="+mn-ea"/>
                <a:cs typeface="+mn-cs"/>
              </a:rPr>
              <a:t>processor bus. </a:t>
            </a:r>
            <a:r>
              <a:rPr lang="en-US" sz="1200" kern="1200" dirty="0" smtClean="0">
                <a:solidFill>
                  <a:schemeClr val="tx1"/>
                </a:solidFill>
                <a:latin typeface="Times New Roman" pitchFamily="-1" charset="0"/>
                <a:ea typeface="+mn-ea"/>
                <a:cs typeface="+mn-cs"/>
              </a:rPr>
              <a:t>This element is needed to transfer data between the various registers and the ALU because the ALU in fact operates only on data in the internal processor memory. The figure also shows typical basic elements of the ALU. Note the similarity between the internal structure of the computer as a whole and the internal structure of the processor. In both cases, there is a small collection of major elements (computer: processor, I/O, memory; processor: control unit, ALU, registers) connected by data paths. </a:t>
            </a:r>
            <a:endParaRPr lang="en-US" dirty="0" smtClean="0"/>
          </a:p>
          <a:p>
            <a:endParaRPr lang="en-US" dirty="0"/>
          </a:p>
        </p:txBody>
      </p:sp>
    </p:spTree>
    <p:extLst>
      <p:ext uri="{BB962C8B-B14F-4D97-AF65-F5344CB8AC3E}">
        <p14:creationId xmlns:p14="http://schemas.microsoft.com/office/powerpoint/2010/main" val="2472672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4515"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30</a:t>
            </a:r>
          </a:p>
        </p:txBody>
      </p:sp>
      <p:sp>
        <p:nvSpPr>
          <p:cNvPr id="64516"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4517"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4518" name="Rectangle 6"/>
          <p:cNvSpPr>
            <a:spLocks noGrp="1" noRot="1" noChangeAspect="1" noChangeArrowheads="1" noTextEdit="1"/>
          </p:cNvSpPr>
          <p:nvPr>
            <p:ph type="sldImg"/>
          </p:nvPr>
        </p:nvSpPr>
        <p:spPr>
          <a:xfrm>
            <a:off x="1150938" y="692150"/>
            <a:ext cx="4556125" cy="3416300"/>
          </a:xfrm>
          <a:ln cap="flat"/>
        </p:spPr>
      </p:sp>
      <p:sp>
        <p:nvSpPr>
          <p:cNvPr id="64519" name="Rectangle 7"/>
          <p:cNvSpPr>
            <a:spLocks noGrp="1" noChangeArrowheads="1"/>
          </p:cNvSpPr>
          <p:nvPr>
            <p:ph type="body" idx="1"/>
          </p:nvPr>
        </p:nvSpPr>
        <p:spPr>
          <a:ln/>
        </p:spPr>
        <p:txBody>
          <a:bodyPr/>
          <a:lstStyle/>
          <a:p>
            <a:r>
              <a:rPr lang="en-US" sz="1200" kern="1200" dirty="0" smtClean="0">
                <a:solidFill>
                  <a:schemeClr val="tx1"/>
                </a:solidFill>
                <a:latin typeface="Times New Roman" pitchFamily="-1" charset="0"/>
                <a:ea typeface="+mn-ea"/>
                <a:cs typeface="+mn-cs"/>
              </a:rPr>
              <a:t>There are a variety of processor registers that are employed to control the operation of the processor. Most of these, on most machines, are not visible to the user. Some of them may be visible to machine instructions executed in a control or operating system mode.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Of course, different machines will have different register organizations and use different terminology. We list here a reasonably complete list of register types, with a brief description.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Four registers are essential to instruction execution: </a:t>
            </a:r>
            <a:endParaRPr lang="en-US" dirty="0" smtClean="0"/>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Program counter (PC): </a:t>
            </a:r>
            <a:r>
              <a:rPr lang="en-US" sz="1200" kern="1200" dirty="0" smtClean="0">
                <a:solidFill>
                  <a:schemeClr val="tx1"/>
                </a:solidFill>
                <a:latin typeface="Times New Roman" pitchFamily="-1" charset="0"/>
                <a:ea typeface="+mn-ea"/>
                <a:cs typeface="+mn-cs"/>
              </a:rPr>
              <a:t>Contains the address of an instruction to be fetched. </a:t>
            </a:r>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Instruction register (IR): </a:t>
            </a:r>
            <a:r>
              <a:rPr lang="en-US" sz="1200" kern="1200" dirty="0" smtClean="0">
                <a:solidFill>
                  <a:schemeClr val="tx1"/>
                </a:solidFill>
                <a:latin typeface="Times New Roman" pitchFamily="-1" charset="0"/>
                <a:ea typeface="+mn-ea"/>
                <a:cs typeface="+mn-cs"/>
              </a:rPr>
              <a:t>Contains the instruction most recently fetched. </a:t>
            </a:r>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Memory address register (MAR): </a:t>
            </a:r>
            <a:r>
              <a:rPr lang="en-US" sz="1200" kern="1200" dirty="0" smtClean="0">
                <a:solidFill>
                  <a:schemeClr val="tx1"/>
                </a:solidFill>
                <a:latin typeface="Times New Roman" pitchFamily="-1" charset="0"/>
                <a:ea typeface="+mn-ea"/>
                <a:cs typeface="+mn-cs"/>
              </a:rPr>
              <a:t>Contains the address of a location in memory. </a:t>
            </a:r>
          </a:p>
          <a:p>
            <a:endParaRPr lang="en-US" sz="1200" b="1" kern="1200" dirty="0" smtClean="0">
              <a:solidFill>
                <a:schemeClr val="tx1"/>
              </a:solidFill>
              <a:latin typeface="Times New Roman" pitchFamily="-1" charset="0"/>
              <a:ea typeface="+mn-ea"/>
              <a:cs typeface="+mn-cs"/>
            </a:endParaRPr>
          </a:p>
          <a:p>
            <a:r>
              <a:rPr lang="en-US" sz="1200" b="1" kern="1200" dirty="0" smtClean="0">
                <a:solidFill>
                  <a:schemeClr val="tx1"/>
                </a:solidFill>
                <a:latin typeface="Times New Roman" pitchFamily="-1" charset="0"/>
                <a:ea typeface="+mn-ea"/>
                <a:cs typeface="+mn-cs"/>
              </a:rPr>
              <a:t>Memory buffer register (MBR): </a:t>
            </a:r>
            <a:r>
              <a:rPr lang="en-US" sz="1200" kern="1200" dirty="0" smtClean="0">
                <a:solidFill>
                  <a:schemeClr val="tx1"/>
                </a:solidFill>
                <a:latin typeface="Times New Roman" pitchFamily="-1" charset="0"/>
                <a:ea typeface="+mn-ea"/>
                <a:cs typeface="+mn-cs"/>
              </a:rPr>
              <a:t>Contains a word of data to be written to memory or the word most recently read. </a:t>
            </a:r>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Not all processors have internal registers designated as MAR and MBR, but some equivalent buffering mechanism is needed whereby the bits to be transferred to the system bus are staged and the bits to be read from the data bus are temporarily stored.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Typically, the processor updates the PC after each instruction fetch so that the PC always points to the next instruction to be executed. A branch or skip instruction will also modify the contents of the PC. The fetched instruction is loaded into an IR, where the opcode and operand specifiers are analyzed. Data are exchanged with memory using the MAR and MBR. In a bus- organized system, the MAR connects directly to the address bus, and the MBR connects directly to the data bus. User-visible registers, in turn, exchange data with the MBR.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The four registers just mentioned are used for the movement of data between the processor and memory. Within the processor, data must be presented to the ALU for processing. The ALU may have direct access to the MBR and user-visible registers. Alternatively, there may be additional buffering registers at the boundary to the ALU; these registers serve as input and output registers for the ALU and exchange data with the MBR and user-visible registers. </a:t>
            </a:r>
            <a:endParaRPr lang="en-US" dirty="0" smtClean="0"/>
          </a:p>
          <a:p>
            <a:endParaRPr lang="en-US" sz="1200" kern="1200" dirty="0" smtClean="0">
              <a:solidFill>
                <a:schemeClr val="tx1"/>
              </a:solidFill>
              <a:latin typeface="Times New Roman" pitchFamily="-1" charset="0"/>
              <a:ea typeface="+mn-ea"/>
              <a:cs typeface="+mn-cs"/>
            </a:endParaRPr>
          </a:p>
          <a:p>
            <a:endParaRPr lang="en-GB" dirty="0"/>
          </a:p>
        </p:txBody>
      </p:sp>
    </p:spTree>
    <p:extLst>
      <p:ext uri="{BB962C8B-B14F-4D97-AF65-F5344CB8AC3E}">
        <p14:creationId xmlns:p14="http://schemas.microsoft.com/office/powerpoint/2010/main" val="8206657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Rot="1" noChangeAspect="1" noChangeArrowheads="1" noTextEdit="1"/>
          </p:cNvSpPr>
          <p:nvPr>
            <p:ph type="sldImg"/>
          </p:nvPr>
        </p:nvSpPr>
        <p:spPr>
          <a:xfrm>
            <a:off x="1150938" y="692150"/>
            <a:ext cx="4556125" cy="3416300"/>
          </a:xfrm>
          <a:ln/>
        </p:spPr>
      </p:sp>
      <p:sp>
        <p:nvSpPr>
          <p:cNvPr id="123907"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Another way to view this process is shown in Figure 14.5, which is a revised version of Figure 3.12. This illustrates more correctly the nature of the instruction cycle. Once an instruction is fetched, its operand specifiers must be identified. Each input operand in memory is then fetched, and this process may require indirect addressing. Register-based operands need not be fetched. Once the opcode is executed, a similar process may be needed to store the result in main memory. </a:t>
            </a:r>
            <a:endParaRPr lang="en-US" dirty="0" smtClean="0"/>
          </a:p>
          <a:p>
            <a:endParaRPr lang="en-GB" dirty="0"/>
          </a:p>
        </p:txBody>
      </p:sp>
    </p:spTree>
    <p:extLst>
      <p:ext uri="{BB962C8B-B14F-4D97-AF65-F5344CB8AC3E}">
        <p14:creationId xmlns:p14="http://schemas.microsoft.com/office/powerpoint/2010/main" val="31786635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Rot="1" noChangeAspect="1" noChangeArrowheads="1" noTextEdit="1"/>
          </p:cNvSpPr>
          <p:nvPr>
            <p:ph type="sldImg"/>
          </p:nvPr>
        </p:nvSpPr>
        <p:spPr>
          <a:xfrm>
            <a:off x="1150938" y="692150"/>
            <a:ext cx="4556125" cy="3416300"/>
          </a:xfrm>
          <a:ln/>
        </p:spPr>
      </p:sp>
      <p:sp>
        <p:nvSpPr>
          <p:cNvPr id="124931" name="Rectangle 3"/>
          <p:cNvSpPr>
            <a:spLocks noGrp="1" noChangeArrowheads="1"/>
          </p:cNvSpPr>
          <p:nvPr>
            <p:ph type="body" idx="1"/>
          </p:nvPr>
        </p:nvSpPr>
        <p:spPr/>
        <p:txBody>
          <a:bodyPr/>
          <a:lstStyle/>
          <a:p>
            <a:r>
              <a:rPr lang="en-US" sz="1200" kern="1200" dirty="0" smtClean="0">
                <a:solidFill>
                  <a:schemeClr val="tx1"/>
                </a:solidFill>
                <a:latin typeface="Times New Roman" pitchFamily="-1" charset="0"/>
                <a:ea typeface="+mn-ea"/>
                <a:cs typeface="+mn-cs"/>
              </a:rPr>
              <a:t>The exact sequence of events during an instruction cycle depends on the design of the processor. We can, however, indicate in general terms what must happen. Let us assume that a processor that employs a memory address register (MAR), a memory buffer register (MBR), a program counter (PC), and an instruction register (IR).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During the </a:t>
            </a:r>
            <a:r>
              <a:rPr lang="en-US" sz="1200" i="1" kern="1200" dirty="0" smtClean="0">
                <a:solidFill>
                  <a:schemeClr val="tx1"/>
                </a:solidFill>
                <a:latin typeface="Times New Roman" pitchFamily="-1" charset="0"/>
                <a:ea typeface="+mn-ea"/>
                <a:cs typeface="+mn-cs"/>
              </a:rPr>
              <a:t>fetch cycle, </a:t>
            </a:r>
            <a:r>
              <a:rPr lang="en-US" sz="1200" kern="1200" dirty="0" smtClean="0">
                <a:solidFill>
                  <a:schemeClr val="tx1"/>
                </a:solidFill>
                <a:latin typeface="Times New Roman" pitchFamily="-1" charset="0"/>
                <a:ea typeface="+mn-ea"/>
                <a:cs typeface="+mn-cs"/>
              </a:rPr>
              <a:t>an instruction is read from memory. Figure 14.6 shows the flow of data during this cycle. The PC contains the address of the next instruction to be fetched. This address is moved to the MAR and placed on the address bus. The control unit requests a memory read, and the result is placed on the data bus and copied into the MBR and then moved to the IR. Meanwhile, the PC is incremented by 1, preparatory for the next fetch. </a:t>
            </a:r>
            <a:endParaRPr lang="en-US" dirty="0" smtClean="0"/>
          </a:p>
          <a:p>
            <a:endParaRPr lang="en-GB" dirty="0"/>
          </a:p>
        </p:txBody>
      </p:sp>
    </p:spTree>
    <p:extLst>
      <p:ext uri="{BB962C8B-B14F-4D97-AF65-F5344CB8AC3E}">
        <p14:creationId xmlns:p14="http://schemas.microsoft.com/office/powerpoint/2010/main" val="40435666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Rot="1" noChangeAspect="1" noChangeArrowheads="1" noTextEdit="1"/>
          </p:cNvSpPr>
          <p:nvPr>
            <p:ph type="sldImg"/>
          </p:nvPr>
        </p:nvSpPr>
        <p:spPr>
          <a:xfrm>
            <a:off x="1150938" y="692150"/>
            <a:ext cx="4556125" cy="3416300"/>
          </a:xfrm>
          <a:ln/>
        </p:spPr>
      </p:sp>
      <p:sp>
        <p:nvSpPr>
          <p:cNvPr id="126979" name="Rectangle 3"/>
          <p:cNvSpPr>
            <a:spLocks noGrp="1" noChangeArrowheads="1"/>
          </p:cNvSpPr>
          <p:nvPr>
            <p:ph type="body" idx="1"/>
          </p:nvPr>
        </p:nvSpPr>
        <p:spPr/>
        <p:txBody>
          <a:bodyPr/>
          <a:lstStyle/>
          <a:p>
            <a:r>
              <a:rPr lang="en-US" sz="1200" kern="1200" dirty="0" smtClean="0">
                <a:solidFill>
                  <a:schemeClr val="tx1"/>
                </a:solidFill>
                <a:latin typeface="Times New Roman" pitchFamily="-1" charset="0"/>
                <a:ea typeface="+mn-ea"/>
                <a:cs typeface="+mn-cs"/>
              </a:rPr>
              <a:t>Once the fetch cycle is over, the control unit examines the contents of the IR to determine if it contains an operand specifier using indirect addressing. If so, an </a:t>
            </a:r>
            <a:r>
              <a:rPr lang="en-US" sz="1200" i="1" kern="1200" dirty="0" smtClean="0">
                <a:solidFill>
                  <a:schemeClr val="tx1"/>
                </a:solidFill>
                <a:latin typeface="Times New Roman" pitchFamily="-1" charset="0"/>
                <a:ea typeface="+mn-ea"/>
                <a:cs typeface="+mn-cs"/>
              </a:rPr>
              <a:t>indirect cycle </a:t>
            </a:r>
            <a:r>
              <a:rPr lang="en-US" sz="1200" kern="1200" dirty="0" smtClean="0">
                <a:solidFill>
                  <a:schemeClr val="tx1"/>
                </a:solidFill>
                <a:latin typeface="Times New Roman" pitchFamily="-1" charset="0"/>
                <a:ea typeface="+mn-ea"/>
                <a:cs typeface="+mn-cs"/>
              </a:rPr>
              <a:t>is performed. As shown in Figure 14.7, this is a simple cycle. The right- most </a:t>
            </a:r>
            <a:r>
              <a:rPr lang="en-US" sz="1200" i="1" kern="1200" dirty="0" smtClean="0">
                <a:solidFill>
                  <a:schemeClr val="tx1"/>
                </a:solidFill>
                <a:latin typeface="Times New Roman" pitchFamily="-1" charset="0"/>
                <a:ea typeface="+mn-ea"/>
                <a:cs typeface="+mn-cs"/>
              </a:rPr>
              <a:t>N </a:t>
            </a:r>
            <a:r>
              <a:rPr lang="en-US" sz="1200" kern="1200" dirty="0" smtClean="0">
                <a:solidFill>
                  <a:schemeClr val="tx1"/>
                </a:solidFill>
                <a:latin typeface="Times New Roman" pitchFamily="-1" charset="0"/>
                <a:ea typeface="+mn-ea"/>
                <a:cs typeface="+mn-cs"/>
              </a:rPr>
              <a:t>bits of the MBR, which contain the address reference, are transferred to the MAR. Then the control unit requests a memory read, to get the desired address of the operand into the MBR.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The fetch and indirect cycles are simple and predictable. The </a:t>
            </a:r>
            <a:r>
              <a:rPr lang="en-US" sz="1200" i="1" kern="1200" dirty="0" smtClean="0">
                <a:solidFill>
                  <a:schemeClr val="tx1"/>
                </a:solidFill>
                <a:latin typeface="Times New Roman" pitchFamily="-1" charset="0"/>
                <a:ea typeface="+mn-ea"/>
                <a:cs typeface="+mn-cs"/>
              </a:rPr>
              <a:t>execute cycle </a:t>
            </a:r>
            <a:r>
              <a:rPr lang="en-US" sz="1200" kern="1200" dirty="0" smtClean="0">
                <a:solidFill>
                  <a:schemeClr val="tx1"/>
                </a:solidFill>
                <a:latin typeface="Times New Roman" pitchFamily="-1" charset="0"/>
                <a:ea typeface="+mn-ea"/>
                <a:cs typeface="+mn-cs"/>
              </a:rPr>
              <a:t>takes many forms; the form depends on which of the various machine instructions is in the IR. This cycle may involve transferring data among registers, read or write from memory or I/O, and/or the invocation of the ALU. </a:t>
            </a:r>
            <a:endParaRPr lang="en-US" dirty="0" smtClean="0"/>
          </a:p>
          <a:p>
            <a:endParaRPr lang="en-GB" dirty="0"/>
          </a:p>
        </p:txBody>
      </p:sp>
    </p:spTree>
    <p:extLst>
      <p:ext uri="{BB962C8B-B14F-4D97-AF65-F5344CB8AC3E}">
        <p14:creationId xmlns:p14="http://schemas.microsoft.com/office/powerpoint/2010/main" val="21348909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Rot="1" noChangeAspect="1" noChangeArrowheads="1" noTextEdit="1"/>
          </p:cNvSpPr>
          <p:nvPr>
            <p:ph type="sldImg"/>
          </p:nvPr>
        </p:nvSpPr>
        <p:spPr>
          <a:xfrm>
            <a:off x="1150938" y="692150"/>
            <a:ext cx="4556125" cy="3416300"/>
          </a:xfrm>
          <a:ln/>
        </p:spPr>
      </p:sp>
      <p:sp>
        <p:nvSpPr>
          <p:cNvPr id="128003" name="Rectangle 3"/>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Like the fetch and indirect cycles, the </a:t>
            </a:r>
            <a:r>
              <a:rPr lang="en-US" sz="1200" i="1" kern="1200" dirty="0" smtClean="0">
                <a:solidFill>
                  <a:schemeClr val="tx1"/>
                </a:solidFill>
                <a:latin typeface="Times New Roman" pitchFamily="-1" charset="0"/>
                <a:ea typeface="+mn-ea"/>
                <a:cs typeface="+mn-cs"/>
              </a:rPr>
              <a:t>interrupt cycle </a:t>
            </a:r>
            <a:r>
              <a:rPr lang="en-US" sz="1200" kern="1200" dirty="0" smtClean="0">
                <a:solidFill>
                  <a:schemeClr val="tx1"/>
                </a:solidFill>
                <a:latin typeface="Times New Roman" pitchFamily="-1" charset="0"/>
                <a:ea typeface="+mn-ea"/>
                <a:cs typeface="+mn-cs"/>
              </a:rPr>
              <a:t>is simple and predictable (Figure 14.8). The current contents of the PC must be saved so that the processor can resume normal activity after the interrupt. Thus, the contents of the PC are transferred to the MBR to be written into memory. The special memory location reserved for this purpose is loaded into the MAR from the control unit. It might, for example, be a stack pointer. The PC is loaded with the address of the interrupt routine. As a result, the next instruction cycle will begin by fetching the appropriate instruction. </a:t>
            </a: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 </a:t>
            </a:r>
            <a:endParaRPr lang="en-US" dirty="0" smtClean="0"/>
          </a:p>
          <a:p>
            <a:endParaRPr lang="en-GB" dirty="0"/>
          </a:p>
        </p:txBody>
      </p:sp>
    </p:spTree>
    <p:extLst>
      <p:ext uri="{BB962C8B-B14F-4D97-AF65-F5344CB8AC3E}">
        <p14:creationId xmlns:p14="http://schemas.microsoft.com/office/powerpoint/2010/main" val="27347395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fontScale="85000" lnSpcReduction="20000"/>
          </a:bodyPr>
          <a:lstStyle/>
          <a:p>
            <a:r>
              <a:rPr lang="en-US" sz="1200" kern="1200" dirty="0" smtClean="0">
                <a:solidFill>
                  <a:schemeClr val="tx1"/>
                </a:solidFill>
                <a:latin typeface="Times New Roman" pitchFamily="-1" charset="0"/>
                <a:ea typeface="+mn-ea"/>
                <a:cs typeface="+mn-cs"/>
              </a:rPr>
              <a:t>As a simple approach, consider subdividing instruction processing into two stages: fetch instruction and execute instruction. There are times during the execution of an instruction when main memory is not being accessed. This time could be used to fetch the next instruction in parallel with the execution of the current one. Figure 14.9a depicts this approach. The pipeline has two independent stages. The first stage fetches an instruction and buffers it. When the second stage is free, the first stage passes it the buffered instruction. While the second stage is executing the instruction, the first stage takes advantage of any unused memory cycles to fetch and buffer the next instruction. This is called instruction prefetch or </a:t>
            </a:r>
            <a:r>
              <a:rPr lang="en-US" sz="1200" i="1" kern="1200" dirty="0" smtClean="0">
                <a:solidFill>
                  <a:schemeClr val="tx1"/>
                </a:solidFill>
                <a:latin typeface="Times New Roman" pitchFamily="-1" charset="0"/>
                <a:ea typeface="+mn-ea"/>
                <a:cs typeface="+mn-cs"/>
              </a:rPr>
              <a:t>fetch overlap. </a:t>
            </a:r>
            <a:r>
              <a:rPr lang="en-US" sz="1200" kern="1200" dirty="0" smtClean="0">
                <a:solidFill>
                  <a:schemeClr val="tx1"/>
                </a:solidFill>
                <a:latin typeface="Times New Roman" pitchFamily="-1" charset="0"/>
                <a:ea typeface="+mn-ea"/>
                <a:cs typeface="+mn-cs"/>
              </a:rPr>
              <a:t>Note that this approach, which involves instruction buffering, requires more registers. In general, pipelining requires registers to store data between stages.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It should be clear that this process will speed up instruction execution. If the fetch and execute stages were of equal duration, the instruction cycle time would be halved. However, if we look more closely at this pipeline (Figure 14.9b), we will see that this doubling of execution rate is unlikely for two reasons: </a:t>
            </a:r>
            <a:endParaRPr lang="en-US" dirty="0" smtClean="0"/>
          </a:p>
          <a:p>
            <a:endParaRPr lang="en-US" sz="1200" b="1" kern="1200" dirty="0" smtClean="0">
              <a:solidFill>
                <a:schemeClr val="tx1"/>
              </a:solidFill>
              <a:latin typeface="Times New Roman" pitchFamily="-1" charset="0"/>
              <a:ea typeface="+mn-ea"/>
              <a:cs typeface="+mn-cs"/>
            </a:endParaRPr>
          </a:p>
          <a:p>
            <a:r>
              <a:rPr lang="en-US" sz="1200" b="0" kern="1200" dirty="0" smtClean="0">
                <a:solidFill>
                  <a:schemeClr val="tx1"/>
                </a:solidFill>
                <a:latin typeface="Times New Roman" pitchFamily="-1" charset="0"/>
                <a:ea typeface="+mn-ea"/>
                <a:cs typeface="+mn-cs"/>
              </a:rPr>
              <a:t>The execution time will generally be longer than the fetch time. Execution will involve reading and storing operands and the performance of some operation. Thus, the fetch stage may have to wait for some time before it can empty its buffer. </a:t>
            </a:r>
          </a:p>
          <a:p>
            <a:endParaRPr lang="en-US" sz="1200" b="1" kern="1200" dirty="0" smtClean="0">
              <a:solidFill>
                <a:schemeClr val="tx1"/>
              </a:solidFill>
              <a:latin typeface="Times New Roman" pitchFamily="-1" charset="0"/>
              <a:ea typeface="+mn-ea"/>
              <a:cs typeface="+mn-cs"/>
            </a:endParaRPr>
          </a:p>
          <a:p>
            <a:r>
              <a:rPr lang="en-US" sz="1200" b="0" kern="1200" dirty="0" smtClean="0">
                <a:solidFill>
                  <a:schemeClr val="tx1"/>
                </a:solidFill>
                <a:latin typeface="Times New Roman" pitchFamily="-1" charset="0"/>
                <a:ea typeface="+mn-ea"/>
                <a:cs typeface="+mn-cs"/>
              </a:rPr>
              <a:t>A conditional branch instruction makes the address of the next instruction to be fetched unknown. Thus, the fetch stage must wait until it receives the next instruction address from the execute stage. The execute stage may then have to wait while the next instruction is fetched. </a:t>
            </a:r>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Guessing can reduce the time loss from the second reason. A simple rule is the following: When a conditional branch instruction is passed on from the fetch to the execute stage, the fetch stage fetches the next instruction in memory after the branch instruction. Then, if the branch is not taken, no time is lost. If the branch is taken, the fetched instruction must be discarded and a new instruction fetched. </a:t>
            </a: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smtClean="0"/>
          </a:p>
          <a:p>
            <a:endParaRPr lang="en-US" dirty="0"/>
          </a:p>
        </p:txBody>
      </p:sp>
    </p:spTree>
    <p:extLst>
      <p:ext uri="{BB962C8B-B14F-4D97-AF65-F5344CB8AC3E}">
        <p14:creationId xmlns:p14="http://schemas.microsoft.com/office/powerpoint/2010/main" val="39738439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pPr eaLnBrk="0" fontAlgn="base" hangingPunct="0">
              <a:spcBef>
                <a:spcPct val="0"/>
              </a:spcBef>
              <a:spcAft>
                <a:spcPct val="0"/>
              </a:spcAft>
            </a:pPr>
            <a:endParaRPr lang="en-US" sz="2400" dirty="0">
              <a:solidFill>
                <a:srgbClr val="000000"/>
              </a:solidFill>
              <a:latin typeface="Times New Roman" pitchFamily="-1" charset="0"/>
            </a:endParaRPr>
          </a:p>
        </p:txBody>
      </p:sp>
      <p:sp>
        <p:nvSpPr>
          <p:cNvPr id="82947"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eaLnBrk="0" fontAlgn="base" hangingPunct="0">
              <a:spcBef>
                <a:spcPct val="0"/>
              </a:spcBef>
              <a:spcAft>
                <a:spcPct val="0"/>
              </a:spcAft>
            </a:pPr>
            <a:r>
              <a:rPr lang="en-US" sz="1200" dirty="0">
                <a:solidFill>
                  <a:srgbClr val="000000"/>
                </a:solidFill>
                <a:latin typeface="Times New Roman" pitchFamily="-1" charset="0"/>
              </a:rPr>
              <a:t>39</a:t>
            </a:r>
          </a:p>
        </p:txBody>
      </p:sp>
      <p:sp>
        <p:nvSpPr>
          <p:cNvPr id="82948"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pPr eaLnBrk="0" fontAlgn="base" hangingPunct="0">
              <a:spcBef>
                <a:spcPct val="0"/>
              </a:spcBef>
              <a:spcAft>
                <a:spcPct val="0"/>
              </a:spcAft>
            </a:pPr>
            <a:endParaRPr lang="en-US" sz="2400" dirty="0">
              <a:solidFill>
                <a:srgbClr val="000000"/>
              </a:solidFill>
              <a:latin typeface="Times New Roman" pitchFamily="-1" charset="0"/>
            </a:endParaRPr>
          </a:p>
        </p:txBody>
      </p:sp>
      <p:sp>
        <p:nvSpPr>
          <p:cNvPr id="82949"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pPr eaLnBrk="0" fontAlgn="base" hangingPunct="0">
              <a:spcBef>
                <a:spcPct val="0"/>
              </a:spcBef>
              <a:spcAft>
                <a:spcPct val="0"/>
              </a:spcAft>
            </a:pPr>
            <a:endParaRPr lang="en-US" sz="2400" dirty="0">
              <a:solidFill>
                <a:srgbClr val="000000"/>
              </a:solidFill>
              <a:latin typeface="Times New Roman" pitchFamily="-1" charset="0"/>
            </a:endParaRPr>
          </a:p>
        </p:txBody>
      </p:sp>
      <p:sp>
        <p:nvSpPr>
          <p:cNvPr id="82950" name="Rectangle 6"/>
          <p:cNvSpPr>
            <a:spLocks noGrp="1" noRot="1" noChangeAspect="1" noChangeArrowheads="1" noTextEdit="1"/>
          </p:cNvSpPr>
          <p:nvPr>
            <p:ph type="sldImg"/>
          </p:nvPr>
        </p:nvSpPr>
        <p:spPr>
          <a:xfrm>
            <a:off x="1150938" y="692150"/>
            <a:ext cx="4556125" cy="3416300"/>
          </a:xfrm>
          <a:ln cap="flat"/>
        </p:spPr>
      </p:sp>
      <p:sp>
        <p:nvSpPr>
          <p:cNvPr id="82951" name="Rectangle 7"/>
          <p:cNvSpPr>
            <a:spLocks noGrp="1" noChangeArrowheads="1"/>
          </p:cNvSpPr>
          <p:nvPr>
            <p:ph type="body" idx="1"/>
          </p:nvPr>
        </p:nvSpPr>
        <p:spPr>
          <a:ln/>
        </p:spPr>
        <p:txBody>
          <a:bodyPr/>
          <a:lstStyle/>
          <a:p>
            <a:r>
              <a:rPr lang="en-US" sz="1200" kern="1200" dirty="0" smtClean="0">
                <a:solidFill>
                  <a:schemeClr val="tx1"/>
                </a:solidFill>
                <a:latin typeface="Times New Roman" pitchFamily="-1" charset="0"/>
                <a:ea typeface="+mn-ea"/>
                <a:cs typeface="+mn-cs"/>
              </a:rPr>
              <a:t>For the sake of illustration, let us assume equal duration. Using this assumption, Figure 14.10 shows that a six-stage pipeline can reduce the execution time for 9 instructions from 54 time units to 14 time units.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Several comments are in order: The diagram assumes that each instruction goes through all six stages of the pipeline. This will not always be the case. For example, a load instruction does not need the WO stage. However, to simplify the pipeline hardware, the timing is set up assuming that each instruction requires all six stages. Also, the diagram assumes that all of the stages can be performed in parallel. In particular, it is assumed that there are no memory conflicts. For example, the FI, FO, and WO stages involve a memory access. The diagram implies that all these accesses can occur simultaneously. Most memory systems will not permit that. However, the desired value may be in cache, or the FO or WO stage may be null. Thus, much of the time, memory conflicts will not slow down the pipeline. </a:t>
            </a:r>
            <a:endParaRPr lang="en-US" dirty="0" smtClean="0"/>
          </a:p>
          <a:p>
            <a:endParaRPr lang="en-GB" dirty="0"/>
          </a:p>
        </p:txBody>
      </p:sp>
    </p:spTree>
    <p:extLst>
      <p:ext uri="{BB962C8B-B14F-4D97-AF65-F5344CB8AC3E}">
        <p14:creationId xmlns:p14="http://schemas.microsoft.com/office/powerpoint/2010/main" val="30484225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Times New Roman" pitchFamily="-1" charset="0"/>
                <a:ea typeface="+mn-ea"/>
                <a:cs typeface="+mn-cs"/>
              </a:rPr>
              <a:t>Figure 14.12 indicates the logic needed for pipelining to account for branches and interrupts.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Other problems arise that did not appear in our simple two-stage organization. The CO stage may depend on the contents of a register that could be altered by a previous instruction that is still in the pipeline. Other such register and memory conflicts could occur. The system must contain logic to account for this type of conflict. </a:t>
            </a:r>
            <a:endParaRPr lang="en-US" dirty="0" smtClean="0"/>
          </a:p>
          <a:p>
            <a:endParaRPr lang="en-US" dirty="0"/>
          </a:p>
        </p:txBody>
      </p:sp>
    </p:spTree>
    <p:extLst>
      <p:ext uri="{BB962C8B-B14F-4D97-AF65-F5344CB8AC3E}">
        <p14:creationId xmlns:p14="http://schemas.microsoft.com/office/powerpoint/2010/main" val="39415544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pPr eaLnBrk="0" fontAlgn="base" hangingPunct="0">
              <a:spcBef>
                <a:spcPct val="0"/>
              </a:spcBef>
              <a:spcAft>
                <a:spcPct val="0"/>
              </a:spcAft>
            </a:pPr>
            <a:endParaRPr lang="en-US" sz="2400" dirty="0">
              <a:solidFill>
                <a:srgbClr val="000000"/>
              </a:solidFill>
              <a:latin typeface="Times New Roman" pitchFamily="-1" charset="0"/>
            </a:endParaRPr>
          </a:p>
        </p:txBody>
      </p:sp>
      <p:sp>
        <p:nvSpPr>
          <p:cNvPr id="84995"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eaLnBrk="0" fontAlgn="base" hangingPunct="0">
              <a:spcBef>
                <a:spcPct val="0"/>
              </a:spcBef>
              <a:spcAft>
                <a:spcPct val="0"/>
              </a:spcAft>
            </a:pPr>
            <a:r>
              <a:rPr lang="en-US" sz="1200" dirty="0">
                <a:solidFill>
                  <a:srgbClr val="000000"/>
                </a:solidFill>
                <a:latin typeface="Times New Roman" pitchFamily="-1" charset="0"/>
              </a:rPr>
              <a:t>40</a:t>
            </a:r>
          </a:p>
        </p:txBody>
      </p:sp>
      <p:sp>
        <p:nvSpPr>
          <p:cNvPr id="84996"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pPr eaLnBrk="0" fontAlgn="base" hangingPunct="0">
              <a:spcBef>
                <a:spcPct val="0"/>
              </a:spcBef>
              <a:spcAft>
                <a:spcPct val="0"/>
              </a:spcAft>
            </a:pPr>
            <a:endParaRPr lang="en-US" sz="2400" dirty="0">
              <a:solidFill>
                <a:srgbClr val="000000"/>
              </a:solidFill>
              <a:latin typeface="Times New Roman" pitchFamily="-1" charset="0"/>
            </a:endParaRPr>
          </a:p>
        </p:txBody>
      </p:sp>
      <p:sp>
        <p:nvSpPr>
          <p:cNvPr id="84997"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pPr eaLnBrk="0" fontAlgn="base" hangingPunct="0">
              <a:spcBef>
                <a:spcPct val="0"/>
              </a:spcBef>
              <a:spcAft>
                <a:spcPct val="0"/>
              </a:spcAft>
            </a:pPr>
            <a:endParaRPr lang="en-US" sz="2400" dirty="0">
              <a:solidFill>
                <a:srgbClr val="000000"/>
              </a:solidFill>
              <a:latin typeface="Times New Roman" pitchFamily="-1" charset="0"/>
            </a:endParaRPr>
          </a:p>
        </p:txBody>
      </p:sp>
      <p:sp>
        <p:nvSpPr>
          <p:cNvPr id="84998" name="Rectangle 6"/>
          <p:cNvSpPr>
            <a:spLocks noGrp="1" noRot="1" noChangeAspect="1" noChangeArrowheads="1" noTextEdit="1"/>
          </p:cNvSpPr>
          <p:nvPr>
            <p:ph type="sldImg"/>
          </p:nvPr>
        </p:nvSpPr>
        <p:spPr>
          <a:xfrm>
            <a:off x="1150938" y="692150"/>
            <a:ext cx="4556125" cy="3416300"/>
          </a:xfrm>
          <a:ln cap="flat"/>
        </p:spPr>
      </p:sp>
      <p:sp>
        <p:nvSpPr>
          <p:cNvPr id="84999" name="Rectangle 7"/>
          <p:cNvSpPr>
            <a:spLocks noGrp="1" noChangeArrowheads="1"/>
          </p:cNvSpPr>
          <p:nvPr>
            <p:ph type="body" idx="1"/>
          </p:nvPr>
        </p:nvSpPr>
        <p:spPr>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Several other factors serve to limit the performance enhancement. If the six stages are not of equal duration, there will be some waiting involved at various pipe- line stages, as discussed before for the two-stage pipeline. Another difficulty is the conditional branch instruction, which can invalidate several instruction fetches. A similar unpredictable event is an interrupt. Figure 14.11 illustrates the effects of the conditional branch, using the same program as Figure 14.10. Assume that instruction 3 is a conditional branch to instruction 15. Until the instruction is executed, there is no way of knowing which instruction will come next. The pipeline, in this example, simply loads the next instruction in sequence (instruction 4) and proceeds. In Figure 14.10, the branch is not taken, and we get the full performance benefit of the enhancement. In Figure 14.11, the branch is taken. This is not determined until the end of time unit 7. At this point, the pipeline must be cleared of instructions that are not useful. During time unit 8, instruction 15 enters the pipeline. No instructions complete during time units 9 through 12; this is the performance penalty incurred because we could not anticipate the branch. </a:t>
            </a:r>
            <a:endParaRPr lang="en-US" dirty="0" smtClean="0"/>
          </a:p>
          <a:p>
            <a:endParaRPr lang="en-GB" dirty="0"/>
          </a:p>
        </p:txBody>
      </p:sp>
    </p:spTree>
    <p:extLst>
      <p:ext uri="{BB962C8B-B14F-4D97-AF65-F5344CB8AC3E}">
        <p14:creationId xmlns:p14="http://schemas.microsoft.com/office/powerpoint/2010/main" val="12572407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A control hazard, also known as a </a:t>
            </a:r>
            <a:r>
              <a:rPr lang="en-US" sz="1200" i="1" kern="1200" dirty="0" smtClean="0">
                <a:solidFill>
                  <a:schemeClr val="tx1"/>
                </a:solidFill>
                <a:latin typeface="Times New Roman" pitchFamily="-1" charset="0"/>
                <a:ea typeface="+mn-ea"/>
                <a:cs typeface="+mn-cs"/>
              </a:rPr>
              <a:t>branch hazard, </a:t>
            </a:r>
            <a:r>
              <a:rPr lang="en-US" sz="1200" kern="1200" dirty="0" smtClean="0">
                <a:solidFill>
                  <a:schemeClr val="tx1"/>
                </a:solidFill>
                <a:latin typeface="Times New Roman" pitchFamily="-1" charset="0"/>
                <a:ea typeface="+mn-ea"/>
                <a:cs typeface="+mn-cs"/>
              </a:rPr>
              <a:t>occurs when the pipeline makes the wrong decision on a branch prediction and therefore brings instructions into the pipeline that must subsequently be discarded. We discuss approaches to dealing with control hazards next. </a:t>
            </a:r>
            <a:endParaRPr lang="en-US" dirty="0" smtClean="0"/>
          </a:p>
          <a:p>
            <a:endParaRPr lang="en-US" dirty="0" smtClean="0"/>
          </a:p>
          <a:p>
            <a:r>
              <a:rPr lang="en-US" sz="1200" kern="1200" dirty="0" smtClean="0">
                <a:solidFill>
                  <a:schemeClr val="tx1"/>
                </a:solidFill>
                <a:latin typeface="Times New Roman" pitchFamily="-1" charset="0"/>
                <a:ea typeface="+mn-ea"/>
                <a:cs typeface="+mn-cs"/>
              </a:rPr>
              <a:t>One of the major problems in designing an instruction pipeline is assuring a steady flow of instructions to the initial stages of the pipeline. The primary impediment, as we have seen, is the conditional branch instruction. Until the instruction is actually executed, it is impossible to determine whether the branch will be taken or not.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A variety of approaches have been taken for dealing with conditional branches: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Multiple streams </a:t>
            </a:r>
          </a:p>
          <a:p>
            <a:r>
              <a:rPr lang="en-US" sz="1200" kern="1200" dirty="0" smtClean="0">
                <a:solidFill>
                  <a:schemeClr val="tx1"/>
                </a:solidFill>
                <a:latin typeface="Times New Roman" pitchFamily="-1" charset="0"/>
                <a:ea typeface="+mn-ea"/>
                <a:cs typeface="+mn-cs"/>
              </a:rPr>
              <a:t>Prefetch branch target </a:t>
            </a:r>
          </a:p>
          <a:p>
            <a:r>
              <a:rPr lang="en-US" sz="1200" kern="1200" dirty="0" smtClean="0">
                <a:solidFill>
                  <a:schemeClr val="tx1"/>
                </a:solidFill>
                <a:latin typeface="Times New Roman" pitchFamily="-1" charset="0"/>
                <a:ea typeface="+mn-ea"/>
                <a:cs typeface="+mn-cs"/>
              </a:rPr>
              <a:t>Loop buffer </a:t>
            </a:r>
          </a:p>
          <a:p>
            <a:r>
              <a:rPr lang="en-US" sz="1200" kern="1200" dirty="0" smtClean="0">
                <a:solidFill>
                  <a:schemeClr val="tx1"/>
                </a:solidFill>
                <a:latin typeface="Times New Roman" pitchFamily="-1" charset="0"/>
                <a:ea typeface="+mn-ea"/>
                <a:cs typeface="+mn-cs"/>
              </a:rPr>
              <a:t>Branch prediction </a:t>
            </a:r>
          </a:p>
          <a:p>
            <a:r>
              <a:rPr lang="en-US" sz="1200" kern="1200" dirty="0" smtClean="0">
                <a:solidFill>
                  <a:schemeClr val="tx1"/>
                </a:solidFill>
                <a:latin typeface="Times New Roman" pitchFamily="-1" charset="0"/>
                <a:ea typeface="+mn-ea"/>
                <a:cs typeface="+mn-cs"/>
              </a:rPr>
              <a:t>Delayed branch </a:t>
            </a:r>
          </a:p>
          <a:p>
            <a:endParaRPr lang="en-US" dirty="0"/>
          </a:p>
        </p:txBody>
      </p:sp>
    </p:spTree>
    <p:extLst>
      <p:ext uri="{BB962C8B-B14F-4D97-AF65-F5344CB8AC3E}">
        <p14:creationId xmlns:p14="http://schemas.microsoft.com/office/powerpoint/2010/main" val="39466826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smtClean="0"/>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endParaRPr lang="en-GB" dirty="0"/>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endParaRPr lang="en-GB" dirty="0"/>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1" name="Rectangle 10"/>
          <p:cNvSpPr/>
          <p:nvPr/>
        </p:nvSpPr>
        <p:spPr>
          <a:xfrm>
            <a:off x="4624388" y="228600"/>
            <a:ext cx="2057400" cy="203911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6802438" y="2377440"/>
            <a:ext cx="2057400" cy="2039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589870FB-149D-4255-9221-CF258F891615}" type="datetime1">
              <a:rPr lang="en-US"/>
              <a:pPr/>
              <a:t>9/13/2018</a:t>
            </a:fld>
            <a:endParaRPr/>
          </a:p>
        </p:txBody>
      </p:sp>
      <p:sp>
        <p:nvSpPr>
          <p:cNvPr id="5" name="Footer Placeholder 4"/>
          <p:cNvSpPr>
            <a:spLocks noGrp="1"/>
          </p:cNvSpPr>
          <p:nvPr>
            <p:ph type="ftr" sz="quarter" idx="11"/>
          </p:nvPr>
        </p:nvSpPr>
        <p:spPr/>
        <p:txBody>
          <a:bodyPr/>
          <a:lstStyle/>
          <a:p>
            <a:r>
              <a:rPr/>
              <a:t>
              </a:t>
            </a: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Al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134471"/>
            <a:ext cx="7556313" cy="995082"/>
          </a:xfrm>
        </p:spPr>
        <p:txBody>
          <a:bodyPr anchor="b" anchorCtr="0"/>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E75AD331-B61B-42C1-B285-1046175C3B63}" type="datetime1">
              <a:rPr lang="en-US"/>
              <a:pPr/>
              <a:t>9/13/2018</a:t>
            </a:fld>
            <a:endParaRPr/>
          </a:p>
        </p:txBody>
      </p:sp>
      <p:sp>
        <p:nvSpPr>
          <p:cNvPr id="5" name="Footer Placeholder 4"/>
          <p:cNvSpPr>
            <a:spLocks noGrp="1"/>
          </p:cNvSpPr>
          <p:nvPr>
            <p:ph type="ftr" sz="quarter" idx="11"/>
          </p:nvPr>
        </p:nvSpPr>
        <p:spPr/>
        <p:txBody>
          <a:bodyPr/>
          <a:lstStyle/>
          <a:p>
            <a:r>
              <a:rPr/>
              <a:t>
              </a:t>
            </a: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Text Placeholder 3"/>
          <p:cNvSpPr>
            <a:spLocks noGrp="1"/>
          </p:cNvSpPr>
          <p:nvPr>
            <p:ph type="body" sz="half" idx="2"/>
          </p:nvPr>
        </p:nvSpPr>
        <p:spPr>
          <a:xfrm>
            <a:off x="498518" y="1129553"/>
            <a:ext cx="7558960" cy="774700"/>
          </a:xfrm>
        </p:spPr>
        <p:txBody>
          <a:bodyPr vert="horz" lIns="91440" tIns="45720" rIns="91440" bIns="45720" rtlCol="0" anchor="t" anchorCtr="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with 2 Pictures">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smtClean="0"/>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fld id="{642DA821-B647-4F8C-84A0-7D19D85CB385}" type="datetime1">
              <a:rPr lang="en-US"/>
              <a:pPr/>
              <a:t>9/13/2018</a:t>
            </a:fld>
            <a:endParaRPr/>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r>
              <a:rPr/>
              <a:t>
              </a:t>
            </a:r>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Picture Placeholder 12"/>
          <p:cNvSpPr>
            <a:spLocks noGrp="1"/>
          </p:cNvSpPr>
          <p:nvPr>
            <p:ph type="pic" sz="quarter" idx="12"/>
          </p:nvPr>
        </p:nvSpPr>
        <p:spPr>
          <a:xfrm>
            <a:off x="4624388" y="228600"/>
            <a:ext cx="2057400" cy="2039112"/>
          </a:xfrm>
        </p:spPr>
        <p:txBody>
          <a:bodyPr/>
          <a:lstStyle>
            <a:lvl1pPr>
              <a:buNone/>
              <a:defRPr/>
            </a:lvl1pPr>
          </a:lstStyle>
          <a:p>
            <a:r>
              <a:rPr lang="en-US" dirty="0" smtClean="0"/>
              <a:t>Click icon to add picture</a:t>
            </a:r>
            <a:endParaRPr dirty="0"/>
          </a:p>
        </p:txBody>
      </p:sp>
      <p:sp>
        <p:nvSpPr>
          <p:cNvPr id="14" name="Picture Placeholder 12"/>
          <p:cNvSpPr>
            <a:spLocks noGrp="1"/>
          </p:cNvSpPr>
          <p:nvPr>
            <p:ph type="pic" sz="quarter" idx="13"/>
          </p:nvPr>
        </p:nvSpPr>
        <p:spPr>
          <a:xfrm>
            <a:off x="6802438" y="2377440"/>
            <a:ext cx="2057400" cy="2039112"/>
          </a:xfrm>
        </p:spPr>
        <p:txBody>
          <a:bodyPr/>
          <a:lstStyle>
            <a:lvl1pPr>
              <a:buNone/>
              <a:defRPr/>
            </a:lvl1pPr>
          </a:lstStyle>
          <a:p>
            <a:r>
              <a:rPr lang="en-US" dirty="0" smtClean="0"/>
              <a:t>Click icon to add picture</a:t>
            </a:r>
            <a:endParaRPr dirty="0"/>
          </a:p>
        </p:txBody>
      </p:sp>
      <p:sp>
        <p:nvSpPr>
          <p:cNvPr id="16" name="Text Placeholder 3"/>
          <p:cNvSpPr>
            <a:spLocks noGrp="1"/>
          </p:cNvSpPr>
          <p:nvPr>
            <p:ph type="body" sz="half" idx="2"/>
          </p:nvPr>
        </p:nvSpPr>
        <p:spPr>
          <a:xfrm>
            <a:off x="857250" y="1779494"/>
            <a:ext cx="3086100" cy="2040905"/>
          </a:xfrm>
        </p:spPr>
        <p:txBody>
          <a:bodyPr lIns="45720" tIns="45720" rIns="45720" anchor="t">
            <a:noAutofit/>
          </a:bodyPr>
          <a:lstStyle>
            <a:lvl1pPr marL="0" indent="0" algn="ctr">
              <a:buNone/>
              <a:defRPr sz="4600">
                <a:solidFill>
                  <a:schemeClr val="bg1"/>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658907" y="228600"/>
            <a:ext cx="820093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286000" y="3124200"/>
            <a:ext cx="5638800" cy="1362075"/>
          </a:xfrm>
        </p:spPr>
        <p:txBody>
          <a:bodyPr anchor="b" anchorCtr="0">
            <a:normAutofit/>
          </a:bodyPr>
          <a:lstStyle>
            <a:lvl1pPr algn="l">
              <a:defRPr sz="3200" b="0" cap="none" baseline="0">
                <a:solidFill>
                  <a:schemeClr val="bg1"/>
                </a:solidFill>
              </a:defRPr>
            </a:lvl1pPr>
          </a:lstStyle>
          <a:p>
            <a:r>
              <a:rPr lang="en-US" smtClean="0"/>
              <a:t>Click to edit Master title style</a:t>
            </a:r>
            <a:endParaRPr/>
          </a:p>
        </p:txBody>
      </p:sp>
      <p:sp>
        <p:nvSpPr>
          <p:cNvPr id="3" name="Text Placeholder 2"/>
          <p:cNvSpPr>
            <a:spLocks noGrp="1"/>
          </p:cNvSpPr>
          <p:nvPr>
            <p:ph type="body" idx="1"/>
          </p:nvPr>
        </p:nvSpPr>
        <p:spPr>
          <a:xfrm>
            <a:off x="2286000" y="4495800"/>
            <a:ext cx="5638800" cy="1500187"/>
          </a:xfrm>
        </p:spPr>
        <p:txBody>
          <a:bodyPr anchor="t" anchorCtr="0">
            <a:normAutofit/>
          </a:bodyPr>
          <a:lstStyle>
            <a:lvl1pPr marL="0" indent="0">
              <a:spcBef>
                <a:spcPts val="300"/>
              </a:spcBef>
              <a:buNone/>
              <a:defRPr sz="1400" cap="none" baseline="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658906" y="6248774"/>
            <a:ext cx="1474694" cy="365125"/>
          </a:xfrm>
        </p:spPr>
        <p:txBody>
          <a:bodyPr/>
          <a:lstStyle>
            <a:lvl1pPr algn="l">
              <a:defRPr>
                <a:solidFill>
                  <a:schemeClr val="bg1"/>
                </a:solidFill>
              </a:defRPr>
            </a:lvl1pPr>
          </a:lstStyle>
          <a:p>
            <a:fld id="{B77F108C-2518-4D60-9FAF-6346FD9D7826}" type="datetime1">
              <a:rPr lang="en-US"/>
              <a:pPr/>
              <a:t>9/13/2018</a:t>
            </a:fld>
            <a:endParaRPr/>
          </a:p>
        </p:txBody>
      </p:sp>
      <p:sp>
        <p:nvSpPr>
          <p:cNvPr id="5" name="Footer Placeholder 4"/>
          <p:cNvSpPr>
            <a:spLocks noGrp="1"/>
          </p:cNvSpPr>
          <p:nvPr>
            <p:ph type="ftr" sz="quarter" idx="11"/>
          </p:nvPr>
        </p:nvSpPr>
        <p:spPr>
          <a:xfrm>
            <a:off x="2286000" y="6248774"/>
            <a:ext cx="5638800" cy="365125"/>
          </a:xfrm>
        </p:spPr>
        <p:txBody>
          <a:bodyPr/>
          <a:lstStyle>
            <a:lvl1pPr>
              <a:defRPr>
                <a:solidFill>
                  <a:schemeClr val="bg1"/>
                </a:solidFill>
              </a:defRPr>
            </a:lvl1pPr>
          </a:lstStyle>
          <a:p>
            <a:r>
              <a:rPr/>
              <a:t>
              </a:t>
            </a:r>
          </a:p>
        </p:txBody>
      </p:sp>
      <p:sp>
        <p:nvSpPr>
          <p:cNvPr id="6" name="Slide Number Placeholder 5"/>
          <p:cNvSpPr>
            <a:spLocks noGrp="1"/>
          </p:cNvSpPr>
          <p:nvPr>
            <p:ph type="sldNum" sz="quarter" idx="12"/>
          </p:nvPr>
        </p:nvSpPr>
        <p:spPr>
          <a:xfrm>
            <a:off x="8305800" y="6248774"/>
            <a:ext cx="554038" cy="365125"/>
          </a:xfrm>
        </p:spPr>
        <p:txBody>
          <a:bodyPr/>
          <a:lstStyle/>
          <a:p>
            <a:fld id="{8AF02B71-8991-4516-A01E-F1A9ACD28BDC}" type="slidenum">
              <a:rPr/>
              <a:pPr/>
              <a:t>‹#›</a:t>
            </a:fld>
            <a:endParaRPr/>
          </a:p>
        </p:txBody>
      </p:sp>
      <p:sp>
        <p:nvSpPr>
          <p:cNvPr id="8" name="TextBox 7"/>
          <p:cNvSpPr txBox="1"/>
          <p:nvPr/>
        </p:nvSpPr>
        <p:spPr>
          <a:xfrm>
            <a:off x="2003612" y="3110754"/>
            <a:ext cx="260909" cy="615553"/>
          </a:xfrm>
          <a:prstGeom prst="rect">
            <a:avLst/>
          </a:prstGeom>
          <a:noFill/>
        </p:spPr>
        <p:txBody>
          <a:bodyPr wrap="square" lIns="0" tIns="0" rIns="0" bIns="0" rtlCol="0">
            <a:spAutoFit/>
          </a:bodyPr>
          <a:lstStyle/>
          <a:p>
            <a:r>
              <a:rPr sz="4000" b="1">
                <a:solidFill>
                  <a:schemeClr val="accent1">
                    <a:lumMod val="60000"/>
                    <a:lumOff val="40000"/>
                  </a:schemeClr>
                </a:solidFill>
              </a:rPr>
              <a:t>+</a:t>
            </a:r>
          </a:p>
        </p:txBody>
      </p:sp>
      <p:sp>
        <p:nvSpPr>
          <p:cNvPr id="9" name="Rectangle 8"/>
          <p:cNvSpPr/>
          <p:nvPr/>
        </p:nvSpPr>
        <p:spPr>
          <a:xfrm>
            <a:off x="285750" y="228600"/>
            <a:ext cx="212725" cy="6345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1" name="Rectangle 10"/>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439987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DDE52B54-BC1D-466E-98B4-B0082340936C}" type="datetime1">
              <a:rPr lang="en-US"/>
              <a:pPr/>
              <a:t>9/13/2018</a:t>
            </a:fld>
            <a:endParaRPr/>
          </a:p>
        </p:txBody>
      </p:sp>
      <p:sp>
        <p:nvSpPr>
          <p:cNvPr id="6" name="Footer Placeholder 5"/>
          <p:cNvSpPr>
            <a:spLocks noGrp="1"/>
          </p:cNvSpPr>
          <p:nvPr>
            <p:ph type="ftr" sz="quarter" idx="11"/>
          </p:nvPr>
        </p:nvSpPr>
        <p:spPr/>
        <p:txBody>
          <a:bodyPr/>
          <a:lstStyle/>
          <a:p>
            <a:r>
              <a:rP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0" name="Rectangle 9"/>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4" name="Content Placeholder 3"/>
          <p:cNvSpPr>
            <a:spLocks noGrp="1"/>
          </p:cNvSpPr>
          <p:nvPr>
            <p:ph sz="half" idx="2"/>
          </p:nvPr>
        </p:nvSpPr>
        <p:spPr>
          <a:xfrm>
            <a:off x="497541"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Content Placeholder 5"/>
          <p:cNvSpPr>
            <a:spLocks noGrp="1"/>
          </p:cNvSpPr>
          <p:nvPr>
            <p:ph sz="quarter" idx="4"/>
          </p:nvPr>
        </p:nvSpPr>
        <p:spPr>
          <a:xfrm>
            <a:off x="4399878"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6"/>
          <p:cNvSpPr>
            <a:spLocks noGrp="1"/>
          </p:cNvSpPr>
          <p:nvPr>
            <p:ph type="dt" sz="half" idx="10"/>
          </p:nvPr>
        </p:nvSpPr>
        <p:spPr/>
        <p:txBody>
          <a:bodyPr/>
          <a:lstStyle/>
          <a:p>
            <a:fld id="{A1508C9F-E380-43A3-ADC1-0217F1EB7573}" type="datetime1">
              <a:rPr lang="en-US"/>
              <a:pPr/>
              <a:t>9/13/2018</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8AF02B71-8991-4516-A01E-F1A9ACD28BDC}" type="slidenum">
              <a:rPr/>
              <a:pPr/>
              <a:t>‹#›</a:t>
            </a:fld>
            <a:endParaRPr/>
          </a:p>
        </p:txBody>
      </p:sp>
      <p:sp>
        <p:nvSpPr>
          <p:cNvPr id="3" name="Text Placeholder 2"/>
          <p:cNvSpPr>
            <a:spLocks noGrp="1"/>
          </p:cNvSpPr>
          <p:nvPr>
            <p:ph type="body" idx="1"/>
          </p:nvPr>
        </p:nvSpPr>
        <p:spPr>
          <a:xfrm>
            <a:off x="497541" y="2070847"/>
            <a:ext cx="3657600"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399878" y="2070847"/>
            <a:ext cx="3657600" cy="322729"/>
          </a:xfrm>
          <a:prstGeom prst="rect">
            <a:avLst/>
          </a:prstGeom>
          <a:solidFill>
            <a:schemeClr val="accent3">
              <a:lumMod val="60000"/>
              <a:lumOff val="40000"/>
            </a:schemeClr>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98517" y="1985963"/>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F2C868E7-101B-4C6B-9C4C-A85A7CD6FD99}" type="datetime1">
              <a:rPr lang="en-US"/>
              <a:pPr/>
              <a:t>9/13/2018</a:t>
            </a:fld>
            <a:endParaRPr/>
          </a:p>
        </p:txBody>
      </p:sp>
      <p:sp>
        <p:nvSpPr>
          <p:cNvPr id="6" name="Footer Placeholder 5"/>
          <p:cNvSpPr>
            <a:spLocks noGrp="1"/>
          </p:cNvSpPr>
          <p:nvPr>
            <p:ph type="ftr" sz="quarter" idx="11"/>
          </p:nvPr>
        </p:nvSpPr>
        <p:spPr/>
        <p:txBody>
          <a:bodyPr/>
          <a:lstStyle/>
          <a:p>
            <a:r>
              <a:rPr/>
              <a:t>
              </a:t>
            </a:r>
          </a:p>
        </p:txBody>
      </p:sp>
      <p:sp>
        <p:nvSpPr>
          <p:cNvPr id="13" name="Content Placeholder 2"/>
          <p:cNvSpPr>
            <a:spLocks noGrp="1"/>
          </p:cNvSpPr>
          <p:nvPr>
            <p:ph sz="half" idx="14"/>
          </p:nvPr>
        </p:nvSpPr>
        <p:spPr>
          <a:xfrm>
            <a:off x="498517" y="4164965"/>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4" name="Rectangle 13"/>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Slide Number Placeholder 6"/>
          <p:cNvSpPr>
            <a:spLocks noGrp="1"/>
          </p:cNvSpPr>
          <p:nvPr>
            <p:ph type="sldNum" sz="quarter" idx="12"/>
          </p:nvPr>
        </p:nvSpPr>
        <p:spPr>
          <a:xfrm>
            <a:off x="8305800" y="242234"/>
            <a:ext cx="554038" cy="365125"/>
          </a:xfrm>
        </p:spPr>
        <p:txBody>
          <a:bodyPr/>
          <a:lstStyle/>
          <a:p>
            <a:fld id="{8AF02B71-8991-4516-A01E-F1A9ACD28BDC}" type="slidenum">
              <a:rPr/>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B0C83FD2-B255-4F2A-ACF3-B969FC717B42}" type="datetime1">
              <a:rPr lang="en-US"/>
              <a:pPr/>
              <a:t>9/13/2018</a:t>
            </a:fld>
            <a:endParaRPr/>
          </a:p>
        </p:txBody>
      </p:sp>
      <p:sp>
        <p:nvSpPr>
          <p:cNvPr id="6" name="Footer Placeholder 5"/>
          <p:cNvSpPr>
            <a:spLocks noGrp="1"/>
          </p:cNvSpPr>
          <p:nvPr>
            <p:ph type="ftr" sz="quarter" idx="11"/>
          </p:nvPr>
        </p:nvSpPr>
        <p:spPr/>
        <p:txBody>
          <a:bodyPr/>
          <a:lstStyle/>
          <a:p>
            <a:r>
              <a:rP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1" name="Content Placeholder 2"/>
          <p:cNvSpPr>
            <a:spLocks noGrp="1"/>
          </p:cNvSpPr>
          <p:nvPr>
            <p:ph sz="half" idx="15"/>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3"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5" name="Date Placeholder 4"/>
          <p:cNvSpPr>
            <a:spLocks noGrp="1"/>
          </p:cNvSpPr>
          <p:nvPr>
            <p:ph type="dt" sz="half" idx="10"/>
          </p:nvPr>
        </p:nvSpPr>
        <p:spPr/>
        <p:txBody>
          <a:bodyPr/>
          <a:lstStyle/>
          <a:p>
            <a:fld id="{1C04C4D9-B721-416B-8577-D7DEE36F49A6}" type="datetime1">
              <a:rPr lang="en-US"/>
              <a:pPr/>
              <a:t>9/13/2018</a:t>
            </a:fld>
            <a:endParaRPr/>
          </a:p>
        </p:txBody>
      </p:sp>
      <p:sp>
        <p:nvSpPr>
          <p:cNvPr id="6" name="Footer Placeholder 5"/>
          <p:cNvSpPr>
            <a:spLocks noGrp="1"/>
          </p:cNvSpPr>
          <p:nvPr>
            <p:ph type="ftr" sz="quarter" idx="11"/>
          </p:nvPr>
        </p:nvSpPr>
        <p:spPr/>
        <p:txBody>
          <a:bodyPr/>
          <a:lstStyle/>
          <a:p>
            <a:r>
              <a:rP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2" name="Content Placeholder 2"/>
          <p:cNvSpPr>
            <a:spLocks noGrp="1"/>
          </p:cNvSpPr>
          <p:nvPr>
            <p:ph sz="half" idx="17"/>
          </p:nvPr>
        </p:nvSpPr>
        <p:spPr>
          <a:xfrm>
            <a:off x="502920" y="1985963"/>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4" name="Content Placeholder 2"/>
          <p:cNvSpPr>
            <a:spLocks noGrp="1"/>
          </p:cNvSpPr>
          <p:nvPr>
            <p:ph sz="half" idx="18"/>
          </p:nvPr>
        </p:nvSpPr>
        <p:spPr>
          <a:xfrm>
            <a:off x="502920" y="4164965"/>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5"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6"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ectangle 5"/>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fld id="{1B10C791-6992-4CCF-A244-B250C8BB22F1}" type="datetime1">
              <a:rPr lang="en-US"/>
              <a:pPr/>
              <a:t>9/13/2018</a:t>
            </a:fld>
            <a:endParaRPr/>
          </a:p>
        </p:txBody>
      </p:sp>
      <p:sp>
        <p:nvSpPr>
          <p:cNvPr id="4" name="Footer Placeholder 3"/>
          <p:cNvSpPr>
            <a:spLocks noGrp="1"/>
          </p:cNvSpPr>
          <p:nvPr>
            <p:ph type="ftr" sz="quarter" idx="11"/>
          </p:nvPr>
        </p:nvSpPr>
        <p:spPr/>
        <p:txBody>
          <a:bodyPr/>
          <a:lstStyle/>
          <a:p>
            <a:r>
              <a:rPr/>
              <a:t>
              </a:t>
            </a:r>
          </a:p>
        </p:txBody>
      </p:sp>
      <p:sp>
        <p:nvSpPr>
          <p:cNvPr id="5" name="Slide Number Placeholder 4"/>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Rectangle 4"/>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fld id="{51420578-B892-4967-98F8-D0B4A045ADFD}" type="datetime1">
              <a:rPr lang="en-US"/>
              <a:pPr/>
              <a:t>9/13/2018</a:t>
            </a:fld>
            <a:endParaRPr/>
          </a:p>
        </p:txBody>
      </p:sp>
      <p:sp>
        <p:nvSpPr>
          <p:cNvPr id="3" name="Footer Placeholder 2"/>
          <p:cNvSpPr>
            <a:spLocks noGrp="1"/>
          </p:cNvSpPr>
          <p:nvPr>
            <p:ph type="ftr" sz="quarter" idx="11"/>
          </p:nvPr>
        </p:nvSpPr>
        <p:spPr/>
        <p:txBody>
          <a:bodyPr/>
          <a:lstStyle/>
          <a:p>
            <a:r>
              <a:rPr/>
              <a:t>
              </a:t>
            </a:r>
          </a:p>
        </p:txBody>
      </p:sp>
      <p:sp>
        <p:nvSpPr>
          <p:cNvPr id="4" name="Slide Number Placeholder 3"/>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282575" y="228600"/>
            <a:ext cx="3451225"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5" y="2571750"/>
            <a:ext cx="3255264"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3" name="Content Placeholder 2"/>
          <p:cNvSpPr>
            <a:spLocks noGrp="1"/>
          </p:cNvSpPr>
          <p:nvPr>
            <p:ph idx="1"/>
          </p:nvPr>
        </p:nvSpPr>
        <p:spPr>
          <a:xfrm>
            <a:off x="4168775" y="273050"/>
            <a:ext cx="4597399" cy="585311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381093" y="3733800"/>
            <a:ext cx="325526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CBDCDF1B-54EC-4432-8649-0FE40DD46F86}" type="datetime1">
              <a:rPr lang="en-US"/>
              <a:pPr/>
              <a:t>9/13/2018</a:t>
            </a:fld>
            <a:endParaRPr/>
          </a:p>
        </p:txBody>
      </p:sp>
      <p:sp>
        <p:nvSpPr>
          <p:cNvPr id="6" name="Footer Placeholder 5"/>
          <p:cNvSpPr>
            <a:spLocks noGrp="1"/>
          </p:cNvSpPr>
          <p:nvPr>
            <p:ph type="ftr" sz="quarter" idx="11"/>
          </p:nvPr>
        </p:nvSpPr>
        <p:spPr>
          <a:xfrm>
            <a:off x="3859305" y="6423585"/>
            <a:ext cx="3316941" cy="365125"/>
          </a:xfrm>
        </p:spPr>
        <p:txBody>
          <a:bodyPr/>
          <a:lstStyle/>
          <a:p>
            <a:r>
              <a:rPr/>
              <a:t>
              </a:t>
            </a: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169404" y="3124200"/>
            <a:ext cx="3898272" cy="87153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6" y="228600"/>
            <a:ext cx="3460658" cy="63452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4169404" y="3995737"/>
            <a:ext cx="3898272"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4CDA6A0B-D499-425D-9760-7E378B1D24E7}" type="datetime1">
              <a:rPr lang="en-US"/>
              <a:pPr/>
              <a:t>9/13/2018</a:t>
            </a:fld>
            <a:endParaRPr/>
          </a:p>
        </p:txBody>
      </p:sp>
      <p:sp>
        <p:nvSpPr>
          <p:cNvPr id="6" name="Footer Placeholder 5"/>
          <p:cNvSpPr>
            <a:spLocks noGrp="1"/>
          </p:cNvSpPr>
          <p:nvPr>
            <p:ph type="ftr" sz="quarter" idx="11"/>
          </p:nvPr>
        </p:nvSpPr>
        <p:spPr>
          <a:xfrm>
            <a:off x="4191000" y="6423585"/>
            <a:ext cx="3005138" cy="365125"/>
          </a:xfrm>
        </p:spPr>
        <p:txBody>
          <a:bodyPr/>
          <a:lstStyle/>
          <a:p>
            <a:r>
              <a:rP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3990110"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506505" y="4424082"/>
            <a:ext cx="6191157" cy="83371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5" y="228600"/>
            <a:ext cx="637838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506505" y="5257799"/>
            <a:ext cx="6191157" cy="885825"/>
          </a:xfrm>
        </p:spPr>
        <p:txBody>
          <a:bodyPr/>
          <a:lstStyle>
            <a:lvl1pPr marL="0" indent="0">
              <a:spcBef>
                <a:spcPts val="3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181B2FE-6867-4DAE-B4E4-C2A1A38F9C0D}" type="datetime1">
              <a:rPr lang="en-US"/>
              <a:pPr/>
              <a:t>9/13/2018</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8" name="Rectangle 7"/>
          <p:cNvSpPr/>
          <p:nvPr/>
        </p:nvSpPr>
        <p:spPr>
          <a:xfrm>
            <a:off x="6802438" y="22860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6802438" y="2377440"/>
            <a:ext cx="2057400" cy="20391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327212" y="4632792"/>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sp>
        <p:nvSpPr>
          <p:cNvPr id="8" name="Rectangle 7"/>
          <p:cNvSpPr/>
          <p:nvPr/>
        </p:nvSpPr>
        <p:spPr>
          <a:xfrm>
            <a:off x="282574" y="228600"/>
            <a:ext cx="6387167"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6181611"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381094" y="3733800"/>
            <a:ext cx="6179566"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5212262" y="6235607"/>
            <a:ext cx="1348398" cy="365125"/>
          </a:xfrm>
        </p:spPr>
        <p:txBody>
          <a:bodyPr/>
          <a:lstStyle>
            <a:lvl1pPr>
              <a:defRPr>
                <a:solidFill>
                  <a:schemeClr val="bg1"/>
                </a:solidFill>
              </a:defRPr>
            </a:lvl1pPr>
          </a:lstStyle>
          <a:p>
            <a:fld id="{5CBBBDE9-5D16-425E-B13A-2B2E02B8AFC8}" type="datetime1">
              <a:rPr lang="en-US"/>
              <a:pPr/>
              <a:t>9/13/2018</a:t>
            </a:fld>
            <a:endParaRPr/>
          </a:p>
        </p:txBody>
      </p:sp>
      <p:sp>
        <p:nvSpPr>
          <p:cNvPr id="6" name="Footer Placeholder 5"/>
          <p:cNvSpPr>
            <a:spLocks noGrp="1"/>
          </p:cNvSpPr>
          <p:nvPr>
            <p:ph type="ftr" sz="quarter" idx="11"/>
          </p:nvPr>
        </p:nvSpPr>
        <p:spPr>
          <a:xfrm>
            <a:off x="381095" y="6235607"/>
            <a:ext cx="4648105" cy="365125"/>
          </a:xfrm>
        </p:spPr>
        <p:txBody>
          <a:bodyPr/>
          <a:lstStyle>
            <a:lvl1pPr>
              <a:defRPr>
                <a:solidFill>
                  <a:schemeClr val="bg1"/>
                </a:solidFill>
              </a:defRPr>
            </a:lvl1pPr>
          </a:lstStyle>
          <a:p>
            <a:r>
              <a:rP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6802438" y="2374940"/>
            <a:ext cx="2057400" cy="2039112"/>
          </a:xfrm>
        </p:spPr>
        <p:txBody>
          <a:bodyPr/>
          <a:lstStyle>
            <a:lvl1pPr>
              <a:buNone/>
              <a:defRPr/>
            </a:lvl1pPr>
          </a:lstStyle>
          <a:p>
            <a:r>
              <a:rPr lang="en-US" dirty="0" smtClean="0"/>
              <a:t>Click icon to add picture</a:t>
            </a:r>
            <a:endParaRPr dirty="0"/>
          </a:p>
        </p:txBody>
      </p:sp>
      <p:sp>
        <p:nvSpPr>
          <p:cNvPr id="13" name="Picture Placeholder 12"/>
          <p:cNvSpPr>
            <a:spLocks noGrp="1"/>
          </p:cNvSpPr>
          <p:nvPr>
            <p:ph type="pic" sz="quarter" idx="14"/>
          </p:nvPr>
        </p:nvSpPr>
        <p:spPr>
          <a:xfrm>
            <a:off x="6802438" y="4535424"/>
            <a:ext cx="2057400" cy="2039112"/>
          </a:xfrm>
        </p:spPr>
        <p:txBody>
          <a:bodyPr/>
          <a:lstStyle>
            <a:lvl1pPr>
              <a:buNone/>
              <a:defRPr/>
            </a:lvl1pPr>
          </a:lstStyle>
          <a:p>
            <a:r>
              <a:rPr lang="en-US" dirty="0" smtClean="0"/>
              <a:t>Click icon to add picture</a:t>
            </a:r>
            <a:endParaRPr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Pictures with Caption">
    <p:spTree>
      <p:nvGrpSpPr>
        <p:cNvPr id="1" name=""/>
        <p:cNvGrpSpPr/>
        <p:nvPr/>
      </p:nvGrpSpPr>
      <p:grpSpPr>
        <a:xfrm>
          <a:off x="0" y="0"/>
          <a:ext cx="0" cy="0"/>
          <a:chOff x="0" y="0"/>
          <a:chExt cx="0" cy="0"/>
        </a:xfrm>
      </p:grpSpPr>
      <p:sp>
        <p:nvSpPr>
          <p:cNvPr id="8" name="Rectangle 7"/>
          <p:cNvSpPr/>
          <p:nvPr/>
        </p:nvSpPr>
        <p:spPr>
          <a:xfrm>
            <a:off x="282575" y="228600"/>
            <a:ext cx="423545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4016633"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381094" y="3733800"/>
            <a:ext cx="401530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3048000" y="6235607"/>
            <a:ext cx="1348398" cy="365125"/>
          </a:xfrm>
        </p:spPr>
        <p:txBody>
          <a:bodyPr/>
          <a:lstStyle>
            <a:lvl1pPr>
              <a:defRPr>
                <a:solidFill>
                  <a:schemeClr val="bg1"/>
                </a:solidFill>
              </a:defRPr>
            </a:lvl1pPr>
          </a:lstStyle>
          <a:p>
            <a:fld id="{272344D9-246E-4D78-97F7-CDDE15C7C47A}" type="datetime1">
              <a:rPr lang="en-US"/>
              <a:pPr/>
              <a:t>9/13/2018</a:t>
            </a:fld>
            <a:endParaRPr/>
          </a:p>
        </p:txBody>
      </p:sp>
      <p:sp>
        <p:nvSpPr>
          <p:cNvPr id="6" name="Footer Placeholder 5"/>
          <p:cNvSpPr>
            <a:spLocks noGrp="1"/>
          </p:cNvSpPr>
          <p:nvPr>
            <p:ph type="ftr" sz="quarter" idx="11"/>
          </p:nvPr>
        </p:nvSpPr>
        <p:spPr>
          <a:xfrm>
            <a:off x="381095" y="6235607"/>
            <a:ext cx="2590705" cy="365125"/>
          </a:xfrm>
        </p:spPr>
        <p:txBody>
          <a:bodyPr/>
          <a:lstStyle>
            <a:lvl1pPr>
              <a:defRPr>
                <a:solidFill>
                  <a:schemeClr val="bg1"/>
                </a:solidFill>
              </a:defRPr>
            </a:lvl1pPr>
          </a:lstStyle>
          <a:p>
            <a:r>
              <a:rP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4388" y="4534726"/>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4624388" y="228600"/>
            <a:ext cx="2057400" cy="2039112"/>
          </a:xfrm>
        </p:spPr>
        <p:txBody>
          <a:bodyPr/>
          <a:lstStyle>
            <a:lvl1pPr>
              <a:buNone/>
              <a:defRPr/>
            </a:lvl1pPr>
          </a:lstStyle>
          <a:p>
            <a:r>
              <a:rPr lang="en-US" dirty="0" smtClean="0"/>
              <a:t>Click icon to add picture</a:t>
            </a:r>
            <a:endParaRPr dirty="0"/>
          </a:p>
        </p:txBody>
      </p:sp>
      <p:sp>
        <p:nvSpPr>
          <p:cNvPr id="13" name="Picture Placeholder 12"/>
          <p:cNvSpPr>
            <a:spLocks noGrp="1"/>
          </p:cNvSpPr>
          <p:nvPr>
            <p:ph type="pic" sz="quarter" idx="14"/>
          </p:nvPr>
        </p:nvSpPr>
        <p:spPr>
          <a:xfrm>
            <a:off x="4624388" y="2381663"/>
            <a:ext cx="2057400" cy="2039112"/>
          </a:xfrm>
        </p:spPr>
        <p:txBody>
          <a:bodyPr/>
          <a:lstStyle>
            <a:lvl1pPr>
              <a:buNone/>
              <a:defRPr/>
            </a:lvl1pPr>
          </a:lstStyle>
          <a:p>
            <a:r>
              <a:rPr lang="en-US" dirty="0" smtClean="0"/>
              <a:t>Click icon to add picture</a:t>
            </a:r>
            <a:endParaRPr dirty="0"/>
          </a:p>
        </p:txBody>
      </p:sp>
      <p:sp>
        <p:nvSpPr>
          <p:cNvPr id="14" name="Picture Placeholder 12"/>
          <p:cNvSpPr>
            <a:spLocks noGrp="1"/>
          </p:cNvSpPr>
          <p:nvPr>
            <p:ph type="pic" sz="quarter" idx="15"/>
          </p:nvPr>
        </p:nvSpPr>
        <p:spPr>
          <a:xfrm>
            <a:off x="6803136" y="2381662"/>
            <a:ext cx="2057400" cy="4187952"/>
          </a:xfrm>
        </p:spPr>
        <p:txBody>
          <a:bodyPr/>
          <a:lstStyle>
            <a:lvl1pPr>
              <a:buNone/>
              <a:defRPr/>
            </a:lvl1pPr>
          </a:lstStyle>
          <a:p>
            <a:r>
              <a:rPr lang="en-US" dirty="0" smtClean="0"/>
              <a:t>Click icon to add picture</a:t>
            </a:r>
            <a:endParaRPr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Pictures with Caption, Alt.">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53000" y="3124200"/>
            <a:ext cx="3108960" cy="87153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5" y="2365248"/>
            <a:ext cx="424011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4953000" y="3995737"/>
            <a:ext cx="3108960"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546CB8D4-A311-4DB1-9E65-F6E7BA49F613}" type="datetime1">
              <a:rPr lang="en-US"/>
              <a:pPr/>
              <a:t>9/13/2018</a:t>
            </a:fld>
            <a:endParaRPr/>
          </a:p>
        </p:txBody>
      </p:sp>
      <p:sp>
        <p:nvSpPr>
          <p:cNvPr id="6" name="Footer Placeholder 5"/>
          <p:cNvSpPr>
            <a:spLocks noGrp="1"/>
          </p:cNvSpPr>
          <p:nvPr>
            <p:ph type="ftr" sz="quarter" idx="11"/>
          </p:nvPr>
        </p:nvSpPr>
        <p:spPr>
          <a:xfrm>
            <a:off x="4191000" y="6423585"/>
            <a:ext cx="3005138" cy="365125"/>
          </a:xfrm>
        </p:spPr>
        <p:txBody>
          <a:bodyPr/>
          <a:lstStyle/>
          <a:p>
            <a:r>
              <a:rP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4750361"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
        <p:nvSpPr>
          <p:cNvPr id="14" name="Picture Placeholder 12"/>
          <p:cNvSpPr>
            <a:spLocks noGrp="1"/>
          </p:cNvSpPr>
          <p:nvPr>
            <p:ph type="pic" sz="quarter" idx="13"/>
          </p:nvPr>
        </p:nvSpPr>
        <p:spPr>
          <a:xfrm>
            <a:off x="277905" y="228600"/>
            <a:ext cx="2057400" cy="2039112"/>
          </a:xfrm>
        </p:spPr>
        <p:txBody>
          <a:bodyPr/>
          <a:lstStyle>
            <a:lvl1pPr>
              <a:buNone/>
              <a:defRPr/>
            </a:lvl1pPr>
          </a:lstStyle>
          <a:p>
            <a:r>
              <a:rPr lang="en-US" dirty="0" smtClean="0"/>
              <a:t>Click icon to add picture</a:t>
            </a:r>
            <a:endParaRPr dirty="0"/>
          </a:p>
        </p:txBody>
      </p:sp>
      <p:sp>
        <p:nvSpPr>
          <p:cNvPr id="15" name="Picture Placeholder 12"/>
          <p:cNvSpPr>
            <a:spLocks noGrp="1"/>
          </p:cNvSpPr>
          <p:nvPr>
            <p:ph type="pic" sz="quarter" idx="14"/>
          </p:nvPr>
        </p:nvSpPr>
        <p:spPr>
          <a:xfrm>
            <a:off x="2460625" y="228600"/>
            <a:ext cx="2057400" cy="2039112"/>
          </a:xfrm>
        </p:spPr>
        <p:txBody>
          <a:bodyPr/>
          <a:lstStyle>
            <a:lvl1pPr>
              <a:buNone/>
              <a:defRPr/>
            </a:lvl1pPr>
          </a:lstStyle>
          <a:p>
            <a:r>
              <a:rPr lang="en-US" dirty="0" smtClean="0"/>
              <a:t>Click icon to add picture</a:t>
            </a:r>
            <a:endParaRPr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E401B973-48D0-47D2-BD1A-81DAC74A0928}" type="datetime1">
              <a:rPr lang="en-US"/>
              <a:pPr/>
              <a:t>9/13/2018</a:t>
            </a:fld>
            <a:endParaRPr/>
          </a:p>
        </p:txBody>
      </p:sp>
      <p:sp>
        <p:nvSpPr>
          <p:cNvPr id="5" name="Footer Placeholder 4"/>
          <p:cNvSpPr>
            <a:spLocks noGrp="1"/>
          </p:cNvSpPr>
          <p:nvPr>
            <p:ph type="ftr" sz="quarter" idx="11"/>
          </p:nvPr>
        </p:nvSpPr>
        <p:spPr/>
        <p:txBody>
          <a:bodyPr/>
          <a:lstStyle/>
          <a:p>
            <a:r>
              <a:rPr/>
              <a:t>
              </a:t>
            </a: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10" name="Rectangle 9"/>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995772" y="954742"/>
            <a:ext cx="681318" cy="5171422"/>
          </a:xfrm>
        </p:spPr>
        <p:txBody>
          <a:bodyPr vert="eaVert" anchor="t" anchorCtr="0"/>
          <a:lstStyle/>
          <a:p>
            <a:r>
              <a:rPr lang="en-US" smtClean="0"/>
              <a:t>Click to edit Master title style</a:t>
            </a:r>
            <a:endParaRPr/>
          </a:p>
        </p:txBody>
      </p:sp>
      <p:sp>
        <p:nvSpPr>
          <p:cNvPr id="3" name="Vertical Text Placeholder 2"/>
          <p:cNvSpPr>
            <a:spLocks noGrp="1"/>
          </p:cNvSpPr>
          <p:nvPr>
            <p:ph type="body" orient="vert" idx="1"/>
          </p:nvPr>
        </p:nvSpPr>
        <p:spPr>
          <a:xfrm>
            <a:off x="457200" y="958756"/>
            <a:ext cx="6858000" cy="518486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93714E26-7EC0-4FCC-8AD8-71E9EC27DEDB}" type="datetime1">
              <a:rPr lang="en-US"/>
              <a:pPr/>
              <a:t>9/13/2018</a:t>
            </a:fld>
            <a:endParaRPr/>
          </a:p>
        </p:txBody>
      </p:sp>
      <p:sp>
        <p:nvSpPr>
          <p:cNvPr id="5" name="Footer Placeholder 4"/>
          <p:cNvSpPr>
            <a:spLocks noGrp="1"/>
          </p:cNvSpPr>
          <p:nvPr>
            <p:ph type="ftr" sz="quarter" idx="11"/>
          </p:nvPr>
        </p:nvSpPr>
        <p:spPr/>
        <p:txBody>
          <a:bodyPr/>
          <a:lstStyle/>
          <a:p>
            <a:r>
              <a:rPr/>
              <a:t>
              </a:t>
            </a: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rot="16200000">
            <a:off x="8593111" y="561668"/>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2"/>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8474" y="484094"/>
            <a:ext cx="7556313" cy="1116106"/>
          </a:xfrm>
          <a:prstGeom prst="rect">
            <a:avLst/>
          </a:prstGeom>
        </p:spPr>
        <p:txBody>
          <a:bodyPr vert="horz" lIns="91440" tIns="45720" rIns="91440" bIns="45720" rtlCol="0" anchor="t" anchorCtr="0">
            <a:noAutofit/>
          </a:bodyPr>
          <a:lstStyle/>
          <a:p>
            <a:r>
              <a:rPr lang="en-US" smtClean="0"/>
              <a:t>Click to edit Master title style</a:t>
            </a:r>
            <a:endParaRPr/>
          </a:p>
        </p:txBody>
      </p:sp>
      <p:sp>
        <p:nvSpPr>
          <p:cNvPr id="3" name="Text Placeholder 2"/>
          <p:cNvSpPr>
            <a:spLocks noGrp="1"/>
          </p:cNvSpPr>
          <p:nvPr>
            <p:ph type="body" idx="1"/>
          </p:nvPr>
        </p:nvSpPr>
        <p:spPr>
          <a:xfrm>
            <a:off x="498474" y="1981200"/>
            <a:ext cx="7556313" cy="4144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2"/>
          </p:nvPr>
        </p:nvSpPr>
        <p:spPr>
          <a:xfrm>
            <a:off x="6795247" y="6423585"/>
            <a:ext cx="2133600" cy="365125"/>
          </a:xfrm>
          <a:prstGeom prst="rect">
            <a:avLst/>
          </a:prstGeom>
        </p:spPr>
        <p:txBody>
          <a:bodyPr vert="horz" lIns="91440" tIns="45720" rIns="91440" bIns="45720" rtlCol="0" anchor="ctr"/>
          <a:lstStyle>
            <a:lvl1pPr algn="r">
              <a:defRPr sz="1100">
                <a:solidFill>
                  <a:schemeClr val="tx1">
                    <a:lumMod val="65000"/>
                    <a:lumOff val="35000"/>
                  </a:schemeClr>
                </a:solidFill>
              </a:defRPr>
            </a:lvl1pPr>
          </a:lstStyle>
          <a:p>
            <a:fld id="{7E6C1EDB-CE87-4BA6-95D9-AD3AE9C734F7}" type="datetime1">
              <a:rPr lang="en-US"/>
              <a:pPr/>
              <a:t>9/13/2018</a:t>
            </a:fld>
            <a:endParaRPr/>
          </a:p>
        </p:txBody>
      </p:sp>
      <p:sp>
        <p:nvSpPr>
          <p:cNvPr id="5" name="Footer Placeholder 4"/>
          <p:cNvSpPr>
            <a:spLocks noGrp="1"/>
          </p:cNvSpPr>
          <p:nvPr>
            <p:ph type="ftr" sz="quarter" idx="3"/>
          </p:nvPr>
        </p:nvSpPr>
        <p:spPr>
          <a:xfrm>
            <a:off x="201706" y="6423585"/>
            <a:ext cx="6122894"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r>
              <a:rPr/>
              <a:t>
              </a:t>
            </a:r>
          </a:p>
        </p:txBody>
      </p:sp>
      <p:sp>
        <p:nvSpPr>
          <p:cNvPr id="6" name="Slide Number Placeholder 5"/>
          <p:cNvSpPr>
            <a:spLocks noGrp="1"/>
          </p:cNvSpPr>
          <p:nvPr>
            <p:ph type="sldNum" sz="quarter" idx="4"/>
          </p:nvPr>
        </p:nvSpPr>
        <p:spPr>
          <a:xfrm>
            <a:off x="8305800" y="242234"/>
            <a:ext cx="554038" cy="365125"/>
          </a:xfrm>
          <a:prstGeom prst="rect">
            <a:avLst/>
          </a:prstGeom>
        </p:spPr>
        <p:txBody>
          <a:bodyPr vert="horz" lIns="91440" tIns="45720" rIns="91440" bIns="45720" rtlCol="0" anchor="ctr"/>
          <a:lstStyle>
            <a:lvl1pPr algn="r">
              <a:defRPr sz="1400">
                <a:solidFill>
                  <a:schemeClr val="bg1"/>
                </a:solidFill>
              </a:defRPr>
            </a:lvl1pPr>
          </a:lstStyle>
          <a:p>
            <a:fld id="{8AF02B71-8991-4516-A01E-F1A9ACD28BDC}" type="slidenum">
              <a:rPr/>
              <a:pPr/>
              <a:t>‹#›</a:t>
            </a:fld>
            <a:endParaRPr/>
          </a:p>
        </p:txBody>
      </p:sp>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 id="2147483687" r:id="rId16"/>
    <p:sldLayoutId id="2147483688" r:id="rId17"/>
    <p:sldLayoutId id="2147483689" r:id="rId18"/>
    <p:sldLayoutId id="2147483690" r:id="rId19"/>
    <p:sldLayoutId id="2147483691" r:id="rId20"/>
  </p:sldLayoutIdLst>
  <p:txStyles>
    <p:titleStyle>
      <a:lvl1pPr algn="l" defTabSz="914400" rtl="0" eaLnBrk="1" latinLnBrk="0" hangingPunct="1">
        <a:spcBef>
          <a:spcPct val="0"/>
        </a:spcBef>
        <a:buNone/>
        <a:defRPr sz="3600" b="0" kern="1200">
          <a:solidFill>
            <a:schemeClr val="accent1"/>
          </a:solidFill>
          <a:latin typeface="+mj-lt"/>
          <a:ea typeface="+mj-ea"/>
          <a:cs typeface="+mj-cs"/>
        </a:defRPr>
      </a:lvl1pPr>
    </p:titleStyle>
    <p:body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NUL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NUL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60485" y="4325751"/>
            <a:ext cx="7978715" cy="700088"/>
          </a:xfrm>
        </p:spPr>
        <p:txBody>
          <a:bodyPr>
            <a:noAutofit/>
          </a:bodyPr>
          <a:lstStyle/>
          <a:p>
            <a:r>
              <a:rPr lang="en-US" sz="3300" b="1" dirty="0"/>
              <a:t>Processor Structure and Function</a:t>
            </a:r>
            <a:br>
              <a:rPr lang="en-US" sz="3300" b="1" dirty="0"/>
            </a:br>
            <a:endParaRPr lang="en-IN" sz="3300" b="1"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15158091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98473" y="1340768"/>
            <a:ext cx="7556313" cy="4144963"/>
          </a:xfrm>
        </p:spPr>
        <p:txBody>
          <a:bodyPr/>
          <a:lstStyle/>
          <a:p>
            <a:r>
              <a:rPr lang="en-US" dirty="0" smtClean="0">
                <a:solidFill>
                  <a:schemeClr val="tx1"/>
                </a:solidFill>
              </a:rPr>
              <a:t>Number System</a:t>
            </a:r>
          </a:p>
          <a:p>
            <a:r>
              <a:rPr lang="en-US" dirty="0" smtClean="0">
                <a:solidFill>
                  <a:schemeClr val="tx1"/>
                </a:solidFill>
              </a:rPr>
              <a:t>Computer Arithmetic</a:t>
            </a:r>
          </a:p>
          <a:p>
            <a:r>
              <a:rPr lang="en-US" dirty="0" smtClean="0">
                <a:solidFill>
                  <a:schemeClr val="tx1"/>
                </a:solidFill>
              </a:rPr>
              <a:t>Instruction Set </a:t>
            </a:r>
          </a:p>
          <a:p>
            <a:r>
              <a:rPr lang="en-US" dirty="0" smtClean="0">
                <a:solidFill>
                  <a:schemeClr val="tx1"/>
                </a:solidFill>
              </a:rPr>
              <a:t>Addressing Modes</a:t>
            </a:r>
          </a:p>
          <a:p>
            <a:r>
              <a:rPr lang="en-US" dirty="0" smtClean="0">
                <a:solidFill>
                  <a:schemeClr val="tx1"/>
                </a:solidFill>
              </a:rPr>
              <a:t>Processor – Structure &amp; Function</a:t>
            </a:r>
          </a:p>
          <a:p>
            <a:r>
              <a:rPr lang="en-US" dirty="0" smtClean="0">
                <a:solidFill>
                  <a:schemeClr val="tx1"/>
                </a:solidFill>
              </a:rPr>
              <a:t>Instruction Pipelining </a:t>
            </a:r>
          </a:p>
          <a:p>
            <a:r>
              <a:rPr lang="en-US" dirty="0" smtClean="0">
                <a:solidFill>
                  <a:schemeClr val="tx1"/>
                </a:solidFill>
              </a:rPr>
              <a:t>RISC and CISC </a:t>
            </a:r>
            <a:endParaRPr lang="en-US" dirty="0">
              <a:solidFill>
                <a:schemeClr val="tx1"/>
              </a:solidFill>
            </a:endParaRPr>
          </a:p>
        </p:txBody>
      </p:sp>
    </p:spTree>
    <p:extLst>
      <p:ext uri="{BB962C8B-B14F-4D97-AF65-F5344CB8AC3E}">
        <p14:creationId xmlns:p14="http://schemas.microsoft.com/office/powerpoint/2010/main" val="29794565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ChangeArrowheads="1"/>
          </p:cNvSpPr>
          <p:nvPr/>
        </p:nvSpPr>
        <p:spPr bwMode="auto">
          <a:xfrm>
            <a:off x="1466850" y="5529263"/>
            <a:ext cx="1428750" cy="342900"/>
          </a:xfrm>
          <a:prstGeom prst="rect">
            <a:avLst/>
          </a:prstGeom>
          <a:noFill/>
          <a:ln w="12700">
            <a:noFill/>
            <a:miter lim="800000"/>
            <a:headEnd/>
            <a:tailEnd/>
          </a:ln>
          <a:effectLst/>
        </p:spPr>
        <p:txBody>
          <a:bodyPr wrap="none" anchor="ctr">
            <a:prstTxWarp prst="textNoShape">
              <a:avLst/>
            </a:prstTxWarp>
          </a:bodyPr>
          <a:lstStyle/>
          <a:p>
            <a:endParaRPr lang="en-US" sz="1800" dirty="0"/>
          </a:p>
        </p:txBody>
      </p:sp>
      <p:sp>
        <p:nvSpPr>
          <p:cNvPr id="47107" name="Rectangle 3"/>
          <p:cNvSpPr>
            <a:spLocks noChangeArrowheads="1"/>
          </p:cNvSpPr>
          <p:nvPr/>
        </p:nvSpPr>
        <p:spPr bwMode="auto">
          <a:xfrm>
            <a:off x="3486150" y="5529263"/>
            <a:ext cx="2171700" cy="342900"/>
          </a:xfrm>
          <a:prstGeom prst="rect">
            <a:avLst/>
          </a:prstGeom>
          <a:noFill/>
          <a:ln w="12700">
            <a:noFill/>
            <a:miter lim="800000"/>
            <a:headEnd/>
            <a:tailEnd/>
          </a:ln>
          <a:effectLst/>
        </p:spPr>
        <p:txBody>
          <a:bodyPr wrap="none" anchor="ctr">
            <a:prstTxWarp prst="textNoShape">
              <a:avLst/>
            </a:prstTxWarp>
          </a:bodyPr>
          <a:lstStyle/>
          <a:p>
            <a:endParaRPr lang="en-US" sz="1800" dirty="0"/>
          </a:p>
        </p:txBody>
      </p:sp>
      <p:sp>
        <p:nvSpPr>
          <p:cNvPr id="47108" name="Rectangle 4"/>
          <p:cNvSpPr>
            <a:spLocks noGrp="1" noChangeArrowheads="1"/>
          </p:cNvSpPr>
          <p:nvPr>
            <p:ph type="title"/>
          </p:nvPr>
        </p:nvSpPr>
        <p:spPr>
          <a:xfrm>
            <a:off x="611560" y="559801"/>
            <a:ext cx="7556313" cy="995082"/>
          </a:xfrm>
        </p:spPr>
        <p:txBody>
          <a:bodyPr/>
          <a:lstStyle/>
          <a:p>
            <a:pPr algn="ctr"/>
            <a:r>
              <a:rPr lang="en-US" b="1" dirty="0" smtClean="0">
                <a:latin typeface="Times New Roman" panose="02020603050405020304" pitchFamily="18" charset="0"/>
                <a:cs typeface="Times New Roman" panose="02020603050405020304" pitchFamily="18" charset="0"/>
              </a:rPr>
              <a:t>Processor Organization</a:t>
            </a:r>
            <a:br>
              <a:rPr lang="en-US" b="1" dirty="0" smtClean="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Processor </a:t>
            </a:r>
            <a:r>
              <a:rPr lang="en-US" sz="2800" b="1" dirty="0" smtClean="0">
                <a:latin typeface="Times New Roman" panose="02020603050405020304" pitchFamily="18" charset="0"/>
                <a:cs typeface="Times New Roman" panose="02020603050405020304" pitchFamily="18" charset="0"/>
              </a:rPr>
              <a:t>Requirements</a:t>
            </a:r>
            <a:r>
              <a:rPr lang="en-US" sz="2800" b="1" dirty="0">
                <a:latin typeface="Times New Roman" panose="02020603050405020304" pitchFamily="18" charset="0"/>
                <a:cs typeface="Times New Roman" panose="02020603050405020304" pitchFamily="18" charset="0"/>
              </a:rPr>
              <a:t/>
            </a:r>
            <a:br>
              <a:rPr lang="en-US" sz="2800" b="1" dirty="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
        <p:nvSpPr>
          <p:cNvPr id="8" name="Content Placeholder 7"/>
          <p:cNvSpPr>
            <a:spLocks noGrp="1"/>
          </p:cNvSpPr>
          <p:nvPr>
            <p:ph idx="1"/>
          </p:nvPr>
        </p:nvSpPr>
        <p:spPr>
          <a:xfrm>
            <a:off x="467544" y="1057342"/>
            <a:ext cx="8352928" cy="3371850"/>
          </a:xfrm>
        </p:spPr>
        <p:txBody>
          <a:bodyPr>
            <a:noAutofit/>
          </a:bodyPr>
          <a:lstStyle/>
          <a:p>
            <a:r>
              <a:rPr lang="en-US" sz="1800" dirty="0" smtClean="0">
                <a:solidFill>
                  <a:schemeClr val="tx1"/>
                </a:solidFill>
                <a:latin typeface="Times New Roman" panose="02020603050405020304" pitchFamily="18" charset="0"/>
                <a:cs typeface="Times New Roman" panose="02020603050405020304" pitchFamily="18" charset="0"/>
              </a:rPr>
              <a:t>Fetch instruction</a:t>
            </a:r>
          </a:p>
          <a:p>
            <a:pPr lvl="1"/>
            <a:r>
              <a:rPr lang="en-US" sz="1600" dirty="0" smtClean="0">
                <a:solidFill>
                  <a:schemeClr val="tx1"/>
                </a:solidFill>
                <a:latin typeface="Times New Roman" panose="02020603050405020304" pitchFamily="18" charset="0"/>
                <a:cs typeface="Times New Roman" panose="02020603050405020304" pitchFamily="18" charset="0"/>
              </a:rPr>
              <a:t>The processor reads an instruction from memory (register, cache, main memory)</a:t>
            </a:r>
          </a:p>
          <a:p>
            <a:r>
              <a:rPr lang="en-US" sz="1800" dirty="0" smtClean="0">
                <a:solidFill>
                  <a:schemeClr val="tx1"/>
                </a:solidFill>
                <a:latin typeface="Times New Roman" panose="02020603050405020304" pitchFamily="18" charset="0"/>
                <a:cs typeface="Times New Roman" panose="02020603050405020304" pitchFamily="18" charset="0"/>
              </a:rPr>
              <a:t>Interpret instruction</a:t>
            </a:r>
          </a:p>
          <a:p>
            <a:pPr lvl="1"/>
            <a:r>
              <a:rPr lang="en-US" sz="1600" dirty="0" smtClean="0">
                <a:solidFill>
                  <a:schemeClr val="tx1"/>
                </a:solidFill>
                <a:latin typeface="Times New Roman" panose="02020603050405020304" pitchFamily="18" charset="0"/>
                <a:cs typeface="Times New Roman" panose="02020603050405020304" pitchFamily="18" charset="0"/>
              </a:rPr>
              <a:t>The instruction is decoded to determine what action is required</a:t>
            </a:r>
          </a:p>
          <a:p>
            <a:r>
              <a:rPr lang="en-US" sz="1800" dirty="0" smtClean="0">
                <a:solidFill>
                  <a:schemeClr val="tx1"/>
                </a:solidFill>
                <a:latin typeface="Times New Roman" panose="02020603050405020304" pitchFamily="18" charset="0"/>
                <a:cs typeface="Times New Roman" panose="02020603050405020304" pitchFamily="18" charset="0"/>
              </a:rPr>
              <a:t>Fetch data</a:t>
            </a:r>
          </a:p>
          <a:p>
            <a:pPr lvl="1"/>
            <a:r>
              <a:rPr lang="en-US" sz="1600" dirty="0" smtClean="0">
                <a:solidFill>
                  <a:schemeClr val="tx1"/>
                </a:solidFill>
                <a:latin typeface="Times New Roman" panose="02020603050405020304" pitchFamily="18" charset="0"/>
                <a:cs typeface="Times New Roman" panose="02020603050405020304" pitchFamily="18" charset="0"/>
              </a:rPr>
              <a:t>The execution of an instruction may require reading data from memory or an I/O module</a:t>
            </a:r>
          </a:p>
          <a:p>
            <a:r>
              <a:rPr lang="en-US" sz="1800" dirty="0" smtClean="0">
                <a:solidFill>
                  <a:schemeClr val="tx1"/>
                </a:solidFill>
                <a:latin typeface="Times New Roman" panose="02020603050405020304" pitchFamily="18" charset="0"/>
                <a:cs typeface="Times New Roman" panose="02020603050405020304" pitchFamily="18" charset="0"/>
              </a:rPr>
              <a:t>Process data</a:t>
            </a:r>
          </a:p>
          <a:p>
            <a:pPr lvl="1"/>
            <a:r>
              <a:rPr lang="en-US" sz="1600" dirty="0" smtClean="0">
                <a:solidFill>
                  <a:schemeClr val="tx1"/>
                </a:solidFill>
                <a:latin typeface="Times New Roman" panose="02020603050405020304" pitchFamily="18" charset="0"/>
                <a:cs typeface="Times New Roman" panose="02020603050405020304" pitchFamily="18" charset="0"/>
              </a:rPr>
              <a:t>The execution of an instruction may require performing some arithmetic or logical operation on data</a:t>
            </a:r>
          </a:p>
          <a:p>
            <a:r>
              <a:rPr lang="en-US" sz="1800" dirty="0" smtClean="0">
                <a:solidFill>
                  <a:schemeClr val="tx1"/>
                </a:solidFill>
                <a:latin typeface="Times New Roman" panose="02020603050405020304" pitchFamily="18" charset="0"/>
                <a:cs typeface="Times New Roman" panose="02020603050405020304" pitchFamily="18" charset="0"/>
              </a:rPr>
              <a:t>Write data</a:t>
            </a:r>
          </a:p>
          <a:p>
            <a:pPr lvl="1"/>
            <a:r>
              <a:rPr lang="en-US" sz="1600" dirty="0" smtClean="0">
                <a:solidFill>
                  <a:schemeClr val="tx1"/>
                </a:solidFill>
                <a:latin typeface="Times New Roman" panose="02020603050405020304" pitchFamily="18" charset="0"/>
                <a:cs typeface="Times New Roman" panose="02020603050405020304" pitchFamily="18" charset="0"/>
              </a:rPr>
              <a:t>The results of an execution may require writing data to memory or an I/O module</a:t>
            </a:r>
          </a:p>
          <a:p>
            <a:pPr marL="0" indent="0">
              <a:buNone/>
            </a:pPr>
            <a:r>
              <a:rPr lang="en-US" sz="1800" b="1" dirty="0" smtClean="0">
                <a:latin typeface="Times New Roman" panose="02020603050405020304" pitchFamily="18" charset="0"/>
                <a:cs typeface="Times New Roman" panose="02020603050405020304" pitchFamily="18" charset="0"/>
              </a:rPr>
              <a:t>In order to do these things the processor needs to store some data temporarily and therefore needs a small internal memory</a:t>
            </a:r>
            <a:endParaRPr lang="en-US"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14472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idx="4294967295"/>
          </p:nvPr>
        </p:nvSpPr>
        <p:spPr>
          <a:xfrm>
            <a:off x="1532058" y="116632"/>
            <a:ext cx="5667375" cy="837009"/>
          </a:xfrm>
        </p:spPr>
        <p:txBody>
          <a:bodyPr/>
          <a:lstStyle/>
          <a:p>
            <a:pPr algn="ctr"/>
            <a:r>
              <a:rPr lang="en-GB" dirty="0"/>
              <a:t>CPU With</a:t>
            </a:r>
            <a:r>
              <a:rPr lang="en-GB" dirty="0" smtClean="0"/>
              <a:t> the System </a:t>
            </a:r>
            <a:r>
              <a:rPr lang="en-GB" dirty="0"/>
              <a:t>Bus</a:t>
            </a:r>
          </a:p>
        </p:txBody>
      </p:sp>
      <p:pic>
        <p:nvPicPr>
          <p:cNvPr id="4" name="Picture 3" descr="f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8235" t="20909" r="8235" b="13636"/>
              <a:stretch>
                <a:fillRect/>
              </a:stretch>
            </p:blipFill>
          </mc:Choice>
          <mc:Fallback>
            <p:blipFill>
              <a:blip r:embed="rId4"/>
              <a:srcRect l="8235" t="20909" r="8235" b="13636"/>
              <a:stretch>
                <a:fillRect/>
              </a:stretch>
            </p:blipFill>
          </mc:Fallback>
        </mc:AlternateContent>
        <p:spPr>
          <a:xfrm>
            <a:off x="1413416" y="476671"/>
            <a:ext cx="6326935" cy="6416143"/>
          </a:xfrm>
          <a:prstGeom prst="rect">
            <a:avLst/>
          </a:prstGeom>
        </p:spPr>
      </p:pic>
    </p:spTree>
    <p:extLst>
      <p:ext uri="{BB962C8B-B14F-4D97-AF65-F5344CB8AC3E}">
        <p14:creationId xmlns:p14="http://schemas.microsoft.com/office/powerpoint/2010/main" val="16052264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idx="4294967295"/>
          </p:nvPr>
        </p:nvSpPr>
        <p:spPr>
          <a:xfrm>
            <a:off x="1547664" y="260648"/>
            <a:ext cx="5667375" cy="837009"/>
          </a:xfrm>
        </p:spPr>
        <p:txBody>
          <a:bodyPr/>
          <a:lstStyle/>
          <a:p>
            <a:pPr algn="ctr"/>
            <a:r>
              <a:rPr lang="en-GB" dirty="0"/>
              <a:t>CPU Internal Structure</a:t>
            </a:r>
          </a:p>
        </p:txBody>
      </p:sp>
      <p:pic>
        <p:nvPicPr>
          <p:cNvPr id="4" name="Picture 3" descr="f2.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10000" t="4706" r="8182" b="3529"/>
              <a:stretch>
                <a:fillRect/>
              </a:stretch>
            </p:blipFill>
          </mc:Choice>
          <mc:Fallback>
            <p:blipFill>
              <a:blip r:embed="rId4"/>
              <a:srcRect l="10000" t="4706" r="8182" b="3529"/>
              <a:stretch>
                <a:fillRect/>
              </a:stretch>
            </p:blipFill>
          </mc:Fallback>
        </mc:AlternateContent>
        <p:spPr>
          <a:xfrm>
            <a:off x="1115616" y="764704"/>
            <a:ext cx="6813154" cy="5904656"/>
          </a:xfrm>
          <a:prstGeom prst="rect">
            <a:avLst/>
          </a:prstGeom>
        </p:spPr>
      </p:pic>
    </p:spTree>
    <p:extLst>
      <p:ext uri="{BB962C8B-B14F-4D97-AF65-F5344CB8AC3E}">
        <p14:creationId xmlns:p14="http://schemas.microsoft.com/office/powerpoint/2010/main" val="29881878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Register Organization</a:t>
            </a:r>
          </a:p>
        </p:txBody>
      </p:sp>
      <p:sp>
        <p:nvSpPr>
          <p:cNvPr id="3" name="Content Placeholder 2"/>
          <p:cNvSpPr>
            <a:spLocks noGrp="1"/>
          </p:cNvSpPr>
          <p:nvPr>
            <p:ph idx="1"/>
          </p:nvPr>
        </p:nvSpPr>
        <p:spPr>
          <a:xfrm>
            <a:off x="497693" y="1340768"/>
            <a:ext cx="7556313" cy="5184576"/>
          </a:xfrm>
        </p:spPr>
        <p:txBody>
          <a:bodyPr>
            <a:normAutofit/>
          </a:bodyPr>
          <a:lstStyle/>
          <a:p>
            <a:pPr marL="171450" indent="-171450">
              <a:spcBef>
                <a:spcPts val="1500"/>
              </a:spcBef>
            </a:pPr>
            <a:r>
              <a:rPr lang="en-US" dirty="0">
                <a:solidFill>
                  <a:schemeClr val="tx1"/>
                </a:solidFill>
              </a:rPr>
              <a:t>Within the processor there is a set of </a:t>
            </a:r>
            <a:r>
              <a:rPr lang="en-US" dirty="0" smtClean="0">
                <a:solidFill>
                  <a:schemeClr val="tx1"/>
                </a:solidFill>
              </a:rPr>
              <a:t>registers. The </a:t>
            </a:r>
            <a:r>
              <a:rPr lang="en-US" dirty="0">
                <a:solidFill>
                  <a:schemeClr val="tx1"/>
                </a:solidFill>
              </a:rPr>
              <a:t>registers in the processor perform two roles:</a:t>
            </a:r>
          </a:p>
          <a:p>
            <a:pPr marL="171450" indent="-171450">
              <a:spcBef>
                <a:spcPts val="1500"/>
              </a:spcBef>
            </a:pPr>
            <a:r>
              <a:rPr lang="en-US" dirty="0">
                <a:solidFill>
                  <a:schemeClr val="tx1"/>
                </a:solidFill>
              </a:rPr>
              <a:t>User Visible Registers</a:t>
            </a:r>
          </a:p>
          <a:p>
            <a:pPr marL="400050" indent="-171450">
              <a:spcBef>
                <a:spcPts val="1500"/>
              </a:spcBef>
            </a:pPr>
            <a:r>
              <a:rPr lang="en-US" sz="1800" dirty="0">
                <a:solidFill>
                  <a:schemeClr val="tx1"/>
                </a:solidFill>
              </a:rPr>
              <a:t>Enable the machine or assembly language programmer to minimize main memory references by optimizing use of </a:t>
            </a:r>
            <a:r>
              <a:rPr lang="en-US" sz="1800" dirty="0" smtClean="0">
                <a:solidFill>
                  <a:schemeClr val="tx1"/>
                </a:solidFill>
              </a:rPr>
              <a:t>registers.</a:t>
            </a:r>
          </a:p>
          <a:p>
            <a:pPr marL="628650" lvl="1" indent="-171450">
              <a:spcBef>
                <a:spcPts val="1500"/>
              </a:spcBef>
              <a:buClr>
                <a:schemeClr val="accent1"/>
              </a:buClr>
            </a:pPr>
            <a:endParaRPr lang="en-US" sz="1800" dirty="0">
              <a:solidFill>
                <a:schemeClr val="tx1"/>
              </a:solidFill>
            </a:endParaRPr>
          </a:p>
          <a:p>
            <a:pPr marL="171450" indent="-171450">
              <a:spcBef>
                <a:spcPts val="1500"/>
              </a:spcBef>
            </a:pPr>
            <a:r>
              <a:rPr lang="en-US" dirty="0">
                <a:solidFill>
                  <a:schemeClr val="tx1"/>
                </a:solidFill>
              </a:rPr>
              <a:t>Control and Status Registers</a:t>
            </a:r>
          </a:p>
          <a:p>
            <a:pPr marL="400050" lvl="1" indent="-171450">
              <a:spcBef>
                <a:spcPts val="1500"/>
              </a:spcBef>
            </a:pPr>
            <a:r>
              <a:rPr lang="en-US" dirty="0">
                <a:solidFill>
                  <a:schemeClr val="tx1"/>
                </a:solidFill>
              </a:rPr>
              <a:t>Used by the control unit to control the operation of the </a:t>
            </a:r>
            <a:r>
              <a:rPr lang="en-US" dirty="0" smtClean="0">
                <a:solidFill>
                  <a:schemeClr val="tx1"/>
                </a:solidFill>
              </a:rPr>
              <a:t>processor. OS programs may also use these in privileged modes to control the execution of program.</a:t>
            </a:r>
          </a:p>
          <a:p>
            <a:pPr marL="400050" lvl="1" indent="-171450">
              <a:spcBef>
                <a:spcPts val="1500"/>
              </a:spcBef>
            </a:pPr>
            <a:endParaRPr lang="en-US" dirty="0">
              <a:solidFill>
                <a:schemeClr val="tx1"/>
              </a:solidFill>
            </a:endParaRPr>
          </a:p>
          <a:p>
            <a:pPr marL="171450" indent="-171450">
              <a:spcBef>
                <a:spcPts val="1500"/>
              </a:spcBef>
            </a:pPr>
            <a:endParaRPr lang="en-US" sz="1800" dirty="0">
              <a:solidFill>
                <a:schemeClr val="tx1"/>
              </a:solidFill>
            </a:endParaRPr>
          </a:p>
          <a:p>
            <a:endParaRPr lang="en-US" dirty="0"/>
          </a:p>
        </p:txBody>
      </p:sp>
    </p:spTree>
    <p:extLst>
      <p:ext uri="{BB962C8B-B14F-4D97-AF65-F5344CB8AC3E}">
        <p14:creationId xmlns:p14="http://schemas.microsoft.com/office/powerpoint/2010/main" val="1333247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260648"/>
            <a:ext cx="7556313" cy="1116106"/>
          </a:xfrm>
        </p:spPr>
        <p:txBody>
          <a:bodyPr/>
          <a:lstStyle/>
          <a:p>
            <a:pPr algn="ctr"/>
            <a:r>
              <a:rPr lang="en-US" dirty="0" smtClean="0"/>
              <a:t>User Visible Registers</a:t>
            </a:r>
            <a:endParaRPr lang="en-US" dirty="0"/>
          </a:p>
        </p:txBody>
      </p:sp>
      <p:sp>
        <p:nvSpPr>
          <p:cNvPr id="3" name="Content Placeholder 2"/>
          <p:cNvSpPr>
            <a:spLocks noGrp="1"/>
          </p:cNvSpPr>
          <p:nvPr>
            <p:ph idx="1"/>
          </p:nvPr>
        </p:nvSpPr>
        <p:spPr>
          <a:xfrm>
            <a:off x="467941" y="1196752"/>
            <a:ext cx="7848475" cy="5661248"/>
          </a:xfrm>
        </p:spPr>
        <p:txBody>
          <a:bodyPr>
            <a:normAutofit/>
          </a:bodyPr>
          <a:lstStyle/>
          <a:p>
            <a:pPr lvl="0"/>
            <a:r>
              <a:rPr lang="en-US" dirty="0">
                <a:solidFill>
                  <a:schemeClr val="tx1"/>
                </a:solidFill>
              </a:rPr>
              <a:t>Referenced by means of the machine language that the processor </a:t>
            </a:r>
            <a:r>
              <a:rPr lang="en-US" dirty="0" smtClean="0">
                <a:solidFill>
                  <a:schemeClr val="tx1"/>
                </a:solidFill>
              </a:rPr>
              <a:t>executes.</a:t>
            </a:r>
          </a:p>
          <a:p>
            <a:pPr lvl="0"/>
            <a:r>
              <a:rPr lang="en-US" dirty="0" smtClean="0">
                <a:solidFill>
                  <a:schemeClr val="tx1"/>
                </a:solidFill>
              </a:rPr>
              <a:t>Categories:</a:t>
            </a:r>
            <a:endParaRPr lang="en-US" dirty="0">
              <a:solidFill>
                <a:schemeClr val="tx1"/>
              </a:solidFill>
            </a:endParaRPr>
          </a:p>
          <a:p>
            <a:pPr lvl="1"/>
            <a:r>
              <a:rPr lang="en-US" dirty="0" smtClean="0">
                <a:solidFill>
                  <a:schemeClr val="tx1"/>
                </a:solidFill>
              </a:rPr>
              <a:t>General purpose</a:t>
            </a:r>
            <a:endParaRPr lang="en-US" dirty="0">
              <a:solidFill>
                <a:schemeClr val="tx1"/>
              </a:solidFill>
            </a:endParaRPr>
          </a:p>
          <a:p>
            <a:pPr lvl="1"/>
            <a:r>
              <a:rPr lang="en-US" dirty="0">
                <a:solidFill>
                  <a:schemeClr val="tx1"/>
                </a:solidFill>
              </a:rPr>
              <a:t>Data</a:t>
            </a:r>
          </a:p>
          <a:p>
            <a:pPr lvl="1"/>
            <a:r>
              <a:rPr lang="en-US" dirty="0" smtClean="0">
                <a:solidFill>
                  <a:schemeClr val="tx1"/>
                </a:solidFill>
              </a:rPr>
              <a:t>Address</a:t>
            </a:r>
            <a:endParaRPr lang="en-US" dirty="0">
              <a:solidFill>
                <a:schemeClr val="tx1"/>
              </a:solidFill>
            </a:endParaRPr>
          </a:p>
          <a:p>
            <a:pPr lvl="1"/>
            <a:r>
              <a:rPr lang="en-US" dirty="0" smtClean="0">
                <a:solidFill>
                  <a:schemeClr val="tx1"/>
                </a:solidFill>
              </a:rPr>
              <a:t>Condition codes (flags)</a:t>
            </a:r>
            <a:endParaRPr lang="en-US" dirty="0">
              <a:solidFill>
                <a:schemeClr val="tx1"/>
              </a:solidFill>
            </a:endParaRPr>
          </a:p>
          <a:p>
            <a:pPr lvl="2"/>
            <a:r>
              <a:rPr lang="en-US" dirty="0" smtClean="0">
                <a:solidFill>
                  <a:schemeClr val="tx1"/>
                </a:solidFill>
              </a:rPr>
              <a:t>Bits </a:t>
            </a:r>
            <a:r>
              <a:rPr lang="en-US" dirty="0">
                <a:solidFill>
                  <a:schemeClr val="tx1"/>
                </a:solidFill>
              </a:rPr>
              <a:t>set by the processor hardware as the result of operations</a:t>
            </a:r>
          </a:p>
          <a:p>
            <a:endParaRPr lang="en-US" dirty="0">
              <a:solidFill>
                <a:schemeClr val="tx1"/>
              </a:solidFill>
            </a:endParaRPr>
          </a:p>
        </p:txBody>
      </p:sp>
    </p:spTree>
    <p:extLst>
      <p:ext uri="{BB962C8B-B14F-4D97-AF65-F5344CB8AC3E}">
        <p14:creationId xmlns:p14="http://schemas.microsoft.com/office/powerpoint/2010/main" val="39903887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ChangeArrowheads="1"/>
          </p:cNvSpPr>
          <p:nvPr/>
        </p:nvSpPr>
        <p:spPr bwMode="auto">
          <a:xfrm>
            <a:off x="1466850" y="5529263"/>
            <a:ext cx="1428750" cy="342900"/>
          </a:xfrm>
          <a:prstGeom prst="rect">
            <a:avLst/>
          </a:prstGeom>
          <a:noFill/>
          <a:ln w="12700">
            <a:noFill/>
            <a:miter lim="800000"/>
            <a:headEnd/>
            <a:tailEnd/>
          </a:ln>
          <a:effectLst/>
        </p:spPr>
        <p:txBody>
          <a:bodyPr wrap="none" anchor="ctr">
            <a:prstTxWarp prst="textNoShape">
              <a:avLst/>
            </a:prstTxWarp>
          </a:bodyPr>
          <a:lstStyle/>
          <a:p>
            <a:endParaRPr lang="en-US" sz="1800" dirty="0"/>
          </a:p>
        </p:txBody>
      </p:sp>
      <p:sp>
        <p:nvSpPr>
          <p:cNvPr id="63491" name="Rectangle 3"/>
          <p:cNvSpPr>
            <a:spLocks noChangeArrowheads="1"/>
          </p:cNvSpPr>
          <p:nvPr/>
        </p:nvSpPr>
        <p:spPr bwMode="auto">
          <a:xfrm>
            <a:off x="3486150" y="5529263"/>
            <a:ext cx="2171700" cy="342900"/>
          </a:xfrm>
          <a:prstGeom prst="rect">
            <a:avLst/>
          </a:prstGeom>
          <a:noFill/>
          <a:ln w="12700">
            <a:noFill/>
            <a:miter lim="800000"/>
            <a:headEnd/>
            <a:tailEnd/>
          </a:ln>
          <a:effectLst/>
        </p:spPr>
        <p:txBody>
          <a:bodyPr wrap="none" anchor="ctr">
            <a:prstTxWarp prst="textNoShape">
              <a:avLst/>
            </a:prstTxWarp>
          </a:bodyPr>
          <a:lstStyle/>
          <a:p>
            <a:endParaRPr lang="en-US" sz="1800" dirty="0"/>
          </a:p>
        </p:txBody>
      </p:sp>
      <p:sp>
        <p:nvSpPr>
          <p:cNvPr id="63492" name="Rectangle 4"/>
          <p:cNvSpPr>
            <a:spLocks noGrp="1" noChangeArrowheads="1"/>
          </p:cNvSpPr>
          <p:nvPr>
            <p:ph type="title"/>
          </p:nvPr>
        </p:nvSpPr>
        <p:spPr>
          <a:xfrm>
            <a:off x="505759" y="-387424"/>
            <a:ext cx="7556313" cy="995082"/>
          </a:xfrm>
          <a:noFill/>
          <a:ln/>
        </p:spPr>
        <p:txBody>
          <a:bodyPr vert="horz" lIns="67866" tIns="33338" rIns="67866" bIns="33338" rtlCol="0" anchor="b" anchorCtr="0">
            <a:noAutofit/>
          </a:bodyPr>
          <a:lstStyle/>
          <a:p>
            <a:pPr algn="ctr"/>
            <a:r>
              <a:rPr lang="en-US" dirty="0"/>
              <a:t>Control</a:t>
            </a:r>
            <a:r>
              <a:rPr lang="en-US" dirty="0" smtClean="0"/>
              <a:t> and </a:t>
            </a:r>
            <a:r>
              <a:rPr lang="en-US" dirty="0"/>
              <a:t>Status Registers</a:t>
            </a:r>
          </a:p>
        </p:txBody>
      </p:sp>
      <p:sp>
        <p:nvSpPr>
          <p:cNvPr id="6" name="Content Placeholder 5"/>
          <p:cNvSpPr>
            <a:spLocks noGrp="1"/>
          </p:cNvSpPr>
          <p:nvPr>
            <p:ph idx="1"/>
          </p:nvPr>
        </p:nvSpPr>
        <p:spPr>
          <a:xfrm>
            <a:off x="506800" y="607658"/>
            <a:ext cx="7556313" cy="6250342"/>
          </a:xfrm>
        </p:spPr>
        <p:txBody>
          <a:bodyPr>
            <a:normAutofit/>
          </a:bodyPr>
          <a:lstStyle/>
          <a:p>
            <a:pPr algn="just"/>
            <a:r>
              <a:rPr lang="en-US" dirty="0">
                <a:solidFill>
                  <a:schemeClr val="tx1"/>
                </a:solidFill>
              </a:rPr>
              <a:t>Four registers are essential to instruction execution</a:t>
            </a:r>
            <a:r>
              <a:rPr lang="en-US" dirty="0" smtClean="0">
                <a:solidFill>
                  <a:schemeClr val="tx1"/>
                </a:solidFill>
              </a:rPr>
              <a:t>:</a:t>
            </a:r>
          </a:p>
          <a:p>
            <a:pPr lvl="1" algn="just"/>
            <a:r>
              <a:rPr lang="en-US" dirty="0" smtClean="0">
                <a:solidFill>
                  <a:schemeClr val="tx1"/>
                </a:solidFill>
              </a:rPr>
              <a:t>Program counter (PC)</a:t>
            </a:r>
          </a:p>
          <a:p>
            <a:pPr lvl="1" algn="just"/>
            <a:r>
              <a:rPr lang="en-US" dirty="0" smtClean="0">
                <a:solidFill>
                  <a:schemeClr val="tx1"/>
                </a:solidFill>
              </a:rPr>
              <a:t>Instruction register (IR)</a:t>
            </a:r>
          </a:p>
          <a:p>
            <a:pPr lvl="1" algn="just"/>
            <a:r>
              <a:rPr lang="en-US" dirty="0" smtClean="0">
                <a:solidFill>
                  <a:schemeClr val="tx1"/>
                </a:solidFill>
              </a:rPr>
              <a:t>Memory address register (MAR)</a:t>
            </a:r>
          </a:p>
          <a:p>
            <a:pPr lvl="1" algn="just"/>
            <a:r>
              <a:rPr lang="en-US" dirty="0" smtClean="0">
                <a:solidFill>
                  <a:schemeClr val="tx1"/>
                </a:solidFill>
              </a:rPr>
              <a:t>Memory buffer register (MBR)</a:t>
            </a:r>
          </a:p>
          <a:p>
            <a:pPr lvl="1" algn="just"/>
            <a:endParaRPr lang="en-US" dirty="0">
              <a:solidFill>
                <a:schemeClr val="tx1"/>
              </a:solidFill>
            </a:endParaRPr>
          </a:p>
          <a:p>
            <a:pPr algn="just"/>
            <a:r>
              <a:rPr lang="en-IN" dirty="0">
                <a:solidFill>
                  <a:schemeClr val="tx1"/>
                </a:solidFill>
              </a:rPr>
              <a:t>Program Status Word (PSW</a:t>
            </a:r>
            <a:r>
              <a:rPr lang="en-IN" dirty="0" smtClean="0">
                <a:solidFill>
                  <a:schemeClr val="tx1"/>
                </a:solidFill>
              </a:rPr>
              <a:t>)</a:t>
            </a:r>
          </a:p>
          <a:p>
            <a:pPr lvl="1"/>
            <a:r>
              <a:rPr lang="en-US" dirty="0">
                <a:solidFill>
                  <a:schemeClr val="tx1"/>
                </a:solidFill>
              </a:rPr>
              <a:t>Register or set of registers that contain status information and condition codes</a:t>
            </a:r>
          </a:p>
          <a:p>
            <a:pPr lvl="1"/>
            <a:r>
              <a:rPr lang="en-US" dirty="0">
                <a:solidFill>
                  <a:schemeClr val="tx1"/>
                </a:solidFill>
              </a:rPr>
              <a:t>Common fields or flags include:</a:t>
            </a:r>
          </a:p>
          <a:p>
            <a:pPr lvl="2"/>
            <a:r>
              <a:rPr lang="en-US" dirty="0">
                <a:solidFill>
                  <a:schemeClr val="tx1"/>
                </a:solidFill>
              </a:rPr>
              <a:t>Sign</a:t>
            </a:r>
          </a:p>
          <a:p>
            <a:pPr lvl="2"/>
            <a:r>
              <a:rPr lang="en-US" dirty="0">
                <a:solidFill>
                  <a:schemeClr val="tx1"/>
                </a:solidFill>
              </a:rPr>
              <a:t>Zero</a:t>
            </a:r>
          </a:p>
          <a:p>
            <a:pPr lvl="2"/>
            <a:r>
              <a:rPr lang="en-US" dirty="0">
                <a:solidFill>
                  <a:schemeClr val="tx1"/>
                </a:solidFill>
              </a:rPr>
              <a:t>Carry</a:t>
            </a:r>
          </a:p>
          <a:p>
            <a:pPr lvl="2"/>
            <a:r>
              <a:rPr lang="en-US" dirty="0">
                <a:solidFill>
                  <a:schemeClr val="tx1"/>
                </a:solidFill>
              </a:rPr>
              <a:t>Equal</a:t>
            </a:r>
          </a:p>
          <a:p>
            <a:pPr lvl="2"/>
            <a:r>
              <a:rPr lang="en-US" dirty="0">
                <a:solidFill>
                  <a:schemeClr val="tx1"/>
                </a:solidFill>
              </a:rPr>
              <a:t>Overflow</a:t>
            </a:r>
          </a:p>
          <a:p>
            <a:pPr lvl="2"/>
            <a:r>
              <a:rPr lang="en-US" dirty="0">
                <a:solidFill>
                  <a:schemeClr val="tx1"/>
                </a:solidFill>
              </a:rPr>
              <a:t>Interrupt Enable/Disable</a:t>
            </a:r>
          </a:p>
          <a:p>
            <a:pPr algn="just"/>
            <a:endParaRPr lang="en-IN" dirty="0" smtClean="0">
              <a:solidFill>
                <a:schemeClr val="tx1"/>
              </a:solidFill>
            </a:endParaRPr>
          </a:p>
          <a:p>
            <a:pPr algn="just"/>
            <a:endParaRPr lang="en-US" dirty="0">
              <a:solidFill>
                <a:schemeClr val="tx1"/>
              </a:solidFill>
            </a:endParaRPr>
          </a:p>
        </p:txBody>
      </p:sp>
    </p:spTree>
    <p:extLst>
      <p:ext uri="{BB962C8B-B14F-4D97-AF65-F5344CB8AC3E}">
        <p14:creationId xmlns:p14="http://schemas.microsoft.com/office/powerpoint/2010/main" val="36143468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idx="4294967295"/>
          </p:nvPr>
        </p:nvSpPr>
        <p:spPr>
          <a:xfrm>
            <a:off x="1038202" y="404664"/>
            <a:ext cx="6944816" cy="837009"/>
          </a:xfrm>
        </p:spPr>
        <p:txBody>
          <a:bodyPr/>
          <a:lstStyle/>
          <a:p>
            <a:r>
              <a:rPr lang="en-US" dirty="0"/>
              <a:t>Instruction Cycle State Diagram</a:t>
            </a:r>
          </a:p>
        </p:txBody>
      </p:sp>
      <p:pic>
        <p:nvPicPr>
          <p:cNvPr id="4" name="Picture 3" descr="f5.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2727" t="17647" r="4545" b="9412"/>
              <a:stretch>
                <a:fillRect/>
              </a:stretch>
            </p:blipFill>
          </mc:Choice>
          <mc:Fallback>
            <p:blipFill>
              <a:blip r:embed="rId4"/>
              <a:srcRect l="2727" t="17647" r="4545" b="9412"/>
              <a:stretch>
                <a:fillRect/>
              </a:stretch>
            </p:blipFill>
          </mc:Fallback>
        </mc:AlternateContent>
        <p:spPr>
          <a:xfrm>
            <a:off x="755576" y="1241672"/>
            <a:ext cx="8337132" cy="5067647"/>
          </a:xfrm>
          <a:prstGeom prst="rect">
            <a:avLst/>
          </a:prstGeom>
        </p:spPr>
      </p:pic>
    </p:spTree>
    <p:extLst>
      <p:ext uri="{BB962C8B-B14F-4D97-AF65-F5344CB8AC3E}">
        <p14:creationId xmlns:p14="http://schemas.microsoft.com/office/powerpoint/2010/main" val="32932328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idx="4294967295"/>
          </p:nvPr>
        </p:nvSpPr>
        <p:spPr>
          <a:xfrm>
            <a:off x="1763688" y="260648"/>
            <a:ext cx="5667375" cy="837010"/>
          </a:xfrm>
        </p:spPr>
        <p:txBody>
          <a:bodyPr/>
          <a:lstStyle/>
          <a:p>
            <a:pPr algn="ctr"/>
            <a:r>
              <a:rPr lang="en-US" dirty="0" smtClean="0"/>
              <a:t>Data Flow, Fetch Cycle</a:t>
            </a:r>
            <a:endParaRPr lang="en-US" dirty="0"/>
          </a:p>
        </p:txBody>
      </p:sp>
      <p:pic>
        <p:nvPicPr>
          <p:cNvPr id="5" name="Picture 4" descr="f6.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t="20909" b="14545"/>
              <a:stretch>
                <a:fillRect/>
              </a:stretch>
            </p:blipFill>
          </mc:Choice>
          <mc:Fallback>
            <p:blipFill>
              <a:blip r:embed="rId4"/>
              <a:srcRect t="20909" b="14545"/>
              <a:stretch>
                <a:fillRect/>
              </a:stretch>
            </p:blipFill>
          </mc:Fallback>
        </mc:AlternateContent>
        <p:spPr>
          <a:xfrm>
            <a:off x="996975" y="833075"/>
            <a:ext cx="7200800" cy="6014740"/>
          </a:xfrm>
          <a:prstGeom prst="rect">
            <a:avLst/>
          </a:prstGeom>
        </p:spPr>
      </p:pic>
    </p:spTree>
    <p:extLst>
      <p:ext uri="{BB962C8B-B14F-4D97-AF65-F5344CB8AC3E}">
        <p14:creationId xmlns:p14="http://schemas.microsoft.com/office/powerpoint/2010/main" val="2527651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idx="4294967295"/>
          </p:nvPr>
        </p:nvSpPr>
        <p:spPr>
          <a:xfrm>
            <a:off x="1835696" y="260648"/>
            <a:ext cx="5667375" cy="837009"/>
          </a:xfrm>
        </p:spPr>
        <p:txBody>
          <a:bodyPr/>
          <a:lstStyle/>
          <a:p>
            <a:r>
              <a:rPr lang="en-US" dirty="0"/>
              <a:t>Data </a:t>
            </a:r>
            <a:r>
              <a:rPr lang="en-US" dirty="0" smtClean="0"/>
              <a:t>Flow, Indirect Cycle</a:t>
            </a:r>
            <a:endParaRPr lang="en-US" dirty="0"/>
          </a:p>
        </p:txBody>
      </p:sp>
      <p:pic>
        <p:nvPicPr>
          <p:cNvPr id="4" name="Picture 3" descr="f7.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t="21818" b="22727"/>
              <a:stretch>
                <a:fillRect/>
              </a:stretch>
            </p:blipFill>
          </mc:Choice>
          <mc:Fallback>
            <p:blipFill>
              <a:blip r:embed="rId4"/>
              <a:srcRect t="21818" b="22727"/>
              <a:stretch>
                <a:fillRect/>
              </a:stretch>
            </p:blipFill>
          </mc:Fallback>
        </mc:AlternateContent>
        <p:spPr>
          <a:xfrm>
            <a:off x="856431" y="908720"/>
            <a:ext cx="7625904" cy="5472608"/>
          </a:xfrm>
          <a:prstGeom prst="rect">
            <a:avLst/>
          </a:prstGeom>
        </p:spPr>
      </p:pic>
    </p:spTree>
    <p:extLst>
      <p:ext uri="{BB962C8B-B14F-4D97-AF65-F5344CB8AC3E}">
        <p14:creationId xmlns:p14="http://schemas.microsoft.com/office/powerpoint/2010/main" val="4487481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idx="4294967295"/>
          </p:nvPr>
        </p:nvSpPr>
        <p:spPr>
          <a:xfrm>
            <a:off x="1714500" y="332656"/>
            <a:ext cx="5667375" cy="837009"/>
          </a:xfrm>
        </p:spPr>
        <p:txBody>
          <a:bodyPr/>
          <a:lstStyle/>
          <a:p>
            <a:pPr algn="ctr"/>
            <a:r>
              <a:rPr lang="en-US" dirty="0" smtClean="0"/>
              <a:t>Data Flow, Interrupt Cycle</a:t>
            </a:r>
            <a:endParaRPr lang="en-US" dirty="0"/>
          </a:p>
        </p:txBody>
      </p:sp>
      <p:pic>
        <p:nvPicPr>
          <p:cNvPr id="4" name="Picture 3" descr="f8.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t="21818" b="18182"/>
              <a:stretch>
                <a:fillRect/>
              </a:stretch>
            </p:blipFill>
          </mc:Choice>
          <mc:Fallback>
            <p:blipFill>
              <a:blip r:embed="rId4"/>
              <a:srcRect t="21818" b="18182"/>
              <a:stretch>
                <a:fillRect/>
              </a:stretch>
            </p:blipFill>
          </mc:Fallback>
        </mc:AlternateContent>
        <p:spPr>
          <a:xfrm>
            <a:off x="1043608" y="908720"/>
            <a:ext cx="7488832" cy="5814874"/>
          </a:xfrm>
          <a:prstGeom prst="rect">
            <a:avLst/>
          </a:prstGeom>
        </p:spPr>
      </p:pic>
    </p:spTree>
    <p:extLst>
      <p:ext uri="{BB962C8B-B14F-4D97-AF65-F5344CB8AC3E}">
        <p14:creationId xmlns:p14="http://schemas.microsoft.com/office/powerpoint/2010/main" val="35946623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Instruction Pipelining </a:t>
            </a:r>
            <a:endParaRPr lang="en-US" b="1" dirty="0"/>
          </a:p>
        </p:txBody>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638606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8469" y="188640"/>
            <a:ext cx="7556313" cy="1116106"/>
          </a:xfrm>
        </p:spPr>
        <p:txBody>
          <a:bodyPr/>
          <a:lstStyle/>
          <a:p>
            <a:pPr algn="ctr"/>
            <a:r>
              <a:rPr lang="en-US" dirty="0"/>
              <a:t>Pipelining Strategy</a:t>
            </a:r>
          </a:p>
        </p:txBody>
      </p:sp>
      <p:sp>
        <p:nvSpPr>
          <p:cNvPr id="3" name="Content Placeholder 2"/>
          <p:cNvSpPr>
            <a:spLocks noGrp="1"/>
          </p:cNvSpPr>
          <p:nvPr>
            <p:ph idx="1"/>
          </p:nvPr>
        </p:nvSpPr>
        <p:spPr>
          <a:xfrm>
            <a:off x="388194" y="1052736"/>
            <a:ext cx="7776865" cy="6624736"/>
          </a:xfrm>
        </p:spPr>
        <p:txBody>
          <a:bodyPr>
            <a:normAutofit/>
          </a:bodyPr>
          <a:lstStyle/>
          <a:p>
            <a:pPr lvl="0"/>
            <a:r>
              <a:rPr lang="en-US" dirty="0">
                <a:solidFill>
                  <a:schemeClr val="tx1"/>
                </a:solidFill>
              </a:rPr>
              <a:t>Similar to the use of an assembly line in a manufacturing </a:t>
            </a:r>
            <a:r>
              <a:rPr lang="en-US" dirty="0" smtClean="0">
                <a:solidFill>
                  <a:schemeClr val="tx1"/>
                </a:solidFill>
              </a:rPr>
              <a:t>plant.</a:t>
            </a:r>
            <a:endParaRPr lang="en-US" dirty="0">
              <a:solidFill>
                <a:schemeClr val="tx1"/>
              </a:solidFill>
            </a:endParaRPr>
          </a:p>
          <a:p>
            <a:pPr lvl="1"/>
            <a:r>
              <a:rPr lang="en-US" dirty="0">
                <a:solidFill>
                  <a:schemeClr val="tx1"/>
                </a:solidFill>
              </a:rPr>
              <a:t>New inputs are accepted at one end before previously accepted inputs appear as outputs at the other </a:t>
            </a:r>
            <a:r>
              <a:rPr lang="en-US" dirty="0" smtClean="0">
                <a:solidFill>
                  <a:schemeClr val="tx1"/>
                </a:solidFill>
              </a:rPr>
              <a:t>end.</a:t>
            </a:r>
          </a:p>
          <a:p>
            <a:pPr lvl="1"/>
            <a:r>
              <a:rPr lang="en-US" dirty="0">
                <a:solidFill>
                  <a:schemeClr val="tx1"/>
                </a:solidFill>
              </a:rPr>
              <a:t>To apply this concept to instruction execution we must recognize that an instruction has a number of stages</a:t>
            </a:r>
            <a:r>
              <a:rPr lang="en-US" dirty="0" smtClean="0">
                <a:solidFill>
                  <a:schemeClr val="tx1"/>
                </a:solidFill>
              </a:rPr>
              <a:t>.</a:t>
            </a:r>
            <a:endParaRPr lang="en-US" dirty="0">
              <a:solidFill>
                <a:schemeClr val="tx1"/>
              </a:solidFill>
            </a:endParaRPr>
          </a:p>
          <a:p>
            <a:pPr algn="just"/>
            <a:r>
              <a:rPr lang="en-IN" dirty="0" smtClean="0">
                <a:solidFill>
                  <a:schemeClr val="tx1"/>
                </a:solidFill>
              </a:rPr>
              <a:t>Instruction </a:t>
            </a:r>
            <a:r>
              <a:rPr lang="en-IN" dirty="0">
                <a:solidFill>
                  <a:schemeClr val="tx1"/>
                </a:solidFill>
              </a:rPr>
              <a:t>pipelining is a technique used in the design of modern </a:t>
            </a:r>
            <a:r>
              <a:rPr lang="en-IN" dirty="0" smtClean="0">
                <a:solidFill>
                  <a:schemeClr val="tx1"/>
                </a:solidFill>
              </a:rPr>
              <a:t>CPUs </a:t>
            </a:r>
            <a:r>
              <a:rPr lang="en-IN" dirty="0">
                <a:solidFill>
                  <a:schemeClr val="tx1"/>
                </a:solidFill>
              </a:rPr>
              <a:t>to increase their instruction </a:t>
            </a:r>
            <a:r>
              <a:rPr lang="en-IN" dirty="0" smtClean="0">
                <a:solidFill>
                  <a:schemeClr val="tx1"/>
                </a:solidFill>
              </a:rPr>
              <a:t>throughput: </a:t>
            </a:r>
          </a:p>
          <a:p>
            <a:pPr lvl="1" algn="just"/>
            <a:r>
              <a:rPr lang="en-IN" dirty="0" smtClean="0">
                <a:solidFill>
                  <a:schemeClr val="tx1"/>
                </a:solidFill>
              </a:rPr>
              <a:t>involves </a:t>
            </a:r>
            <a:r>
              <a:rPr lang="en-IN" dirty="0">
                <a:solidFill>
                  <a:schemeClr val="tx1"/>
                </a:solidFill>
              </a:rPr>
              <a:t>number of steps, where each step completes a part of an instruction. Each step is called a pipeline stage.</a:t>
            </a:r>
          </a:p>
          <a:p>
            <a:pPr lvl="1" algn="just"/>
            <a:r>
              <a:rPr lang="en-IN" dirty="0" smtClean="0">
                <a:solidFill>
                  <a:schemeClr val="tx1"/>
                </a:solidFill>
              </a:rPr>
              <a:t>increases </a:t>
            </a:r>
            <a:r>
              <a:rPr lang="en-IN" dirty="0">
                <a:solidFill>
                  <a:schemeClr val="tx1"/>
                </a:solidFill>
              </a:rPr>
              <a:t>the CPU instruction throughput - no. of instructions completed per cycle (unit of time</a:t>
            </a:r>
            <a:r>
              <a:rPr lang="en-IN" dirty="0" smtClean="0">
                <a:solidFill>
                  <a:schemeClr val="tx1"/>
                </a:solidFill>
              </a:rPr>
              <a:t>).</a:t>
            </a:r>
            <a:endParaRPr lang="en-IN" dirty="0">
              <a:solidFill>
                <a:schemeClr val="tx1"/>
              </a:solidFill>
            </a:endParaRPr>
          </a:p>
        </p:txBody>
      </p:sp>
    </p:spTree>
    <p:extLst>
      <p:ext uri="{BB962C8B-B14F-4D97-AF65-F5344CB8AC3E}">
        <p14:creationId xmlns:p14="http://schemas.microsoft.com/office/powerpoint/2010/main" val="356299866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idx="4294967295"/>
          </p:nvPr>
        </p:nvSpPr>
        <p:spPr>
          <a:xfrm>
            <a:off x="971600" y="116632"/>
            <a:ext cx="7272808" cy="837009"/>
          </a:xfrm>
        </p:spPr>
        <p:txBody>
          <a:bodyPr/>
          <a:lstStyle/>
          <a:p>
            <a:pPr algn="ctr"/>
            <a:r>
              <a:rPr lang="en-GB" dirty="0" smtClean="0"/>
              <a:t>Two-Stage </a:t>
            </a:r>
            <a:r>
              <a:rPr lang="en-GB" dirty="0"/>
              <a:t>Instruction Pipeline</a:t>
            </a:r>
          </a:p>
        </p:txBody>
      </p:sp>
      <p:pic>
        <p:nvPicPr>
          <p:cNvPr id="4" name="Picture 3" descr="f9.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10909" t="17647" r="20000" b="16471"/>
              <a:stretch>
                <a:fillRect/>
              </a:stretch>
            </p:blipFill>
          </mc:Choice>
          <mc:Fallback>
            <p:blipFill>
              <a:blip r:embed="rId4"/>
              <a:srcRect l="10909" t="17647" r="20000" b="16471"/>
              <a:stretch>
                <a:fillRect/>
              </a:stretch>
            </p:blipFill>
          </mc:Fallback>
        </mc:AlternateContent>
        <p:spPr>
          <a:xfrm>
            <a:off x="971600" y="836712"/>
            <a:ext cx="7488832" cy="5518006"/>
          </a:xfrm>
          <a:prstGeom prst="rect">
            <a:avLst/>
          </a:prstGeom>
        </p:spPr>
      </p:pic>
    </p:spTree>
    <p:extLst>
      <p:ext uri="{BB962C8B-B14F-4D97-AF65-F5344CB8AC3E}">
        <p14:creationId xmlns:p14="http://schemas.microsoft.com/office/powerpoint/2010/main" val="38835520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245" y="116632"/>
            <a:ext cx="7556313" cy="1116106"/>
          </a:xfrm>
        </p:spPr>
        <p:txBody>
          <a:bodyPr/>
          <a:lstStyle/>
          <a:p>
            <a:pPr algn="ctr"/>
            <a:r>
              <a:rPr lang="en-US" dirty="0" smtClean="0"/>
              <a:t>Pipeline Stages</a:t>
            </a:r>
            <a:endParaRPr lang="en-US" dirty="0"/>
          </a:p>
        </p:txBody>
      </p:sp>
      <p:sp>
        <p:nvSpPr>
          <p:cNvPr id="3" name="Content Placeholder 2"/>
          <p:cNvSpPr>
            <a:spLocks noGrp="1"/>
          </p:cNvSpPr>
          <p:nvPr>
            <p:ph idx="1"/>
          </p:nvPr>
        </p:nvSpPr>
        <p:spPr>
          <a:xfrm>
            <a:off x="467544" y="836712"/>
            <a:ext cx="8352928" cy="5904656"/>
          </a:xfrm>
        </p:spPr>
        <p:txBody>
          <a:bodyPr>
            <a:normAutofit/>
          </a:bodyPr>
          <a:lstStyle/>
          <a:p>
            <a:r>
              <a:rPr lang="en-US" dirty="0">
                <a:solidFill>
                  <a:schemeClr val="tx1"/>
                </a:solidFill>
              </a:rPr>
              <a:t>Fetch instruction (</a:t>
            </a:r>
            <a:r>
              <a:rPr lang="en-US" dirty="0" smtClean="0">
                <a:solidFill>
                  <a:schemeClr val="tx1"/>
                </a:solidFill>
              </a:rPr>
              <a:t>FI)</a:t>
            </a:r>
          </a:p>
          <a:p>
            <a:r>
              <a:rPr lang="en-US" dirty="0" smtClean="0">
                <a:solidFill>
                  <a:schemeClr val="tx1"/>
                </a:solidFill>
              </a:rPr>
              <a:t>Decode </a:t>
            </a:r>
            <a:r>
              <a:rPr lang="en-US" dirty="0">
                <a:solidFill>
                  <a:schemeClr val="tx1"/>
                </a:solidFill>
              </a:rPr>
              <a:t>instruction (DI</a:t>
            </a:r>
            <a:r>
              <a:rPr lang="en-US" dirty="0" smtClean="0">
                <a:solidFill>
                  <a:schemeClr val="tx1"/>
                </a:solidFill>
              </a:rPr>
              <a:t>)</a:t>
            </a:r>
            <a:endParaRPr lang="en-US" dirty="0">
              <a:solidFill>
                <a:schemeClr val="tx1"/>
              </a:solidFill>
            </a:endParaRPr>
          </a:p>
          <a:p>
            <a:r>
              <a:rPr lang="en-US" dirty="0">
                <a:solidFill>
                  <a:schemeClr val="tx1"/>
                </a:solidFill>
              </a:rPr>
              <a:t>Calculate operands (CO</a:t>
            </a:r>
            <a:r>
              <a:rPr lang="en-US" dirty="0" smtClean="0">
                <a:solidFill>
                  <a:schemeClr val="tx1"/>
                </a:solidFill>
              </a:rPr>
              <a:t>)</a:t>
            </a:r>
          </a:p>
          <a:p>
            <a:r>
              <a:rPr lang="en-US" dirty="0">
                <a:solidFill>
                  <a:schemeClr val="tx1"/>
                </a:solidFill>
              </a:rPr>
              <a:t>Fetch operands (FO</a:t>
            </a:r>
            <a:r>
              <a:rPr lang="en-US" dirty="0" smtClean="0">
                <a:solidFill>
                  <a:schemeClr val="tx1"/>
                </a:solidFill>
              </a:rPr>
              <a:t>)</a:t>
            </a:r>
            <a:endParaRPr lang="en-US" dirty="0">
              <a:solidFill>
                <a:schemeClr val="tx1"/>
              </a:solidFill>
            </a:endParaRPr>
          </a:p>
          <a:p>
            <a:r>
              <a:rPr lang="en-US" dirty="0">
                <a:solidFill>
                  <a:schemeClr val="tx1"/>
                </a:solidFill>
              </a:rPr>
              <a:t>Execute instruction (EI)</a:t>
            </a:r>
          </a:p>
          <a:p>
            <a:r>
              <a:rPr lang="en-US" dirty="0" smtClean="0">
                <a:solidFill>
                  <a:schemeClr val="tx1"/>
                </a:solidFill>
              </a:rPr>
              <a:t>Write </a:t>
            </a:r>
            <a:r>
              <a:rPr lang="en-US" dirty="0">
                <a:solidFill>
                  <a:schemeClr val="tx1"/>
                </a:solidFill>
              </a:rPr>
              <a:t>operand (WO)</a:t>
            </a:r>
          </a:p>
          <a:p>
            <a:pPr marL="228600" lvl="1" indent="0">
              <a:buNone/>
            </a:pPr>
            <a:endParaRPr lang="en-US" dirty="0"/>
          </a:p>
          <a:p>
            <a:endParaRPr lang="en-US" dirty="0"/>
          </a:p>
        </p:txBody>
      </p:sp>
    </p:spTree>
    <p:extLst>
      <p:ext uri="{BB962C8B-B14F-4D97-AF65-F5344CB8AC3E}">
        <p14:creationId xmlns:p14="http://schemas.microsoft.com/office/powerpoint/2010/main" val="187730481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ChangeArrowheads="1"/>
          </p:cNvSpPr>
          <p:nvPr/>
        </p:nvSpPr>
        <p:spPr bwMode="auto">
          <a:xfrm>
            <a:off x="1466850" y="5529263"/>
            <a:ext cx="1428750" cy="342900"/>
          </a:xfrm>
          <a:prstGeom prst="rect">
            <a:avLst/>
          </a:prstGeom>
          <a:noFill/>
          <a:ln w="12700">
            <a:noFill/>
            <a:miter lim="800000"/>
            <a:headEnd/>
            <a:tailEnd/>
          </a:ln>
          <a:effectLst/>
        </p:spPr>
        <p:txBody>
          <a:bodyPr wrap="none" anchor="ctr">
            <a:prstTxWarp prst="textNoShape">
              <a:avLst/>
            </a:prstTxWarp>
          </a:bodyPr>
          <a:lstStyle/>
          <a:p>
            <a:pPr eaLnBrk="0" fontAlgn="base" hangingPunct="0">
              <a:spcBef>
                <a:spcPct val="0"/>
              </a:spcBef>
              <a:spcAft>
                <a:spcPct val="0"/>
              </a:spcAft>
            </a:pPr>
            <a:endParaRPr lang="en-US" sz="1800" dirty="0">
              <a:solidFill>
                <a:prstClr val="black"/>
              </a:solidFill>
            </a:endParaRPr>
          </a:p>
        </p:txBody>
      </p:sp>
      <p:sp>
        <p:nvSpPr>
          <p:cNvPr id="81923" name="Rectangle 3"/>
          <p:cNvSpPr>
            <a:spLocks noChangeArrowheads="1"/>
          </p:cNvSpPr>
          <p:nvPr/>
        </p:nvSpPr>
        <p:spPr bwMode="auto">
          <a:xfrm>
            <a:off x="3486150" y="5529263"/>
            <a:ext cx="2171700" cy="342900"/>
          </a:xfrm>
          <a:prstGeom prst="rect">
            <a:avLst/>
          </a:prstGeom>
          <a:noFill/>
          <a:ln w="12700">
            <a:noFill/>
            <a:miter lim="800000"/>
            <a:headEnd/>
            <a:tailEnd/>
          </a:ln>
          <a:effectLst/>
        </p:spPr>
        <p:txBody>
          <a:bodyPr wrap="none" anchor="ctr">
            <a:prstTxWarp prst="textNoShape">
              <a:avLst/>
            </a:prstTxWarp>
          </a:bodyPr>
          <a:lstStyle/>
          <a:p>
            <a:pPr eaLnBrk="0" fontAlgn="base" hangingPunct="0">
              <a:spcBef>
                <a:spcPct val="0"/>
              </a:spcBef>
              <a:spcAft>
                <a:spcPct val="0"/>
              </a:spcAft>
            </a:pPr>
            <a:endParaRPr lang="en-US" sz="1800" dirty="0">
              <a:solidFill>
                <a:prstClr val="black"/>
              </a:solidFill>
            </a:endParaRPr>
          </a:p>
        </p:txBody>
      </p:sp>
      <p:sp>
        <p:nvSpPr>
          <p:cNvPr id="81929" name="Rectangle 9"/>
          <p:cNvSpPr>
            <a:spLocks noGrp="1" noChangeArrowheads="1"/>
          </p:cNvSpPr>
          <p:nvPr>
            <p:ph type="title" idx="4294967295"/>
          </p:nvPr>
        </p:nvSpPr>
        <p:spPr>
          <a:xfrm>
            <a:off x="898426" y="332656"/>
            <a:ext cx="7347148" cy="837009"/>
          </a:xfrm>
        </p:spPr>
        <p:txBody>
          <a:bodyPr/>
          <a:lstStyle/>
          <a:p>
            <a:pPr algn="ctr"/>
            <a:r>
              <a:rPr lang="en-US" dirty="0"/>
              <a:t>Timing Diagram for Instruction Pipeline Operation</a:t>
            </a:r>
          </a:p>
        </p:txBody>
      </p:sp>
      <p:pic>
        <p:nvPicPr>
          <p:cNvPr id="6" name="Picture 5" descr="f10.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10000" t="3529" r="6364" b="14118"/>
              <a:stretch>
                <a:fillRect/>
              </a:stretch>
            </p:blipFill>
          </mc:Choice>
          <mc:Fallback>
            <p:blipFill>
              <a:blip r:embed="rId4"/>
              <a:srcRect l="10000" t="3529" r="6364" b="14118"/>
              <a:stretch>
                <a:fillRect/>
              </a:stretch>
            </p:blipFill>
          </mc:Fallback>
        </mc:AlternateContent>
        <p:spPr>
          <a:xfrm>
            <a:off x="1044774" y="1379156"/>
            <a:ext cx="7200800" cy="5478844"/>
          </a:xfrm>
          <a:prstGeom prst="rect">
            <a:avLst/>
          </a:prstGeom>
        </p:spPr>
      </p:pic>
    </p:spTree>
    <p:extLst>
      <p:ext uri="{BB962C8B-B14F-4D97-AF65-F5344CB8AC3E}">
        <p14:creationId xmlns:p14="http://schemas.microsoft.com/office/powerpoint/2010/main" val="6437308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Six Stage </a:t>
            </a:r>
            <a:br>
              <a:rPr lang="en-GB" dirty="0">
                <a:effectLst>
                  <a:outerShdw blurRad="38100" dist="38100" dir="2700000" algn="tl">
                    <a:srgbClr val="000000">
                      <a:alpha val="43137"/>
                    </a:srgbClr>
                  </a:outerShdw>
                </a:effectLst>
              </a:rPr>
            </a:br>
            <a:r>
              <a:rPr lang="en-GB" dirty="0">
                <a:effectLst>
                  <a:outerShdw blurRad="38100" dist="38100" dir="2700000" algn="tl">
                    <a:srgbClr val="000000">
                      <a:alpha val="43137"/>
                    </a:srgbClr>
                  </a:outerShdw>
                </a:effectLst>
              </a:rPr>
              <a:t>Instruction Pipeline</a:t>
            </a:r>
          </a:p>
        </p:txBody>
      </p:sp>
      <p:pic>
        <p:nvPicPr>
          <p:cNvPr id="4" name="Picture 3" descr="f12.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tretch>
                <a:fillRect/>
              </a:stretch>
            </p:blipFill>
          </mc:Choice>
          <mc:Fallback>
            <p:blipFill>
              <a:blip r:embed="rId4"/>
              <a:stretch>
                <a:fillRect/>
              </a:stretch>
            </p:blipFill>
          </mc:Fallback>
        </mc:AlternateContent>
        <p:spPr>
          <a:xfrm>
            <a:off x="4026477" y="857250"/>
            <a:ext cx="3974523" cy="5143500"/>
          </a:xfrm>
          <a:prstGeom prst="rect">
            <a:avLst/>
          </a:prstGeom>
        </p:spPr>
      </p:pic>
    </p:spTree>
    <p:extLst>
      <p:ext uri="{BB962C8B-B14F-4D97-AF65-F5344CB8AC3E}">
        <p14:creationId xmlns:p14="http://schemas.microsoft.com/office/powerpoint/2010/main" val="40639326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ChangeArrowheads="1"/>
          </p:cNvSpPr>
          <p:nvPr/>
        </p:nvSpPr>
        <p:spPr bwMode="auto">
          <a:xfrm>
            <a:off x="1466850" y="5529263"/>
            <a:ext cx="1428750" cy="342900"/>
          </a:xfrm>
          <a:prstGeom prst="rect">
            <a:avLst/>
          </a:prstGeom>
          <a:noFill/>
          <a:ln w="12700">
            <a:noFill/>
            <a:miter lim="800000"/>
            <a:headEnd/>
            <a:tailEnd/>
          </a:ln>
          <a:effectLst/>
        </p:spPr>
        <p:txBody>
          <a:bodyPr wrap="none" anchor="ctr">
            <a:prstTxWarp prst="textNoShape">
              <a:avLst/>
            </a:prstTxWarp>
          </a:bodyPr>
          <a:lstStyle/>
          <a:p>
            <a:pPr eaLnBrk="0" fontAlgn="base" hangingPunct="0">
              <a:spcBef>
                <a:spcPct val="0"/>
              </a:spcBef>
              <a:spcAft>
                <a:spcPct val="0"/>
              </a:spcAft>
            </a:pPr>
            <a:endParaRPr lang="en-US" sz="1800" dirty="0">
              <a:solidFill>
                <a:prstClr val="black"/>
              </a:solidFill>
            </a:endParaRPr>
          </a:p>
        </p:txBody>
      </p:sp>
      <p:sp>
        <p:nvSpPr>
          <p:cNvPr id="83971" name="Rectangle 3"/>
          <p:cNvSpPr>
            <a:spLocks noChangeArrowheads="1"/>
          </p:cNvSpPr>
          <p:nvPr/>
        </p:nvSpPr>
        <p:spPr bwMode="auto">
          <a:xfrm>
            <a:off x="3486150" y="5529263"/>
            <a:ext cx="2171700" cy="342900"/>
          </a:xfrm>
          <a:prstGeom prst="rect">
            <a:avLst/>
          </a:prstGeom>
          <a:noFill/>
          <a:ln w="12700">
            <a:noFill/>
            <a:miter lim="800000"/>
            <a:headEnd/>
            <a:tailEnd/>
          </a:ln>
          <a:effectLst/>
        </p:spPr>
        <p:txBody>
          <a:bodyPr wrap="none" anchor="ctr">
            <a:prstTxWarp prst="textNoShape">
              <a:avLst/>
            </a:prstTxWarp>
          </a:bodyPr>
          <a:lstStyle/>
          <a:p>
            <a:pPr eaLnBrk="0" fontAlgn="base" hangingPunct="0">
              <a:spcBef>
                <a:spcPct val="0"/>
              </a:spcBef>
              <a:spcAft>
                <a:spcPct val="0"/>
              </a:spcAft>
            </a:pPr>
            <a:endParaRPr lang="en-US" sz="1800" dirty="0">
              <a:solidFill>
                <a:prstClr val="black"/>
              </a:solidFill>
            </a:endParaRPr>
          </a:p>
        </p:txBody>
      </p:sp>
      <p:sp>
        <p:nvSpPr>
          <p:cNvPr id="83972" name="Rectangle 4"/>
          <p:cNvSpPr>
            <a:spLocks noGrp="1" noChangeArrowheads="1"/>
          </p:cNvSpPr>
          <p:nvPr>
            <p:ph type="title" idx="4294967295"/>
          </p:nvPr>
        </p:nvSpPr>
        <p:spPr>
          <a:xfrm>
            <a:off x="539552" y="25910"/>
            <a:ext cx="7704856" cy="837009"/>
          </a:xfrm>
          <a:noFill/>
          <a:ln/>
        </p:spPr>
        <p:txBody>
          <a:bodyPr vert="horz" lIns="67866" tIns="33338" rIns="67866" bIns="33338" rtlCol="0" anchor="t" anchorCtr="0">
            <a:noAutofit/>
          </a:bodyPr>
          <a:lstStyle/>
          <a:p>
            <a:pPr algn="ctr"/>
            <a:r>
              <a:rPr lang="en-US" dirty="0" smtClean="0"/>
              <a:t>Effect </a:t>
            </a:r>
            <a:r>
              <a:rPr lang="en-US" dirty="0"/>
              <a:t>of </a:t>
            </a:r>
            <a:r>
              <a:rPr lang="en-US" dirty="0" smtClean="0"/>
              <a:t>Conditional </a:t>
            </a:r>
            <a:r>
              <a:rPr lang="en-US" dirty="0"/>
              <a:t>Branch on Instruction Pipeline Operation</a:t>
            </a:r>
          </a:p>
        </p:txBody>
      </p:sp>
      <p:pic>
        <p:nvPicPr>
          <p:cNvPr id="6" name="Picture 5" descr="f11.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8182" t="2353" r="3636" b="17647"/>
              <a:stretch>
                <a:fillRect/>
              </a:stretch>
            </p:blipFill>
          </mc:Choice>
          <mc:Fallback>
            <p:blipFill>
              <a:blip r:embed="rId4"/>
              <a:srcRect l="8182" t="2353" r="3636" b="17647"/>
              <a:stretch>
                <a:fillRect/>
              </a:stretch>
            </p:blipFill>
          </mc:Fallback>
        </mc:AlternateContent>
        <p:spPr>
          <a:xfrm>
            <a:off x="539552" y="1052736"/>
            <a:ext cx="8064896" cy="5653705"/>
          </a:xfrm>
          <a:prstGeom prst="rect">
            <a:avLst/>
          </a:prstGeom>
        </p:spPr>
      </p:pic>
    </p:spTree>
    <p:extLst>
      <p:ext uri="{BB962C8B-B14F-4D97-AF65-F5344CB8AC3E}">
        <p14:creationId xmlns:p14="http://schemas.microsoft.com/office/powerpoint/2010/main" val="23057858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0845" y="260648"/>
            <a:ext cx="7556313" cy="1116106"/>
          </a:xfrm>
        </p:spPr>
        <p:txBody>
          <a:bodyPr/>
          <a:lstStyle/>
          <a:p>
            <a:pPr algn="ctr"/>
            <a:r>
              <a:rPr lang="en-GB" dirty="0"/>
              <a:t>Pipeline Hazards</a:t>
            </a:r>
            <a:endParaRPr lang="en-US" dirty="0"/>
          </a:p>
        </p:txBody>
      </p:sp>
      <p:sp>
        <p:nvSpPr>
          <p:cNvPr id="3" name="Content Placeholder 2"/>
          <p:cNvSpPr>
            <a:spLocks noGrp="1"/>
          </p:cNvSpPr>
          <p:nvPr>
            <p:ph idx="1"/>
          </p:nvPr>
        </p:nvSpPr>
        <p:spPr>
          <a:xfrm>
            <a:off x="526293" y="1268760"/>
            <a:ext cx="7556313" cy="5328592"/>
          </a:xfrm>
        </p:spPr>
        <p:txBody>
          <a:bodyPr/>
          <a:lstStyle/>
          <a:p>
            <a:pPr lvl="0"/>
            <a:r>
              <a:rPr lang="en-US" dirty="0">
                <a:solidFill>
                  <a:schemeClr val="tx1"/>
                </a:solidFill>
              </a:rPr>
              <a:t>Occur when the pipeline, or some portion of the pipeline, must stall because conditions do not permit continued </a:t>
            </a:r>
            <a:r>
              <a:rPr lang="en-US" dirty="0" smtClean="0">
                <a:solidFill>
                  <a:schemeClr val="tx1"/>
                </a:solidFill>
              </a:rPr>
              <a:t>execution.</a:t>
            </a:r>
            <a:endParaRPr lang="en-US" dirty="0">
              <a:solidFill>
                <a:schemeClr val="tx1"/>
              </a:solidFill>
            </a:endParaRPr>
          </a:p>
          <a:p>
            <a:pPr lvl="0"/>
            <a:r>
              <a:rPr lang="en-GB" dirty="0">
                <a:solidFill>
                  <a:schemeClr val="tx1"/>
                </a:solidFill>
              </a:rPr>
              <a:t>Also referred to as a </a:t>
            </a:r>
            <a:r>
              <a:rPr lang="en-GB" i="1" dirty="0">
                <a:solidFill>
                  <a:schemeClr val="tx1"/>
                </a:solidFill>
              </a:rPr>
              <a:t>pipeline </a:t>
            </a:r>
            <a:r>
              <a:rPr lang="en-GB" i="1" dirty="0" smtClean="0">
                <a:solidFill>
                  <a:schemeClr val="tx1"/>
                </a:solidFill>
              </a:rPr>
              <a:t>bubble.</a:t>
            </a:r>
            <a:endParaRPr lang="en-GB" i="1" dirty="0">
              <a:solidFill>
                <a:schemeClr val="tx1"/>
              </a:solidFill>
            </a:endParaRPr>
          </a:p>
          <a:p>
            <a:pPr lvl="0"/>
            <a:r>
              <a:rPr lang="en-US" dirty="0">
                <a:solidFill>
                  <a:schemeClr val="tx1"/>
                </a:solidFill>
              </a:rPr>
              <a:t>There are three types of hazards:</a:t>
            </a:r>
          </a:p>
          <a:p>
            <a:pPr lvl="1"/>
            <a:r>
              <a:rPr lang="en-US" dirty="0">
                <a:solidFill>
                  <a:schemeClr val="tx1"/>
                </a:solidFill>
              </a:rPr>
              <a:t>Resource</a:t>
            </a:r>
          </a:p>
          <a:p>
            <a:pPr lvl="1"/>
            <a:r>
              <a:rPr lang="en-US" dirty="0">
                <a:solidFill>
                  <a:schemeClr val="tx1"/>
                </a:solidFill>
              </a:rPr>
              <a:t>Data</a:t>
            </a:r>
          </a:p>
          <a:p>
            <a:pPr lvl="1"/>
            <a:r>
              <a:rPr lang="en-US" dirty="0">
                <a:solidFill>
                  <a:schemeClr val="tx1"/>
                </a:solidFill>
              </a:rPr>
              <a:t>Control</a:t>
            </a:r>
          </a:p>
        </p:txBody>
      </p:sp>
    </p:spTree>
    <p:extLst>
      <p:ext uri="{BB962C8B-B14F-4D97-AF65-F5344CB8AC3E}">
        <p14:creationId xmlns:p14="http://schemas.microsoft.com/office/powerpoint/2010/main" val="122181106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4636" y="116632"/>
            <a:ext cx="7556313" cy="1116106"/>
          </a:xfrm>
        </p:spPr>
        <p:txBody>
          <a:bodyPr/>
          <a:lstStyle/>
          <a:p>
            <a:pPr algn="ctr"/>
            <a:r>
              <a:rPr lang="en-US" dirty="0" smtClean="0"/>
              <a:t>Resource Hazards</a:t>
            </a:r>
            <a:endParaRPr lang="en-US" dirty="0"/>
          </a:p>
        </p:txBody>
      </p:sp>
      <p:sp>
        <p:nvSpPr>
          <p:cNvPr id="3" name="Content Placeholder 2"/>
          <p:cNvSpPr>
            <a:spLocks noGrp="1"/>
          </p:cNvSpPr>
          <p:nvPr>
            <p:ph idx="1"/>
          </p:nvPr>
        </p:nvSpPr>
        <p:spPr>
          <a:xfrm>
            <a:off x="478885" y="980728"/>
            <a:ext cx="3661067" cy="5663701"/>
          </a:xfrm>
        </p:spPr>
        <p:txBody>
          <a:bodyPr>
            <a:normAutofit/>
          </a:bodyPr>
          <a:lstStyle/>
          <a:p>
            <a:pPr algn="just"/>
            <a:r>
              <a:rPr lang="en-US" dirty="0">
                <a:solidFill>
                  <a:schemeClr val="tx1"/>
                </a:solidFill>
              </a:rPr>
              <a:t>A resource hazard occurs when two or more instructions that are already in the pipeline need the same </a:t>
            </a:r>
            <a:r>
              <a:rPr lang="en-US" dirty="0" smtClean="0">
                <a:solidFill>
                  <a:schemeClr val="tx1"/>
                </a:solidFill>
              </a:rPr>
              <a:t>resource.</a:t>
            </a:r>
            <a:endParaRPr lang="en-US" dirty="0">
              <a:solidFill>
                <a:schemeClr val="tx1"/>
              </a:solidFill>
            </a:endParaRPr>
          </a:p>
          <a:p>
            <a:pPr algn="just"/>
            <a:r>
              <a:rPr lang="en-US" dirty="0" smtClean="0">
                <a:solidFill>
                  <a:schemeClr val="tx1"/>
                </a:solidFill>
              </a:rPr>
              <a:t>Instructions </a:t>
            </a:r>
            <a:r>
              <a:rPr lang="en-US" dirty="0">
                <a:solidFill>
                  <a:schemeClr val="tx1"/>
                </a:solidFill>
              </a:rPr>
              <a:t>must be executed in serial rather than parallel for a portion of the </a:t>
            </a:r>
            <a:r>
              <a:rPr lang="en-US" dirty="0" smtClean="0">
                <a:solidFill>
                  <a:schemeClr val="tx1"/>
                </a:solidFill>
              </a:rPr>
              <a:t>pipeline.</a:t>
            </a:r>
            <a:endParaRPr lang="en-US" dirty="0">
              <a:solidFill>
                <a:schemeClr val="tx1"/>
              </a:solidFill>
            </a:endParaRPr>
          </a:p>
          <a:p>
            <a:pPr algn="just"/>
            <a:r>
              <a:rPr lang="en-US" dirty="0" smtClean="0">
                <a:solidFill>
                  <a:schemeClr val="tx1"/>
                </a:solidFill>
              </a:rPr>
              <a:t>Also referred </a:t>
            </a:r>
            <a:r>
              <a:rPr lang="en-US" dirty="0">
                <a:solidFill>
                  <a:schemeClr val="tx1"/>
                </a:solidFill>
              </a:rPr>
              <a:t>to as a </a:t>
            </a:r>
            <a:r>
              <a:rPr lang="en-US" i="1" dirty="0">
                <a:solidFill>
                  <a:schemeClr val="tx1"/>
                </a:solidFill>
              </a:rPr>
              <a:t>structural hazard.</a:t>
            </a:r>
            <a:endParaRPr lang="en-US" dirty="0">
              <a:solidFill>
                <a:schemeClr val="tx1"/>
              </a:solidFill>
            </a:endParaRPr>
          </a:p>
          <a:p>
            <a:pPr algn="just"/>
            <a:endParaRPr lang="en-US" dirty="0">
              <a:solidFill>
                <a:schemeClr val="tx1"/>
              </a:solidFill>
            </a:endParaRPr>
          </a:p>
        </p:txBody>
      </p:sp>
      <p:pic>
        <p:nvPicPr>
          <p:cNvPr id="4" name="Picture 3" descr="f15.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10588" t="5455" r="16471" b="14545"/>
              <a:stretch>
                <a:fillRect/>
              </a:stretch>
            </p:blipFill>
          </mc:Choice>
          <mc:Fallback>
            <p:blipFill>
              <a:blip r:embed="rId4"/>
              <a:srcRect l="10588" t="5455" r="16471" b="14545"/>
              <a:stretch>
                <a:fillRect/>
              </a:stretch>
            </p:blipFill>
          </mc:Fallback>
        </mc:AlternateContent>
        <p:spPr>
          <a:xfrm>
            <a:off x="4283968" y="476672"/>
            <a:ext cx="4392488" cy="6167757"/>
          </a:xfrm>
          <a:prstGeom prst="rect">
            <a:avLst/>
          </a:prstGeom>
        </p:spPr>
      </p:pic>
    </p:spTree>
    <p:extLst>
      <p:ext uri="{BB962C8B-B14F-4D97-AF65-F5344CB8AC3E}">
        <p14:creationId xmlns:p14="http://schemas.microsoft.com/office/powerpoint/2010/main" val="51507985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3484" y="260648"/>
            <a:ext cx="7556313" cy="1116106"/>
          </a:xfrm>
        </p:spPr>
        <p:txBody>
          <a:bodyPr/>
          <a:lstStyle/>
          <a:p>
            <a:pPr algn="ctr"/>
            <a:r>
              <a:rPr lang="en-US" dirty="0" smtClean="0"/>
              <a:t>Data Hazards</a:t>
            </a:r>
            <a:endParaRPr lang="en-US" dirty="0"/>
          </a:p>
        </p:txBody>
      </p:sp>
      <p:sp>
        <p:nvSpPr>
          <p:cNvPr id="3" name="Content Placeholder 2"/>
          <p:cNvSpPr>
            <a:spLocks noGrp="1"/>
          </p:cNvSpPr>
          <p:nvPr>
            <p:ph idx="1"/>
          </p:nvPr>
        </p:nvSpPr>
        <p:spPr>
          <a:xfrm>
            <a:off x="483484" y="1052736"/>
            <a:ext cx="7556313" cy="4144963"/>
          </a:xfrm>
        </p:spPr>
        <p:txBody>
          <a:bodyPr/>
          <a:lstStyle/>
          <a:p>
            <a:r>
              <a:rPr lang="en-US" dirty="0">
                <a:solidFill>
                  <a:schemeClr val="tx1"/>
                </a:solidFill>
              </a:rPr>
              <a:t>A data hazard occurs when there is a conflict in the access of an operand </a:t>
            </a:r>
            <a:r>
              <a:rPr lang="en-US" dirty="0" smtClean="0">
                <a:solidFill>
                  <a:schemeClr val="tx1"/>
                </a:solidFill>
              </a:rPr>
              <a:t>location.</a:t>
            </a:r>
          </a:p>
          <a:p>
            <a:pPr lvl="1"/>
            <a:r>
              <a:rPr lang="en-US" dirty="0" smtClean="0">
                <a:solidFill>
                  <a:schemeClr val="tx1"/>
                </a:solidFill>
              </a:rPr>
              <a:t>Read after write (RAW) </a:t>
            </a:r>
          </a:p>
          <a:p>
            <a:pPr lvl="1"/>
            <a:r>
              <a:rPr lang="en-US" dirty="0" smtClean="0">
                <a:solidFill>
                  <a:schemeClr val="tx1"/>
                </a:solidFill>
              </a:rPr>
              <a:t>Write after read (WAR)</a:t>
            </a:r>
          </a:p>
          <a:p>
            <a:pPr lvl="1"/>
            <a:r>
              <a:rPr lang="en-US" dirty="0" smtClean="0">
                <a:solidFill>
                  <a:schemeClr val="tx1"/>
                </a:solidFill>
              </a:rPr>
              <a:t>Write after write (WAW)</a:t>
            </a:r>
          </a:p>
          <a:p>
            <a:r>
              <a:rPr lang="en-US" dirty="0" smtClean="0">
                <a:solidFill>
                  <a:schemeClr val="tx1"/>
                </a:solidFill>
              </a:rPr>
              <a:t>RAW Hazard</a:t>
            </a:r>
          </a:p>
          <a:p>
            <a:endParaRPr lang="en-US" dirty="0" smtClean="0">
              <a:solidFill>
                <a:schemeClr val="tx1"/>
              </a:solidFill>
            </a:endParaRPr>
          </a:p>
          <a:p>
            <a:endParaRPr lang="en-US" dirty="0">
              <a:solidFill>
                <a:schemeClr val="tx1"/>
              </a:solidFill>
            </a:endParaRPr>
          </a:p>
          <a:p>
            <a:endParaRPr lang="en-US" dirty="0" smtClean="0">
              <a:solidFill>
                <a:schemeClr val="tx1"/>
              </a:solidFill>
            </a:endParaRPr>
          </a:p>
          <a:p>
            <a:endParaRPr lang="en-US" dirty="0">
              <a:solidFill>
                <a:schemeClr val="tx1"/>
              </a:solidFill>
            </a:endParaRPr>
          </a:p>
          <a:p>
            <a:endParaRPr lang="en-US" dirty="0"/>
          </a:p>
        </p:txBody>
      </p:sp>
      <p:pic>
        <p:nvPicPr>
          <p:cNvPr id="4" name="Picture 3" descr="f16.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2353" t="4545" r="10588" b="47273"/>
              <a:stretch>
                <a:fillRect/>
              </a:stretch>
            </p:blipFill>
          </mc:Choice>
          <mc:Fallback>
            <p:blipFill>
              <a:blip r:embed="rId4"/>
              <a:srcRect l="2353" t="4545" r="10588" b="47273"/>
              <a:stretch>
                <a:fillRect/>
              </a:stretch>
            </p:blipFill>
          </mc:Fallback>
        </mc:AlternateContent>
        <p:spPr>
          <a:xfrm>
            <a:off x="1187624" y="3284984"/>
            <a:ext cx="5976664" cy="4280622"/>
          </a:xfrm>
          <a:prstGeom prst="rect">
            <a:avLst/>
          </a:prstGeom>
        </p:spPr>
      </p:pic>
    </p:spTree>
    <p:extLst>
      <p:ext uri="{BB962C8B-B14F-4D97-AF65-F5344CB8AC3E}">
        <p14:creationId xmlns:p14="http://schemas.microsoft.com/office/powerpoint/2010/main" val="289401134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a:xfrm>
            <a:off x="499531" y="188640"/>
            <a:ext cx="7556313" cy="1116106"/>
          </a:xfrm>
        </p:spPr>
        <p:txBody>
          <a:bodyPr/>
          <a:lstStyle/>
          <a:p>
            <a:pPr algn="ctr"/>
            <a:r>
              <a:rPr lang="en-GB" dirty="0"/>
              <a:t>Control Hazard</a:t>
            </a:r>
          </a:p>
        </p:txBody>
      </p:sp>
      <p:sp>
        <p:nvSpPr>
          <p:cNvPr id="197635" name="Rectangle 3"/>
          <p:cNvSpPr>
            <a:spLocks noGrp="1" noChangeArrowheads="1"/>
          </p:cNvSpPr>
          <p:nvPr>
            <p:ph idx="1"/>
          </p:nvPr>
        </p:nvSpPr>
        <p:spPr>
          <a:xfrm>
            <a:off x="499531" y="908720"/>
            <a:ext cx="7848872" cy="5400600"/>
          </a:xfrm>
        </p:spPr>
        <p:txBody>
          <a:bodyPr>
            <a:normAutofit/>
          </a:bodyPr>
          <a:lstStyle/>
          <a:p>
            <a:r>
              <a:rPr lang="en-GB" dirty="0" smtClean="0">
                <a:solidFill>
                  <a:schemeClr val="tx1"/>
                </a:solidFill>
              </a:rPr>
              <a:t>Also known as a </a:t>
            </a:r>
            <a:r>
              <a:rPr lang="en-GB" i="1" dirty="0" smtClean="0">
                <a:solidFill>
                  <a:schemeClr val="tx1"/>
                </a:solidFill>
              </a:rPr>
              <a:t>branch hazard.</a:t>
            </a:r>
            <a:endParaRPr lang="en-GB" dirty="0" smtClean="0">
              <a:solidFill>
                <a:schemeClr val="tx1"/>
              </a:solidFill>
            </a:endParaRPr>
          </a:p>
          <a:p>
            <a:r>
              <a:rPr lang="en-GB" dirty="0" smtClean="0">
                <a:solidFill>
                  <a:schemeClr val="tx1"/>
                </a:solidFill>
              </a:rPr>
              <a:t>Occurs when the pipeline makes the wrong decision on a branch prediction.</a:t>
            </a:r>
          </a:p>
          <a:p>
            <a:r>
              <a:rPr lang="en-GB" dirty="0" smtClean="0">
                <a:solidFill>
                  <a:schemeClr val="tx1"/>
                </a:solidFill>
              </a:rPr>
              <a:t>Brings instructions into the pipeline that must subsequently be discarded.</a:t>
            </a:r>
          </a:p>
        </p:txBody>
      </p:sp>
    </p:spTree>
    <p:extLst>
      <p:ext uri="{BB962C8B-B14F-4D97-AF65-F5344CB8AC3E}">
        <p14:creationId xmlns:p14="http://schemas.microsoft.com/office/powerpoint/2010/main" val="13163790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t>Reference</a:t>
            </a:r>
            <a:endParaRPr lang="en-IN" b="1" u="sng" dirty="0"/>
          </a:p>
        </p:txBody>
      </p:sp>
      <p:sp>
        <p:nvSpPr>
          <p:cNvPr id="3" name="Content Placeholder 2"/>
          <p:cNvSpPr>
            <a:spLocks noGrp="1"/>
          </p:cNvSpPr>
          <p:nvPr>
            <p:ph idx="1"/>
          </p:nvPr>
        </p:nvSpPr>
        <p:spPr/>
        <p:txBody>
          <a:bodyPr/>
          <a:lstStyle/>
          <a:p>
            <a:r>
              <a:rPr lang="en-US" dirty="0"/>
              <a:t>Computer Organization and Architecture: Designing for Performance, William Stallings, 9</a:t>
            </a:r>
            <a:r>
              <a:rPr lang="en-US" baseline="30000" dirty="0"/>
              <a:t>th</a:t>
            </a:r>
            <a:r>
              <a:rPr lang="en-US" dirty="0"/>
              <a:t> Edition, Pearson India, 2013.</a:t>
            </a:r>
            <a:endParaRPr lang="en-IN" dirty="0"/>
          </a:p>
          <a:p>
            <a:endParaRPr lang="en-IN" dirty="0"/>
          </a:p>
        </p:txBody>
      </p:sp>
    </p:spTree>
    <p:extLst>
      <p:ext uri="{BB962C8B-B14F-4D97-AF65-F5344CB8AC3E}">
        <p14:creationId xmlns:p14="http://schemas.microsoft.com/office/powerpoint/2010/main" val="1249917110"/>
      </p:ext>
    </p:extLst>
  </p:cSld>
  <p:clrMapOvr>
    <a:masterClrMapping/>
  </p:clrMapOvr>
</p:sld>
</file>

<file path=ppt/theme/theme1.xml><?xml version="1.0" encoding="utf-8"?>
<a:theme xmlns:a="http://schemas.openxmlformats.org/drawingml/2006/main" name="Advantag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Advantage.thmx</Template>
  <TotalTime>5189</TotalTime>
  <Words>3037</Words>
  <Application>Microsoft Office PowerPoint</Application>
  <PresentationFormat>On-screen Show (4:3)</PresentationFormat>
  <Paragraphs>179</Paragraphs>
  <Slides>24</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ＭＳ Ｐゴシック</vt:lpstr>
      <vt:lpstr>Arial</vt:lpstr>
      <vt:lpstr>Rockwell</vt:lpstr>
      <vt:lpstr>Times New Roman</vt:lpstr>
      <vt:lpstr>Wingdings</vt:lpstr>
      <vt:lpstr>Advantage</vt:lpstr>
      <vt:lpstr>Processor Structure and Function </vt:lpstr>
      <vt:lpstr>Contents</vt:lpstr>
      <vt:lpstr>Processor Organization Processor Requirements </vt:lpstr>
      <vt:lpstr>CPU With the System Bus</vt:lpstr>
      <vt:lpstr>CPU Internal Structure</vt:lpstr>
      <vt:lpstr>Register Organization</vt:lpstr>
      <vt:lpstr>User Visible Registers</vt:lpstr>
      <vt:lpstr>Control and Status Registers</vt:lpstr>
      <vt:lpstr>Instruction Cycle State Diagram</vt:lpstr>
      <vt:lpstr>Data Flow, Fetch Cycle</vt:lpstr>
      <vt:lpstr>Data Flow, Indirect Cycle</vt:lpstr>
      <vt:lpstr>Data Flow, Interrupt Cycle</vt:lpstr>
      <vt:lpstr>Instruction Pipelining </vt:lpstr>
      <vt:lpstr>Pipelining Strategy</vt:lpstr>
      <vt:lpstr>Two-Stage Instruction Pipeline</vt:lpstr>
      <vt:lpstr>Pipeline Stages</vt:lpstr>
      <vt:lpstr>Timing Diagram for Instruction Pipeline Operation</vt:lpstr>
      <vt:lpstr>Six Stage  Instruction Pipeline</vt:lpstr>
      <vt:lpstr>Effect of Conditional Branch on Instruction Pipeline Operation</vt:lpstr>
      <vt:lpstr>Pipeline Hazards</vt:lpstr>
      <vt:lpstr>Resource Hazards</vt:lpstr>
      <vt:lpstr>Data Hazards</vt:lpstr>
      <vt:lpstr>Control Hazard</vt:lpstr>
      <vt:lpstr>Reference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 Instruction Sets</dc:title>
  <dc:creator>Adrian J Pullin</dc:creator>
  <cp:lastModifiedBy>Divya Lohani</cp:lastModifiedBy>
  <cp:revision>141</cp:revision>
  <dcterms:created xsi:type="dcterms:W3CDTF">2012-07-20T05:25:30Z</dcterms:created>
  <dcterms:modified xsi:type="dcterms:W3CDTF">2018-09-13T07:58:44Z</dcterms:modified>
</cp:coreProperties>
</file>