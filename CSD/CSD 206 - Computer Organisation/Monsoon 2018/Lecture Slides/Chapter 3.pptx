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colors6.xml" ContentType="application/vnd.openxmlformats-officedocument.drawingml.diagramColors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colors1.xml" ContentType="application/vnd.openxmlformats-officedocument.drawingml.diagramColors+xml"/>
  <Override PartName="/ppt/slides/slide30.xml" ContentType="application/vnd.openxmlformats-officedocument.presentationml.slide+xml"/>
  <Override PartName="/ppt/notesSlides/notesSlide9.xml" ContentType="application/vnd.openxmlformats-officedocument.presentationml.notesSlide+xml"/>
  <Override PartName="/ppt/diagrams/drawing4.xml" ContentType="application/vnd.ms-office.drawingml.diagramDrawing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7.xml" ContentType="application/vnd.openxmlformats-officedocument.presentationml.slid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notesSlides/notesSlide1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slides/slide52.xml" ContentType="application/vnd.openxmlformats-officedocument.presentationml.slide+xml"/>
  <Override PartName="/ppt/slides/slide1.xml" ContentType="application/vnd.openxmlformats-officedocument.presentationml.slide+xml"/>
  <Override PartName="/ppt/slides/slide51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diagrams/data1.xml" ContentType="application/vnd.openxmlformats-officedocument.drawingml.diagramData+xml"/>
  <Default Extension="wmf" ContentType="image/x-wmf"/>
  <Override PartName="/ppt/diagrams/quickStyle3.xml" ContentType="application/vnd.openxmlformats-officedocument.drawingml.diagramStyl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41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diagrams/data6.xml" ContentType="application/vnd.openxmlformats-officedocument.drawingml.diagramData+xml"/>
  <Override PartName="/ppt/notesSlides/notesSlide5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2.xml" ContentType="application/vnd.openxmlformats-officedocument.presentationml.slideLayout+xml"/>
  <Override PartName="/ppt/diagrams/data3.xml" ContentType="application/vnd.openxmlformats-officedocument.drawingml.diagramData+xml"/>
  <Override PartName="/ppt/notesSlides/notesSlide1.xml" ContentType="application/vnd.openxmlformats-officedocument.presentationml.notesSlide+xml"/>
  <Override PartName="/ppt/diagrams/quickStyle1.xml" ContentType="application/vnd.openxmlformats-officedocument.drawingml.diagramStyle+xml"/>
  <Override PartName="/ppt/slides/slide43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37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8.xml" ContentType="application/vnd.openxmlformats-officedocument.presentationml.notesSlide+xml"/>
  <Override PartName="/ppt/diagrams/quickStyle5.xml" ContentType="application/vnd.openxmlformats-officedocument.drawingml.diagramStyle+xml"/>
  <Override PartName="/ppt/notesSlides/notesSlide48.xml" ContentType="application/vnd.openxmlformats-officedocument.presentationml.notesSlide+xml"/>
  <Default Extension="png" ContentType="image/png"/>
  <Override PartName="/ppt/slides/slide27.xml" ContentType="application/vnd.openxmlformats-officedocument.presentationml.slide+xml"/>
  <Override PartName="/docProps/core.xml" ContentType="application/vnd.openxmlformats-package.core-properties+xml"/>
  <Override PartName="/ppt/slideLayouts/slideLayout16.xml" ContentType="application/vnd.openxmlformats-officedocument.presentationml.slideLayout+xml"/>
  <Override PartName="/ppt/slides/slide31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Slides/notesSlide47.xml" ContentType="application/vnd.openxmlformats-officedocument.presentationml.notes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41.xml" ContentType="application/vnd.openxmlformats-officedocument.presentationml.slide+xml"/>
  <Override PartName="/ppt/slides/slide4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8.xml" ContentType="application/vnd.openxmlformats-officedocument.presentationml.notesSlide+xml"/>
  <Override PartName="/ppt/theme/theme2.xml" ContentType="application/vnd.openxmlformats-officedocument.theme+xml"/>
  <Override PartName="/ppt/notesSlides/notesSlide27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5.xml" ContentType="application/vnd.openxmlformats-officedocument.presentationml.slide+xml"/>
  <Override PartName="/ppt/diagrams/colors4.xml" ContentType="application/vnd.openxmlformats-officedocument.drawingml.diagramColors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50.xml" ContentType="application/vnd.openxmlformats-officedocument.presentationml.slide+xml"/>
  <Override PartName="/ppt/diagrams/layout2.xml" ContentType="application/vnd.openxmlformats-officedocument.drawingml.diagramLayout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6.xml" ContentType="application/vnd.openxmlformats-officedocument.presentationml.notesSlide+xml"/>
  <Default Extension="xml" ContentType="application/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Layouts/slideLayout18.xml" ContentType="application/vnd.openxmlformats-officedocument.presentationml.slideLayout+xml"/>
  <Override PartName="/ppt/diagrams/drawing3.xml" ContentType="application/vnd.ms-office.drawingml.diagramDrawing+xml"/>
  <Override PartName="/ppt/slides/slide34.xml" ContentType="application/vnd.openxmlformats-officedocument.presentationml.slide+xml"/>
  <Override PartName="/ppt/diagrams/quickStyle4.xml" ContentType="application/vnd.openxmlformats-officedocument.drawingml.diagramStyle+xml"/>
  <Override PartName="/ppt/slides/slide4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5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3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49.xml" ContentType="application/vnd.openxmlformats-officedocument.presentationml.slide+xml"/>
  <Override PartName="/ppt/diagrams/data4.xml" ContentType="application/vnd.openxmlformats-officedocument.drawingml.diagramData+xml"/>
  <Override PartName="/ppt/slideLayouts/slideLayout20.xml" ContentType="application/vnd.openxmlformats-officedocument.presentationml.slideLayout+xml"/>
  <Override PartName="/ppt/diagrams/drawing6.xml" ContentType="application/vnd.ms-office.drawingml.diagramDrawing+xml"/>
  <Override PartName="/ppt/slideLayouts/slideLayout1.xml" ContentType="application/vnd.openxmlformats-officedocument.presentationml.slideLayout+xml"/>
  <Override PartName="/ppt/notesSlides/notesSlide50.xml" ContentType="application/vnd.openxmlformats-officedocument.presentationml.notesSlide+xml"/>
  <Override PartName="/ppt/diagrams/layout5.xml" ContentType="application/vnd.openxmlformats-officedocument.drawingml.diagramLayout+xml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diagrams/quickStyle6.xml" ContentType="application/vnd.openxmlformats-officedocument.drawingml.diagramStyl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diagrams/layout6.xml" ContentType="application/vnd.openxmlformats-officedocument.drawingml.diagramLayout+xml"/>
  <Override PartName="/ppt/slideLayouts/slideLayout7.xml" ContentType="application/vnd.openxmlformats-officedocument.presentationml.slideLayout+xml"/>
  <Default Extension="jpeg" ContentType="image/jpeg"/>
  <Override PartName="/ppt/notesSlides/notesSlide33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notesSlides/notesSlide49.xml" ContentType="application/vnd.openxmlformats-officedocument.presentationml.notes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9.xml" ContentType="application/vnd.openxmlformats-officedocument.presentationml.slide+xml"/>
  <Override PartName="/ppt/diagrams/drawing1.xml" ContentType="application/vnd.ms-office.drawingml.diagramDrawing+xml"/>
  <Override PartName="/ppt/diagrams/colors5.xml" ContentType="application/vnd.openxmlformats-officedocument.drawingml.diagramColors+xml"/>
  <Override PartName="/ppt/slides/slide24.xml" ContentType="application/vnd.openxmlformats-officedocument.presentationml.slide+xml"/>
  <Override PartName="/ppt/slides/slide39.xml" ContentType="application/vnd.openxmlformats-officedocument.presentationml.slide+xml"/>
  <Override PartName="/ppt/diagrams/layout3.xml" ContentType="application/vnd.openxmlformats-officedocument.drawingml.diagramLayout+xml"/>
  <Override PartName="/ppt/slides/slide32.xml" ContentType="application/vnd.openxmlformats-officedocument.presentationml.slide+xml"/>
  <Override PartName="/ppt/diagrams/colors2.xml" ContentType="application/vnd.openxmlformats-officedocument.drawingml.diagramColors+xml"/>
  <Override PartName="/ppt/slides/slide6.xml" ContentType="application/vnd.openxmlformats-officedocument.presentationml.slide+xml"/>
  <Default Extension="pdf" ContentType="application/pdf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data2.xml" ContentType="application/vnd.openxmlformats-officedocument.drawingml.diagramData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 autoCompressPictures="0">
  <p:sldMasterIdLst>
    <p:sldMasterId id="2147483669" r:id="rId1"/>
  </p:sldMasterIdLst>
  <p:notesMasterIdLst>
    <p:notesMasterId r:id="rId54"/>
  </p:notesMasterIdLst>
  <p:handoutMasterIdLst>
    <p:handoutMasterId r:id="rId55"/>
  </p:handoutMasterIdLst>
  <p:sldIdLst>
    <p:sldId id="330" r:id="rId2"/>
    <p:sldId id="331" r:id="rId3"/>
    <p:sldId id="319" r:id="rId4"/>
    <p:sldId id="320" r:id="rId5"/>
    <p:sldId id="321" r:id="rId6"/>
    <p:sldId id="322" r:id="rId7"/>
    <p:sldId id="297" r:id="rId8"/>
    <p:sldId id="261" r:id="rId9"/>
    <p:sldId id="294" r:id="rId10"/>
    <p:sldId id="323" r:id="rId11"/>
    <p:sldId id="324" r:id="rId12"/>
    <p:sldId id="296" r:id="rId13"/>
    <p:sldId id="298" r:id="rId14"/>
    <p:sldId id="325" r:id="rId15"/>
    <p:sldId id="299" r:id="rId16"/>
    <p:sldId id="306" r:id="rId17"/>
    <p:sldId id="307" r:id="rId18"/>
    <p:sldId id="308" r:id="rId19"/>
    <p:sldId id="309" r:id="rId20"/>
    <p:sldId id="301" r:id="rId21"/>
    <p:sldId id="303" r:id="rId22"/>
    <p:sldId id="304" r:id="rId23"/>
    <p:sldId id="263" r:id="rId24"/>
    <p:sldId id="311" r:id="rId25"/>
    <p:sldId id="265" r:id="rId26"/>
    <p:sldId id="269" r:id="rId27"/>
    <p:sldId id="270" r:id="rId28"/>
    <p:sldId id="271" r:id="rId29"/>
    <p:sldId id="305" r:id="rId30"/>
    <p:sldId id="273" r:id="rId31"/>
    <p:sldId id="326" r:id="rId32"/>
    <p:sldId id="313" r:id="rId33"/>
    <p:sldId id="274" r:id="rId34"/>
    <p:sldId id="278" r:id="rId35"/>
    <p:sldId id="279" r:id="rId36"/>
    <p:sldId id="280" r:id="rId37"/>
    <p:sldId id="281" r:id="rId38"/>
    <p:sldId id="282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314" r:id="rId48"/>
    <p:sldId id="292" r:id="rId49"/>
    <p:sldId id="327" r:id="rId50"/>
    <p:sldId id="328" r:id="rId51"/>
    <p:sldId id="329" r:id="rId52"/>
    <p:sldId id="317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22321" autoAdjust="0"/>
    <p:restoredTop sz="87689" autoAdjust="0"/>
  </p:normalViewPr>
  <p:slideViewPr>
    <p:cSldViewPr>
      <p:cViewPr varScale="1">
        <p:scale>
          <a:sx n="78" d="100"/>
          <a:sy n="78" d="100"/>
        </p:scale>
        <p:origin x="-132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60" Type="http://schemas.openxmlformats.org/officeDocument/2006/relationships/tableStyles" Target="tableStyles.xml"/><Relationship Id="rId39" Type="http://schemas.openxmlformats.org/officeDocument/2006/relationships/slide" Target="slides/slide38.xml"/><Relationship Id="rId7" Type="http://schemas.openxmlformats.org/officeDocument/2006/relationships/slide" Target="slides/slide6.xml"/><Relationship Id="rId43" Type="http://schemas.openxmlformats.org/officeDocument/2006/relationships/slide" Target="slides/slide42.xml"/><Relationship Id="rId25" Type="http://schemas.openxmlformats.org/officeDocument/2006/relationships/slide" Target="slides/slide24.xml"/><Relationship Id="rId10" Type="http://schemas.openxmlformats.org/officeDocument/2006/relationships/slide" Target="slides/slide9.xml"/><Relationship Id="rId50" Type="http://schemas.openxmlformats.org/officeDocument/2006/relationships/slide" Target="slides/slide49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slide" Target="slides/slide44.xml"/><Relationship Id="rId58" Type="http://schemas.openxmlformats.org/officeDocument/2006/relationships/viewProps" Target="viewProps.xml"/><Relationship Id="rId42" Type="http://schemas.openxmlformats.org/officeDocument/2006/relationships/slide" Target="slides/slide41.xml"/><Relationship Id="rId6" Type="http://schemas.openxmlformats.org/officeDocument/2006/relationships/slide" Target="slides/slide5.xml"/><Relationship Id="rId49" Type="http://schemas.openxmlformats.org/officeDocument/2006/relationships/slide" Target="slides/slide48.xml"/><Relationship Id="rId44" Type="http://schemas.openxmlformats.org/officeDocument/2006/relationships/slide" Target="slides/slide43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46" Type="http://schemas.openxmlformats.org/officeDocument/2006/relationships/slide" Target="slides/slide45.xml"/><Relationship Id="rId57" Type="http://schemas.openxmlformats.org/officeDocument/2006/relationships/presProps" Target="presProps.xml"/><Relationship Id="rId59" Type="http://schemas.openxmlformats.org/officeDocument/2006/relationships/theme" Target="theme/theme1.xml"/><Relationship Id="rId35" Type="http://schemas.openxmlformats.org/officeDocument/2006/relationships/slide" Target="slides/slide34.xml"/><Relationship Id="rId51" Type="http://schemas.openxmlformats.org/officeDocument/2006/relationships/slide" Target="slides/slide50.xml"/><Relationship Id="rId55" Type="http://schemas.openxmlformats.org/officeDocument/2006/relationships/handoutMaster" Target="handoutMasters/handoutMaster1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40" Type="http://schemas.openxmlformats.org/officeDocument/2006/relationships/slide" Target="slides/slide39.xml"/><Relationship Id="rId36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47" Type="http://schemas.openxmlformats.org/officeDocument/2006/relationships/slide" Target="slides/slide46.xml"/><Relationship Id="rId56" Type="http://schemas.openxmlformats.org/officeDocument/2006/relationships/printerSettings" Target="printerSettings/printerSettings1.bin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2" Type="http://schemas.openxmlformats.org/officeDocument/2006/relationships/slide" Target="slides/slide51.xml"/><Relationship Id="rId54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" Type="http://schemas.openxmlformats.org/officeDocument/2006/relationships/slide" Target="slides/slide2.xml"/><Relationship Id="rId23" Type="http://schemas.openxmlformats.org/officeDocument/2006/relationships/slide" Target="slides/slide22.xml"/><Relationship Id="rId53" Type="http://schemas.openxmlformats.org/officeDocument/2006/relationships/slide" Target="slides/slide52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2" Type="http://schemas.openxmlformats.org/officeDocument/2006/relationships/slide" Target="slides/slide21.xml"/><Relationship Id="rId21" Type="http://schemas.openxmlformats.org/officeDocument/2006/relationships/slide" Target="slides/slide20.xml"/></Relationships>
</file>

<file path=ppt/_rels/viewProps.xml.rels><?xml version="1.0" encoding="UTF-8" standalone="yes"?>
<Relationships xmlns="http://schemas.openxmlformats.org/package/2006/relationships"><Relationship Id="rId14" Type="http://schemas.openxmlformats.org/officeDocument/2006/relationships/slide" Target="slides/slide39.xml"/><Relationship Id="rId4" Type="http://schemas.openxmlformats.org/officeDocument/2006/relationships/slide" Target="slides/slide23.xml"/><Relationship Id="rId7" Type="http://schemas.openxmlformats.org/officeDocument/2006/relationships/slide" Target="slides/slide27.xml"/><Relationship Id="rId11" Type="http://schemas.openxmlformats.org/officeDocument/2006/relationships/slide" Target="slides/slide36.xml"/><Relationship Id="rId1" Type="http://schemas.openxmlformats.org/officeDocument/2006/relationships/slide" Target="slides/slide1.xml"/><Relationship Id="rId6" Type="http://schemas.openxmlformats.org/officeDocument/2006/relationships/slide" Target="slides/slide26.xml"/><Relationship Id="rId16" Type="http://schemas.openxmlformats.org/officeDocument/2006/relationships/slide" Target="slides/slide43.xml"/><Relationship Id="rId8" Type="http://schemas.openxmlformats.org/officeDocument/2006/relationships/slide" Target="slides/slide28.xml"/><Relationship Id="rId13" Type="http://schemas.openxmlformats.org/officeDocument/2006/relationships/slide" Target="slides/slide38.xml"/><Relationship Id="rId10" Type="http://schemas.openxmlformats.org/officeDocument/2006/relationships/slide" Target="slides/slide33.xml"/><Relationship Id="rId5" Type="http://schemas.openxmlformats.org/officeDocument/2006/relationships/slide" Target="slides/slide25.xml"/><Relationship Id="rId15" Type="http://schemas.openxmlformats.org/officeDocument/2006/relationships/slide" Target="slides/slide42.xml"/><Relationship Id="rId12" Type="http://schemas.openxmlformats.org/officeDocument/2006/relationships/slide" Target="slides/slide37.xml"/><Relationship Id="rId17" Type="http://schemas.openxmlformats.org/officeDocument/2006/relationships/slide" Target="slides/slide44.xml"/><Relationship Id="rId19" Type="http://schemas.openxmlformats.org/officeDocument/2006/relationships/slide" Target="slides/slide52.xml"/><Relationship Id="rId2" Type="http://schemas.openxmlformats.org/officeDocument/2006/relationships/slide" Target="slides/slide8.xml"/><Relationship Id="rId9" Type="http://schemas.openxmlformats.org/officeDocument/2006/relationships/slide" Target="slides/slide30.xml"/><Relationship Id="rId3" Type="http://schemas.openxmlformats.org/officeDocument/2006/relationships/slide" Target="slides/slide9.xml"/><Relationship Id="rId18" Type="http://schemas.openxmlformats.org/officeDocument/2006/relationships/slide" Target="slides/slide45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Software</a:t>
          </a:r>
          <a:endParaRPr lang="en-US" dirty="0"/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/>
      <dgm:spPr/>
      <dgm:t>
        <a:bodyPr/>
        <a:lstStyle/>
        <a:p>
          <a:pPr rtl="0"/>
          <a:r>
            <a:rPr lang="en-US" dirty="0" smtClean="0"/>
            <a:t>A sequence of codes or instructions</a:t>
          </a:r>
          <a:endParaRPr lang="en-US" dirty="0"/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/>
      <dgm:spPr/>
      <dgm:t>
        <a:bodyPr/>
        <a:lstStyle/>
        <a:p>
          <a:pPr rtl="0"/>
          <a:r>
            <a:rPr lang="en-US" dirty="0" smtClean="0"/>
            <a:t>Part of the hardware interprets each instruction and generates control signals</a:t>
          </a:r>
          <a:endParaRPr lang="en-US" dirty="0"/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/>
      <dgm:spPr/>
      <dgm:t>
        <a:bodyPr/>
        <a:lstStyle/>
        <a:p>
          <a:pPr rtl="0"/>
          <a:r>
            <a:rPr lang="en-US" dirty="0" smtClean="0"/>
            <a:t>Provide </a:t>
          </a:r>
          <a:r>
            <a:rPr lang="en-US" dirty="0" smtClean="0"/>
            <a:t>a new sequence of </a:t>
          </a:r>
          <a:r>
            <a:rPr lang="en-US" dirty="0" smtClean="0"/>
            <a:t>codes for each new program instead of rewiring the hardware</a:t>
          </a:r>
          <a:endParaRPr lang="en-US" dirty="0"/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dirty="0" smtClean="0"/>
            <a:t>Major components:</a:t>
          </a:r>
          <a:endParaRPr lang="en-US" dirty="0"/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/>
      <dgm:spPr/>
      <dgm:t>
        <a:bodyPr/>
        <a:lstStyle/>
        <a:p>
          <a:pPr rtl="0"/>
          <a:r>
            <a:rPr lang="en-US" dirty="0" smtClean="0"/>
            <a:t>Means of reporting results</a:t>
          </a:r>
          <a:endParaRPr lang="en-US" dirty="0"/>
        </a:p>
      </dgm:t>
    </dgm:pt>
    <dgm:pt modelId="{24FAF873-5FB9-624E-A49D-5B08A05DCBF5}">
      <dgm:prSet/>
      <dgm:spPr/>
      <dgm:t>
        <a:bodyPr/>
        <a:lstStyle/>
        <a:p>
          <a:pPr rtl="0"/>
          <a:r>
            <a:rPr lang="en-US" dirty="0" smtClean="0"/>
            <a:t>Output module</a:t>
          </a:r>
          <a:endParaRPr lang="en-US" dirty="0"/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/>
      <dgm:spPr/>
      <dgm:t>
        <a:bodyPr/>
        <a:lstStyle/>
        <a:p>
          <a:pPr rtl="0"/>
          <a:r>
            <a:rPr lang="en-US" dirty="0" smtClean="0"/>
            <a:t>Contains basic components for accepting data and instructions</a:t>
          </a:r>
          <a:r>
            <a:rPr lang="en-US" dirty="0" smtClean="0"/>
            <a:t> and </a:t>
          </a:r>
          <a:r>
            <a:rPr lang="en-US" dirty="0" smtClean="0"/>
            <a:t>converting them into an internal form of signals usable by the system</a:t>
          </a:r>
          <a:endParaRPr lang="en-US" dirty="0"/>
        </a:p>
      </dgm:t>
    </dgm:pt>
    <dgm:pt modelId="{948C7C32-FC71-034A-A9D1-2D2E150E1953}">
      <dgm:prSet/>
      <dgm:spPr/>
      <dgm:t>
        <a:bodyPr/>
        <a:lstStyle/>
        <a:p>
          <a:pPr rtl="0"/>
          <a:r>
            <a:rPr lang="en-US" dirty="0" smtClean="0"/>
            <a:t>Input module</a:t>
          </a:r>
          <a:endParaRPr lang="en-US" dirty="0"/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/>
      <dgm:spPr/>
      <dgm:t>
        <a:bodyPr/>
        <a:lstStyle/>
        <a:p>
          <a:pPr rtl="0"/>
          <a:r>
            <a:rPr lang="en-US" dirty="0" smtClean="0"/>
            <a:t>I/O Components</a:t>
          </a:r>
          <a:endParaRPr lang="en-US" dirty="0"/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/>
      <dgm:spPr/>
      <dgm:t>
        <a:bodyPr/>
        <a:lstStyle/>
        <a:p>
          <a:pPr rtl="0"/>
          <a:r>
            <a:rPr lang="en-US" dirty="0" smtClean="0"/>
            <a:t>Module of general-purpose arithmetic and logic functions</a:t>
          </a:r>
          <a:endParaRPr lang="en-US" dirty="0"/>
        </a:p>
      </dgm:t>
    </dgm:pt>
    <dgm:pt modelId="{C19AC66C-2A37-8644-927E-F197C32A21CF}">
      <dgm:prSet/>
      <dgm:spPr/>
      <dgm:t>
        <a:bodyPr/>
        <a:lstStyle/>
        <a:p>
          <a:pPr rtl="0"/>
          <a:r>
            <a:rPr lang="en-US" dirty="0" smtClean="0"/>
            <a:t>Instruction interpreter</a:t>
          </a:r>
          <a:endParaRPr lang="en-US" dirty="0"/>
        </a:p>
      </dgm:t>
    </dgm:pt>
    <dgm:pt modelId="{CE0386A9-076E-F94F-A620-AD660D7C9972}">
      <dgm:prSet/>
      <dgm:spPr/>
      <dgm:t>
        <a:bodyPr/>
        <a:lstStyle/>
        <a:p>
          <a:pPr rtl="0"/>
          <a:r>
            <a:rPr lang="en-US" dirty="0" smtClean="0"/>
            <a:t>CPU	</a:t>
          </a:r>
          <a:endParaRPr lang="en-US" dirty="0"/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7EB61-D7F6-C840-8532-5709134193A0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/>
      <dgm:spPr/>
      <dgm:t>
        <a:bodyPr/>
        <a:lstStyle/>
        <a:p>
          <a:pPr rtl="0"/>
          <a:r>
            <a:rPr lang="en-US" dirty="0" smtClean="0"/>
            <a:t>Specifies the address in memory for the next read or write</a:t>
          </a:r>
          <a:endParaRPr lang="en-US" dirty="0"/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/>
      <dgm:spPr/>
      <dgm:t>
        <a:bodyPr/>
        <a:lstStyle/>
        <a:p>
          <a:pPr rtl="0"/>
          <a:r>
            <a:rPr lang="en-US" dirty="0" smtClean="0"/>
            <a:t>Contains the data to be written into memory or receives the data read from memory</a:t>
          </a:r>
          <a:endParaRPr lang="en-US" dirty="0"/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/>
      <dgm:spPr/>
      <dgm:t>
        <a:bodyPr/>
        <a:lstStyle/>
        <a:p>
          <a:pPr rtl="0"/>
          <a:r>
            <a:rPr lang="en-US" dirty="0" smtClean="0"/>
            <a:t>Specifies a particular I/O device</a:t>
          </a:r>
          <a:endParaRPr lang="en-US" dirty="0"/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/>
      <dgm:spPr/>
      <dgm:t>
        <a:bodyPr/>
        <a:lstStyle/>
        <a:p>
          <a:pPr rtl="0"/>
          <a:r>
            <a:rPr lang="en-US" dirty="0" smtClean="0"/>
            <a:t>Used for the exchange of data between an I/O module and the CPU</a:t>
          </a:r>
          <a:endParaRPr lang="en-US" dirty="0"/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933435A-1843-9E4D-86D0-607B7423AE6C}" type="pres">
      <dgm:prSet presAssocID="{FD840D2F-108C-BC46-9136-A088744CBC36}" presName="axisShape" presStyleLbl="bgShp" presStyleIdx="0" presStyleCn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</dgm:spPr>
      <dgm:t>
        <a:bodyPr/>
        <a:lstStyle/>
        <a:p>
          <a:endParaRPr lang="en-US"/>
        </a:p>
      </dgm:t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/>
      <dgm:spPr/>
      <dgm:t>
        <a:bodyPr/>
        <a:lstStyle/>
        <a:p>
          <a:pPr rtl="0"/>
          <a:r>
            <a:rPr lang="en-US" dirty="0" smtClean="0"/>
            <a:t>Data transferred from processor to memory or from memory to processor</a:t>
          </a:r>
          <a:endParaRPr lang="en-US" dirty="0"/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Data transferred to or from a peripheral device by transferring between the processor and an I/O module</a:t>
          </a:r>
          <a:endParaRPr lang="en-US" dirty="0"/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/>
      <dgm:spPr/>
      <dgm:t>
        <a:bodyPr/>
        <a:lstStyle/>
        <a:p>
          <a:pPr rtl="0"/>
          <a:r>
            <a:rPr lang="en-US" dirty="0" smtClean="0"/>
            <a:t>The processor may perform some arithmetic or logic operation on data</a:t>
          </a:r>
          <a:endParaRPr lang="en-US" dirty="0"/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An instruction may specify that the sequence of execution be altered</a:t>
          </a:r>
          <a:endParaRPr lang="en-US" dirty="0"/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  <dgm:t>
        <a:bodyPr/>
        <a:lstStyle/>
        <a:p>
          <a:endParaRPr lang="en-US"/>
        </a:p>
      </dgm:t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  <dgm:t>
        <a:bodyPr/>
        <a:lstStyle/>
        <a:p>
          <a:endParaRPr lang="en-US"/>
        </a:p>
      </dgm:t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  <dgm:t>
        <a:bodyPr/>
        <a:lstStyle/>
        <a:p>
          <a:endParaRPr lang="en-US"/>
        </a:p>
      </dgm:t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  <dgm:t>
        <a:bodyPr/>
        <a:lstStyle/>
        <a:p>
          <a:endParaRPr lang="en-US"/>
        </a:p>
      </dgm:t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  <dgm:t>
        <a:bodyPr/>
        <a:lstStyle/>
        <a:p>
          <a:endParaRPr lang="en-US"/>
        </a:p>
      </dgm:t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  <dgm:t>
        <a:bodyPr/>
        <a:lstStyle/>
        <a:p>
          <a:endParaRPr lang="en-US"/>
        </a:p>
      </dgm:t>
    </dgm:pt>
  </dgm:ptLst>
  <dgm:cxnLst>
    <dgm:cxn modelId="{B73B7B97-AFED-5144-9C3A-16AA136C6B7E}" type="presOf" srcId="{44BDB83A-6BE0-DD4E-B589-C1A1B2EDE82A}" destId="{D4B4A3D9-04BB-FF44-A8A8-6AB4DC697EE2}" srcOrd="0" destOrd="0" presId="urn:microsoft.com/office/officeart/2005/8/layout/cycle4"/>
    <dgm:cxn modelId="{EFA092A0-7623-D548-B96D-1FFA3F09A22A}" type="presOf" srcId="{A9CC95F7-454C-2046-A231-E04268ABBD1D}" destId="{31728101-0A4A-C148-9CC0-7B417D851487}" srcOrd="0" destOrd="0" presId="urn:microsoft.com/office/officeart/2005/8/layout/cycle4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93F16417-D8E9-1940-B69E-8EF2DD406196}" type="presOf" srcId="{371D24A7-74FB-C64E-AE86-03FDE598AB8E}" destId="{2255D29E-98A3-2841-959C-001A2E7769D2}" srcOrd="0" destOrd="0" presId="urn:microsoft.com/office/officeart/2005/8/layout/cycle4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8C407C0D-A9D8-5D44-8231-9DD120B1B0D3}" type="presOf" srcId="{0D06A67A-239C-4541-B776-902577A3BA9C}" destId="{FB9FD6F2-BE77-E846-84E9-9675E89A206D}" srcOrd="0" destOrd="0" presId="urn:microsoft.com/office/officeart/2005/8/layout/cycle4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DA1C0643-D727-504B-BAC7-92AB1BFCC012}" type="presOf" srcId="{44BDB83A-6BE0-DD4E-B589-C1A1B2EDE82A}" destId="{E542AEEC-33F8-D74A-9237-79BE96E8F29F}" srcOrd="1" destOrd="0" presId="urn:microsoft.com/office/officeart/2005/8/layout/cycle4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501121C3-D5BC-1B46-8445-2992FCAD6F21}" type="presOf" srcId="{56D2CB20-CC23-684C-8655-4FCB8BAFA7DF}" destId="{BD2ACE57-62A0-C64E-BB52-93C7869D86BC}" srcOrd="1" destOrd="0" presId="urn:microsoft.com/office/officeart/2005/8/layout/cycle4"/>
    <dgm:cxn modelId="{7A752305-7C80-1540-B2FB-727220A5B12C}" type="presOf" srcId="{1C91299F-D68C-9C4C-8BF1-0C6C2FB8035E}" destId="{B6D267FD-09DA-104F-871C-15256C7ADB06}" srcOrd="0" destOrd="0" presId="urn:microsoft.com/office/officeart/2005/8/layout/cycle4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698FE556-5753-D842-882A-5B10CD47477D}" type="presOf" srcId="{95800EDA-E360-9B46-86CD-A41851E5E674}" destId="{2776F45E-5FC5-CA43-9A50-D05A48CD1AFA}" srcOrd="0" destOrd="0" presId="urn:microsoft.com/office/officeart/2005/8/layout/cycle4"/>
    <dgm:cxn modelId="{20BDF09A-E0B2-4543-B281-CB966D66564E}" type="presOf" srcId="{95800EDA-E360-9B46-86CD-A41851E5E674}" destId="{D6C3FA06-5991-2B4C-B5E5-5702BC1D6275}" srcOrd="1" destOrd="0" presId="urn:microsoft.com/office/officeart/2005/8/layout/cycle4"/>
    <dgm:cxn modelId="{BFE4660F-2DB8-B74F-8891-6433CE762F5F}" type="presOf" srcId="{EEE5115B-CAE8-F943-B4E4-FAB5123A0074}" destId="{9F8AAC68-863D-194A-94BC-958615861BE8}" srcOrd="0" destOrd="0" presId="urn:microsoft.com/office/officeart/2005/8/layout/cycle4"/>
    <dgm:cxn modelId="{63914F5F-66B2-1846-844E-799A0D829B25}" type="presOf" srcId="{56D2CB20-CC23-684C-8655-4FCB8BAFA7DF}" destId="{FA7231E4-FE93-2E44-B26F-43C0B0662DE3}" srcOrd="0" destOrd="0" presId="urn:microsoft.com/office/officeart/2005/8/layout/cycle4"/>
    <dgm:cxn modelId="{4A106DB6-1D01-0946-AFF9-38C9D01BE88C}" type="presOf" srcId="{EEE5115B-CAE8-F943-B4E4-FAB5123A0074}" destId="{05AADD49-61D9-8140-AE00-C44A70E0E84F}" srcOrd="1" destOrd="0" presId="urn:microsoft.com/office/officeart/2005/8/layout/cycle4"/>
    <dgm:cxn modelId="{31B9ED9B-7E55-4640-9FE3-F35FF6AA3F06}" type="presOf" srcId="{56085E4A-5C29-A540-9D55-CE6E6A2B5B2E}" destId="{AB84E314-BABC-734B-A008-40716B08F420}" srcOrd="0" destOrd="0" presId="urn:microsoft.com/office/officeart/2005/8/layout/cycle4"/>
    <dgm:cxn modelId="{7E3A6DC6-77E7-2440-B499-99834709B54B}" type="presParOf" srcId="{B6D267FD-09DA-104F-871C-15256C7ADB06}" destId="{93853970-7B39-A749-B247-29573B129C76}" srcOrd="0" destOrd="0" presId="urn:microsoft.com/office/officeart/2005/8/layout/cycle4"/>
    <dgm:cxn modelId="{B7AA9606-93C3-E147-8880-EB6D3609674E}" type="presParOf" srcId="{93853970-7B39-A749-B247-29573B129C76}" destId="{D0A02F44-6D2D-E146-BE0D-6F1132160A42}" srcOrd="0" destOrd="0" presId="urn:microsoft.com/office/officeart/2005/8/layout/cycle4"/>
    <dgm:cxn modelId="{B14593DA-62A3-F947-9E3D-6ACCFF641C8B}" type="presParOf" srcId="{D0A02F44-6D2D-E146-BE0D-6F1132160A42}" destId="{9F8AAC68-863D-194A-94BC-958615861BE8}" srcOrd="0" destOrd="0" presId="urn:microsoft.com/office/officeart/2005/8/layout/cycle4"/>
    <dgm:cxn modelId="{69247437-B2E1-864E-8723-F68430045C8A}" type="presParOf" srcId="{D0A02F44-6D2D-E146-BE0D-6F1132160A42}" destId="{05AADD49-61D9-8140-AE00-C44A70E0E84F}" srcOrd="1" destOrd="0" presId="urn:microsoft.com/office/officeart/2005/8/layout/cycle4"/>
    <dgm:cxn modelId="{0382EC10-B2BD-0C4C-95B7-6BE9AD7191CE}" type="presParOf" srcId="{93853970-7B39-A749-B247-29573B129C76}" destId="{62F450E4-2274-264B-BC72-058FC73AD90A}" srcOrd="1" destOrd="0" presId="urn:microsoft.com/office/officeart/2005/8/layout/cycle4"/>
    <dgm:cxn modelId="{5D84A803-F0BA-5E4A-A99B-B5404A7ADDE8}" type="presParOf" srcId="{62F450E4-2274-264B-BC72-058FC73AD90A}" destId="{FA7231E4-FE93-2E44-B26F-43C0B0662DE3}" srcOrd="0" destOrd="0" presId="urn:microsoft.com/office/officeart/2005/8/layout/cycle4"/>
    <dgm:cxn modelId="{E0651100-2B89-DF48-B4DC-844BE4FAD89E}" type="presParOf" srcId="{62F450E4-2274-264B-BC72-058FC73AD90A}" destId="{BD2ACE57-62A0-C64E-BB52-93C7869D86BC}" srcOrd="1" destOrd="0" presId="urn:microsoft.com/office/officeart/2005/8/layout/cycle4"/>
    <dgm:cxn modelId="{9BDFB4DA-BCDD-A94D-A8F8-93BFCB4411EA}" type="presParOf" srcId="{93853970-7B39-A749-B247-29573B129C76}" destId="{55FC0761-B9D6-4B46-BF3A-053217CC174B}" srcOrd="2" destOrd="0" presId="urn:microsoft.com/office/officeart/2005/8/layout/cycle4"/>
    <dgm:cxn modelId="{FD2EA69E-66B0-4E45-8691-C8AF95A840D7}" type="presParOf" srcId="{55FC0761-B9D6-4B46-BF3A-053217CC174B}" destId="{D4B4A3D9-04BB-FF44-A8A8-6AB4DC697EE2}" srcOrd="0" destOrd="0" presId="urn:microsoft.com/office/officeart/2005/8/layout/cycle4"/>
    <dgm:cxn modelId="{9313B752-6E89-0540-BA5B-2C0D7D9F644E}" type="presParOf" srcId="{55FC0761-B9D6-4B46-BF3A-053217CC174B}" destId="{E542AEEC-33F8-D74A-9237-79BE96E8F29F}" srcOrd="1" destOrd="0" presId="urn:microsoft.com/office/officeart/2005/8/layout/cycle4"/>
    <dgm:cxn modelId="{61CA8A5D-3B1E-194F-BE93-01C4C9D216B0}" type="presParOf" srcId="{93853970-7B39-A749-B247-29573B129C76}" destId="{6B38CA4B-4999-B548-B216-AD0083C90448}" srcOrd="3" destOrd="0" presId="urn:microsoft.com/office/officeart/2005/8/layout/cycle4"/>
    <dgm:cxn modelId="{88CFFE6F-C36E-224D-9ACC-4E5BA098D6FB}" type="presParOf" srcId="{6B38CA4B-4999-B548-B216-AD0083C90448}" destId="{2776F45E-5FC5-CA43-9A50-D05A48CD1AFA}" srcOrd="0" destOrd="0" presId="urn:microsoft.com/office/officeart/2005/8/layout/cycle4"/>
    <dgm:cxn modelId="{28A2609F-2899-EA4C-B00E-15BE69EAECBA}" type="presParOf" srcId="{6B38CA4B-4999-B548-B216-AD0083C90448}" destId="{D6C3FA06-5991-2B4C-B5E5-5702BC1D6275}" srcOrd="1" destOrd="0" presId="urn:microsoft.com/office/officeart/2005/8/layout/cycle4"/>
    <dgm:cxn modelId="{472D821B-10C0-7849-B5CD-7409CCEEC401}" type="presParOf" srcId="{93853970-7B39-A749-B247-29573B129C76}" destId="{B415FCCA-89C1-9341-AC53-0F0BCC825EF9}" srcOrd="4" destOrd="0" presId="urn:microsoft.com/office/officeart/2005/8/layout/cycle4"/>
    <dgm:cxn modelId="{B41E98BE-2839-ED47-ADB1-2B471CC3D271}" type="presParOf" srcId="{B6D267FD-09DA-104F-871C-15256C7ADB06}" destId="{1DFE690F-4A75-9A42-807D-CD4EAFA70E3B}" srcOrd="1" destOrd="0" presId="urn:microsoft.com/office/officeart/2005/8/layout/cycle4"/>
    <dgm:cxn modelId="{5A174453-2D33-6C40-BE9D-BDDF37A844EA}" type="presParOf" srcId="{1DFE690F-4A75-9A42-807D-CD4EAFA70E3B}" destId="{31728101-0A4A-C148-9CC0-7B417D851487}" srcOrd="0" destOrd="0" presId="urn:microsoft.com/office/officeart/2005/8/layout/cycle4"/>
    <dgm:cxn modelId="{E455D0BB-999A-E347-951C-F20A59E979E6}" type="presParOf" srcId="{1DFE690F-4A75-9A42-807D-CD4EAFA70E3B}" destId="{FB9FD6F2-BE77-E846-84E9-9675E89A206D}" srcOrd="1" destOrd="0" presId="urn:microsoft.com/office/officeart/2005/8/layout/cycle4"/>
    <dgm:cxn modelId="{E7741AB5-AF72-4148-98C6-275779DA5AF4}" type="presParOf" srcId="{1DFE690F-4A75-9A42-807D-CD4EAFA70E3B}" destId="{2255D29E-98A3-2841-959C-001A2E7769D2}" srcOrd="2" destOrd="0" presId="urn:microsoft.com/office/officeart/2005/8/layout/cycle4"/>
    <dgm:cxn modelId="{A4383747-58A8-A74B-8503-012016CEF2C8}" type="presParOf" srcId="{1DFE690F-4A75-9A42-807D-CD4EAFA70E3B}" destId="{AB84E314-BABC-734B-A008-40716B08F420}" srcOrd="3" destOrd="0" presId="urn:microsoft.com/office/officeart/2005/8/layout/cycle4"/>
    <dgm:cxn modelId="{A5CAA3B4-AA7D-FC48-9D60-150D40C46A40}" type="presParOf" srcId="{1DFE690F-4A75-9A42-807D-CD4EAFA70E3B}" destId="{64B9AD24-1873-5F4F-8C9E-25478E85FA2F}" srcOrd="4" destOrd="0" presId="urn:microsoft.com/office/officeart/2005/8/layout/cycle4"/>
    <dgm:cxn modelId="{B56FEBBF-84B8-E848-B121-77178A52560A}" type="presParOf" srcId="{B6D267FD-09DA-104F-871C-15256C7ADB06}" destId="{860CA274-597B-3442-8D13-FB3B68E98947}" srcOrd="2" destOrd="0" presId="urn:microsoft.com/office/officeart/2005/8/layout/cycle4"/>
    <dgm:cxn modelId="{BDD6090F-9E61-1A46-B73E-10D24856EEE5}" type="presParOf" srcId="{B6D267FD-09DA-104F-871C-15256C7ADB06}" destId="{49BA8253-F2D2-2C49-AA5B-CEAA3BE354E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Memory to processor</a:t>
          </a:r>
          <a:endParaRPr lang="en-US" dirty="0"/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Processor to memory</a:t>
          </a:r>
          <a:endParaRPr lang="en-US" dirty="0"/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I/O to processor</a:t>
          </a:r>
          <a:endParaRPr lang="en-US" dirty="0"/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Processor to I/O</a:t>
          </a:r>
          <a:endParaRPr lang="en-US" dirty="0"/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I/O to or from memory</a:t>
          </a:r>
          <a:endParaRPr lang="en-US" dirty="0"/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</a:t>
          </a:r>
          <a:r>
            <a:rPr lang="en-GB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direct memory access</a:t>
          </a:r>
          <a:endParaRPr lang="en-GB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  <dgm:t>
        <a:bodyPr/>
        <a:lstStyle/>
        <a:p>
          <a:endParaRPr lang="en-US"/>
        </a:p>
      </dgm:t>
    </dgm:pt>
    <dgm:pt modelId="{8D70B0D6-0FC4-4B4B-B3A6-877C0FF37A51}" type="pres">
      <dgm:prSet presAssocID="{17553587-2D3D-FC4F-8137-B6F55B24A175}" presName="textNode" presStyleLbl="bgShp" presStyleIdx="0" presStyleCnt="5"/>
      <dgm:spPr/>
      <dgm:t>
        <a:bodyPr/>
        <a:lstStyle/>
        <a:p>
          <a:endParaRPr lang="en-US"/>
        </a:p>
      </dgm:t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  <dgm:t>
        <a:bodyPr/>
        <a:lstStyle/>
        <a:p>
          <a:endParaRPr lang="en-US"/>
        </a:p>
      </dgm:t>
    </dgm:pt>
    <dgm:pt modelId="{7ABC80D2-827C-C244-8E22-58D79F96E4BC}" type="pres">
      <dgm:prSet presAssocID="{0C55DB15-68B7-6846-9986-2C88DD67F02C}" presName="textNode" presStyleLbl="bgShp" presStyleIdx="1" presStyleCnt="5"/>
      <dgm:spPr/>
      <dgm:t>
        <a:bodyPr/>
        <a:lstStyle/>
        <a:p>
          <a:endParaRPr lang="en-US"/>
        </a:p>
      </dgm:t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  <dgm:t>
        <a:bodyPr/>
        <a:lstStyle/>
        <a:p>
          <a:endParaRPr lang="en-US"/>
        </a:p>
      </dgm:t>
    </dgm:pt>
    <dgm:pt modelId="{9FA69D95-BE40-EC4E-979A-EAF928AA7B0B}" type="pres">
      <dgm:prSet presAssocID="{64B1C973-0182-0343-888C-8B1FBF55A968}" presName="textNode" presStyleLbl="bgShp" presStyleIdx="2" presStyleCnt="5"/>
      <dgm:spPr/>
      <dgm:t>
        <a:bodyPr/>
        <a:lstStyle/>
        <a:p>
          <a:endParaRPr lang="en-US"/>
        </a:p>
      </dgm:t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  <dgm:t>
        <a:bodyPr/>
        <a:lstStyle/>
        <a:p>
          <a:endParaRPr lang="en-US"/>
        </a:p>
      </dgm:t>
    </dgm:pt>
    <dgm:pt modelId="{4F4B6C10-CD58-DB43-A37F-24A6FD08ED0F}" type="pres">
      <dgm:prSet presAssocID="{D2A707C6-0E91-8144-BDBE-B55204826D27}" presName="textNode" presStyleLbl="bgShp" presStyleIdx="3" presStyleCnt="5"/>
      <dgm:spPr/>
      <dgm:t>
        <a:bodyPr/>
        <a:lstStyle/>
        <a:p>
          <a:endParaRPr lang="en-US"/>
        </a:p>
      </dgm:t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  <dgm:t>
        <a:bodyPr/>
        <a:lstStyle/>
        <a:p>
          <a:endParaRPr lang="en-US"/>
        </a:p>
      </dgm:t>
    </dgm:pt>
    <dgm:pt modelId="{08CEF94A-E93E-574E-989A-04C40BF07E2B}" type="pres">
      <dgm:prSet presAssocID="{CF04471B-2672-AC42-B681-E03987162B5B}" presName="textNode" presStyleLbl="bgShp" presStyleIdx="4" presStyleCnt="5"/>
      <dgm:spPr/>
      <dgm:t>
        <a:bodyPr/>
        <a:lstStyle/>
        <a:p>
          <a:endParaRPr lang="en-US"/>
        </a:p>
      </dgm:t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636429-2738-F546-A916-80EEDF1E10FA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C3467-9E26-444A-9A55-589C58FED18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 smtClean="0"/>
            <a:t>A communication pathway connecting two or more devices</a:t>
          </a:r>
          <a:endParaRPr lang="en-US" dirty="0"/>
        </a:p>
      </dgm:t>
    </dgm:pt>
    <dgm:pt modelId="{9A6D1CD1-0E23-9142-A2F9-0C44E776B3B9}" type="parTrans" cxnId="{4870A548-57CA-A440-9FB7-55EC1395DD57}">
      <dgm:prSet/>
      <dgm:spPr/>
      <dgm:t>
        <a:bodyPr/>
        <a:lstStyle/>
        <a:p>
          <a:endParaRPr lang="en-US"/>
        </a:p>
      </dgm:t>
    </dgm:pt>
    <dgm:pt modelId="{27D62082-75CC-184C-9FB7-60E6C8978923}" type="sibTrans" cxnId="{4870A548-57CA-A440-9FB7-55EC1395DD57}">
      <dgm:prSet/>
      <dgm:spPr/>
      <dgm:t>
        <a:bodyPr/>
        <a:lstStyle/>
        <a:p>
          <a:endParaRPr lang="en-US" dirty="0"/>
        </a:p>
      </dgm:t>
    </dgm:pt>
    <dgm:pt modelId="{8F003CF4-8A60-984A-9D02-B6B83050EFD0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 smtClean="0"/>
            <a:t>Key characteristic is that it is a shared transmission medium</a:t>
          </a:r>
          <a:endParaRPr lang="en-US" dirty="0"/>
        </a:p>
      </dgm:t>
    </dgm:pt>
    <dgm:pt modelId="{E5F39706-E472-1549-A1DE-3650F1A7EE56}" type="parTrans" cxnId="{FF41DF3B-8F02-5945-B921-3CCF47CC9A4F}">
      <dgm:prSet/>
      <dgm:spPr/>
      <dgm:t>
        <a:bodyPr/>
        <a:lstStyle/>
        <a:p>
          <a:endParaRPr lang="en-US"/>
        </a:p>
      </dgm:t>
    </dgm:pt>
    <dgm:pt modelId="{3657E415-3A19-C14A-A100-CDCD225A6C98}" type="sibTrans" cxnId="{FF41DF3B-8F02-5945-B921-3CCF47CC9A4F}">
      <dgm:prSet/>
      <dgm:spPr/>
      <dgm:t>
        <a:bodyPr/>
        <a:lstStyle/>
        <a:p>
          <a:endParaRPr lang="en-US"/>
        </a:p>
      </dgm:t>
    </dgm:pt>
    <dgm:pt modelId="{CB4A86C1-E3C9-3F4E-A3D7-ADA5832AF8F4}">
      <dgm:prSet/>
      <dgm:spPr/>
      <dgm:t>
        <a:bodyPr/>
        <a:lstStyle/>
        <a:p>
          <a:pPr rtl="0"/>
          <a:r>
            <a:rPr lang="en-US" dirty="0" smtClean="0"/>
            <a:t>Signals transmitted by any one device are available for reception by all other devices attached to the bus</a:t>
          </a:r>
          <a:endParaRPr lang="en-US" dirty="0"/>
        </a:p>
      </dgm:t>
    </dgm:pt>
    <dgm:pt modelId="{B8D28C66-3AC0-A149-A08C-BA984C1BC79C}" type="parTrans" cxnId="{75CA6EDC-3FAF-5149-9018-8FED8A7BD37D}">
      <dgm:prSet/>
      <dgm:spPr/>
      <dgm:t>
        <a:bodyPr/>
        <a:lstStyle/>
        <a:p>
          <a:endParaRPr lang="en-US"/>
        </a:p>
      </dgm:t>
    </dgm:pt>
    <dgm:pt modelId="{953D51F2-F817-5E4D-8D86-196CB93CCC36}" type="sibTrans" cxnId="{75CA6EDC-3FAF-5149-9018-8FED8A7BD37D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E39FD04-B2A9-5A45-85CD-5495455BDD3B}">
      <dgm:prSet/>
      <dgm:spPr/>
      <dgm:t>
        <a:bodyPr/>
        <a:lstStyle/>
        <a:p>
          <a:pPr rtl="0"/>
          <a:r>
            <a:rPr lang="en-US" dirty="0" smtClean="0"/>
            <a:t>If two devices transmit during the same time period their signals will overlap and become garbled</a:t>
          </a:r>
          <a:endParaRPr lang="en-US" dirty="0"/>
        </a:p>
      </dgm:t>
    </dgm:pt>
    <dgm:pt modelId="{BD4BE912-0DB4-7E40-A21B-E9232D61E886}" type="parTrans" cxnId="{2059DCFF-53E0-974E-A713-1C509D93A546}">
      <dgm:prSet/>
      <dgm:spPr/>
      <dgm:t>
        <a:bodyPr/>
        <a:lstStyle/>
        <a:p>
          <a:endParaRPr lang="en-US"/>
        </a:p>
      </dgm:t>
    </dgm:pt>
    <dgm:pt modelId="{8E79852C-9C95-DA4F-BA96-D2C0410A69D0}" type="sibTrans" cxnId="{2059DCFF-53E0-974E-A713-1C509D93A546}">
      <dgm:prSet/>
      <dgm:spPr/>
      <dgm:t>
        <a:bodyPr/>
        <a:lstStyle/>
        <a:p>
          <a:endParaRPr lang="en-US"/>
        </a:p>
      </dgm:t>
    </dgm:pt>
    <dgm:pt modelId="{853B68A4-E045-6C44-81AC-BD6D2EDD6120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Typically consists of multiple communication lines</a:t>
          </a:r>
          <a:endParaRPr lang="en-US" dirty="0"/>
        </a:p>
      </dgm:t>
    </dgm:pt>
    <dgm:pt modelId="{E4A0037A-F217-1844-B047-E9B0F378373C}" type="parTrans" cxnId="{15A5C6EC-52BB-DB46-B48C-669F4803E4F1}">
      <dgm:prSet/>
      <dgm:spPr/>
      <dgm:t>
        <a:bodyPr/>
        <a:lstStyle/>
        <a:p>
          <a:endParaRPr lang="en-US"/>
        </a:p>
      </dgm:t>
    </dgm:pt>
    <dgm:pt modelId="{C2D31CE6-9201-EC44-B718-1FF04AE572E4}" type="sibTrans" cxnId="{15A5C6EC-52BB-DB46-B48C-669F4803E4F1}">
      <dgm:prSet/>
      <dgm:spPr/>
      <dgm:t>
        <a:bodyPr/>
        <a:lstStyle/>
        <a:p>
          <a:endParaRPr lang="en-US" dirty="0"/>
        </a:p>
      </dgm:t>
    </dgm:pt>
    <dgm:pt modelId="{5E2D62BE-266A-0D45-B906-1B29BDF3479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Each line is capable of transmitting signals representing binary 1 and binary 0</a:t>
          </a:r>
          <a:endParaRPr lang="en-US" dirty="0"/>
        </a:p>
      </dgm:t>
    </dgm:pt>
    <dgm:pt modelId="{D610DF42-3128-7A46-9764-92CC058A4459}" type="parTrans" cxnId="{EF81B034-F645-CB4C-B13B-6979989D1400}">
      <dgm:prSet/>
      <dgm:spPr/>
      <dgm:t>
        <a:bodyPr/>
        <a:lstStyle/>
        <a:p>
          <a:endParaRPr lang="en-US"/>
        </a:p>
      </dgm:t>
    </dgm:pt>
    <dgm:pt modelId="{61584508-4468-A04C-B932-71D19C1A3A71}" type="sibTrans" cxnId="{EF81B034-F645-CB4C-B13B-6979989D1400}">
      <dgm:prSet/>
      <dgm:spPr/>
      <dgm:t>
        <a:bodyPr/>
        <a:lstStyle/>
        <a:p>
          <a:endParaRPr lang="en-US"/>
        </a:p>
      </dgm:t>
    </dgm:pt>
    <dgm:pt modelId="{1DD15041-7803-0446-9821-1DE8F32CE256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Computer systems contain a number of different buses that provide pathways between components at various levels of the computer system hierarchy</a:t>
          </a:r>
          <a:endParaRPr lang="en-US" dirty="0"/>
        </a:p>
      </dgm:t>
    </dgm:pt>
    <dgm:pt modelId="{19707EF3-5F9A-B24F-A7F5-F811CD9FA81C}" type="parTrans" cxnId="{BD11BB93-7303-7D44-B65C-8B362008FC53}">
      <dgm:prSet/>
      <dgm:spPr/>
      <dgm:t>
        <a:bodyPr/>
        <a:lstStyle/>
        <a:p>
          <a:endParaRPr lang="en-US"/>
        </a:p>
      </dgm:t>
    </dgm:pt>
    <dgm:pt modelId="{893785DB-B566-C34C-9F83-50CFBE946D7E}" type="sibTrans" cxnId="{BD11BB93-7303-7D44-B65C-8B362008FC53}">
      <dgm:prSet/>
      <dgm:spPr/>
      <dgm:t>
        <a:bodyPr/>
        <a:lstStyle/>
        <a:p>
          <a:endParaRPr lang="en-US" dirty="0"/>
        </a:p>
      </dgm:t>
    </dgm:pt>
    <dgm:pt modelId="{7525A05C-DEEF-D049-B433-AEDEF823843A}">
      <dgm:prSet/>
      <dgm:spPr/>
      <dgm:t>
        <a:bodyPr/>
        <a:lstStyle/>
        <a:p>
          <a:pPr rtl="0"/>
          <a:r>
            <a:rPr lang="en-US" i="1" dirty="0" smtClean="0"/>
            <a:t>System bus</a:t>
          </a:r>
          <a:endParaRPr lang="en-US" dirty="0"/>
        </a:p>
      </dgm:t>
    </dgm:pt>
    <dgm:pt modelId="{E735B630-CC49-9E48-8EED-DA8014D4EE6B}" type="parTrans" cxnId="{FD2E9F45-5DFA-CE49-BAD9-A76390B6C77C}">
      <dgm:prSet/>
      <dgm:spPr/>
      <dgm:t>
        <a:bodyPr/>
        <a:lstStyle/>
        <a:p>
          <a:endParaRPr lang="en-US"/>
        </a:p>
      </dgm:t>
    </dgm:pt>
    <dgm:pt modelId="{D77C5A79-43C5-E749-B5E4-BAA9AF38EDBC}" type="sibTrans" cxnId="{FD2E9F45-5DFA-CE49-BAD9-A76390B6C77C}">
      <dgm:prSet/>
      <dgm:spPr/>
      <dgm:t>
        <a:bodyPr/>
        <a:lstStyle/>
        <a:p>
          <a:endParaRPr lang="en-US" dirty="0"/>
        </a:p>
      </dgm:t>
    </dgm:pt>
    <dgm:pt modelId="{C55C8E9B-FD37-074C-BFF6-DD30EBBEBEA5}">
      <dgm:prSet/>
      <dgm:spPr/>
      <dgm:t>
        <a:bodyPr/>
        <a:lstStyle/>
        <a:p>
          <a:pPr rtl="0"/>
          <a:r>
            <a:rPr lang="en-US" dirty="0" smtClean="0"/>
            <a:t>A bus that connects major computer components (processor, memory, I/O)</a:t>
          </a:r>
          <a:endParaRPr lang="en-US" dirty="0"/>
        </a:p>
      </dgm:t>
    </dgm:pt>
    <dgm:pt modelId="{F23FBEB8-51B6-D54D-A709-F8CF761EE4F2}" type="parTrans" cxnId="{3413FAC6-9E2A-6D4C-8592-9F31D272D137}">
      <dgm:prSet/>
      <dgm:spPr/>
      <dgm:t>
        <a:bodyPr/>
        <a:lstStyle/>
        <a:p>
          <a:endParaRPr lang="en-US"/>
        </a:p>
      </dgm:t>
    </dgm:pt>
    <dgm:pt modelId="{F1D0A3C7-FD5B-B843-88CC-469769BC25B8}" type="sibTrans" cxnId="{3413FAC6-9E2A-6D4C-8592-9F31D272D137}">
      <dgm:prSet/>
      <dgm:spPr/>
      <dgm:t>
        <a:bodyPr/>
        <a:lstStyle/>
        <a:p>
          <a:endParaRPr lang="en-US"/>
        </a:p>
      </dgm:t>
    </dgm:pt>
    <dgm:pt modelId="{FED9EA23-173A-404C-87C6-AC58E07F2389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GB" dirty="0" smtClean="0"/>
            <a:t>The most common computer interconnection structures are based on the use of one or more system buses</a:t>
          </a:r>
          <a:endParaRPr lang="en-GB" dirty="0"/>
        </a:p>
      </dgm:t>
    </dgm:pt>
    <dgm:pt modelId="{EF95EAB5-4B6A-7B46-9805-48F1555C5601}" type="parTrans" cxnId="{ED2CF9DF-E8F0-A14C-B970-12021D55A99B}">
      <dgm:prSet/>
      <dgm:spPr/>
      <dgm:t>
        <a:bodyPr/>
        <a:lstStyle/>
        <a:p>
          <a:endParaRPr lang="en-US"/>
        </a:p>
      </dgm:t>
    </dgm:pt>
    <dgm:pt modelId="{E1DD6C9C-D477-2440-99E1-8F42B7070D9F}" type="sibTrans" cxnId="{ED2CF9DF-E8F0-A14C-B970-12021D55A99B}">
      <dgm:prSet/>
      <dgm:spPr/>
      <dgm:t>
        <a:bodyPr/>
        <a:lstStyle/>
        <a:p>
          <a:endParaRPr lang="en-US"/>
        </a:p>
      </dgm:t>
    </dgm:pt>
    <dgm:pt modelId="{C1E8BCA6-215E-E746-AEBE-E22E0BFEF693}" type="pres">
      <dgm:prSet presAssocID="{1C636429-2738-F546-A916-80EEDF1E10F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98B288-5E33-5949-9D82-DB2307909588}" type="pres">
      <dgm:prSet presAssocID="{E09C3467-9E26-444A-9A55-589C58FED18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121B5-F90D-4E46-B8FD-6CEC9D573020}" type="pres">
      <dgm:prSet presAssocID="{27D62082-75CC-184C-9FB7-60E6C8978923}" presName="sibTrans" presStyleLbl="sibTrans1D1" presStyleIdx="0" presStyleCnt="5"/>
      <dgm:spPr/>
      <dgm:t>
        <a:bodyPr/>
        <a:lstStyle/>
        <a:p>
          <a:endParaRPr lang="en-US"/>
        </a:p>
      </dgm:t>
    </dgm:pt>
    <dgm:pt modelId="{7F0E2F1E-C94E-DA40-B648-541F47EB3C53}" type="pres">
      <dgm:prSet presAssocID="{27D62082-75CC-184C-9FB7-60E6C8978923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5E43B7A7-1089-3A4F-B1C4-0B9B8381D3AD}" type="pres">
      <dgm:prSet presAssocID="{CB4A86C1-E3C9-3F4E-A3D7-ADA5832AF8F4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7EBF88-55F2-0E4E-90DA-D1819370D293}" type="pres">
      <dgm:prSet presAssocID="{953D51F2-F817-5E4D-8D86-196CB93CCC36}" presName="sibTrans" presStyleLbl="sibTrans1D1" presStyleIdx="1" presStyleCnt="5"/>
      <dgm:spPr/>
      <dgm:t>
        <a:bodyPr/>
        <a:lstStyle/>
        <a:p>
          <a:endParaRPr lang="en-US"/>
        </a:p>
      </dgm:t>
    </dgm:pt>
    <dgm:pt modelId="{9BF7BD5C-860D-934F-89CF-ACA271BC028C}" type="pres">
      <dgm:prSet presAssocID="{953D51F2-F817-5E4D-8D86-196CB93CCC36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9631B1BB-A22D-5A45-ABBF-FE947F511F80}" type="pres">
      <dgm:prSet presAssocID="{853B68A4-E045-6C44-81AC-BD6D2EDD612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079562-9429-E64A-9F8F-15ABD7DBF7FD}" type="pres">
      <dgm:prSet presAssocID="{C2D31CE6-9201-EC44-B718-1FF04AE572E4}" presName="sibTrans" presStyleLbl="sibTrans1D1" presStyleIdx="2" presStyleCnt="5"/>
      <dgm:spPr/>
      <dgm:t>
        <a:bodyPr/>
        <a:lstStyle/>
        <a:p>
          <a:endParaRPr lang="en-US"/>
        </a:p>
      </dgm:t>
    </dgm:pt>
    <dgm:pt modelId="{E7CBA334-3534-BB45-AC94-C45FF46DDE2D}" type="pres">
      <dgm:prSet presAssocID="{C2D31CE6-9201-EC44-B718-1FF04AE572E4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B109764F-60F3-E749-9AE5-95B69D3F63D9}" type="pres">
      <dgm:prSet presAssocID="{1DD15041-7803-0446-9821-1DE8F32CE256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D27491-8205-D643-90DC-71FD8A31FE32}" type="pres">
      <dgm:prSet presAssocID="{893785DB-B566-C34C-9F83-50CFBE946D7E}" presName="sibTrans" presStyleLbl="sibTrans1D1" presStyleIdx="3" presStyleCnt="5"/>
      <dgm:spPr/>
      <dgm:t>
        <a:bodyPr/>
        <a:lstStyle/>
        <a:p>
          <a:endParaRPr lang="en-US"/>
        </a:p>
      </dgm:t>
    </dgm:pt>
    <dgm:pt modelId="{0B0338DD-BBC5-D445-A1DF-1C17B2010AD2}" type="pres">
      <dgm:prSet presAssocID="{893785DB-B566-C34C-9F83-50CFBE946D7E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D48F7CAA-0278-8240-8FAA-FE067A5D04D9}" type="pres">
      <dgm:prSet presAssocID="{7525A05C-DEEF-D049-B433-AEDEF823843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B0C6C9-D4C6-D84F-8A1A-6C057EDBC2A7}" type="pres">
      <dgm:prSet presAssocID="{D77C5A79-43C5-E749-B5E4-BAA9AF38EDBC}" presName="sibTrans" presStyleLbl="sibTrans1D1" presStyleIdx="4" presStyleCnt="5"/>
      <dgm:spPr/>
      <dgm:t>
        <a:bodyPr/>
        <a:lstStyle/>
        <a:p>
          <a:endParaRPr lang="en-US"/>
        </a:p>
      </dgm:t>
    </dgm:pt>
    <dgm:pt modelId="{62EFFE04-00EA-D148-93F4-E1428BE2580F}" type="pres">
      <dgm:prSet presAssocID="{D77C5A79-43C5-E749-B5E4-BAA9AF38EDBC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4A9314AF-31E5-2F46-A15A-D4ED62769F9A}" type="pres">
      <dgm:prSet presAssocID="{FED9EA23-173A-404C-87C6-AC58E07F238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2E9F45-5DFA-CE49-BAD9-A76390B6C77C}" srcId="{1C636429-2738-F546-A916-80EEDF1E10FA}" destId="{7525A05C-DEEF-D049-B433-AEDEF823843A}" srcOrd="4" destOrd="0" parTransId="{E735B630-CC49-9E48-8EED-DA8014D4EE6B}" sibTransId="{D77C5A79-43C5-E749-B5E4-BAA9AF38EDBC}"/>
    <dgm:cxn modelId="{11A4AF2D-5EE7-E34B-913D-88830DC4F30B}" type="presOf" srcId="{C2D31CE6-9201-EC44-B718-1FF04AE572E4}" destId="{E7CBA334-3534-BB45-AC94-C45FF46DDE2D}" srcOrd="1" destOrd="0" presId="urn:microsoft.com/office/officeart/2005/8/layout/bProcess3"/>
    <dgm:cxn modelId="{9B77358C-DE90-9145-BF6C-1F3307857ADA}" type="presOf" srcId="{C2D31CE6-9201-EC44-B718-1FF04AE572E4}" destId="{51079562-9429-E64A-9F8F-15ABD7DBF7FD}" srcOrd="0" destOrd="0" presId="urn:microsoft.com/office/officeart/2005/8/layout/bProcess3"/>
    <dgm:cxn modelId="{ED2CF9DF-E8F0-A14C-B970-12021D55A99B}" srcId="{1C636429-2738-F546-A916-80EEDF1E10FA}" destId="{FED9EA23-173A-404C-87C6-AC58E07F2389}" srcOrd="5" destOrd="0" parTransId="{EF95EAB5-4B6A-7B46-9805-48F1555C5601}" sibTransId="{E1DD6C9C-D477-2440-99E1-8F42B7070D9F}"/>
    <dgm:cxn modelId="{F9F6F226-9270-5A4C-8BAE-0355E0C1FDE0}" type="presOf" srcId="{CB4A86C1-E3C9-3F4E-A3D7-ADA5832AF8F4}" destId="{5E43B7A7-1089-3A4F-B1C4-0B9B8381D3AD}" srcOrd="0" destOrd="0" presId="urn:microsoft.com/office/officeart/2005/8/layout/bProcess3"/>
    <dgm:cxn modelId="{F092D1F4-B90D-C549-9991-4175A5FECA83}" type="presOf" srcId="{1DD15041-7803-0446-9821-1DE8F32CE256}" destId="{B109764F-60F3-E749-9AE5-95B69D3F63D9}" srcOrd="0" destOrd="0" presId="urn:microsoft.com/office/officeart/2005/8/layout/bProcess3"/>
    <dgm:cxn modelId="{4870A548-57CA-A440-9FB7-55EC1395DD57}" srcId="{1C636429-2738-F546-A916-80EEDF1E10FA}" destId="{E09C3467-9E26-444A-9A55-589C58FED186}" srcOrd="0" destOrd="0" parTransId="{9A6D1CD1-0E23-9142-A2F9-0C44E776B3B9}" sibTransId="{27D62082-75CC-184C-9FB7-60E6C8978923}"/>
    <dgm:cxn modelId="{15A5C6EC-52BB-DB46-B48C-669F4803E4F1}" srcId="{1C636429-2738-F546-A916-80EEDF1E10FA}" destId="{853B68A4-E045-6C44-81AC-BD6D2EDD6120}" srcOrd="2" destOrd="0" parTransId="{E4A0037A-F217-1844-B047-E9B0F378373C}" sibTransId="{C2D31CE6-9201-EC44-B718-1FF04AE572E4}"/>
    <dgm:cxn modelId="{BD11BB93-7303-7D44-B65C-8B362008FC53}" srcId="{1C636429-2738-F546-A916-80EEDF1E10FA}" destId="{1DD15041-7803-0446-9821-1DE8F32CE256}" srcOrd="3" destOrd="0" parTransId="{19707EF3-5F9A-B24F-A7F5-F811CD9FA81C}" sibTransId="{893785DB-B566-C34C-9F83-50CFBE946D7E}"/>
    <dgm:cxn modelId="{9D812C61-E5C4-984A-895C-8A81CDB77470}" type="presOf" srcId="{FED9EA23-173A-404C-87C6-AC58E07F2389}" destId="{4A9314AF-31E5-2F46-A15A-D4ED62769F9A}" srcOrd="0" destOrd="0" presId="urn:microsoft.com/office/officeart/2005/8/layout/bProcess3"/>
    <dgm:cxn modelId="{2059DCFF-53E0-974E-A713-1C509D93A546}" srcId="{CB4A86C1-E3C9-3F4E-A3D7-ADA5832AF8F4}" destId="{CE39FD04-B2A9-5A45-85CD-5495455BDD3B}" srcOrd="0" destOrd="0" parTransId="{BD4BE912-0DB4-7E40-A21B-E9232D61E886}" sibTransId="{8E79852C-9C95-DA4F-BA96-D2C0410A69D0}"/>
    <dgm:cxn modelId="{E88D488E-7DB9-5E44-B439-9C141F045096}" type="presOf" srcId="{893785DB-B566-C34C-9F83-50CFBE946D7E}" destId="{C1D27491-8205-D643-90DC-71FD8A31FE32}" srcOrd="0" destOrd="0" presId="urn:microsoft.com/office/officeart/2005/8/layout/bProcess3"/>
    <dgm:cxn modelId="{6F212F72-79A3-9A4C-856F-4BA488B4879A}" type="presOf" srcId="{5E2D62BE-266A-0D45-B906-1B29BDF34799}" destId="{9631B1BB-A22D-5A45-ABBF-FE947F511F80}" srcOrd="0" destOrd="1" presId="urn:microsoft.com/office/officeart/2005/8/layout/bProcess3"/>
    <dgm:cxn modelId="{9996DF7F-EDC8-704D-8256-7168583C0E34}" type="presOf" srcId="{953D51F2-F817-5E4D-8D86-196CB93CCC36}" destId="{6E7EBF88-55F2-0E4E-90DA-D1819370D293}" srcOrd="0" destOrd="0" presId="urn:microsoft.com/office/officeart/2005/8/layout/bProcess3"/>
    <dgm:cxn modelId="{2C88BC25-E45E-CD48-8864-BF3C727BFA21}" type="presOf" srcId="{C55C8E9B-FD37-074C-BFF6-DD30EBBEBEA5}" destId="{D48F7CAA-0278-8240-8FAA-FE067A5D04D9}" srcOrd="0" destOrd="1" presId="urn:microsoft.com/office/officeart/2005/8/layout/bProcess3"/>
    <dgm:cxn modelId="{147CEFEA-A202-5B40-A2D9-A3C9DCD1BD6E}" type="presOf" srcId="{8F003CF4-8A60-984A-9D02-B6B83050EFD0}" destId="{4198B288-5E33-5949-9D82-DB2307909588}" srcOrd="0" destOrd="1" presId="urn:microsoft.com/office/officeart/2005/8/layout/bProcess3"/>
    <dgm:cxn modelId="{FF41DF3B-8F02-5945-B921-3CCF47CC9A4F}" srcId="{E09C3467-9E26-444A-9A55-589C58FED186}" destId="{8F003CF4-8A60-984A-9D02-B6B83050EFD0}" srcOrd="0" destOrd="0" parTransId="{E5F39706-E472-1549-A1DE-3650F1A7EE56}" sibTransId="{3657E415-3A19-C14A-A100-CDCD225A6C98}"/>
    <dgm:cxn modelId="{AE0A59C8-4CFB-F54E-8A20-2CDF8A0F2002}" type="presOf" srcId="{7525A05C-DEEF-D049-B433-AEDEF823843A}" destId="{D48F7CAA-0278-8240-8FAA-FE067A5D04D9}" srcOrd="0" destOrd="0" presId="urn:microsoft.com/office/officeart/2005/8/layout/bProcess3"/>
    <dgm:cxn modelId="{AE604032-3B31-1347-88E1-AE7B30D2ABEB}" type="presOf" srcId="{E09C3467-9E26-444A-9A55-589C58FED186}" destId="{4198B288-5E33-5949-9D82-DB2307909588}" srcOrd="0" destOrd="0" presId="urn:microsoft.com/office/officeart/2005/8/layout/bProcess3"/>
    <dgm:cxn modelId="{9BABC76F-F228-284D-BCDC-76F12750D332}" type="presOf" srcId="{1C636429-2738-F546-A916-80EEDF1E10FA}" destId="{C1E8BCA6-215E-E746-AEBE-E22E0BFEF693}" srcOrd="0" destOrd="0" presId="urn:microsoft.com/office/officeart/2005/8/layout/bProcess3"/>
    <dgm:cxn modelId="{0E556C1A-9695-4749-922E-E7E6ED13556D}" type="presOf" srcId="{D77C5A79-43C5-E749-B5E4-BAA9AF38EDBC}" destId="{62EFFE04-00EA-D148-93F4-E1428BE2580F}" srcOrd="1" destOrd="0" presId="urn:microsoft.com/office/officeart/2005/8/layout/bProcess3"/>
    <dgm:cxn modelId="{07F1F00F-DBCB-FB42-88D6-E78440CC24B3}" type="presOf" srcId="{27D62082-75CC-184C-9FB7-60E6C8978923}" destId="{631121B5-F90D-4E46-B8FD-6CEC9D573020}" srcOrd="0" destOrd="0" presId="urn:microsoft.com/office/officeart/2005/8/layout/bProcess3"/>
    <dgm:cxn modelId="{83C117A0-3500-3347-9E53-F195171DD773}" type="presOf" srcId="{D77C5A79-43C5-E749-B5E4-BAA9AF38EDBC}" destId="{71B0C6C9-D4C6-D84F-8A1A-6C057EDBC2A7}" srcOrd="0" destOrd="0" presId="urn:microsoft.com/office/officeart/2005/8/layout/bProcess3"/>
    <dgm:cxn modelId="{7C07FBD4-EAD3-4D4E-BF2D-18600565EA33}" type="presOf" srcId="{27D62082-75CC-184C-9FB7-60E6C8978923}" destId="{7F0E2F1E-C94E-DA40-B648-541F47EB3C53}" srcOrd="1" destOrd="0" presId="urn:microsoft.com/office/officeart/2005/8/layout/bProcess3"/>
    <dgm:cxn modelId="{23627A47-FCAC-E646-822E-FCB10549E760}" type="presOf" srcId="{CE39FD04-B2A9-5A45-85CD-5495455BDD3B}" destId="{5E43B7A7-1089-3A4F-B1C4-0B9B8381D3AD}" srcOrd="0" destOrd="1" presId="urn:microsoft.com/office/officeart/2005/8/layout/bProcess3"/>
    <dgm:cxn modelId="{C3C83930-E0AD-944E-BED2-A1A5340AFE49}" type="presOf" srcId="{853B68A4-E045-6C44-81AC-BD6D2EDD6120}" destId="{9631B1BB-A22D-5A45-ABBF-FE947F511F80}" srcOrd="0" destOrd="0" presId="urn:microsoft.com/office/officeart/2005/8/layout/bProcess3"/>
    <dgm:cxn modelId="{3413FAC6-9E2A-6D4C-8592-9F31D272D137}" srcId="{7525A05C-DEEF-D049-B433-AEDEF823843A}" destId="{C55C8E9B-FD37-074C-BFF6-DD30EBBEBEA5}" srcOrd="0" destOrd="0" parTransId="{F23FBEB8-51B6-D54D-A709-F8CF761EE4F2}" sibTransId="{F1D0A3C7-FD5B-B843-88CC-469769BC25B8}"/>
    <dgm:cxn modelId="{140C364B-10E1-4F47-9F59-C92498A2E08E}" type="presOf" srcId="{893785DB-B566-C34C-9F83-50CFBE946D7E}" destId="{0B0338DD-BBC5-D445-A1DF-1C17B2010AD2}" srcOrd="1" destOrd="0" presId="urn:microsoft.com/office/officeart/2005/8/layout/bProcess3"/>
    <dgm:cxn modelId="{EF81B034-F645-CB4C-B13B-6979989D1400}" srcId="{853B68A4-E045-6C44-81AC-BD6D2EDD6120}" destId="{5E2D62BE-266A-0D45-B906-1B29BDF34799}" srcOrd="0" destOrd="0" parTransId="{D610DF42-3128-7A46-9764-92CC058A4459}" sibTransId="{61584508-4468-A04C-B932-71D19C1A3A71}"/>
    <dgm:cxn modelId="{75CA6EDC-3FAF-5149-9018-8FED8A7BD37D}" srcId="{1C636429-2738-F546-A916-80EEDF1E10FA}" destId="{CB4A86C1-E3C9-3F4E-A3D7-ADA5832AF8F4}" srcOrd="1" destOrd="0" parTransId="{B8D28C66-3AC0-A149-A08C-BA984C1BC79C}" sibTransId="{953D51F2-F817-5E4D-8D86-196CB93CCC36}"/>
    <dgm:cxn modelId="{62B59A1C-A224-0540-9F76-154D2D900A80}" type="presOf" srcId="{953D51F2-F817-5E4D-8D86-196CB93CCC36}" destId="{9BF7BD5C-860D-934F-89CF-ACA271BC028C}" srcOrd="1" destOrd="0" presId="urn:microsoft.com/office/officeart/2005/8/layout/bProcess3"/>
    <dgm:cxn modelId="{45C66AD1-7C7E-2541-BE5B-536F796538FA}" type="presParOf" srcId="{C1E8BCA6-215E-E746-AEBE-E22E0BFEF693}" destId="{4198B288-5E33-5949-9D82-DB2307909588}" srcOrd="0" destOrd="0" presId="urn:microsoft.com/office/officeart/2005/8/layout/bProcess3"/>
    <dgm:cxn modelId="{FEDC2418-FB59-E646-8426-C60326DC6763}" type="presParOf" srcId="{C1E8BCA6-215E-E746-AEBE-E22E0BFEF693}" destId="{631121B5-F90D-4E46-B8FD-6CEC9D573020}" srcOrd="1" destOrd="0" presId="urn:microsoft.com/office/officeart/2005/8/layout/bProcess3"/>
    <dgm:cxn modelId="{3BA37769-9FC1-2745-91EB-588463F88803}" type="presParOf" srcId="{631121B5-F90D-4E46-B8FD-6CEC9D573020}" destId="{7F0E2F1E-C94E-DA40-B648-541F47EB3C53}" srcOrd="0" destOrd="0" presId="urn:microsoft.com/office/officeart/2005/8/layout/bProcess3"/>
    <dgm:cxn modelId="{D339BECC-4C71-D942-98A7-26C365670F4B}" type="presParOf" srcId="{C1E8BCA6-215E-E746-AEBE-E22E0BFEF693}" destId="{5E43B7A7-1089-3A4F-B1C4-0B9B8381D3AD}" srcOrd="2" destOrd="0" presId="urn:microsoft.com/office/officeart/2005/8/layout/bProcess3"/>
    <dgm:cxn modelId="{A204AF74-CC8E-D74C-A16A-2C677BF367AA}" type="presParOf" srcId="{C1E8BCA6-215E-E746-AEBE-E22E0BFEF693}" destId="{6E7EBF88-55F2-0E4E-90DA-D1819370D293}" srcOrd="3" destOrd="0" presId="urn:microsoft.com/office/officeart/2005/8/layout/bProcess3"/>
    <dgm:cxn modelId="{25207581-28D5-DC48-8A7A-74E6A9FB6488}" type="presParOf" srcId="{6E7EBF88-55F2-0E4E-90DA-D1819370D293}" destId="{9BF7BD5C-860D-934F-89CF-ACA271BC028C}" srcOrd="0" destOrd="0" presId="urn:microsoft.com/office/officeart/2005/8/layout/bProcess3"/>
    <dgm:cxn modelId="{20665886-4032-774D-BF3E-5F750FEE49F0}" type="presParOf" srcId="{C1E8BCA6-215E-E746-AEBE-E22E0BFEF693}" destId="{9631B1BB-A22D-5A45-ABBF-FE947F511F80}" srcOrd="4" destOrd="0" presId="urn:microsoft.com/office/officeart/2005/8/layout/bProcess3"/>
    <dgm:cxn modelId="{83D42006-4953-DD4E-95DA-239742B2C749}" type="presParOf" srcId="{C1E8BCA6-215E-E746-AEBE-E22E0BFEF693}" destId="{51079562-9429-E64A-9F8F-15ABD7DBF7FD}" srcOrd="5" destOrd="0" presId="urn:microsoft.com/office/officeart/2005/8/layout/bProcess3"/>
    <dgm:cxn modelId="{EEE7CC3B-2654-884A-A37E-5298812A56AF}" type="presParOf" srcId="{51079562-9429-E64A-9F8F-15ABD7DBF7FD}" destId="{E7CBA334-3534-BB45-AC94-C45FF46DDE2D}" srcOrd="0" destOrd="0" presId="urn:microsoft.com/office/officeart/2005/8/layout/bProcess3"/>
    <dgm:cxn modelId="{62F2329E-DA06-6D4E-966E-EDAFC82ED476}" type="presParOf" srcId="{C1E8BCA6-215E-E746-AEBE-E22E0BFEF693}" destId="{B109764F-60F3-E749-9AE5-95B69D3F63D9}" srcOrd="6" destOrd="0" presId="urn:microsoft.com/office/officeart/2005/8/layout/bProcess3"/>
    <dgm:cxn modelId="{17B91066-E056-7F4D-B2AB-6DFC79AF8046}" type="presParOf" srcId="{C1E8BCA6-215E-E746-AEBE-E22E0BFEF693}" destId="{C1D27491-8205-D643-90DC-71FD8A31FE32}" srcOrd="7" destOrd="0" presId="urn:microsoft.com/office/officeart/2005/8/layout/bProcess3"/>
    <dgm:cxn modelId="{5ED82122-3124-DE48-BDED-CD37825BBAEA}" type="presParOf" srcId="{C1D27491-8205-D643-90DC-71FD8A31FE32}" destId="{0B0338DD-BBC5-D445-A1DF-1C17B2010AD2}" srcOrd="0" destOrd="0" presId="urn:microsoft.com/office/officeart/2005/8/layout/bProcess3"/>
    <dgm:cxn modelId="{2935AB04-ED26-164A-8EF7-D0E5C409EAF6}" type="presParOf" srcId="{C1E8BCA6-215E-E746-AEBE-E22E0BFEF693}" destId="{D48F7CAA-0278-8240-8FAA-FE067A5D04D9}" srcOrd="8" destOrd="0" presId="urn:microsoft.com/office/officeart/2005/8/layout/bProcess3"/>
    <dgm:cxn modelId="{2DB0C3C2-9400-2241-B1F6-5E4907A11C4D}" type="presParOf" srcId="{C1E8BCA6-215E-E746-AEBE-E22E0BFEF693}" destId="{71B0C6C9-D4C6-D84F-8A1A-6C057EDBC2A7}" srcOrd="9" destOrd="0" presId="urn:microsoft.com/office/officeart/2005/8/layout/bProcess3"/>
    <dgm:cxn modelId="{720AF23A-C09C-D446-8E4F-3CBCD4DFFFAB}" type="presParOf" srcId="{71B0C6C9-D4C6-D84F-8A1A-6C057EDBC2A7}" destId="{62EFFE04-00EA-D148-93F4-E1428BE2580F}" srcOrd="0" destOrd="0" presId="urn:microsoft.com/office/officeart/2005/8/layout/bProcess3"/>
    <dgm:cxn modelId="{ABE7D861-E79B-324E-9026-EF48DB72974A}" type="presParOf" srcId="{C1E8BCA6-215E-E746-AEBE-E22E0BFEF693}" destId="{4A9314AF-31E5-2F46-A15A-D4ED62769F9A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95C8B2-9642-0449-93F7-3C51760F1A34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D0CE47-97A5-E24F-9275-7182B155D4CD}">
      <dgm:prSet/>
      <dgm:spPr>
        <a:ln>
          <a:solidFill>
            <a:schemeClr val="accent2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Principal reason for change was the electrical constraints encountered with increasing the frequency of wide synchronous buses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B207F82-D916-2740-A9B1-6723AA31F9D2}" type="parTrans" cxnId="{55EAE053-F070-A74B-96BD-D29900398303}">
      <dgm:prSet/>
      <dgm:spPr/>
      <dgm:t>
        <a:bodyPr/>
        <a:lstStyle/>
        <a:p>
          <a:endParaRPr lang="en-US"/>
        </a:p>
      </dgm:t>
    </dgm:pt>
    <dgm:pt modelId="{77F8759A-B7FA-5440-9D4A-AEC7CC3FF598}" type="sibTrans" cxnId="{55EAE053-F070-A74B-96BD-D29900398303}">
      <dgm:prSet/>
      <dgm:spPr/>
      <dgm:t>
        <a:bodyPr/>
        <a:lstStyle/>
        <a:p>
          <a:endParaRPr lang="en-US" dirty="0"/>
        </a:p>
      </dgm:t>
    </dgm:pt>
    <dgm:pt modelId="{43CD7155-CA35-A546-B59F-D879E8CE0CEA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At higher and higher data rates it becomes increasingly difficult to perform the synchronization and arbitration functions in a timely fashion</a:t>
          </a:r>
          <a:endParaRPr lang="en-US" b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850E44-DB3D-7042-8539-593427B1A81C}" type="parTrans" cxnId="{765D3A70-C70C-514B-8B25-A133F06666E2}">
      <dgm:prSet/>
      <dgm:spPr/>
      <dgm:t>
        <a:bodyPr/>
        <a:lstStyle/>
        <a:p>
          <a:endParaRPr lang="en-US"/>
        </a:p>
      </dgm:t>
    </dgm:pt>
    <dgm:pt modelId="{CDDAF040-0E7B-984B-9E87-869488C1B894}" type="sibTrans" cxnId="{765D3A70-C70C-514B-8B25-A133F06666E2}">
      <dgm:prSet/>
      <dgm:spPr/>
      <dgm:t>
        <a:bodyPr/>
        <a:lstStyle/>
        <a:p>
          <a:endParaRPr lang="en-US" dirty="0"/>
        </a:p>
      </dgm:t>
    </dgm:pt>
    <dgm:pt modelId="{1AAC6EEE-461B-3842-B0ED-A4593E9F817B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conventional shared bus on the same chip magnified the difficulties of increasing bus data rate and reducing bus latency to keep up with the processors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202892-F649-0144-887D-7AC32FA73BEF}" type="parTrans" cxnId="{8BC6AFC2-7B9C-5341-A791-A07442635419}">
      <dgm:prSet/>
      <dgm:spPr/>
      <dgm:t>
        <a:bodyPr/>
        <a:lstStyle/>
        <a:p>
          <a:endParaRPr lang="en-US"/>
        </a:p>
      </dgm:t>
    </dgm:pt>
    <dgm:pt modelId="{933BF280-5C8B-8946-83F6-817B5202C80D}" type="sibTrans" cxnId="{8BC6AFC2-7B9C-5341-A791-A07442635419}">
      <dgm:prSet/>
      <dgm:spPr/>
      <dgm:t>
        <a:bodyPr/>
        <a:lstStyle/>
        <a:p>
          <a:endParaRPr lang="en-US" dirty="0"/>
        </a:p>
      </dgm:t>
    </dgm:pt>
    <dgm:pt modelId="{7B5C7865-F134-744D-B38B-370CA10A1AC5}">
      <dgm:prSet/>
      <dgm:spPr>
        <a:ln>
          <a:solidFill>
            <a:schemeClr val="accent2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 lower latency, higher data rate, and better scalability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8ABE53-5AAF-7B49-AAF4-E838FDE1E54A}" type="parTrans" cxnId="{C860E854-92C1-4C4A-A17B-6F95D63D6EEB}">
      <dgm:prSet/>
      <dgm:spPr/>
      <dgm:t>
        <a:bodyPr/>
        <a:lstStyle/>
        <a:p>
          <a:endParaRPr lang="en-US"/>
        </a:p>
      </dgm:t>
    </dgm:pt>
    <dgm:pt modelId="{7AE049DE-2BAF-C846-9A4A-9961465A48A9}" type="sibTrans" cxnId="{C860E854-92C1-4C4A-A17B-6F95D63D6EEB}">
      <dgm:prSet/>
      <dgm:spPr/>
      <dgm:t>
        <a:bodyPr/>
        <a:lstStyle/>
        <a:p>
          <a:endParaRPr lang="en-US"/>
        </a:p>
      </dgm:t>
    </dgm:pt>
    <dgm:pt modelId="{28739320-CC9B-1940-B126-6E14B9E0E2D9}" type="pres">
      <dgm:prSet presAssocID="{2495C8B2-9642-0449-93F7-3C51760F1A3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6AD10D-0170-A941-8C38-590D121EC16D}" type="pres">
      <dgm:prSet presAssocID="{06D0CE47-97A5-E24F-9275-7182B155D4C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584B08-0A1F-BA49-88AC-29D02014566B}" type="pres">
      <dgm:prSet presAssocID="{77F8759A-B7FA-5440-9D4A-AEC7CC3FF598}" presName="sibTrans" presStyleLbl="sibTrans1D1" presStyleIdx="0" presStyleCnt="3"/>
      <dgm:spPr/>
      <dgm:t>
        <a:bodyPr/>
        <a:lstStyle/>
        <a:p>
          <a:endParaRPr lang="en-US"/>
        </a:p>
      </dgm:t>
    </dgm:pt>
    <dgm:pt modelId="{9358B347-AADE-6F4E-BA2C-D53B138F8F09}" type="pres">
      <dgm:prSet presAssocID="{77F8759A-B7FA-5440-9D4A-AEC7CC3FF598}" presName="connectorText" presStyleLbl="sibTrans1D1" presStyleIdx="0" presStyleCnt="3"/>
      <dgm:spPr/>
      <dgm:t>
        <a:bodyPr/>
        <a:lstStyle/>
        <a:p>
          <a:endParaRPr lang="en-US"/>
        </a:p>
      </dgm:t>
    </dgm:pt>
    <dgm:pt modelId="{C5C28F71-B6F1-6140-ABE4-F2F8EFEA2A60}" type="pres">
      <dgm:prSet presAssocID="{43CD7155-CA35-A546-B59F-D879E8CE0CE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6C8CC4-8DDC-DB4A-A864-BBAD91FF52D0}" type="pres">
      <dgm:prSet presAssocID="{CDDAF040-0E7B-984B-9E87-869488C1B894}" presName="sibTrans" presStyleLbl="sibTrans1D1" presStyleIdx="1" presStyleCnt="3"/>
      <dgm:spPr/>
      <dgm:t>
        <a:bodyPr/>
        <a:lstStyle/>
        <a:p>
          <a:endParaRPr lang="en-US"/>
        </a:p>
      </dgm:t>
    </dgm:pt>
    <dgm:pt modelId="{B3398396-CF36-4049-A997-2CC644C2C964}" type="pres">
      <dgm:prSet presAssocID="{CDDAF040-0E7B-984B-9E87-869488C1B894}" presName="connectorText" presStyleLbl="sibTrans1D1" presStyleIdx="1" presStyleCnt="3"/>
      <dgm:spPr/>
      <dgm:t>
        <a:bodyPr/>
        <a:lstStyle/>
        <a:p>
          <a:endParaRPr lang="en-US"/>
        </a:p>
      </dgm:t>
    </dgm:pt>
    <dgm:pt modelId="{21465F50-952A-4B49-80A1-8A7E476A9ABC}" type="pres">
      <dgm:prSet presAssocID="{1AAC6EEE-461B-3842-B0ED-A4593E9F817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1B19A3-10CB-BC46-BEE6-87DE4C2D918F}" type="pres">
      <dgm:prSet presAssocID="{933BF280-5C8B-8946-83F6-817B5202C80D}" presName="sibTrans" presStyleLbl="sibTrans1D1" presStyleIdx="2" presStyleCnt="3"/>
      <dgm:spPr/>
      <dgm:t>
        <a:bodyPr/>
        <a:lstStyle/>
        <a:p>
          <a:endParaRPr lang="en-US"/>
        </a:p>
      </dgm:t>
    </dgm:pt>
    <dgm:pt modelId="{FF20F125-3D9B-FD44-9BBD-6B12C47252B4}" type="pres">
      <dgm:prSet presAssocID="{933BF280-5C8B-8946-83F6-817B5202C80D}" presName="connectorText" presStyleLbl="sibTrans1D1" presStyleIdx="2" presStyleCnt="3"/>
      <dgm:spPr/>
      <dgm:t>
        <a:bodyPr/>
        <a:lstStyle/>
        <a:p>
          <a:endParaRPr lang="en-US"/>
        </a:p>
      </dgm:t>
    </dgm:pt>
    <dgm:pt modelId="{3448E9C8-F176-0341-AC42-1CEFBB051AEF}" type="pres">
      <dgm:prSet presAssocID="{7B5C7865-F134-744D-B38B-370CA10A1AC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58954F-5364-AF42-ABDB-5199DF3161CB}" type="presOf" srcId="{7B5C7865-F134-744D-B38B-370CA10A1AC5}" destId="{3448E9C8-F176-0341-AC42-1CEFBB051AEF}" srcOrd="0" destOrd="0" presId="urn:microsoft.com/office/officeart/2005/8/layout/bProcess3"/>
    <dgm:cxn modelId="{7338FC63-0C7A-1C42-AE91-0777F34ED8C5}" type="presOf" srcId="{CDDAF040-0E7B-984B-9E87-869488C1B894}" destId="{7C6C8CC4-8DDC-DB4A-A864-BBAD91FF52D0}" srcOrd="0" destOrd="0" presId="urn:microsoft.com/office/officeart/2005/8/layout/bProcess3"/>
    <dgm:cxn modelId="{8FA95391-58C3-F54E-9758-14E0340229A1}" type="presOf" srcId="{77F8759A-B7FA-5440-9D4A-AEC7CC3FF598}" destId="{9358B347-AADE-6F4E-BA2C-D53B138F8F09}" srcOrd="1" destOrd="0" presId="urn:microsoft.com/office/officeart/2005/8/layout/bProcess3"/>
    <dgm:cxn modelId="{2ED9D9CE-331D-104C-9EC8-1758966DECB2}" type="presOf" srcId="{77F8759A-B7FA-5440-9D4A-AEC7CC3FF598}" destId="{C7584B08-0A1F-BA49-88AC-29D02014566B}" srcOrd="0" destOrd="0" presId="urn:microsoft.com/office/officeart/2005/8/layout/bProcess3"/>
    <dgm:cxn modelId="{55EAE053-F070-A74B-96BD-D29900398303}" srcId="{2495C8B2-9642-0449-93F7-3C51760F1A34}" destId="{06D0CE47-97A5-E24F-9275-7182B155D4CD}" srcOrd="0" destOrd="0" parTransId="{EB207F82-D916-2740-A9B1-6723AA31F9D2}" sibTransId="{77F8759A-B7FA-5440-9D4A-AEC7CC3FF598}"/>
    <dgm:cxn modelId="{9495C5F0-933F-8E43-909F-361499935C83}" type="presOf" srcId="{06D0CE47-97A5-E24F-9275-7182B155D4CD}" destId="{FB6AD10D-0170-A941-8C38-590D121EC16D}" srcOrd="0" destOrd="0" presId="urn:microsoft.com/office/officeart/2005/8/layout/bProcess3"/>
    <dgm:cxn modelId="{59312584-B37E-9541-8693-6BC02B22D025}" type="presOf" srcId="{1AAC6EEE-461B-3842-B0ED-A4593E9F817B}" destId="{21465F50-952A-4B49-80A1-8A7E476A9ABC}" srcOrd="0" destOrd="0" presId="urn:microsoft.com/office/officeart/2005/8/layout/bProcess3"/>
    <dgm:cxn modelId="{C860E854-92C1-4C4A-A17B-6F95D63D6EEB}" srcId="{2495C8B2-9642-0449-93F7-3C51760F1A34}" destId="{7B5C7865-F134-744D-B38B-370CA10A1AC5}" srcOrd="3" destOrd="0" parTransId="{9A8ABE53-5AAF-7B49-AAF4-E838FDE1E54A}" sibTransId="{7AE049DE-2BAF-C846-9A4A-9961465A48A9}"/>
    <dgm:cxn modelId="{A3F802C7-05DD-7D45-90BA-C5130D09741A}" type="presOf" srcId="{933BF280-5C8B-8946-83F6-817B5202C80D}" destId="{CF1B19A3-10CB-BC46-BEE6-87DE4C2D918F}" srcOrd="0" destOrd="0" presId="urn:microsoft.com/office/officeart/2005/8/layout/bProcess3"/>
    <dgm:cxn modelId="{765D3A70-C70C-514B-8B25-A133F06666E2}" srcId="{2495C8B2-9642-0449-93F7-3C51760F1A34}" destId="{43CD7155-CA35-A546-B59F-D879E8CE0CEA}" srcOrd="1" destOrd="0" parTransId="{B0850E44-DB3D-7042-8539-593427B1A81C}" sibTransId="{CDDAF040-0E7B-984B-9E87-869488C1B894}"/>
    <dgm:cxn modelId="{E9549512-72C6-3748-BA62-EB0E51FB9339}" type="presOf" srcId="{43CD7155-CA35-A546-B59F-D879E8CE0CEA}" destId="{C5C28F71-B6F1-6140-ABE4-F2F8EFEA2A60}" srcOrd="0" destOrd="0" presId="urn:microsoft.com/office/officeart/2005/8/layout/bProcess3"/>
    <dgm:cxn modelId="{ECF24F6A-A43F-F649-808B-8F9173359E10}" type="presOf" srcId="{933BF280-5C8B-8946-83F6-817B5202C80D}" destId="{FF20F125-3D9B-FD44-9BBD-6B12C47252B4}" srcOrd="1" destOrd="0" presId="urn:microsoft.com/office/officeart/2005/8/layout/bProcess3"/>
    <dgm:cxn modelId="{E3D09C21-7C03-244E-8E42-8DCCEDAFCB73}" type="presOf" srcId="{2495C8B2-9642-0449-93F7-3C51760F1A34}" destId="{28739320-CC9B-1940-B126-6E14B9E0E2D9}" srcOrd="0" destOrd="0" presId="urn:microsoft.com/office/officeart/2005/8/layout/bProcess3"/>
    <dgm:cxn modelId="{C8632283-988B-A246-A92A-72B594A3D257}" type="presOf" srcId="{CDDAF040-0E7B-984B-9E87-869488C1B894}" destId="{B3398396-CF36-4049-A997-2CC644C2C964}" srcOrd="1" destOrd="0" presId="urn:microsoft.com/office/officeart/2005/8/layout/bProcess3"/>
    <dgm:cxn modelId="{8BC6AFC2-7B9C-5341-A791-A07442635419}" srcId="{2495C8B2-9642-0449-93F7-3C51760F1A34}" destId="{1AAC6EEE-461B-3842-B0ED-A4593E9F817B}" srcOrd="2" destOrd="0" parTransId="{F5202892-F649-0144-887D-7AC32FA73BEF}" sibTransId="{933BF280-5C8B-8946-83F6-817B5202C80D}"/>
    <dgm:cxn modelId="{21B0EDCD-1C2D-504D-907E-26327BAE45E5}" type="presParOf" srcId="{28739320-CC9B-1940-B126-6E14B9E0E2D9}" destId="{FB6AD10D-0170-A941-8C38-590D121EC16D}" srcOrd="0" destOrd="0" presId="urn:microsoft.com/office/officeart/2005/8/layout/bProcess3"/>
    <dgm:cxn modelId="{F9C0C3AF-B32E-5F44-8929-CBBC68B1B936}" type="presParOf" srcId="{28739320-CC9B-1940-B126-6E14B9E0E2D9}" destId="{C7584B08-0A1F-BA49-88AC-29D02014566B}" srcOrd="1" destOrd="0" presId="urn:microsoft.com/office/officeart/2005/8/layout/bProcess3"/>
    <dgm:cxn modelId="{C56917E2-100E-934A-AD83-EE470D8DC82A}" type="presParOf" srcId="{C7584B08-0A1F-BA49-88AC-29D02014566B}" destId="{9358B347-AADE-6F4E-BA2C-D53B138F8F09}" srcOrd="0" destOrd="0" presId="urn:microsoft.com/office/officeart/2005/8/layout/bProcess3"/>
    <dgm:cxn modelId="{A42601D1-3327-C249-B028-E87FCA642DD2}" type="presParOf" srcId="{28739320-CC9B-1940-B126-6E14B9E0E2D9}" destId="{C5C28F71-B6F1-6140-ABE4-F2F8EFEA2A60}" srcOrd="2" destOrd="0" presId="urn:microsoft.com/office/officeart/2005/8/layout/bProcess3"/>
    <dgm:cxn modelId="{D802B615-8883-D341-BAA5-959A348DF83F}" type="presParOf" srcId="{28739320-CC9B-1940-B126-6E14B9E0E2D9}" destId="{7C6C8CC4-8DDC-DB4A-A864-BBAD91FF52D0}" srcOrd="3" destOrd="0" presId="urn:microsoft.com/office/officeart/2005/8/layout/bProcess3"/>
    <dgm:cxn modelId="{C52AF1AA-7899-7446-81E5-240CCDC925B6}" type="presParOf" srcId="{7C6C8CC4-8DDC-DB4A-A864-BBAD91FF52D0}" destId="{B3398396-CF36-4049-A997-2CC644C2C964}" srcOrd="0" destOrd="0" presId="urn:microsoft.com/office/officeart/2005/8/layout/bProcess3"/>
    <dgm:cxn modelId="{C6882C9B-C439-7246-9624-2CD59A9C8F7E}" type="presParOf" srcId="{28739320-CC9B-1940-B126-6E14B9E0E2D9}" destId="{21465F50-952A-4B49-80A1-8A7E476A9ABC}" srcOrd="4" destOrd="0" presId="urn:microsoft.com/office/officeart/2005/8/layout/bProcess3"/>
    <dgm:cxn modelId="{CC71DB90-ACB1-E74C-B299-DA5F4C9B24AF}" type="presParOf" srcId="{28739320-CC9B-1940-B126-6E14B9E0E2D9}" destId="{CF1B19A3-10CB-BC46-BEE6-87DE4C2D918F}" srcOrd="5" destOrd="0" presId="urn:microsoft.com/office/officeart/2005/8/layout/bProcess3"/>
    <dgm:cxn modelId="{E3D24B5B-F6B2-834C-85A4-E207DCC57ABD}" type="presParOf" srcId="{CF1B19A3-10CB-BC46-BEE6-87DE4C2D918F}" destId="{FF20F125-3D9B-FD44-9BBD-6B12C47252B4}" srcOrd="0" destOrd="0" presId="urn:microsoft.com/office/officeart/2005/8/layout/bProcess3"/>
    <dgm:cxn modelId="{56378566-8BE8-9044-B3D8-C81DBBAB9C0C}" type="presParOf" srcId="{28739320-CC9B-1940-B126-6E14B9E0E2D9}" destId="{3448E9C8-F176-0341-AC42-1CEFBB051AEF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190439"/>
          <a:ext cx="6248400" cy="575639"/>
        </a:xfrm>
        <a:prstGeom prst="round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Software</a:t>
          </a:r>
          <a:endParaRPr lang="en-US" sz="2400" kern="1200" dirty="0"/>
        </a:p>
      </dsp:txBody>
      <dsp:txXfrm>
        <a:off x="0" y="190439"/>
        <a:ext cx="6248400" cy="575639"/>
      </dsp:txXfrm>
    </dsp:sp>
    <dsp:sp modelId="{13B14588-5A20-EA4F-979E-F796522A9FDC}">
      <dsp:nvSpPr>
        <dsp:cNvPr id="0" name=""/>
        <dsp:cNvSpPr/>
      </dsp:nvSpPr>
      <dsp:spPr>
        <a:xfrm>
          <a:off x="0" y="766079"/>
          <a:ext cx="6248400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A sequence of codes or instructions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Part of the hardware interprets each instruction and generates control signals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Provide </a:t>
          </a:r>
          <a:r>
            <a:rPr lang="en-US" sz="1900" kern="1200" dirty="0" smtClean="0"/>
            <a:t>a new sequence of </a:t>
          </a:r>
          <a:r>
            <a:rPr lang="en-US" sz="1900" kern="1200" dirty="0" smtClean="0"/>
            <a:t>codes for each new program instead of rewiring the hardware</a:t>
          </a:r>
          <a:endParaRPr lang="en-US" sz="1900" kern="1200" dirty="0"/>
        </a:p>
      </dsp:txBody>
      <dsp:txXfrm>
        <a:off x="0" y="766079"/>
        <a:ext cx="6248400" cy="1490400"/>
      </dsp:txXfrm>
    </dsp:sp>
    <dsp:sp modelId="{759BB5A2-667B-D94C-B06E-5A570D0844D7}">
      <dsp:nvSpPr>
        <dsp:cNvPr id="0" name=""/>
        <dsp:cNvSpPr/>
      </dsp:nvSpPr>
      <dsp:spPr>
        <a:xfrm>
          <a:off x="0" y="2256479"/>
          <a:ext cx="6248400" cy="575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Major components:</a:t>
          </a:r>
          <a:endParaRPr lang="en-US" sz="2400" kern="1200" dirty="0"/>
        </a:p>
      </dsp:txBody>
      <dsp:txXfrm>
        <a:off x="0" y="2256479"/>
        <a:ext cx="6248400" cy="575639"/>
      </dsp:txXfrm>
    </dsp:sp>
    <dsp:sp modelId="{71A7FB0B-C6BF-A948-80B4-3819DEC8407E}">
      <dsp:nvSpPr>
        <dsp:cNvPr id="0" name=""/>
        <dsp:cNvSpPr/>
      </dsp:nvSpPr>
      <dsp:spPr>
        <a:xfrm>
          <a:off x="0" y="2832119"/>
          <a:ext cx="6248400" cy="337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CPU	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Instruction interpreter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Module of general-purpose arithmetic and logic functions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I/O Components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Input module</a:t>
          </a:r>
          <a:endParaRPr lang="en-US" sz="1900" kern="1200" dirty="0"/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Contains basic components for accepting data and instructions</a:t>
          </a:r>
          <a:r>
            <a:rPr lang="en-US" sz="1900" kern="1200" dirty="0" smtClean="0"/>
            <a:t> and </a:t>
          </a:r>
          <a:r>
            <a:rPr lang="en-US" sz="1900" kern="1200" dirty="0" smtClean="0"/>
            <a:t>converting them into an internal form of signals usable by the system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Output module</a:t>
          </a:r>
          <a:endParaRPr lang="en-US" sz="1900" kern="1200" dirty="0"/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Means of reporting results</a:t>
          </a:r>
          <a:endParaRPr lang="en-US" sz="1900" kern="1200" dirty="0"/>
        </a:p>
      </dsp:txBody>
      <dsp:txXfrm>
        <a:off x="0" y="2832119"/>
        <a:ext cx="6248400" cy="337824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0" y="100851"/>
          <a:ext cx="5970495" cy="597049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388082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Specifies the address in memory for the next read or write</a:t>
          </a:r>
          <a:endParaRPr lang="en-US" sz="1600" kern="1200" dirty="0"/>
        </a:p>
      </dsp:txBody>
      <dsp:txXfrm>
        <a:off x="388082" y="488934"/>
        <a:ext cx="2388198" cy="2388198"/>
      </dsp:txXfrm>
    </dsp:sp>
    <dsp:sp modelId="{97999900-43C2-D54D-B582-06A49E5B2881}">
      <dsp:nvSpPr>
        <dsp:cNvPr id="0" name=""/>
        <dsp:cNvSpPr/>
      </dsp:nvSpPr>
      <dsp:spPr>
        <a:xfrm>
          <a:off x="3194214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Contains the data to be written into memory or receives the data read from memory</a:t>
          </a:r>
          <a:endParaRPr lang="en-US" sz="1600" kern="1200" dirty="0"/>
        </a:p>
      </dsp:txBody>
      <dsp:txXfrm>
        <a:off x="3194214" y="488934"/>
        <a:ext cx="2388198" cy="2388198"/>
      </dsp:txXfrm>
    </dsp:sp>
    <dsp:sp modelId="{FE6EC989-1B64-3F42-878F-156D7B406D89}">
      <dsp:nvSpPr>
        <dsp:cNvPr id="0" name=""/>
        <dsp:cNvSpPr/>
      </dsp:nvSpPr>
      <dsp:spPr>
        <a:xfrm>
          <a:off x="388082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Specifies a particular I/O device</a:t>
          </a:r>
          <a:endParaRPr lang="en-US" sz="1600" kern="1200" dirty="0"/>
        </a:p>
      </dsp:txBody>
      <dsp:txXfrm>
        <a:off x="388082" y="3295066"/>
        <a:ext cx="2388198" cy="2388198"/>
      </dsp:txXfrm>
    </dsp:sp>
    <dsp:sp modelId="{646D4236-03AD-7E41-8503-EF196816C95A}">
      <dsp:nvSpPr>
        <dsp:cNvPr id="0" name=""/>
        <dsp:cNvSpPr/>
      </dsp:nvSpPr>
      <dsp:spPr>
        <a:xfrm>
          <a:off x="3194214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Used for the exchange of data between an I/O module and the CPU</a:t>
          </a:r>
          <a:endParaRPr lang="en-US" sz="1600" kern="1200" dirty="0"/>
        </a:p>
      </dsp:txBody>
      <dsp:txXfrm>
        <a:off x="3194214" y="3295066"/>
        <a:ext cx="2388198" cy="238819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4800599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The processor may perform some arithmetic or logic operation on data</a:t>
          </a:r>
          <a:endParaRPr lang="en-US" sz="1100" kern="1200" dirty="0"/>
        </a:p>
      </dsp:txBody>
      <dsp:txXfrm>
        <a:off x="5557219" y="3880103"/>
        <a:ext cx="1765447" cy="1225296"/>
      </dsp:txXfrm>
    </dsp:sp>
    <dsp:sp modelId="{2776F45E-5FC5-CA43-9A50-D05A48CD1AFA}">
      <dsp:nvSpPr>
        <dsp:cNvPr id="0" name=""/>
        <dsp:cNvSpPr/>
      </dsp:nvSpPr>
      <dsp:spPr>
        <a:xfrm>
          <a:off x="453390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 instruction may specify that the sequence of execution be altered</a:t>
          </a:r>
          <a:endParaRPr lang="en-US" sz="1100" kern="1200" dirty="0"/>
        </a:p>
      </dsp:txBody>
      <dsp:txXfrm>
        <a:off x="453390" y="3880103"/>
        <a:ext cx="1765447" cy="1225296"/>
      </dsp:txXfrm>
    </dsp:sp>
    <dsp:sp modelId="{FA7231E4-FE93-2E44-B26F-43C0B0662DE3}">
      <dsp:nvSpPr>
        <dsp:cNvPr id="0" name=""/>
        <dsp:cNvSpPr/>
      </dsp:nvSpPr>
      <dsp:spPr>
        <a:xfrm>
          <a:off x="4568342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Data transferred to or from a peripheral device by transferring between the processor and an I/O module</a:t>
          </a:r>
          <a:endParaRPr lang="en-US" sz="1100" kern="1200" dirty="0"/>
        </a:p>
      </dsp:txBody>
      <dsp:txXfrm>
        <a:off x="5324962" y="0"/>
        <a:ext cx="1765447" cy="1225296"/>
      </dsp:txXfrm>
    </dsp:sp>
    <dsp:sp modelId="{9F8AAC68-863D-194A-94BC-958615861BE8}">
      <dsp:nvSpPr>
        <dsp:cNvPr id="0" name=""/>
        <dsp:cNvSpPr/>
      </dsp:nvSpPr>
      <dsp:spPr>
        <a:xfrm>
          <a:off x="453390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Data transferred from processor to memory or from memory to processor</a:t>
          </a:r>
          <a:endParaRPr lang="en-US" sz="1100" kern="1200" dirty="0"/>
        </a:p>
      </dsp:txBody>
      <dsp:txXfrm>
        <a:off x="453390" y="0"/>
        <a:ext cx="1765447" cy="1225296"/>
      </dsp:txXfrm>
    </dsp:sp>
    <dsp:sp modelId="{31728101-0A4A-C148-9CC0-7B417D851487}">
      <dsp:nvSpPr>
        <dsp:cNvPr id="0" name=""/>
        <dsp:cNvSpPr/>
      </dsp:nvSpPr>
      <dsp:spPr>
        <a:xfrm>
          <a:off x="1510207" y="291007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10207" y="291007"/>
        <a:ext cx="2210638" cy="2210638"/>
      </dsp:txXfrm>
    </dsp:sp>
    <dsp:sp modelId="{FB9FD6F2-BE77-E846-84E9-9675E89A206D}">
      <dsp:nvSpPr>
        <dsp:cNvPr id="0" name=""/>
        <dsp:cNvSpPr/>
      </dsp:nvSpPr>
      <dsp:spPr>
        <a:xfrm rot="5400000">
          <a:off x="3822954" y="291007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822954" y="291007"/>
        <a:ext cx="2210638" cy="2210638"/>
      </dsp:txXfrm>
    </dsp:sp>
    <dsp:sp modelId="{2255D29E-98A3-2841-959C-001A2E7769D2}">
      <dsp:nvSpPr>
        <dsp:cNvPr id="0" name=""/>
        <dsp:cNvSpPr/>
      </dsp:nvSpPr>
      <dsp:spPr>
        <a:xfrm rot="10800000">
          <a:off x="3822954" y="2603754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3822954" y="2603754"/>
        <a:ext cx="2210638" cy="2210638"/>
      </dsp:txXfrm>
    </dsp:sp>
    <dsp:sp modelId="{AB84E314-BABC-734B-A008-40716B08F420}">
      <dsp:nvSpPr>
        <dsp:cNvPr id="0" name=""/>
        <dsp:cNvSpPr/>
      </dsp:nvSpPr>
      <dsp:spPr>
        <a:xfrm rot="16200000">
          <a:off x="1510207" y="2603754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16200000">
        <a:off x="1510207" y="2603754"/>
        <a:ext cx="2210638" cy="2210638"/>
      </dsp:txXfrm>
    </dsp:sp>
    <dsp:sp modelId="{860CA274-597B-3442-8D13-FB3B68E98947}">
      <dsp:nvSpPr>
        <dsp:cNvPr id="0" name=""/>
        <dsp:cNvSpPr/>
      </dsp:nvSpPr>
      <dsp:spPr>
        <a:xfrm>
          <a:off x="3390271" y="2093214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3390271" y="2348483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542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Memory to processor</a:t>
          </a:r>
          <a:endParaRPr lang="en-US" sz="2400" kern="1200" dirty="0"/>
        </a:p>
      </dsp:txBody>
      <dsp:txXfrm>
        <a:off x="4542" y="0"/>
        <a:ext cx="1594172" cy="1554480"/>
      </dsp:txXfrm>
    </dsp:sp>
    <dsp:sp modelId="{7A289841-0DFA-DC40-B41C-1ABB1BB9507C}">
      <dsp:nvSpPr>
        <dsp:cNvPr id="0" name=""/>
        <dsp:cNvSpPr/>
      </dsp:nvSpPr>
      <dsp:spPr>
        <a:xfrm>
          <a:off x="163960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63960" y="1554480"/>
        <a:ext cx="1275337" cy="3368040"/>
      </dsp:txXfrm>
    </dsp:sp>
    <dsp:sp modelId="{B2BA994D-30F9-6C41-A55D-ED7B7441E20B}">
      <dsp:nvSpPr>
        <dsp:cNvPr id="0" name=""/>
        <dsp:cNvSpPr/>
      </dsp:nvSpPr>
      <dsp:spPr>
        <a:xfrm>
          <a:off x="1718278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Processor to memory</a:t>
          </a:r>
          <a:endParaRPr lang="en-US" sz="2400" kern="1200" dirty="0"/>
        </a:p>
      </dsp:txBody>
      <dsp:txXfrm>
        <a:off x="1718278" y="0"/>
        <a:ext cx="1594172" cy="1554480"/>
      </dsp:txXfrm>
    </dsp:sp>
    <dsp:sp modelId="{FFF01117-2D73-4C4A-8AA2-26B5E57EA22A}">
      <dsp:nvSpPr>
        <dsp:cNvPr id="0" name=""/>
        <dsp:cNvSpPr/>
      </dsp:nvSpPr>
      <dsp:spPr>
        <a:xfrm>
          <a:off x="1877695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77695" y="1554480"/>
        <a:ext cx="1275337" cy="3368040"/>
      </dsp:txXfrm>
    </dsp:sp>
    <dsp:sp modelId="{723A76A5-AF66-704D-89E4-E12C687128C3}">
      <dsp:nvSpPr>
        <dsp:cNvPr id="0" name=""/>
        <dsp:cNvSpPr/>
      </dsp:nvSpPr>
      <dsp:spPr>
        <a:xfrm>
          <a:off x="3432013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I/O to processor</a:t>
          </a:r>
          <a:endParaRPr lang="en-US" sz="2400" kern="1200" dirty="0"/>
        </a:p>
      </dsp:txBody>
      <dsp:txXfrm>
        <a:off x="3432013" y="0"/>
        <a:ext cx="1594172" cy="1554480"/>
      </dsp:txXfrm>
    </dsp:sp>
    <dsp:sp modelId="{F3794D44-2421-604F-9FD1-6C436C8561DE}">
      <dsp:nvSpPr>
        <dsp:cNvPr id="0" name=""/>
        <dsp:cNvSpPr/>
      </dsp:nvSpPr>
      <dsp:spPr>
        <a:xfrm>
          <a:off x="359143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91431" y="1554480"/>
        <a:ext cx="1275337" cy="3368040"/>
      </dsp:txXfrm>
    </dsp:sp>
    <dsp:sp modelId="{9E9C8D55-3148-6340-864D-ABBC62D922A9}">
      <dsp:nvSpPr>
        <dsp:cNvPr id="0" name=""/>
        <dsp:cNvSpPr/>
      </dsp:nvSpPr>
      <dsp:spPr>
        <a:xfrm>
          <a:off x="5145749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Processor to I/O</a:t>
          </a:r>
          <a:endParaRPr lang="en-US" sz="2400" kern="1200" dirty="0"/>
        </a:p>
      </dsp:txBody>
      <dsp:txXfrm>
        <a:off x="5145749" y="0"/>
        <a:ext cx="1594172" cy="1554480"/>
      </dsp:txXfrm>
    </dsp:sp>
    <dsp:sp modelId="{548D6EDE-B8B3-C746-B02A-81D3EAD378CC}">
      <dsp:nvSpPr>
        <dsp:cNvPr id="0" name=""/>
        <dsp:cNvSpPr/>
      </dsp:nvSpPr>
      <dsp:spPr>
        <a:xfrm>
          <a:off x="5305166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305166" y="1554480"/>
        <a:ext cx="1275337" cy="3368040"/>
      </dsp:txXfrm>
    </dsp:sp>
    <dsp:sp modelId="{D2904A41-28E5-B841-BDD0-D02AAA21D5D0}">
      <dsp:nvSpPr>
        <dsp:cNvPr id="0" name=""/>
        <dsp:cNvSpPr/>
      </dsp:nvSpPr>
      <dsp:spPr>
        <a:xfrm>
          <a:off x="6859484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I/O to or from memory</a:t>
          </a:r>
          <a:endParaRPr lang="en-US" sz="2400" kern="1200" dirty="0"/>
        </a:p>
      </dsp:txBody>
      <dsp:txXfrm>
        <a:off x="6859484" y="0"/>
        <a:ext cx="1594172" cy="1554480"/>
      </dsp:txXfrm>
    </dsp:sp>
    <dsp:sp modelId="{CB75F928-42A8-694A-BAC0-2BC29682B0C3}">
      <dsp:nvSpPr>
        <dsp:cNvPr id="0" name=""/>
        <dsp:cNvSpPr/>
      </dsp:nvSpPr>
      <dsp:spPr>
        <a:xfrm>
          <a:off x="701890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sz="15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</a:t>
          </a:r>
          <a:r>
            <a:rPr lang="en-GB" sz="15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direct memory access</a:t>
          </a:r>
          <a:endParaRPr lang="en-GB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018901" y="1554480"/>
        <a:ext cx="1275337" cy="336804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31121B5-F90D-4E46-B8FD-6CEC9D573020}">
      <dsp:nvSpPr>
        <dsp:cNvPr id="0" name=""/>
        <dsp:cNvSpPr/>
      </dsp:nvSpPr>
      <dsp:spPr>
        <a:xfrm>
          <a:off x="3566672" y="785318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827861"/>
        <a:ext cx="31772" cy="6354"/>
      </dsp:txXfrm>
    </dsp:sp>
    <dsp:sp modelId="{4198B288-5E33-5949-9D82-DB2307909588}">
      <dsp:nvSpPr>
        <dsp:cNvPr id="0" name=""/>
        <dsp:cNvSpPr/>
      </dsp:nvSpPr>
      <dsp:spPr>
        <a:xfrm>
          <a:off x="805627" y="2184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 communication pathway connecting two or more devices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Key characteristic is that it is a shared transmission medium</a:t>
          </a:r>
          <a:endParaRPr lang="en-US" sz="1200" kern="1200" dirty="0"/>
        </a:p>
      </dsp:txBody>
      <dsp:txXfrm>
        <a:off x="805627" y="2184"/>
        <a:ext cx="2762845" cy="1657707"/>
      </dsp:txXfrm>
    </dsp:sp>
    <dsp:sp modelId="{6E7EBF88-55F2-0E4E-90DA-D1819370D293}">
      <dsp:nvSpPr>
        <dsp:cNvPr id="0" name=""/>
        <dsp:cNvSpPr/>
      </dsp:nvSpPr>
      <dsp:spPr>
        <a:xfrm>
          <a:off x="2187050" y="1658091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99769" y="1957341"/>
        <a:ext cx="172860" cy="6354"/>
      </dsp:txXfrm>
    </dsp:sp>
    <dsp:sp modelId="{5E43B7A7-1089-3A4F-B1C4-0B9B8381D3AD}">
      <dsp:nvSpPr>
        <dsp:cNvPr id="0" name=""/>
        <dsp:cNvSpPr/>
      </dsp:nvSpPr>
      <dsp:spPr>
        <a:xfrm>
          <a:off x="4203927" y="2184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Signals transmitted by any one device are available for reception by all other devices attached to the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If two devices transmit during the same time period their signals will overlap and become garbled</a:t>
          </a:r>
          <a:endParaRPr lang="en-US" sz="1200" kern="1200" dirty="0"/>
        </a:p>
      </dsp:txBody>
      <dsp:txXfrm>
        <a:off x="4203927" y="2184"/>
        <a:ext cx="2762845" cy="1657707"/>
      </dsp:txXfrm>
    </dsp:sp>
    <dsp:sp modelId="{51079562-9429-E64A-9F8F-15ABD7DBF7FD}">
      <dsp:nvSpPr>
        <dsp:cNvPr id="0" name=""/>
        <dsp:cNvSpPr/>
      </dsp:nvSpPr>
      <dsp:spPr>
        <a:xfrm>
          <a:off x="3566672" y="3078480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3121022"/>
        <a:ext cx="31772" cy="6354"/>
      </dsp:txXfrm>
    </dsp:sp>
    <dsp:sp modelId="{9631B1BB-A22D-5A45-ABBF-FE947F511F80}">
      <dsp:nvSpPr>
        <dsp:cNvPr id="0" name=""/>
        <dsp:cNvSpPr/>
      </dsp:nvSpPr>
      <dsp:spPr>
        <a:xfrm>
          <a:off x="8056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Typically consists of multiple communication lines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Each line is capable of transmitting signals representing binary 1 and binary 0</a:t>
          </a:r>
          <a:endParaRPr lang="en-US" sz="1200" kern="1200" dirty="0"/>
        </a:p>
      </dsp:txBody>
      <dsp:txXfrm>
        <a:off x="805627" y="2295346"/>
        <a:ext cx="2762845" cy="1657707"/>
      </dsp:txXfrm>
    </dsp:sp>
    <dsp:sp modelId="{C1D27491-8205-D643-90DC-71FD8A31FE32}">
      <dsp:nvSpPr>
        <dsp:cNvPr id="0" name=""/>
        <dsp:cNvSpPr/>
      </dsp:nvSpPr>
      <dsp:spPr>
        <a:xfrm>
          <a:off x="2187050" y="3951253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99769" y="4250503"/>
        <a:ext cx="172860" cy="6354"/>
      </dsp:txXfrm>
    </dsp:sp>
    <dsp:sp modelId="{B109764F-60F3-E749-9AE5-95B69D3F63D9}">
      <dsp:nvSpPr>
        <dsp:cNvPr id="0" name=""/>
        <dsp:cNvSpPr/>
      </dsp:nvSpPr>
      <dsp:spPr>
        <a:xfrm>
          <a:off x="42039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Computer systems contain a number of different buses that provide pathways between components at various levels of the computer system hierarchy</a:t>
          </a:r>
          <a:endParaRPr lang="en-US" sz="1500" kern="1200" dirty="0"/>
        </a:p>
      </dsp:txBody>
      <dsp:txXfrm>
        <a:off x="4203927" y="2295346"/>
        <a:ext cx="2762845" cy="1657707"/>
      </dsp:txXfrm>
    </dsp:sp>
    <dsp:sp modelId="{71B0C6C9-D4C6-D84F-8A1A-6C057EDBC2A7}">
      <dsp:nvSpPr>
        <dsp:cNvPr id="0" name=""/>
        <dsp:cNvSpPr/>
      </dsp:nvSpPr>
      <dsp:spPr>
        <a:xfrm>
          <a:off x="3566672" y="5371641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5414184"/>
        <a:ext cx="31772" cy="6354"/>
      </dsp:txXfrm>
    </dsp:sp>
    <dsp:sp modelId="{D48F7CAA-0278-8240-8FAA-FE067A5D04D9}">
      <dsp:nvSpPr>
        <dsp:cNvPr id="0" name=""/>
        <dsp:cNvSpPr/>
      </dsp:nvSpPr>
      <dsp:spPr>
        <a:xfrm>
          <a:off x="805627" y="4588508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i="1" kern="1200" dirty="0" smtClean="0"/>
            <a:t>System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A bus that connects major computer components (processor, memory, I/O)</a:t>
          </a:r>
          <a:endParaRPr lang="en-US" sz="1200" kern="1200" dirty="0"/>
        </a:p>
      </dsp:txBody>
      <dsp:txXfrm>
        <a:off x="805627" y="4588508"/>
        <a:ext cx="2762845" cy="1657707"/>
      </dsp:txXfrm>
    </dsp:sp>
    <dsp:sp modelId="{4A9314AF-31E5-2F46-A15A-D4ED62769F9A}">
      <dsp:nvSpPr>
        <dsp:cNvPr id="0" name=""/>
        <dsp:cNvSpPr/>
      </dsp:nvSpPr>
      <dsp:spPr>
        <a:xfrm>
          <a:off x="4203927" y="4588508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The most common computer interconnection structures are based on the use of one or more system buses</a:t>
          </a:r>
          <a:endParaRPr lang="en-GB" sz="1500" kern="1200" dirty="0"/>
        </a:p>
      </dsp:txBody>
      <dsp:txXfrm>
        <a:off x="4203927" y="4588508"/>
        <a:ext cx="2762845" cy="165770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7584B08-0A1F-BA49-88AC-29D02014566B}">
      <dsp:nvSpPr>
        <dsp:cNvPr id="0" name=""/>
        <dsp:cNvSpPr/>
      </dsp:nvSpPr>
      <dsp:spPr>
        <a:xfrm>
          <a:off x="3443277" y="824780"/>
          <a:ext cx="6355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555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44402" y="867169"/>
        <a:ext cx="33307" cy="6661"/>
      </dsp:txXfrm>
    </dsp:sp>
    <dsp:sp modelId="{FB6AD10D-0170-A941-8C38-590D121EC16D}">
      <dsp:nvSpPr>
        <dsp:cNvPr id="0" name=""/>
        <dsp:cNvSpPr/>
      </dsp:nvSpPr>
      <dsp:spPr>
        <a:xfrm>
          <a:off x="548736" y="1597"/>
          <a:ext cx="2896340" cy="1737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2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Principal reason for change was the electrical constraints encountered with increasing the frequency of wide synchronous buses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736" y="1597"/>
        <a:ext cx="2896340" cy="1737804"/>
      </dsp:txXfrm>
    </dsp:sp>
    <dsp:sp modelId="{7C6C8CC4-8DDC-DB4A-A864-BBAD91FF52D0}">
      <dsp:nvSpPr>
        <dsp:cNvPr id="0" name=""/>
        <dsp:cNvSpPr/>
      </dsp:nvSpPr>
      <dsp:spPr>
        <a:xfrm>
          <a:off x="1996906" y="1737602"/>
          <a:ext cx="3562499" cy="635558"/>
        </a:xfrm>
        <a:custGeom>
          <a:avLst/>
          <a:gdLst/>
          <a:ahLst/>
          <a:cxnLst/>
          <a:rect l="0" t="0" r="0" b="0"/>
          <a:pathLst>
            <a:path>
              <a:moveTo>
                <a:pt x="3562499" y="0"/>
              </a:moveTo>
              <a:lnTo>
                <a:pt x="3562499" y="334879"/>
              </a:lnTo>
              <a:lnTo>
                <a:pt x="0" y="334879"/>
              </a:lnTo>
              <a:lnTo>
                <a:pt x="0" y="63555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687550" y="2052050"/>
        <a:ext cx="181212" cy="6661"/>
      </dsp:txXfrm>
    </dsp:sp>
    <dsp:sp modelId="{C5C28F71-B6F1-6140-ABE4-F2F8EFEA2A60}">
      <dsp:nvSpPr>
        <dsp:cNvPr id="0" name=""/>
        <dsp:cNvSpPr/>
      </dsp:nvSpPr>
      <dsp:spPr>
        <a:xfrm>
          <a:off x="4111235" y="1597"/>
          <a:ext cx="2896340" cy="1737804"/>
        </a:xfrm>
        <a:prstGeom prst="rect">
          <a:avLst/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At higher and higher data rates it becomes increasingly difficult to perform the synchronization and arbitration functions in a timely fashion</a:t>
          </a:r>
          <a:endParaRPr lang="en-US" sz="1600" b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11235" y="1597"/>
        <a:ext cx="2896340" cy="1737804"/>
      </dsp:txXfrm>
    </dsp:sp>
    <dsp:sp modelId="{CF1B19A3-10CB-BC46-BEE6-87DE4C2D918F}">
      <dsp:nvSpPr>
        <dsp:cNvPr id="0" name=""/>
        <dsp:cNvSpPr/>
      </dsp:nvSpPr>
      <dsp:spPr>
        <a:xfrm>
          <a:off x="3443277" y="3228742"/>
          <a:ext cx="6355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555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44402" y="3271132"/>
        <a:ext cx="33307" cy="6661"/>
      </dsp:txXfrm>
    </dsp:sp>
    <dsp:sp modelId="{21465F50-952A-4B49-80A1-8A7E476A9ABC}">
      <dsp:nvSpPr>
        <dsp:cNvPr id="0" name=""/>
        <dsp:cNvSpPr/>
      </dsp:nvSpPr>
      <dsp:spPr>
        <a:xfrm>
          <a:off x="548736" y="2405560"/>
          <a:ext cx="2896340" cy="1737804"/>
        </a:xfrm>
        <a:prstGeom prst="rect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conventional shared bus on the same chip magnified the difficulties of increasing bus data rate and reducing bus latency to keep up with the processors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736" y="2405560"/>
        <a:ext cx="2896340" cy="1737804"/>
      </dsp:txXfrm>
    </dsp:sp>
    <dsp:sp modelId="{3448E9C8-F176-0341-AC42-1CEFBB051AEF}">
      <dsp:nvSpPr>
        <dsp:cNvPr id="0" name=""/>
        <dsp:cNvSpPr/>
      </dsp:nvSpPr>
      <dsp:spPr>
        <a:xfrm>
          <a:off x="4111235" y="2405560"/>
          <a:ext cx="2896340" cy="1737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2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 lower latency, higher data rate, and better scalability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11235" y="2405560"/>
        <a:ext cx="2896340" cy="1737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3 “A Top</a:t>
            </a:r>
            <a:r>
              <a:rPr lang="en-US" baseline="0" dirty="0" smtClean="0">
                <a:latin typeface="Times New Roman" pitchFamily="-110" charset="0"/>
              </a:rPr>
              <a:t> Level View of Computer Function and Interconnection</a:t>
            </a:r>
            <a:r>
              <a:rPr lang="en-US" dirty="0" smtClean="0">
                <a:latin typeface="Times New Roman" pitchFamily="-110" charset="0"/>
              </a:rPr>
              <a:t>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top level, a computer consists of CPU (central processing unit), memory,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components, with one or more modules of each type. These components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interconnected in some fashion to achieve the basic function of the computer,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to execute programs. Thus, at a top level, we can characterize a computer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describing (1) the external behavior of each component, that is, the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that it exchanges with other components and (2)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and the controls required to manage the use of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top-level view of structure and function is important because of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explanatory power in understanding the nature of a computer. Equally important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use to understand the increasingly complex issues of performance evaluation.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grasp of the top-level structure and function offers insight into system bottlenecks,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alternate pathways, the magnitude of system failures if a component fails,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ease of adding performance enhancements. In many cases, requirements for greater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power and fail-safe capabilities are being met by changing the design rather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merely increasing the speed and reliability of individual components.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chapter focuses on the basic structures used for computer component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interconnection. As background, the chapter begins with a brief examination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basic components and their interface requirements. Then a functional overview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provided. We are then prepared to examine the use of buses to interconnect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consider this alternative. Suppose we construct a general-purpose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arithmetic and logic functions. This set of hardware will perform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various functions on data depending on control signals applied to the hardware.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original case of customized hardware, the system accepts data and produces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results (Figure 3.1a). With general-purpose hardware, the system accepts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and produces results. Thus, instead of rewiring the hardware for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the programmer merely needs to supply a new set of control signals.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shall control signals be supplied? The answer is simple but subtle.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entire program is actually a sequence of steps. At each step, some arithmetic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logical operation is performed on some data. For each step, a new set of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 is needed. Let us provide a unique code for each possible set of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signals, and let us add to the general-purpose hardware a segment that can accept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and generate control signals (Figure 3.1b).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Programming is now much easier. Instead of rewiring the hardware for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all we need to do is provide a new sequence of codes. Each code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is, in effect, an instruction, and part of the hardware interprets each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generates control signals. To distinguish this new method of programming,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codes or instructions is called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software.</a:t>
            </a:r>
            <a:endParaRPr lang="en-US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3.1b indicates two major components of the system: an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interpreter and a module of general-purpose arithmetic and logic functions.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constitute the CPU. Several other components are needed to yield a functioning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computer. Data and instructions must be put into the system. For this we need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sort of input module. This module contains basic components for accepting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instructions in some form and converting them into an internal form of signals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usable by the system. A means of reporting results is needed, and this is in the form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an output module. Taken together, these are referred to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more component is needed. An input device will bring instructions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in sequentially. But a program is not invariably executed sequentially; it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jump around (e.g., the IAS jump instruction). Similarly, operations on data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 access to more than just one element at a time in a predetermined sequence.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there must be a place to store temporarily both instructions and data.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is called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or main memory,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distinguish it from external storage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devices. Von Neumann pointed out that the same memory could be used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store both instructions and data.</a:t>
            </a:r>
            <a:endParaRPr lang="en-US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CPU exchanges data with memory. For this purpose, it typically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makes use of two internal (to the CPU) registers: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 register (MAR),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specifies the address in memory for the next read or write, and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register (MBR),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contains the data to be written into memory or receives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read from memory. Similarly, an I/O address register (I/OAR) specifies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particular I/O device. An I/O buffer (I/OBR) register is used for the exchange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between an I/O module and the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3E32F-E570-C641-BE18-949DE937742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 illustrates these top-level components and suggests the interactions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among them.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module consists of a set of locations, defined by sequentially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numbered addresses. Each location contains a binary number that can be interpreted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either an instruction or data. An I/O module transfers data from external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CPU and memory, and vice versa. It contains internal buffers for temporarily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holding these data until they can be sent on.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E033D-50CC-1E44-AAA0-6DD604099704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its simplest form, instruction processing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steps: The processor reads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fetches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instructions from memory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and executes each instruction. Program execution consists of repeating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 of instruction fetch and instruction execution. The instruction execution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several operations and depends on the nature of the instruction.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processing required for a single instruction is called an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cycle.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 simplified two-step description given previously, the instruction cycle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depicted in Figure 3.3. The two steps are referred to as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execution halts only if the machine is turned off, some sort of unrecoverable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occurs, or a program instruction that halts the computer is encountered.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483BA-5995-B74C-A3C4-0B5F68142E61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beginning of each instruction cycle, the processor fetches an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 In a typical processor, a register called the program counter (PC)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holds the address of the instruction to be fetched next. Unless told otherwise,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always increments the PC after each instruction fetch so that it will fetch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next instruction in sequence (i.e., the instruction located at the next higher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address). So, for example, consider a computer in which each instruction occupies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16-bit word of memory. Assume that the program counter is set to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300, where the location address refers to a 16-bit word. The processor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fetch the instruction at location 300. On succeeding instruction cycles, it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instructions from locations 301, 302, 303, and so on. This sequence may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altered, as explained presently.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fetched instruction is loaded into a register in the processor known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instruction register (IR). The instruction contains bits that specify the 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is to take. The processor interprets the instruction and performs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action. 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these actions fall into four categories: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from processor to memory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 to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to or from a peripheral device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transferring between the processor and an I/O module.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may perform some arithmetic or logic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data.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Control: An instruction may specify that the sequence of execution be altered.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the processor may fetch an instruction from location 149,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specifies that the next instruction be from location 182. The processor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remember this fact by setting the program counter to 182. Thus, on the next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cycle, the instruction will be fetched from location 182 rather than 150.</a:t>
            </a:r>
            <a:endParaRPr lang="en-GB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instruction’s execution may involve a combination of these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a simple example using a hypothetical machine that includes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characteristics listed in Figure 3.4. The processor contains a single data register,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an accumulator (AC). Both instructions and data are 16 bits long. Thus, it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convenient to organize memory using 16-bit words. The instruction format provides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bits for the opcode, so that there can be as many as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16 different opcodes,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 to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4096 (4K) words of memory can be directly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06EC-8C2C-494A-A338-324AC533F03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3.5 illustrates a partial program execution, showing the relevant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portions of memory and processor registers. The program fragment shown adds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contents of the memory word at address 940 to the contents of the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at address 941 and stores the result in the latter location. Three instructions,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can be described as three fetch and three execute cycles, are required: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The PC contains 300, the address of the first instruction. This instruction (the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1940 in hexadecimal) is loaded into the instruction register IR,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PC is incremented. Note that this process involves the use of a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register and a memory buffer register. For simplicity, these intermediate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are ignored.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The first 4 bits (first hexadecimal digit) in the IR indicate that the AC is to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loaded. The remaining 12 bits (three hexadecimal digits) specify the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(940) from which data are to be loaded.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The next instruction (5941) is fetched from location 301, and the PC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4. The old contents of the AC and the contents of location 941 are added, and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stored in the AC.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5. The next instruction (2941) is fetched from location 302, and the PC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6. The contents of the AC are stored in location 941.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example, three instruction cycles, each consisting of a fetch cycle and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cycle, are needed to add the contents of location 940 to the contents of 941.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a more complex set of instructions, fewer cycles would be needed. Some older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processors, for example, included instructions that contain more than one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Thus, the execution cycle for a particular instruction on such processors could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more than one reference to memory. Also, instead of memory references,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may specify an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6D7E0-58B7-F64B-B355-38566347351C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cycle for a particular instruction may involve more than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reference to memory. Also, instead of memory references, an instruction may specify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operation. With these additional considerations in mind, Figure 3.6 provides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detailed look at the basic instruction cycle of Figure 3.3. The figure is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 of a state diagram.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any given instruction cycle, some states may be null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others may be visited more than once. The states can be described as follows: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address calculation (iac):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 the address of the next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be executed. Usually, this involves adding a fixed number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the previous instruction. For example, if each instruction is 16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long and memory is organized into 16-bit words, then add 1 to the previous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If, instead, memory is organized as individually addressable 8-bit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bytes, then add 2 to the previous address.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fetch (if):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instruction from its memory location into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operation decoding (iod):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Analyze instruction to determine type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operation to be performed and operand(s) to be used.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address calculation (oac):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the operation involves reference to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in memory or available via I/O, then determine the address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fetch (of):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the operand from memory or read it in from I/O.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operation (do):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the operation indicated in the instruction.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store (os):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the result into memory or out to I/O.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States in the upper part of Figure 3.6 involve an exchange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and either memory or an I/O module. States in the lower part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involve only internal processor operations. The oac state appears twice,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an instruction may involve a read, a write, or both. However, the action performed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that state is fundamentally the same in both cases, and so only a single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identifier is needed.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note that the diagram allows for multiple operands and multiple results,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some instructions on some machines require this. For example, the PDP-11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 A,B results in the following sequence of states: iac, if, iod, oac, of,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oac, of, do, oac, os.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on some machines, a single instruction can specify an operation to be performed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vector (one-dimensional array) of numbers or a string (one-dimensional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array) of characters. As Figure 3.6 indicates, this would involve repetitive operand fetch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and/or store operations.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Virtually all computers provide a mechanism by which other modules (I/O, memory)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normal processing of the processor. Table 3.1 lists the most common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classes of interrupts. The specific nature of these interrupts is examined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later in this book, especially in Chapters 7 and 14. However, we need to introduce the concept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to understand more clearly the nature of the instruction cycle and the implications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interrupts on the interconnection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F463A-006A-0B49-9C41-3375E75D6147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provided primarily as a way to improve processing efficiency.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most external devices are much slower than the processor. Suppose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the processor is transferring data to a printer using the instruction cycle scheme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Figure 3.3. After each write operation, the processor must pause and remain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idle until the printer catches up. The length of this pause may be on the order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hundreds or even thousands of instruction cycles that do not involve memory.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this is a very wasteful use of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3.7a illustrates this state of affairs. The user program performs a series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WRITE calls interleaved with processing. Code segments 1, 2, and 3 refer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sequences of instructions that do not involve I/O. The WRITE calls are to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that is a system utility and that will perform the actual I/O operation.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consists of three sections: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4 in the figure, to prepare for the actual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operation. This may include copying the data to be output into a special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and preparing the parameters for a device command.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actual I/O command. Without the use of interrupts, once this command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issued, the program must wait for the I/O device to perform the requested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(or periodically poll the device). The program might wait by simply repeatedly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performing a test operation to determine if the I/O operation is done.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5 in the figure, to complete the operation.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may include setting a flag indicating the success or failure of the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I/O operation may take a relatively long time to complete,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is hung up waiting for the operation to complete; hence, the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stopped at the point of the WRITE call for some considerable period of time.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interrupts, the processor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engaged in executing other instructions while an I/O operation is in progress.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the flow of control in Figure 3.7b. As before, the user program reaches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 at which it makes a system call in the form of a WRITE call. The I/O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is invoked in this case consists only of the preparation code and the actual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command. After these few instructions have been executed, control returns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program. Meanwhile, the external device is busy accepting data from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and printing it. This I/O operation is conducted concurrently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of instructions in the user program.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external device becomes ready to be serviced—that is, when it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ready to accept more data from the processor—the I/O module for that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sends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 to the processor. The processor responds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suspending operation of the current program, branching off to a program to service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particular I/O device, known as an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resuming the original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after the device is serviced. The points at which such interrupts occur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indicated by an asterisk in Figure 3.7b.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Let us try to clarify what is happening in Figure 3.7. We have a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contains two WRITE commands. There is a segment of code at the beginning,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then one WRITE command, then a second segment of code, then a second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command, then a third and final segment of code. The WRITE command invokes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provided by the OS. Similarly, the I/O program consists of a segment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code, followed by an I/O command, followed by another segment of code.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invokes a hardware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the point of view of the user program, an interrupt is just that: an interruption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normal sequence of execution. When the interrupt processing is completed,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resumes (Figure 3.8). Thus, the user program does not have to contain any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special code to accommodate interrupts; the processor and the operating system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suspending the user program and then resuming it at the same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accommodate interrupts,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added to the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as shown in Figure 3.9. In the interrupt cycle, the processor checks to see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any interrupts have occurred, indicated by the presence of an interrupt signal. If no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pending, the processor proceeds to the fetch cycle and fetches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instruction of the current program. If an interrupt is pending,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does the 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suspends execution of the current program being executed and saves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context. This means saving the address of the next instruction to be executed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(current contents of the program counter) and any other data relevant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processor’s current activity.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sets the program counter to the starting address of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now proceeds to the fetch cycle and fetches the first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interrupt handler program, which will service the interrupt. The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handler program is generally part of the operating system. Typically, this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nature of the interrupt and performs whatever actions are needed.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example we have been using, the handler determines which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generated the interrupt and may branch to a program that will write more data 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that I/O module. When the interrupt handler routine is completed,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resume execution of the user program at the point of interruption.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clear that there is some overhead involved in this process. Extra instructions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executed (in the interrupt handler) to determine the nature of the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to decide on the appropriate action. Nevertheless, because of the relatively large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amount of time that would be wasted by simply waiting on an I/O operation,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can be employed much more efficiently with the use of interrupts.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appreciate the gain in efficiency, consider Figure 3.10, which is a timing diagram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based on the flow of control in Figures 3.7a and 3.7b. In this figure,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segments are shaded green, and I/O program code segments are shaded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gray. Figure 3.10a shows the case in which interrupts are not used. The processor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wait while an I/O operation is performed.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Figures 3.7b and 3.10b assume that the time required for the I/O operation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relatively short: less than the time to complete the execution of instructions between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in the user program. In this case, the segment of code labeled code segment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 is interrupted. A portion of the code (2a) executes (while the I/O operation is performed)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then the interrupt occurs (upon the completion of the I/O operation). After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interrupt is serviced, execution resumes with the remainder of code segment 2 (2b).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more typical case, especially for a slow device such as a printer, is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will take much more time than executing a sequence of user instructions.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3.7c indicates this state of affairs. In this case, the user program reaches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second WRITE call before the I/O operation spawned by the first call is complete.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that the user program is hung up at that point. When the preceding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is completed, this new WRITE call may be processed, and a new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may be started. Figure 3.11 shows the timing for this situation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without the use of interrupts. We can see that there is still a gain in efficiency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part of the time during which the I/O operation is under way overlaps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of user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9FD7A-68AE-2246-9696-D286D4DC51B8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3.12 shows a revised instruction cycle state diagram that includes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processing.</a:t>
            </a:r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94A4-3155-A841-ACC2-3971B4768073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approaches can be taken to dealing with multiple interrupts. The first is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 interrupts while an interrupt is being processed.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disabled interrupt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means that the processor can and will ignore that interrupt request signal. If an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during this time, it generally remains pending and will be checked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after the processor has enabled interrupts. Thus, when a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executing and an interrupt occurs, interrupts are disabled immediately. After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 completes, interrupts are enabled before resuming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program, and the processor checks to see if additional interrupts have occurred.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approach is nice and simple, as interrupts are handled in strict sequential order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 3.13a).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drawback to the preceding approach is that it does not take into account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 priority or time-critical needs. For example, when input arrives from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line, it may need to be absorbed rapidly to make room for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input. If the first batch of input has not been processed before the second batch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arrives, data may be lost.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second approach is to define priorities for interrupts and to allow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of higher priority to cause a lower-priority interrupt handler to be itself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interrupted (Figure 3.13b).</a:t>
            </a:r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CAAD5B-E719-A746-9D42-C6CCFDA14778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example of this second approach, consider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with three I/O devices: a printer, a disk, and a communications line,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increasing priorities of 2, 4, and 5, respectively. Figure 3.14 illustrates a possible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sequence. A user program begins at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0. At t = 10,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printer interrupt occurs; user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is placed on the system stack and execution continues at the printer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service routine (ISR).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While this routine is still executing, at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15,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interrupt occurs. Because the communications line has higher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priority than the printer, the interrupt is honored. The printer ISR is interrupted,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state is pushed onto the stack, and execution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continues at the communications ISR. While this routine is executing, a disk interrupt occurs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20). Because this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is of lower priority, it is simply held, and the communications ISR runs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completion.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communications ISR is complete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25), the previous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is restored, which is the execution of the printer ISR. However, before even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 instruction in that routine can be executed, the processor honors the higher priority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disk interrupt and control transfers to the disk ISR. Only when that routine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complete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35) is the printer ISR resumed. When that routine completes (t = 40),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finally returns to the user program.</a:t>
            </a:r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0F0E0C-5D68-9949-ACBC-82A0D7108A1B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computer consists of a set of components or modules of three basic types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(processor, memory, I/O) that communicate with each other. In effect, a computer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network of basic modules. Thus, there must be paths for connecting the modules.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collection of paths connecting the various modules is called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of this structure will depend on the exchanges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made among modules.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3.15 suggests the types of exchanges that are needed by indicating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major forms of input and output for each module type: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memory module will consist of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words of equal length.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word is assigned a unique numerical address (0, 1, …,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- 1). A word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can be read from or written into the memory. The nature of the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indicated by read and write control signals. The location for the operation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specified by an address.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module: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an internal (to the computer system) point of view,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functionally similar to memory. There are two operations, read and write.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Further, an I/O module may control more than one external device. We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 to each of the interfaces to an external device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give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unique address (e.g., 0, 1, …,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- 1)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In addition, there are external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paths for the input and output of data with an external device. Finally,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may be able to send interrupt signals to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in instructions and data, writes out data after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processing, and uses control signals to control the overall operation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system. It also receives interrupt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D44FE-DACA-4D42-8C03-AE892A80BD0A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preceding list defines the data to be exchanged.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must support the following types of transfers: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to 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an instruction or a unit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writes a unit of data to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data from an I/O device via an I/O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sends data to the I/O 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or from 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two cases, an I/O module is allowed to exchange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directly with memory, without going through the processor,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memory access.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the years, a number of interconnection structures have been tried.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far the most common are (1) the bus and various multiple-bus structures, and (2)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 with packetized data transfer. We devote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remainder of this chapter for a discussion of these structures.</a:t>
            </a:r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16D75-E218-A14B-B9E2-6CD651DC94F8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bus is a communication pathway connecting two or more devices. A key characteristic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bus is that it is a shared transmission medium. Multiple devices 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bus, and a signal transmitted by any one device is available for reception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other devices attached to the bus. If two devices transmit during the same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period, their signals will overlap and become garbled. Thus, only one device at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can successfully transmit.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bus consists of multiple communication pathways, or lines.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capable of transmitting signals representing binary 1 and binary 0. Over time,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sequence of binary digits can be transmitted across a single line. Taken together,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several lines of a bus can be used to transmit binary digits simultaneously (in parallel).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an 8-bit unit of data can be transmitted over eight bus lines.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 systems contain a number of different buses that provide pathways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components at various levels of the computer system hierarchy. A bus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major computer components (processor, memory, I/O) is called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most common computer interconnection structures are based on the use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system buses.</a:t>
            </a:r>
            <a:endParaRPr 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889A1-02AE-F14F-8173-99F7AB073639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consists, typically, of from about fifty to hundreds of separate lines.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 a path for moving data among system modules.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lines, collectively, are called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 may consist of 32, 64, 128,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 more separate lines, the number of lines being referred to as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width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Because each line can carry only 1 bit at a time, the number of lines determines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many bits can be transferred at a time. The width of the data bus is a key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factor in determining overall system performance. For example, if the data bus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32 bits wide and each instruction is 64 bits long, then the processor must access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module twice during each instruction cycle.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DFCFA-2CFA-7C4C-BE9D-1BCBF27AFAA1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designate the source or destination of the data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bus. For example, if the processor wishes to read a word (8, 16, or 32 bits)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from memory, it puts the address of the desired word on the address lines.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the width of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bus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maximum possible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capacity of the system. Furthermore, the address lines are generally also used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I/O ports. Typically, the higher-order bits are used to select a particular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on the bus, and the lower-order bits select a memory location or I/O 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within the module. For example, on an 8-bit address bus, address 01111111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below might reference locations in a memory module (module 0) with 128 words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memory, and address 10000000 and above refer to devices attached to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(module 1).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control the access to and the use of the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lines. Because the data and address lines are shared by all components,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must be a means of controlling their use. Control signals transmit both command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timing information among system modules. Timing signals indicate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validity of data and address information. Command signals specify operations to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performed. Typical control lines include: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write: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written into the addressed location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read: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location to be placed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write: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output to the addressed I/O port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read: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I/O port to be placed on the 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 ACK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indicates that data have been accepted from or placed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request: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module needs to gain control of the 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grant: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requesting module has been granted control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an interrupt is pending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ACK: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acknowledges that the pending interrupt has been recognized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to synchronize operations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Reset: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initializes all modules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b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F8F30-029E-7644-B43D-D6FE542EBDA3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operation of the bus is as follows. If one module wishes to send data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another, it must do two things: (1) obtain the use of the bus, and (2) transfer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via the bus. If one module wishes to request data from another module, it must (1)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obtain the use of the bus, and (2) transfer a request to the other module over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appropriate control and address lines. It must then wait for that second module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send the data.</a:t>
            </a:r>
            <a:endParaRPr lang="en-GB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60A91-EC95-C04A-A9C2-042C83B7A3F8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great number of devices are connected to the bus, performance will suffer.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two main causes: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 more devices attached to the bus, the greater the bus length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hence the greater the propagation delay. This delay determines the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takes for devices to coordinate the use of the bus. When control of the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passes from one device to another frequently, these propagation delays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noticeably affect performance.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may become a bottleneck as the aggregate data transfer demand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approaches the capacity of the bus. This problem can be countered to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extent by increasing the data rate that the bus can carry and by using wider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 (e.g., increasing the data bus from 32 to 64 bits). However, because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 generated by attached devices (e.g., graphics and video controllers,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network interfaces) are growing rapidly, this is a race that a single bus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ultimately destined to lose.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Accordingly, most bus-based computer systems use multiple buses, generally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laid out in a hierarchy. A typical traditional structure is shown in Figure 3.17a. There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local bus that connects the processor to a cache memory and that may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local devices. The cache memory controller connects the cache not only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local bus, but to a system bus to which are attached all of the main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modules. In contemporary systems, the cache is in the same chip as the processor,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 an external bus or other interconnect scheme is not needed, although there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be an external cache. As will be discussed in Chapter 4, the use of a cache structure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insulates the processor from a requirement to access main memory frequently.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can be moved off of the local bus onto a system bus. In this way,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transfers to and from the main memory across the system bus do not interfere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processor’s activity.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connect I/O controllers directly onto the system bus. A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efficient solution is to make use of one or more expansion buses for this purpose.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expansion bus interface buffers data transfers between the system bus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controllers on the expansion bus. This arrangement allows the system to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wide variety of I/O devices and at the same time insulate memory-to-processor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from I/O traffic.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3.17a shows some typical examples of I/O devices that might be attached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expansion bus. Network connections include local area networks (LANs)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a 10-Mbps Ethernet and connections to wide area networks (WANs)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packet-switching network. SCSI (small computer system interface) is itself a type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bus used to support local disk drives and other peripherals. A serial port could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to support a printer or scanner.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traditional bus architecture is reasonably efficient but begins to break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down as higher and higher performance is seen in the I/O devices. In response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growing demands, a common approach taken by industry is to build a high-speed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is closely integrated with the rest of the system, requiring only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 between the processor’s bus and the high-speed bus. This arrangement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sometimes known as a mezzanine architecture.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3.17b shows a typical realization of this approach. Again, there is a local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connects the processor to a cache controller, which is in turn connected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that supports main memory. The cache controller is integrated into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bridge, or buffering device, that connects to the high-speed bus. This bus supports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connections to high-speed LANs, such as Fast Ethernet at 100 Mbps, video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graphics workstation controllers, as well as interface controllers to local peripheral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buses, including SCSI and FireWire. The latter is a high-speed bus arrangement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specifically designed to support high-capacity I/O devices. Lower-speed devices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still supported off an expansion bus, with an interface buffering traffic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expansion bus and the high-speed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this arrangement is that the high-speed bus brings high demand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 into closer integration with the processor and at the same time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independent of the processor. Thus, differences in processor and high-speed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speeds and signal line definitions are tolerated. Changes in processor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 not affect the high-speed bus, and vice versa.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Although a variety of different bus implementations exist, there are a few basic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parameters or design elements that serve to classify and differentiate buses. Table 3.2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lists key elements.</a:t>
            </a:r>
          </a:p>
          <a:p>
            <a:endParaRPr kumimoji="1" lang="en-US" sz="1200" b="1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Types: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lines can be separated into two generic types: dedicated and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multiplexed. A dedicated bus line is permanently assigned either to one function or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 physical subset of computer components.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of functional dedication is the use of separate dedicated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data lines, which is common on many buses. However, it is not essential.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example, address and data information may be transmitted over the same set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using an Address Valid control line. At the beginning of a data transfer,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is placed on the bus and the Address Valid line is activated. At this point,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 has a specified period of time to copy the address and determine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the addressed module. The address is then removed from the bus,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same bus connections are used for the subsequent read or write data transfer.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using the same lines for multiple purposes is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multiplexing.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time multiplexing is the use of fewer lines, which saves space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usually, cost. The disadvantage is that more complex circuitry is needed within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module. Also, there is a potential reduction in performance because certain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events that share the same lines cannot take place in parallel.</a:t>
            </a:r>
          </a:p>
          <a:p>
            <a:endParaRPr kumimoji="1" lang="en-US" sz="1200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 dedication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the use of multiple buses, each of which connects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only a subset of modules. A typical example is the use of an I/O bus to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I/O modules; this bus is then connected to the main bus through some type of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adapter module. The potential advantage of physical dedication is high throughput,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there is less bus contention. A disadvantage is the increased size and cost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system.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arbitration: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all but the simplest systems, more than one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need control of the bus. For example, an I/O module may need to read or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directly to memory, without sending the data to the processor. Because only one unit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can successfully transmit over the bus, some method of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arbitration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various methods can be roughly classified as being either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centralized arbitration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distributed arbitration.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centralized scheme, a single hardware device, referred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controller or arbiter,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responsible for allocating time on the bus.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may be a separate module or part of the processor. In a distributed scheme,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is no central controller. Rather, each module contains access control logic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modules act together to share the bus. With both methods of arbitration,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purpose is to designate one device, either the processor or an I/O module, as master.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master may then initiate a data transfer (e.g., read or write) with some other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device, which acts as slave for this particular exchange.</a:t>
            </a:r>
          </a:p>
          <a:p>
            <a:endParaRPr kumimoji="1" lang="en-US" sz="1200" b="1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 refers to the way in which events are coordinated on the bus. Buses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 either synchronous timing or asynchronous timing.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events on the bus is determined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clock. The bus includes a clock line upon which a clock transmits a regular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alternating 1s and 0s of equal duration. A single 1–0 transmission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referred 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 cycle or bus cycle and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defines a time slot. All other devices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can read the clock line, and all events start at the beginning of a clock cycle.</a:t>
            </a:r>
            <a:endParaRPr lang="en-US" dirty="0" smtClean="0"/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3.18 shows a typical, but simplified, timing diagram for synchronous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write operations (see Appendix N for a description of timing diagrams). Other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signals may change at the leading edge of the clock signal (with a slight reaction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delay). Most events occupy a single clock cycle. In this simple example,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places a memory address on the address lines during the first clock cycle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assert various status lines. Once the address lines have stabilized,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issues an address enable signal. For a read operation, the processor issues a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at the start of the second cycle. A memory module recognizes the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after a delay of one cycle, places the data on the data lines. The processor reads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from the data lines and drops the read signal. For a write operation,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puts the data on the data lines at the start of the second cycle and issues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command after the data lines have stabilized. The memory module copies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from the data lines during the third clock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200E7D-588A-0E43-86D8-E40A99012FF5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asynchronous timing,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one event on a bus follows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depends on the occurrence of a previous event. In the simple read example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3.19a, the processor places address and status signals on the bus. After pausing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signals to stabilize, it issues a read command, indicating the presence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valid address and control signals. The appropriate memory decodes the address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responds by placing the data on the data line. Once the data lines have stabilized,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module asserts the acknowledged line to signal the processor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available. Once the master has read the data from the data lines, it deasserts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read signal. This causes the memory module to drop the data and acknowledge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lines. Finally, once the acknowledge line is dropped, the master removes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information.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3.19b shows a simple asynchronous write operation. In this case,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places the data on the data line at the same time that it puts signals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status and address lines. The memory module responds to the write command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copying the data from the data lines and then asserting the acknowledge line.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then drops the write signal and the memory module drops the acknowledge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 is simpler to implement and test. However, it is less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flexible than asynchronous timing. Because all devices on a synchronous bus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tied to a fixed clock rate, the system cannot take advantage of advances in device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 With asynchronous timing, a mixture of slow and fast devices,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older and newer technology, can share a bus.</a:t>
            </a:r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shared bus architecture was the standard approach to interconnection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and other components (memory, I/O, and so on) for decades. But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contemporary systems increasingly rely on point-to-point interconnection rather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shared buses.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principal reason driving the change from bus to point-to-point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the electrical constraints encountered with increasing the frequency of wide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buses. At higher and higher data rates, it becomes increasingly difficult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perform the synchronization and arbitration functions in a timely fashion. Further,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advent of multi-core chips, with multiple processors and significant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single chip, it was found that the use of a conventional shared bus on the same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magnified the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difficulties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increasing bus data rate and reducing bus latency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keep up interconnect has lower latency, higher data rate, and better scalability.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B4332-7FF5-144A-AC6B-2F4D5417C477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section, we look at an important and representative example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 approach: Intel’s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QuickPath Interconnect (QPI),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introduced in 2008.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following are significant characteristics of QPI and other point-to-point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 schemes: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direct connections: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components within the system enjoy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pairwise connections to other components. This eliminates the need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arbitration found in shared transmission systems.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Layered protocol architecture: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found in network environments,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TCP/IP-based data networks, these processor-level interconnects use a layered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 architecture, rather than the simple use of control signals found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shared bus arrangements.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Packetized data transfer: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not sent as a raw bit stream. Rather,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sent as a sequence of packets, each of which includes control headers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control codes.</a:t>
            </a:r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72D69-858A-9C42-B2F4-79AE340BF7A8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3.20 illustrates a typical use of QPI on a multi-core computer.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 links (indicated by the green arrow pairs in the figure) form a switching fabric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enables data to move throughout the network. Direct QPI connections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established between each pair of core processors. If core A in Figure 3.20 needs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the memory controller in core D, it sends its request through either cores B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C, which must in turn forward that request on to the memory controller in core 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Similarly, larger systems with eight or more processors can be built using processors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three links and routing traffic through intermediate processors.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addition, QPI is used to connect to an I/O module, called an I/O hub (IOH).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IOH acts as a switch directing traffic to and from I/O devices. Typically in newer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systems, the link from the IOH to the I/O device controller uses an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technology called PCI Express (PCIe), described later in this chapter. The IOH translates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QPI protocols and formats and the PCIe protocols and formats.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core also links to a main memory module (typically the memory uses dynamic access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random memory (DRAM) technology) using a dedicated memory bus.</a:t>
            </a:r>
            <a:endParaRPr lang="en-GB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1F5E57-A427-654F-8B36-2EC29B171039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 is defined as a four-layer protocol architecture, encompassing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following layers (Figure 3.21):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the actual wires carrying the signals, as well as circuitry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logic to support ancillary features required in the transmission and receipt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1s and 0s. The unit of transfer at the Physical layer is 20 bits, which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Phit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(physical unit).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reliable transmission and flow control. The Link layer’s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 of transfer is an 80-bit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Flit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(flow control unit).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Routing: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Provides the framework for directing packets through the fabric.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high-level set of rules for exchanging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of data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devices. A packet is comprised of an integral number of Flits.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30012-D3DD-9A4E-ADF6-CAEDD31750F5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3.22 shows the physical architecture of a QPI port. The QPI port consists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84 individual links grouped as follows. Each data path consists of a pair of wires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transmits data one bit at a time; the pair is referred to as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20 data lanes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each direction (transmit and receive), plus a clock lane in each direction. Thus, QPI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capable of transmitting 20 bits in parallel in each direction. The 20-bit unit is referred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phit.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 signaling speeds of the link in current products calls for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6.4 GT/s (transfers per second). At 20 bits per transfer, that adds up to 16 GB/s,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since QPI links involve dedicated bidirectional pairs, the total capacity is 32 GB/s.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lanes in each direction are grouped into four quadrants of 5 lanes each.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applications, the link can also operate at half or quarter widths in order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reduce power consumption or work around failures.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form of transmission on each lane is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differential signaling, or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balanced transmission.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balanced transmission, signals are transmitted as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current that travels down one conductor and returns on the other. The binary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depends on the voltage difference. Typically, one line has a positive voltage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other line has zero voltage, and one line is associated with binary 1 and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associated with binary 0. Specifically, the technique used by QPI is known as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low-voltage differential signaling (LVDS).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typical implementation, the transmitter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injects a small current into one wire or the other, depending on the logic level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sent. The current passes through a resistor at the receiving end, and then returns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opposite direction along the other wire. The receiver senses the polarity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voltage across the resistor to determine the logic level.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93BA2A-2F02-0543-A797-EC1D20CB3C0B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function performed by the physical layer is that it manages the translation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80-bit flits and 20-bit phits using a technique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multilane distribution.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flits can be considered as a bit stream that is distributed across the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lanes in a round-robin fashion (first bit to first lane, second bit to second lane, etc.),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illustrated in Figure 3.23. This approach enables QPI to achieve very high data rates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implementing the physical link between two ports as multiple parallel channels.</a:t>
            </a:r>
            <a:endParaRPr lang="en-GB" b="1" dirty="0" smtClean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26103-75E0-5149-9E6C-9A0B76ED7111}" type="slidenum">
              <a:rPr lang="en-US"/>
              <a:pPr/>
              <a:t>40</a:t>
            </a:fld>
            <a:endParaRPr lang="en-US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QPI link layer performs two key functions: flow control and error control.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functions are performed as part of the QPI link layer protocol, and operate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level of the flit (flow control unit). Each flit consists of a 72-bit message payload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an 8-bit error control code called a cyclic redundancy check (CRC). We discuss error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codes in Chapter 5.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flit payload may consist of data or message information. The data flits transfer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actual bits of data between cores or between a core and an IOH. The message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flits are used for such functions as flow control, error control, and cache coherence.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discuss cache coherence in Chapters 5 and 17.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flow control function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 to ensure that a sending QPI entity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 overwhelm a receiving QPI entity by sending data faster than the receiver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 the data and clear buffers for more incoming data. To control the flow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data, QPI makes use of a credit scheme. During initialization, a sender is given a 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credits to send flits to a receiver. Whenever a flit is sent to the receiver,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sender decrements its credit counters by one credit. Whenever a buffer is freed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receiver, a credit is returned to the sender for that buffer. Thus, the receiver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controls that pace at which data is transmitted over a QPI link.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Occasionally, a bit transmitted at the physical layer is changed during transmission,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due to noise or some other phenomenon.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control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link layer detects and recovers from such bit errors, and so isolates higher layers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experiencing bit errors. The procedure works as follows for a flow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system A to system B: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mentioned, each 80-bit flit includes an 8-bit CRC field. The CRC is a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value of the remaining 72 bits. On transmission, A calculates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CRC value for each flit and inserts that value into the flit.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a flit is received, B calculates a CRC value for the 72-bit payload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compares this value with the value of the incoming CRC value in the flit. If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CRC values do not match, an error has been detected.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B detects an error, it sends a request to A to retransmit the flit that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error. However, because A may have had sufficient credit to send a stream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flits, so that additional flits have been transmitted after the flit in error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before A receives the request to retransmit. Therefore, the request is for 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back up and retransmit the damaged flit plus all subsequent flits.</a:t>
            </a:r>
            <a:endParaRPr lang="en-GB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B0F89-8C55-C149-926C-8C5B24A24615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Routing layer is used to determine the course that a packet will traverse across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available system interconnects. Routing tables are defined by firmware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describe the possible paths that a packet can follow. In small configurations,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two-socket platform, the routing options are limited and the routing tables quite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simple. For larger systems, the routing table options are more complex, giving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flexibility of routing and rerouting traffic depending on how (1) devices are populated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platform, (2) system resources are partitioned, and (3) reliability events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 in mapping around a failing resource.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layer, the packet is defined as the unit of transfer. The packet contents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definition is standardized with some flexibility allowed to meet differing market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segment requirements. One key function performed at this level is a cache coherency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protocol, which deals with making sure that main memory values held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caches are consistent. A typical data packet payload is a block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being sent to or from a cache.</a:t>
            </a:r>
            <a:endParaRPr lang="en-GB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595FC-C411-B142-8D1D-655D029645D9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component interconnect (PCI)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popular high-bandwidth, processor independent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can function as a mezzanine or peripheral bus. Compared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 common bus specifications, PCI delivers better system performance for high speed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subsystems (e.g., graphic display adapters, network interface controllers,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disk controllers).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Intel began work on PCI in 1990 for its Pentium-based systems. Intel soon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released all the patents to the public domain and promoted the creation of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industry association, the PCI Special Interest Group (SIG), to develop further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maintain the compatibility of the PCI specifications. The result is that PCI has been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widely adopted and is finding increasing use in personal computer, workstation,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server systems. Because the specification is in the public domain and is supported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broad cross section of the microprocessor and peripheral industry, PCI products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built by different vendors are compatible.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the system bus discussed in the preceding sections, the bus-based PCI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scheme has not been able to keep pace with the data rate demands of attached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devices. Accordingly, a new version,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 Express (PCIe)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has been developed.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PCIe, as with QPI, is a point-to-point interconnect scheme intended to replace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bus-based schemes such as PCI.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key requirement for PCIe is high capacity to support the needs of higher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rate I/O devices, such as Gigabit Ethernet. Another requirement deals with the need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support time-dependent data streams. Applications such as video-on-demand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audio redistribution are putting real-time constraints on servers too. Many communications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applications and embedded PC control systems also process data in real-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Today’s platforms must also deal with multiple concurrent transfers at ever-increasing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rates. It is no longer acceptable to treat all data as equal—it is more important,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to process streaming data first since late real-time data is as useless as no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data. Data needs to be tagged so that an I/O system can prioritize its flow throughout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platform.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A39E9-1029-3948-BD1C-4E339E97F21E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3.24 shows a typical configuration that supports the use of PCIe.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root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complex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device, also referred 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chipset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a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host bridge,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memory subsystem to the PCI Express switch fabric comprising one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more PCIe and PCIe switch devices. The root complex acts as a buffering device,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deal with difference in data rates between I/O controllers and memory and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 The root complex also translates between PCIe transaction formats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processor and memory signal and control requirements. The chipset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will typically support multiple PCIe ports, some of which attach directly to a PCIe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and one or more that attach to a switch that manages multiple PCIe streams.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links from the chipset may attach to the following kinds of devices that implement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Switch: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switch manages multiple PCIe streams.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endpoint: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device or controller that implements PCIe,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Gigabit Ethernet switch, a graphics or video controller, disk interface, or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controller.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Legacy endpoint: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Legacy endpoint category is intended for existing designs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have been migrated to PCI Express, and it allows legacy behaviors such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use of I/O space and locked transactions. PCI Express endpoints are not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permitted to require the use of I/O space at runtime and must not use locked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transactions. By distinguishing these categories, it is possible for a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designer to restrict or eliminate legacy behaviors that have negative impacts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system performance and robustness.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PCIe/PCI bridge: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Allows older PCI devices to be connected to PCIe-based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systems.</a:t>
            </a:r>
            <a:endParaRPr lang="en-GB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31F9EA-2AC2-8D4B-9E6E-BF026F807E12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QPI, PCIe interactions are defined using a protocol architecture.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protocol architecture encompasses the following layers (Figure 3.25):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the actual wires carrying the signals, as well as circuitry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logic to support ancillary features required in the transmission and receipt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1s and 0s.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responsible for reliable transmission and flow control.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generated and consumed by the DLL are called Data Link Layer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(DLLPs).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Generates and consumes data packets used to implement load/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store data transfer mechanisms and also manages the flow control of those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between the two components on a link. Data packets generated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consumed by the TL are called Transaction Layer Packets (TLPs).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Above the TL are software layers that generate read and write requests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transported by the transaction layer to the I/O devices using a packet-based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protocol.</a:t>
            </a:r>
            <a:endParaRPr lang="en-GB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DEA48-CED5-DD47-AC58-BAE4353CC1A6}" type="slidenum">
              <a:rPr lang="en-US"/>
              <a:pPr/>
              <a:t>45</a:t>
            </a:fld>
            <a:endParaRPr lang="en-US" dirty="0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Similar to QPI, PCIe is a point-to-point architecture. Each PCIe port consists of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bidirectional lanes (note that in QPI, the lane refers to transfer in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direction only). Transfer in each direction in a lane is by means of differential signaling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a pair of wires. A PCI port can provide 1, 4, 6, 16, or 32 lanes. In what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follows, we refer to the PCIe 3.0 specification, introduced in late 2010.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QPI, PCIe uses a multilane distribution technique. Figure 3.26 shows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for a PCIe port consisting of four lanes. Data are distributed to the four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lanes 1 byte at a time using a simple round-robin scheme. At each physical lane,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buffered and processed 16 bytes (128 bits) at a time. Each block of 128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encoded into a unique 130-bit codeword for transmission; this is referred to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128b/130b encoding. Thus, the effective data rate of an individual lane is reduced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factor of 128/130.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understand the rationale for the 128b/130b encoding, note that unlike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QPI, PCIe does not use its clock line to synchronize the bit stream. That is,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 line is not used to determine the start and end point of each incoming bit; 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for other signaling purposes only. However, it is necessary for the receiver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be synchronized with the transmitter, so that the receiver knows when each 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begins and ends. If there is any drift between the clocks used for bit transmission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reception of the transmitter and receiver, errors may occur. To compensate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possibility of drift, PCIe relies on the receiver synchronizing with the transmitter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based on the transmitted signal. As with QPI, PCIe uses differential signaling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a pair of wires. Synchronization can be achieved by the receiver looking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transitions in the data and synchronizing its clock to the transition. However, consider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with a long string of 1s or 0s using differential signaling, the output is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constant voltage over a long period of time. Under these circumstances, any drift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clocks of transmitter and receiver will result in loss of synchronization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two.</a:t>
            </a:r>
            <a:endParaRPr lang="en-GB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E3F4F-0729-4242-8B15-43398FC5114D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common approach, and the one used in PCIe 3.0, to overcoming the problem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long string of bits of one value is scrambling. Scrambling, which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 increase the number of bits to be transmitted, is a mapping technique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tends to make the data appear more random. The scrambling tends to spread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 the number of transitions so that they appear at the receiver more uniformly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spaced, which is good for synchronization. Also, other transmission properties,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spectral properties, are enhanced if the data are more nearly of a random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nature rather than constant or repetitive. For more discussion of scrambling, see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Appendix 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technique that can aid in synchronization is encoding, in which additional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are inserted into the bit stream to force transitions. For PCIe 3.0,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group of 128 bits of input is mapped into a 130-bit block by adding a 2-bit block sync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header. The value of the header is 10 for a data block and 01 for what is called an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ordered set block,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refers to a link-level information block.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3.27 illustrates the use of scrambling and encoding. Data to be transmitted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fed into a scrambler. The scrambled output is then fed into a 128b/130b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encoder, which buffers 128 bits and then maps the 128-bit block into a 130-bit block.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block then passes through a parallel-to-serial converter and transmitted one 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using differential signaling.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receiver, a clock is synchronized to the incoming data to recover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 stream. This then passes through a serial-to-parallel converter to produce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stream of 130-bit blocks. Each block is passed through a 128b/130b decoder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recover the original scrambled bit pattern, which is then descrambled to produce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original bit stream.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these techniques, a data rate of 16 GB/s can be achieved. One final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detail to mention. Each transmission of a block of data over a PCI link begins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ends with an 8-bit framing sequence intended to give the receiver time to synchronize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incoming physical layer bit stream.</a:t>
            </a:r>
            <a:endParaRPr lang="en-GB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transaction layer (TL) receives read and write requests from the software above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and creates request packets for transmission to a destination via the link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layer. Most transactions use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split transaction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technique, which works in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fashion. A request packet is sent out by a source PCIe device, which then waits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 response, called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packet. The completion following a request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initiated by the completer only when it has the data and/or status ready for delivery.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packet has a unique identifier that enables completion packets to be directed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correct originator. With the split transaction technique, the completion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separated in time from the request, in contrast to a typical bus operation in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sides of a transaction must be available to seize and use the bus.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 and the completion, other PCIe traffic may use the link.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 messages and some write transactions are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posted transactions,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no response is expected.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packet format supports 32-bit memory addressing and extended 64-bit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addressing. Packets also have attributes such as “no-snoop,” “relaxed ordering,”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“priority,” which may be used to optimally route these packets through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subsystem.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09655E-41BB-7F4B-BE13-E6938EA6C5E6}" type="slidenum">
              <a:rPr lang="en-US"/>
              <a:pPr/>
              <a:t>48</a:t>
            </a:fld>
            <a:endParaRPr lang="en-US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supports four address spaces: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space includes system main memory. It also includes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I/O devices. Certain ranges of memory addresses map into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is used for legacy PCI devices, with reserved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ranges used to address legacy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enables the TL to read/write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associated with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Message: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is for control signals related to interrupts, error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handling, and power management.</a:t>
            </a:r>
            <a:endParaRPr lang="en-GB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Table 3.3 shows the transaction types provided by the TL. For memory, I/O,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address spaces, there are read and write transactions. In the case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transactions, there is also a read lock request function. Locked operations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 as a result of device drivers requesting atomic access to registers on a PCIe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device. A device driver, for example, can atomically read, modify, and then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 device register. To accomplish this, the device driver causes the processor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an instruction or set of instructions. The root complex converts these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 into a sequence of PCIe transactions, which perform individual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and write requests for the device driver. If these transactions must be executed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atomically, the root complex locks the PCIe link while executing the transactions.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locking prevents transactions that are not part of the sequence from occurring.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sequence of transactions is called a locked operation. The particular 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processor instructions that can cause a locked operation to occur depends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chip set and processor architecture.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maintain compatibility with PCI, PCIe supports both Type 0 and Type 1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cycles. A Type 1 cycle propagates downstream until it reaches the bridge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interface hosting the bus (link) that the target device resides on. The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is converted on the destination link from Type 1 to Type 0 by the bridge.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completion messages are used with split transactions for memory, I/O,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configuration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transactions are conveyed using transaction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 packets, which are illustrated in Figure 3.28a. A TLP originates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layer of the sending device and terminates at the transaction layer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receiving 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Upper layer software sends to the TL the information needed for the TL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create the core of the TLP, which consists of the following fields: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Header describes the type of packet and includes information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by the receiver to process the packet, including any needed routing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information. The internal header format is discussed subsequently.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Data field of up to 4096 bytes may be included in the TLP.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TLPs do not contain a Data field.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ECRC: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optional end-to-end CRC field enables the destination TL layer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check for errors in the Header and Data portions of the TLP.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of a TLP header format, used for a memory request transaction,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shown in Figure 3.29. The fields shaded green indicate fields that are present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headers. In addition to fields reserved for future use (R), these fields include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Length: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Length of the Data field in double words (DW), where one DW =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bytes.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Attributes: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bits. The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relaxed ordering bit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whether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strict or relaxed ordering is used. With relaxed ordering, a transaction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completed prior to other transactions that were already enqueued.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snoop bit,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set, indicates that no cache coherency issues exist with respect</a:t>
            </a:r>
          </a:p>
          <a:p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TLP.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EP: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Poisoned data bit. If set, this bit indicates the data in this TLP should be considered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invalid, although the transaction is being allowed to complete normally.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TLP digest field present. If set, indicates that the ECRC field is present.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Class: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3-bit traffic class can be assigned to a traffic flow to enable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to prioritize service.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Type, Format: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two fields, totaling 7 bits, specify transaction type,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 size, and whether a data field is present.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First DW Byte Enables: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four bits indicate, respectively, whether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corresponding byte in the first DW is valid.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Last DW Byte Enables: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four bits indicate, respectively, whether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corresponding byte in the last DW is valid. This and the preceding field have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effect of allowing smaller transfers that a full DW and offsetting the start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end addresses from the DW boundary.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3.29 shows a TLP header for a memory request transaction.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Requestor ID identifies the memory requestor, telling the completer where to send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response. The Tag is a number assigned to this transaction by the requestor;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completer must include this Tag in its response so that the requestor can match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 and response. The Address field indicates the starting memory address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read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52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3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6/16/12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6/16/12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6/16/12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6/16/12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slideLayout" Target="../slideLayouts/slideLayout14.xml"/><Relationship Id="rId2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4.xml"/><Relationship Id="rId21" Type="http://schemas.openxmlformats.org/officeDocument/2006/relationships/theme" Target="../theme/theme1.xml"/><Relationship Id="rId22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6" Type="http://schemas.openxmlformats.org/officeDocument/2006/relationships/slideLayout" Target="../slideLayouts/slideLayout16.xml"/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6/16/12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d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6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6" Type="http://schemas.openxmlformats.org/officeDocument/2006/relationships/diagramColors" Target="../diagrams/colors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d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d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3.xml"/><Relationship Id="rId6" Type="http://schemas.openxmlformats.org/officeDocument/2006/relationships/diagramColors" Target="../diagrams/colors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d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d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d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d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d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d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d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df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d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d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d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d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df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diagramData" Target="../diagrams/data4.xml"/><Relationship Id="rId6" Type="http://schemas.openxmlformats.org/officeDocument/2006/relationships/diagramColors" Target="../diagrams/colors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diagramData" Target="../diagrams/data5.xml"/><Relationship Id="rId6" Type="http://schemas.openxmlformats.org/officeDocument/2006/relationships/diagramColors" Target="../diagrams/colors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w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df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df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df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df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df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diagramData" Target="../diagrams/data6.xml"/><Relationship Id="rId6" Type="http://schemas.openxmlformats.org/officeDocument/2006/relationships/diagramColors" Target="../diagrams/colors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wmf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df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df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df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d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pdf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1.pdf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3.pdf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5.pdf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7.pd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9.pdf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7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1.pdf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3.pd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3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3400" y="5410200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 smtClean="0"/>
              <a:t>A Top-Level View of Computer </a:t>
            </a:r>
          </a:p>
          <a:p>
            <a:r>
              <a:rPr lang="en-US" sz="3200" dirty="0" smtClean="0"/>
              <a:t>Function and Interconnection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Components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Contemporary computer designs are based on concepts developed by John von Neumann at the Institute for Advanced Studies, Princeton</a:t>
            </a:r>
          </a:p>
          <a:p>
            <a:r>
              <a:rPr lang="en-US" dirty="0" smtClean="0"/>
              <a:t>Referred to as the </a:t>
            </a:r>
            <a:r>
              <a:rPr lang="en-US" i="1" dirty="0" smtClean="0"/>
              <a:t>von Neumann architecture </a:t>
            </a:r>
            <a:r>
              <a:rPr lang="en-US" dirty="0" smtClean="0"/>
              <a:t>and is based on three key concepts:</a:t>
            </a:r>
          </a:p>
          <a:p>
            <a:pPr lvl="1"/>
            <a:r>
              <a:rPr lang="en-US" dirty="0" smtClean="0"/>
              <a:t>Data and instructions are stored in a single read-write memory</a:t>
            </a:r>
          </a:p>
          <a:p>
            <a:pPr lvl="1"/>
            <a:r>
              <a:rPr lang="en-US" dirty="0" smtClean="0"/>
              <a:t>The contents of this memory are addressable by location, without regard to the type of data contained there</a:t>
            </a:r>
          </a:p>
          <a:p>
            <a:pPr lvl="1"/>
            <a:r>
              <a:rPr lang="en-US" dirty="0" smtClean="0"/>
              <a:t>Execution occurs in a sequential fashion (unless explicitly modified) from one instruction to the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i="1" dirty="0" smtClean="0"/>
              <a:t>Hardwired program</a:t>
            </a:r>
          </a:p>
          <a:p>
            <a:pPr lvl="1"/>
            <a:r>
              <a:rPr lang="en-US" dirty="0" smtClean="0"/>
              <a:t>The result of the process of connecting the various components in the desired configuration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6471" t="9091" r="15294" b="8182"/>
              <a:stretch>
                <a:fillRect/>
              </a:stretch>
            </p:blipFill>
          </mc:Choice>
          <mc:Fallback>
            <p:blipFill>
              <a:blip r:embed="rId4"/>
              <a:srcRect l="16471" t="9091" r="15294" b="8182"/>
              <a:stretch>
                <a:fillRect/>
              </a:stretch>
            </p:blipFill>
          </mc:Fallback>
        </mc:AlternateContent>
        <p:spPr>
          <a:xfrm>
            <a:off x="4359871" y="0"/>
            <a:ext cx="4370975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0" y="2667000"/>
            <a:ext cx="2057400" cy="10668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</p:nvPr>
        </p:nvGraphicFramePr>
        <p:xfrm>
          <a:off x="304800" y="228600"/>
          <a:ext cx="6248400" cy="6400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04378" y="4724401"/>
            <a:ext cx="429021" cy="380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781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  <a:endParaRPr lang="en-US" sz="24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1" name="Diagram 50"/>
          <p:cNvGraphicFramePr/>
          <p:nvPr/>
        </p:nvGraphicFramePr>
        <p:xfrm>
          <a:off x="506505" y="457200"/>
          <a:ext cx="5970495" cy="6172199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6781800" y="3048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MAR</a:t>
            </a:r>
          </a:p>
        </p:txBody>
      </p:sp>
      <p:sp useBgFill="1">
        <p:nvSpPr>
          <p:cNvPr id="16" name="TextBox 15"/>
          <p:cNvSpPr txBox="1"/>
          <p:nvPr/>
        </p:nvSpPr>
        <p:spPr>
          <a:xfrm>
            <a:off x="203200" y="4648201"/>
            <a:ext cx="330200" cy="5717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8600" y="914401"/>
            <a:ext cx="159266" cy="49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6781800" y="5334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orient="vert" idx="4294967295"/>
          </p:nvPr>
        </p:nvSpPr>
        <p:spPr>
          <a:xfrm>
            <a:off x="6858000" y="1371600"/>
            <a:ext cx="2286000" cy="3352800"/>
          </a:xfrm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ts val="172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endParaRPr 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8182" b="17273"/>
              <a:stretch>
                <a:fillRect/>
              </a:stretch>
            </p:blipFill>
          </mc:Choice>
          <mc:Fallback>
            <p:blipFill>
              <a:blip r:embed="rId4"/>
              <a:srcRect t="8182" b="17273"/>
              <a:stretch>
                <a:fillRect/>
              </a:stretch>
            </p:blipFill>
          </mc:Fallback>
        </mc:AlternateContent>
        <p:spPr>
          <a:xfrm>
            <a:off x="104149" y="195539"/>
            <a:ext cx="6906251" cy="6662462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Instruction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</a:p>
        </p:txBody>
      </p:sp>
      <p:pic>
        <p:nvPicPr>
          <p:cNvPr id="6" name="Picture 5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0909" b="30000"/>
              <a:stretch>
                <a:fillRect/>
              </a:stretch>
            </p:blipFill>
          </mc:Choice>
          <mc:Fallback>
            <p:blipFill>
              <a:blip r:embed="rId4"/>
              <a:srcRect t="30909" b="30000"/>
              <a:stretch>
                <a:fillRect/>
              </a:stretch>
            </p:blipFill>
          </mc:Fallback>
        </mc:AlternateContent>
        <p:spPr>
          <a:xfrm>
            <a:off x="0" y="1905000"/>
            <a:ext cx="9143999" cy="4625861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426326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processor increments the PC after each instruction fetch so that it will fetch the next instruction in sequence</a:t>
            </a:r>
          </a:p>
          <a:p>
            <a:r>
              <a:rPr lang="en-US" dirty="0" smtClean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processor interprets the instruction and performs the required action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5016500"/>
            <a:ext cx="1854200" cy="184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304800"/>
            <a:ext cx="77089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</p:nvPr>
        </p:nvGraphicFramePr>
        <p:xfrm>
          <a:off x="685800" y="1524000"/>
          <a:ext cx="7543800" cy="5105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7273" b="30000"/>
              <a:stretch>
                <a:fillRect/>
              </a:stretch>
            </p:blipFill>
          </mc:Choice>
          <mc:Fallback>
            <p:blipFill>
              <a:blip r:embed="rId4"/>
              <a:srcRect t="7273" b="30000"/>
              <a:stretch>
                <a:fillRect/>
              </a:stretch>
            </p:blipFill>
          </mc:Fallback>
        </mc:AlternateContent>
        <p:spPr>
          <a:xfrm>
            <a:off x="304800" y="228601"/>
            <a:ext cx="8166616" cy="6629400"/>
          </a:xfrm>
          <a:prstGeom prst="rect">
            <a:avLst/>
          </a:prstGeom>
        </p:spPr>
      </p:pic>
    </p:spTree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3255264" cy="2514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2941" t="10909" r="15294" b="20000"/>
              <a:stretch>
                <a:fillRect/>
              </a:stretch>
            </p:blipFill>
          </mc:Choice>
          <mc:Fallback>
            <p:blipFill>
              <a:blip r:embed="rId4"/>
              <a:srcRect l="12941" t="10909" r="15294" b="20000"/>
              <a:stretch>
                <a:fillRect/>
              </a:stretch>
            </p:blipFill>
          </mc:Fallback>
        </mc:AlternateContent>
        <p:spPr>
          <a:xfrm>
            <a:off x="3581400" y="-72577"/>
            <a:ext cx="5562600" cy="693057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 State Diagram</a:t>
            </a:r>
          </a:p>
        </p:txBody>
      </p:sp>
      <p:pic>
        <p:nvPicPr>
          <p:cNvPr id="4" name="Picture 3" descr="f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1818" b="23636"/>
              <a:stretch>
                <a:fillRect/>
              </a:stretch>
            </p:blipFill>
          </mc:Choice>
          <mc:Fallback>
            <p:blipFill>
              <a:blip r:embed="rId4"/>
              <a:srcRect t="21818" b="23636"/>
              <a:stretch>
                <a:fillRect/>
              </a:stretch>
            </p:blipFill>
          </mc:Fallback>
        </mc:AlternateContent>
        <p:spPr>
          <a:xfrm>
            <a:off x="609600" y="1264029"/>
            <a:ext cx="7924800" cy="5593971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62000"/>
            <a:ext cx="7556313" cy="1116106"/>
          </a:xfrm>
        </p:spPr>
        <p:txBody>
          <a:bodyPr/>
          <a:lstStyle/>
          <a:p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Classes of Interrupts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2743200"/>
            <a:ext cx="8706494" cy="322865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0"/>
            <a:ext cx="5956300" cy="1116012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Flow Control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455" t="5882" r="5455" b="9412"/>
              <a:stretch>
                <a:fillRect/>
              </a:stretch>
            </p:blipFill>
          </mc:Choice>
          <mc:Fallback>
            <p:blipFill>
              <a:blip r:embed="rId4"/>
              <a:srcRect l="5455" t="5882" r="5455" b="9412"/>
              <a:stretch>
                <a:fillRect/>
              </a:stretch>
            </p:blipFill>
          </mc:Fallback>
        </mc:AlternateContent>
        <p:spPr>
          <a:xfrm>
            <a:off x="304800" y="625539"/>
            <a:ext cx="8482986" cy="6232461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of Control via Interrupts</a:t>
            </a:r>
          </a:p>
        </p:txBody>
      </p:sp>
      <p:pic>
        <p:nvPicPr>
          <p:cNvPr id="4" name="Picture 3" descr="f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2353" t="18182" r="11765" b="27273"/>
              <a:stretch>
                <a:fillRect/>
              </a:stretch>
            </p:blipFill>
          </mc:Choice>
          <mc:Fallback>
            <p:blipFill>
              <a:blip r:embed="rId4"/>
              <a:srcRect l="2353" t="18182" r="11765" b="27273"/>
              <a:stretch>
                <a:fillRect/>
              </a:stretch>
            </p:blipFill>
          </mc:Fallback>
        </mc:AlternateContent>
        <p:spPr>
          <a:xfrm>
            <a:off x="685800" y="1150263"/>
            <a:ext cx="6944333" cy="5707737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</a:p>
        </p:txBody>
      </p:sp>
      <p:pic>
        <p:nvPicPr>
          <p:cNvPr id="4" name="Picture 3" descr="f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0000" b="25455"/>
              <a:stretch>
                <a:fillRect/>
              </a:stretch>
            </p:blipFill>
          </mc:Choice>
          <mc:Fallback>
            <p:blipFill>
              <a:blip r:embed="rId4"/>
              <a:srcRect t="30000" b="25455"/>
              <a:stretch>
                <a:fillRect/>
              </a:stretch>
            </p:blipFill>
          </mc:Fallback>
        </mc:AlternateContent>
        <p:spPr>
          <a:xfrm>
            <a:off x="1" y="1773223"/>
            <a:ext cx="8820688" cy="508477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362200"/>
            <a:ext cx="2415987" cy="2286000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Timing: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I/O Wait</a:t>
            </a:r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6364" r="-2353" b="10000"/>
              <a:stretch>
                <a:fillRect/>
              </a:stretch>
            </p:blipFill>
          </mc:Choice>
          <mc:Fallback>
            <p:blipFill>
              <a:blip r:embed="rId4"/>
              <a:srcRect t="6364" r="-2353" b="10000"/>
              <a:stretch>
                <a:fillRect/>
              </a:stretch>
            </p:blipFill>
          </mc:Fallback>
        </mc:AlternateContent>
        <p:spPr>
          <a:xfrm>
            <a:off x="81228" y="0"/>
            <a:ext cx="6485125" cy="6858000"/>
          </a:xfrm>
          <a:prstGeom prst="rect">
            <a:avLst/>
          </a:prstGeom>
        </p:spPr>
      </p:pic>
      <p:sp useBgFill="1">
        <p:nvSpPr>
          <p:cNvPr id="38" name="TextBox 37"/>
          <p:cNvSpPr txBox="1"/>
          <p:nvPr/>
        </p:nvSpPr>
        <p:spPr>
          <a:xfrm>
            <a:off x="0" y="304801"/>
            <a:ext cx="533400" cy="6857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286000"/>
            <a:ext cx="2415987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Timing: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I/O Wait</a:t>
            </a: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7059" t="4545" r="3529" b="7273"/>
              <a:stretch>
                <a:fillRect/>
              </a:stretch>
            </p:blipFill>
          </mc:Choice>
          <mc:Fallback>
            <p:blipFill>
              <a:blip r:embed="rId4"/>
              <a:srcRect l="7059" t="4545" r="3529" b="7273"/>
              <a:stretch>
                <a:fillRect/>
              </a:stretch>
            </p:blipFill>
          </mc:Fallback>
        </mc:AlternateContent>
        <p:spPr>
          <a:xfrm>
            <a:off x="533400" y="-932"/>
            <a:ext cx="5486400" cy="6858932"/>
          </a:xfrm>
          <a:prstGeom prst="rect">
            <a:avLst/>
          </a:prstGeom>
        </p:spPr>
      </p:pic>
      <p:sp useBgFill="1">
        <p:nvSpPr>
          <p:cNvPr id="15" name="TextBox 14"/>
          <p:cNvSpPr txBox="1"/>
          <p:nvPr/>
        </p:nvSpPr>
        <p:spPr>
          <a:xfrm>
            <a:off x="203200" y="304800"/>
            <a:ext cx="406400" cy="5124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251700" cy="131286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State Diagram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With Interrupts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3636" t="14118" r="5455" b="17647"/>
              <a:stretch>
                <a:fillRect/>
              </a:stretch>
            </p:blipFill>
          </mc:Choice>
          <mc:Fallback>
            <p:blipFill>
              <a:blip r:embed="rId4"/>
              <a:srcRect l="3636" t="14118" r="5455" b="17647"/>
              <a:stretch>
                <a:fillRect/>
              </a:stretch>
            </p:blipFill>
          </mc:Fallback>
        </mc:AlternateContent>
        <p:spPr>
          <a:xfrm>
            <a:off x="0" y="1554364"/>
            <a:ext cx="9143999" cy="530363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934200" y="2895600"/>
            <a:ext cx="1828800" cy="914400"/>
          </a:xfrm>
        </p:spPr>
        <p:txBody>
          <a:bodyPr>
            <a:normAutofit/>
          </a:bodyPr>
          <a:lstStyle/>
          <a:p>
            <a:pPr algn="ctr"/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</a:t>
            </a:r>
            <a: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  <a:endParaRPr lang="en-US" sz="2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" y="0"/>
            <a:ext cx="5299364" cy="6858000"/>
          </a:xfrm>
          <a:prstGeom prst="rect">
            <a:avLst/>
          </a:prstGeom>
        </p:spPr>
      </p:pic>
      <p:sp useBgFill="1">
        <p:nvSpPr>
          <p:cNvPr id="7" name="TextBox 6"/>
          <p:cNvSpPr txBox="1"/>
          <p:nvPr/>
        </p:nvSpPr>
        <p:spPr>
          <a:xfrm>
            <a:off x="260946" y="4487924"/>
            <a:ext cx="348654" cy="541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026"/>
          <p:cNvSpPr txBox="1">
            <a:spLocks noChangeArrowheads="1"/>
          </p:cNvSpPr>
          <p:nvPr/>
        </p:nvSpPr>
        <p:spPr>
          <a:xfrm>
            <a:off x="6934200" y="685800"/>
            <a:ext cx="1828800" cy="990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Transfer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Control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Sequence of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Multiple Interrupts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0000" b="20909"/>
              <a:stretch>
                <a:fillRect/>
              </a:stretch>
            </p:blipFill>
          </mc:Choice>
          <mc:Fallback>
            <p:blipFill>
              <a:blip r:embed="rId4"/>
              <a:srcRect t="20000" b="20909"/>
              <a:stretch>
                <a:fillRect/>
              </a:stretch>
            </p:blipFill>
          </mc:Fallback>
        </mc:AlternateContent>
        <p:spPr>
          <a:xfrm>
            <a:off x="838200" y="1295400"/>
            <a:ext cx="7725208" cy="5755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304800"/>
            <a:ext cx="583287" cy="1600200"/>
          </a:xfrm>
          <a:prstGeom prst="rect">
            <a:avLst/>
          </a:prstGeom>
          <a:noFill/>
        </p:spPr>
        <p:txBody>
          <a:bodyPr vert="wordArtVert" wrap="square" rtlCol="0" anchor="ctr" anchorCtr="0">
            <a:noAutofit/>
          </a:bodyPr>
          <a:lstStyle/>
          <a:p>
            <a:pPr>
              <a:lnSpc>
                <a:spcPts val="2560"/>
              </a:lnSpc>
              <a:spcBef>
                <a:spcPts val="2400"/>
              </a:spcBef>
              <a:spcAft>
                <a:spcPts val="3000"/>
              </a:spcAft>
            </a:pP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556313" cy="4876800"/>
          </a:xfrm>
        </p:spPr>
        <p:txBody>
          <a:bodyPr>
            <a:normAutofit/>
          </a:bodyPr>
          <a:lstStyle/>
          <a:p>
            <a:r>
              <a:rPr lang="en-GB" dirty="0" smtClean="0"/>
              <a:t>I/O module can exchange data directly with the processor</a:t>
            </a:r>
          </a:p>
          <a:p>
            <a:r>
              <a:rPr lang="en-GB" dirty="0" smtClean="0"/>
              <a:t>Processor can read data from or write data to an I/O module</a:t>
            </a:r>
          </a:p>
          <a:p>
            <a:pPr lvl="1"/>
            <a:r>
              <a:rPr lang="en-GB" dirty="0" smtClean="0"/>
              <a:t>Processor identifies a specific device that is controlled by a particular I/O module</a:t>
            </a:r>
          </a:p>
          <a:p>
            <a:pPr lvl="1"/>
            <a:r>
              <a:rPr lang="en-GB" dirty="0" smtClean="0"/>
              <a:t>I/O instructions rather than memory referencing instructions</a:t>
            </a:r>
          </a:p>
          <a:p>
            <a:r>
              <a:rPr lang="en-GB" dirty="0" smtClean="0"/>
              <a:t>In some cases it is desirable to allow I/O exchanges to occur directly with memory</a:t>
            </a:r>
          </a:p>
          <a:p>
            <a:pPr lvl="1"/>
            <a:r>
              <a:rPr lang="en-GB" dirty="0" smtClean="0"/>
              <a:t>The processor grants to an I/O module the authority to read from or write to memory so that the I/O memory transfer can occur without tying up the processor</a:t>
            </a:r>
          </a:p>
          <a:p>
            <a:pPr lvl="1"/>
            <a:r>
              <a:rPr lang="en-GB" dirty="0" smtClean="0"/>
              <a:t>The I/O module issues read or write commands to memory relieving the processor of responsibility for the exchange</a:t>
            </a:r>
          </a:p>
          <a:p>
            <a:pPr lvl="1"/>
            <a:r>
              <a:rPr lang="en-GB" dirty="0" smtClean="0"/>
              <a:t>This operation is known as direct memory access (DMA)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781800" y="228600"/>
            <a:ext cx="2133600" cy="1447800"/>
          </a:xfrm>
        </p:spPr>
        <p:txBody>
          <a:bodyPr/>
          <a:lstStyle/>
          <a:p>
            <a:pPr algn="ctr"/>
            <a:r>
              <a:rPr lang="en-GB" dirty="0"/>
              <a:t>Computer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dirty="0" smtClean="0"/>
              <a:t>Modules</a:t>
            </a:r>
            <a:endParaRPr lang="en-GB" dirty="0"/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20000" t="7273" r="22353" b="7273"/>
              <a:stretch>
                <a:fillRect/>
              </a:stretch>
            </p:blipFill>
          </mc:Choice>
          <mc:Fallback>
            <p:blipFill>
              <a:blip r:embed="rId4"/>
              <a:srcRect l="20000" t="7273" r="22353" b="7273"/>
              <a:stretch>
                <a:fillRect/>
              </a:stretch>
            </p:blipFill>
          </mc:Fallback>
        </mc:AlternateContent>
        <p:spPr>
          <a:xfrm>
            <a:off x="1295400" y="28614"/>
            <a:ext cx="4114800" cy="67575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 useBgFill="1">
        <p:nvSpPr>
          <p:cNvPr id="17" name="TextBox 16"/>
          <p:cNvSpPr txBox="1"/>
          <p:nvPr/>
        </p:nvSpPr>
        <p:spPr>
          <a:xfrm>
            <a:off x="990600" y="228600"/>
            <a:ext cx="228600" cy="66293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5486400" y="0"/>
            <a:ext cx="228600" cy="685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sz="2400" dirty="0" smtClean="0"/>
              <a:t>The interconnection structure must support the following types of transfers:</a:t>
            </a:r>
            <a:endParaRPr lang="en-GB" sz="2400" dirty="0"/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</p:nvPr>
        </p:nvGraphicFramePr>
        <p:xfrm>
          <a:off x="381000" y="1371600"/>
          <a:ext cx="8458200" cy="5181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91400" y="685800"/>
            <a:ext cx="1752600" cy="6172200"/>
          </a:xfrm>
        </p:spPr>
        <p:txBody>
          <a:bodyPr vert="wordArtVert"/>
          <a:lstStyle/>
          <a:p>
            <a:pPr algn="ctr"/>
            <a:r>
              <a:rPr lang="en-GB" spc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</a:t>
            </a:r>
            <a:endParaRPr lang="en-GB" spc="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4294967295"/>
          </p:nvPr>
        </p:nvGraphicFramePr>
        <p:xfrm>
          <a:off x="-381000" y="381000"/>
          <a:ext cx="7772400" cy="6248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600" y="44196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1" y="20814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810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219200"/>
            <a:ext cx="7556500" cy="5029200"/>
          </a:xfrm>
        </p:spPr>
        <p:txBody>
          <a:bodyPr>
            <a:normAutofit/>
          </a:bodyPr>
          <a:lstStyle/>
          <a:p>
            <a:r>
              <a:rPr lang="en-GB" dirty="0" smtClean="0"/>
              <a:t>Data lines that provide a path for moving data among system modules</a:t>
            </a:r>
          </a:p>
          <a:p>
            <a:r>
              <a:rPr lang="en-GB" dirty="0" smtClean="0"/>
              <a:t>May consist of 32, 64, 128, or more separate lines</a:t>
            </a:r>
          </a:p>
          <a:p>
            <a:r>
              <a:rPr lang="en-GB" dirty="0" smtClean="0"/>
              <a:t>The number of lines is referred to as the </a:t>
            </a:r>
            <a:r>
              <a:rPr lang="en-GB" i="1" dirty="0" smtClean="0"/>
              <a:t>width</a:t>
            </a:r>
            <a:r>
              <a:rPr lang="en-GB" dirty="0" smtClean="0"/>
              <a:t> of the data bus</a:t>
            </a:r>
          </a:p>
          <a:p>
            <a:r>
              <a:rPr lang="en-GB" dirty="0" smtClean="0"/>
              <a:t>The number of lines determines how many bits can be transferred at a time</a:t>
            </a:r>
          </a:p>
          <a:p>
            <a:r>
              <a:rPr lang="en-GB" dirty="0" smtClean="0"/>
              <a:t>The width of the data bus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 is a key factor in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 determining overall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 system performance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0"/>
            <a:ext cx="5079799" cy="283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556313" cy="658906"/>
          </a:xfrm>
        </p:spPr>
        <p:txBody>
          <a:bodyPr/>
          <a:lstStyle/>
          <a:p>
            <a:r>
              <a:rPr lang="en-GB" dirty="0" smtClean="0"/>
              <a:t>   Address Bus	      Control Bus</a:t>
            </a:r>
            <a:endParaRPr lang="en-GB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97541" y="2133599"/>
            <a:ext cx="3657600" cy="4724401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Used to designate the source or destination of the data on the data bus</a:t>
            </a:r>
          </a:p>
          <a:p>
            <a:pPr lvl="1"/>
            <a:r>
              <a:rPr lang="en-GB" dirty="0" smtClean="0"/>
              <a:t>If the processor wishes to read a word of data from memory it puts the address of the desired word on the address lines</a:t>
            </a:r>
          </a:p>
          <a:p>
            <a:r>
              <a:rPr lang="en-GB" dirty="0" smtClean="0"/>
              <a:t>Width determines the maximum possible memory capacity of the system</a:t>
            </a:r>
          </a:p>
          <a:p>
            <a:r>
              <a:rPr lang="en-GB" dirty="0" smtClean="0"/>
              <a:t>Also used to address I/O ports</a:t>
            </a:r>
          </a:p>
          <a:p>
            <a:pPr lvl="1"/>
            <a:r>
              <a:rPr lang="en-GB" dirty="0" smtClean="0"/>
              <a:t>The higher order bits are used to select a particular module on the bus and the lower order bits select a memory location or </a:t>
            </a:r>
            <a:r>
              <a:rPr lang="en-GB" dirty="0" smtClean="0"/>
              <a:t>I/O </a:t>
            </a:r>
            <a:r>
              <a:rPr lang="en-GB" dirty="0" smtClean="0"/>
              <a:t>port within the module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99878" y="2133600"/>
            <a:ext cx="3657600" cy="44195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Used to control the </a:t>
            </a:r>
            <a:r>
              <a:rPr lang="en-US" dirty="0" smtClean="0"/>
              <a:t>access</a:t>
            </a:r>
            <a:r>
              <a:rPr lang="en-US" dirty="0" smtClean="0"/>
              <a:t> </a:t>
            </a:r>
            <a:r>
              <a:rPr lang="en-US" dirty="0" smtClean="0"/>
              <a:t>and </a:t>
            </a:r>
            <a:r>
              <a:rPr lang="en-US" dirty="0" smtClean="0"/>
              <a:t>the use of the data and address lines</a:t>
            </a:r>
          </a:p>
          <a:p>
            <a:r>
              <a:rPr lang="en-US" dirty="0" smtClean="0"/>
              <a:t>Because the data and address lines are shared by all components there must be a means of controlling their use</a:t>
            </a:r>
          </a:p>
          <a:p>
            <a:r>
              <a:rPr lang="en-US" dirty="0" smtClean="0"/>
              <a:t>Control signals transmit both command and timing information among system modules</a:t>
            </a:r>
          </a:p>
          <a:p>
            <a:r>
              <a:rPr lang="en-US" dirty="0" smtClean="0"/>
              <a:t>Timing signals indicate the validity of data and address information</a:t>
            </a:r>
          </a:p>
          <a:p>
            <a:r>
              <a:rPr lang="en-US" dirty="0" smtClean="0"/>
              <a:t>Command signals specify operations to be performed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3400" y="1143000"/>
            <a:ext cx="3657600" cy="869577"/>
          </a:xfrm>
        </p:spPr>
        <p:txBody>
          <a:bodyPr/>
          <a:lstStyle/>
          <a:p>
            <a:r>
              <a:rPr lang="en-US" dirty="0" smtClean="0"/>
              <a:t>       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19600" y="1143000"/>
            <a:ext cx="3657600" cy="869576"/>
          </a:xfrm>
        </p:spPr>
        <p:txBody>
          <a:bodyPr/>
          <a:lstStyle/>
          <a:p>
            <a:r>
              <a:rPr lang="en-US" dirty="0" smtClean="0"/>
              <a:t>         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2072923" cy="1155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90600"/>
            <a:ext cx="2072923" cy="1155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38200"/>
            <a:ext cx="8686800" cy="111601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 Scheme</a:t>
            </a: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818" t="17647" r="2727" b="29412"/>
              <a:stretch>
                <a:fillRect/>
              </a:stretch>
            </p:blipFill>
          </mc:Choice>
          <mc:Fallback>
            <p:blipFill>
              <a:blip r:embed="rId4"/>
              <a:srcRect l="1818" t="17647" r="2727" b="29412"/>
              <a:stretch>
                <a:fillRect/>
              </a:stretch>
            </p:blipFill>
          </mc:Fallback>
        </mc:AlternateContent>
        <p:spPr>
          <a:xfrm>
            <a:off x="304800" y="2209800"/>
            <a:ext cx="8471580" cy="4267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636" b="4545"/>
              <a:stretch>
                <a:fillRect/>
              </a:stretch>
            </p:blipFill>
          </mc:Choice>
          <mc:Fallback>
            <p:blipFill>
              <a:blip r:embed="rId4"/>
              <a:srcRect t="3636" b="4545"/>
              <a:stretch>
                <a:fillRect/>
              </a:stretch>
            </p:blipFill>
          </mc:Fallback>
        </mc:AlternateContent>
        <p:spPr>
          <a:xfrm>
            <a:off x="914400" y="0"/>
            <a:ext cx="6019800" cy="685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97395" y="304800"/>
            <a:ext cx="1646605" cy="6750342"/>
          </a:xfrm>
          <a:prstGeom prst="rect">
            <a:avLst/>
          </a:prstGeom>
          <a:noFill/>
        </p:spPr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4000" spc="50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Bus</a:t>
            </a:r>
          </a:p>
          <a:p>
            <a:pPr algn="ctr">
              <a:spcBef>
                <a:spcPts val="1800"/>
              </a:spcBef>
            </a:pPr>
            <a:r>
              <a:rPr lang="en-US" sz="4000" spc="50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Configurations</a:t>
            </a:r>
            <a:endParaRPr lang="en-US" sz="4000" spc="500" dirty="0">
              <a:solidFill>
                <a:schemeClr val="accent3"/>
              </a:solidFill>
              <a:latin typeface="+mj-lt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556313" cy="1116106"/>
          </a:xfrm>
        </p:spPr>
        <p:txBody>
          <a:bodyPr/>
          <a:lstStyle/>
          <a:p>
            <a:pPr algn="ctr"/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Bus Design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3500" t="-10286" r="13500"/>
              <a:stretch>
                <a:fillRect/>
              </a:stretch>
            </p:blipFill>
          </mc:Choice>
          <mc:Fallback>
            <p:blipFill>
              <a:blip r:embed="rId4"/>
              <a:srcRect l="13500" t="-10286" r="13500"/>
              <a:stretch>
                <a:fillRect/>
              </a:stretch>
            </p:blipFill>
          </mc:Fallback>
        </mc:AlternateContent>
        <p:spPr>
          <a:xfrm>
            <a:off x="0" y="2514600"/>
            <a:ext cx="9176849" cy="40436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0" y="990600"/>
            <a:ext cx="3048000" cy="11160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Synchronous Bus Operations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0588" t="19091" r="15294" b="24545"/>
              <a:stretch>
                <a:fillRect/>
              </a:stretch>
            </p:blipFill>
          </mc:Choice>
          <mc:Fallback>
            <p:blipFill>
              <a:blip r:embed="rId4"/>
              <a:srcRect l="10588" t="19091" r="15294" b="24545"/>
              <a:stretch>
                <a:fillRect/>
              </a:stretch>
            </p:blipFill>
          </mc:Fallback>
        </mc:AlternateContent>
        <p:spPr>
          <a:xfrm>
            <a:off x="0" y="0"/>
            <a:ext cx="6968576" cy="6858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10200" y="1600200"/>
            <a:ext cx="3505200" cy="3733800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Asynchronous Bus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882" t="8182" r="16471" b="10909"/>
              <a:stretch>
                <a:fillRect/>
              </a:stretch>
            </p:blipFill>
          </mc:Choice>
          <mc:Fallback>
            <p:blipFill>
              <a:blip r:embed="rId4"/>
              <a:srcRect l="5882" t="8182" r="16471" b="10909"/>
              <a:stretch>
                <a:fillRect/>
              </a:stretch>
            </p:blipFill>
          </mc:Fallback>
        </mc:AlternateContent>
        <p:spPr>
          <a:xfrm>
            <a:off x="609600" y="-26621"/>
            <a:ext cx="5105400" cy="6884621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Point-to-Point Interconnect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8474" y="1981200"/>
          <a:ext cx="7556313" cy="4144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6181611" cy="9906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Path Interconnect</a:t>
            </a: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381094" y="1524000"/>
            <a:ext cx="6179566" cy="4876800"/>
          </a:xfrm>
        </p:spPr>
        <p:txBody>
          <a:bodyPr>
            <a:normAutofit/>
          </a:bodyPr>
          <a:lstStyle/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Introduced in 2008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Multiple direct connections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Direct pairwise connections to other components eliminating the need for arbitration found in shared transmission systems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Layered protocol architecture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These processor level interconnects use a layered protocol architecture rather than the simple use of control signals found in shared bus arrangements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Packetized data transfer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Data are sent as a sequence of packets each of which includes control headers and error control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838200"/>
            <a:ext cx="205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QPI</a:t>
            </a:r>
            <a:endParaRPr lang="en-US" sz="4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971800"/>
            <a:ext cx="1993900" cy="253971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43600" y="1143000"/>
            <a:ext cx="3200400" cy="2590800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Multicore Configuration Using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0588" t="10909" r="4706" b="17273"/>
              <a:stretch>
                <a:fillRect/>
              </a:stretch>
            </p:blipFill>
          </mc:Choice>
          <mc:Fallback>
            <p:blipFill>
              <a:blip r:embed="rId4"/>
              <a:srcRect l="10588" t="10909" r="4706" b="17273"/>
              <a:stretch>
                <a:fillRect/>
              </a:stretch>
            </p:blipFill>
          </mc:Fallback>
        </mc:AlternateContent>
        <p:spPr>
          <a:xfrm>
            <a:off x="533400" y="-35398"/>
            <a:ext cx="6282498" cy="689339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84188"/>
            <a:ext cx="9144000" cy="11160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2353" t="20909" b="23636"/>
              <a:stretch>
                <a:fillRect/>
              </a:stretch>
            </p:blipFill>
          </mc:Choice>
          <mc:Fallback>
            <p:blipFill>
              <a:blip r:embed="rId4"/>
              <a:srcRect l="2353" t="20909" b="23636"/>
              <a:stretch>
                <a:fillRect/>
              </a:stretch>
            </p:blipFill>
          </mc:Fallback>
        </mc:AlternateContent>
        <p:spPr>
          <a:xfrm>
            <a:off x="609600" y="1261934"/>
            <a:ext cx="7614287" cy="5596066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Interface of the Intel QPI Interconnect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176" t="25455" r="-1176" b="13636"/>
              <a:stretch>
                <a:fillRect/>
              </a:stretch>
            </p:blipFill>
          </mc:Choice>
          <mc:Fallback>
            <p:blipFill>
              <a:blip r:embed="rId4"/>
              <a:srcRect l="1176" t="25455" r="-1176" b="13636"/>
              <a:stretch>
                <a:fillRect/>
              </a:stretch>
            </p:blipFill>
          </mc:Fallback>
        </mc:AlternateContent>
        <p:spPr>
          <a:xfrm>
            <a:off x="1295400" y="1717263"/>
            <a:ext cx="6522001" cy="5140737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Multilane Distribution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176" t="16364" r="10588" b="43636"/>
              <a:stretch>
                <a:fillRect/>
              </a:stretch>
            </p:blipFill>
          </mc:Choice>
          <mc:Fallback>
            <p:blipFill>
              <a:blip r:embed="rId4"/>
              <a:srcRect l="1176" t="16364" r="10588" b="43636"/>
              <a:stretch>
                <a:fillRect/>
              </a:stretch>
            </p:blipFill>
          </mc:Fallback>
        </mc:AlternateContent>
        <p:spPr>
          <a:xfrm>
            <a:off x="-78000" y="1752600"/>
            <a:ext cx="9222000" cy="5410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087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Link Layer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17"/>
          </p:nvPr>
        </p:nvSpPr>
        <p:spPr>
          <a:xfrm>
            <a:off x="4495800" y="4191000"/>
            <a:ext cx="3657413" cy="1965960"/>
          </a:xfrm>
        </p:spPr>
        <p:txBody>
          <a:bodyPr/>
          <a:lstStyle/>
          <a:p>
            <a:r>
              <a:rPr lang="en-US" dirty="0" smtClean="0"/>
              <a:t>Error control function</a:t>
            </a:r>
          </a:p>
          <a:p>
            <a:pPr lvl="1"/>
            <a:r>
              <a:rPr lang="en-US" dirty="0" smtClean="0"/>
              <a:t>Detects and recovers from bit errors, and so isolates higher layers from experiencing bit errors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200400" cy="4191000"/>
          </a:xfrm>
        </p:spPr>
        <p:txBody>
          <a:bodyPr>
            <a:normAutofit/>
          </a:bodyPr>
          <a:lstStyle/>
          <a:p>
            <a:r>
              <a:rPr lang="en-US" dirty="0" smtClean="0"/>
              <a:t>Performs two key functions:  </a:t>
            </a:r>
            <a:r>
              <a:rPr lang="en-US" i="1" dirty="0" smtClean="0"/>
              <a:t>flow control </a:t>
            </a:r>
            <a:r>
              <a:rPr lang="en-US" dirty="0" smtClean="0"/>
              <a:t>and </a:t>
            </a:r>
            <a:r>
              <a:rPr lang="en-US" i="1" dirty="0" smtClean="0"/>
              <a:t>error control</a:t>
            </a:r>
          </a:p>
          <a:p>
            <a:pPr lvl="1"/>
            <a:r>
              <a:rPr lang="en-US" dirty="0" smtClean="0"/>
              <a:t>Operate on the  level of the flit (flow control unit)</a:t>
            </a:r>
          </a:p>
          <a:p>
            <a:pPr lvl="1"/>
            <a:r>
              <a:rPr lang="en-US" dirty="0" smtClean="0"/>
              <a:t>Each flit consists of a 72-bit message payload and an 8-bit error control code called a </a:t>
            </a:r>
            <a:r>
              <a:rPr lang="en-US" i="1" dirty="0" smtClean="0"/>
              <a:t>cyclic redundancy check</a:t>
            </a:r>
            <a:r>
              <a:rPr lang="en-US" dirty="0" smtClean="0"/>
              <a:t> (CRC)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6"/>
          </p:nvPr>
        </p:nvSpPr>
        <p:spPr>
          <a:xfrm>
            <a:off x="4343400" y="1752600"/>
            <a:ext cx="3657600" cy="2209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Flow control function </a:t>
            </a:r>
            <a:endParaRPr lang="en-US" dirty="0" smtClean="0"/>
          </a:p>
          <a:p>
            <a:pPr lvl="1"/>
            <a:r>
              <a:rPr lang="en-US" dirty="0" smtClean="0"/>
              <a:t>N</a:t>
            </a:r>
            <a:r>
              <a:rPr lang="en-US" dirty="0" smtClean="0"/>
              <a:t>eeded </a:t>
            </a:r>
            <a:r>
              <a:rPr lang="en-US" dirty="0" smtClean="0"/>
              <a:t>to ensure that a sending QPI entity does not overwhelm a receiving QPI entity by sending data faster than the receiver can process the data and clear buffers for more incoming data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Routing and Protocol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" y="2743200"/>
            <a:ext cx="3657600" cy="3678797"/>
          </a:xfrm>
        </p:spPr>
        <p:txBody>
          <a:bodyPr/>
          <a:lstStyle/>
          <a:p>
            <a:r>
              <a:rPr lang="en-US" dirty="0" smtClean="0"/>
              <a:t>Used to determine the course that a packet will traverse across the available system interconnects</a:t>
            </a:r>
          </a:p>
          <a:p>
            <a:r>
              <a:rPr lang="en-US" dirty="0" smtClean="0"/>
              <a:t>Defined by firmware and describe the possible paths that a packet can follow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4105835"/>
          </a:xfrm>
        </p:spPr>
        <p:txBody>
          <a:bodyPr>
            <a:normAutofit/>
          </a:bodyPr>
          <a:lstStyle/>
          <a:p>
            <a:r>
              <a:rPr lang="en-US" dirty="0" smtClean="0"/>
              <a:t>P</a:t>
            </a:r>
            <a:r>
              <a:rPr lang="en-US" dirty="0" smtClean="0"/>
              <a:t>acket </a:t>
            </a:r>
            <a:r>
              <a:rPr lang="en-US" dirty="0" smtClean="0"/>
              <a:t>is defined as the unit of transfer</a:t>
            </a:r>
          </a:p>
          <a:p>
            <a:r>
              <a:rPr lang="en-US" dirty="0" smtClean="0"/>
              <a:t>One key function performed at this level is a cache coherency protocol which deals with making sure that main memory values held in multiple caches are consistent</a:t>
            </a:r>
          </a:p>
          <a:p>
            <a:r>
              <a:rPr lang="en-US" dirty="0" smtClean="0"/>
              <a:t>A typical data packet payload is a block of data being sent to or from a cache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Routing Layer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Protocol Layer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Peripheral Component Interconnect (PCI)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981200"/>
            <a:ext cx="7556313" cy="45720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A popular high bandwidth, processor independent bus that can function as a mezzanine or peripheral bus</a:t>
            </a:r>
          </a:p>
          <a:p>
            <a:r>
              <a:rPr lang="en-GB" dirty="0" smtClean="0"/>
              <a:t>Delivers better system performance for high speed I/O subsystems</a:t>
            </a:r>
          </a:p>
          <a:p>
            <a:r>
              <a:rPr lang="en-GB" dirty="0" smtClean="0"/>
              <a:t>PCI Special Interest Group (SIG)</a:t>
            </a:r>
          </a:p>
          <a:p>
            <a:pPr lvl="1"/>
            <a:r>
              <a:rPr lang="en-GB" dirty="0" smtClean="0"/>
              <a:t>Created to develop further and maintain the compatibility of the PCI specifications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 smtClean="0"/>
              <a:t>PCI Express (PCIe)</a:t>
            </a:r>
          </a:p>
          <a:p>
            <a:pPr lvl="1"/>
            <a:r>
              <a:rPr lang="en-GB" sz="1730" dirty="0" smtClean="0"/>
              <a:t>Point-to-point interconnect scheme intended to replace bus-based schemes such as PCI</a:t>
            </a:r>
          </a:p>
          <a:p>
            <a:pPr lvl="1"/>
            <a:r>
              <a:rPr lang="en-GB" sz="1765" dirty="0" smtClean="0"/>
              <a:t>Key requirement is high capacity to support the needs of higher data rate I/O devices, such as Gigabit Ethernet</a:t>
            </a:r>
          </a:p>
          <a:p>
            <a:pPr lvl="1"/>
            <a:r>
              <a:rPr lang="en-GB" sz="1765" dirty="0" smtClean="0"/>
              <a:t>Another requirement deals with the need to support time dependent data streams</a:t>
            </a:r>
          </a:p>
          <a:p>
            <a:pPr marL="457200" lvl="2">
              <a:spcBef>
                <a:spcPts val="2000"/>
              </a:spcBef>
            </a:pPr>
            <a:endParaRPr lang="en-GB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0"/>
            <a:ext cx="3255264" cy="1162050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8235" t="10909" r="9412" b="10000"/>
              <a:stretch>
                <a:fillRect/>
              </a:stretch>
            </p:blipFill>
          </mc:Choice>
          <mc:Fallback>
            <p:blipFill>
              <a:blip r:embed="rId4"/>
              <a:srcRect l="8235" t="10909" r="9412" b="10000"/>
              <a:stretch>
                <a:fillRect/>
              </a:stretch>
            </p:blipFill>
          </mc:Fallback>
        </mc:AlternateContent>
        <p:spPr>
          <a:xfrm>
            <a:off x="3600517" y="-11857"/>
            <a:ext cx="5543483" cy="688966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Protocol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8182" b="23636"/>
              <a:stretch>
                <a:fillRect/>
              </a:stretch>
            </p:blipFill>
          </mc:Choice>
          <mc:Fallback>
            <p:blipFill>
              <a:blip r:embed="rId4"/>
              <a:srcRect t="28182" b="23636"/>
              <a:stretch>
                <a:fillRect/>
              </a:stretch>
            </p:blipFill>
          </mc:Fallback>
        </mc:AlternateContent>
        <p:spPr>
          <a:xfrm>
            <a:off x="228600" y="1916680"/>
            <a:ext cx="7924800" cy="494132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Multilane Distribution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7273" b="41818"/>
              <a:stretch>
                <a:fillRect/>
              </a:stretch>
            </p:blipFill>
          </mc:Choice>
          <mc:Fallback>
            <p:blipFill>
              <a:blip r:embed="rId4"/>
              <a:srcRect t="17273" b="41818"/>
              <a:stretch>
                <a:fillRect/>
              </a:stretch>
            </p:blipFill>
          </mc:Fallback>
        </mc:AlternateContent>
        <p:spPr>
          <a:xfrm>
            <a:off x="-133102" y="1946584"/>
            <a:ext cx="9277102" cy="4911416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72200" y="1905000"/>
            <a:ext cx="2679700" cy="12684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Transmit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Receive Block Diagrams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882" t="10909" r="2353" b="6364"/>
              <a:stretch>
                <a:fillRect/>
              </a:stretch>
            </p:blipFill>
          </mc:Choice>
          <mc:Fallback>
            <p:blipFill>
              <a:blip r:embed="rId4"/>
              <a:srcRect l="5882" t="10909" r="2353" b="6364"/>
              <a:stretch>
                <a:fillRect/>
              </a:stretch>
            </p:blipFill>
          </mc:Fallback>
        </mc:AlternateContent>
        <p:spPr>
          <a:xfrm>
            <a:off x="533400" y="-36352"/>
            <a:ext cx="5909426" cy="6894352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0"/>
            <a:ext cx="3255264" cy="116205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 Layer (TL)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Receives read and write requests from the software above the TL and creates request packets for transmission to a destination via the link layer</a:t>
            </a:r>
          </a:p>
          <a:p>
            <a:r>
              <a:rPr lang="en-US" dirty="0" smtClean="0"/>
              <a:t>Most transactions use a </a:t>
            </a:r>
            <a:r>
              <a:rPr lang="en-US" i="1" dirty="0" smtClean="0"/>
              <a:t>split transaction </a:t>
            </a:r>
            <a:r>
              <a:rPr lang="en-US" dirty="0" smtClean="0"/>
              <a:t>technique</a:t>
            </a:r>
          </a:p>
          <a:p>
            <a:pPr lvl="1"/>
            <a:r>
              <a:rPr lang="en-US" dirty="0" smtClean="0"/>
              <a:t>A request packet is sent out by a source PCIe device which then waits for a response called a </a:t>
            </a:r>
            <a:r>
              <a:rPr lang="en-US" i="1" dirty="0" smtClean="0"/>
              <a:t>completion </a:t>
            </a:r>
            <a:r>
              <a:rPr lang="en-US" dirty="0" smtClean="0"/>
              <a:t>packet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4191000" y="3505200"/>
            <a:ext cx="4267200" cy="3352800"/>
          </a:xfrm>
        </p:spPr>
        <p:txBody>
          <a:bodyPr/>
          <a:lstStyle/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 smtClean="0"/>
              <a:t>TL messages and some write transactions are posted transactions </a:t>
            </a:r>
            <a:r>
              <a:rPr lang="en-US" sz="1800" dirty="0" smtClean="0"/>
              <a:t> (meaning </a:t>
            </a:r>
            <a:r>
              <a:rPr lang="en-US" sz="1800" dirty="0" smtClean="0"/>
              <a:t>that no response is </a:t>
            </a:r>
            <a:r>
              <a:rPr lang="en-US" sz="1800" dirty="0" smtClean="0"/>
              <a:t>expected)</a:t>
            </a:r>
          </a:p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 smtClean="0"/>
              <a:t>TL packet format supports 32-bit memory addressing and extended 64-bit memory addressing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14400" y="3429000"/>
            <a:ext cx="2057400" cy="1814513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  <a:softEdge rad="10160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TL supports four address spaces: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The memory space includes system main memory and PCIe I/O devices</a:t>
            </a:r>
          </a:p>
          <a:p>
            <a:pPr lvl="1"/>
            <a:r>
              <a:rPr lang="en-US" dirty="0" smtClean="0"/>
              <a:t>Certain ranges of memory addresses map into I/O devices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 smtClean="0"/>
              <a:t>Configuration</a:t>
            </a:r>
          </a:p>
          <a:p>
            <a:pPr lvl="1"/>
            <a:r>
              <a:rPr lang="en-US" dirty="0" smtClean="0"/>
              <a:t>This address space enables the TL to read/write configuration registers associated with I/O devices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I/O</a:t>
            </a:r>
          </a:p>
          <a:p>
            <a:pPr lvl="1"/>
            <a:r>
              <a:rPr lang="en-US" dirty="0" smtClean="0"/>
              <a:t>This address space is used for legacy PCI devices, with </a:t>
            </a:r>
            <a:r>
              <a:rPr lang="en-US" dirty="0" smtClean="0"/>
              <a:t>reserved </a:t>
            </a:r>
            <a:r>
              <a:rPr lang="en-US" dirty="0" smtClean="0"/>
              <a:t>address ranges used to address legacy I/O devices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r>
              <a:rPr lang="en-US" dirty="0" smtClean="0"/>
              <a:t>Message</a:t>
            </a:r>
          </a:p>
          <a:p>
            <a:pPr lvl="1"/>
            <a:r>
              <a:rPr lang="en-US" dirty="0" smtClean="0"/>
              <a:t>This address space is for control signals related to interrupts, error handling, and power management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609600" y="381000"/>
            <a:ext cx="7556500" cy="11160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TLP Transaction Types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85834" y="1536699"/>
            <a:ext cx="8553366" cy="5321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-5882"/>
              <a:stretch>
                <a:fillRect/>
              </a:stretch>
            </p:blipFill>
          </mc:Choice>
          <mc:Fallback>
            <p:blipFill>
              <a:blip r:embed="rId4"/>
              <a:srcRect l="-5882"/>
              <a:stretch>
                <a:fillRect/>
              </a:stretch>
            </p:blipFill>
          </mc:Fallback>
        </mc:AlternateContent>
        <p:spPr>
          <a:xfrm>
            <a:off x="-20385" y="0"/>
            <a:ext cx="5853149" cy="6858000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410200" y="2286000"/>
            <a:ext cx="2984313" cy="1116106"/>
          </a:xfrm>
        </p:spPr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TLP Memory Request Format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f2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4706" t="14545" r="3529" b="46364"/>
              <a:stretch>
                <a:fillRect/>
              </a:stretch>
            </p:blipFill>
          </mc:Choice>
          <mc:Fallback>
            <p:blipFill>
              <a:blip r:embed="rId4"/>
              <a:srcRect l="4706" t="14545" r="3529" b="46364"/>
              <a:stretch>
                <a:fillRect/>
              </a:stretch>
            </p:blipFill>
          </mc:Fallback>
        </mc:AlternateContent>
        <p:spPr>
          <a:xfrm>
            <a:off x="304800" y="1905000"/>
            <a:ext cx="8460267" cy="4663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Computer components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Computer function</a:t>
            </a:r>
          </a:p>
          <a:p>
            <a:pPr lvl="1"/>
            <a:r>
              <a:rPr lang="en-US" dirty="0" smtClean="0"/>
              <a:t>Instruction fetch and execute</a:t>
            </a:r>
          </a:p>
          <a:p>
            <a:pPr lvl="1"/>
            <a:r>
              <a:rPr lang="en-US" dirty="0" smtClean="0"/>
              <a:t>Interrupts</a:t>
            </a:r>
          </a:p>
          <a:p>
            <a:pPr lvl="1"/>
            <a:r>
              <a:rPr lang="en-US" dirty="0" smtClean="0"/>
              <a:t>I/O function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Interconnection structures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Bus interconnection</a:t>
            </a:r>
          </a:p>
          <a:p>
            <a:pPr lvl="1"/>
            <a:r>
              <a:rPr lang="en-US" dirty="0" smtClean="0"/>
              <a:t>Bus structure</a:t>
            </a:r>
          </a:p>
          <a:p>
            <a:pPr lvl="1"/>
            <a:r>
              <a:rPr lang="en-US" dirty="0" smtClean="0"/>
              <a:t>Multiple bus hierarchies</a:t>
            </a:r>
          </a:p>
          <a:p>
            <a:pPr lvl="1"/>
            <a:r>
              <a:rPr lang="en-US" dirty="0" smtClean="0"/>
              <a:t>Elements of bus design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362200"/>
            <a:ext cx="3810000" cy="4724400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Point-to-point interconnect</a:t>
            </a:r>
          </a:p>
          <a:p>
            <a:pPr lvl="1"/>
            <a:r>
              <a:rPr lang="en-US" dirty="0" smtClean="0"/>
              <a:t>QPI physical layer</a:t>
            </a:r>
          </a:p>
          <a:p>
            <a:pPr lvl="1"/>
            <a:r>
              <a:rPr lang="en-US" dirty="0" smtClean="0"/>
              <a:t>QPI link layer</a:t>
            </a:r>
          </a:p>
          <a:p>
            <a:pPr lvl="1"/>
            <a:r>
              <a:rPr lang="en-US" dirty="0" smtClean="0"/>
              <a:t>QPI routing layer</a:t>
            </a:r>
          </a:p>
          <a:p>
            <a:pPr lvl="1"/>
            <a:r>
              <a:rPr lang="en-US" dirty="0" smtClean="0"/>
              <a:t>QPI protocol layer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PCI express</a:t>
            </a:r>
          </a:p>
          <a:p>
            <a:pPr lvl="1"/>
            <a:r>
              <a:rPr lang="en-US" dirty="0" smtClean="0"/>
              <a:t>PCI physical and logical architecture</a:t>
            </a:r>
          </a:p>
          <a:p>
            <a:pPr lvl="1"/>
            <a:r>
              <a:rPr lang="en-US" dirty="0" smtClean="0"/>
              <a:t>PCIe physical layer</a:t>
            </a:r>
          </a:p>
          <a:p>
            <a:pPr lvl="1"/>
            <a:r>
              <a:rPr lang="en-US" dirty="0" smtClean="0"/>
              <a:t>PCIe transaction layer</a:t>
            </a:r>
          </a:p>
          <a:p>
            <a:pPr lvl="1"/>
            <a:r>
              <a:rPr lang="en-US" dirty="0" smtClean="0"/>
              <a:t>PCIe data link layer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3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Top-Level View of Computer Function and Interconnection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7906</TotalTime>
  <Words>15217</Words>
  <Application>Microsoft Macintosh PowerPoint</Application>
  <PresentationFormat>On-screen Show (4:3)</PresentationFormat>
  <Paragraphs>1356</Paragraphs>
  <Slides>52</Slides>
  <Notes>52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Advantage</vt:lpstr>
      <vt:lpstr>William Stallings  Computer Organization  and Architecture 9th Edition</vt:lpstr>
      <vt:lpstr>Chapter 3</vt:lpstr>
      <vt:lpstr>Computer Components</vt:lpstr>
      <vt:lpstr>Hardware  and Software Approaches</vt:lpstr>
      <vt:lpstr>I/O  Components</vt:lpstr>
      <vt:lpstr>MEMORY</vt:lpstr>
      <vt:lpstr>Computer   Components:  Top Level   View</vt:lpstr>
      <vt:lpstr>Basic Instruction Cycle</vt:lpstr>
      <vt:lpstr>Fetch Cycle</vt:lpstr>
      <vt:lpstr>Action Categories</vt:lpstr>
      <vt:lpstr>Slide 11</vt:lpstr>
      <vt:lpstr>Example  of  Program  Execution</vt:lpstr>
      <vt:lpstr>Instruction Cycle State Diagram</vt:lpstr>
      <vt:lpstr>Classes of Interrupts</vt:lpstr>
      <vt:lpstr>Program Flow Control</vt:lpstr>
      <vt:lpstr>Transfer of Control via Interrupts</vt:lpstr>
      <vt:lpstr>Instruction Cycle With Interrupts</vt:lpstr>
      <vt:lpstr>Program Timing: Short I/O Wait</vt:lpstr>
      <vt:lpstr>Program Timing: Long I/O Wait</vt:lpstr>
      <vt:lpstr>Instruction Cycle State Diagram          With Interrupts </vt:lpstr>
      <vt:lpstr>Multiple  Interrupts</vt:lpstr>
      <vt:lpstr>Time Sequence of          Multiple Interrupts</vt:lpstr>
      <vt:lpstr>I/O Function</vt:lpstr>
      <vt:lpstr>Computer  Modules</vt:lpstr>
      <vt:lpstr>The interconnection structure must support the following types of transfers:</vt:lpstr>
      <vt:lpstr>Bus Interconnection</vt:lpstr>
      <vt:lpstr>Data Bus</vt:lpstr>
      <vt:lpstr>   Address Bus       Control Bus</vt:lpstr>
      <vt:lpstr>Bus Interconnection Scheme</vt:lpstr>
      <vt:lpstr>Slide 30</vt:lpstr>
      <vt:lpstr>Elements of Bus Design</vt:lpstr>
      <vt:lpstr>Timing of Synchronous Bus Operations</vt:lpstr>
      <vt:lpstr>Timing of Asynchronous Bus  Operations</vt:lpstr>
      <vt:lpstr>Point-to-Point Interconnect</vt:lpstr>
      <vt:lpstr>Quick Path Interconnect</vt:lpstr>
      <vt:lpstr>Multicore Configuration Using  QPI</vt:lpstr>
      <vt:lpstr>QPI Layers</vt:lpstr>
      <vt:lpstr>Physical Interface of the Intel QPI Interconnect</vt:lpstr>
      <vt:lpstr>QPI Multilane Distribution</vt:lpstr>
      <vt:lpstr>QPI Link Layer</vt:lpstr>
      <vt:lpstr>QPI Routing and Protocol Layers</vt:lpstr>
      <vt:lpstr>Peripheral Component Interconnect (PCI)</vt:lpstr>
      <vt:lpstr>PCIe Configuration</vt:lpstr>
      <vt:lpstr>PCIe Protocol Layers</vt:lpstr>
      <vt:lpstr>PCIe Multilane Distribution</vt:lpstr>
      <vt:lpstr>PCIe Transmit and Receive Block Diagrams</vt:lpstr>
      <vt:lpstr>PCIe   Transaction Layer (TL)</vt:lpstr>
      <vt:lpstr>The TL supports four address spaces:</vt:lpstr>
      <vt:lpstr>PCIe TLP Transaction Types</vt:lpstr>
      <vt:lpstr>PCIe  Protocol  Data  Unit Format</vt:lpstr>
      <vt:lpstr>TLP Memory Request Format</vt:lpstr>
      <vt:lpstr>Summary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Kevin McLaughlin</cp:lastModifiedBy>
  <cp:revision>131</cp:revision>
  <cp:lastPrinted>1999-09-24T09:11:31Z</cp:lastPrinted>
  <dcterms:created xsi:type="dcterms:W3CDTF">2012-06-16T23:28:52Z</dcterms:created>
  <dcterms:modified xsi:type="dcterms:W3CDTF">2012-06-17T05:42:52Z</dcterms:modified>
</cp:coreProperties>
</file>