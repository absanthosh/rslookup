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notesMasterIdLst>
    <p:notesMasterId r:id="rId24"/>
  </p:notesMasterIdLst>
  <p:sldIdLst>
    <p:sldId id="256" r:id="rId2"/>
    <p:sldId id="290" r:id="rId3"/>
    <p:sldId id="291" r:id="rId4"/>
    <p:sldId id="292" r:id="rId5"/>
    <p:sldId id="293" r:id="rId6"/>
    <p:sldId id="271" r:id="rId7"/>
    <p:sldId id="272" r:id="rId8"/>
    <p:sldId id="273" r:id="rId9"/>
    <p:sldId id="274" r:id="rId10"/>
    <p:sldId id="287" r:id="rId11"/>
    <p:sldId id="275" r:id="rId12"/>
    <p:sldId id="294" r:id="rId13"/>
    <p:sldId id="295" r:id="rId14"/>
    <p:sldId id="284" r:id="rId15"/>
    <p:sldId id="296" r:id="rId16"/>
    <p:sldId id="297" r:id="rId17"/>
    <p:sldId id="299" r:id="rId18"/>
    <p:sldId id="285" r:id="rId19"/>
    <p:sldId id="286" r:id="rId20"/>
    <p:sldId id="288" r:id="rId21"/>
    <p:sldId id="289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FB591-D18A-4ECA-8293-F2BB5553F60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944D-CDE7-4603-AA2C-483303995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8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82298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35787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7455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E700B27-DE4C-4B9E-BB11-B9027034A00F}" type="datetimeFigureOut">
              <a:rPr lang="en-US" smtClean="0"/>
              <a:pPr/>
              <a:t>3/27/2020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97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941" y="244699"/>
            <a:ext cx="11706896" cy="96591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1326523"/>
            <a:ext cx="11706895" cy="5267459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4400">
                <a:solidFill>
                  <a:schemeClr val="accent2">
                    <a:lumMod val="50000"/>
                  </a:schemeClr>
                </a:solidFill>
              </a:defRPr>
            </a:lvl2pPr>
            <a:lvl3pPr>
              <a:defRPr sz="4000">
                <a:solidFill>
                  <a:schemeClr val="accent2">
                    <a:lumMod val="50000"/>
                  </a:schemeClr>
                </a:solidFill>
              </a:defRPr>
            </a:lvl3pPr>
            <a:lvl4pPr>
              <a:defRPr sz="3600">
                <a:solidFill>
                  <a:schemeClr val="accent2">
                    <a:lumMod val="50000"/>
                  </a:schemeClr>
                </a:solidFill>
              </a:defRPr>
            </a:lvl4pPr>
            <a:lvl5pPr>
              <a:defRPr sz="3600"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627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34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6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0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00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33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2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2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0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70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smtClean="0"/>
              <a:t>3/27/2020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90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Outlier detection (</a:t>
            </a:r>
            <a:r>
              <a:rPr lang="en-US" sz="4800" dirty="0" err="1" smtClean="0"/>
              <a:t>contd</a:t>
            </a:r>
            <a:r>
              <a:rPr lang="en-US" sz="4800" dirty="0" smtClean="0"/>
              <a:t>…)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1" y="3869634"/>
            <a:ext cx="11625942" cy="1388165"/>
          </a:xfrm>
        </p:spPr>
        <p:txBody>
          <a:bodyPr/>
          <a:lstStyle/>
          <a:p>
            <a:r>
              <a:rPr lang="en-US" dirty="0" smtClean="0"/>
              <a:t>Date: 28</a:t>
            </a:r>
            <a:r>
              <a:rPr lang="en-US" baseline="30000" dirty="0" smtClean="0"/>
              <a:t>th</a:t>
            </a:r>
            <a:r>
              <a:rPr lang="en-US" dirty="0" smtClean="0"/>
              <a:t> March </a:t>
            </a:r>
            <a:r>
              <a:rPr lang="en-US" dirty="0" smtClean="0"/>
              <a:t>2020</a:t>
            </a:r>
          </a:p>
          <a:p>
            <a:endParaRPr lang="en-US" dirty="0" smtClean="0"/>
          </a:p>
          <a:p>
            <a:r>
              <a:rPr lang="en-US" dirty="0"/>
              <a:t>“</a:t>
            </a:r>
            <a:r>
              <a:rPr lang="en-US" i="1" dirty="0"/>
              <a:t>You are unique, and if that is not fulfilled, </a:t>
            </a:r>
            <a:r>
              <a:rPr lang="en-US" i="1" dirty="0" smtClean="0"/>
              <a:t>then something </a:t>
            </a:r>
            <a:r>
              <a:rPr lang="en-US" i="1" dirty="0"/>
              <a:t>has been lost.</a:t>
            </a:r>
            <a:r>
              <a:rPr lang="en-US" dirty="0"/>
              <a:t>”—Martha Graham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45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Applications- Fraud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Fraud detection refers to detection of criminal activities occurring in commercial organizations – Malicious users might be the actual customers of the organization or might be posing as a customer (also known as identity theft). </a:t>
            </a:r>
            <a:endParaRPr lang="en-US" dirty="0" smtClean="0"/>
          </a:p>
          <a:p>
            <a:r>
              <a:rPr lang="en-US" dirty="0" smtClean="0"/>
              <a:t>Types </a:t>
            </a:r>
            <a:r>
              <a:rPr lang="en-US" dirty="0"/>
              <a:t>of fraud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Credit card fraud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Insurance claim fraud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Mobile / cell phone fraud </a:t>
            </a:r>
            <a:endParaRPr lang="en-US" dirty="0" smtClean="0"/>
          </a:p>
          <a:p>
            <a:pPr marL="45720" lvl="1" indent="0">
              <a:spcBef>
                <a:spcPts val="1400"/>
              </a:spcBef>
              <a:buNone/>
            </a:pPr>
            <a:endParaRPr lang="en-US" sz="5000" dirty="0"/>
          </a:p>
          <a:p>
            <a:pPr marL="228600" lvl="1">
              <a:spcBef>
                <a:spcPts val="1400"/>
              </a:spcBef>
            </a:pPr>
            <a:r>
              <a:rPr lang="en-US" dirty="0"/>
              <a:t>Challenges </a:t>
            </a:r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Fast and accurate real-time detection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Misclassification cost is very high</a:t>
            </a:r>
          </a:p>
        </p:txBody>
      </p:sp>
    </p:spTree>
    <p:extLst>
      <p:ext uri="{BB962C8B-B14F-4D97-AF65-F5344CB8AC3E}">
        <p14:creationId xmlns:p14="http://schemas.microsoft.com/office/powerpoint/2010/main" val="248077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-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anomalous patient records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– </a:t>
            </a:r>
            <a:r>
              <a:rPr lang="en-US" dirty="0"/>
              <a:t>Indicate disease </a:t>
            </a:r>
            <a:r>
              <a:rPr lang="en-US" dirty="0" smtClean="0"/>
              <a:t>outbreaks</a:t>
            </a:r>
          </a:p>
          <a:p>
            <a:pPr marL="45720" indent="0">
              <a:buNone/>
            </a:pPr>
            <a:r>
              <a:rPr lang="en-US" dirty="0"/>
              <a:t>– </a:t>
            </a:r>
            <a:r>
              <a:rPr lang="en-US" dirty="0" smtClean="0"/>
              <a:t>instrumentation </a:t>
            </a:r>
            <a:r>
              <a:rPr lang="en-US" dirty="0"/>
              <a:t>errors, etc. </a:t>
            </a:r>
            <a:endParaRPr lang="en-US" dirty="0" smtClean="0"/>
          </a:p>
          <a:p>
            <a:r>
              <a:rPr lang="en-US" dirty="0" smtClean="0"/>
              <a:t>Key </a:t>
            </a:r>
            <a:r>
              <a:rPr lang="en-US" dirty="0"/>
              <a:t>Challenges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– </a:t>
            </a:r>
            <a:r>
              <a:rPr lang="en-US" dirty="0"/>
              <a:t>Misclassification cost is very high 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– </a:t>
            </a:r>
            <a:r>
              <a:rPr lang="en-US" dirty="0"/>
              <a:t>Data can be complex: </a:t>
            </a:r>
            <a:r>
              <a:rPr lang="en-US" dirty="0" err="1"/>
              <a:t>spatio</a:t>
            </a:r>
            <a:r>
              <a:rPr lang="en-US" dirty="0"/>
              <a:t>-temporal</a:t>
            </a:r>
          </a:p>
        </p:txBody>
      </p:sp>
    </p:spTree>
    <p:extLst>
      <p:ext uri="{BB962C8B-B14F-4D97-AF65-F5344CB8AC3E}">
        <p14:creationId xmlns:p14="http://schemas.microsoft.com/office/powerpoint/2010/main" val="339725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– Image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Detecting outliers in </a:t>
            </a:r>
            <a:r>
              <a:rPr lang="en-US" dirty="0" smtClean="0"/>
              <a:t>an </a:t>
            </a:r>
            <a:r>
              <a:rPr lang="en-US" dirty="0"/>
              <a:t>image monitored over time </a:t>
            </a:r>
            <a:endParaRPr lang="en-US" dirty="0" smtClean="0"/>
          </a:p>
          <a:p>
            <a:r>
              <a:rPr lang="en-US" dirty="0" smtClean="0"/>
              <a:t>Detecting </a:t>
            </a:r>
            <a:r>
              <a:rPr lang="en-US" dirty="0"/>
              <a:t>anomalous regions within an image </a:t>
            </a:r>
            <a:endParaRPr lang="en-US" dirty="0" smtClean="0"/>
          </a:p>
          <a:p>
            <a:r>
              <a:rPr lang="en-US" dirty="0" smtClean="0"/>
              <a:t>Used </a:t>
            </a:r>
            <a:r>
              <a:rPr lang="en-US" dirty="0"/>
              <a:t>in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mammography image analysis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video surveillance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satellite image analysis </a:t>
            </a:r>
            <a:endParaRPr lang="en-US" dirty="0" smtClean="0"/>
          </a:p>
          <a:p>
            <a:r>
              <a:rPr lang="en-US" dirty="0" smtClean="0"/>
              <a:t>Key </a:t>
            </a:r>
            <a:r>
              <a:rPr lang="en-US" dirty="0"/>
              <a:t>Challenges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Detecting collective anomalies </a:t>
            </a:r>
            <a:endParaRPr lang="en-US" dirty="0" smtClean="0"/>
          </a:p>
          <a:p>
            <a:pPr marL="274320" lvl="1" indent="0">
              <a:buNone/>
            </a:pPr>
            <a:r>
              <a:rPr lang="en-US" dirty="0" smtClean="0"/>
              <a:t>– </a:t>
            </a:r>
            <a:r>
              <a:rPr lang="en-US" dirty="0"/>
              <a:t>Data sets are very large</a:t>
            </a:r>
          </a:p>
        </p:txBody>
      </p:sp>
    </p:spTree>
    <p:extLst>
      <p:ext uri="{BB962C8B-B14F-4D97-AF65-F5344CB8AC3E}">
        <p14:creationId xmlns:p14="http://schemas.microsoft.com/office/powerpoint/2010/main" val="98968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Outliers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1326524"/>
            <a:ext cx="11706895" cy="1495054"/>
          </a:xfrm>
        </p:spPr>
        <p:txBody>
          <a:bodyPr/>
          <a:lstStyle/>
          <a:p>
            <a:r>
              <a:rPr lang="en-US" altLang="en-US" dirty="0"/>
              <a:t>Three kinds: </a:t>
            </a:r>
            <a:r>
              <a:rPr lang="en-US" altLang="en-US" b="1" i="1" dirty="0"/>
              <a:t>global, contextual</a:t>
            </a:r>
            <a:r>
              <a:rPr lang="en-US" altLang="en-US" b="1" dirty="0"/>
              <a:t> and </a:t>
            </a:r>
            <a:r>
              <a:rPr lang="en-US" altLang="en-US" b="1" i="1" dirty="0"/>
              <a:t>collective </a:t>
            </a:r>
            <a:r>
              <a:rPr lang="en-US" altLang="en-US" b="1" dirty="0"/>
              <a:t>outliers</a:t>
            </a:r>
            <a:endParaRPr lang="en-US" altLang="en-US" b="1" i="1" dirty="0"/>
          </a:p>
          <a:p>
            <a:pPr marL="45720" indent="0">
              <a:buNone/>
            </a:pP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50" y="2821578"/>
            <a:ext cx="2976156" cy="2194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918754" y="5016493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dirty="0"/>
              <a:t>Global Outlier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896" y="2937488"/>
            <a:ext cx="2767241" cy="2125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148943" y="5109393"/>
            <a:ext cx="191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Collective Outlier</a:t>
            </a:r>
          </a:p>
        </p:txBody>
      </p:sp>
    </p:spTree>
    <p:extLst>
      <p:ext uri="{BB962C8B-B14F-4D97-AF65-F5344CB8AC3E}">
        <p14:creationId xmlns:p14="http://schemas.microsoft.com/office/powerpoint/2010/main" val="29075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Extreme Value Analysis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Such outliers correspond to the </a:t>
            </a:r>
            <a:r>
              <a:rPr lang="en-US" i="1" dirty="0"/>
              <a:t>statistical </a:t>
            </a:r>
            <a:r>
              <a:rPr lang="en-US" i="1" dirty="0" smtClean="0"/>
              <a:t>tails </a:t>
            </a:r>
            <a:r>
              <a:rPr lang="en-US" dirty="0" smtClean="0"/>
              <a:t>of </a:t>
            </a:r>
            <a:r>
              <a:rPr lang="en-US" dirty="0"/>
              <a:t>probability distributions</a:t>
            </a:r>
            <a:r>
              <a:rPr lang="en-US" dirty="0" smtClean="0"/>
              <a:t>.</a:t>
            </a:r>
          </a:p>
          <a:p>
            <a:r>
              <a:rPr lang="en-US" dirty="0"/>
              <a:t>It is important to understand that extreme values are very specialized types of outliers</a:t>
            </a:r>
            <a:r>
              <a:rPr lang="en-US" dirty="0" smtClean="0"/>
              <a:t>; in </a:t>
            </a:r>
            <a:r>
              <a:rPr lang="en-US" dirty="0"/>
              <a:t>other words, all extreme values are outliers, but the reverse may not be true</a:t>
            </a:r>
            <a:r>
              <a:rPr lang="en-US" dirty="0" smtClean="0"/>
              <a:t>.</a:t>
            </a:r>
          </a:p>
          <a:p>
            <a:r>
              <a:rPr lang="en-US" dirty="0"/>
              <a:t>The </a:t>
            </a:r>
            <a:r>
              <a:rPr lang="en-US" dirty="0" smtClean="0"/>
              <a:t>traditional definition </a:t>
            </a:r>
            <a:r>
              <a:rPr lang="en-US" dirty="0"/>
              <a:t>of outliers is based on Hawkins’s definition of generative probabilities</a:t>
            </a:r>
            <a:r>
              <a:rPr lang="en-US" dirty="0" smtClean="0"/>
              <a:t>. Example: </a:t>
            </a:r>
            <a:r>
              <a:rPr lang="en-US" i="1" dirty="0"/>
              <a:t>{</a:t>
            </a:r>
            <a:r>
              <a:rPr lang="en-US" dirty="0"/>
              <a:t>1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, </a:t>
            </a:r>
            <a:r>
              <a:rPr lang="en-US" dirty="0"/>
              <a:t>50</a:t>
            </a:r>
            <a:r>
              <a:rPr lang="en-US" i="1" dirty="0"/>
              <a:t>, </a:t>
            </a:r>
            <a:r>
              <a:rPr lang="en-US" dirty="0"/>
              <a:t>97</a:t>
            </a:r>
            <a:r>
              <a:rPr lang="en-US" i="1" dirty="0"/>
              <a:t>, </a:t>
            </a:r>
            <a:r>
              <a:rPr lang="en-US" dirty="0"/>
              <a:t>97</a:t>
            </a:r>
            <a:r>
              <a:rPr lang="en-US" i="1" dirty="0"/>
              <a:t>, </a:t>
            </a:r>
            <a:r>
              <a:rPr lang="en-US" dirty="0"/>
              <a:t>97</a:t>
            </a:r>
            <a:r>
              <a:rPr lang="en-US" i="1" dirty="0"/>
              <a:t>, </a:t>
            </a:r>
            <a:r>
              <a:rPr lang="en-US" dirty="0"/>
              <a:t>100</a:t>
            </a:r>
            <a:r>
              <a:rPr lang="en-US" i="1" dirty="0" smtClean="0"/>
              <a:t>} where 1 and 100 are Extreme values but 50 is not. Is that an issue?</a:t>
            </a:r>
          </a:p>
          <a:p>
            <a:r>
              <a:rPr lang="en-US" dirty="0"/>
              <a:t>A similar argument applies to the case of multivariate data where the extreme values </a:t>
            </a:r>
            <a:r>
              <a:rPr lang="en-US" dirty="0" smtClean="0"/>
              <a:t>lie in </a:t>
            </a:r>
            <a:r>
              <a:rPr lang="en-US" dirty="0"/>
              <a:t>the </a:t>
            </a:r>
            <a:r>
              <a:rPr lang="en-US" i="1" dirty="0"/>
              <a:t>multivariate tail area </a:t>
            </a:r>
            <a:r>
              <a:rPr lang="en-US" dirty="0"/>
              <a:t>of the distribution</a:t>
            </a:r>
            <a:r>
              <a:rPr lang="en-US" dirty="0" smtClean="0"/>
              <a:t>.</a:t>
            </a:r>
          </a:p>
          <a:p>
            <a:r>
              <a:rPr lang="en-US" dirty="0"/>
              <a:t>An example of an important application of extreme </a:t>
            </a:r>
            <a:r>
              <a:rPr lang="en-US" dirty="0" smtClean="0"/>
              <a:t>value analysis </a:t>
            </a:r>
            <a:r>
              <a:rPr lang="en-US" dirty="0"/>
              <a:t>is that of converting outlier scores to binary labels by identifying those outlier </a:t>
            </a:r>
            <a:r>
              <a:rPr lang="en-US" dirty="0" smtClean="0"/>
              <a:t>scores that </a:t>
            </a:r>
            <a:r>
              <a:rPr lang="en-US" dirty="0"/>
              <a:t>are extreme values.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7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9192" t="22947" r="27878" b="30982"/>
          <a:stretch/>
        </p:blipFill>
        <p:spPr>
          <a:xfrm>
            <a:off x="1894114" y="726926"/>
            <a:ext cx="7458893" cy="586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61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Univariate Extreme Value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939" t="38839" r="19646" b="13125"/>
          <a:stretch/>
        </p:blipFill>
        <p:spPr>
          <a:xfrm>
            <a:off x="218941" y="1016854"/>
            <a:ext cx="11237185" cy="557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7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290287"/>
            <a:ext cx="11706895" cy="630369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model </a:t>
            </a:r>
            <a:r>
              <a:rPr lang="en-US" dirty="0"/>
              <a:t>distribution is selected for quantifying the tail probability. The most </a:t>
            </a:r>
            <a:r>
              <a:rPr lang="en-US" dirty="0" smtClean="0"/>
              <a:t>commonly used </a:t>
            </a:r>
            <a:r>
              <a:rPr lang="en-US" dirty="0"/>
              <a:t>model is the normal distribution. The density function </a:t>
            </a:r>
            <a:r>
              <a:rPr lang="en-US" i="1" dirty="0" err="1"/>
              <a:t>f</a:t>
            </a:r>
            <a:r>
              <a:rPr lang="en-US" i="1" baseline="-25000" dirty="0" err="1"/>
              <a:t>X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of the normal </a:t>
            </a:r>
            <a:r>
              <a:rPr lang="en-US" dirty="0" smtClean="0"/>
              <a:t>distribution with </a:t>
            </a:r>
            <a:r>
              <a:rPr lang="en-US" dirty="0"/>
              <a:t>mean </a:t>
            </a:r>
            <a:r>
              <a:rPr lang="en-US" i="1" dirty="0"/>
              <a:t>μ </a:t>
            </a:r>
            <a:r>
              <a:rPr lang="en-US" dirty="0"/>
              <a:t>and standard deviation </a:t>
            </a:r>
            <a:r>
              <a:rPr lang="en-US" i="1" dirty="0"/>
              <a:t>σ </a:t>
            </a:r>
            <a:r>
              <a:rPr lang="en-US" dirty="0"/>
              <a:t>is defined as follows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endParaRPr lang="en-US" dirty="0" smtClean="0"/>
          </a:p>
          <a:p>
            <a:r>
              <a:rPr lang="en-US" dirty="0"/>
              <a:t>A </a:t>
            </a:r>
            <a:r>
              <a:rPr lang="en-US" i="1" dirty="0"/>
              <a:t>standard </a:t>
            </a:r>
            <a:r>
              <a:rPr lang="en-US" dirty="0"/>
              <a:t>normal distribution is one in which the mean is 0, and the standard deviation </a:t>
            </a:r>
            <a:r>
              <a:rPr lang="en-US" i="1" dirty="0" smtClean="0"/>
              <a:t>σ </a:t>
            </a:r>
            <a:r>
              <a:rPr lang="en-US" dirty="0" smtClean="0"/>
              <a:t>is </a:t>
            </a:r>
            <a:r>
              <a:rPr lang="en-US" dirty="0"/>
              <a:t>1. In some application scenarios, the mean </a:t>
            </a:r>
            <a:r>
              <a:rPr lang="en-US" i="1" dirty="0"/>
              <a:t>μ </a:t>
            </a:r>
            <a:r>
              <a:rPr lang="en-US" dirty="0"/>
              <a:t>and standard deviation </a:t>
            </a:r>
            <a:r>
              <a:rPr lang="en-US" i="1" dirty="0"/>
              <a:t>σ </a:t>
            </a:r>
            <a:r>
              <a:rPr lang="en-US" dirty="0"/>
              <a:t>of the </a:t>
            </a:r>
            <a:r>
              <a:rPr lang="en-US" dirty="0" smtClean="0"/>
              <a:t>distribution may </a:t>
            </a:r>
            <a:r>
              <a:rPr lang="en-US" dirty="0"/>
              <a:t>be known through prior domain knowledge. Alternatively, when a </a:t>
            </a:r>
            <a:r>
              <a:rPr lang="en-US" i="1" dirty="0"/>
              <a:t>large </a:t>
            </a:r>
            <a:r>
              <a:rPr lang="en-US" dirty="0"/>
              <a:t>number of </a:t>
            </a:r>
            <a:r>
              <a:rPr lang="en-US" dirty="0" smtClean="0"/>
              <a:t>data samples </a:t>
            </a:r>
            <a:r>
              <a:rPr lang="en-US" dirty="0"/>
              <a:t>is available, the mean and standard deviation may be estimated very accurately</a:t>
            </a:r>
            <a:r>
              <a:rPr lang="en-US" dirty="0" smtClean="0"/>
              <a:t>. These </a:t>
            </a:r>
            <a:r>
              <a:rPr lang="en-US" dirty="0"/>
              <a:t>can be used to compute the </a:t>
            </a:r>
            <a:r>
              <a:rPr lang="en-US" i="1" dirty="0"/>
              <a:t>Z</a:t>
            </a:r>
            <a:r>
              <a:rPr lang="en-US" dirty="0"/>
              <a:t>-value for a random variable. </a:t>
            </a:r>
            <a:endParaRPr lang="en-US" dirty="0" smtClean="0"/>
          </a:p>
          <a:p>
            <a:r>
              <a:rPr lang="en-US" dirty="0"/>
              <a:t>Large positive values of </a:t>
            </a:r>
            <a:r>
              <a:rPr lang="en-US" i="1" dirty="0" err="1"/>
              <a:t>z</a:t>
            </a:r>
            <a:r>
              <a:rPr lang="en-US" i="1" baseline="-25000" dirty="0" err="1"/>
              <a:t>i</a:t>
            </a:r>
            <a:r>
              <a:rPr lang="en-US" i="1" dirty="0"/>
              <a:t> </a:t>
            </a:r>
            <a:r>
              <a:rPr lang="en-US" dirty="0"/>
              <a:t>correspond to the upper tail, whereas large negative </a:t>
            </a:r>
            <a:r>
              <a:rPr lang="en-US" dirty="0" smtClean="0"/>
              <a:t>values correspond </a:t>
            </a:r>
            <a:r>
              <a:rPr lang="en-US" dirty="0"/>
              <a:t>to the lower tail. The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720" y="1802807"/>
            <a:ext cx="3428479" cy="72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0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particular random variable has mean 3 and standard deviation 2. </a:t>
            </a:r>
            <a:r>
              <a:rPr lang="en-US" dirty="0" smtClean="0"/>
              <a:t>Compute the </a:t>
            </a:r>
            <a:r>
              <a:rPr lang="en-US" i="1" dirty="0"/>
              <a:t>Z</a:t>
            </a:r>
            <a:r>
              <a:rPr lang="en-US" dirty="0"/>
              <a:t>-number for the values -1</a:t>
            </a:r>
            <a:r>
              <a:rPr lang="en-US" dirty="0" smtClean="0"/>
              <a:t>, 0, 3, 7 </a:t>
            </a:r>
            <a:r>
              <a:rPr lang="en-US" dirty="0"/>
              <a:t>and 9. Which of these values can be considered </a:t>
            </a:r>
            <a:r>
              <a:rPr lang="en-US" dirty="0" smtClean="0"/>
              <a:t>the most </a:t>
            </a:r>
            <a:r>
              <a:rPr lang="en-US" dirty="0"/>
              <a:t>extreme value?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8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Multivariate Extreme Value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As in the previous case, a multivariate Gaussian </a:t>
            </a:r>
            <a:r>
              <a:rPr lang="en-US" dirty="0" smtClean="0"/>
              <a:t>model is </a:t>
            </a:r>
            <a:r>
              <a:rPr lang="en-US" dirty="0"/>
              <a:t>used, and the corresponding parameters are estimated in a data-driven manner. </a:t>
            </a:r>
            <a:endParaRPr lang="en-US" dirty="0" smtClean="0"/>
          </a:p>
          <a:p>
            <a:pPr algn="just"/>
            <a:r>
              <a:rPr lang="en-US" dirty="0" smtClean="0"/>
              <a:t>The implicit </a:t>
            </a:r>
            <a:r>
              <a:rPr lang="en-US" dirty="0"/>
              <a:t>modeling assumption of multivariate extreme value analysis is that all data </a:t>
            </a:r>
            <a:r>
              <a:rPr lang="en-US" dirty="0" smtClean="0"/>
              <a:t>points are </a:t>
            </a:r>
            <a:r>
              <a:rPr lang="en-US" dirty="0"/>
              <a:t>located in a probability distribution with a single peak (i.e., single Gaussian cluster</a:t>
            </a:r>
            <a:r>
              <a:rPr lang="en-US" dirty="0" smtClean="0"/>
              <a:t>), and </a:t>
            </a:r>
            <a:r>
              <a:rPr lang="en-US" dirty="0"/>
              <a:t>data points in all directions that are as far away as possible from the center of </a:t>
            </a:r>
            <a:r>
              <a:rPr lang="en-US" dirty="0" smtClean="0"/>
              <a:t>the cluster </a:t>
            </a:r>
            <a:r>
              <a:rPr lang="en-US" dirty="0"/>
              <a:t>should be considered extreme values</a:t>
            </a:r>
            <a:r>
              <a:rPr lang="en-US" dirty="0" smtClean="0"/>
              <a:t>.</a:t>
            </a:r>
          </a:p>
          <a:p>
            <a:r>
              <a:rPr lang="en-US" dirty="0"/>
              <a:t>Let </a:t>
            </a:r>
            <a:r>
              <a:rPr lang="en-US" i="1" dirty="0"/>
              <a:t>μ </a:t>
            </a:r>
            <a:r>
              <a:rPr lang="en-US" dirty="0"/>
              <a:t>be the </a:t>
            </a:r>
            <a:r>
              <a:rPr lang="en-US" i="1" dirty="0"/>
              <a:t>d</a:t>
            </a:r>
            <a:r>
              <a:rPr lang="en-US" dirty="0"/>
              <a:t>-dimensional mean vector of a </a:t>
            </a:r>
            <a:r>
              <a:rPr lang="en-US" i="1" dirty="0"/>
              <a:t>d</a:t>
            </a:r>
            <a:r>
              <a:rPr lang="en-US" dirty="0"/>
              <a:t>-dimensional data set, and Σ be its </a:t>
            </a:r>
            <a:r>
              <a:rPr lang="en-US" i="1" dirty="0"/>
              <a:t>d × d </a:t>
            </a:r>
            <a:r>
              <a:rPr lang="en-US" dirty="0"/>
              <a:t>covariance matrix. Thus, the (</a:t>
            </a:r>
            <a:r>
              <a:rPr lang="en-US" i="1" dirty="0" err="1"/>
              <a:t>i</a:t>
            </a:r>
            <a:r>
              <a:rPr lang="en-US" i="1" dirty="0"/>
              <a:t>, j</a:t>
            </a:r>
            <a:r>
              <a:rPr lang="en-US" dirty="0"/>
              <a:t>)</a:t>
            </a:r>
            <a:r>
              <a:rPr lang="en-US" baseline="30000" dirty="0" err="1"/>
              <a:t>th</a:t>
            </a:r>
            <a:r>
              <a:rPr lang="en-US" dirty="0"/>
              <a:t> entry of the covariance matrix is equal to the covariance between the dimensions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j</a:t>
            </a:r>
            <a:r>
              <a:rPr lang="en-US" dirty="0"/>
              <a:t>. These represent the estimated parameters of the multivariate Gaussian distribution. Then, the probability distribution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for a </a:t>
            </a:r>
            <a:r>
              <a:rPr lang="en-US" i="1" dirty="0"/>
              <a:t>d-</a:t>
            </a:r>
            <a:r>
              <a:rPr lang="en-US" dirty="0"/>
              <a:t>dimensional data point </a:t>
            </a:r>
            <a:r>
              <a:rPr lang="en-US" i="1" dirty="0"/>
              <a:t>X </a:t>
            </a:r>
            <a:r>
              <a:rPr lang="en-US" dirty="0"/>
              <a:t>can be defined as follows:</a:t>
            </a:r>
          </a:p>
          <a:p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494" y="6088368"/>
            <a:ext cx="4749225" cy="76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0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Non-Parametric Statistical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" indent="0">
              <a:buNone/>
            </a:pPr>
            <a:r>
              <a:rPr lang="en-US" dirty="0"/>
              <a:t>We can use the histogram as a nonparametric </a:t>
            </a:r>
            <a:r>
              <a:rPr lang="en-US" dirty="0" smtClean="0"/>
              <a:t>statistical </a:t>
            </a:r>
            <a:r>
              <a:rPr lang="en-US" dirty="0"/>
              <a:t>model to capture outliers. </a:t>
            </a:r>
            <a:r>
              <a:rPr lang="en-US" dirty="0" smtClean="0"/>
              <a:t>For example</a:t>
            </a:r>
            <a:r>
              <a:rPr lang="en-US" dirty="0"/>
              <a:t>, a transaction in the amount of $7500 can be regarded as an outlier </a:t>
            </a:r>
            <a:r>
              <a:rPr lang="en-US" dirty="0" smtClean="0"/>
              <a:t>because only 0.2</a:t>
            </a:r>
            <a:r>
              <a:rPr lang="en-US" i="1" dirty="0"/>
              <a:t>% </a:t>
            </a:r>
            <a:r>
              <a:rPr lang="en-US" dirty="0"/>
              <a:t>of transactions have an </a:t>
            </a:r>
            <a:r>
              <a:rPr lang="en-US" dirty="0" smtClean="0"/>
              <a:t>amount higher </a:t>
            </a:r>
            <a:r>
              <a:rPr lang="en-US" dirty="0"/>
              <a:t>than $5000. On the other hand, a transaction amount of $385 can be treated </a:t>
            </a:r>
            <a:r>
              <a:rPr lang="en-US" dirty="0" smtClean="0"/>
              <a:t>as normal </a:t>
            </a:r>
            <a:r>
              <a:rPr lang="en-US" dirty="0"/>
              <a:t>because it falls into the bin (or bucket) holding 60% of the transactions</a:t>
            </a:r>
            <a:r>
              <a:rPr lang="en-US" dirty="0" smtClean="0"/>
              <a:t>.</a:t>
            </a:r>
          </a:p>
          <a:p>
            <a:pPr marL="45720" indent="0">
              <a:buNone/>
            </a:pPr>
            <a:r>
              <a:rPr lang="en-US" dirty="0"/>
              <a:t>As illustrated in the </a:t>
            </a:r>
            <a:r>
              <a:rPr lang="en-US" dirty="0" smtClean="0"/>
              <a:t>example</a:t>
            </a:r>
            <a:r>
              <a:rPr lang="en-US" dirty="0"/>
              <a:t>, the histogram is a frequently used </a:t>
            </a:r>
            <a:r>
              <a:rPr lang="en-US" dirty="0" smtClean="0"/>
              <a:t>nonparametric statistical </a:t>
            </a:r>
            <a:r>
              <a:rPr lang="en-US" dirty="0"/>
              <a:t>model that can be used to detect outliers. The procedure involves </a:t>
            </a:r>
            <a:r>
              <a:rPr lang="en-US" dirty="0" smtClean="0"/>
              <a:t>the following </a:t>
            </a:r>
            <a:r>
              <a:rPr lang="en-US" dirty="0"/>
              <a:t>two </a:t>
            </a:r>
            <a:r>
              <a:rPr lang="en-US" dirty="0" smtClean="0"/>
              <a:t>steps: Histogram construction and Outlier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2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45720" indent="0">
              <a:buNone/>
            </a:pPr>
            <a:r>
              <a:rPr lang="en-US" dirty="0" smtClean="0"/>
              <a:t>Anomaly score of 8000 and 385?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1" y="727656"/>
            <a:ext cx="5511799" cy="485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09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for Outlier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2" y="1326523"/>
            <a:ext cx="6443116" cy="52674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detection of outliers as a side-product of clustering </a:t>
            </a:r>
            <a:r>
              <a:rPr lang="en-US" dirty="0" smtClean="0"/>
              <a:t>methods is</a:t>
            </a:r>
            <a:r>
              <a:rPr lang="en-US" dirty="0"/>
              <a:t>, however, not an appropriate approach because clustering algorithms are not optimized </a:t>
            </a:r>
            <a:r>
              <a:rPr lang="en-US" dirty="0" smtClean="0"/>
              <a:t>for outlier </a:t>
            </a:r>
            <a:r>
              <a:rPr lang="en-US" dirty="0"/>
              <a:t>detection.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points on the boundary regions of a cluster may also be </a:t>
            </a:r>
            <a:r>
              <a:rPr lang="en-US" dirty="0" smtClean="0"/>
              <a:t>considered weak </a:t>
            </a:r>
            <a:r>
              <a:rPr lang="en-US" dirty="0"/>
              <a:t>outliers but are rarely useful in most application-specific scenarios.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29" y="1567543"/>
            <a:ext cx="5184986" cy="455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0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41084" y="412123"/>
            <a:ext cx="11584751" cy="914400"/>
          </a:xfrm>
        </p:spPr>
        <p:txBody>
          <a:bodyPr/>
          <a:lstStyle/>
          <a:p>
            <a:r>
              <a:rPr lang="en-US" altLang="en-US" sz="2800" dirty="0"/>
              <a:t>Proximity-Based Approaches: Distance-Based vs. Density-Based Outlier Detection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Intuition: Objects that are far away from the others are outliers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Assumption of proximity-based approach: The proximity of an outlier deviates significantly from that of most of the others in the data set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Two types of proximity-based outlier detection methods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Distance-based outlier detection: An object o is an outlier if its neighborhood does not have enough other </a:t>
            </a:r>
            <a:r>
              <a:rPr lang="en-US" altLang="en-US" sz="2400" dirty="0" smtClean="0"/>
              <a:t>points</a:t>
            </a:r>
          </a:p>
          <a:p>
            <a:pPr marL="274320" lvl="1" indent="0">
              <a:lnSpc>
                <a:spcPct val="110000"/>
              </a:lnSpc>
              <a:buNone/>
            </a:pPr>
            <a:endParaRPr lang="en-US" altLang="en-US" sz="2400" dirty="0"/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Density-based outlier detection: An object o is an outlier if its density is relatively much lower than that of its neighbors</a:t>
            </a:r>
          </a:p>
        </p:txBody>
      </p:sp>
      <p:sp>
        <p:nvSpPr>
          <p:cNvPr id="24580" name="Slide Number Placeholder 5"/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185C7264-D88F-477D-8655-F69559D5D95E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15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694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8941" y="313385"/>
            <a:ext cx="10220459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Distance-Based Outlier Detection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8941" y="999185"/>
            <a:ext cx="11706895" cy="559479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For each object o, examine the # of other objects in the </a:t>
            </a:r>
            <a:r>
              <a:rPr lang="en-US" altLang="en-US" sz="2000" i="1" dirty="0"/>
              <a:t>r</a:t>
            </a:r>
            <a:r>
              <a:rPr lang="en-US" altLang="en-US" sz="2000" dirty="0"/>
              <a:t>-neighborhood of o, where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a user-specified </a:t>
            </a:r>
            <a:r>
              <a:rPr lang="en-US" altLang="en-US" sz="2000" b="1" dirty="0"/>
              <a:t>distance threshold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An object o is an outlier if most (taking </a:t>
            </a:r>
            <a:r>
              <a:rPr lang="el-GR" altLang="en-US" sz="2000" dirty="0">
                <a:cs typeface="Arial" panose="020B0604020202020204" pitchFamily="34" charset="0"/>
              </a:rPr>
              <a:t>π</a:t>
            </a:r>
            <a:r>
              <a:rPr lang="en-US" altLang="en-US" sz="2000" dirty="0"/>
              <a:t> as a </a:t>
            </a:r>
            <a:r>
              <a:rPr lang="en-US" altLang="en-US" sz="2000" b="1" dirty="0"/>
              <a:t>fraction threshold</a:t>
            </a:r>
            <a:r>
              <a:rPr lang="en-US" altLang="en-US" sz="2000" dirty="0"/>
              <a:t>) of the objects in D are far away from o, i.e., not in the r-neighborhood of </a:t>
            </a:r>
            <a:r>
              <a:rPr lang="en-US" altLang="en-US" sz="2000" dirty="0" smtClean="0"/>
              <a:t>o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An object o is a DB(r, </a:t>
            </a:r>
            <a:r>
              <a:rPr lang="el-GR" altLang="en-US" sz="2000" dirty="0">
                <a:cs typeface="Arial" panose="020B0604020202020204" pitchFamily="34" charset="0"/>
              </a:rPr>
              <a:t>π</a:t>
            </a:r>
            <a:r>
              <a:rPr lang="en-US" altLang="en-US" sz="2000" dirty="0"/>
              <a:t>) outlier if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Equivalently, one can check the distance between </a:t>
            </a:r>
            <a:r>
              <a:rPr lang="en-US" altLang="en-US" sz="2000" i="1" dirty="0"/>
              <a:t>o</a:t>
            </a:r>
            <a:r>
              <a:rPr lang="en-US" altLang="en-US" sz="2000" dirty="0"/>
              <a:t> and its </a:t>
            </a:r>
            <a:r>
              <a:rPr lang="en-US" altLang="en-US" sz="2000" i="1" dirty="0"/>
              <a:t>k</a:t>
            </a:r>
            <a:r>
              <a:rPr lang="en-US" altLang="en-US" sz="2000" dirty="0"/>
              <a:t>-</a:t>
            </a:r>
            <a:r>
              <a:rPr lang="en-US" altLang="en-US" sz="2000" dirty="0" err="1"/>
              <a:t>th</a:t>
            </a:r>
            <a:r>
              <a:rPr lang="en-US" altLang="en-US" sz="2000" dirty="0"/>
              <a:t> nearest neighbor </a:t>
            </a:r>
            <a:r>
              <a:rPr lang="en-US" altLang="en-US" sz="2000" i="1" dirty="0"/>
              <a:t>o</a:t>
            </a:r>
            <a:r>
              <a:rPr lang="en-US" altLang="en-US" sz="2000" i="1" baseline="-25000" dirty="0"/>
              <a:t>k</a:t>
            </a:r>
            <a:r>
              <a:rPr lang="en-US" altLang="en-US" sz="2000" dirty="0"/>
              <a:t>, where                     </a:t>
            </a:r>
            <a:r>
              <a:rPr lang="en-US" altLang="en-US" sz="2000" dirty="0" smtClean="0"/>
              <a:t>   </a:t>
            </a:r>
            <a:r>
              <a:rPr lang="en-US" altLang="en-US" sz="2000" dirty="0"/>
              <a:t>. </a:t>
            </a:r>
            <a:r>
              <a:rPr lang="en-US" altLang="en-US" sz="2000" dirty="0" smtClean="0"/>
              <a:t>Object </a:t>
            </a:r>
            <a:r>
              <a:rPr lang="en-US" altLang="en-US" sz="2000" i="1" dirty="0" smtClean="0"/>
              <a:t>o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is an outlier if </a:t>
            </a:r>
            <a:r>
              <a:rPr lang="en-US" altLang="en-US" sz="2000" dirty="0" err="1"/>
              <a:t>dist</a:t>
            </a:r>
            <a:r>
              <a:rPr lang="en-US" altLang="en-US" sz="2000" dirty="0"/>
              <a:t>(</a:t>
            </a:r>
            <a:r>
              <a:rPr lang="en-US" altLang="en-US" sz="2000" i="1" dirty="0"/>
              <a:t>o, o</a:t>
            </a:r>
            <a:r>
              <a:rPr lang="en-US" altLang="en-US" sz="2000" i="1" baseline="-25000" dirty="0"/>
              <a:t>k</a:t>
            </a:r>
            <a:r>
              <a:rPr lang="en-US" altLang="en-US" sz="2000" dirty="0"/>
              <a:t>) &gt; </a:t>
            </a:r>
            <a:r>
              <a:rPr lang="en-US" altLang="en-US" sz="2000" dirty="0" smtClean="0"/>
              <a:t>r 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Efficient computation: Nested loop </a:t>
            </a:r>
            <a:r>
              <a:rPr lang="en-US" altLang="en-US" sz="2000" dirty="0" smtClean="0"/>
              <a:t>algorithm 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For any object o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, calculate its distance from other objects, and count the # of other objects in the r-neighborhood.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If  </a:t>
            </a:r>
            <a:r>
              <a:rPr lang="el-GR" altLang="en-US" sz="2000" dirty="0">
                <a:cs typeface="Arial" panose="020B0604020202020204" pitchFamily="34" charset="0"/>
              </a:rPr>
              <a:t>π</a:t>
            </a:r>
            <a:r>
              <a:rPr lang="en-US" altLang="en-US" sz="2000" dirty="0">
                <a:cs typeface="Arial" panose="020B0604020202020204" pitchFamily="34" charset="0"/>
              </a:rPr>
              <a:t>∙</a:t>
            </a:r>
            <a:r>
              <a:rPr lang="en-US" altLang="en-US" sz="2000" dirty="0"/>
              <a:t>n other objects are within r distance, terminate the inner loop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Otherwise, o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is a DB(r, </a:t>
            </a:r>
            <a:r>
              <a:rPr lang="el-GR" altLang="en-US" sz="2000" dirty="0">
                <a:cs typeface="Arial" panose="020B0604020202020204" pitchFamily="34" charset="0"/>
              </a:rPr>
              <a:t>π</a:t>
            </a:r>
            <a:r>
              <a:rPr lang="en-US" altLang="en-US" sz="2000" dirty="0"/>
              <a:t>) outlier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Efficiency: Actually CPU time is not O(n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but linear to the data set size since for most non-outlier objects, the inner loop terminates early</a:t>
            </a:r>
          </a:p>
        </p:txBody>
      </p:sp>
      <p:sp>
        <p:nvSpPr>
          <p:cNvPr id="25604" name="Slide Number Placeholder 5"/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B36C909D-4DB1-4C3F-9F02-CC724B73C9E1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16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06" y="2438401"/>
            <a:ext cx="2846388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096" y="3073401"/>
            <a:ext cx="1108904" cy="237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9621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40" y="244698"/>
            <a:ext cx="8544059" cy="639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07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Distance based Outlier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The distance-based outlier score of an object O is its distance to its kth nearest neighbor</a:t>
            </a:r>
            <a:r>
              <a:rPr lang="en-US" dirty="0" smtClean="0"/>
              <a:t>.</a:t>
            </a:r>
          </a:p>
          <a:p>
            <a:r>
              <a:rPr lang="en-US" dirty="0"/>
              <a:t>Distance-based methods typically use a finer granularity of analysis than </a:t>
            </a:r>
            <a:r>
              <a:rPr lang="en-US" dirty="0" smtClean="0"/>
              <a:t>clustering methods </a:t>
            </a:r>
            <a:r>
              <a:rPr lang="en-US" dirty="0"/>
              <a:t>and can therefore distinguish between ambient noise and truly isolated anomalies.</a:t>
            </a:r>
          </a:p>
          <a:p>
            <a:r>
              <a:rPr lang="en-US" dirty="0"/>
              <a:t>This is because ambient noise will typically have a lower </a:t>
            </a:r>
            <a:r>
              <a:rPr lang="en-US" i="1" dirty="0"/>
              <a:t>k</a:t>
            </a:r>
            <a:r>
              <a:rPr lang="en-US" dirty="0"/>
              <a:t>-nearest neighbor distance </a:t>
            </a:r>
            <a:r>
              <a:rPr lang="en-US" dirty="0" smtClean="0"/>
              <a:t>than a </a:t>
            </a:r>
            <a:r>
              <a:rPr lang="en-US" dirty="0"/>
              <a:t>truly isolated anomaly</a:t>
            </a:r>
            <a:r>
              <a:rPr lang="en-US" dirty="0" smtClean="0"/>
              <a:t>.</a:t>
            </a:r>
          </a:p>
          <a:p>
            <a:r>
              <a:rPr lang="en-US" dirty="0"/>
              <a:t>The price of this better granularity is higher computational complexity</a:t>
            </a:r>
            <a:r>
              <a:rPr lang="en-US" dirty="0" smtClean="0"/>
              <a:t>. </a:t>
            </a:r>
            <a:r>
              <a:rPr lang="en-US" dirty="0"/>
              <a:t>Therefore, a variety of methods are used </a:t>
            </a:r>
            <a:r>
              <a:rPr lang="en-US" dirty="0" smtClean="0"/>
              <a:t>to speed </a:t>
            </a:r>
            <a:r>
              <a:rPr lang="en-US" dirty="0"/>
              <a:t>up the computation</a:t>
            </a:r>
            <a:r>
              <a:rPr lang="en-US" dirty="0" smtClean="0"/>
              <a:t>: Index structures and Pruning tricks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1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Pruning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Pruning methods are used only for the case where the top-</a:t>
            </a:r>
            <a:r>
              <a:rPr lang="en-US" i="1" dirty="0"/>
              <a:t>r </a:t>
            </a:r>
            <a:r>
              <a:rPr lang="en-US" dirty="0"/>
              <a:t>ranked outliers need to </a:t>
            </a:r>
            <a:r>
              <a:rPr lang="en-US" dirty="0" smtClean="0"/>
              <a:t>be returned</a:t>
            </a:r>
            <a:r>
              <a:rPr lang="en-US" dirty="0"/>
              <a:t>, and the outlier scores of the remaining data points are irrelevant</a:t>
            </a:r>
            <a:r>
              <a:rPr lang="en-US" dirty="0" smtClean="0"/>
              <a:t>.</a:t>
            </a:r>
          </a:p>
          <a:p>
            <a:r>
              <a:rPr lang="en-US" b="1" dirty="0"/>
              <a:t>Sampling Methods</a:t>
            </a:r>
          </a:p>
          <a:p>
            <a:r>
              <a:rPr lang="en-US" b="1" dirty="0"/>
              <a:t>Early Termination Trick with Nested </a:t>
            </a:r>
            <a:r>
              <a:rPr lang="en-US" b="1" dirty="0" smtClean="0"/>
              <a:t>Loops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2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The first step is to pick a sample </a:t>
            </a:r>
            <a:r>
              <a:rPr lang="en-US" i="1" dirty="0"/>
              <a:t>S </a:t>
            </a:r>
            <a:r>
              <a:rPr lang="en-US" dirty="0"/>
              <a:t>of size </a:t>
            </a:r>
            <a:r>
              <a:rPr lang="en-US" i="1" dirty="0"/>
              <a:t>s  n </a:t>
            </a:r>
            <a:r>
              <a:rPr lang="en-US" dirty="0"/>
              <a:t>from the data </a:t>
            </a:r>
            <a:r>
              <a:rPr lang="en-US" i="1" dirty="0"/>
              <a:t>D</a:t>
            </a:r>
            <a:r>
              <a:rPr lang="en-US" dirty="0"/>
              <a:t>, and compute all </a:t>
            </a:r>
            <a:r>
              <a:rPr lang="en-US" dirty="0" smtClean="0"/>
              <a:t>pairwise distances </a:t>
            </a:r>
            <a:r>
              <a:rPr lang="en-US" dirty="0"/>
              <a:t>between the data points in sample </a:t>
            </a:r>
            <a:r>
              <a:rPr lang="en-US" i="1" dirty="0"/>
              <a:t>S </a:t>
            </a:r>
            <a:r>
              <a:rPr lang="en-US" dirty="0"/>
              <a:t>and those in database </a:t>
            </a:r>
            <a:r>
              <a:rPr lang="en-US" i="1" dirty="0"/>
              <a:t>D</a:t>
            </a:r>
            <a:r>
              <a:rPr lang="en-US" dirty="0" smtClean="0"/>
              <a:t>.</a:t>
            </a:r>
          </a:p>
          <a:p>
            <a:r>
              <a:rPr lang="en-US" dirty="0"/>
              <a:t>Thus, </a:t>
            </a:r>
            <a:r>
              <a:rPr lang="en-US" dirty="0" smtClean="0"/>
              <a:t>for each </a:t>
            </a:r>
            <a:r>
              <a:rPr lang="en-US" dirty="0"/>
              <a:t>of the sampled points in </a:t>
            </a:r>
            <a:r>
              <a:rPr lang="en-US" i="1" dirty="0"/>
              <a:t>S</a:t>
            </a:r>
            <a:r>
              <a:rPr lang="en-US" dirty="0"/>
              <a:t>, the </a:t>
            </a:r>
            <a:r>
              <a:rPr lang="en-US" i="1" dirty="0"/>
              <a:t>k</a:t>
            </a:r>
            <a:r>
              <a:rPr lang="en-US" dirty="0"/>
              <a:t>-nearest neighbor distance is already known exactly</a:t>
            </a:r>
            <a:r>
              <a:rPr lang="en-US" dirty="0" smtClean="0"/>
              <a:t>.</a:t>
            </a:r>
          </a:p>
          <a:p>
            <a:r>
              <a:rPr lang="en-US" dirty="0"/>
              <a:t>The top </a:t>
            </a:r>
            <a:r>
              <a:rPr lang="en-US" i="1" dirty="0" err="1"/>
              <a:t>r</a:t>
            </a:r>
            <a:r>
              <a:rPr lang="en-US" baseline="30000" dirty="0" err="1"/>
              <a:t>th</a:t>
            </a:r>
            <a:r>
              <a:rPr lang="en-US" dirty="0"/>
              <a:t> ranked outlier in sample </a:t>
            </a:r>
            <a:r>
              <a:rPr lang="en-US" i="1" dirty="0"/>
              <a:t>S </a:t>
            </a:r>
            <a:r>
              <a:rPr lang="en-US" dirty="0"/>
              <a:t>is determined, where </a:t>
            </a:r>
            <a:r>
              <a:rPr lang="en-US" i="1" dirty="0"/>
              <a:t>r </a:t>
            </a:r>
            <a:r>
              <a:rPr lang="en-US" dirty="0"/>
              <a:t>is the number of </a:t>
            </a:r>
            <a:r>
              <a:rPr lang="en-US" dirty="0" smtClean="0"/>
              <a:t>outliers to </a:t>
            </a:r>
            <a:r>
              <a:rPr lang="en-US" dirty="0"/>
              <a:t>be returned.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score of the </a:t>
            </a:r>
            <a:r>
              <a:rPr lang="en-US" i="1" dirty="0" err="1"/>
              <a:t>r</a:t>
            </a:r>
            <a:r>
              <a:rPr lang="en-US" baseline="30000" dirty="0" err="1"/>
              <a:t>th</a:t>
            </a:r>
            <a:r>
              <a:rPr lang="en-US" dirty="0"/>
              <a:t> rank outlier provides a </a:t>
            </a:r>
            <a:r>
              <a:rPr lang="en-US" i="1" dirty="0"/>
              <a:t>lower </a:t>
            </a:r>
            <a:r>
              <a:rPr lang="en-US" dirty="0" smtClean="0"/>
              <a:t>bound </a:t>
            </a:r>
            <a:r>
              <a:rPr lang="en-US" i="1" dirty="0" smtClean="0"/>
              <a:t>L </a:t>
            </a:r>
            <a:r>
              <a:rPr lang="en-US" dirty="0"/>
              <a:t>on the </a:t>
            </a:r>
            <a:r>
              <a:rPr lang="en-US" i="1" dirty="0" err="1" smtClean="0"/>
              <a:t>r</a:t>
            </a:r>
            <a:r>
              <a:rPr lang="en-US" baseline="30000" dirty="0" err="1" smtClean="0"/>
              <a:t>th</a:t>
            </a:r>
            <a:r>
              <a:rPr lang="en-US" dirty="0"/>
              <a:t> </a:t>
            </a:r>
            <a:r>
              <a:rPr lang="en-US" dirty="0" smtClean="0"/>
              <a:t>ranked </a:t>
            </a:r>
            <a:r>
              <a:rPr lang="en-US" dirty="0"/>
              <a:t>outlier score over the entire data set </a:t>
            </a:r>
            <a:r>
              <a:rPr lang="en-US" i="1" dirty="0"/>
              <a:t>D</a:t>
            </a:r>
            <a:r>
              <a:rPr lang="en-US" dirty="0" smtClean="0"/>
              <a:t>. </a:t>
            </a:r>
          </a:p>
          <a:p>
            <a:r>
              <a:rPr lang="en-US" dirty="0"/>
              <a:t>For the data points in </a:t>
            </a:r>
            <a:r>
              <a:rPr lang="en-US" i="1" dirty="0"/>
              <a:t>D−S</a:t>
            </a:r>
            <a:r>
              <a:rPr lang="en-US" dirty="0"/>
              <a:t>, only an </a:t>
            </a:r>
            <a:r>
              <a:rPr lang="en-US" i="1" dirty="0" smtClean="0"/>
              <a:t>upper bound </a:t>
            </a:r>
            <a:r>
              <a:rPr lang="en-US" i="1" dirty="0"/>
              <a:t>V </a:t>
            </a:r>
            <a:r>
              <a:rPr lang="en-US" i="1" baseline="30000" dirty="0"/>
              <a:t>k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on the </a:t>
            </a:r>
            <a:r>
              <a:rPr lang="en-US" i="1" dirty="0"/>
              <a:t>k</a:t>
            </a:r>
            <a:r>
              <a:rPr lang="en-US" dirty="0"/>
              <a:t>-nearest neighbor distance is known</a:t>
            </a:r>
            <a:r>
              <a:rPr lang="en-US" dirty="0" smtClean="0"/>
              <a:t>. </a:t>
            </a:r>
          </a:p>
          <a:p>
            <a:r>
              <a:rPr lang="en-US" dirty="0"/>
              <a:t>This upper bound is equal </a:t>
            </a:r>
            <a:r>
              <a:rPr lang="en-US" dirty="0" smtClean="0"/>
              <a:t>to the </a:t>
            </a:r>
            <a:r>
              <a:rPr lang="en-US" i="1" dirty="0"/>
              <a:t>k</a:t>
            </a:r>
            <a:r>
              <a:rPr lang="en-US" dirty="0"/>
              <a:t>-nearest neighbor distance of each point in </a:t>
            </a:r>
            <a:r>
              <a:rPr lang="en-US" i="1" dirty="0"/>
              <a:t>D − S </a:t>
            </a:r>
            <a:r>
              <a:rPr lang="en-US" dirty="0"/>
              <a:t>to the sample </a:t>
            </a:r>
            <a:r>
              <a:rPr lang="en-US" i="1" dirty="0"/>
              <a:t>S ⊂ D</a:t>
            </a:r>
            <a:r>
              <a:rPr lang="en-US" dirty="0" smtClean="0"/>
              <a:t>.</a:t>
            </a:r>
          </a:p>
          <a:p>
            <a:r>
              <a:rPr lang="en-US" dirty="0"/>
              <a:t>Typically, this will result in the removal of a large number of outlier candidates from </a:t>
            </a:r>
            <a:r>
              <a:rPr lang="en-US" i="1" dirty="0"/>
              <a:t>D−</a:t>
            </a:r>
            <a:r>
              <a:rPr lang="en-US" i="1" dirty="0" smtClean="0"/>
              <a:t>S </a:t>
            </a:r>
            <a:r>
              <a:rPr lang="en-US" dirty="0" smtClean="0"/>
              <a:t>immediately</a:t>
            </a:r>
            <a:r>
              <a:rPr lang="en-US" dirty="0"/>
              <a:t>, as long as the underlying data set is clustered well.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29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Early Termination Trick with Nested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approach discussed in the previous section can be improved even further by </a:t>
            </a:r>
            <a:r>
              <a:rPr lang="en-US" dirty="0" smtClean="0"/>
              <a:t>speeding up </a:t>
            </a:r>
            <a:r>
              <a:rPr lang="en-US" dirty="0"/>
              <a:t>the second phase of computing the </a:t>
            </a:r>
            <a:r>
              <a:rPr lang="en-US" i="1" dirty="0"/>
              <a:t>k</a:t>
            </a:r>
            <a:r>
              <a:rPr lang="en-US" dirty="0"/>
              <a:t>-nearest </a:t>
            </a:r>
            <a:r>
              <a:rPr lang="en-US" dirty="0" smtClean="0"/>
              <a:t> neighbor </a:t>
            </a:r>
            <a:r>
              <a:rPr lang="en-US" dirty="0"/>
              <a:t>distances of each data point </a:t>
            </a:r>
            <a:r>
              <a:rPr lang="en-US" dirty="0" smtClean="0"/>
              <a:t>in </a:t>
            </a:r>
            <a:r>
              <a:rPr lang="en-US" i="1" dirty="0" smtClean="0"/>
              <a:t>R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04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9296400" cy="685800"/>
          </a:xfrm>
        </p:spPr>
        <p:txBody>
          <a:bodyPr/>
          <a:lstStyle/>
          <a:p>
            <a:r>
              <a:rPr lang="en-US" altLang="en-US" sz="2800"/>
              <a:t>Density-Based Outlier Detection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200" y="1066800"/>
            <a:ext cx="7645400" cy="2514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Local outliers: Outliers comparing to their local neighborhoods, instead of the global data distribution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In Fig., o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and o2 are local outliers to C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o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is a global outlier, but o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 is not an outlier.  However, proximity-based clustering cannot find o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and o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are outlier (e.g., comparing with O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).</a:t>
            </a:r>
          </a:p>
        </p:txBody>
      </p:sp>
      <p:sp>
        <p:nvSpPr>
          <p:cNvPr id="27652" name="Slide Number Placeholder 5"/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E91D917-5042-4B45-A63E-499FB664C238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22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203199" y="3657600"/>
            <a:ext cx="1162594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Arial" panose="020B0604020202020204" pitchFamily="34" charset="0"/>
              </a:rPr>
              <a:t>Intuition (density-based outlier detection): The density around </a:t>
            </a: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an outlier</a:t>
            </a:r>
            <a:r>
              <a:rPr lang="en-US" altLang="en-US" sz="2000" dirty="0">
                <a:latin typeface="Arial" panose="020B0604020202020204" pitchFamily="34" charset="0"/>
              </a:rPr>
              <a:t> object is </a:t>
            </a: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significantly different from</a:t>
            </a:r>
            <a:r>
              <a:rPr lang="en-US" altLang="en-US" sz="2000" dirty="0">
                <a:latin typeface="Arial" panose="020B0604020202020204" pitchFamily="34" charset="0"/>
              </a:rPr>
              <a:t> the density around its neighbors</a:t>
            </a:r>
          </a:p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Arial" panose="020B0604020202020204" pitchFamily="34" charset="0"/>
              </a:rPr>
              <a:t>Method: Use the relative density of an object against its neighbors as the indicator of the degree of the object being outliers</a:t>
            </a:r>
          </a:p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i="1" dirty="0">
                <a:latin typeface="Arial" panose="020B0604020202020204" pitchFamily="34" charset="0"/>
              </a:rPr>
              <a:t>k-distance</a:t>
            </a:r>
            <a:r>
              <a:rPr lang="en-US" altLang="en-US" sz="2000" dirty="0">
                <a:latin typeface="Arial" panose="020B0604020202020204" pitchFamily="34" charset="0"/>
              </a:rPr>
              <a:t> of an object o, </a:t>
            </a:r>
            <a:r>
              <a:rPr lang="en-US" altLang="en-US" sz="2000" dirty="0" err="1">
                <a:latin typeface="Arial" panose="020B0604020202020204" pitchFamily="34" charset="0"/>
              </a:rPr>
              <a:t>dist</a:t>
            </a:r>
            <a:r>
              <a:rPr lang="en-US" altLang="en-US" sz="2000" baseline="-25000" dirty="0" err="1">
                <a:latin typeface="Arial" panose="020B0604020202020204" pitchFamily="34" charset="0"/>
              </a:rPr>
              <a:t>k</a:t>
            </a:r>
            <a:r>
              <a:rPr lang="en-US" altLang="en-US" sz="2000" dirty="0">
                <a:latin typeface="Arial" panose="020B0604020202020204" pitchFamily="34" charset="0"/>
              </a:rPr>
              <a:t>(o): distance between o and its k-</a:t>
            </a:r>
            <a:r>
              <a:rPr lang="en-US" altLang="en-US" sz="2000" dirty="0" err="1">
                <a:latin typeface="Arial" panose="020B0604020202020204" pitchFamily="34" charset="0"/>
              </a:rPr>
              <a:t>th</a:t>
            </a:r>
            <a:r>
              <a:rPr lang="en-US" altLang="en-US" sz="2000" dirty="0">
                <a:latin typeface="Arial" panose="020B0604020202020204" pitchFamily="34" charset="0"/>
              </a:rPr>
              <a:t> NN</a:t>
            </a:r>
          </a:p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i="1" dirty="0">
                <a:latin typeface="Arial" panose="020B0604020202020204" pitchFamily="34" charset="0"/>
              </a:rPr>
              <a:t>k-distance neighborhood</a:t>
            </a:r>
            <a:r>
              <a:rPr lang="en-US" altLang="en-US" sz="2000" dirty="0">
                <a:latin typeface="Arial" panose="020B0604020202020204" pitchFamily="34" charset="0"/>
              </a:rPr>
              <a:t> of o, </a:t>
            </a:r>
            <a:r>
              <a:rPr lang="en-US" altLang="en-US" sz="2000" dirty="0" err="1">
                <a:latin typeface="Arial" panose="020B0604020202020204" pitchFamily="34" charset="0"/>
              </a:rPr>
              <a:t>N</a:t>
            </a:r>
            <a:r>
              <a:rPr lang="en-US" altLang="en-US" sz="2000" baseline="-25000" dirty="0" err="1">
                <a:latin typeface="Arial" panose="020B0604020202020204" pitchFamily="34" charset="0"/>
              </a:rPr>
              <a:t>k</a:t>
            </a:r>
            <a:r>
              <a:rPr lang="en-US" altLang="en-US" sz="2000" dirty="0">
                <a:latin typeface="Arial" panose="020B0604020202020204" pitchFamily="34" charset="0"/>
              </a:rPr>
              <a:t>(o) = {o’| o’ in D, </a:t>
            </a:r>
            <a:r>
              <a:rPr lang="en-US" altLang="en-US" sz="2000" dirty="0" err="1">
                <a:latin typeface="Arial" panose="020B0604020202020204" pitchFamily="34" charset="0"/>
              </a:rPr>
              <a:t>dist</a:t>
            </a:r>
            <a:r>
              <a:rPr lang="en-US" altLang="en-US" sz="2000" dirty="0">
                <a:latin typeface="Arial" panose="020B0604020202020204" pitchFamily="34" charset="0"/>
              </a:rPr>
              <a:t>(o, o’)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≤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dist</a:t>
            </a:r>
            <a:r>
              <a:rPr lang="en-US" altLang="en-US" sz="2000" baseline="-25000" dirty="0" err="1">
                <a:latin typeface="Arial" panose="020B0604020202020204" pitchFamily="34" charset="0"/>
              </a:rPr>
              <a:t>k</a:t>
            </a:r>
            <a:r>
              <a:rPr lang="en-US" altLang="en-US" sz="2000" dirty="0">
                <a:latin typeface="Arial" panose="020B0604020202020204" pitchFamily="34" charset="0"/>
              </a:rPr>
              <a:t>(o)}</a:t>
            </a:r>
          </a:p>
          <a:p>
            <a:pPr lvl="1" algn="l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 err="1">
                <a:latin typeface="Arial" panose="020B0604020202020204" pitchFamily="34" charset="0"/>
              </a:rPr>
              <a:t>N</a:t>
            </a:r>
            <a:r>
              <a:rPr lang="en-US" altLang="en-US" sz="2000" baseline="-25000" dirty="0" err="1">
                <a:latin typeface="Arial" panose="020B0604020202020204" pitchFamily="34" charset="0"/>
              </a:rPr>
              <a:t>k</a:t>
            </a:r>
            <a:r>
              <a:rPr lang="en-US" altLang="en-US" sz="2000" dirty="0">
                <a:latin typeface="Arial" panose="020B0604020202020204" pitchFamily="34" charset="0"/>
              </a:rPr>
              <a:t>(o) could be bigger than k since multiple objects may have identical distance to o</a:t>
            </a:r>
          </a:p>
        </p:txBody>
      </p:sp>
      <p:pic>
        <p:nvPicPr>
          <p:cNvPr id="2765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288" y="990601"/>
            <a:ext cx="2906712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3999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169</TotalTime>
  <Words>1670</Words>
  <Application>Microsoft Office PowerPoint</Application>
  <PresentationFormat>Widescreen</PresentationFormat>
  <Paragraphs>113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Corbel</vt:lpstr>
      <vt:lpstr>Tahoma</vt:lpstr>
      <vt:lpstr>Wingdings</vt:lpstr>
      <vt:lpstr>Basis</vt:lpstr>
      <vt:lpstr>Outlier detection (contd…)</vt:lpstr>
      <vt:lpstr>Applications- Fraud</vt:lpstr>
      <vt:lpstr>Applications - Healthcare</vt:lpstr>
      <vt:lpstr>Applications – Image Processing</vt:lpstr>
      <vt:lpstr>Types of Outliers</vt:lpstr>
      <vt:lpstr>Extreme Value Analysis </vt:lpstr>
      <vt:lpstr>PowerPoint Presentation</vt:lpstr>
      <vt:lpstr>Univariate Extreme Value Analysis</vt:lpstr>
      <vt:lpstr>PowerPoint Presentation</vt:lpstr>
      <vt:lpstr>Exercise</vt:lpstr>
      <vt:lpstr>Multivariate Extreme Value Analysis</vt:lpstr>
      <vt:lpstr>Non-Parametric Statistical Analysis</vt:lpstr>
      <vt:lpstr>PowerPoint Presentation</vt:lpstr>
      <vt:lpstr>Clustering for Outlier Detection</vt:lpstr>
      <vt:lpstr>Proximity-Based Approaches: Distance-Based vs. Density-Based Outlier Detection</vt:lpstr>
      <vt:lpstr>Distance-Based Outlier Detection</vt:lpstr>
      <vt:lpstr>PowerPoint Presentation</vt:lpstr>
      <vt:lpstr>Distance based Outlier Detection</vt:lpstr>
      <vt:lpstr>Pruning methods</vt:lpstr>
      <vt:lpstr>Sampling methods</vt:lpstr>
      <vt:lpstr>Early Termination Trick with Nested Loops</vt:lpstr>
      <vt:lpstr>Density-Based Outlier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Outlier detection (contd…)</dc:title>
  <dc:creator>Dolly Sharma</dc:creator>
  <cp:lastModifiedBy>Dolly Sharma</cp:lastModifiedBy>
  <cp:revision>17</cp:revision>
  <dcterms:created xsi:type="dcterms:W3CDTF">2020-03-26T14:55:12Z</dcterms:created>
  <dcterms:modified xsi:type="dcterms:W3CDTF">2020-03-27T06:12:10Z</dcterms:modified>
</cp:coreProperties>
</file>