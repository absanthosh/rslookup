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26"/>
  </p:notesMasterIdLst>
  <p:handoutMasterIdLst>
    <p:handoutMasterId r:id="rId27"/>
  </p:handoutMasterIdLst>
  <p:sldIdLst>
    <p:sldId id="256" r:id="rId2"/>
    <p:sldId id="266" r:id="rId3"/>
    <p:sldId id="267" r:id="rId4"/>
    <p:sldId id="286" r:id="rId5"/>
    <p:sldId id="287" r:id="rId6"/>
    <p:sldId id="288" r:id="rId7"/>
    <p:sldId id="289" r:id="rId8"/>
    <p:sldId id="296" r:id="rId9"/>
    <p:sldId id="268" r:id="rId10"/>
    <p:sldId id="284" r:id="rId11"/>
    <p:sldId id="285" r:id="rId12"/>
    <p:sldId id="290" r:id="rId13"/>
    <p:sldId id="276" r:id="rId14"/>
    <p:sldId id="297" r:id="rId15"/>
    <p:sldId id="257" r:id="rId16"/>
    <p:sldId id="258" r:id="rId17"/>
    <p:sldId id="298" r:id="rId18"/>
    <p:sldId id="299" r:id="rId19"/>
    <p:sldId id="300" r:id="rId20"/>
    <p:sldId id="259" r:id="rId21"/>
    <p:sldId id="301" r:id="rId22"/>
    <p:sldId id="302" r:id="rId23"/>
    <p:sldId id="303" r:id="rId24"/>
    <p:sldId id="30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85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6DC2D5-5A58-48AC-BD97-5DC7A30D20F3}" type="datetimeFigureOut">
              <a:rPr lang="en-US" smtClean="0"/>
              <a:t>3/19/2020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0BBFA9-079F-4218-894F-95CBF87BC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7885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78905-4418-40EB-AE99-27173E5D7407}" type="datetimeFigureOut">
              <a:rPr lang="en-US" smtClean="0"/>
              <a:t>3/20/2020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7C14A4-3227-4229-AC81-8B55641D5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72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6288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78794"/>
            <a:ext cx="12192000" cy="5879206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435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84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298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337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051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547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551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986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994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74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41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naftaliharris.com/blog/visualizing-dbscan-clusterin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Clustering –Part 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Date: </a:t>
            </a:r>
            <a:r>
              <a:rPr lang="en-US" dirty="0" smtClean="0"/>
              <a:t>20</a:t>
            </a:r>
            <a:r>
              <a:rPr lang="en-US" baseline="30000" dirty="0" smtClean="0"/>
              <a:t>th</a:t>
            </a:r>
            <a:r>
              <a:rPr lang="en-US" dirty="0" smtClean="0"/>
              <a:t> </a:t>
            </a:r>
            <a:r>
              <a:rPr lang="en-US" dirty="0" smtClean="0"/>
              <a:t>March 2020</a:t>
            </a:r>
          </a:p>
        </p:txBody>
      </p:sp>
    </p:spTree>
    <p:extLst>
      <p:ext uri="{BB962C8B-B14F-4D97-AF65-F5344CB8AC3E}">
        <p14:creationId xmlns:p14="http://schemas.microsoft.com/office/powerpoint/2010/main" val="2949065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Grid based and Density based 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78794"/>
            <a:ext cx="12192000" cy="5879206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One of the major problems with distance-based and probabilistic methods is that the </a:t>
            </a:r>
            <a:r>
              <a:rPr lang="en-US" sz="3200" dirty="0" smtClean="0"/>
              <a:t>shape of </a:t>
            </a:r>
            <a:r>
              <a:rPr lang="en-US" sz="3200" dirty="0"/>
              <a:t>the underlying clusters is already defined implicitly by the underlying distance </a:t>
            </a:r>
            <a:r>
              <a:rPr lang="en-US" sz="3200" dirty="0" smtClean="0"/>
              <a:t>function or </a:t>
            </a:r>
            <a:r>
              <a:rPr lang="en-US" sz="3200" dirty="0"/>
              <a:t>probability distribution. </a:t>
            </a:r>
            <a:endParaRPr lang="en-US" sz="3200" dirty="0" smtClean="0"/>
          </a:p>
          <a:p>
            <a:pPr algn="just"/>
            <a:endParaRPr lang="en-US" sz="3200" dirty="0" smtClean="0"/>
          </a:p>
          <a:p>
            <a:pPr algn="just"/>
            <a:r>
              <a:rPr lang="en-US" sz="3200" dirty="0" smtClean="0"/>
              <a:t>In </a:t>
            </a:r>
            <a:r>
              <a:rPr lang="en-US" sz="3200" dirty="0"/>
              <a:t>practice, the clusters may be hard to model with a prototypical </a:t>
            </a:r>
            <a:r>
              <a:rPr lang="en-US" sz="3200" dirty="0" smtClean="0"/>
              <a:t>shape implied </a:t>
            </a:r>
            <a:r>
              <a:rPr lang="en-US" sz="3200" dirty="0"/>
              <a:t>by a distance function or probability distribution</a:t>
            </a:r>
            <a:r>
              <a:rPr lang="en-US" sz="3200" dirty="0" smtClean="0"/>
              <a:t>.</a:t>
            </a:r>
          </a:p>
          <a:p>
            <a:pPr algn="just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63561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989" y="100189"/>
            <a:ext cx="7375621" cy="657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363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Grid-based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technique, the data is discretized into </a:t>
            </a:r>
            <a:r>
              <a:rPr lang="en-US" i="1" dirty="0"/>
              <a:t>p </a:t>
            </a:r>
            <a:r>
              <a:rPr lang="en-US" dirty="0"/>
              <a:t>intervals that are typically </a:t>
            </a:r>
            <a:r>
              <a:rPr lang="en-US" dirty="0" err="1"/>
              <a:t>equi</a:t>
            </a:r>
            <a:r>
              <a:rPr lang="en-US" dirty="0"/>
              <a:t>-width intervals</a:t>
            </a:r>
            <a:r>
              <a:rPr lang="en-US" dirty="0" smtClean="0"/>
              <a:t>.</a:t>
            </a:r>
          </a:p>
          <a:p>
            <a:r>
              <a:rPr lang="en-US" dirty="0"/>
              <a:t>For a </a:t>
            </a:r>
            <a:r>
              <a:rPr lang="en-US" i="1" dirty="0"/>
              <a:t>d</a:t>
            </a:r>
            <a:r>
              <a:rPr lang="en-US" dirty="0"/>
              <a:t>-dimensional data set, </a:t>
            </a:r>
            <a:r>
              <a:rPr lang="en-US" dirty="0" smtClean="0"/>
              <a:t>this leads </a:t>
            </a:r>
            <a:r>
              <a:rPr lang="en-US" dirty="0"/>
              <a:t>to a total of </a:t>
            </a:r>
            <a:r>
              <a:rPr lang="en-US" i="1" dirty="0" err="1"/>
              <a:t>p</a:t>
            </a:r>
            <a:r>
              <a:rPr lang="en-US" i="1" baseline="30000" dirty="0" err="1"/>
              <a:t>d</a:t>
            </a:r>
            <a:r>
              <a:rPr lang="en-US" i="1" dirty="0"/>
              <a:t> </a:t>
            </a:r>
            <a:r>
              <a:rPr lang="en-US" dirty="0" err="1" smtClean="0"/>
              <a:t>hypercubes</a:t>
            </a:r>
            <a:r>
              <a:rPr lang="en-US" dirty="0" smtClean="0"/>
              <a:t> </a:t>
            </a:r>
            <a:r>
              <a:rPr lang="en-US" dirty="0"/>
              <a:t>in the underlying data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The </a:t>
            </a:r>
            <a:r>
              <a:rPr lang="en-US" dirty="0"/>
              <a:t>resulting </a:t>
            </a:r>
            <a:r>
              <a:rPr lang="en-US" dirty="0" err="1" smtClean="0"/>
              <a:t>hypercubes</a:t>
            </a:r>
            <a:r>
              <a:rPr lang="en-US" dirty="0" smtClean="0"/>
              <a:t> </a:t>
            </a:r>
            <a:r>
              <a:rPr lang="en-US" dirty="0"/>
              <a:t>are the building blocks in terms of </a:t>
            </a:r>
            <a:r>
              <a:rPr lang="en-US" dirty="0" smtClean="0"/>
              <a:t>which the </a:t>
            </a:r>
            <a:r>
              <a:rPr lang="en-US" dirty="0"/>
              <a:t>clustering is defined.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density threshold </a:t>
            </a:r>
            <a:r>
              <a:rPr lang="en-US" i="1" dirty="0"/>
              <a:t>τ </a:t>
            </a:r>
            <a:r>
              <a:rPr lang="en-US" dirty="0"/>
              <a:t>is used to determine the subset of the </a:t>
            </a:r>
            <a:r>
              <a:rPr lang="en-US" i="1" dirty="0" err="1" smtClean="0"/>
              <a:t>p</a:t>
            </a:r>
            <a:r>
              <a:rPr lang="en-US" i="1" baseline="30000" dirty="0" err="1" smtClean="0"/>
              <a:t>d</a:t>
            </a:r>
            <a:r>
              <a:rPr lang="en-US" i="1" baseline="30000" dirty="0" smtClean="0"/>
              <a:t> </a:t>
            </a:r>
            <a:r>
              <a:rPr lang="en-US" i="1" baseline="30000" dirty="0"/>
              <a:t> </a:t>
            </a:r>
            <a:r>
              <a:rPr lang="en-US" dirty="0" err="1" smtClean="0"/>
              <a:t>hypercubes</a:t>
            </a:r>
            <a:r>
              <a:rPr lang="en-US" dirty="0" smtClean="0"/>
              <a:t> </a:t>
            </a:r>
            <a:r>
              <a:rPr lang="en-US" dirty="0"/>
              <a:t>that are dense.</a:t>
            </a:r>
            <a:endParaRPr lang="en-US" dirty="0" smtClean="0"/>
          </a:p>
          <a:p>
            <a:endParaRPr lang="en-US" dirty="0"/>
          </a:p>
          <a:p>
            <a:r>
              <a:rPr lang="en-US" b="1" dirty="0"/>
              <a:t>Algorithm </a:t>
            </a:r>
            <a:r>
              <a:rPr lang="en-US" i="1" dirty="0" err="1"/>
              <a:t>GenericGrid</a:t>
            </a:r>
            <a:r>
              <a:rPr lang="en-US" dirty="0"/>
              <a:t>(Data: </a:t>
            </a:r>
            <a:r>
              <a:rPr lang="en-US" i="1" dirty="0"/>
              <a:t>D</a:t>
            </a:r>
            <a:r>
              <a:rPr lang="en-US" dirty="0"/>
              <a:t>, Ranges: </a:t>
            </a:r>
            <a:r>
              <a:rPr lang="en-US" i="1" dirty="0"/>
              <a:t>p</a:t>
            </a:r>
            <a:r>
              <a:rPr lang="en-US" dirty="0"/>
              <a:t>, Density: </a:t>
            </a:r>
            <a:r>
              <a:rPr lang="el-GR" i="1" dirty="0"/>
              <a:t>τ </a:t>
            </a:r>
            <a:r>
              <a:rPr lang="el-GR" dirty="0"/>
              <a:t>)</a:t>
            </a:r>
          </a:p>
          <a:p>
            <a:r>
              <a:rPr lang="en-US" b="1" dirty="0"/>
              <a:t>begin</a:t>
            </a:r>
          </a:p>
          <a:p>
            <a:pPr lvl="1"/>
            <a:r>
              <a:rPr lang="en-US" dirty="0"/>
              <a:t>Discretize each dimension of data </a:t>
            </a:r>
            <a:r>
              <a:rPr lang="en-US" i="1" dirty="0"/>
              <a:t>D </a:t>
            </a:r>
            <a:r>
              <a:rPr lang="en-US" dirty="0"/>
              <a:t>into </a:t>
            </a:r>
            <a:r>
              <a:rPr lang="en-US" i="1" dirty="0"/>
              <a:t>p </a:t>
            </a:r>
            <a:r>
              <a:rPr lang="en-US" dirty="0"/>
              <a:t>ranges;</a:t>
            </a:r>
          </a:p>
          <a:p>
            <a:pPr lvl="1"/>
            <a:r>
              <a:rPr lang="en-US" dirty="0"/>
              <a:t>Determine dense grid cells at density level </a:t>
            </a:r>
            <a:r>
              <a:rPr lang="en-US" i="1" dirty="0"/>
              <a:t>τ </a:t>
            </a:r>
            <a:r>
              <a:rPr lang="en-US" dirty="0"/>
              <a:t>;</a:t>
            </a:r>
          </a:p>
          <a:p>
            <a:pPr lvl="1"/>
            <a:r>
              <a:rPr lang="en-US" dirty="0"/>
              <a:t>Create graph in which dense grids are connected if they are adjacent;</a:t>
            </a:r>
          </a:p>
          <a:p>
            <a:pPr lvl="1"/>
            <a:r>
              <a:rPr lang="en-US" dirty="0"/>
              <a:t>Determine connected components of graph;</a:t>
            </a:r>
          </a:p>
          <a:p>
            <a:r>
              <a:rPr lang="en-US" b="1" dirty="0"/>
              <a:t>return </a:t>
            </a:r>
            <a:r>
              <a:rPr lang="en-US" dirty="0"/>
              <a:t>points in each connected component as a cluster;</a:t>
            </a:r>
          </a:p>
          <a:p>
            <a:r>
              <a:rPr lang="en-US" b="1" dirty="0"/>
              <a:t>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842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algn="just"/>
            <a:r>
              <a:rPr lang="en-US" sz="2800" dirty="0"/>
              <a:t>In most real data sets, an arbitrarily shaped cluster will </a:t>
            </a:r>
            <a:r>
              <a:rPr lang="en-US" sz="2800" dirty="0" smtClean="0"/>
              <a:t>result in </a:t>
            </a:r>
            <a:r>
              <a:rPr lang="en-US" sz="2800" dirty="0"/>
              <a:t>multiple dense regions that are connected together by a side or at least a corner. </a:t>
            </a:r>
            <a:endParaRPr lang="en-US" sz="2800" dirty="0" smtClean="0"/>
          </a:p>
          <a:p>
            <a:pPr algn="just"/>
            <a:r>
              <a:rPr lang="en-US" sz="2800" dirty="0" smtClean="0"/>
              <a:t>Therefore, two </a:t>
            </a:r>
            <a:r>
              <a:rPr lang="en-US" sz="2800" dirty="0"/>
              <a:t>grid regions are said to be </a:t>
            </a:r>
            <a:r>
              <a:rPr lang="en-US" sz="2800" i="1" dirty="0"/>
              <a:t>adjacently connected</a:t>
            </a:r>
            <a:r>
              <a:rPr lang="en-US" sz="2800" dirty="0"/>
              <a:t>, if they share a side in common.</a:t>
            </a:r>
          </a:p>
          <a:p>
            <a:pPr algn="just"/>
            <a:r>
              <a:rPr lang="en-US" sz="2800" dirty="0"/>
              <a:t>A weaker version of this definition considers two regions to be adjacently connected if </a:t>
            </a:r>
            <a:r>
              <a:rPr lang="en-US" sz="2800" dirty="0" smtClean="0"/>
              <a:t>they share </a:t>
            </a:r>
            <a:r>
              <a:rPr lang="en-US" sz="2800" dirty="0"/>
              <a:t>a </a:t>
            </a:r>
            <a:r>
              <a:rPr lang="en-US" sz="2800" i="1" dirty="0"/>
              <a:t>corner </a:t>
            </a:r>
            <a:r>
              <a:rPr lang="en-US" sz="2800" dirty="0"/>
              <a:t>in common. </a:t>
            </a:r>
            <a:endParaRPr lang="en-US" sz="2800" dirty="0" smtClean="0"/>
          </a:p>
          <a:p>
            <a:pPr algn="just"/>
            <a:r>
              <a:rPr lang="en-US" sz="2800" dirty="0" smtClean="0"/>
              <a:t>Many </a:t>
            </a:r>
            <a:r>
              <a:rPr lang="en-US" sz="2800" dirty="0"/>
              <a:t>grid-clustering algorithms use the strong definition </a:t>
            </a:r>
            <a:r>
              <a:rPr lang="en-US" sz="2800" dirty="0" smtClean="0"/>
              <a:t>of adjacent </a:t>
            </a:r>
            <a:r>
              <a:rPr lang="en-US" sz="2800" dirty="0"/>
              <a:t>connectivity, where a side is used instead of a corner. </a:t>
            </a:r>
            <a:endParaRPr lang="en-US" sz="2800" dirty="0" smtClean="0"/>
          </a:p>
          <a:p>
            <a:pPr algn="just"/>
            <a:r>
              <a:rPr lang="en-US" sz="2800" dirty="0" smtClean="0"/>
              <a:t>In </a:t>
            </a:r>
            <a:r>
              <a:rPr lang="en-US" sz="2800" dirty="0"/>
              <a:t>general, for data </a:t>
            </a:r>
            <a:r>
              <a:rPr lang="en-US" sz="2800" dirty="0" smtClean="0"/>
              <a:t>points in </a:t>
            </a:r>
            <a:r>
              <a:rPr lang="en-US" sz="2800" i="1" dirty="0"/>
              <a:t>k</a:t>
            </a:r>
            <a:r>
              <a:rPr lang="en-US" sz="2800" dirty="0"/>
              <a:t>-dimensional space, two </a:t>
            </a:r>
            <a:r>
              <a:rPr lang="en-US" sz="2800" i="1" dirty="0"/>
              <a:t>k</a:t>
            </a:r>
            <a:r>
              <a:rPr lang="en-US" sz="2800" dirty="0"/>
              <a:t>-dimensional cubes may be defined as adjacent, if they </a:t>
            </a:r>
            <a:r>
              <a:rPr lang="en-US" sz="2800" dirty="0" smtClean="0"/>
              <a:t>have shared </a:t>
            </a:r>
            <a:r>
              <a:rPr lang="en-US" sz="2800" dirty="0"/>
              <a:t>a surface of dimensionality at least </a:t>
            </a:r>
            <a:r>
              <a:rPr lang="en-US" sz="2800" i="1" dirty="0"/>
              <a:t>r</a:t>
            </a:r>
            <a:r>
              <a:rPr lang="en-US" sz="2800" dirty="0"/>
              <a:t>, for some user-defined parameter </a:t>
            </a:r>
            <a:r>
              <a:rPr lang="en-US" sz="2800" i="1" dirty="0"/>
              <a:t>r &lt; k</a:t>
            </a:r>
            <a:r>
              <a:rPr lang="en-US" sz="2800" dirty="0" smtClean="0"/>
              <a:t>.</a:t>
            </a:r>
            <a:endParaRPr lang="en-US" sz="2800" dirty="0"/>
          </a:p>
          <a:p>
            <a:pPr algn="just"/>
            <a:r>
              <a:rPr lang="en-US" sz="2800" dirty="0"/>
              <a:t>This directly adjacent connectivity can be generalized to indirect density </a:t>
            </a:r>
            <a:r>
              <a:rPr lang="en-US" sz="2800" dirty="0" smtClean="0"/>
              <a:t>connectivity between </a:t>
            </a:r>
            <a:r>
              <a:rPr lang="en-US" sz="2800" dirty="0"/>
              <a:t>grid regions that are not immediately adjacent to one another</a:t>
            </a:r>
            <a:r>
              <a:rPr lang="en-US" sz="2800" dirty="0" smtClean="0"/>
              <a:t>.</a:t>
            </a:r>
          </a:p>
          <a:p>
            <a:r>
              <a:rPr lang="en-US" sz="2800" dirty="0"/>
              <a:t>It is easy to determine </a:t>
            </a:r>
            <a:r>
              <a:rPr lang="en-US" sz="2800" dirty="0"/>
              <a:t>such connected </a:t>
            </a:r>
            <a:r>
              <a:rPr lang="en-US" sz="2800" dirty="0"/>
              <a:t>grid regions by using a graph-based model on the grids.</a:t>
            </a:r>
          </a:p>
        </p:txBody>
      </p:sp>
    </p:spTree>
    <p:extLst>
      <p:ext uri="{BB962C8B-B14F-4D97-AF65-F5344CB8AC3E}">
        <p14:creationId xmlns:p14="http://schemas.microsoft.com/office/powerpoint/2010/main" val="76657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4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862885"/>
          </a:xfrm>
        </p:spPr>
        <p:txBody>
          <a:bodyPr/>
          <a:lstStyle/>
          <a:p>
            <a:r>
              <a:rPr lang="en-US" altLang="en-US" sz="3200" dirty="0" smtClean="0"/>
              <a:t>Grid-based </a:t>
            </a:r>
            <a:r>
              <a:rPr lang="en-US" altLang="en-US" sz="3200" dirty="0"/>
              <a:t>Clustering Algorithms</a:t>
            </a:r>
          </a:p>
        </p:txBody>
      </p:sp>
      <p:sp>
        <p:nvSpPr>
          <p:cNvPr id="1596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62885"/>
            <a:ext cx="12192000" cy="5614115"/>
          </a:xfrm>
        </p:spPr>
        <p:txBody>
          <a:bodyPr>
            <a:normAutofit lnSpcReduction="10000"/>
          </a:bodyPr>
          <a:lstStyle/>
          <a:p>
            <a:r>
              <a:rPr lang="en-US" altLang="en-US" sz="2600" dirty="0" smtClean="0"/>
              <a:t>Advantages: </a:t>
            </a:r>
          </a:p>
          <a:p>
            <a:r>
              <a:rPr lang="en-US" altLang="en-US" sz="2600" dirty="0" smtClean="0"/>
              <a:t>1. Faster:</a:t>
            </a:r>
            <a:endParaRPr lang="en-US" altLang="en-US" sz="2600" dirty="0"/>
          </a:p>
          <a:p>
            <a:pPr lvl="2"/>
            <a:r>
              <a:rPr lang="en-US" altLang="en-US" sz="2600" dirty="0"/>
              <a:t>No distance computations</a:t>
            </a:r>
          </a:p>
          <a:p>
            <a:pPr lvl="2"/>
            <a:r>
              <a:rPr lang="en-US" altLang="en-US" sz="2600" dirty="0"/>
              <a:t>Clustering is performed on summaries and not individual objects; complexity is usually O(#-populated-grid-cells) and not O(#objects)</a:t>
            </a:r>
          </a:p>
          <a:p>
            <a:pPr lvl="2"/>
            <a:r>
              <a:rPr lang="en-US" altLang="en-US" sz="2600" dirty="0"/>
              <a:t>Easy to determine which clusters are </a:t>
            </a:r>
            <a:r>
              <a:rPr lang="en-US" altLang="en-US" sz="2600" dirty="0" smtClean="0"/>
              <a:t>neighboring</a:t>
            </a:r>
          </a:p>
          <a:p>
            <a:pPr lvl="2"/>
            <a:r>
              <a:rPr lang="en-US" altLang="en-US" sz="2600" dirty="0" smtClean="0"/>
              <a:t>Shapes </a:t>
            </a:r>
            <a:r>
              <a:rPr lang="en-US" altLang="en-US" sz="2600" dirty="0"/>
              <a:t>are limited to union of </a:t>
            </a:r>
            <a:r>
              <a:rPr lang="en-US" altLang="en-US" sz="2600" dirty="0" smtClean="0"/>
              <a:t>grid-cells</a:t>
            </a:r>
          </a:p>
          <a:p>
            <a:endParaRPr lang="en-US" altLang="en-US" sz="2600" dirty="0"/>
          </a:p>
          <a:p>
            <a:r>
              <a:rPr lang="en-US" altLang="en-US" sz="2600" dirty="0" smtClean="0"/>
              <a:t>Challenges:</a:t>
            </a:r>
          </a:p>
          <a:p>
            <a:r>
              <a:rPr lang="en-US" altLang="en-US" sz="2600" dirty="0" smtClean="0"/>
              <a:t>1. Scalability No. of cells &lt; No. of data points</a:t>
            </a:r>
          </a:p>
          <a:p>
            <a:r>
              <a:rPr lang="en-US" altLang="en-US" sz="2600" dirty="0" smtClean="0"/>
              <a:t>2. Curse of dimensionality</a:t>
            </a:r>
          </a:p>
          <a:p>
            <a:r>
              <a:rPr lang="en-US" altLang="en-US" sz="2600" dirty="0" smtClean="0"/>
              <a:t>3. Predefined cell size and density threshold (what is a good choice of p and </a:t>
            </a:r>
            <a:r>
              <a:rPr lang="en-US" sz="2800" i="1" dirty="0" smtClean="0"/>
              <a:t>τ?)</a:t>
            </a:r>
          </a:p>
          <a:p>
            <a:r>
              <a:rPr lang="en-US" altLang="en-US" sz="2800" i="1" dirty="0" smtClean="0"/>
              <a:t>2. Use of rectangular grid regions.</a:t>
            </a:r>
            <a:endParaRPr lang="en-US" altLang="en-US" sz="2600" dirty="0"/>
          </a:p>
        </p:txBody>
      </p:sp>
    </p:spTree>
    <p:extLst>
      <p:ext uri="{BB962C8B-B14F-4D97-AF65-F5344CB8AC3E}">
        <p14:creationId xmlns:p14="http://schemas.microsoft.com/office/powerpoint/2010/main" val="78407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80" y="666206"/>
            <a:ext cx="11138287" cy="552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90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CLIQUE (Clustering in Quest)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0818" t="49107" r="17136" b="23750"/>
          <a:stretch/>
        </p:blipFill>
        <p:spPr>
          <a:xfrm>
            <a:off x="-287383" y="1489166"/>
            <a:ext cx="12644845" cy="398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507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Density-based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200" dirty="0" smtClean="0"/>
              <a:t>The </a:t>
            </a:r>
            <a:r>
              <a:rPr lang="en-US" sz="3200" dirty="0"/>
              <a:t>core idea in such </a:t>
            </a:r>
            <a:r>
              <a:rPr lang="en-US" sz="3200" dirty="0" smtClean="0"/>
              <a:t>algorithms is </a:t>
            </a:r>
            <a:r>
              <a:rPr lang="en-US" sz="3200" dirty="0"/>
              <a:t>to </a:t>
            </a:r>
            <a:r>
              <a:rPr lang="en-US" sz="3200" dirty="0" smtClean="0"/>
              <a:t>identify </a:t>
            </a:r>
            <a:r>
              <a:rPr lang="en-US" sz="3200" dirty="0"/>
              <a:t>fine-grained dense regions in the data. </a:t>
            </a:r>
            <a:endParaRPr lang="en-US" sz="3200" dirty="0" smtClean="0"/>
          </a:p>
          <a:p>
            <a:pPr algn="just"/>
            <a:r>
              <a:rPr lang="en-US" sz="3200" dirty="0" smtClean="0"/>
              <a:t>These </a:t>
            </a:r>
            <a:r>
              <a:rPr lang="en-US" sz="3200" dirty="0"/>
              <a:t>form the “</a:t>
            </a:r>
            <a:r>
              <a:rPr lang="en-US" sz="3200" dirty="0" smtClean="0"/>
              <a:t>building blocks</a:t>
            </a:r>
            <a:r>
              <a:rPr lang="en-US" sz="3200" dirty="0"/>
              <a:t>” for constructing the arbitrarily-shaped clusters. These can also be </a:t>
            </a:r>
            <a:r>
              <a:rPr lang="en-US" sz="3200" dirty="0" smtClean="0"/>
              <a:t>considered pseudo-data </a:t>
            </a:r>
            <a:r>
              <a:rPr lang="en-US" sz="3200" dirty="0"/>
              <a:t>points that need to be re-clustered together carefully into groups of </a:t>
            </a:r>
            <a:r>
              <a:rPr lang="en-US" sz="3200" dirty="0" smtClean="0"/>
              <a:t>arbitrary shape</a:t>
            </a:r>
            <a:r>
              <a:rPr lang="en-US" sz="3200" dirty="0"/>
              <a:t>. Thus, most density-based methods can be considered two-level hierarchical algorithms.</a:t>
            </a:r>
          </a:p>
          <a:p>
            <a:pPr algn="just"/>
            <a:r>
              <a:rPr lang="en-US" sz="3200" dirty="0"/>
              <a:t>Because there are a fewer building blocks in the second phase, as compared to </a:t>
            </a:r>
            <a:r>
              <a:rPr lang="en-US" sz="3200" dirty="0" smtClean="0"/>
              <a:t>the number </a:t>
            </a:r>
            <a:r>
              <a:rPr lang="en-US" sz="3200" dirty="0"/>
              <a:t>of data points in the first phase, it is possible to organize them together into </a:t>
            </a:r>
            <a:r>
              <a:rPr lang="en-US" sz="3200" dirty="0" smtClean="0"/>
              <a:t>complex shapes </a:t>
            </a:r>
            <a:r>
              <a:rPr lang="en-US" sz="3200" dirty="0"/>
              <a:t>using more detailed analysis. </a:t>
            </a:r>
            <a:endParaRPr lang="en-US" sz="3200" dirty="0" smtClean="0"/>
          </a:p>
          <a:p>
            <a:pPr algn="just"/>
            <a:r>
              <a:rPr lang="en-US" sz="3200" dirty="0" smtClean="0"/>
              <a:t>Many </a:t>
            </a:r>
            <a:r>
              <a:rPr lang="en-US" sz="3200" dirty="0"/>
              <a:t>variations of this broader principle exist, depending on the particular type </a:t>
            </a:r>
            <a:r>
              <a:rPr lang="en-US" sz="3200" dirty="0" smtClean="0"/>
              <a:t>of building </a:t>
            </a:r>
            <a:r>
              <a:rPr lang="en-US" sz="3200" dirty="0"/>
              <a:t>blocks that are chosen.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83492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Density-based </a:t>
            </a:r>
            <a:r>
              <a:rPr lang="en-US" dirty="0" smtClean="0"/>
              <a:t>clustering (DBSCAN)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</a:t>
            </a:r>
            <a:r>
              <a:rPr lang="en-US" i="1" dirty="0"/>
              <a:t>DBSCAN </a:t>
            </a:r>
            <a:r>
              <a:rPr lang="en-US" i="1" dirty="0" smtClean="0"/>
              <a:t>(</a:t>
            </a:r>
            <a:r>
              <a:rPr lang="en-US" dirty="0"/>
              <a:t>Density-based spatial clustering of applications with noise </a:t>
            </a:r>
            <a:r>
              <a:rPr lang="en-US" dirty="0" smtClean="0"/>
              <a:t>) approach </a:t>
            </a:r>
            <a:r>
              <a:rPr lang="en-US" dirty="0"/>
              <a:t>works on a very similar principle as grid-based methods. </a:t>
            </a:r>
            <a:endParaRPr lang="en-US" dirty="0" smtClean="0"/>
          </a:p>
          <a:p>
            <a:r>
              <a:rPr lang="en-US" dirty="0" smtClean="0"/>
              <a:t>However, unlike </a:t>
            </a:r>
            <a:r>
              <a:rPr lang="en-US" dirty="0"/>
              <a:t>grid-based methods, the density characteristics of data points are used to merge </a:t>
            </a:r>
            <a:r>
              <a:rPr lang="en-US" dirty="0" smtClean="0"/>
              <a:t>them into </a:t>
            </a:r>
            <a:r>
              <a:rPr lang="en-US" dirty="0"/>
              <a:t>clusters. </a:t>
            </a:r>
            <a:endParaRPr lang="en-US" dirty="0" smtClean="0"/>
          </a:p>
          <a:p>
            <a:r>
              <a:rPr lang="en-US" dirty="0" smtClean="0"/>
              <a:t>Therefore</a:t>
            </a:r>
            <a:r>
              <a:rPr lang="en-US" dirty="0"/>
              <a:t>, the individual data points </a:t>
            </a:r>
            <a:r>
              <a:rPr lang="en-US" i="1" dirty="0"/>
              <a:t>in dense regions </a:t>
            </a:r>
            <a:r>
              <a:rPr lang="en-US" dirty="0"/>
              <a:t>are used as </a:t>
            </a:r>
            <a:r>
              <a:rPr lang="en-US" dirty="0" smtClean="0"/>
              <a:t>building blocks </a:t>
            </a:r>
            <a:r>
              <a:rPr lang="en-US" dirty="0"/>
              <a:t>after classifying them on the basis of their density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sz="3000" b="1" dirty="0"/>
              <a:t>Algorithm </a:t>
            </a:r>
            <a:r>
              <a:rPr lang="en-US" sz="3000" i="1" dirty="0"/>
              <a:t>DBSCAN</a:t>
            </a:r>
            <a:r>
              <a:rPr lang="en-US" sz="3000" dirty="0"/>
              <a:t>(Data: </a:t>
            </a:r>
            <a:r>
              <a:rPr lang="en-US" sz="3000" i="1" dirty="0"/>
              <a:t>D</a:t>
            </a:r>
            <a:r>
              <a:rPr lang="en-US" sz="3000" dirty="0"/>
              <a:t>, Radius: </a:t>
            </a:r>
            <a:r>
              <a:rPr lang="en-US" sz="3000" i="1" dirty="0"/>
              <a:t>Eps</a:t>
            </a:r>
            <a:r>
              <a:rPr lang="en-US" sz="3000" dirty="0"/>
              <a:t>, Density: </a:t>
            </a:r>
            <a:r>
              <a:rPr lang="en-US" sz="3000" i="1" dirty="0" err="1" smtClean="0"/>
              <a:t>Minpts</a:t>
            </a:r>
            <a:r>
              <a:rPr lang="el-GR" sz="3000" i="1" dirty="0" smtClean="0"/>
              <a:t> </a:t>
            </a:r>
            <a:r>
              <a:rPr lang="el-GR" sz="3000" dirty="0"/>
              <a:t>)</a:t>
            </a:r>
          </a:p>
          <a:p>
            <a:r>
              <a:rPr lang="en-US" sz="3000" b="1" dirty="0"/>
              <a:t>begin</a:t>
            </a:r>
          </a:p>
          <a:p>
            <a:pPr lvl="1"/>
            <a:r>
              <a:rPr lang="en-US" sz="3000" dirty="0"/>
              <a:t>Determine core, border and noise points of </a:t>
            </a:r>
            <a:r>
              <a:rPr lang="en-US" sz="3000" i="1" dirty="0"/>
              <a:t>D </a:t>
            </a:r>
            <a:r>
              <a:rPr lang="en-US" sz="3000" dirty="0"/>
              <a:t>at level (</a:t>
            </a:r>
            <a:r>
              <a:rPr lang="en-US" sz="3000" i="1" dirty="0"/>
              <a:t>Eps, </a:t>
            </a:r>
            <a:r>
              <a:rPr lang="en-US" sz="3000" i="1" dirty="0" err="1"/>
              <a:t>Minpts</a:t>
            </a:r>
            <a:r>
              <a:rPr lang="en-US" sz="3000" dirty="0" smtClean="0"/>
              <a:t>);</a:t>
            </a:r>
            <a:endParaRPr lang="en-US" sz="3000" dirty="0"/>
          </a:p>
          <a:p>
            <a:pPr lvl="1"/>
            <a:r>
              <a:rPr lang="en-US" sz="3000" dirty="0"/>
              <a:t>Create graph in which core points are connected</a:t>
            </a:r>
          </a:p>
          <a:p>
            <a:pPr lvl="1"/>
            <a:r>
              <a:rPr lang="en-US" sz="3000" dirty="0"/>
              <a:t>if they are within </a:t>
            </a:r>
            <a:r>
              <a:rPr lang="en-US" sz="3000" i="1" dirty="0"/>
              <a:t>Eps </a:t>
            </a:r>
            <a:r>
              <a:rPr lang="en-US" sz="3000" dirty="0"/>
              <a:t>of one another;</a:t>
            </a:r>
          </a:p>
          <a:p>
            <a:pPr lvl="1"/>
            <a:r>
              <a:rPr lang="en-US" sz="3000" dirty="0"/>
              <a:t>Determine connected components in graph;</a:t>
            </a:r>
          </a:p>
          <a:p>
            <a:pPr lvl="1"/>
            <a:r>
              <a:rPr lang="en-US" sz="3000" dirty="0"/>
              <a:t>Assign each border point to connected </a:t>
            </a:r>
            <a:r>
              <a:rPr lang="en-US" sz="3000" dirty="0" smtClean="0"/>
              <a:t>component with </a:t>
            </a:r>
            <a:r>
              <a:rPr lang="en-US" sz="3000" dirty="0"/>
              <a:t>which it is best connected;</a:t>
            </a:r>
          </a:p>
          <a:p>
            <a:r>
              <a:rPr lang="en-US" sz="3000" b="1" dirty="0"/>
              <a:t>return </a:t>
            </a:r>
            <a:r>
              <a:rPr lang="en-US" sz="3000" dirty="0"/>
              <a:t>points in each connected component as a cluster;</a:t>
            </a:r>
          </a:p>
          <a:p>
            <a:r>
              <a:rPr lang="en-US" sz="3000" b="1" dirty="0"/>
              <a:t>end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891354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78794"/>
            <a:ext cx="12192000" cy="2731057"/>
          </a:xfrm>
        </p:spPr>
        <p:txBody>
          <a:bodyPr>
            <a:normAutofit fontScale="92500"/>
          </a:bodyPr>
          <a:lstStyle/>
          <a:p>
            <a:r>
              <a:rPr lang="en-US" dirty="0"/>
              <a:t>The density of a data point is defined by the number of points that lie within a </a:t>
            </a:r>
            <a:r>
              <a:rPr lang="en-US" dirty="0" smtClean="0"/>
              <a:t>radius </a:t>
            </a:r>
            <a:r>
              <a:rPr lang="en-US" i="1" dirty="0" smtClean="0"/>
              <a:t>Eps </a:t>
            </a:r>
            <a:r>
              <a:rPr lang="en-US" dirty="0"/>
              <a:t>of that point (including the point itself). The densities of these spherical regions </a:t>
            </a:r>
            <a:r>
              <a:rPr lang="en-US" dirty="0" smtClean="0"/>
              <a:t>are used </a:t>
            </a:r>
            <a:r>
              <a:rPr lang="en-US" dirty="0"/>
              <a:t>to classify the data points into </a:t>
            </a:r>
            <a:r>
              <a:rPr lang="en-US" i="1" dirty="0"/>
              <a:t>core</a:t>
            </a:r>
            <a:r>
              <a:rPr lang="en-US" dirty="0"/>
              <a:t>, </a:t>
            </a:r>
            <a:r>
              <a:rPr lang="en-US" i="1" dirty="0"/>
              <a:t>border</a:t>
            </a:r>
            <a:r>
              <a:rPr lang="en-US" dirty="0"/>
              <a:t>, or </a:t>
            </a:r>
            <a:r>
              <a:rPr lang="en-US" i="1" dirty="0"/>
              <a:t>noise </a:t>
            </a:r>
            <a:r>
              <a:rPr lang="en-US" dirty="0"/>
              <a:t>points. These notions are </a:t>
            </a:r>
            <a:r>
              <a:rPr lang="en-US" dirty="0" smtClean="0"/>
              <a:t>defined as </a:t>
            </a:r>
            <a:r>
              <a:rPr lang="en-US" dirty="0"/>
              <a:t>follows:</a:t>
            </a:r>
          </a:p>
          <a:p>
            <a:r>
              <a:rPr lang="en-US" dirty="0"/>
              <a:t>1. </a:t>
            </a:r>
            <a:r>
              <a:rPr lang="en-US" i="1" dirty="0"/>
              <a:t>Core point: </a:t>
            </a:r>
            <a:r>
              <a:rPr lang="en-US" dirty="0"/>
              <a:t>A data point is defined as a </a:t>
            </a:r>
            <a:r>
              <a:rPr lang="en-US" i="1" dirty="0"/>
              <a:t>core </a:t>
            </a:r>
            <a:r>
              <a:rPr lang="en-US" dirty="0"/>
              <a:t>point, if it </a:t>
            </a:r>
            <a:r>
              <a:rPr lang="en-US" dirty="0" smtClean="0"/>
              <a:t>contains </a:t>
            </a:r>
            <a:r>
              <a:rPr lang="en-US" dirty="0"/>
              <a:t>at least </a:t>
            </a:r>
            <a:r>
              <a:rPr lang="en-US" i="1" dirty="0" err="1"/>
              <a:t>Minpts</a:t>
            </a:r>
            <a:r>
              <a:rPr lang="en-US" i="1" dirty="0" smtClean="0"/>
              <a:t> </a:t>
            </a:r>
            <a:r>
              <a:rPr lang="en-US" dirty="0" smtClean="0"/>
              <a:t>data points</a:t>
            </a:r>
            <a:r>
              <a:rPr lang="en-US" dirty="0"/>
              <a:t>.</a:t>
            </a:r>
          </a:p>
          <a:p>
            <a:r>
              <a:rPr lang="en-US" dirty="0"/>
              <a:t>2. </a:t>
            </a:r>
            <a:r>
              <a:rPr lang="en-US" i="1" dirty="0"/>
              <a:t>Border point: </a:t>
            </a:r>
            <a:r>
              <a:rPr lang="en-US" dirty="0"/>
              <a:t>A data point is defined as a </a:t>
            </a:r>
            <a:r>
              <a:rPr lang="en-US" i="1" dirty="0"/>
              <a:t>border </a:t>
            </a:r>
            <a:r>
              <a:rPr lang="en-US" dirty="0"/>
              <a:t>point, if it contains less than </a:t>
            </a:r>
            <a:r>
              <a:rPr lang="en-US" i="1" dirty="0" err="1"/>
              <a:t>Minpts</a:t>
            </a:r>
            <a:r>
              <a:rPr lang="en-US" i="1" dirty="0" smtClean="0"/>
              <a:t> </a:t>
            </a:r>
            <a:r>
              <a:rPr lang="en-US" dirty="0"/>
              <a:t>points</a:t>
            </a:r>
            <a:r>
              <a:rPr lang="en-US" dirty="0" smtClean="0"/>
              <a:t>, but </a:t>
            </a:r>
            <a:r>
              <a:rPr lang="en-US" dirty="0"/>
              <a:t>it also contains at least one core point within a radius </a:t>
            </a:r>
            <a:r>
              <a:rPr lang="en-US" i="1" dirty="0"/>
              <a:t>Eps</a:t>
            </a:r>
            <a:r>
              <a:rPr lang="en-US" dirty="0" smtClean="0"/>
              <a:t>.</a:t>
            </a:r>
          </a:p>
          <a:p>
            <a:r>
              <a:rPr lang="en-US" dirty="0"/>
              <a:t>3. </a:t>
            </a:r>
            <a:r>
              <a:rPr lang="en-US" i="1" dirty="0"/>
              <a:t>Noise point: </a:t>
            </a:r>
            <a:r>
              <a:rPr lang="en-US" dirty="0"/>
              <a:t>A data point that is neither a core point nor a border point is defined </a:t>
            </a:r>
            <a:r>
              <a:rPr lang="en-US" dirty="0" smtClean="0"/>
              <a:t>as a </a:t>
            </a:r>
            <a:r>
              <a:rPr lang="en-US" i="1" dirty="0"/>
              <a:t>noise </a:t>
            </a:r>
            <a:r>
              <a:rPr lang="en-US" dirty="0"/>
              <a:t>point.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059" y="3825759"/>
            <a:ext cx="7092890" cy="307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329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0" y="470263"/>
            <a:ext cx="12192000" cy="6159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dirty="0" smtClean="0">
                <a:ea typeface="SimSun" panose="02010600030101010101" pitchFamily="2" charset="-122"/>
              </a:rPr>
              <a:t>Two parameters</a:t>
            </a:r>
            <a:r>
              <a:rPr lang="en-US" altLang="zh-CN" b="1" i="1" dirty="0" smtClean="0">
                <a:ea typeface="SimSun" panose="02010600030101010101" pitchFamily="2" charset="-122"/>
              </a:rPr>
              <a:t>: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altLang="zh-CN" b="1" i="1" dirty="0" smtClean="0">
                <a:ea typeface="SimSun" panose="02010600030101010101" pitchFamily="2" charset="-122"/>
              </a:rPr>
              <a:t>Eps</a:t>
            </a:r>
            <a:r>
              <a:rPr lang="en-US" altLang="zh-CN" dirty="0" smtClean="0">
                <a:ea typeface="SimSun" panose="02010600030101010101" pitchFamily="2" charset="-122"/>
              </a:rPr>
              <a:t>: 		Maximum radius of the neighborhood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altLang="zh-CN" b="1" i="1" dirty="0" err="1" smtClean="0">
                <a:ea typeface="SimSun" panose="02010600030101010101" pitchFamily="2" charset="-122"/>
              </a:rPr>
              <a:t>MinPts</a:t>
            </a:r>
            <a:r>
              <a:rPr lang="en-US" altLang="zh-CN" dirty="0" smtClean="0">
                <a:ea typeface="SimSun" panose="02010600030101010101" pitchFamily="2" charset="-122"/>
              </a:rPr>
              <a:t>: 	Minimum number of points in an Eps-neighborhood of that point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altLang="zh-CN" b="1" i="1" dirty="0" err="1" smtClean="0">
                <a:ea typeface="SimSun" panose="02010600030101010101" pitchFamily="2" charset="-122"/>
              </a:rPr>
              <a:t>N</a:t>
            </a:r>
            <a:r>
              <a:rPr lang="en-US" altLang="zh-CN" b="1" i="1" baseline="-25000" dirty="0" err="1" smtClean="0">
                <a:ea typeface="SimSun" panose="02010600030101010101" pitchFamily="2" charset="-122"/>
              </a:rPr>
              <a:t>Eps</a:t>
            </a:r>
            <a:r>
              <a:rPr lang="en-US" altLang="zh-CN" b="1" i="1" dirty="0" smtClean="0">
                <a:ea typeface="SimSun" panose="02010600030101010101" pitchFamily="2" charset="-122"/>
              </a:rPr>
              <a:t>(p)</a:t>
            </a:r>
            <a:r>
              <a:rPr lang="en-US" altLang="zh-CN" dirty="0" smtClean="0">
                <a:ea typeface="SimSun" panose="02010600030101010101" pitchFamily="2" charset="-122"/>
              </a:rPr>
              <a:t>:	</a:t>
            </a:r>
            <a:r>
              <a:rPr lang="en-US" altLang="zh-CN" b="1" i="1" dirty="0" smtClean="0">
                <a:ea typeface="SimSun" panose="02010600030101010101" pitchFamily="2" charset="-122"/>
              </a:rPr>
              <a:t>{q belongs to D | </a:t>
            </a:r>
            <a:r>
              <a:rPr lang="en-US" altLang="zh-CN" b="1" i="1" dirty="0" err="1" smtClean="0">
                <a:ea typeface="SimSun" panose="02010600030101010101" pitchFamily="2" charset="-122"/>
              </a:rPr>
              <a:t>dist</a:t>
            </a:r>
            <a:r>
              <a:rPr lang="en-US" altLang="zh-CN" b="1" i="1" dirty="0" smtClean="0">
                <a:ea typeface="SimSun" panose="02010600030101010101" pitchFamily="2" charset="-122"/>
              </a:rPr>
              <a:t>(</a:t>
            </a:r>
            <a:r>
              <a:rPr lang="en-US" altLang="zh-CN" b="1" i="1" dirty="0" err="1" smtClean="0">
                <a:ea typeface="SimSun" panose="02010600030101010101" pitchFamily="2" charset="-122"/>
              </a:rPr>
              <a:t>p,q</a:t>
            </a:r>
            <a:r>
              <a:rPr lang="en-US" altLang="zh-CN" b="1" i="1" dirty="0" smtClean="0">
                <a:ea typeface="SimSun" panose="02010600030101010101" pitchFamily="2" charset="-122"/>
              </a:rPr>
              <a:t>) &lt;= Eps}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altLang="zh-CN" dirty="0" smtClean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altLang="zh-CN" b="1" u="sng" dirty="0" smtClean="0">
                <a:ea typeface="SimSun" panose="02010600030101010101" pitchFamily="2" charset="-122"/>
              </a:rPr>
              <a:t>Directly density-reachable</a:t>
            </a:r>
            <a:r>
              <a:rPr lang="en-US" altLang="zh-CN" b="1" dirty="0" smtClean="0">
                <a:ea typeface="SimSun" panose="02010600030101010101" pitchFamily="2" charset="-122"/>
              </a:rPr>
              <a:t>: 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altLang="zh-CN" dirty="0" smtClean="0">
                <a:ea typeface="SimSun" panose="02010600030101010101" pitchFamily="2" charset="-122"/>
              </a:rPr>
              <a:t>A point </a:t>
            </a:r>
            <a:r>
              <a:rPr lang="en-US" altLang="zh-CN" b="1" i="1" dirty="0" smtClean="0">
                <a:ea typeface="SimSun" panose="02010600030101010101" pitchFamily="2" charset="-122"/>
              </a:rPr>
              <a:t>p</a:t>
            </a:r>
            <a:r>
              <a:rPr lang="en-US" altLang="zh-CN" dirty="0" smtClean="0">
                <a:ea typeface="SimSun" panose="02010600030101010101" pitchFamily="2" charset="-122"/>
              </a:rPr>
              <a:t> is directly density-reachable from a point </a:t>
            </a:r>
            <a:r>
              <a:rPr lang="en-US" altLang="zh-CN" b="1" i="1" dirty="0" smtClean="0">
                <a:ea typeface="SimSun" panose="02010600030101010101" pitchFamily="2" charset="-122"/>
              </a:rPr>
              <a:t>q,</a:t>
            </a:r>
            <a:r>
              <a:rPr lang="en-US" altLang="zh-CN" dirty="0" smtClean="0">
                <a:ea typeface="SimSun" panose="02010600030101010101" pitchFamily="2" charset="-122"/>
              </a:rPr>
              <a:t> if 	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altLang="zh-CN" dirty="0" smtClean="0">
                <a:ea typeface="SimSun" panose="02010600030101010101" pitchFamily="2" charset="-122"/>
              </a:rPr>
              <a:t>1) </a:t>
            </a:r>
            <a:r>
              <a:rPr lang="en-US" altLang="zh-CN" b="1" i="1" dirty="0" smtClean="0">
                <a:ea typeface="SimSun" panose="02010600030101010101" pitchFamily="2" charset="-122"/>
              </a:rPr>
              <a:t>p</a:t>
            </a:r>
            <a:r>
              <a:rPr lang="en-US" altLang="zh-CN" dirty="0" smtClean="0">
                <a:ea typeface="SimSun" panose="02010600030101010101" pitchFamily="2" charset="-122"/>
              </a:rPr>
              <a:t> belongs to </a:t>
            </a:r>
            <a:r>
              <a:rPr lang="en-US" altLang="zh-CN" b="1" i="1" dirty="0" err="1" smtClean="0">
                <a:ea typeface="SimSun" panose="02010600030101010101" pitchFamily="2" charset="-122"/>
              </a:rPr>
              <a:t>N</a:t>
            </a:r>
            <a:r>
              <a:rPr lang="en-US" altLang="zh-CN" b="1" i="1" baseline="-25000" dirty="0" err="1" smtClean="0">
                <a:ea typeface="SimSun" panose="02010600030101010101" pitchFamily="2" charset="-122"/>
              </a:rPr>
              <a:t>Eps</a:t>
            </a:r>
            <a:r>
              <a:rPr lang="en-US" altLang="zh-CN" b="1" i="1" dirty="0" smtClean="0">
                <a:ea typeface="SimSun" panose="02010600030101010101" pitchFamily="2" charset="-122"/>
              </a:rPr>
              <a:t>(q)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altLang="zh-CN" dirty="0" smtClean="0">
                <a:ea typeface="SimSun" panose="02010600030101010101" pitchFamily="2" charset="-122"/>
              </a:rPr>
              <a:t>2) core point condition:   </a:t>
            </a:r>
            <a:r>
              <a:rPr lang="en-US" altLang="zh-CN" b="1" dirty="0" smtClean="0">
                <a:ea typeface="SimSun" panose="02010600030101010101" pitchFamily="2" charset="-122"/>
              </a:rPr>
              <a:t>|</a:t>
            </a:r>
            <a:r>
              <a:rPr lang="en-US" altLang="zh-CN" b="1" i="1" dirty="0" err="1" smtClean="0">
                <a:ea typeface="SimSun" panose="02010600030101010101" pitchFamily="2" charset="-122"/>
              </a:rPr>
              <a:t>N</a:t>
            </a:r>
            <a:r>
              <a:rPr lang="en-US" altLang="zh-CN" b="1" i="1" baseline="-25000" dirty="0" err="1" smtClean="0">
                <a:ea typeface="SimSun" panose="02010600030101010101" pitchFamily="2" charset="-122"/>
              </a:rPr>
              <a:t>Eps</a:t>
            </a:r>
            <a:r>
              <a:rPr lang="en-US" altLang="zh-CN" b="1" i="1" dirty="0" smtClean="0">
                <a:ea typeface="SimSun" panose="02010600030101010101" pitchFamily="2" charset="-122"/>
              </a:rPr>
              <a:t> (q)</a:t>
            </a:r>
            <a:r>
              <a:rPr lang="en-US" altLang="zh-CN" b="1" dirty="0" smtClean="0">
                <a:ea typeface="SimSun" panose="02010600030101010101" pitchFamily="2" charset="-122"/>
              </a:rPr>
              <a:t>|</a:t>
            </a:r>
            <a:r>
              <a:rPr lang="en-US" altLang="zh-CN" dirty="0" smtClean="0">
                <a:ea typeface="SimSun" panose="02010600030101010101" pitchFamily="2" charset="-122"/>
              </a:rPr>
              <a:t> &gt;= </a:t>
            </a:r>
            <a:r>
              <a:rPr lang="en-US" altLang="zh-CN" b="1" i="1" dirty="0" err="1" smtClean="0">
                <a:ea typeface="SimSun" panose="02010600030101010101" pitchFamily="2" charset="-122"/>
              </a:rPr>
              <a:t>MinPts</a:t>
            </a:r>
            <a:r>
              <a:rPr lang="en-US" altLang="zh-CN" dirty="0" smtClean="0">
                <a:ea typeface="SimSun" panose="02010600030101010101" pitchFamily="2" charset="-122"/>
              </a:rPr>
              <a:t> </a:t>
            </a:r>
            <a:endParaRPr lang="en-US" altLang="zh-CN" b="1" i="1" dirty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2227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13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0" y="352697"/>
            <a:ext cx="7391400" cy="6048103"/>
          </a:xfrm>
          <a:noFill/>
          <a:ln/>
        </p:spPr>
        <p:txBody>
          <a:bodyPr vert="horz" lIns="92075" tIns="46038" rIns="92075" bIns="46038" rtlCol="0">
            <a:norm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b="1" u="sng" dirty="0">
                <a:ea typeface="SimSun" panose="02010600030101010101" pitchFamily="2" charset="-122"/>
              </a:rPr>
              <a:t>Density-reachable: 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altLang="zh-CN" dirty="0">
                <a:ea typeface="SimSun" panose="02010600030101010101" pitchFamily="2" charset="-122"/>
              </a:rPr>
              <a:t>A point </a:t>
            </a:r>
            <a:r>
              <a:rPr lang="en-US" altLang="zh-CN" i="1" dirty="0">
                <a:ea typeface="SimSun" panose="02010600030101010101" pitchFamily="2" charset="-122"/>
              </a:rPr>
              <a:t>p</a:t>
            </a:r>
            <a:r>
              <a:rPr lang="en-US" altLang="zh-CN" dirty="0">
                <a:ea typeface="SimSun" panose="02010600030101010101" pitchFamily="2" charset="-122"/>
              </a:rPr>
              <a:t> is density-reachable from a point </a:t>
            </a:r>
            <a:r>
              <a:rPr lang="en-US" altLang="zh-CN" i="1" dirty="0" smtClean="0">
                <a:ea typeface="SimSun" panose="02010600030101010101" pitchFamily="2" charset="-122"/>
              </a:rPr>
              <a:t>q</a:t>
            </a:r>
            <a:r>
              <a:rPr lang="en-US" altLang="zh-CN" dirty="0" smtClean="0">
                <a:ea typeface="SimSun" panose="02010600030101010101" pitchFamily="2" charset="-122"/>
              </a:rPr>
              <a:t>, </a:t>
            </a:r>
            <a:r>
              <a:rPr lang="en-US" altLang="zh-CN" dirty="0">
                <a:ea typeface="SimSun" panose="02010600030101010101" pitchFamily="2" charset="-122"/>
              </a:rPr>
              <a:t>if there is a chain of points </a:t>
            </a:r>
            <a:r>
              <a:rPr lang="en-US" altLang="zh-CN" i="1" dirty="0">
                <a:ea typeface="SimSun" panose="02010600030101010101" pitchFamily="2" charset="-122"/>
              </a:rPr>
              <a:t>p</a:t>
            </a:r>
            <a:r>
              <a:rPr lang="en-US" altLang="zh-CN" i="1" baseline="-25000" dirty="0">
                <a:ea typeface="SimSun" panose="02010600030101010101" pitchFamily="2" charset="-122"/>
              </a:rPr>
              <a:t>1</a:t>
            </a:r>
            <a:r>
              <a:rPr lang="en-US" altLang="zh-CN" dirty="0">
                <a:ea typeface="SimSun" panose="02010600030101010101" pitchFamily="2" charset="-122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</a:rPr>
              <a:t>…</a:t>
            </a:r>
            <a:r>
              <a:rPr lang="en-US" altLang="zh-CN" dirty="0">
                <a:ea typeface="SimSun" panose="02010600030101010101" pitchFamily="2" charset="-122"/>
              </a:rPr>
              <a:t>, </a:t>
            </a:r>
            <a:r>
              <a:rPr lang="en-US" altLang="zh-CN" i="1" dirty="0" err="1">
                <a:ea typeface="SimSun" panose="02010600030101010101" pitchFamily="2" charset="-122"/>
              </a:rPr>
              <a:t>p</a:t>
            </a:r>
            <a:r>
              <a:rPr lang="en-US" altLang="zh-CN" i="1" baseline="-25000" dirty="0" err="1">
                <a:ea typeface="SimSun" panose="02010600030101010101" pitchFamily="2" charset="-122"/>
              </a:rPr>
              <a:t>n</a:t>
            </a:r>
            <a:r>
              <a:rPr lang="en-US" altLang="zh-CN" dirty="0">
                <a:ea typeface="SimSun" panose="02010600030101010101" pitchFamily="2" charset="-122"/>
              </a:rPr>
              <a:t>, </a:t>
            </a:r>
            <a:r>
              <a:rPr lang="en-US" altLang="zh-CN" i="1" dirty="0">
                <a:ea typeface="SimSun" panose="02010600030101010101" pitchFamily="2" charset="-122"/>
              </a:rPr>
              <a:t>p</a:t>
            </a:r>
            <a:r>
              <a:rPr lang="en-US" altLang="zh-CN" i="1" baseline="-25000" dirty="0">
                <a:ea typeface="SimSun" panose="02010600030101010101" pitchFamily="2" charset="-122"/>
              </a:rPr>
              <a:t>1</a:t>
            </a:r>
            <a:r>
              <a:rPr lang="en-US" altLang="zh-CN" dirty="0">
                <a:ea typeface="SimSun" panose="02010600030101010101" pitchFamily="2" charset="-122"/>
              </a:rPr>
              <a:t> = </a:t>
            </a:r>
            <a:r>
              <a:rPr lang="en-US" altLang="zh-CN" i="1" dirty="0">
                <a:ea typeface="SimSun" panose="02010600030101010101" pitchFamily="2" charset="-122"/>
              </a:rPr>
              <a:t>q</a:t>
            </a:r>
            <a:r>
              <a:rPr lang="en-US" altLang="zh-CN" dirty="0">
                <a:ea typeface="SimSun" panose="02010600030101010101" pitchFamily="2" charset="-122"/>
              </a:rPr>
              <a:t>, </a:t>
            </a:r>
            <a:r>
              <a:rPr lang="en-US" altLang="zh-CN" i="1" dirty="0" err="1">
                <a:ea typeface="SimSun" panose="02010600030101010101" pitchFamily="2" charset="-122"/>
              </a:rPr>
              <a:t>p</a:t>
            </a:r>
            <a:r>
              <a:rPr lang="en-US" altLang="zh-CN" i="1" baseline="-25000" dirty="0" err="1">
                <a:ea typeface="SimSun" panose="02010600030101010101" pitchFamily="2" charset="-122"/>
              </a:rPr>
              <a:t>n</a:t>
            </a:r>
            <a:r>
              <a:rPr lang="en-US" altLang="zh-CN" dirty="0">
                <a:ea typeface="SimSun" panose="02010600030101010101" pitchFamily="2" charset="-122"/>
              </a:rPr>
              <a:t> = </a:t>
            </a:r>
            <a:r>
              <a:rPr lang="en-US" altLang="zh-CN" i="1" dirty="0">
                <a:ea typeface="SimSun" panose="02010600030101010101" pitchFamily="2" charset="-122"/>
              </a:rPr>
              <a:t>p</a:t>
            </a:r>
            <a:r>
              <a:rPr lang="en-US" altLang="zh-CN" dirty="0">
                <a:ea typeface="SimSun" panose="02010600030101010101" pitchFamily="2" charset="-122"/>
              </a:rPr>
              <a:t> such that </a:t>
            </a:r>
            <a:r>
              <a:rPr lang="en-US" altLang="zh-CN" i="1" dirty="0">
                <a:ea typeface="SimSun" panose="02010600030101010101" pitchFamily="2" charset="-122"/>
              </a:rPr>
              <a:t>p</a:t>
            </a:r>
            <a:r>
              <a:rPr lang="en-US" altLang="zh-CN" i="1" baseline="-25000" dirty="0">
                <a:ea typeface="SimSun" panose="02010600030101010101" pitchFamily="2" charset="-122"/>
              </a:rPr>
              <a:t>i+1</a:t>
            </a:r>
            <a:r>
              <a:rPr lang="en-US" altLang="zh-CN" dirty="0">
                <a:ea typeface="SimSun" panose="02010600030101010101" pitchFamily="2" charset="-122"/>
              </a:rPr>
              <a:t> is directly density-reachable from </a:t>
            </a:r>
            <a:r>
              <a:rPr lang="en-US" altLang="zh-CN" i="1" dirty="0">
                <a:ea typeface="SimSun" panose="02010600030101010101" pitchFamily="2" charset="-122"/>
              </a:rPr>
              <a:t>p</a:t>
            </a:r>
            <a:r>
              <a:rPr lang="en-US" altLang="zh-CN" i="1" baseline="-25000" dirty="0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	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altLang="zh-CN" dirty="0" smtClean="0">
              <a:ea typeface="SimSun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altLang="zh-CN" b="1" u="sng" dirty="0">
              <a:ea typeface="SimSun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b="1" u="sng" dirty="0" smtClean="0">
                <a:ea typeface="SimSun" panose="02010600030101010101" pitchFamily="2" charset="-122"/>
              </a:rPr>
              <a:t>Density-connected:</a:t>
            </a:r>
            <a:endParaRPr lang="en-US" altLang="zh-CN" b="1" u="sng" dirty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altLang="zh-CN" dirty="0">
                <a:ea typeface="SimSun" panose="02010600030101010101" pitchFamily="2" charset="-122"/>
              </a:rPr>
              <a:t>A point </a:t>
            </a:r>
            <a:r>
              <a:rPr lang="en-US" altLang="zh-CN" i="1" dirty="0">
                <a:ea typeface="SimSun" panose="02010600030101010101" pitchFamily="2" charset="-122"/>
              </a:rPr>
              <a:t>p</a:t>
            </a:r>
            <a:r>
              <a:rPr lang="en-US" altLang="zh-CN" dirty="0">
                <a:ea typeface="SimSun" panose="02010600030101010101" pitchFamily="2" charset="-122"/>
              </a:rPr>
              <a:t> is density-connected to a point </a:t>
            </a:r>
            <a:r>
              <a:rPr lang="en-US" altLang="zh-CN" i="1" dirty="0" smtClean="0">
                <a:ea typeface="SimSun" panose="02010600030101010101" pitchFamily="2" charset="-122"/>
              </a:rPr>
              <a:t>q</a:t>
            </a:r>
            <a:r>
              <a:rPr lang="en-US" altLang="zh-CN" dirty="0" smtClean="0">
                <a:ea typeface="SimSun" panose="02010600030101010101" pitchFamily="2" charset="-122"/>
              </a:rPr>
              <a:t>, if </a:t>
            </a:r>
            <a:r>
              <a:rPr lang="en-US" altLang="zh-CN" dirty="0">
                <a:ea typeface="SimSun" panose="02010600030101010101" pitchFamily="2" charset="-122"/>
              </a:rPr>
              <a:t>there is a point </a:t>
            </a:r>
            <a:r>
              <a:rPr lang="en-US" altLang="zh-CN" i="1" dirty="0">
                <a:ea typeface="SimSun" panose="02010600030101010101" pitchFamily="2" charset="-122"/>
              </a:rPr>
              <a:t>o </a:t>
            </a:r>
            <a:r>
              <a:rPr lang="en-US" altLang="zh-CN" dirty="0">
                <a:ea typeface="SimSun" panose="02010600030101010101" pitchFamily="2" charset="-122"/>
              </a:rPr>
              <a:t>such that both, </a:t>
            </a:r>
            <a:r>
              <a:rPr lang="en-US" altLang="zh-CN" i="1" dirty="0">
                <a:ea typeface="SimSun" panose="02010600030101010101" pitchFamily="2" charset="-122"/>
              </a:rPr>
              <a:t>p</a:t>
            </a:r>
            <a:r>
              <a:rPr lang="en-US" altLang="zh-CN" dirty="0">
                <a:ea typeface="SimSun" panose="02010600030101010101" pitchFamily="2" charset="-122"/>
              </a:rPr>
              <a:t> and </a:t>
            </a:r>
            <a:r>
              <a:rPr lang="en-US" altLang="zh-CN" i="1" dirty="0">
                <a:ea typeface="SimSun" panose="02010600030101010101" pitchFamily="2" charset="-122"/>
              </a:rPr>
              <a:t>q</a:t>
            </a:r>
            <a:r>
              <a:rPr lang="en-US" altLang="zh-CN" dirty="0">
                <a:ea typeface="SimSun" panose="02010600030101010101" pitchFamily="2" charset="-122"/>
              </a:rPr>
              <a:t> are density-reachable from </a:t>
            </a:r>
            <a:r>
              <a:rPr lang="en-US" altLang="zh-CN" i="1" dirty="0">
                <a:ea typeface="SimSun" panose="02010600030101010101" pitchFamily="2" charset="-122"/>
              </a:rPr>
              <a:t>o</a:t>
            </a:r>
            <a:r>
              <a:rPr lang="en-US" altLang="zh-CN" dirty="0" smtClean="0">
                <a:ea typeface="SimSun" panose="02010600030101010101" pitchFamily="2" charset="-122"/>
              </a:rPr>
              <a:t>.</a:t>
            </a:r>
            <a:endParaRPr lang="en-US" altLang="zh-CN" dirty="0">
              <a:ea typeface="SimSun" panose="02010600030101010101" pitchFamily="2" charset="-122"/>
            </a:endParaRPr>
          </a:p>
        </p:txBody>
      </p:sp>
      <p:grpSp>
        <p:nvGrpSpPr>
          <p:cNvPr id="1499161" name="Group 1049"/>
          <p:cNvGrpSpPr>
            <a:grpSpLocks/>
          </p:cNvGrpSpPr>
          <p:nvPr/>
        </p:nvGrpSpPr>
        <p:grpSpPr bwMode="auto">
          <a:xfrm>
            <a:off x="8135938" y="3925389"/>
            <a:ext cx="2863850" cy="1638300"/>
            <a:chOff x="3428" y="2740"/>
            <a:chExt cx="1804" cy="1032"/>
          </a:xfrm>
        </p:grpSpPr>
        <p:sp>
          <p:nvSpPr>
            <p:cNvPr id="1499162" name="Oval 1050"/>
            <p:cNvSpPr>
              <a:spLocks noChangeArrowheads="1"/>
            </p:cNvSpPr>
            <p:nvPr/>
          </p:nvSpPr>
          <p:spPr bwMode="auto">
            <a:xfrm>
              <a:off x="3914" y="3089"/>
              <a:ext cx="63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63" name="Oval 1051"/>
            <p:cNvSpPr>
              <a:spLocks noChangeArrowheads="1"/>
            </p:cNvSpPr>
            <p:nvPr/>
          </p:nvSpPr>
          <p:spPr bwMode="auto">
            <a:xfrm>
              <a:off x="4126" y="3159"/>
              <a:ext cx="62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64" name="Oval 1052"/>
            <p:cNvSpPr>
              <a:spLocks noChangeArrowheads="1"/>
            </p:cNvSpPr>
            <p:nvPr/>
          </p:nvSpPr>
          <p:spPr bwMode="auto">
            <a:xfrm>
              <a:off x="4126" y="2948"/>
              <a:ext cx="62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65" name="Oval 1053"/>
            <p:cNvSpPr>
              <a:spLocks noChangeArrowheads="1"/>
            </p:cNvSpPr>
            <p:nvPr/>
          </p:nvSpPr>
          <p:spPr bwMode="auto">
            <a:xfrm>
              <a:off x="3844" y="3370"/>
              <a:ext cx="62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66" name="Oval 1054"/>
            <p:cNvSpPr>
              <a:spLocks noChangeArrowheads="1"/>
            </p:cNvSpPr>
            <p:nvPr/>
          </p:nvSpPr>
          <p:spPr bwMode="auto">
            <a:xfrm>
              <a:off x="3985" y="3230"/>
              <a:ext cx="62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67" name="Oval 1055"/>
            <p:cNvSpPr>
              <a:spLocks noChangeArrowheads="1"/>
            </p:cNvSpPr>
            <p:nvPr/>
          </p:nvSpPr>
          <p:spPr bwMode="auto">
            <a:xfrm>
              <a:off x="4129" y="3514"/>
              <a:ext cx="62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68" name="Oval 1056"/>
            <p:cNvSpPr>
              <a:spLocks noChangeArrowheads="1"/>
            </p:cNvSpPr>
            <p:nvPr/>
          </p:nvSpPr>
          <p:spPr bwMode="auto">
            <a:xfrm>
              <a:off x="4196" y="3297"/>
              <a:ext cx="62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69" name="Oval 1057"/>
            <p:cNvSpPr>
              <a:spLocks noChangeArrowheads="1"/>
            </p:cNvSpPr>
            <p:nvPr/>
          </p:nvSpPr>
          <p:spPr bwMode="auto">
            <a:xfrm>
              <a:off x="4196" y="2807"/>
              <a:ext cx="62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70" name="Oval 1058"/>
            <p:cNvSpPr>
              <a:spLocks noChangeArrowheads="1"/>
            </p:cNvSpPr>
            <p:nvPr/>
          </p:nvSpPr>
          <p:spPr bwMode="auto">
            <a:xfrm>
              <a:off x="4618" y="3230"/>
              <a:ext cx="63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71" name="Oval 1059"/>
            <p:cNvSpPr>
              <a:spLocks noChangeArrowheads="1"/>
            </p:cNvSpPr>
            <p:nvPr/>
          </p:nvSpPr>
          <p:spPr bwMode="auto">
            <a:xfrm>
              <a:off x="4478" y="2948"/>
              <a:ext cx="62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72" name="Oval 1060"/>
            <p:cNvSpPr>
              <a:spLocks noChangeArrowheads="1"/>
            </p:cNvSpPr>
            <p:nvPr/>
          </p:nvSpPr>
          <p:spPr bwMode="auto">
            <a:xfrm>
              <a:off x="3694" y="3252"/>
              <a:ext cx="62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73" name="Oval 1061"/>
            <p:cNvSpPr>
              <a:spLocks noChangeArrowheads="1"/>
            </p:cNvSpPr>
            <p:nvPr/>
          </p:nvSpPr>
          <p:spPr bwMode="auto">
            <a:xfrm>
              <a:off x="4266" y="3159"/>
              <a:ext cx="63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74" name="Oval 1062"/>
            <p:cNvSpPr>
              <a:spLocks noChangeArrowheads="1"/>
            </p:cNvSpPr>
            <p:nvPr/>
          </p:nvSpPr>
          <p:spPr bwMode="auto">
            <a:xfrm>
              <a:off x="4407" y="3370"/>
              <a:ext cx="63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75" name="Oval 1063"/>
            <p:cNvSpPr>
              <a:spLocks noChangeArrowheads="1"/>
            </p:cNvSpPr>
            <p:nvPr/>
          </p:nvSpPr>
          <p:spPr bwMode="auto">
            <a:xfrm>
              <a:off x="4759" y="3441"/>
              <a:ext cx="63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76" name="Rectangle 1064"/>
            <p:cNvSpPr>
              <a:spLocks noChangeArrowheads="1"/>
            </p:cNvSpPr>
            <p:nvPr/>
          </p:nvSpPr>
          <p:spPr bwMode="auto">
            <a:xfrm>
              <a:off x="3504" y="2832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SimSun" panose="02010600030101010101" pitchFamily="2" charset="-122"/>
                </a:rPr>
                <a:t>p</a:t>
              </a:r>
            </a:p>
          </p:txBody>
        </p:sp>
        <p:sp>
          <p:nvSpPr>
            <p:cNvPr id="1499177" name="Rectangle 1065"/>
            <p:cNvSpPr>
              <a:spLocks noChangeArrowheads="1"/>
            </p:cNvSpPr>
            <p:nvPr/>
          </p:nvSpPr>
          <p:spPr bwMode="auto">
            <a:xfrm>
              <a:off x="4992" y="2832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SimSun" panose="02010600030101010101" pitchFamily="2" charset="-122"/>
                </a:rPr>
                <a:t>q</a:t>
              </a:r>
            </a:p>
          </p:txBody>
        </p:sp>
        <p:sp>
          <p:nvSpPr>
            <p:cNvPr id="1499178" name="Oval 1066"/>
            <p:cNvSpPr>
              <a:spLocks noChangeArrowheads="1"/>
            </p:cNvSpPr>
            <p:nvPr/>
          </p:nvSpPr>
          <p:spPr bwMode="auto">
            <a:xfrm>
              <a:off x="4858" y="3182"/>
              <a:ext cx="63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79" name="Oval 1067"/>
            <p:cNvSpPr>
              <a:spLocks noChangeArrowheads="1"/>
            </p:cNvSpPr>
            <p:nvPr/>
          </p:nvSpPr>
          <p:spPr bwMode="auto">
            <a:xfrm>
              <a:off x="4506" y="3207"/>
              <a:ext cx="63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80" name="Oval 1068"/>
            <p:cNvSpPr>
              <a:spLocks noChangeArrowheads="1"/>
            </p:cNvSpPr>
            <p:nvPr/>
          </p:nvSpPr>
          <p:spPr bwMode="auto">
            <a:xfrm>
              <a:off x="4647" y="3322"/>
              <a:ext cx="63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81" name="Oval 1069"/>
            <p:cNvSpPr>
              <a:spLocks noChangeArrowheads="1"/>
            </p:cNvSpPr>
            <p:nvPr/>
          </p:nvSpPr>
          <p:spPr bwMode="auto">
            <a:xfrm>
              <a:off x="4954" y="2942"/>
              <a:ext cx="63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82" name="Oval 1070"/>
            <p:cNvSpPr>
              <a:spLocks noChangeArrowheads="1"/>
            </p:cNvSpPr>
            <p:nvPr/>
          </p:nvSpPr>
          <p:spPr bwMode="auto">
            <a:xfrm>
              <a:off x="4602" y="2871"/>
              <a:ext cx="63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83" name="Oval 1071"/>
            <p:cNvSpPr>
              <a:spLocks noChangeArrowheads="1"/>
            </p:cNvSpPr>
            <p:nvPr/>
          </p:nvSpPr>
          <p:spPr bwMode="auto">
            <a:xfrm>
              <a:off x="4791" y="3034"/>
              <a:ext cx="63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84" name="Oval 1072"/>
            <p:cNvSpPr>
              <a:spLocks noChangeArrowheads="1"/>
            </p:cNvSpPr>
            <p:nvPr/>
          </p:nvSpPr>
          <p:spPr bwMode="auto">
            <a:xfrm>
              <a:off x="3524" y="2980"/>
              <a:ext cx="696" cy="69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85" name="Oval 1073"/>
            <p:cNvSpPr>
              <a:spLocks noChangeArrowheads="1"/>
            </p:cNvSpPr>
            <p:nvPr/>
          </p:nvSpPr>
          <p:spPr bwMode="auto">
            <a:xfrm>
              <a:off x="3860" y="3076"/>
              <a:ext cx="696" cy="69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86" name="Oval 1074"/>
            <p:cNvSpPr>
              <a:spLocks noChangeArrowheads="1"/>
            </p:cNvSpPr>
            <p:nvPr/>
          </p:nvSpPr>
          <p:spPr bwMode="auto">
            <a:xfrm>
              <a:off x="4244" y="2980"/>
              <a:ext cx="696" cy="69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87" name="Oval 1075"/>
            <p:cNvSpPr>
              <a:spLocks noChangeArrowheads="1"/>
            </p:cNvSpPr>
            <p:nvPr/>
          </p:nvSpPr>
          <p:spPr bwMode="auto">
            <a:xfrm>
              <a:off x="4484" y="2740"/>
              <a:ext cx="696" cy="69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88" name="Line 1076"/>
            <p:cNvSpPr>
              <a:spLocks noChangeShapeType="1"/>
            </p:cNvSpPr>
            <p:nvPr/>
          </p:nvSpPr>
          <p:spPr bwMode="auto">
            <a:xfrm flipV="1">
              <a:off x="3888" y="3312"/>
              <a:ext cx="288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89" name="Line 1077"/>
            <p:cNvSpPr>
              <a:spLocks noChangeShapeType="1"/>
            </p:cNvSpPr>
            <p:nvPr/>
          </p:nvSpPr>
          <p:spPr bwMode="auto">
            <a:xfrm flipH="1">
              <a:off x="4272" y="3264"/>
              <a:ext cx="240" cy="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90" name="Oval 1078"/>
            <p:cNvSpPr>
              <a:spLocks noChangeArrowheads="1"/>
            </p:cNvSpPr>
            <p:nvPr/>
          </p:nvSpPr>
          <p:spPr bwMode="auto">
            <a:xfrm>
              <a:off x="3818" y="2993"/>
              <a:ext cx="63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91" name="Oval 1079"/>
            <p:cNvSpPr>
              <a:spLocks noChangeArrowheads="1"/>
            </p:cNvSpPr>
            <p:nvPr/>
          </p:nvSpPr>
          <p:spPr bwMode="auto">
            <a:xfrm>
              <a:off x="3694" y="3044"/>
              <a:ext cx="62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92" name="Oval 1080"/>
            <p:cNvSpPr>
              <a:spLocks noChangeArrowheads="1"/>
            </p:cNvSpPr>
            <p:nvPr/>
          </p:nvSpPr>
          <p:spPr bwMode="auto">
            <a:xfrm>
              <a:off x="3860" y="2807"/>
              <a:ext cx="62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93" name="Oval 1081"/>
            <p:cNvSpPr>
              <a:spLocks noChangeArrowheads="1"/>
            </p:cNvSpPr>
            <p:nvPr/>
          </p:nvSpPr>
          <p:spPr bwMode="auto">
            <a:xfrm>
              <a:off x="3428" y="2740"/>
              <a:ext cx="696" cy="69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94" name="Line 1082"/>
            <p:cNvSpPr>
              <a:spLocks noChangeShapeType="1"/>
            </p:cNvSpPr>
            <p:nvPr/>
          </p:nvSpPr>
          <p:spPr bwMode="auto">
            <a:xfrm>
              <a:off x="3744" y="3072"/>
              <a:ext cx="96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95" name="Line 1083"/>
            <p:cNvSpPr>
              <a:spLocks noChangeShapeType="1"/>
            </p:cNvSpPr>
            <p:nvPr/>
          </p:nvSpPr>
          <p:spPr bwMode="auto">
            <a:xfrm flipH="1">
              <a:off x="4560" y="3072"/>
              <a:ext cx="24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96" name="Rectangle 1084"/>
            <p:cNvSpPr>
              <a:spLocks noChangeArrowheads="1"/>
            </p:cNvSpPr>
            <p:nvPr/>
          </p:nvSpPr>
          <p:spPr bwMode="auto">
            <a:xfrm>
              <a:off x="4176" y="3312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SimSun" panose="02010600030101010101" pitchFamily="2" charset="-122"/>
                </a:rPr>
                <a:t>o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8259762" y="903514"/>
            <a:ext cx="2090737" cy="1790700"/>
            <a:chOff x="7894638" y="1752600"/>
            <a:chExt cx="2090737" cy="1790700"/>
          </a:xfrm>
        </p:grpSpPr>
        <p:sp>
          <p:nvSpPr>
            <p:cNvPr id="1499140" name="Oval 1028"/>
            <p:cNvSpPr>
              <a:spLocks noChangeArrowheads="1"/>
            </p:cNvSpPr>
            <p:nvPr/>
          </p:nvSpPr>
          <p:spPr bwMode="auto">
            <a:xfrm>
              <a:off x="8543926" y="2459039"/>
              <a:ext cx="100013" cy="98425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41" name="Oval 1029"/>
            <p:cNvSpPr>
              <a:spLocks noChangeArrowheads="1"/>
            </p:cNvSpPr>
            <p:nvPr/>
          </p:nvSpPr>
          <p:spPr bwMode="auto">
            <a:xfrm>
              <a:off x="8880476" y="2570163"/>
              <a:ext cx="98425" cy="10001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42" name="Oval 1030"/>
            <p:cNvSpPr>
              <a:spLocks noChangeArrowheads="1"/>
            </p:cNvSpPr>
            <p:nvPr/>
          </p:nvSpPr>
          <p:spPr bwMode="auto">
            <a:xfrm>
              <a:off x="8880476" y="2235201"/>
              <a:ext cx="98425" cy="98425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43" name="Oval 1031"/>
            <p:cNvSpPr>
              <a:spLocks noChangeArrowheads="1"/>
            </p:cNvSpPr>
            <p:nvPr/>
          </p:nvSpPr>
          <p:spPr bwMode="auto">
            <a:xfrm>
              <a:off x="8432801" y="2905126"/>
              <a:ext cx="98425" cy="10001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44" name="Oval 1032"/>
            <p:cNvSpPr>
              <a:spLocks noChangeArrowheads="1"/>
            </p:cNvSpPr>
            <p:nvPr/>
          </p:nvSpPr>
          <p:spPr bwMode="auto">
            <a:xfrm>
              <a:off x="8656639" y="2682876"/>
              <a:ext cx="98425" cy="98425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45" name="Oval 1033"/>
            <p:cNvSpPr>
              <a:spLocks noChangeArrowheads="1"/>
            </p:cNvSpPr>
            <p:nvPr/>
          </p:nvSpPr>
          <p:spPr bwMode="auto">
            <a:xfrm>
              <a:off x="8656639" y="2905126"/>
              <a:ext cx="98425" cy="10001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46" name="Oval 1034"/>
            <p:cNvSpPr>
              <a:spLocks noChangeArrowheads="1"/>
            </p:cNvSpPr>
            <p:nvPr/>
          </p:nvSpPr>
          <p:spPr bwMode="auto">
            <a:xfrm>
              <a:off x="8991601" y="3017839"/>
              <a:ext cx="98425" cy="98425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47" name="Oval 1035"/>
            <p:cNvSpPr>
              <a:spLocks noChangeArrowheads="1"/>
            </p:cNvSpPr>
            <p:nvPr/>
          </p:nvSpPr>
          <p:spPr bwMode="auto">
            <a:xfrm>
              <a:off x="8991601" y="2011363"/>
              <a:ext cx="98425" cy="10001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48" name="Oval 1036"/>
            <p:cNvSpPr>
              <a:spLocks noChangeArrowheads="1"/>
            </p:cNvSpPr>
            <p:nvPr/>
          </p:nvSpPr>
          <p:spPr bwMode="auto">
            <a:xfrm>
              <a:off x="9661526" y="2682876"/>
              <a:ext cx="100013" cy="98425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49" name="Oval 1037"/>
            <p:cNvSpPr>
              <a:spLocks noChangeArrowheads="1"/>
            </p:cNvSpPr>
            <p:nvPr/>
          </p:nvSpPr>
          <p:spPr bwMode="auto">
            <a:xfrm>
              <a:off x="9439276" y="2235201"/>
              <a:ext cx="98425" cy="98425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50" name="Oval 1038"/>
            <p:cNvSpPr>
              <a:spLocks noChangeArrowheads="1"/>
            </p:cNvSpPr>
            <p:nvPr/>
          </p:nvSpPr>
          <p:spPr bwMode="auto">
            <a:xfrm>
              <a:off x="8880476" y="2794001"/>
              <a:ext cx="98425" cy="98425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51" name="Oval 1039"/>
            <p:cNvSpPr>
              <a:spLocks noChangeArrowheads="1"/>
            </p:cNvSpPr>
            <p:nvPr/>
          </p:nvSpPr>
          <p:spPr bwMode="auto">
            <a:xfrm>
              <a:off x="9102726" y="2570163"/>
              <a:ext cx="100013" cy="10001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52" name="Oval 1040"/>
            <p:cNvSpPr>
              <a:spLocks noChangeArrowheads="1"/>
            </p:cNvSpPr>
            <p:nvPr/>
          </p:nvSpPr>
          <p:spPr bwMode="auto">
            <a:xfrm>
              <a:off x="9326563" y="2905126"/>
              <a:ext cx="100012" cy="10001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53" name="Oval 1041"/>
            <p:cNvSpPr>
              <a:spLocks noChangeArrowheads="1"/>
            </p:cNvSpPr>
            <p:nvPr/>
          </p:nvSpPr>
          <p:spPr bwMode="auto">
            <a:xfrm>
              <a:off x="9885363" y="3017839"/>
              <a:ext cx="100012" cy="98425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54" name="Oval 1042"/>
            <p:cNvSpPr>
              <a:spLocks noChangeArrowheads="1"/>
            </p:cNvSpPr>
            <p:nvPr/>
          </p:nvSpPr>
          <p:spPr bwMode="auto">
            <a:xfrm>
              <a:off x="8610600" y="2438400"/>
              <a:ext cx="1104900" cy="11049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55" name="Oval 1043"/>
            <p:cNvSpPr>
              <a:spLocks noChangeArrowheads="1"/>
            </p:cNvSpPr>
            <p:nvPr/>
          </p:nvSpPr>
          <p:spPr bwMode="auto">
            <a:xfrm>
              <a:off x="7894638" y="2311400"/>
              <a:ext cx="1104900" cy="11049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56" name="Rectangle 1044"/>
            <p:cNvSpPr>
              <a:spLocks noChangeArrowheads="1"/>
            </p:cNvSpPr>
            <p:nvPr/>
          </p:nvSpPr>
          <p:spPr bwMode="auto">
            <a:xfrm>
              <a:off x="9493250" y="2051050"/>
              <a:ext cx="381000" cy="3699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SimSun" panose="02010600030101010101" pitchFamily="2" charset="-122"/>
                </a:rPr>
                <a:t>p</a:t>
              </a:r>
            </a:p>
          </p:txBody>
        </p:sp>
        <p:sp>
          <p:nvSpPr>
            <p:cNvPr id="1499157" name="Rectangle 1045"/>
            <p:cNvSpPr>
              <a:spLocks noChangeArrowheads="1"/>
            </p:cNvSpPr>
            <p:nvPr/>
          </p:nvSpPr>
          <p:spPr bwMode="auto">
            <a:xfrm>
              <a:off x="8121650" y="2736850"/>
              <a:ext cx="381000" cy="3699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SimSun" panose="02010600030101010101" pitchFamily="2" charset="-122"/>
                </a:rPr>
                <a:t>q</a:t>
              </a:r>
            </a:p>
          </p:txBody>
        </p:sp>
        <p:sp>
          <p:nvSpPr>
            <p:cNvPr id="1499158" name="Oval 1046"/>
            <p:cNvSpPr>
              <a:spLocks noChangeArrowheads="1"/>
            </p:cNvSpPr>
            <p:nvPr/>
          </p:nvSpPr>
          <p:spPr bwMode="auto">
            <a:xfrm>
              <a:off x="8839200" y="1752600"/>
              <a:ext cx="1104900" cy="11049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59" name="Rectangle 1047"/>
            <p:cNvSpPr>
              <a:spLocks noChangeArrowheads="1"/>
            </p:cNvSpPr>
            <p:nvPr/>
          </p:nvSpPr>
          <p:spPr bwMode="auto">
            <a:xfrm>
              <a:off x="8883650" y="2508250"/>
              <a:ext cx="609600" cy="3699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SimSun" panose="02010600030101010101" pitchFamily="2" charset="-122"/>
                </a:rPr>
                <a:t>p</a:t>
              </a:r>
              <a:r>
                <a:rPr lang="en-US" altLang="zh-CN" b="1" i="1" baseline="-25000" dirty="0">
                  <a:latin typeface="Times New Roman" panose="02020603050405020304" pitchFamily="18" charset="0"/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1499160" name="Line 1048"/>
            <p:cNvSpPr>
              <a:spLocks noChangeShapeType="1"/>
            </p:cNvSpPr>
            <p:nvPr/>
          </p:nvSpPr>
          <p:spPr bwMode="auto">
            <a:xfrm flipH="1">
              <a:off x="8959850" y="2355850"/>
              <a:ext cx="45720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lg" len="med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97" name="Line 1085"/>
            <p:cNvSpPr>
              <a:spLocks noChangeShapeType="1"/>
            </p:cNvSpPr>
            <p:nvPr/>
          </p:nvSpPr>
          <p:spPr bwMode="auto">
            <a:xfrm flipV="1">
              <a:off x="8458200" y="2667000"/>
              <a:ext cx="457200" cy="304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7246665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>
              <a:hlinkClick r:id="rId2"/>
            </a:endParaRPr>
          </a:p>
          <a:p>
            <a:endParaRPr lang="en-US" dirty="0">
              <a:hlinkClick r:id="rId2"/>
            </a:endParaRPr>
          </a:p>
          <a:p>
            <a:endParaRPr lang="en-US" dirty="0" smtClean="0">
              <a:hlinkClick r:id="rId2"/>
            </a:endParaRPr>
          </a:p>
          <a:p>
            <a:endParaRPr lang="en-US" dirty="0">
              <a:hlinkClick r:id="rId2"/>
            </a:endParaRPr>
          </a:p>
          <a:p>
            <a:endParaRPr lang="en-US" dirty="0" smtClean="0">
              <a:hlinkClick r:id="rId2"/>
            </a:endParaRPr>
          </a:p>
          <a:p>
            <a:endParaRPr lang="en-US" dirty="0">
              <a:hlinkClick r:id="rId2"/>
            </a:endParaRPr>
          </a:p>
          <a:p>
            <a:endParaRPr lang="en-US" dirty="0" smtClean="0">
              <a:hlinkClick r:id="rId2"/>
            </a:endParaRPr>
          </a:p>
          <a:p>
            <a:endParaRPr lang="en-US" dirty="0">
              <a:hlinkClick r:id="rId2"/>
            </a:endParaRPr>
          </a:p>
          <a:p>
            <a:endParaRPr lang="en-US" dirty="0" smtClean="0">
              <a:hlinkClick r:id="rId2"/>
            </a:endParaRPr>
          </a:p>
          <a:p>
            <a:endParaRPr lang="en-US" dirty="0">
              <a:hlinkClick r:id="rId2"/>
            </a:endParaRPr>
          </a:p>
          <a:p>
            <a:endParaRPr lang="en-US" dirty="0" smtClean="0">
              <a:hlinkClick r:id="rId2"/>
            </a:endParaRPr>
          </a:p>
          <a:p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://www.naftaliharris.com/blog/visualizing-dbscan-clustering/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6300" t="13661" r="19344" b="12946"/>
          <a:stretch/>
        </p:blipFill>
        <p:spPr>
          <a:xfrm>
            <a:off x="0" y="208086"/>
            <a:ext cx="6087291" cy="44021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l="17405" t="15982" r="19446" b="11518"/>
          <a:stretch/>
        </p:blipFill>
        <p:spPr>
          <a:xfrm>
            <a:off x="6304232" y="0"/>
            <a:ext cx="5887768" cy="380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851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Cluster Validation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62885"/>
            <a:ext cx="12057016" cy="585215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Cluster validation is used to evaluate the quality of clusters.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/>
              <a:t>Cluster validation is often difficult in </a:t>
            </a:r>
            <a:r>
              <a:rPr lang="en-US" sz="3200" dirty="0" smtClean="0"/>
              <a:t>real data </a:t>
            </a:r>
            <a:r>
              <a:rPr lang="en-US" sz="3200" dirty="0"/>
              <a:t>sets because the problem is defined in an unsupervised </a:t>
            </a:r>
            <a:r>
              <a:rPr lang="en-US" sz="3200" dirty="0" smtClean="0"/>
              <a:t>way, thus </a:t>
            </a:r>
            <a:r>
              <a:rPr lang="en-US" sz="3200" dirty="0"/>
              <a:t>no </a:t>
            </a:r>
            <a:r>
              <a:rPr lang="en-US" sz="3200" dirty="0" smtClean="0"/>
              <a:t>external </a:t>
            </a:r>
            <a:r>
              <a:rPr lang="en-US" sz="3200" dirty="0"/>
              <a:t>validation criteria may be available to evaluate a </a:t>
            </a:r>
            <a:r>
              <a:rPr lang="en-US" sz="3200" dirty="0" smtClean="0"/>
              <a:t>clustering. Thus</a:t>
            </a:r>
            <a:r>
              <a:rPr lang="en-US" sz="3200" dirty="0"/>
              <a:t>, a number of </a:t>
            </a:r>
            <a:r>
              <a:rPr lang="en-US" sz="3200" i="1" dirty="0" smtClean="0"/>
              <a:t>internal </a:t>
            </a:r>
            <a:r>
              <a:rPr lang="en-US" sz="3200" dirty="0" smtClean="0"/>
              <a:t>criteria </a:t>
            </a:r>
            <a:r>
              <a:rPr lang="en-US" sz="3200" dirty="0"/>
              <a:t>may be defined to validate the quality of a clustering. </a:t>
            </a:r>
            <a:endParaRPr lang="en-US" sz="3200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major problem </a:t>
            </a:r>
            <a:r>
              <a:rPr lang="en-US" sz="3200" dirty="0" smtClean="0"/>
              <a:t>with internal </a:t>
            </a:r>
            <a:r>
              <a:rPr lang="en-US" sz="3200" dirty="0"/>
              <a:t>criteria is that they may be biased toward one algorithm or the other, </a:t>
            </a:r>
            <a:r>
              <a:rPr lang="en-US" sz="3200" dirty="0" smtClean="0"/>
              <a:t>depending on </a:t>
            </a:r>
            <a:r>
              <a:rPr lang="en-US" sz="3200" dirty="0"/>
              <a:t>how they are defined. </a:t>
            </a:r>
            <a:endParaRPr lang="en-US" sz="3200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In </a:t>
            </a:r>
            <a:r>
              <a:rPr lang="en-US" sz="3200" dirty="0"/>
              <a:t>some cases, external validation criteria may be available </a:t>
            </a:r>
            <a:r>
              <a:rPr lang="en-US" sz="3200" dirty="0" smtClean="0"/>
              <a:t>when a </a:t>
            </a:r>
            <a:r>
              <a:rPr lang="en-US" sz="3200" dirty="0"/>
              <a:t>test data set is synthetically generated, and therefore the true (ground-truth) clusters </a:t>
            </a:r>
            <a:r>
              <a:rPr lang="en-US" sz="3200" dirty="0" smtClean="0"/>
              <a:t>are known</a:t>
            </a:r>
            <a:r>
              <a:rPr lang="en-US" sz="3200" dirty="0"/>
              <a:t>. Alternatively, for real data sets, the class labels, if available, may be used as </a:t>
            </a:r>
            <a:r>
              <a:rPr lang="en-US" sz="3200" dirty="0" smtClean="0"/>
              <a:t>proxies for </a:t>
            </a:r>
            <a:r>
              <a:rPr lang="en-US" sz="3200" dirty="0"/>
              <a:t>the cluster identifiers. In such cases, the evaluation is more effective. Such criteria </a:t>
            </a:r>
            <a:r>
              <a:rPr lang="en-US" sz="3200" dirty="0" smtClean="0"/>
              <a:t>are referred </a:t>
            </a:r>
            <a:r>
              <a:rPr lang="en-US" sz="3200" dirty="0"/>
              <a:t>to as </a:t>
            </a:r>
            <a:r>
              <a:rPr lang="en-US" sz="3200" i="1" dirty="0"/>
              <a:t>external validation criteria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0218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Internal </a:t>
            </a:r>
            <a:r>
              <a:rPr lang="en-US" dirty="0" smtClean="0"/>
              <a:t>Validation Criteria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Internal validation criteria are used when no external criteria are available to evaluate </a:t>
            </a:r>
            <a:r>
              <a:rPr lang="en-US" sz="3200" dirty="0" smtClean="0"/>
              <a:t>the quality </a:t>
            </a:r>
            <a:r>
              <a:rPr lang="en-US" sz="3200" dirty="0"/>
              <a:t>of a </a:t>
            </a:r>
            <a:r>
              <a:rPr lang="en-US" sz="3200" dirty="0" smtClean="0"/>
              <a:t>clustering.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In most cases, the criteria used to validate the quality of the </a:t>
            </a:r>
            <a:r>
              <a:rPr lang="en-US" sz="3200" dirty="0" smtClean="0"/>
              <a:t>algorithm are </a:t>
            </a:r>
            <a:r>
              <a:rPr lang="en-US" sz="3200" dirty="0"/>
              <a:t>borrowed directly from the objective </a:t>
            </a:r>
            <a:r>
              <a:rPr lang="en-US" sz="3200" dirty="0" smtClean="0"/>
              <a:t> function</a:t>
            </a:r>
            <a:r>
              <a:rPr lang="en-US" sz="3200" dirty="0"/>
              <a:t>, which is optimized by a particular </a:t>
            </a:r>
            <a:r>
              <a:rPr lang="en-US" sz="3200" dirty="0" smtClean="0"/>
              <a:t>clustering model.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 smtClean="0"/>
              <a:t>A </a:t>
            </a:r>
            <a:r>
              <a:rPr lang="en-US" sz="3200" dirty="0"/>
              <a:t>validation criterion will always favor a clustering algorithm that uses </a:t>
            </a:r>
            <a:r>
              <a:rPr lang="en-US" sz="3200" dirty="0" smtClean="0"/>
              <a:t>a similar </a:t>
            </a:r>
            <a:r>
              <a:rPr lang="en-US" sz="3200" dirty="0"/>
              <a:t>kind of objective function for its optimization</a:t>
            </a:r>
            <a:r>
              <a:rPr lang="en-US" sz="3200" dirty="0" smtClean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 smtClean="0"/>
              <a:t>Commonly used Internal validation criteria are as follows:</a:t>
            </a:r>
          </a:p>
          <a:p>
            <a:pPr marL="4572" lvl="1" indent="0">
              <a:buNone/>
            </a:pPr>
            <a:r>
              <a:rPr lang="en-US" sz="3200" i="1" dirty="0"/>
              <a:t>	</a:t>
            </a:r>
            <a:r>
              <a:rPr lang="en-US" sz="2800" i="1" dirty="0" smtClean="0"/>
              <a:t>1. Sum </a:t>
            </a:r>
            <a:r>
              <a:rPr lang="en-US" sz="2800" i="1" dirty="0"/>
              <a:t>of square distances to </a:t>
            </a:r>
            <a:r>
              <a:rPr lang="en-US" sz="2800" i="1" dirty="0" smtClean="0"/>
              <a:t>centroids</a:t>
            </a:r>
          </a:p>
          <a:p>
            <a:pPr marL="0" indent="0">
              <a:buNone/>
            </a:pPr>
            <a:r>
              <a:rPr lang="en-US" sz="2800" i="1" dirty="0" smtClean="0"/>
              <a:t>	2. </a:t>
            </a:r>
            <a:r>
              <a:rPr lang="en-US" sz="2800" i="1" dirty="0" err="1" smtClean="0"/>
              <a:t>Intracluster</a:t>
            </a:r>
            <a:r>
              <a:rPr lang="en-US" sz="2800" i="1" dirty="0" smtClean="0"/>
              <a:t> </a:t>
            </a:r>
            <a:r>
              <a:rPr lang="en-US" sz="2800" i="1" dirty="0"/>
              <a:t>to </a:t>
            </a:r>
            <a:r>
              <a:rPr lang="en-US" sz="2800" i="1" dirty="0" err="1"/>
              <a:t>intercluster</a:t>
            </a:r>
            <a:r>
              <a:rPr lang="en-US" sz="2800" i="1" dirty="0"/>
              <a:t> distance </a:t>
            </a:r>
            <a:r>
              <a:rPr lang="en-US" sz="2800" i="1" dirty="0" smtClean="0"/>
              <a:t>ratio</a:t>
            </a:r>
          </a:p>
          <a:p>
            <a:pPr marL="0" indent="0">
              <a:buNone/>
            </a:pPr>
            <a:r>
              <a:rPr lang="en-US" sz="2800" i="1" dirty="0"/>
              <a:t>	</a:t>
            </a:r>
            <a:r>
              <a:rPr lang="en-US" sz="2800" i="1" dirty="0" smtClean="0"/>
              <a:t>3. </a:t>
            </a:r>
            <a:r>
              <a:rPr lang="en-US" sz="2800" i="1" dirty="0"/>
              <a:t>Silhouette </a:t>
            </a:r>
            <a:r>
              <a:rPr lang="en-US" sz="2800" i="1" dirty="0" smtClean="0"/>
              <a:t>coefficient</a:t>
            </a:r>
            <a:endParaRPr lang="en-US" sz="2800" i="1" dirty="0" smtClean="0"/>
          </a:p>
        </p:txBody>
      </p:sp>
    </p:spTree>
    <p:extLst>
      <p:ext uri="{BB962C8B-B14F-4D97-AF65-F5344CB8AC3E}">
        <p14:creationId xmlns:p14="http://schemas.microsoft.com/office/powerpoint/2010/main" val="2935128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Sum of square distances to </a:t>
            </a:r>
            <a:r>
              <a:rPr lang="en-US" i="1" dirty="0" smtClean="0"/>
              <a:t>centroids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T</a:t>
            </a:r>
            <a:r>
              <a:rPr lang="en-US" sz="3200" dirty="0" smtClean="0"/>
              <a:t>he </a:t>
            </a:r>
            <a:r>
              <a:rPr lang="en-US" sz="3200" dirty="0"/>
              <a:t>centroids of the different </a:t>
            </a:r>
            <a:r>
              <a:rPr lang="en-US" sz="3200" dirty="0" smtClean="0"/>
              <a:t>clusters are </a:t>
            </a:r>
            <a:r>
              <a:rPr lang="en-US" sz="3200" dirty="0"/>
              <a:t>determined, and the sum of squared (SSQ) distances are reported as the </a:t>
            </a:r>
            <a:r>
              <a:rPr lang="en-US" sz="3200" dirty="0" smtClean="0"/>
              <a:t>corresponding objective </a:t>
            </a:r>
            <a:r>
              <a:rPr lang="en-US" sz="3200" dirty="0"/>
              <a:t>function. Smaller values of this measure are indicative of </a:t>
            </a:r>
            <a:r>
              <a:rPr lang="en-US" sz="3200" dirty="0" smtClean="0"/>
              <a:t>better cluster </a:t>
            </a:r>
            <a:r>
              <a:rPr lang="en-US" sz="3200" dirty="0"/>
              <a:t>quality. This measure is obviously more optimized to distance-based algorithms</a:t>
            </a:r>
            <a:r>
              <a:rPr lang="en-US" sz="3200" dirty="0" smtClean="0"/>
              <a:t>, such </a:t>
            </a:r>
            <a:r>
              <a:rPr lang="en-US" sz="3200" dirty="0"/>
              <a:t>as </a:t>
            </a:r>
            <a:r>
              <a:rPr lang="en-US" sz="3200" i="1" dirty="0"/>
              <a:t>k</a:t>
            </a:r>
            <a:r>
              <a:rPr lang="en-US" sz="3200" dirty="0"/>
              <a:t>-means, as opposed to a density-based method, such as </a:t>
            </a:r>
            <a:r>
              <a:rPr lang="en-US" sz="3200" i="1" dirty="0"/>
              <a:t>DBSCAN</a:t>
            </a:r>
            <a:r>
              <a:rPr lang="en-US" sz="3200" dirty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38074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/>
              <a:t>Intracluster</a:t>
            </a:r>
            <a:r>
              <a:rPr lang="en-US" i="1" dirty="0"/>
              <a:t> to </a:t>
            </a:r>
            <a:r>
              <a:rPr lang="en-US" i="1" dirty="0" err="1"/>
              <a:t>intercluster</a:t>
            </a:r>
            <a:r>
              <a:rPr lang="en-US" i="1" dirty="0"/>
              <a:t> distance ratio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This </a:t>
            </a:r>
            <a:r>
              <a:rPr lang="en-US" dirty="0"/>
              <a:t>measure is more detailed than the </a:t>
            </a:r>
            <a:r>
              <a:rPr lang="en-US" dirty="0" smtClean="0"/>
              <a:t>SSQ measure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idea is to sample </a:t>
            </a:r>
            <a:r>
              <a:rPr lang="en-US" i="1" dirty="0"/>
              <a:t>r </a:t>
            </a:r>
            <a:r>
              <a:rPr lang="en-US" dirty="0"/>
              <a:t>pairs of data points from the underlying data. </a:t>
            </a:r>
            <a:endParaRPr lang="en-US" dirty="0" smtClean="0"/>
          </a:p>
          <a:p>
            <a:r>
              <a:rPr lang="en-US" dirty="0" smtClean="0"/>
              <a:t>Of these</a:t>
            </a:r>
            <a:r>
              <a:rPr lang="en-US" dirty="0"/>
              <a:t>, </a:t>
            </a:r>
            <a:endParaRPr lang="en-US" dirty="0" smtClean="0"/>
          </a:p>
          <a:p>
            <a:pPr lvl="1"/>
            <a:r>
              <a:rPr lang="en-US" dirty="0" smtClean="0"/>
              <a:t>let </a:t>
            </a:r>
            <a:r>
              <a:rPr lang="en-US" i="1" dirty="0"/>
              <a:t>P </a:t>
            </a:r>
            <a:r>
              <a:rPr lang="en-US" dirty="0"/>
              <a:t>be the set of pairs that belong to the same cluster found by the algorithm.</a:t>
            </a:r>
          </a:p>
          <a:p>
            <a:pPr lvl="1"/>
            <a:r>
              <a:rPr lang="en-US" dirty="0"/>
              <a:t>The remaining pairs are denoted by set </a:t>
            </a:r>
            <a:r>
              <a:rPr lang="en-US" i="1" dirty="0"/>
              <a:t>Q</a:t>
            </a:r>
            <a:r>
              <a:rPr lang="en-US" dirty="0"/>
              <a:t>. </a:t>
            </a:r>
            <a:endParaRPr lang="en-US" dirty="0" smtClean="0"/>
          </a:p>
          <a:p>
            <a:pPr marL="4572" lvl="1" indent="0">
              <a:buNone/>
            </a:pPr>
            <a:r>
              <a:rPr lang="en-US" dirty="0" smtClean="0"/>
              <a:t>The </a:t>
            </a:r>
            <a:r>
              <a:rPr lang="en-US" dirty="0"/>
              <a:t>average </a:t>
            </a:r>
            <a:r>
              <a:rPr lang="en-US" dirty="0" err="1"/>
              <a:t>intercluster</a:t>
            </a:r>
            <a:r>
              <a:rPr lang="en-US" dirty="0"/>
              <a:t> distance </a:t>
            </a:r>
            <a:r>
              <a:rPr lang="en-US" dirty="0" smtClean="0"/>
              <a:t>and </a:t>
            </a:r>
            <a:r>
              <a:rPr lang="en-US" dirty="0" err="1" smtClean="0"/>
              <a:t>intracluster</a:t>
            </a:r>
            <a:r>
              <a:rPr lang="en-US" dirty="0" smtClean="0"/>
              <a:t> </a:t>
            </a:r>
            <a:r>
              <a:rPr lang="en-US" dirty="0"/>
              <a:t>distance are defined as follows</a:t>
            </a:r>
            <a:r>
              <a:rPr lang="en-US" dirty="0" smtClean="0"/>
              <a:t>: </a:t>
            </a:r>
          </a:p>
          <a:p>
            <a:pPr marL="4572" lvl="1" indent="0">
              <a:buNone/>
            </a:pPr>
            <a:endParaRPr lang="en-US" dirty="0"/>
          </a:p>
          <a:p>
            <a:pPr marL="4572" lvl="1" indent="0">
              <a:buNone/>
            </a:pPr>
            <a:endParaRPr lang="en-US" dirty="0" smtClean="0"/>
          </a:p>
          <a:p>
            <a:pPr marL="4572" lvl="1" indent="0">
              <a:buNone/>
            </a:pPr>
            <a:endParaRPr lang="en-US" dirty="0"/>
          </a:p>
          <a:p>
            <a:pPr marL="4572" lvl="1" indent="0">
              <a:buNone/>
            </a:pPr>
            <a:endParaRPr lang="en-US" dirty="0" smtClean="0"/>
          </a:p>
          <a:p>
            <a:pPr marL="4572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Then </a:t>
            </a:r>
            <a:r>
              <a:rPr lang="en-US" dirty="0"/>
              <a:t>the ratio of the average </a:t>
            </a:r>
            <a:r>
              <a:rPr lang="en-US" dirty="0" err="1"/>
              <a:t>intracluster</a:t>
            </a:r>
            <a:r>
              <a:rPr lang="en-US" dirty="0"/>
              <a:t> distance to the </a:t>
            </a:r>
            <a:r>
              <a:rPr lang="en-US" dirty="0" err="1"/>
              <a:t>intercluster</a:t>
            </a:r>
            <a:r>
              <a:rPr lang="en-US" dirty="0"/>
              <a:t> distance is given</a:t>
            </a:r>
          </a:p>
          <a:p>
            <a:r>
              <a:rPr lang="en-US" dirty="0"/>
              <a:t>by </a:t>
            </a:r>
            <a:r>
              <a:rPr lang="en-US" i="1" dirty="0"/>
              <a:t>Intra/Inter</a:t>
            </a:r>
            <a:r>
              <a:rPr lang="en-US" dirty="0"/>
              <a:t>. Small values of this measure indicate better clustering behavior.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6898" y="3680648"/>
            <a:ext cx="3974021" cy="1743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604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Silhouette coefficient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</a:t>
            </a:r>
            <a:r>
              <a:rPr lang="en-US" i="1" dirty="0" err="1" smtClean="0"/>
              <a:t>Davg</a:t>
            </a:r>
            <a:r>
              <a:rPr lang="en-US" i="1" baseline="30000" dirty="0" err="1" smtClean="0"/>
              <a:t>in</a:t>
            </a:r>
            <a:r>
              <a:rPr lang="en-US" i="1" baseline="-25000" dirty="0" err="1" smtClean="0"/>
              <a:t>i</a:t>
            </a:r>
            <a:r>
              <a:rPr lang="en-US" i="1" baseline="-25000" dirty="0" smtClean="0"/>
              <a:t>  </a:t>
            </a:r>
            <a:r>
              <a:rPr lang="en-US" dirty="0" smtClean="0"/>
              <a:t>be </a:t>
            </a:r>
            <a:r>
              <a:rPr lang="en-US" dirty="0"/>
              <a:t>the average distance of </a:t>
            </a:r>
            <a:r>
              <a:rPr lang="en-US" i="1" dirty="0"/>
              <a:t>X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to data points </a:t>
            </a:r>
            <a:r>
              <a:rPr lang="en-US" i="1" dirty="0" smtClean="0"/>
              <a:t>within </a:t>
            </a:r>
            <a:r>
              <a:rPr lang="en-US" dirty="0" smtClean="0"/>
              <a:t>the </a:t>
            </a:r>
            <a:r>
              <a:rPr lang="en-US" dirty="0"/>
              <a:t>cluster of </a:t>
            </a:r>
            <a:r>
              <a:rPr lang="en-US" i="1" dirty="0"/>
              <a:t>X</a:t>
            </a:r>
            <a:r>
              <a:rPr lang="en-US" i="1" baseline="-25000" dirty="0"/>
              <a:t>i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average distance of data point </a:t>
            </a:r>
            <a:r>
              <a:rPr lang="en-US" i="1" dirty="0"/>
              <a:t>X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to the points in each </a:t>
            </a:r>
            <a:r>
              <a:rPr lang="en-US" dirty="0" smtClean="0"/>
              <a:t>cluster (</a:t>
            </a:r>
            <a:r>
              <a:rPr lang="en-US" dirty="0"/>
              <a:t>other than its own) is also computed. </a:t>
            </a:r>
            <a:endParaRPr lang="en-US" dirty="0" smtClean="0"/>
          </a:p>
          <a:p>
            <a:r>
              <a:rPr lang="en-US" dirty="0" smtClean="0"/>
              <a:t>Let </a:t>
            </a:r>
            <a:r>
              <a:rPr lang="en-US" i="1" dirty="0" err="1" smtClean="0"/>
              <a:t>Dmin</a:t>
            </a:r>
            <a:r>
              <a:rPr lang="en-US" i="1" baseline="30000" dirty="0" err="1" smtClean="0"/>
              <a:t>out</a:t>
            </a:r>
            <a:r>
              <a:rPr lang="en-US" i="1" baseline="-25000" dirty="0" err="1" smtClean="0"/>
              <a:t>i</a:t>
            </a:r>
            <a:r>
              <a:rPr lang="en-US" i="1" baseline="-25000" dirty="0"/>
              <a:t> </a:t>
            </a:r>
            <a:r>
              <a:rPr lang="en-US" dirty="0" smtClean="0"/>
              <a:t>represent </a:t>
            </a:r>
            <a:r>
              <a:rPr lang="en-US" dirty="0"/>
              <a:t>the minimum of </a:t>
            </a:r>
            <a:r>
              <a:rPr lang="en-US" dirty="0" smtClean="0"/>
              <a:t>these </a:t>
            </a:r>
            <a:r>
              <a:rPr lang="en-US" dirty="0"/>
              <a:t>(average) distances, over the other clusters. Then, the silhouette coefficient </a:t>
            </a:r>
            <a:r>
              <a:rPr lang="en-US" i="1" dirty="0"/>
              <a:t>S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i="1" dirty="0" smtClean="0"/>
              <a:t>specific to </a:t>
            </a:r>
            <a:r>
              <a:rPr lang="en-US" i="1" dirty="0"/>
              <a:t>the </a:t>
            </a:r>
            <a:r>
              <a:rPr lang="en-US" i="1" dirty="0" err="1"/>
              <a:t>i</a:t>
            </a:r>
            <a:r>
              <a:rPr lang="en-US" i="1" baseline="30000" dirty="0" err="1"/>
              <a:t>th</a:t>
            </a:r>
            <a:r>
              <a:rPr lang="en-US" i="1" dirty="0"/>
              <a:t> object</a:t>
            </a:r>
            <a:r>
              <a:rPr lang="en-US" dirty="0"/>
              <a:t>, is as follows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silhouette coefficient will be drawn from the range (</a:t>
            </a:r>
            <a:r>
              <a:rPr lang="en-US" i="1" dirty="0"/>
              <a:t>−</a:t>
            </a:r>
            <a:r>
              <a:rPr lang="en-US" dirty="0"/>
              <a:t>1</a:t>
            </a:r>
            <a:r>
              <a:rPr lang="en-US" i="1" dirty="0"/>
              <a:t>, </a:t>
            </a:r>
            <a:r>
              <a:rPr lang="en-US" dirty="0"/>
              <a:t>1). </a:t>
            </a:r>
            <a:endParaRPr lang="en-US" dirty="0" smtClean="0"/>
          </a:p>
          <a:p>
            <a:r>
              <a:rPr lang="en-US" dirty="0" smtClean="0"/>
              <a:t>Large </a:t>
            </a:r>
            <a:r>
              <a:rPr lang="en-US" dirty="0"/>
              <a:t>positive </a:t>
            </a:r>
            <a:r>
              <a:rPr lang="en-US" dirty="0" smtClean="0"/>
              <a:t>values indicate </a:t>
            </a:r>
            <a:r>
              <a:rPr lang="en-US" dirty="0"/>
              <a:t>highly separated clustering, and negative values are indicative of some </a:t>
            </a:r>
            <a:r>
              <a:rPr lang="en-US" dirty="0" smtClean="0"/>
              <a:t>level of </a:t>
            </a:r>
            <a:r>
              <a:rPr lang="en-US" dirty="0"/>
              <a:t>“mixing” of data points from different clusters.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121" y="3604149"/>
            <a:ext cx="3387690" cy="85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9096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External Validation Criteria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69" y="1903550"/>
            <a:ext cx="12107531" cy="3170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44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Outlier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i="1" dirty="0"/>
              <a:t>An outlier is an observation which deviates so much from the other observations as to</a:t>
            </a:r>
          </a:p>
          <a:p>
            <a:r>
              <a:rPr lang="en-US" i="1" dirty="0"/>
              <a:t>arouse suspicions that it was generated by a different mechanism</a:t>
            </a:r>
            <a:r>
              <a:rPr lang="en-US" i="1" dirty="0" smtClean="0"/>
              <a:t>.</a:t>
            </a:r>
            <a:r>
              <a:rPr lang="en-US" dirty="0" smtClean="0"/>
              <a:t>”</a:t>
            </a:r>
          </a:p>
          <a:p>
            <a:endParaRPr lang="en-US" dirty="0"/>
          </a:p>
          <a:p>
            <a:r>
              <a:rPr lang="en-US" dirty="0"/>
              <a:t>Outliers can be viewed as a complementary concept to that of clusters. </a:t>
            </a:r>
            <a:endParaRPr lang="en-US" dirty="0" smtClean="0"/>
          </a:p>
          <a:p>
            <a:r>
              <a:rPr lang="en-US" dirty="0" smtClean="0"/>
              <a:t>Outliers </a:t>
            </a:r>
            <a:r>
              <a:rPr lang="en-US" dirty="0"/>
              <a:t>are also referred to as </a:t>
            </a:r>
            <a:r>
              <a:rPr lang="en-US" i="1" dirty="0"/>
              <a:t>abnormalities</a:t>
            </a:r>
            <a:r>
              <a:rPr lang="en-US" dirty="0" smtClean="0"/>
              <a:t>, </a:t>
            </a:r>
            <a:r>
              <a:rPr lang="en-US" i="1" dirty="0" err="1" smtClean="0"/>
              <a:t>discordants</a:t>
            </a:r>
            <a:r>
              <a:rPr lang="en-US" dirty="0"/>
              <a:t>, </a:t>
            </a:r>
            <a:r>
              <a:rPr lang="en-US" i="1" dirty="0"/>
              <a:t>deviants</a:t>
            </a:r>
            <a:r>
              <a:rPr lang="en-US" dirty="0"/>
              <a:t>, or </a:t>
            </a:r>
            <a:r>
              <a:rPr lang="en-US" i="1" dirty="0"/>
              <a:t>anomalies </a:t>
            </a:r>
            <a:r>
              <a:rPr lang="en-US" dirty="0"/>
              <a:t>in the data mining and statistics literature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Applications: </a:t>
            </a:r>
          </a:p>
          <a:p>
            <a:r>
              <a:rPr lang="en-US" dirty="0" smtClean="0"/>
              <a:t>Credit card fraud</a:t>
            </a:r>
          </a:p>
          <a:p>
            <a:r>
              <a:rPr lang="en-US" dirty="0" smtClean="0"/>
              <a:t>Network Intrusion detection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8566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Most outlier detection methods create a model of normal patterns. Examples of such models</a:t>
            </a:r>
          </a:p>
          <a:p>
            <a:r>
              <a:rPr lang="en-US" dirty="0"/>
              <a:t>include clustering, distance-based quantification, or dimensionality reduction</a:t>
            </a:r>
            <a:r>
              <a:rPr lang="en-US" dirty="0" smtClean="0"/>
              <a:t>.</a:t>
            </a:r>
          </a:p>
          <a:p>
            <a:r>
              <a:rPr lang="en-US" dirty="0"/>
              <a:t>Consequently</a:t>
            </a:r>
            <a:r>
              <a:rPr lang="en-US" dirty="0" smtClean="0"/>
              <a:t>, most </a:t>
            </a:r>
            <a:r>
              <a:rPr lang="en-US" dirty="0"/>
              <a:t>outlier detection algorithms produce an output that can be one of two types:</a:t>
            </a:r>
          </a:p>
          <a:p>
            <a:r>
              <a:rPr lang="en-US" dirty="0"/>
              <a:t>1. </a:t>
            </a:r>
            <a:r>
              <a:rPr lang="en-US" i="1" dirty="0"/>
              <a:t>Real-valued outlier score: </a:t>
            </a:r>
            <a:r>
              <a:rPr lang="en-US" dirty="0"/>
              <a:t>Such a score quantifies the tendency for a data point </a:t>
            </a:r>
            <a:r>
              <a:rPr lang="en-US" dirty="0" smtClean="0"/>
              <a:t>to be </a:t>
            </a:r>
            <a:r>
              <a:rPr lang="en-US" dirty="0"/>
              <a:t>considered an outlier. Higher values of the score make it more (or, in some cases</a:t>
            </a:r>
            <a:r>
              <a:rPr lang="en-US" dirty="0" smtClean="0"/>
              <a:t>, less</a:t>
            </a:r>
            <a:r>
              <a:rPr lang="en-US" dirty="0"/>
              <a:t>) likely that a given data point is an outlier. Some algorithms may even output </a:t>
            </a:r>
            <a:r>
              <a:rPr lang="en-US" dirty="0" smtClean="0"/>
              <a:t>a probability </a:t>
            </a:r>
            <a:r>
              <a:rPr lang="en-US" dirty="0"/>
              <a:t>value quantifying the likelihood that a given data point is an outlier.</a:t>
            </a:r>
          </a:p>
          <a:p>
            <a:r>
              <a:rPr lang="en-US" dirty="0"/>
              <a:t>2. </a:t>
            </a:r>
            <a:r>
              <a:rPr lang="en-US" i="1" dirty="0"/>
              <a:t>Binary label: </a:t>
            </a:r>
            <a:r>
              <a:rPr lang="en-US" dirty="0"/>
              <a:t>A binary value is output, indicating whether or not a data point is </a:t>
            </a:r>
            <a:r>
              <a:rPr lang="en-US" dirty="0" smtClean="0"/>
              <a:t>an outlier</a:t>
            </a:r>
            <a:r>
              <a:rPr lang="en-US" dirty="0"/>
              <a:t>. This type of output contains less information than the first one because </a:t>
            </a:r>
            <a:r>
              <a:rPr lang="en-US" dirty="0" smtClean="0"/>
              <a:t>a threshold </a:t>
            </a:r>
            <a:r>
              <a:rPr lang="en-US" dirty="0"/>
              <a:t>can be imposed on the outlier scores to convert them into binary labels</a:t>
            </a:r>
            <a:r>
              <a:rPr lang="en-US" dirty="0" smtClean="0"/>
              <a:t>. However</a:t>
            </a:r>
            <a:r>
              <a:rPr lang="en-US" dirty="0"/>
              <a:t>, the reverse is not possible. Therefore, outlier scores are more general </a:t>
            </a:r>
            <a:r>
              <a:rPr lang="en-US" dirty="0" smtClean="0"/>
              <a:t>than binary </a:t>
            </a:r>
            <a:r>
              <a:rPr lang="en-US" dirty="0"/>
              <a:t>labels. Nevertheless, a binary score is required as the end result in most </a:t>
            </a:r>
            <a:r>
              <a:rPr lang="en-US" dirty="0" smtClean="0"/>
              <a:t>applications because </a:t>
            </a:r>
            <a:r>
              <a:rPr lang="en-US" dirty="0"/>
              <a:t>it provides a crisp decision.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6829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Models for Outlier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1. </a:t>
            </a:r>
            <a:r>
              <a:rPr lang="en-US" i="1" dirty="0"/>
              <a:t>Extreme </a:t>
            </a:r>
            <a:r>
              <a:rPr lang="en-US" i="1" dirty="0" smtClean="0"/>
              <a:t>values: </a:t>
            </a:r>
            <a:r>
              <a:rPr lang="en-US" dirty="0"/>
              <a:t>A data point is an extreme value, if it lies at one of the two ends of </a:t>
            </a:r>
            <a:r>
              <a:rPr lang="en-US" dirty="0" smtClean="0"/>
              <a:t>a probability distribution. </a:t>
            </a:r>
            <a:r>
              <a:rPr lang="en-US" dirty="0"/>
              <a:t>These are very </a:t>
            </a:r>
            <a:r>
              <a:rPr lang="en-US" i="1" dirty="0"/>
              <a:t>specialized </a:t>
            </a:r>
            <a:r>
              <a:rPr lang="en-US" dirty="0"/>
              <a:t>types of outliers but are useful in general outlier </a:t>
            </a:r>
            <a:r>
              <a:rPr lang="en-US" dirty="0" smtClean="0"/>
              <a:t>analysis because </a:t>
            </a:r>
            <a:r>
              <a:rPr lang="en-US" dirty="0"/>
              <a:t>of their utility in converting scores to labels</a:t>
            </a:r>
            <a:r>
              <a:rPr lang="en-US" dirty="0" smtClean="0"/>
              <a:t>.</a:t>
            </a:r>
          </a:p>
          <a:p>
            <a:r>
              <a:rPr lang="en-US" dirty="0" smtClean="0"/>
              <a:t>2. </a:t>
            </a:r>
            <a:r>
              <a:rPr lang="en-US" i="1" dirty="0"/>
              <a:t>Clustering models</a:t>
            </a:r>
            <a:r>
              <a:rPr lang="en-US" i="1" dirty="0" smtClean="0"/>
              <a:t>: </a:t>
            </a:r>
            <a:r>
              <a:rPr lang="en-US" dirty="0"/>
              <a:t>It is </a:t>
            </a:r>
            <a:r>
              <a:rPr lang="en-US" dirty="0" smtClean="0"/>
              <a:t>also possible </a:t>
            </a:r>
            <a:r>
              <a:rPr lang="en-US" dirty="0"/>
              <a:t>to optimize clustering models to specifically detect outliers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3. </a:t>
            </a:r>
            <a:r>
              <a:rPr lang="en-US" i="1" dirty="0"/>
              <a:t>Distance-based models</a:t>
            </a:r>
            <a:r>
              <a:rPr lang="en-US" i="1" dirty="0" smtClean="0"/>
              <a:t>: </a:t>
            </a:r>
            <a:r>
              <a:rPr lang="en-US" dirty="0"/>
              <a:t>Intuitively, a data point is </a:t>
            </a:r>
            <a:r>
              <a:rPr lang="en-US" dirty="0" smtClean="0"/>
              <a:t>an outlier</a:t>
            </a:r>
            <a:r>
              <a:rPr lang="en-US" dirty="0"/>
              <a:t>, if </a:t>
            </a:r>
            <a:r>
              <a:rPr lang="en-US" dirty="0" smtClean="0"/>
              <a:t>let’s say its </a:t>
            </a:r>
            <a:r>
              <a:rPr lang="en-US" i="1" dirty="0"/>
              <a:t>k</a:t>
            </a:r>
            <a:r>
              <a:rPr lang="en-US" dirty="0"/>
              <a:t>-nearest neighbor distance is much larger than that of other data points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4. </a:t>
            </a:r>
            <a:r>
              <a:rPr lang="en-US" i="1" dirty="0"/>
              <a:t>Density-based models: </a:t>
            </a:r>
            <a:r>
              <a:rPr lang="en-US" dirty="0"/>
              <a:t>In these models, the local density of a data point is used </a:t>
            </a:r>
            <a:r>
              <a:rPr lang="en-US" dirty="0" smtClean="0"/>
              <a:t>to define </a:t>
            </a:r>
            <a:r>
              <a:rPr lang="en-US" dirty="0"/>
              <a:t>its outlier score</a:t>
            </a:r>
            <a:r>
              <a:rPr lang="en-US" dirty="0" smtClean="0"/>
              <a:t>.</a:t>
            </a:r>
          </a:p>
          <a:p>
            <a:r>
              <a:rPr lang="en-US" dirty="0" smtClean="0"/>
              <a:t>5. Probabilistic Models: </a:t>
            </a: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probabilistic fit values are used to quantify the outlier scores of</a:t>
            </a:r>
          </a:p>
          <a:p>
            <a:r>
              <a:rPr lang="en-US" dirty="0"/>
              <a:t>data </a:t>
            </a:r>
            <a:r>
              <a:rPr lang="en-US" dirty="0" smtClean="0"/>
              <a:t>points</a:t>
            </a:r>
          </a:p>
          <a:p>
            <a:r>
              <a:rPr lang="en-US" dirty="0" smtClean="0"/>
              <a:t>6. Information Theoretic Models: These </a:t>
            </a:r>
            <a:r>
              <a:rPr lang="en-US" dirty="0"/>
              <a:t>constrain the maximum deviation allowed from the</a:t>
            </a:r>
          </a:p>
          <a:p>
            <a:r>
              <a:rPr lang="en-US" dirty="0"/>
              <a:t>normal model and then examine the difference in space requirements for </a:t>
            </a:r>
            <a:r>
              <a:rPr lang="en-US" dirty="0" smtClean="0"/>
              <a:t>constructing a </a:t>
            </a:r>
            <a:r>
              <a:rPr lang="en-US" dirty="0"/>
              <a:t>model with or without a specific data point. If the difference is large, then this </a:t>
            </a:r>
            <a:r>
              <a:rPr lang="en-US" dirty="0" smtClean="0"/>
              <a:t>point is </a:t>
            </a:r>
            <a:r>
              <a:rPr lang="en-US" dirty="0"/>
              <a:t>reported as an outlier.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4099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Resources: Textbook Data Mining by </a:t>
            </a:r>
            <a:r>
              <a:rPr lang="en-US" dirty="0" err="1" smtClean="0"/>
              <a:t>Charu</a:t>
            </a:r>
            <a:r>
              <a:rPr lang="en-US" dirty="0" smtClean="0"/>
              <a:t> C. Agarwa</a:t>
            </a:r>
            <a:r>
              <a:rPr lang="en-US" dirty="0"/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147869790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5331</TotalTime>
  <Words>2086</Words>
  <Application>Microsoft Office PowerPoint</Application>
  <PresentationFormat>Widescreen</PresentationFormat>
  <Paragraphs>163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SimSun</vt:lpstr>
      <vt:lpstr>Arial</vt:lpstr>
      <vt:lpstr>Calibri</vt:lpstr>
      <vt:lpstr>Calibri Light</vt:lpstr>
      <vt:lpstr>Times New Roman</vt:lpstr>
      <vt:lpstr>Wingdings</vt:lpstr>
      <vt:lpstr>Metropolitan</vt:lpstr>
      <vt:lpstr>Clustering –Part 2</vt:lpstr>
      <vt:lpstr>Grid based and Density based clustering</vt:lpstr>
      <vt:lpstr>PowerPoint Presentation</vt:lpstr>
      <vt:lpstr>Grid-based methods</vt:lpstr>
      <vt:lpstr>PowerPoint Presentation</vt:lpstr>
      <vt:lpstr>Grid-based Clustering Algorithms</vt:lpstr>
      <vt:lpstr>PowerPoint Presentation</vt:lpstr>
      <vt:lpstr>CLIQUE (Clustering in Quest)</vt:lpstr>
      <vt:lpstr>Density-based Methods</vt:lpstr>
      <vt:lpstr>Density-based clustering (DBSCAN)</vt:lpstr>
      <vt:lpstr>PowerPoint Presentation</vt:lpstr>
      <vt:lpstr>PowerPoint Presentation</vt:lpstr>
      <vt:lpstr>PowerPoint Presentation</vt:lpstr>
      <vt:lpstr>PowerPoint Presentation</vt:lpstr>
      <vt:lpstr>Cluster Validation</vt:lpstr>
      <vt:lpstr>Internal Validation Criteria</vt:lpstr>
      <vt:lpstr>Sum of square distances to centroids</vt:lpstr>
      <vt:lpstr>Intracluster to intercluster distance ratio</vt:lpstr>
      <vt:lpstr>Silhouette coefficient</vt:lpstr>
      <vt:lpstr>External Validation Criteria</vt:lpstr>
      <vt:lpstr>Outlier Analysis</vt:lpstr>
      <vt:lpstr>PowerPoint Presentation</vt:lpstr>
      <vt:lpstr>Key Models for Outlier Analysis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Clustering –Part 2</dc:title>
  <dc:creator>Dolly Sharma</dc:creator>
  <cp:lastModifiedBy>Dolly Sharma</cp:lastModifiedBy>
  <cp:revision>29</cp:revision>
  <dcterms:created xsi:type="dcterms:W3CDTF">2020-03-19T16:27:13Z</dcterms:created>
  <dcterms:modified xsi:type="dcterms:W3CDTF">2020-03-23T09:35:07Z</dcterms:modified>
</cp:coreProperties>
</file>