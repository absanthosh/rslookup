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notesMasterIdLst>
    <p:notesMasterId r:id="rId38"/>
  </p:notesMasterIdLst>
  <p:handoutMasterIdLst>
    <p:handoutMasterId r:id="rId39"/>
  </p:handoutMasterIdLst>
  <p:sldIdLst>
    <p:sldId id="260" r:id="rId2"/>
    <p:sldId id="420" r:id="rId3"/>
    <p:sldId id="419" r:id="rId4"/>
    <p:sldId id="375" r:id="rId5"/>
    <p:sldId id="376" r:id="rId6"/>
    <p:sldId id="389" r:id="rId7"/>
    <p:sldId id="377" r:id="rId8"/>
    <p:sldId id="390" r:id="rId9"/>
    <p:sldId id="391" r:id="rId10"/>
    <p:sldId id="378" r:id="rId11"/>
    <p:sldId id="379" r:id="rId12"/>
    <p:sldId id="380" r:id="rId13"/>
    <p:sldId id="381" r:id="rId14"/>
    <p:sldId id="384" r:id="rId15"/>
    <p:sldId id="385" r:id="rId16"/>
    <p:sldId id="392" r:id="rId17"/>
    <p:sldId id="393" r:id="rId18"/>
    <p:sldId id="349" r:id="rId19"/>
    <p:sldId id="387" r:id="rId20"/>
    <p:sldId id="269" r:id="rId21"/>
    <p:sldId id="350" r:id="rId22"/>
    <p:sldId id="439" r:id="rId23"/>
    <p:sldId id="352" r:id="rId24"/>
    <p:sldId id="351" r:id="rId25"/>
    <p:sldId id="423" r:id="rId26"/>
    <p:sldId id="424" r:id="rId27"/>
    <p:sldId id="428" r:id="rId28"/>
    <p:sldId id="425" r:id="rId29"/>
    <p:sldId id="426" r:id="rId30"/>
    <p:sldId id="358" r:id="rId31"/>
    <p:sldId id="274" r:id="rId32"/>
    <p:sldId id="430" r:id="rId33"/>
    <p:sldId id="431" r:id="rId34"/>
    <p:sldId id="432" r:id="rId35"/>
    <p:sldId id="433" r:id="rId36"/>
    <p:sldId id="403" r:id="rId37"/>
  </p:sldIdLst>
  <p:sldSz cx="9144000" cy="6858000" type="screen4x3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CC66"/>
    <a:srgbClr val="DDDDDD"/>
    <a:srgbClr val="B2B2B2"/>
    <a:srgbClr val="FFFF66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6" autoAdjust="0"/>
    <p:restoredTop sz="94710" autoAdjust="0"/>
  </p:normalViewPr>
  <p:slideViewPr>
    <p:cSldViewPr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4.xml"/><Relationship Id="rId3" Type="http://schemas.openxmlformats.org/officeDocument/2006/relationships/slide" Target="slides/slide9.xml"/><Relationship Id="rId7" Type="http://schemas.openxmlformats.org/officeDocument/2006/relationships/slide" Target="slides/slide23.xml"/><Relationship Id="rId2" Type="http://schemas.openxmlformats.org/officeDocument/2006/relationships/slide" Target="slides/slide8.xml"/><Relationship Id="rId1" Type="http://schemas.openxmlformats.org/officeDocument/2006/relationships/slide" Target="slides/slide6.xml"/><Relationship Id="rId6" Type="http://schemas.openxmlformats.org/officeDocument/2006/relationships/slide" Target="slides/slide20.xml"/><Relationship Id="rId11" Type="http://schemas.openxmlformats.org/officeDocument/2006/relationships/slide" Target="slides/slide36.xml"/><Relationship Id="rId5" Type="http://schemas.openxmlformats.org/officeDocument/2006/relationships/slide" Target="slides/slide18.xml"/><Relationship Id="rId10" Type="http://schemas.openxmlformats.org/officeDocument/2006/relationships/slide" Target="slides/slide31.xml"/><Relationship Id="rId4" Type="http://schemas.openxmlformats.org/officeDocument/2006/relationships/slide" Target="slides/slide17.xml"/><Relationship Id="rId9" Type="http://schemas.openxmlformats.org/officeDocument/2006/relationships/slide" Target="slides/slide3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.emf"/><Relationship Id="rId4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4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t" anchorCtr="0" compatLnSpc="1">
            <a:prstTxWarp prst="textNoShape">
              <a:avLst/>
            </a:prstTxWarp>
          </a:bodyPr>
          <a:lstStyle>
            <a:lvl1pPr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012" y="1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t" anchorCtr="0" compatLnSpc="1">
            <a:prstTxWarp prst="textNoShape">
              <a:avLst/>
            </a:prstTxWarp>
          </a:bodyPr>
          <a:lstStyle>
            <a:lvl1pPr algn="r"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723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b" anchorCtr="0" compatLnSpc="1">
            <a:prstTxWarp prst="textNoShape">
              <a:avLst/>
            </a:prstTxWarp>
          </a:bodyPr>
          <a:lstStyle>
            <a:lvl1pPr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012" y="8842723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b" anchorCtr="0" compatLnSpc="1">
            <a:prstTxWarp prst="textNoShape">
              <a:avLst/>
            </a:prstTxWarp>
          </a:bodyPr>
          <a:lstStyle>
            <a:lvl1pPr algn="r"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378E7FE-A04D-4D91-8BAD-9E524B6F27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t" anchorCtr="0" compatLnSpc="1">
            <a:prstTxWarp prst="textNoShape">
              <a:avLst/>
            </a:prstTxWarp>
          </a:bodyPr>
          <a:lstStyle>
            <a:lvl1pPr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5012" y="1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t" anchorCtr="0" compatLnSpc="1">
            <a:prstTxWarp prst="textNoShape">
              <a:avLst/>
            </a:prstTxWarp>
          </a:bodyPr>
          <a:lstStyle>
            <a:lvl1pPr algn="r"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698500"/>
            <a:ext cx="4652963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5633" y="4422131"/>
            <a:ext cx="5641998" cy="418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5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723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b" anchorCtr="0" compatLnSpc="1">
            <a:prstTxWarp prst="textNoShape">
              <a:avLst/>
            </a:prstTxWarp>
          </a:bodyPr>
          <a:lstStyle>
            <a:lvl1pPr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012" y="8842723"/>
            <a:ext cx="3056721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491" tIns="46746" rIns="93491" bIns="46746" numCol="1" anchor="b" anchorCtr="0" compatLnSpc="1">
            <a:prstTxWarp prst="textNoShape">
              <a:avLst/>
            </a:prstTxWarp>
          </a:bodyPr>
          <a:lstStyle>
            <a:lvl1pPr algn="r" defTabSz="935077" eaLnBrk="1" hangingPunct="1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4CBE45-E4BC-4071-8827-F05ABEA8D2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677A3DB-74FD-46BE-916C-4F580E5BC588}" type="slidenum">
              <a:rPr lang="en-US" altLang="en-US" sz="1300">
                <a:latin typeface="Arial" panose="020B0604020202020204" pitchFamily="34" charset="0"/>
              </a:rPr>
              <a:pPr/>
              <a:t>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08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18581" indent="-276377" defTabSz="89208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05510" indent="-221102" defTabSz="89208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547713" indent="-221102" defTabSz="89208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89917" indent="-221102" defTabSz="89208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432121" indent="-221102" defTabSz="89208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874325" indent="-221102" defTabSz="89208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316529" indent="-221102" defTabSz="89208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758733" indent="-221102" defTabSz="89208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>
              <a:spcBef>
                <a:spcPct val="0"/>
              </a:spcBef>
            </a:pPr>
            <a:fld id="{57701449-59FF-4B46-B792-66BD1B3AA327}" type="slidenum">
              <a:rPr lang="en-US" altLang="en-US" smtClean="0">
                <a:latin typeface="Times New Roman" panose="02020603050405020304" pitchFamily="18" charset="0"/>
              </a:rPr>
              <a:pPr eaLnBrk="0" hangingPunct="0">
                <a:spcBef>
                  <a:spcPct val="0"/>
                </a:spcBef>
              </a:pPr>
              <a:t>2</a:t>
            </a:fld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DAA1451-78AB-40DD-88B5-7187CFDD26FC}" type="slidenum">
              <a:rPr lang="en-US" altLang="en-US" sz="1300">
                <a:latin typeface="Arial" panose="020B0604020202020204" pitchFamily="34" charset="0"/>
              </a:rPr>
              <a:pPr/>
              <a:t>4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66EB764-87AF-45C7-879D-135161A5F5F7}" type="slidenum">
              <a:rPr lang="en-US" altLang="en-US" sz="1300">
                <a:latin typeface="Arial" panose="020B0604020202020204" pitchFamily="34" charset="0"/>
              </a:rPr>
              <a:pPr/>
              <a:t>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6C8105D-9CB1-4BEF-B449-A0F88EFD42D0}" type="slidenum">
              <a:rPr lang="en-US" altLang="en-US" sz="1300">
                <a:latin typeface="Arial" panose="020B0604020202020204" pitchFamily="34" charset="0"/>
              </a:rPr>
              <a:pPr/>
              <a:t>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E137C86-A633-4C07-A931-BCF30AFA6CFB}" type="slidenum">
              <a:rPr lang="en-US" altLang="en-US" sz="1300">
                <a:latin typeface="Arial" panose="020B0604020202020204" pitchFamily="34" charset="0"/>
              </a:rPr>
              <a:pPr/>
              <a:t>7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240F754-7D04-45E0-9500-0895AD3896F0}" type="slidenum">
              <a:rPr lang="en-US" altLang="en-US" sz="1300">
                <a:latin typeface="Arial" panose="020B0604020202020204" pitchFamily="34" charset="0"/>
              </a:rPr>
              <a:pPr/>
              <a:t>8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67C3D6E-96E4-4890-9D4F-0A43CB475027}" type="slidenum">
              <a:rPr lang="en-US" altLang="en-US" sz="1300">
                <a:latin typeface="Arial" panose="020B0604020202020204" pitchFamily="34" charset="0"/>
              </a:rPr>
              <a:pPr/>
              <a:t>9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9C0B85E-21C5-4B25-850F-071C3B5C72EC}" type="slidenum">
              <a:rPr lang="en-US" altLang="en-US" sz="1300">
                <a:latin typeface="Arial" panose="020B0604020202020204" pitchFamily="34" charset="0"/>
              </a:rPr>
              <a:pPr/>
              <a:t>10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03F3A57-4695-45C2-AFB5-C30F6D803F4B}" type="slidenum">
              <a:rPr lang="en-US" altLang="en-US" sz="1300">
                <a:latin typeface="Arial" panose="020B0604020202020204" pitchFamily="34" charset="0"/>
              </a:rPr>
              <a:pPr/>
              <a:t>11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F75A08D-563F-436E-9649-06D412ABD2D9}" type="slidenum">
              <a:rPr lang="en-US" altLang="en-US" sz="1300">
                <a:latin typeface="Arial" panose="020B0604020202020204" pitchFamily="34" charset="0"/>
              </a:rPr>
              <a:pPr/>
              <a:t>12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342CB26-3CE0-4D0D-8E33-E063A1EF581C}" type="slidenum">
              <a:rPr lang="en-US" altLang="en-US" sz="1300">
                <a:latin typeface="Arial" panose="020B0604020202020204" pitchFamily="34" charset="0"/>
              </a:rPr>
              <a:pPr/>
              <a:t>13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0DFC820-AFCB-4CDB-B7DC-BA187EFC02A2}" type="slidenum">
              <a:rPr lang="en-US" altLang="en-US" sz="1300">
                <a:latin typeface="Arial" panose="020B0604020202020204" pitchFamily="34" charset="0"/>
              </a:rPr>
              <a:pPr/>
              <a:t>14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BC9AB98-A716-4CCB-B195-3733229DFC0D}" type="slidenum">
              <a:rPr lang="en-US" altLang="en-US" sz="1300">
                <a:latin typeface="Arial" panose="020B0604020202020204" pitchFamily="34" charset="0"/>
              </a:rPr>
              <a:pPr/>
              <a:t>15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DEE95B5-4BAD-4FA8-85F3-468B9A85F3C3}" type="slidenum">
              <a:rPr lang="en-US" altLang="en-US" sz="1300">
                <a:latin typeface="Arial" panose="020B0604020202020204" pitchFamily="34" charset="0"/>
              </a:rPr>
              <a:pPr/>
              <a:t>16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CA3E230-F47B-417D-BD2E-E6EBA0584115}" type="slidenum">
              <a:rPr lang="en-US" altLang="en-US" sz="1300">
                <a:latin typeface="Arial" panose="020B0604020202020204" pitchFamily="34" charset="0"/>
              </a:rPr>
              <a:pPr/>
              <a:t>17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B5F6B18-FA1B-4724-8103-987D657986BF}" type="slidenum">
              <a:rPr lang="en-US" altLang="en-US" sz="1300">
                <a:latin typeface="Arial" panose="020B0604020202020204" pitchFamily="34" charset="0"/>
              </a:rPr>
              <a:pPr/>
              <a:t>18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D65C628-ABA8-4233-A8BE-08BB4FE205E1}" type="slidenum">
              <a:rPr lang="en-US" altLang="en-US" sz="1300">
                <a:latin typeface="Arial" panose="020B0604020202020204" pitchFamily="34" charset="0"/>
              </a:rPr>
              <a:pPr/>
              <a:t>19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706438"/>
            <a:ext cx="4630738" cy="3475037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8293" y="4422131"/>
            <a:ext cx="5175148" cy="4186632"/>
          </a:xfrm>
          <a:noFill/>
        </p:spPr>
        <p:txBody>
          <a:bodyPr/>
          <a:lstStyle/>
          <a:p>
            <a:pPr defTabSz="932006"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DF52BA7-FF7E-4F63-B121-73AE7D7C63A2}" type="slidenum">
              <a:rPr lang="en-US" altLang="en-US" sz="1300">
                <a:latin typeface="Arial" panose="020B0604020202020204" pitchFamily="34" charset="0"/>
              </a:rPr>
              <a:pPr/>
              <a:t>20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25FB276-2169-4673-AE3D-BC4E979E87A8}" type="slidenum">
              <a:rPr lang="en-US" altLang="en-US" sz="1300">
                <a:latin typeface="Arial" panose="020B0604020202020204" pitchFamily="34" charset="0"/>
              </a:rPr>
              <a:pPr/>
              <a:t>21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8AC7589-7519-49FC-A4A9-6054A7318623}" type="slidenum">
              <a:rPr lang="en-US" altLang="en-US" sz="1300">
                <a:latin typeface="Arial" panose="020B0604020202020204" pitchFamily="34" charset="0"/>
              </a:rPr>
              <a:pPr/>
              <a:t>22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61524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1008F2B-901B-4F7F-8CD6-D77D696EC617}" type="slidenum">
              <a:rPr lang="en-US" altLang="en-US" sz="1300">
                <a:latin typeface="Arial" panose="020B0604020202020204" pitchFamily="34" charset="0"/>
              </a:rPr>
              <a:pPr/>
              <a:t>23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919DE57-3DDB-4D1F-BC9A-37BBE8323B17}" type="slidenum">
              <a:rPr lang="en-US" altLang="en-US" sz="1300">
                <a:latin typeface="Arial" panose="020B0604020202020204" pitchFamily="34" charset="0"/>
              </a:rPr>
              <a:pPr/>
              <a:t>24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455FDD-D411-4868-9D97-DBB052EC6DFA}" type="slidenum">
              <a:rPr lang="en-US" altLang="en-US" sz="1300">
                <a:latin typeface="Arial" panose="020B0604020202020204" pitchFamily="34" charset="0"/>
              </a:rPr>
              <a:pPr/>
              <a:t>30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DDEF9A1-2ED4-47B6-9755-F4E451021430}" type="slidenum">
              <a:rPr lang="en-US" altLang="en-US" sz="1300">
                <a:latin typeface="Arial" panose="020B0604020202020204" pitchFamily="34" charset="0"/>
              </a:rPr>
              <a:pPr/>
              <a:t>31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8581" indent="-276377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05510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547713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1989917" indent="-221102" defTabSz="935077"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432121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874325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316529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758733" indent="-221102" defTabSz="935077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366D366-21D2-4B2F-8234-B1FD5BB34A29}" type="slidenum">
              <a:rPr lang="en-US" altLang="en-US" sz="1300">
                <a:latin typeface="Arial" panose="020B0604020202020204" pitchFamily="34" charset="0"/>
              </a:rPr>
              <a:pPr/>
              <a:t>36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60C099-48AD-47DD-A91C-BF25CF25718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465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39A875-A424-4AD6-88C3-90C2C2EE2A1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461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1E3B4B-934C-443A-811D-F5E8A7715FB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90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EDDE7-9267-4523-9D3A-CB17DF573A4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42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9FD7B1-58E5-426C-9E8B-2686CCBF868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96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5F382-68CE-461F-B3CD-1119700F911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29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951D3F-9B5E-4FCC-83CE-85D06C45821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1615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5226C-288A-423C-B8F1-0557055648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2933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443C2-1E7A-4C57-AFD7-7DA0B97B95B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39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FE588F-8551-48D1-BB4D-1B9C94E25A9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5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25662C-022B-47F1-8B0A-E02D31BC76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209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70A6-5995-4808-B60D-E6C6F37C62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6251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47F62-13A5-46B9-A063-97B9233DD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8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A9FD7B1-58E5-426C-9E8B-2686CCBF868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73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6.w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3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18.emf"/><Relationship Id="rId18" Type="http://schemas.openxmlformats.org/officeDocument/2006/relationships/oleObject" Target="../embeddings/oleObject25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5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4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5" Type="http://schemas.openxmlformats.org/officeDocument/2006/relationships/image" Target="../media/image19.e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6.emf"/><Relationship Id="rId14" Type="http://schemas.openxmlformats.org/officeDocument/2006/relationships/oleObject" Target="../embeddings/oleObject2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20.emf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6.e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19.emf"/><Relationship Id="rId5" Type="http://schemas.openxmlformats.org/officeDocument/2006/relationships/image" Target="../media/image14.emf"/><Relationship Id="rId15" Type="http://schemas.openxmlformats.org/officeDocument/2006/relationships/image" Target="../media/image21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31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Mining Association Rules in Large Databases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Frequent Pattern Analysis?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31900"/>
            <a:ext cx="8686800" cy="5410200"/>
          </a:xfrm>
        </p:spPr>
        <p:txBody>
          <a:bodyPr rtlCol="0">
            <a:normAutofit lnSpcReduction="10000"/>
          </a:bodyPr>
          <a:lstStyle/>
          <a:p>
            <a:pPr marL="91440" indent="-9144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endParaRPr lang="en-US" altLang="en-US" dirty="0" smtClean="0">
              <a:solidFill>
                <a:schemeClr val="hlink"/>
              </a:solidFill>
            </a:endParaRPr>
          </a:p>
          <a:p>
            <a:pPr marL="91440" indent="-9144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hlink"/>
                </a:solidFill>
              </a:rPr>
              <a:t>Frequent pattern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: a pattern (a set of items, subsequences, substructures, etc.) that occurs frequently in a data set </a:t>
            </a:r>
          </a:p>
          <a:p>
            <a:pPr marL="91440" indent="-91440" eaLnBrk="1" fontAlgn="auto" hangingPunct="1">
              <a:lnSpc>
                <a:spcPct val="130000"/>
              </a:lnSpc>
              <a:spcAft>
                <a:spcPts val="0"/>
              </a:spcAft>
              <a:buSzPct val="80000"/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First proposed by Agrawal, </a:t>
            </a:r>
            <a:r>
              <a:rPr lang="en-US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Imielinski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and Swami [AIS93] in the context of </a:t>
            </a:r>
            <a:r>
              <a:rPr lang="en-US" altLang="en-US" dirty="0" smtClean="0">
                <a:solidFill>
                  <a:schemeClr val="hlink"/>
                </a:solidFill>
              </a:rPr>
              <a:t>frequent </a:t>
            </a:r>
            <a:r>
              <a:rPr lang="en-US" altLang="en-US" dirty="0" err="1" smtClean="0">
                <a:solidFill>
                  <a:schemeClr val="hlink"/>
                </a:solidFill>
              </a:rPr>
              <a:t>itemsets</a:t>
            </a: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altLang="en-US" dirty="0" smtClean="0">
                <a:solidFill>
                  <a:schemeClr val="hlink"/>
                </a:solidFill>
              </a:rPr>
              <a:t>association rule mining</a:t>
            </a:r>
          </a:p>
          <a:p>
            <a:pPr marL="91440" indent="-9144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Motivation: Finding inherent regularities in data</a:t>
            </a:r>
          </a:p>
          <a:p>
            <a:pPr marL="384048" lvl="1" indent="-18288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products were often purchased together?— ?!</a:t>
            </a:r>
          </a:p>
          <a:p>
            <a:pPr marL="384048" lvl="1" indent="-18288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the subsequent purchases after buying a PC?</a:t>
            </a:r>
          </a:p>
          <a:p>
            <a:pPr marL="384048" lvl="1" indent="-18288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kinds of DNA are sensitive to this new drug?</a:t>
            </a:r>
          </a:p>
          <a:p>
            <a:pPr marL="384048" lvl="1" indent="-182880" eaLnBrk="1" fontAlgn="auto" hangingPunct="1">
              <a:lnSpc>
                <a:spcPct val="130000"/>
              </a:lnSpc>
              <a:spcAft>
                <a:spcPts val="0"/>
              </a:spcAft>
              <a:defRPr/>
            </a:pPr>
            <a:r>
              <a:rPr lang="en-US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Can we automatically classify web documents?</a:t>
            </a:r>
          </a:p>
          <a:p>
            <a:pPr marL="91440" indent="-91440" eaLnBrk="1" fontAlgn="auto" hangingPunct="1">
              <a:lnSpc>
                <a:spcPct val="130000"/>
              </a:lnSpc>
              <a:spcAft>
                <a:spcPts val="0"/>
              </a:spcAft>
              <a:buSzPct val="80000"/>
              <a:defRPr/>
            </a:pPr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Applications</a:t>
            </a:r>
          </a:p>
          <a:p>
            <a:pPr marL="384048" lvl="1" indent="-182880" eaLnBrk="1" fontAlgn="auto" hangingPunct="1">
              <a:lnSpc>
                <a:spcPct val="130000"/>
              </a:lnSpc>
              <a:spcAft>
                <a:spcPts val="0"/>
              </a:spcAft>
              <a:buSzPct val="80000"/>
              <a:defRPr/>
            </a:pPr>
            <a:r>
              <a:rPr lang="en-US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Basket data analysis, cross-marketing, catalog design, sale campaign analysis, Web log (click stream) analysis, and DNA sequence analysis.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43307-8229-4521-8F93-ABC5F1CAF008}" type="slidenum">
              <a:rPr lang="en-US" altLang="en-US" sz="1200" smtClean="0"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 sz="120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How are Association rules mined from large datasets?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91440" indent="-91440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Find all frequent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itemsets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0" indent="0" eaLnBrk="1" fontAlgn="auto" hangingPunct="1">
              <a:spcAft>
                <a:spcPts val="0"/>
              </a:spcAft>
              <a:buFont typeface="Calibri" panose="020F0502020204030204" pitchFamily="34" charset="0"/>
              <a:buNone/>
              <a:defRPr/>
            </a:pP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Generate strong association rules from the frequent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itemsets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556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Association Rule Mining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318500" cy="1143000"/>
          </a:xfrm>
        </p:spPr>
        <p:txBody>
          <a:bodyPr>
            <a:normAutofit/>
          </a:bodyPr>
          <a:lstStyle/>
          <a:p>
            <a:pPr marL="292100" indent="-292100" eaLnBrk="1" hangingPunct="1"/>
            <a:r>
              <a:rPr lang="en-US" altLang="en-US" sz="2400" smtClean="0"/>
              <a:t>Given a set of transactions, find rules that will predict the occurrence of an item based on the occurrences of other items in the transaction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4800" y="2819400"/>
            <a:ext cx="419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C6D9C"/>
                </a:solidFill>
                <a:latin typeface="Arial" panose="020B0604020202020204" pitchFamily="34" charset="0"/>
              </a:rPr>
              <a:t>Market-Basket transactions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228600" y="3429000"/>
          <a:ext cx="4343400" cy="253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Document" r:id="rId4" imgW="3433292" imgH="1998228" progId="Word.Document.8">
                  <p:embed/>
                </p:oleObj>
              </mc:Choice>
              <mc:Fallback>
                <p:oleObj name="Document" r:id="rId4" imgW="3433292" imgH="199822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429000"/>
                        <a:ext cx="4343400" cy="253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4876800" y="3048000"/>
            <a:ext cx="3810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Arial" panose="020B0604020202020204" pitchFamily="34" charset="0"/>
              </a:rPr>
              <a:t>Example of Association Rules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334000" y="3657600"/>
            <a:ext cx="32766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>
                <a:latin typeface="Arial" panose="020B0604020202020204" pitchFamily="34" charset="0"/>
              </a:rPr>
              <a:t>{Diaper} </a:t>
            </a: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 {Beer},</a:t>
            </a:r>
            <a:b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{Milk, Bread}  {Eggs,Coke},</a:t>
            </a:r>
            <a:b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1800">
                <a:latin typeface="Arial" panose="020B0604020202020204" pitchFamily="34" charset="0"/>
                <a:sym typeface="Symbol" panose="05050102010706020507" pitchFamily="18" charset="2"/>
              </a:rPr>
              <a:t>{Beer, Bread}  {Milk},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4876800" y="4953000"/>
            <a:ext cx="4038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Implication means co-occurrence, not causality!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229600" cy="7318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Definition: Frequent Itemset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066800"/>
            <a:ext cx="4876800" cy="5334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smtClean="0"/>
              <a:t>Itemset</a:t>
            </a:r>
          </a:p>
          <a:p>
            <a:pPr lvl="1" eaLnBrk="1" hangingPunct="1"/>
            <a:r>
              <a:rPr lang="en-US" altLang="en-US" smtClean="0"/>
              <a:t>A collection of one or more items</a:t>
            </a:r>
          </a:p>
          <a:p>
            <a:pPr lvl="2" eaLnBrk="1" hangingPunct="1"/>
            <a:r>
              <a:rPr lang="en-US" altLang="en-US" sz="1600" smtClean="0"/>
              <a:t>Example: {Milk, Bread, Diaper}</a:t>
            </a:r>
          </a:p>
          <a:p>
            <a:pPr lvl="1" eaLnBrk="1" hangingPunct="1"/>
            <a:r>
              <a:rPr lang="en-US" altLang="en-US" smtClean="0"/>
              <a:t>k-itemset</a:t>
            </a:r>
          </a:p>
          <a:p>
            <a:pPr lvl="2" eaLnBrk="1" hangingPunct="1"/>
            <a:r>
              <a:rPr lang="en-US" altLang="en-US" sz="1600" smtClean="0"/>
              <a:t>An itemset that contains k items</a:t>
            </a:r>
            <a:endParaRPr lang="en-US" altLang="en-US" sz="1600" b="1" smtClean="0"/>
          </a:p>
          <a:p>
            <a:pPr eaLnBrk="1" hangingPunct="1"/>
            <a:r>
              <a:rPr lang="en-US" altLang="en-US" b="1" smtClean="0"/>
              <a:t>Support count (</a:t>
            </a:r>
            <a:r>
              <a:rPr lang="en-US" altLang="en-US" b="1" smtClean="0">
                <a:sym typeface="Symbol" panose="05050102010706020507" pitchFamily="18" charset="2"/>
              </a:rPr>
              <a:t>)</a:t>
            </a:r>
          </a:p>
          <a:p>
            <a:pPr lvl="1" eaLnBrk="1" hangingPunct="1"/>
            <a:r>
              <a:rPr lang="en-US" altLang="en-US" smtClean="0"/>
              <a:t>Frequency of occurrence of an itemset</a:t>
            </a:r>
          </a:p>
          <a:p>
            <a:pPr lvl="1" eaLnBrk="1" hangingPunct="1"/>
            <a:r>
              <a:rPr lang="en-US" altLang="en-US" smtClean="0"/>
              <a:t>E.g.   </a:t>
            </a:r>
            <a:r>
              <a:rPr lang="en-US" altLang="en-US" smtClean="0">
                <a:sym typeface="Symbol" panose="05050102010706020507" pitchFamily="18" charset="2"/>
              </a:rPr>
              <a:t>({Milk, Bread,Diaper}) = 2 </a:t>
            </a:r>
            <a:endParaRPr lang="en-US" altLang="en-US" smtClean="0"/>
          </a:p>
          <a:p>
            <a:pPr eaLnBrk="1" hangingPunct="1"/>
            <a:r>
              <a:rPr lang="en-US" altLang="en-US" b="1" smtClean="0"/>
              <a:t>Support</a:t>
            </a:r>
          </a:p>
          <a:p>
            <a:pPr lvl="1" eaLnBrk="1" hangingPunct="1"/>
            <a:r>
              <a:rPr lang="en-US" altLang="en-US" smtClean="0"/>
              <a:t>Fraction of transactions that contain an itemset</a:t>
            </a:r>
          </a:p>
          <a:p>
            <a:pPr lvl="1" eaLnBrk="1" hangingPunct="1"/>
            <a:r>
              <a:rPr lang="en-US" altLang="en-US" smtClean="0"/>
              <a:t>E.g.   s({Milk, Bread, Diaper}) = 2/5</a:t>
            </a:r>
          </a:p>
          <a:p>
            <a:pPr eaLnBrk="1" hangingPunct="1"/>
            <a:r>
              <a:rPr lang="en-US" altLang="en-US" b="1" smtClean="0"/>
              <a:t>Frequent Itemset</a:t>
            </a:r>
          </a:p>
          <a:p>
            <a:pPr lvl="1" eaLnBrk="1" hangingPunct="1"/>
            <a:r>
              <a:rPr lang="en-US" altLang="en-US" smtClean="0"/>
              <a:t>An itemset whose support is greater than or equal to a </a:t>
            </a:r>
            <a:r>
              <a:rPr lang="en-US" altLang="en-US" i="1" smtClean="0"/>
              <a:t>minsup</a:t>
            </a:r>
            <a:r>
              <a:rPr lang="en-US" altLang="en-US" smtClean="0"/>
              <a:t> threshold</a:t>
            </a:r>
          </a:p>
        </p:txBody>
      </p:sp>
      <p:graphicFrame>
        <p:nvGraphicFramePr>
          <p:cNvPr id="17412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410200" y="2089150"/>
          <a:ext cx="3657600" cy="219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Document" r:id="rId4" imgW="3359338" imgH="2015504" progId="Word.Document.8">
                  <p:embed/>
                </p:oleObj>
              </mc:Choice>
              <mc:Fallback>
                <p:oleObj name="Document" r:id="rId4" imgW="3359338" imgH="2015504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089150"/>
                        <a:ext cx="3657600" cy="219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6019800" y="4694238"/>
            <a:ext cx="2849563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/>
              <a:t>I assume that itemsets are 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en-US" altLang="en-US"/>
              <a:t>ordered lexicographically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Definition: Association Rule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Let D be database of </a:t>
            </a:r>
            <a:r>
              <a:rPr lang="en-US" altLang="en-US" smtClean="0">
                <a:solidFill>
                  <a:srgbClr val="FF0000"/>
                </a:solidFill>
              </a:rPr>
              <a:t>transactions</a:t>
            </a:r>
          </a:p>
          <a:p>
            <a:pPr lvl="1" eaLnBrk="1" hangingPunct="1"/>
            <a:r>
              <a:rPr lang="en-US" altLang="en-US" smtClean="0"/>
              <a:t>e.g.:</a:t>
            </a:r>
          </a:p>
          <a:p>
            <a:pPr lvl="1" eaLnBrk="1" hangingPunct="1"/>
            <a:endParaRPr lang="en-US" altLang="en-US" smtClean="0"/>
          </a:p>
          <a:p>
            <a:pPr lvl="1" eaLnBrk="1" hangingPunct="1"/>
            <a:endParaRPr lang="en-US" altLang="en-US" smtClean="0">
              <a:solidFill>
                <a:srgbClr val="FF0000"/>
              </a:solidFill>
            </a:endParaRPr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Let I be the set of items that appear in the database, e.g., I={A,B,C,D,E,F}</a:t>
            </a:r>
          </a:p>
          <a:p>
            <a:pPr eaLnBrk="1" hangingPunct="1"/>
            <a:r>
              <a:rPr lang="en-US" altLang="en-US" smtClean="0"/>
              <a:t>A </a:t>
            </a:r>
            <a:r>
              <a:rPr lang="en-US" altLang="en-US" smtClean="0">
                <a:solidFill>
                  <a:srgbClr val="FF0000"/>
                </a:solidFill>
              </a:rPr>
              <a:t>rule </a:t>
            </a:r>
            <a:r>
              <a:rPr lang="en-US" altLang="en-US" smtClean="0"/>
              <a:t>is defined by X </a:t>
            </a:r>
            <a:r>
              <a:rPr lang="en-US" altLang="en-US" smtClean="0">
                <a:sym typeface="Symbol" panose="05050102010706020507" pitchFamily="18" charset="2"/>
              </a:rPr>
              <a:t> Y, where </a:t>
            </a:r>
            <a:r>
              <a:rPr lang="en-US" altLang="en-US" smtClean="0"/>
              <a:t>X</a:t>
            </a:r>
            <a:r>
              <a:rPr lang="en-US" altLang="en-US" smtClean="0">
                <a:sym typeface="Symbol" panose="05050102010706020507" pitchFamily="18" charset="2"/>
              </a:rPr>
              <a:t>I, YI, and XY=</a:t>
            </a:r>
          </a:p>
          <a:p>
            <a:pPr lvl="1" eaLnBrk="1" hangingPunct="1"/>
            <a:r>
              <a:rPr lang="en-US" altLang="en-US" smtClean="0">
                <a:sym typeface="Symbol" panose="05050102010706020507" pitchFamily="18" charset="2"/>
              </a:rPr>
              <a:t>e.g.: {B,C}  {E} is a rule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819400" y="2438400"/>
          <a:ext cx="2743200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Worksheet" r:id="rId4" imgW="3848642" imgH="1914887" progId="Excel.Sheet.8">
                  <p:embed/>
                </p:oleObj>
              </mc:Choice>
              <mc:Fallback>
                <p:oleObj name="Worksheet" r:id="rId4" imgW="3848642" imgH="1914887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438400"/>
                        <a:ext cx="2743200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556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Definition: Association Rule</a:t>
            </a:r>
          </a:p>
        </p:txBody>
      </p:sp>
      <p:graphicFrame>
        <p:nvGraphicFramePr>
          <p:cNvPr id="21507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5410200" y="1295400"/>
          <a:ext cx="3586163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2" name="Document" r:id="rId4" imgW="3359338" imgH="2015504" progId="Word.Document.8">
                  <p:embed/>
                </p:oleObj>
              </mc:Choice>
              <mc:Fallback>
                <p:oleObj name="Document" r:id="rId4" imgW="3359338" imgH="2015504" progId="Word.Document.8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295400"/>
                        <a:ext cx="3586163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5747" name="Group 3"/>
          <p:cNvGrpSpPr>
            <a:grpSpLocks/>
          </p:cNvGrpSpPr>
          <p:nvPr/>
        </p:nvGrpSpPr>
        <p:grpSpPr bwMode="auto">
          <a:xfrm>
            <a:off x="4784725" y="3657600"/>
            <a:ext cx="3978275" cy="2527300"/>
            <a:chOff x="3014" y="2304"/>
            <a:chExt cx="2506" cy="1592"/>
          </a:xfrm>
        </p:grpSpPr>
        <p:sp>
          <p:nvSpPr>
            <p:cNvPr id="21510" name="Text Box 4"/>
            <p:cNvSpPr txBox="1">
              <a:spLocks noChangeArrowheads="1"/>
            </p:cNvSpPr>
            <p:nvPr/>
          </p:nvSpPr>
          <p:spPr bwMode="auto">
            <a:xfrm>
              <a:off x="3264" y="2304"/>
              <a:ext cx="7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>
                  <a:solidFill>
                    <a:srgbClr val="FF0000"/>
                  </a:solidFill>
                </a:rPr>
                <a:t>Example:</a:t>
              </a:r>
              <a:endParaRPr lang="en-US" altLang="en-US" sz="2800">
                <a:solidFill>
                  <a:srgbClr val="FF0000"/>
                </a:solidFill>
              </a:endParaRPr>
            </a:p>
          </p:txBody>
        </p:sp>
        <p:graphicFrame>
          <p:nvGraphicFramePr>
            <p:cNvPr id="21511" name="Object 5"/>
            <p:cNvGraphicFramePr>
              <a:graphicFrameLocks noChangeAspect="1"/>
            </p:cNvGraphicFramePr>
            <p:nvPr/>
          </p:nvGraphicFramePr>
          <p:xfrm>
            <a:off x="3779" y="2545"/>
            <a:ext cx="1741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3" name="Equation" r:id="rId6" imgW="1459866" imgH="203112" progId="Equation.3">
                    <p:embed/>
                  </p:oleObj>
                </mc:Choice>
                <mc:Fallback>
                  <p:oleObj name="Equation" r:id="rId6" imgW="1459866" imgH="2031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" y="2545"/>
                          <a:ext cx="1741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6"/>
            <p:cNvGraphicFramePr>
              <a:graphicFrameLocks noChangeAspect="1"/>
            </p:cNvGraphicFramePr>
            <p:nvPr/>
          </p:nvGraphicFramePr>
          <p:xfrm>
            <a:off x="3060" y="2928"/>
            <a:ext cx="2460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4" name="Equation" r:id="rId8" imgW="4318000" imgH="787400" progId="Equation.3">
                    <p:embed/>
                  </p:oleObj>
                </mc:Choice>
                <mc:Fallback>
                  <p:oleObj name="Equation" r:id="rId8" imgW="4318000" imgH="7874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0" y="2928"/>
                          <a:ext cx="2460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3" name="Object 7"/>
            <p:cNvGraphicFramePr>
              <a:graphicFrameLocks noChangeAspect="1"/>
            </p:cNvGraphicFramePr>
            <p:nvPr/>
          </p:nvGraphicFramePr>
          <p:xfrm>
            <a:off x="3014" y="3456"/>
            <a:ext cx="2475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5" name="Equation" r:id="rId10" imgW="4470400" imgH="787400" progId="Equation.3">
                    <p:embed/>
                  </p:oleObj>
                </mc:Choice>
                <mc:Fallback>
                  <p:oleObj name="Equation" r:id="rId10" imgW="4470400" imgH="7874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4" y="3456"/>
                          <a:ext cx="2475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5752" name="Rectangle 8"/>
          <p:cNvSpPr>
            <a:spLocks noChangeArrowheads="1"/>
          </p:cNvSpPr>
          <p:nvPr/>
        </p:nvSpPr>
        <p:spPr bwMode="auto">
          <a:xfrm>
            <a:off x="228600" y="1524000"/>
            <a:ext cx="48768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en-US" b="1">
                <a:latin typeface="Verdana" panose="020B0604030504040204" pitchFamily="34" charset="0"/>
              </a:rPr>
              <a:t>Association Rule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1800">
                <a:latin typeface="Verdana" panose="020B0604030504040204" pitchFamily="34" charset="0"/>
              </a:rPr>
              <a:t>An implication expression of the form X </a:t>
            </a:r>
            <a:r>
              <a:rPr lang="en-US" altLang="en-US" sz="1800">
                <a:latin typeface="Verdana" panose="020B0604030504040204" pitchFamily="34" charset="0"/>
                <a:sym typeface="Symbol" panose="05050102010706020507" pitchFamily="18" charset="2"/>
              </a:rPr>
              <a:t> Y, where X and Y are itemsets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1800">
                <a:latin typeface="Verdana" panose="020B0604030504040204" pitchFamily="34" charset="0"/>
              </a:rPr>
              <a:t>Example:</a:t>
            </a:r>
            <a:br>
              <a:rPr lang="en-US" altLang="en-US" sz="1800">
                <a:latin typeface="Verdana" panose="020B0604030504040204" pitchFamily="34" charset="0"/>
              </a:rPr>
            </a:br>
            <a:r>
              <a:rPr lang="en-US" altLang="en-US" sz="1800">
                <a:latin typeface="Verdana" panose="020B0604030504040204" pitchFamily="34" charset="0"/>
              </a:rPr>
              <a:t>   {Milk, Diaper} </a:t>
            </a:r>
            <a:r>
              <a:rPr lang="en-US" altLang="en-US" sz="1800">
                <a:latin typeface="Verdana" panose="020B0604030504040204" pitchFamily="34" charset="0"/>
                <a:sym typeface="Symbol" panose="05050102010706020507" pitchFamily="18" charset="2"/>
              </a:rPr>
              <a:t> {Beer}</a:t>
            </a:r>
            <a:r>
              <a:rPr lang="en-US" altLang="en-US" sz="1800">
                <a:latin typeface="Verdana" panose="020B0604030504040204" pitchFamily="34" charset="0"/>
              </a:rPr>
              <a:t> 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endParaRPr lang="en-US" altLang="en-US" sz="1800" b="1">
              <a:latin typeface="Verdana" panose="020B060403050404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en-US" b="1">
                <a:latin typeface="Verdana" panose="020B0604030504040204" pitchFamily="34" charset="0"/>
              </a:rPr>
              <a:t>Rule Evaluation Metrics</a:t>
            </a:r>
            <a:endParaRPr lang="en-US" altLang="en-US" b="1">
              <a:latin typeface="Verdana" panose="020B0604030504040204" pitchFamily="34" charset="0"/>
              <a:sym typeface="Symbol" panose="05050102010706020507" pitchFamily="18" charset="2"/>
            </a:endParaRP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1800">
                <a:latin typeface="Verdana" panose="020B0604030504040204" pitchFamily="34" charset="0"/>
              </a:rPr>
              <a:t>Support (s)</a:t>
            </a:r>
          </a:p>
          <a:p>
            <a:pPr lvl="2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</a:pPr>
            <a:r>
              <a:rPr lang="en-US" altLang="en-US" sz="1600">
                <a:latin typeface="Verdana" panose="020B0604030504040204" pitchFamily="34" charset="0"/>
              </a:rPr>
              <a:t>Fraction of transactions that contain both X and Y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1800">
                <a:latin typeface="Verdana" panose="020B0604030504040204" pitchFamily="34" charset="0"/>
              </a:rPr>
              <a:t>Confidence (c)</a:t>
            </a:r>
          </a:p>
          <a:p>
            <a:pPr lvl="2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</a:pPr>
            <a:r>
              <a:rPr lang="en-US" altLang="en-US" sz="1600">
                <a:latin typeface="Verdana" panose="020B0604030504040204" pitchFamily="34" charset="0"/>
              </a:rPr>
              <a:t>Measures how often items in Y </a:t>
            </a:r>
            <a:br>
              <a:rPr lang="en-US" altLang="en-US" sz="1600">
                <a:latin typeface="Verdana" panose="020B0604030504040204" pitchFamily="34" charset="0"/>
              </a:rPr>
            </a:br>
            <a:r>
              <a:rPr lang="en-US" altLang="en-US" sz="1600">
                <a:latin typeface="Verdana" panose="020B0604030504040204" pitchFamily="34" charset="0"/>
              </a:rPr>
              <a:t>appear in transactions that</a:t>
            </a:r>
            <a:br>
              <a:rPr lang="en-US" altLang="en-US" sz="1600">
                <a:latin typeface="Verdana" panose="020B0604030504040204" pitchFamily="34" charset="0"/>
              </a:rPr>
            </a:br>
            <a:r>
              <a:rPr lang="en-US" altLang="en-US" sz="1600">
                <a:latin typeface="Verdana" panose="020B0604030504040204" pitchFamily="34" charset="0"/>
              </a:rPr>
              <a:t>contain 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11398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Rule Measures: Support and Confidence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733800" y="1524000"/>
            <a:ext cx="5410200" cy="27035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Find all the rules </a:t>
            </a:r>
            <a:r>
              <a:rPr lang="en-US" altLang="en-US" sz="2400" i="1" smtClean="0"/>
              <a:t>X </a:t>
            </a:r>
            <a:r>
              <a:rPr lang="en-US" altLang="en-US" sz="2400" smtClean="0">
                <a:sym typeface="Symbol" panose="05050102010706020507" pitchFamily="18" charset="2"/>
              </a:rPr>
              <a:t></a:t>
            </a:r>
            <a:r>
              <a:rPr lang="en-US" altLang="en-US" sz="2400" i="1" smtClean="0">
                <a:sym typeface="Symbol" panose="05050102010706020507" pitchFamily="18" charset="2"/>
              </a:rPr>
              <a:t>  Y </a:t>
            </a:r>
            <a:r>
              <a:rPr lang="en-US" altLang="en-US" sz="2400" smtClean="0"/>
              <a:t>with minimum confidence and support</a:t>
            </a:r>
            <a:endParaRPr lang="en-US" altLang="en-US" sz="240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sz="2000" smtClean="0">
                <a:solidFill>
                  <a:srgbClr val="FF0000"/>
                </a:solidFill>
                <a:sym typeface="Symbol" panose="05050102010706020507" pitchFamily="18" charset="2"/>
              </a:rPr>
              <a:t>support, </a:t>
            </a:r>
            <a:r>
              <a:rPr lang="en-US" altLang="en-US" sz="2000" i="1" smtClean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, </a:t>
            </a:r>
            <a:r>
              <a:rPr lang="en-US" altLang="en-US" sz="2000" smtClean="0">
                <a:solidFill>
                  <a:schemeClr val="tx2"/>
                </a:solidFill>
                <a:sym typeface="Symbol" panose="05050102010706020507" pitchFamily="18" charset="2"/>
              </a:rPr>
              <a:t>probability</a:t>
            </a:r>
            <a:r>
              <a:rPr lang="en-US" altLang="en-US" sz="2000" smtClean="0">
                <a:sym typeface="Symbol" panose="05050102010706020507" pitchFamily="18" charset="2"/>
              </a:rPr>
              <a:t> that a transaction contains {X  Y}</a:t>
            </a:r>
          </a:p>
          <a:p>
            <a:pPr lvl="1" eaLnBrk="1" hangingPunct="1"/>
            <a:r>
              <a:rPr lang="en-US" altLang="en-US" sz="2000" smtClean="0">
                <a:solidFill>
                  <a:srgbClr val="FF0000"/>
                </a:solidFill>
                <a:sym typeface="Symbol" panose="05050102010706020507" pitchFamily="18" charset="2"/>
              </a:rPr>
              <a:t>confidence, </a:t>
            </a:r>
            <a:r>
              <a:rPr lang="en-US" altLang="en-US" sz="2000" i="1" smtClean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en-US" sz="2000" i="1" smtClean="0">
                <a:sym typeface="Symbol" panose="05050102010706020507" pitchFamily="18" charset="2"/>
              </a:rPr>
              <a:t>,</a:t>
            </a:r>
            <a:r>
              <a:rPr lang="en-US" altLang="en-US" sz="2000" smtClean="0">
                <a:sym typeface="Symbol" panose="05050102010706020507" pitchFamily="18" charset="2"/>
              </a:rPr>
              <a:t> </a:t>
            </a:r>
            <a:r>
              <a:rPr lang="en-US" altLang="en-US" sz="2000" smtClean="0">
                <a:solidFill>
                  <a:schemeClr val="tx2"/>
                </a:solidFill>
                <a:sym typeface="Symbol" panose="05050102010706020507" pitchFamily="18" charset="2"/>
              </a:rPr>
              <a:t>conditional probability</a:t>
            </a:r>
            <a:r>
              <a:rPr lang="en-US" altLang="en-US" sz="2000" smtClean="0">
                <a:sym typeface="Symbol" panose="05050102010706020507" pitchFamily="18" charset="2"/>
              </a:rPr>
              <a:t> that a transaction having X also contains Y</a:t>
            </a: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28600" y="4343400"/>
          <a:ext cx="3956050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Worksheet" r:id="rId4" imgW="3848642" imgH="1914887" progId="Excel.Sheet.8">
                  <p:embed/>
                </p:oleObj>
              </mc:Choice>
              <mc:Fallback>
                <p:oleObj name="Worksheet" r:id="rId4" imgW="3848642" imgH="1914887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343400"/>
                        <a:ext cx="3956050" cy="191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343400" y="4267200"/>
            <a:ext cx="4572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400" i="1">
                <a:latin typeface="Verdana" panose="020B0604030504040204" pitchFamily="34" charset="0"/>
              </a:rPr>
              <a:t>Let minimum support 50%, and minimum confidence 50%, we have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i="1">
                <a:latin typeface="Verdana" panose="020B0604030504040204" pitchFamily="34" charset="0"/>
              </a:rPr>
              <a:t>A </a:t>
            </a:r>
            <a:r>
              <a:rPr lang="en-US" altLang="en-US" i="1">
                <a:latin typeface="Verdana" panose="020B0604030504040204" pitchFamily="34" charset="0"/>
                <a:sym typeface="Symbol" panose="05050102010706020507" pitchFamily="18" charset="2"/>
              </a:rPr>
              <a:t>  C  </a:t>
            </a:r>
            <a:r>
              <a:rPr lang="en-US" altLang="en-US">
                <a:latin typeface="Verdana" panose="020B0604030504040204" pitchFamily="34" charset="0"/>
                <a:sym typeface="Symbol" panose="05050102010706020507" pitchFamily="18" charset="2"/>
              </a:rPr>
              <a:t>(50%, 66.6%)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i="1">
                <a:latin typeface="Verdana" panose="020B0604030504040204" pitchFamily="34" charset="0"/>
              </a:rPr>
              <a:t>C </a:t>
            </a:r>
            <a:r>
              <a:rPr lang="en-US" altLang="en-US" i="1">
                <a:latin typeface="Verdana" panose="020B0604030504040204" pitchFamily="34" charset="0"/>
                <a:sym typeface="Symbol" panose="05050102010706020507" pitchFamily="18" charset="2"/>
              </a:rPr>
              <a:t>  A  </a:t>
            </a:r>
            <a:r>
              <a:rPr lang="en-US" altLang="en-US">
                <a:latin typeface="Verdana" panose="020B0604030504040204" pitchFamily="34" charset="0"/>
                <a:sym typeface="Symbol" panose="05050102010706020507" pitchFamily="18" charset="2"/>
              </a:rPr>
              <a:t>(50%, 100%)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685800" y="1981200"/>
            <a:ext cx="1905000" cy="13716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1371600" y="1981200"/>
            <a:ext cx="1905000" cy="1524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 flipH="1">
            <a:off x="914400" y="2667000"/>
            <a:ext cx="228600" cy="762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V="1">
            <a:off x="2819400" y="2057400"/>
            <a:ext cx="2286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H="1" flipV="1">
            <a:off x="1905000" y="1828800"/>
            <a:ext cx="76200" cy="9144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2590800" y="1524000"/>
            <a:ext cx="12192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rgbClr val="FF0000"/>
                </a:solidFill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rgbClr val="FF0000"/>
                </a:solidFill>
              </a:rPr>
              <a:t>buys diaper</a:t>
            </a:r>
            <a:endParaRPr lang="en-US" altLang="en-US" sz="1800" b="1" u="sng">
              <a:solidFill>
                <a:srgbClr val="FF0000"/>
              </a:solidFill>
            </a:endParaRP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1295400" y="1371600"/>
            <a:ext cx="1042988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accent1"/>
                </a:solidFill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accent1"/>
                </a:solidFill>
              </a:rPr>
              <a:t>buys both</a:t>
            </a:r>
            <a:endParaRPr lang="en-US" altLang="en-US" sz="1800" b="1" u="sng"/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33400" y="3429000"/>
            <a:ext cx="1042988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</a:rPr>
              <a:t>buys beer</a:t>
            </a:r>
            <a:endParaRPr lang="en-US" altLang="en-US" sz="1800" b="1" u="sng"/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288925" y="1457325"/>
            <a:ext cx="3665538" cy="2554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762000" y="1600200"/>
            <a:ext cx="4400550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sz="2400" u="sng">
                <a:cs typeface="Times New Roman" panose="02020603050405020304" pitchFamily="18" charset="0"/>
              </a:rPr>
              <a:t>TID	date		items_bought</a:t>
            </a:r>
          </a:p>
          <a:p>
            <a:pPr algn="just"/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100	10/10/99	{F,A,D,B}</a:t>
            </a:r>
            <a:endParaRPr lang="en-US" altLang="en-US" sz="2400">
              <a:latin typeface="Arial" panose="020B0604020202020204" pitchFamily="34" charset="0"/>
            </a:endParaRPr>
          </a:p>
          <a:p>
            <a:pPr algn="just"/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200	15/10/99	{D,A,C,E,B}</a:t>
            </a:r>
            <a:endParaRPr lang="en-US" altLang="en-US" sz="2400">
              <a:latin typeface="Arial" panose="020B0604020202020204" pitchFamily="34" charset="0"/>
            </a:endParaRPr>
          </a:p>
          <a:p>
            <a:pPr algn="just"/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300	19/10/99	{C,A,B,E}</a:t>
            </a:r>
            <a:endParaRPr lang="en-US" altLang="en-US" sz="2400">
              <a:latin typeface="Arial" panose="020B0604020202020204" pitchFamily="34" charset="0"/>
            </a:endParaRPr>
          </a:p>
          <a:p>
            <a:pPr algn="just"/>
            <a:r>
              <a:rPr lang="en-US" altLang="en-US">
                <a:latin typeface="Arial" panose="020B0604020202020204" pitchFamily="34" charset="0"/>
                <a:cs typeface="Times New Roman" panose="02020603050405020304" pitchFamily="18" charset="0"/>
              </a:rPr>
              <a:t>400	20/10/99	{B,A,D}</a:t>
            </a:r>
          </a:p>
        </p:txBody>
      </p:sp>
      <p:sp>
        <p:nvSpPr>
          <p:cNvPr id="444419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3505200"/>
            <a:ext cx="8382000" cy="1752600"/>
          </a:xfrm>
        </p:spPr>
        <p:txBody>
          <a:bodyPr/>
          <a:lstStyle/>
          <a:p>
            <a:pPr eaLnBrk="1" hangingPunct="1"/>
            <a:r>
              <a:rPr lang="en-US" altLang="en-US" smtClean="0"/>
              <a:t>What is the </a:t>
            </a:r>
            <a:r>
              <a:rPr lang="en-US" altLang="en-US" smtClean="0">
                <a:solidFill>
                  <a:srgbClr val="0000FF"/>
                </a:solidFill>
              </a:rPr>
              <a:t>support</a:t>
            </a:r>
            <a:r>
              <a:rPr lang="en-US" altLang="en-US" smtClean="0"/>
              <a:t> and </a:t>
            </a:r>
            <a:r>
              <a:rPr lang="en-US" altLang="en-US" smtClean="0">
                <a:solidFill>
                  <a:srgbClr val="FF0000"/>
                </a:solidFill>
              </a:rPr>
              <a:t>confidence</a:t>
            </a:r>
            <a:r>
              <a:rPr lang="en-US" altLang="en-US" smtClean="0"/>
              <a:t> of the rule: {B,D} </a:t>
            </a:r>
            <a:r>
              <a:rPr lang="en-US" altLang="en-US" smtClean="0">
                <a:sym typeface="Symbol" panose="05050102010706020507" pitchFamily="18" charset="2"/>
              </a:rPr>
              <a:t> {A}</a:t>
            </a:r>
          </a:p>
        </p:txBody>
      </p:sp>
      <p:graphicFrame>
        <p:nvGraphicFramePr>
          <p:cNvPr id="444423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2214563" y="5715000"/>
          <a:ext cx="532447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7" name="Equation" r:id="rId4" imgW="2565400" imgH="419100" progId="Equation.3">
                  <p:embed/>
                </p:oleObj>
              </mc:Choice>
              <mc:Fallback>
                <p:oleObj name="Equation" r:id="rId4" imgW="2565400" imgH="419100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5715000"/>
                        <a:ext cx="5324475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4421" name="Rectangle 5"/>
          <p:cNvSpPr>
            <a:spLocks noChangeArrowheads="1"/>
          </p:cNvSpPr>
          <p:nvPr/>
        </p:nvSpPr>
        <p:spPr bwMode="auto">
          <a:xfrm>
            <a:off x="457200" y="43434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en-US" sz="2800">
                <a:latin typeface="Verdana" panose="020B0604030504040204" pitchFamily="34" charset="0"/>
                <a:sym typeface="Symbol" panose="05050102010706020507" pitchFamily="18" charset="2"/>
              </a:rPr>
              <a:t>Support: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2400">
                <a:latin typeface="Verdana" panose="020B0604030504040204" pitchFamily="34" charset="0"/>
                <a:sym typeface="Symbol" panose="05050102010706020507" pitchFamily="18" charset="2"/>
              </a:rPr>
              <a:t>percentage of tuples that contain {A,B,D} =</a:t>
            </a:r>
          </a:p>
        </p:txBody>
      </p:sp>
      <p:sp>
        <p:nvSpPr>
          <p:cNvPr id="444422" name="Rectangle 6"/>
          <p:cNvSpPr>
            <a:spLocks noChangeArrowheads="1"/>
          </p:cNvSpPr>
          <p:nvPr/>
        </p:nvSpPr>
        <p:spPr bwMode="auto">
          <a:xfrm>
            <a:off x="457200" y="5257800"/>
            <a:ext cx="8686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en-US" altLang="en-US" sz="2800">
                <a:latin typeface="Verdana" panose="020B0604030504040204" pitchFamily="34" charset="0"/>
                <a:sym typeface="Symbol" panose="05050102010706020507" pitchFamily="18" charset="2"/>
              </a:rPr>
              <a:t>Confidence: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en-US" altLang="en-US" sz="2400">
              <a:latin typeface="Verdan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444424" name="Rectangle 8"/>
          <p:cNvSpPr>
            <a:spLocks noChangeArrowheads="1"/>
          </p:cNvSpPr>
          <p:nvPr/>
        </p:nvSpPr>
        <p:spPr bwMode="auto">
          <a:xfrm>
            <a:off x="8153400" y="4776788"/>
            <a:ext cx="836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0000FF"/>
                </a:solidFill>
                <a:sym typeface="Symbol" panose="05050102010706020507" pitchFamily="18" charset="2"/>
              </a:rPr>
              <a:t>75%</a:t>
            </a:r>
          </a:p>
        </p:txBody>
      </p:sp>
      <p:sp>
        <p:nvSpPr>
          <p:cNvPr id="444425" name="Rectangle 9"/>
          <p:cNvSpPr>
            <a:spLocks noChangeArrowheads="1"/>
          </p:cNvSpPr>
          <p:nvPr/>
        </p:nvSpPr>
        <p:spPr bwMode="auto">
          <a:xfrm>
            <a:off x="7543800" y="5867400"/>
            <a:ext cx="101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>
                <a:solidFill>
                  <a:srgbClr val="FF0000"/>
                </a:solidFill>
                <a:sym typeface="Symbol" panose="05050102010706020507" pitchFamily="18" charset="2"/>
              </a:rPr>
              <a:t>100%</a:t>
            </a:r>
          </a:p>
        </p:txBody>
      </p:sp>
      <p:grpSp>
        <p:nvGrpSpPr>
          <p:cNvPr id="444426" name="Group 10"/>
          <p:cNvGrpSpPr>
            <a:grpSpLocks/>
          </p:cNvGrpSpPr>
          <p:nvPr/>
        </p:nvGrpSpPr>
        <p:grpSpPr bwMode="auto">
          <a:xfrm>
            <a:off x="5562600" y="2133600"/>
            <a:ext cx="3352800" cy="1066800"/>
            <a:chOff x="3504" y="1344"/>
            <a:chExt cx="2112" cy="672"/>
          </a:xfrm>
        </p:grpSpPr>
        <p:sp>
          <p:nvSpPr>
            <p:cNvPr id="25611" name="Rectangle 11"/>
            <p:cNvSpPr>
              <a:spLocks noChangeArrowheads="1"/>
            </p:cNvSpPr>
            <p:nvPr/>
          </p:nvSpPr>
          <p:spPr bwMode="auto">
            <a:xfrm>
              <a:off x="3504" y="1344"/>
              <a:ext cx="2112" cy="672"/>
            </a:xfrm>
            <a:prstGeom prst="rect">
              <a:avLst/>
            </a:prstGeom>
            <a:noFill/>
            <a:ln w="25400">
              <a:solidFill>
                <a:srgbClr val="008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en-US" sz="2400">
                  <a:solidFill>
                    <a:srgbClr val="008000"/>
                  </a:solidFill>
                  <a:latin typeface="Verdana" panose="020B0604030504040204" pitchFamily="34" charset="0"/>
                </a:rPr>
                <a:t>Remember:</a:t>
              </a:r>
            </a:p>
            <a:p>
              <a:pPr eaLnBrk="1" hangingPunct="1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en-US">
                  <a:solidFill>
                    <a:srgbClr val="008000"/>
                  </a:solidFill>
                  <a:latin typeface="Verdana" panose="020B0604030504040204" pitchFamily="34" charset="0"/>
                </a:rPr>
                <a:t>conf(X </a:t>
              </a:r>
              <a:r>
                <a:rPr lang="en-US" altLang="en-US">
                  <a:solidFill>
                    <a:srgbClr val="008000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 Y</a:t>
              </a:r>
              <a:r>
                <a:rPr lang="en-US" altLang="en-US">
                  <a:solidFill>
                    <a:srgbClr val="008000"/>
                  </a:solidFill>
                  <a:latin typeface="Verdana" panose="020B0604030504040204" pitchFamily="34" charset="0"/>
                </a:rPr>
                <a:t>) =</a:t>
              </a:r>
              <a:endParaRPr lang="en-US" altLang="en-US">
                <a:solidFill>
                  <a:srgbClr val="008000"/>
                </a:solidFill>
                <a:latin typeface="Verdana" panose="020B0604030504040204" pitchFamily="34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25612" name="Object 12"/>
            <p:cNvGraphicFramePr>
              <a:graphicFrameLocks noChangeAspect="1"/>
            </p:cNvGraphicFramePr>
            <p:nvPr/>
          </p:nvGraphicFramePr>
          <p:xfrm>
            <a:off x="4704" y="1488"/>
            <a:ext cx="816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28" name="Equation" r:id="rId6" imgW="812447" imgH="418918" progId="Equation.3">
                    <p:embed/>
                  </p:oleObj>
                </mc:Choice>
                <mc:Fallback>
                  <p:oleObj name="Equation" r:id="rId6" imgW="812447" imgH="418918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488"/>
                          <a:ext cx="816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4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4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21" grpId="0"/>
      <p:bldP spid="444422" grpId="0"/>
      <p:bldP spid="444424" grpId="0"/>
      <p:bldP spid="4444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842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Association Rule Mining Task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458200" cy="5334000"/>
          </a:xfrm>
        </p:spPr>
        <p:txBody>
          <a:bodyPr/>
          <a:lstStyle/>
          <a:p>
            <a:pPr marL="292100" indent="-292100" eaLnBrk="1" hangingPunct="1"/>
            <a:r>
              <a:rPr lang="en-US" altLang="en-US" smtClean="0"/>
              <a:t>Given a set of transactions T, the goal of association rule mining is to find all rules having </a:t>
            </a:r>
          </a:p>
          <a:p>
            <a:pPr marL="800100" lvl="1" indent="-342900" eaLnBrk="1" hangingPunct="1"/>
            <a:r>
              <a:rPr lang="en-US" altLang="en-US" smtClean="0"/>
              <a:t>support ≥ </a:t>
            </a:r>
            <a:r>
              <a:rPr lang="en-US" altLang="en-US" i="1" smtClean="0"/>
              <a:t>minsup </a:t>
            </a:r>
            <a:r>
              <a:rPr lang="en-US" altLang="en-US" smtClean="0"/>
              <a:t>threshold</a:t>
            </a:r>
          </a:p>
          <a:p>
            <a:pPr marL="800100" lvl="1" indent="-342900" eaLnBrk="1" hangingPunct="1"/>
            <a:r>
              <a:rPr lang="en-US" altLang="en-US" smtClean="0"/>
              <a:t>confidence ≥ </a:t>
            </a:r>
            <a:r>
              <a:rPr lang="en-US" altLang="en-US" i="1" smtClean="0"/>
              <a:t>minconf </a:t>
            </a:r>
            <a:r>
              <a:rPr lang="en-US" altLang="en-US" smtClean="0"/>
              <a:t>threshold</a:t>
            </a:r>
          </a:p>
          <a:p>
            <a:pPr marL="292100" indent="-292100" eaLnBrk="1" hangingPunct="1"/>
            <a:r>
              <a:rPr lang="en-US" altLang="en-US" smtClean="0"/>
              <a:t>Brute-force approach:</a:t>
            </a:r>
          </a:p>
          <a:p>
            <a:pPr marL="800100" lvl="1" indent="-342900" eaLnBrk="1" hangingPunct="1"/>
            <a:r>
              <a:rPr lang="en-US" altLang="en-US" smtClean="0"/>
              <a:t>List all possible association rules</a:t>
            </a:r>
          </a:p>
          <a:p>
            <a:pPr marL="800100" lvl="1" indent="-342900" eaLnBrk="1" hangingPunct="1"/>
            <a:r>
              <a:rPr lang="en-US" altLang="en-US" smtClean="0"/>
              <a:t>Compute the support and confidence for each rule</a:t>
            </a:r>
          </a:p>
          <a:p>
            <a:pPr marL="800100" lvl="1" indent="-342900" eaLnBrk="1" hangingPunct="1"/>
            <a:r>
              <a:rPr lang="en-US" altLang="en-US" smtClean="0"/>
              <a:t>Prune rules that fail the </a:t>
            </a:r>
            <a:r>
              <a:rPr lang="en-US" altLang="en-US" i="1" smtClean="0"/>
              <a:t>minsup</a:t>
            </a:r>
            <a:r>
              <a:rPr lang="en-US" altLang="en-US" smtClean="0"/>
              <a:t> and </a:t>
            </a:r>
            <a:r>
              <a:rPr lang="en-US" altLang="en-US" i="1" smtClean="0"/>
              <a:t>minconf</a:t>
            </a:r>
            <a:r>
              <a:rPr lang="en-US" altLang="en-US" smtClean="0"/>
              <a:t> thresholds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Mining Association Rules</a:t>
            </a:r>
          </a:p>
        </p:txBody>
      </p:sp>
      <p:graphicFrame>
        <p:nvGraphicFramePr>
          <p:cNvPr id="29699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04800" y="1524000"/>
          <a:ext cx="373380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Document" r:id="rId4" imgW="3359338" imgH="2015504" progId="Word.Document.8">
                  <p:embed/>
                </p:oleObj>
              </mc:Choice>
              <mc:Fallback>
                <p:oleObj name="Document" r:id="rId4" imgW="3359338" imgH="2015504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0"/>
                        <a:ext cx="3733800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4267200" y="1524000"/>
            <a:ext cx="4724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Example of Rules:</a:t>
            </a:r>
            <a:b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</a:br>
            <a:endParaRPr lang="en-US" altLang="en-US" sz="1000">
              <a:solidFill>
                <a:srgbClr val="CC33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r>
              <a:rPr lang="en-US" altLang="en-US">
                <a:latin typeface="Arial" panose="020B0604020202020204" pitchFamily="34" charset="0"/>
              </a:rPr>
              <a:t>{Milk,Diaper}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 {Beer} (s=0.4, c=0.67)</a:t>
            </a:r>
            <a:b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>
                <a:latin typeface="Arial" panose="020B0604020202020204" pitchFamily="34" charset="0"/>
              </a:rPr>
              <a:t>{Milk,Beer}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 {Diaper} (s=0.4, c=1.0)</a:t>
            </a:r>
          </a:p>
          <a:p>
            <a:r>
              <a:rPr lang="en-US" altLang="en-US">
                <a:latin typeface="Arial" panose="020B0604020202020204" pitchFamily="34" charset="0"/>
              </a:rPr>
              <a:t>{Diaper,Beer}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 {Milk} (s=0.4, c=0.67)</a:t>
            </a:r>
          </a:p>
          <a:p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{Beer}  {Milk,Diaper} (s=0.4, c=0.67) </a:t>
            </a:r>
            <a:b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{Diaper}  {Milk,Beer} (s=0.4, c=0.5) </a:t>
            </a:r>
          </a:p>
          <a:p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{Milk}  {Diaper,Beer} (s=0.4, c=0.5)</a:t>
            </a:r>
          </a:p>
        </p:txBody>
      </p:sp>
      <p:sp>
        <p:nvSpPr>
          <p:cNvPr id="419845" name="Text Box 5"/>
          <p:cNvSpPr txBox="1">
            <a:spLocks noChangeArrowheads="1"/>
          </p:cNvSpPr>
          <p:nvPr/>
        </p:nvSpPr>
        <p:spPr bwMode="auto">
          <a:xfrm>
            <a:off x="381000" y="3886200"/>
            <a:ext cx="79248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CC33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Observations: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 All the above rules are binary partitions of the same itemset: </a:t>
            </a:r>
            <a:b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	{Milk, Diaper, Beer}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 Rules originating from the same itemset have identical support but</a:t>
            </a:r>
            <a:b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  can have different confidence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 Thus, we may decouple the support and confidence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Mining Association Rules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 eaLnBrk="1" hangingPunct="1"/>
            <a:r>
              <a:rPr lang="en-US" altLang="en-US" smtClean="0"/>
              <a:t>Two-step approach: 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</a:pPr>
            <a:r>
              <a:rPr lang="en-US" altLang="en-US" smtClean="0">
                <a:solidFill>
                  <a:srgbClr val="FF0000"/>
                </a:solidFill>
              </a:rPr>
              <a:t>Frequent Itemset Generation</a:t>
            </a:r>
            <a:endParaRPr lang="en-US" altLang="en-US" smtClean="0"/>
          </a:p>
          <a:p>
            <a:pPr marL="1295400" lvl="2" indent="-381000" eaLnBrk="1" hangingPunct="1">
              <a:buFont typeface="Arial" panose="020B0604020202020204" pitchFamily="34" charset="0"/>
              <a:buChar char="–"/>
            </a:pPr>
            <a:r>
              <a:rPr lang="en-US" altLang="en-US" smtClean="0"/>
              <a:t>Generate all itemsets whose support </a:t>
            </a:r>
            <a:r>
              <a:rPr lang="en-US" altLang="en-US" smtClean="0">
                <a:sym typeface="Symbol" panose="05050102010706020507" pitchFamily="18" charset="2"/>
              </a:rPr>
              <a:t> </a:t>
            </a:r>
            <a:r>
              <a:rPr lang="en-US" altLang="en-US" smtClean="0"/>
              <a:t>minsup</a:t>
            </a:r>
          </a:p>
          <a:p>
            <a:pPr marL="1295400" lvl="2" indent="-381000" eaLnBrk="1" hangingPunct="1">
              <a:buFont typeface="Arial" panose="020B0604020202020204" pitchFamily="34" charset="0"/>
              <a:buNone/>
            </a:pPr>
            <a:endParaRPr lang="en-US" altLang="en-US" smtClean="0"/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</a:pPr>
            <a:r>
              <a:rPr lang="en-US" altLang="en-US" smtClean="0">
                <a:solidFill>
                  <a:srgbClr val="FF0000"/>
                </a:solidFill>
              </a:rPr>
              <a:t>Rule Generation</a:t>
            </a:r>
            <a:endParaRPr lang="en-US" altLang="en-US" smtClean="0"/>
          </a:p>
          <a:p>
            <a:pPr marL="1295400" lvl="2" indent="-381000" eaLnBrk="1" hangingPunct="1">
              <a:buFont typeface="Arial" panose="020B0604020202020204" pitchFamily="34" charset="0"/>
              <a:buChar char="–"/>
            </a:pPr>
            <a:r>
              <a:rPr lang="en-US" altLang="en-US" smtClean="0"/>
              <a:t>Generate high confidence rules from each frequent itemset, where each rule is a binary partitioning of a frequent itemset</a:t>
            </a:r>
          </a:p>
          <a:p>
            <a:pPr marL="533400" indent="-533400" eaLnBrk="1" hangingPunct="1"/>
            <a:endParaRPr lang="en-US" altLang="en-US" smtClean="0"/>
          </a:p>
          <a:p>
            <a:pPr marL="533400" indent="-533400" eaLnBrk="1" hangingPunct="1"/>
            <a:r>
              <a:rPr lang="en-US" altLang="en-US" smtClean="0"/>
              <a:t>Frequent itemset generation is still computationally expensive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943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Frequent Itemset Generation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304800" y="1316038"/>
          <a:ext cx="7034213" cy="531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VISIO" r:id="rId4" imgW="9811512" imgH="7395972" progId="Visio.Drawing.6">
                  <p:embed/>
                </p:oleObj>
              </mc:Choice>
              <mc:Fallback>
                <p:oleObj name="VISIO" r:id="rId4" imgW="9811512" imgH="7395972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16038"/>
                        <a:ext cx="7034213" cy="531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6248400" y="5257800"/>
            <a:ext cx="2743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latin typeface="Arial" panose="020B0604020202020204" pitchFamily="34" charset="0"/>
              </a:rPr>
              <a:t>Given d items, there are 2</a:t>
            </a:r>
            <a:r>
              <a:rPr lang="en-US" altLang="en-US" b="1" baseline="30000">
                <a:latin typeface="Arial" panose="020B0604020202020204" pitchFamily="34" charset="0"/>
              </a:rPr>
              <a:t>d</a:t>
            </a:r>
            <a:r>
              <a:rPr lang="en-US" altLang="en-US" b="1">
                <a:latin typeface="Arial" panose="020B0604020202020204" pitchFamily="34" charset="0"/>
              </a:rPr>
              <a:t> possible candidate itemsets</a:t>
            </a:r>
            <a:endParaRPr lang="en-US" altLang="en-US" b="1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Frequent Itemset Generation Strategies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11163" y="1066800"/>
            <a:ext cx="8318500" cy="5257800"/>
          </a:xfrm>
        </p:spPr>
        <p:txBody>
          <a:bodyPr/>
          <a:lstStyle/>
          <a:p>
            <a:pPr marL="292100" indent="-292100" eaLnBrk="1" hangingPunct="1"/>
            <a:r>
              <a:rPr lang="en-US" altLang="en-US" smtClean="0"/>
              <a:t>Reduce the </a:t>
            </a:r>
            <a:r>
              <a:rPr lang="en-US" altLang="en-US" smtClean="0">
                <a:solidFill>
                  <a:srgbClr val="FF0000"/>
                </a:solidFill>
              </a:rPr>
              <a:t>number of candidates</a:t>
            </a:r>
            <a:r>
              <a:rPr lang="en-US" altLang="en-US" smtClean="0"/>
              <a:t> (M)</a:t>
            </a:r>
          </a:p>
          <a:p>
            <a:pPr marL="800100" lvl="1" indent="-342900" eaLnBrk="1" hangingPunct="1"/>
            <a:r>
              <a:rPr lang="en-US" altLang="en-US" smtClean="0"/>
              <a:t>Complete search: M=2</a:t>
            </a:r>
            <a:r>
              <a:rPr lang="en-US" altLang="en-US" baseline="30000" smtClean="0"/>
              <a:t>d</a:t>
            </a:r>
          </a:p>
          <a:p>
            <a:pPr marL="800100" lvl="1" indent="-342900" eaLnBrk="1" hangingPunct="1"/>
            <a:r>
              <a:rPr lang="en-US" altLang="en-US" smtClean="0"/>
              <a:t>Use pruning techniques to reduce M</a:t>
            </a:r>
          </a:p>
          <a:p>
            <a:pPr lvl="4" eaLnBrk="1" hangingPunct="1"/>
            <a:endParaRPr lang="en-US" altLang="en-US" sz="1000" smtClean="0"/>
          </a:p>
          <a:p>
            <a:pPr marL="292100" indent="-292100" eaLnBrk="1" hangingPunct="1"/>
            <a:r>
              <a:rPr lang="en-US" altLang="en-US" smtClean="0"/>
              <a:t>Reduce the </a:t>
            </a:r>
            <a:r>
              <a:rPr lang="en-US" altLang="en-US" smtClean="0">
                <a:solidFill>
                  <a:srgbClr val="FF0000"/>
                </a:solidFill>
              </a:rPr>
              <a:t>number of transactions </a:t>
            </a:r>
            <a:r>
              <a:rPr lang="en-US" altLang="en-US" smtClean="0"/>
              <a:t>(N)</a:t>
            </a:r>
          </a:p>
          <a:p>
            <a:pPr marL="800100" lvl="1" indent="-342900" eaLnBrk="1" hangingPunct="1"/>
            <a:r>
              <a:rPr lang="en-US" altLang="en-US" smtClean="0"/>
              <a:t>Reduce size of N as the size of itemset increases</a:t>
            </a:r>
          </a:p>
          <a:p>
            <a:pPr marL="800100" lvl="1" indent="-342900" eaLnBrk="1" hangingPunct="1"/>
            <a:r>
              <a:rPr lang="en-US" altLang="en-US" smtClean="0"/>
              <a:t>Used by DHP and vertical-based mining algorithms</a:t>
            </a:r>
          </a:p>
          <a:p>
            <a:pPr lvl="4" eaLnBrk="1" hangingPunct="1"/>
            <a:endParaRPr lang="en-US" altLang="en-US" sz="900" smtClean="0"/>
          </a:p>
          <a:p>
            <a:pPr marL="292100" indent="-292100" eaLnBrk="1" hangingPunct="1"/>
            <a:r>
              <a:rPr lang="en-US" altLang="en-US" smtClean="0"/>
              <a:t>Reduce the </a:t>
            </a:r>
            <a:r>
              <a:rPr lang="en-US" altLang="en-US" smtClean="0">
                <a:solidFill>
                  <a:srgbClr val="FF0000"/>
                </a:solidFill>
              </a:rPr>
              <a:t>number of comparisons</a:t>
            </a:r>
            <a:r>
              <a:rPr lang="en-US" altLang="en-US" smtClean="0"/>
              <a:t> (NM)</a:t>
            </a:r>
          </a:p>
          <a:p>
            <a:pPr marL="800100" lvl="1" indent="-342900" eaLnBrk="1" hangingPunct="1"/>
            <a:r>
              <a:rPr lang="en-US" altLang="en-US" smtClean="0"/>
              <a:t>Use efficient data structures to store the candidates or transactions</a:t>
            </a:r>
          </a:p>
          <a:p>
            <a:pPr marL="800100" lvl="1" indent="-342900" eaLnBrk="1" hangingPunct="1"/>
            <a:r>
              <a:rPr lang="en-US" altLang="en-US" smtClean="0"/>
              <a:t>No need to match every candidate against every transaction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318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Reducing Number of Candidates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11163" y="1447800"/>
            <a:ext cx="8580437" cy="5181600"/>
          </a:xfrm>
        </p:spPr>
        <p:txBody>
          <a:bodyPr rtlCol="0">
            <a:normAutofit/>
          </a:bodyPr>
          <a:lstStyle/>
          <a:p>
            <a:pPr marL="292100" indent="-292100" eaLnBrk="1" fontAlgn="auto" hangingPunct="1">
              <a:spcAft>
                <a:spcPts val="0"/>
              </a:spcAft>
              <a:defRPr/>
            </a:pPr>
            <a:r>
              <a:rPr lang="en-US" altLang="en-US" smtClean="0">
                <a:solidFill>
                  <a:srgbClr val="CC3300"/>
                </a:solidFill>
              </a:rPr>
              <a:t>Apriori principle</a:t>
            </a:r>
            <a:r>
              <a:rPr lang="en-US" altLang="en-US" smtClean="0"/>
              <a:t>:</a:t>
            </a:r>
          </a:p>
          <a:p>
            <a:pPr marL="800100" lvl="1" indent="-342900"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If an itemset is frequent, then all of its subsets must also be frequent</a:t>
            </a:r>
          </a:p>
          <a:p>
            <a:pPr lvl="4" eaLnBrk="1" fontAlgn="auto" hangingPunct="1">
              <a:spcAft>
                <a:spcPts val="0"/>
              </a:spcAft>
              <a:defRPr/>
            </a:pPr>
            <a:endParaRPr lang="en-US" altLang="en-US" sz="1350" smtClean="0"/>
          </a:p>
          <a:p>
            <a:pPr marL="292100" indent="-292100"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Apriori principle holds due to the following property of the support measure:</a:t>
            </a:r>
          </a:p>
          <a:p>
            <a:pPr marL="292100" indent="-292100" eaLnBrk="1" fontAlgn="auto" hangingPunct="1">
              <a:spcAft>
                <a:spcPts val="0"/>
              </a:spcAft>
              <a:defRPr/>
            </a:pPr>
            <a:endParaRPr lang="en-US" altLang="en-US" smtClean="0"/>
          </a:p>
          <a:p>
            <a:pPr marL="292100" indent="-292100" eaLnBrk="1" fontAlgn="auto" hangingPunct="1">
              <a:spcAft>
                <a:spcPts val="0"/>
              </a:spcAft>
              <a:defRPr/>
            </a:pPr>
            <a:endParaRPr lang="en-US" altLang="en-US" smtClean="0"/>
          </a:p>
          <a:p>
            <a:pPr marL="800100" lvl="1" indent="-342900"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Support of an itemset never exceeds the support of its subsets</a:t>
            </a:r>
          </a:p>
          <a:p>
            <a:pPr marL="800100" lvl="1" indent="-342900" eaLnBrk="1" fontAlgn="auto" hangingPunct="1">
              <a:spcAft>
                <a:spcPts val="0"/>
              </a:spcAft>
              <a:defRPr/>
            </a:pPr>
            <a:r>
              <a:rPr lang="en-US" altLang="en-US" smtClean="0"/>
              <a:t>This is known as the </a:t>
            </a:r>
            <a:r>
              <a:rPr lang="en-US" altLang="en-US" smtClean="0">
                <a:solidFill>
                  <a:srgbClr val="CC3300"/>
                </a:solidFill>
              </a:rPr>
              <a:t>anti-monotone</a:t>
            </a:r>
            <a:r>
              <a:rPr lang="en-US" altLang="en-US" smtClean="0"/>
              <a:t> property of support</a:t>
            </a:r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12806"/>
              </p:ext>
            </p:extLst>
          </p:nvPr>
        </p:nvGraphicFramePr>
        <p:xfrm>
          <a:off x="2057400" y="4724400"/>
          <a:ext cx="5715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Equation" r:id="rId4" imgW="1993900" imgH="203200" progId="Equation.3">
                  <p:embed/>
                </p:oleObj>
              </mc:Choice>
              <mc:Fallback>
                <p:oleObj name="Equation" r:id="rId4" imgW="19939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724400"/>
                        <a:ext cx="5715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9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318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Example</a:t>
            </a:r>
          </a:p>
        </p:txBody>
      </p:sp>
      <p:graphicFrame>
        <p:nvGraphicFramePr>
          <p:cNvPr id="44035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85800" y="2438400"/>
          <a:ext cx="3433763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4" name="Document" r:id="rId4" imgW="3433292" imgH="1998228" progId="Word.Document.8">
                  <p:embed/>
                </p:oleObj>
              </mc:Choice>
              <mc:Fallback>
                <p:oleObj name="Document" r:id="rId4" imgW="3433292" imgH="1998228" progId="Word.Document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438400"/>
                        <a:ext cx="3433763" cy="199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7"/>
          <p:cNvSpPr txBox="1">
            <a:spLocks noChangeArrowheads="1"/>
          </p:cNvSpPr>
          <p:nvPr/>
        </p:nvSpPr>
        <p:spPr bwMode="auto">
          <a:xfrm>
            <a:off x="4419600" y="2971800"/>
            <a:ext cx="42449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s(Bread) &gt;  s(Bread, Beer)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s(Milk) &gt; s(Bread, Milk)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s(Diaper, Beer) &gt; s(Diaper, Beer, Coke)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991600" cy="990600"/>
          </a:xfrm>
        </p:spPr>
        <p:txBody>
          <a:bodyPr lIns="92075" tIns="46038" rIns="92075" bIns="46038"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Mining Frequent Itemsets: the Key Step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924800" cy="4648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smtClean="0"/>
              <a:t>Find the </a:t>
            </a:r>
            <a:r>
              <a:rPr lang="en-US" altLang="en-US" sz="2400" i="1" smtClean="0">
                <a:solidFill>
                  <a:srgbClr val="0000FF"/>
                </a:solidFill>
              </a:rPr>
              <a:t>frequent itemsets</a:t>
            </a:r>
            <a:r>
              <a:rPr lang="en-US" altLang="en-US" sz="2400" smtClean="0"/>
              <a:t>: the sets of items that have minimum support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>
                <a:solidFill>
                  <a:srgbClr val="0000FF"/>
                </a:solidFill>
              </a:rPr>
              <a:t>A subset of a frequent itemset must also be a frequent itemset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sz="1800" smtClean="0"/>
              <a:t>i.e., if {</a:t>
            </a:r>
            <a:r>
              <a:rPr lang="en-US" altLang="en-US" sz="1800" i="1" smtClean="0"/>
              <a:t>AB</a:t>
            </a:r>
            <a:r>
              <a:rPr lang="en-US" altLang="en-US" sz="1800" smtClean="0"/>
              <a:t>} is</a:t>
            </a:r>
            <a:r>
              <a:rPr lang="en-US" altLang="en-US" sz="1800" i="1" smtClean="0"/>
              <a:t> </a:t>
            </a:r>
            <a:r>
              <a:rPr lang="en-US" altLang="en-US" sz="1800" smtClean="0"/>
              <a:t>a frequent itemset, both {</a:t>
            </a:r>
            <a:r>
              <a:rPr lang="en-US" altLang="en-US" sz="1800" i="1" smtClean="0"/>
              <a:t>A</a:t>
            </a:r>
            <a:r>
              <a:rPr lang="en-US" altLang="en-US" sz="1800" smtClean="0"/>
              <a:t>} and {</a:t>
            </a:r>
            <a:r>
              <a:rPr lang="en-US" altLang="en-US" sz="1800" i="1" smtClean="0"/>
              <a:t>B</a:t>
            </a:r>
            <a:r>
              <a:rPr lang="en-US" altLang="en-US" sz="1800" smtClean="0"/>
              <a:t>} should be frequent itemsets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smtClean="0"/>
              <a:t>Iteratively find frequent itemsets with cardinality from 1 to </a:t>
            </a:r>
            <a:r>
              <a:rPr lang="en-US" altLang="en-US" sz="2000" i="1" smtClean="0"/>
              <a:t>m (m-</a:t>
            </a:r>
            <a:r>
              <a:rPr lang="en-US" altLang="en-US" sz="2000" smtClean="0"/>
              <a:t>itemset</a:t>
            </a:r>
            <a:r>
              <a:rPr lang="en-US" altLang="en-US" sz="2000" i="1" smtClean="0"/>
              <a:t>)</a:t>
            </a:r>
            <a:r>
              <a:rPr lang="en-US" altLang="en-US" sz="2000" smtClean="0"/>
              <a:t>: Use frequent k-itemsets to explore (k+1)-itemsets.</a:t>
            </a:r>
            <a:endParaRPr lang="en-US" altLang="en-US" sz="2000" i="1" smtClean="0"/>
          </a:p>
          <a:p>
            <a:pPr eaLnBrk="1" hangingPunct="1">
              <a:lnSpc>
                <a:spcPct val="120000"/>
              </a:lnSpc>
            </a:pPr>
            <a:r>
              <a:rPr lang="en-US" altLang="en-US" sz="2400" smtClean="0">
                <a:solidFill>
                  <a:srgbClr val="008000"/>
                </a:solidFill>
              </a:rPr>
              <a:t>Use the </a:t>
            </a:r>
            <a:r>
              <a:rPr lang="en-US" altLang="en-US" sz="2400" smtClean="0">
                <a:solidFill>
                  <a:srgbClr val="0000FF"/>
                </a:solidFill>
              </a:rPr>
              <a:t>frequent itemsets</a:t>
            </a:r>
            <a:r>
              <a:rPr lang="en-US" altLang="en-US" sz="2400" smtClean="0">
                <a:solidFill>
                  <a:srgbClr val="008000"/>
                </a:solidFill>
              </a:rPr>
              <a:t> to generate </a:t>
            </a:r>
            <a:r>
              <a:rPr lang="en-US" altLang="en-US" sz="2400" smtClean="0">
                <a:solidFill>
                  <a:srgbClr val="FF0000"/>
                </a:solidFill>
              </a:rPr>
              <a:t>association rules</a:t>
            </a:r>
            <a:r>
              <a:rPr lang="en-US" altLang="en-US" sz="2400" smtClean="0"/>
              <a:t>.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8991600" cy="838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Apriori Algorithm (the general idea)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229600" cy="44196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smtClean="0"/>
              <a:t>Find </a:t>
            </a:r>
            <a:r>
              <a:rPr lang="en-US" altLang="en-US" sz="2400" smtClean="0">
                <a:solidFill>
                  <a:srgbClr val="FF0000"/>
                </a:solidFill>
              </a:rPr>
              <a:t>frequent 1-items</a:t>
            </a:r>
            <a:r>
              <a:rPr lang="en-US" altLang="en-US" sz="2400" smtClean="0"/>
              <a:t> and put them to L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 (k=1)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smtClean="0"/>
              <a:t>Use L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 to generate a collection of </a:t>
            </a:r>
            <a:r>
              <a:rPr lang="en-US" altLang="en-US" sz="2400" i="1" smtClean="0">
                <a:solidFill>
                  <a:srgbClr val="0000FF"/>
                </a:solidFill>
              </a:rPr>
              <a:t>candidate </a:t>
            </a:r>
            <a:r>
              <a:rPr lang="en-US" altLang="en-US" sz="2400" smtClean="0"/>
              <a:t>itemsets C</a:t>
            </a:r>
            <a:r>
              <a:rPr lang="en-US" altLang="en-US" sz="2400" baseline="-25000" smtClean="0"/>
              <a:t>k+1</a:t>
            </a:r>
            <a:r>
              <a:rPr lang="en-US" altLang="en-US" sz="2400" smtClean="0"/>
              <a:t> with size (k+1)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smtClean="0"/>
              <a:t>Scan the database to find which itemsets in C</a:t>
            </a:r>
            <a:r>
              <a:rPr lang="en-US" altLang="en-US" sz="2400" baseline="-25000" smtClean="0"/>
              <a:t>k+1</a:t>
            </a:r>
            <a:r>
              <a:rPr lang="en-US" altLang="en-US" sz="2400" smtClean="0"/>
              <a:t> are </a:t>
            </a:r>
            <a:r>
              <a:rPr lang="en-US" altLang="en-US" sz="2400" smtClean="0">
                <a:solidFill>
                  <a:srgbClr val="FF0000"/>
                </a:solidFill>
              </a:rPr>
              <a:t>frequent</a:t>
            </a:r>
            <a:r>
              <a:rPr lang="en-US" altLang="en-US" sz="2400" smtClean="0"/>
              <a:t> and put them into L</a:t>
            </a:r>
            <a:r>
              <a:rPr lang="en-US" altLang="en-US" sz="2400" baseline="-25000" smtClean="0"/>
              <a:t>k+1</a:t>
            </a:r>
            <a:endParaRPr lang="en-US" altLang="en-US" sz="2400" smtClean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en-US" sz="2400" smtClean="0"/>
              <a:t>If L</a:t>
            </a:r>
            <a:r>
              <a:rPr lang="en-US" altLang="en-US" sz="2400" baseline="-25000" smtClean="0"/>
              <a:t>k+1</a:t>
            </a:r>
            <a:r>
              <a:rPr lang="en-US" altLang="en-US" sz="2400" smtClean="0"/>
              <a:t> is not empty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p"/>
            </a:pPr>
            <a:r>
              <a:rPr lang="en-US" altLang="en-US" smtClean="0"/>
              <a:t>k=k+1</a:t>
            </a:r>
          </a:p>
          <a:p>
            <a:pPr marL="914400" lvl="1" indent="-457200" eaLnBrk="1" hangingPunct="1">
              <a:buFont typeface="Wingdings" panose="05000000000000000000" pitchFamily="2" charset="2"/>
              <a:buChar char="p"/>
            </a:pPr>
            <a:r>
              <a:rPr lang="en-US" altLang="en-US" smtClean="0"/>
              <a:t>GOTO 2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6556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Illustrating Apriori Principle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304800" y="1900238"/>
          <a:ext cx="2289175" cy="249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3" name="Document" r:id="rId4" imgW="2289048" imgH="2494788" progId="Word.Document.8">
                  <p:embed/>
                </p:oleObj>
              </mc:Choice>
              <mc:Fallback>
                <p:oleObj name="Document" r:id="rId4" imgW="2289048" imgH="2494788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900238"/>
                        <a:ext cx="2289175" cy="249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3352800" y="2662238"/>
          <a:ext cx="3327400" cy="212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4" name="Document" r:id="rId6" imgW="3328416" imgH="2008632" progId="Word.Document.8">
                  <p:embed/>
                </p:oleObj>
              </mc:Choice>
              <mc:Fallback>
                <p:oleObj name="Document" r:id="rId6" imgW="3328416" imgH="2008632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62238"/>
                        <a:ext cx="3327400" cy="212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4876800" y="5100638"/>
          <a:ext cx="380047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65" name="Document" r:id="rId8" imgW="3124200" imgH="841248" progId="Word.Document.8">
                  <p:embed/>
                </p:oleObj>
              </mc:Choice>
              <mc:Fallback>
                <p:oleObj name="Document" r:id="rId8" imgW="3124200" imgH="84124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100638"/>
                        <a:ext cx="380047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2514600" y="1824038"/>
            <a:ext cx="20558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Tahoma" panose="020B0604030504040204" pitchFamily="34" charset="0"/>
              </a:rPr>
              <a:t>Items (1-itemsets)</a:t>
            </a: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6096000" y="2584450"/>
            <a:ext cx="279082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Tahoma" panose="020B0604030504040204" pitchFamily="34" charset="0"/>
              </a:rPr>
              <a:t>Pairs (2-itemsets)</a:t>
            </a:r>
          </a:p>
          <a:p>
            <a:endParaRPr lang="en-US" altLang="en-US" sz="1800">
              <a:latin typeface="Tahoma" panose="020B0604030504040204" pitchFamily="34" charset="0"/>
            </a:endParaRPr>
          </a:p>
          <a:p>
            <a:r>
              <a:rPr lang="en-US" altLang="en-US" sz="1800">
                <a:latin typeface="Tahoma" panose="020B0604030504040204" pitchFamily="34" charset="0"/>
              </a:rPr>
              <a:t>(No need to generate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candidates involving Coke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or Eggs)</a:t>
            </a:r>
            <a:endParaRPr lang="en-US" altLang="en-US" sz="2400"/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6781800" y="4567238"/>
            <a:ext cx="22256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Tahoma" panose="020B0604030504040204" pitchFamily="34" charset="0"/>
              </a:rPr>
              <a:t>Triplets (3-itemsets)</a:t>
            </a:r>
            <a:endParaRPr lang="en-US" altLang="en-US" sz="2400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auto">
          <a:xfrm>
            <a:off x="5410200" y="4567238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8" name="Line 10"/>
          <p:cNvSpPr>
            <a:spLocks noChangeShapeType="1"/>
          </p:cNvSpPr>
          <p:nvPr/>
        </p:nvSpPr>
        <p:spPr bwMode="auto">
          <a:xfrm>
            <a:off x="2819400" y="2509838"/>
            <a:ext cx="304800" cy="304800"/>
          </a:xfrm>
          <a:prstGeom prst="line">
            <a:avLst/>
          </a:prstGeom>
          <a:noFill/>
          <a:ln w="73025" cmpd="tri">
            <a:solidFill>
              <a:srgbClr val="CC0000"/>
            </a:solidFill>
            <a:round/>
            <a:headEnd/>
            <a:tailEnd type="arrow" w="med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9" name="Line 11"/>
          <p:cNvSpPr>
            <a:spLocks noChangeShapeType="1"/>
          </p:cNvSpPr>
          <p:nvPr/>
        </p:nvSpPr>
        <p:spPr bwMode="auto">
          <a:xfrm>
            <a:off x="6934200" y="5938838"/>
            <a:ext cx="304800" cy="304800"/>
          </a:xfrm>
          <a:prstGeom prst="line">
            <a:avLst/>
          </a:prstGeom>
          <a:noFill/>
          <a:ln w="38100" cap="rnd">
            <a:solidFill>
              <a:srgbClr val="CC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40" name="Text Box 12"/>
          <p:cNvSpPr txBox="1">
            <a:spLocks noChangeArrowheads="1"/>
          </p:cNvSpPr>
          <p:nvPr/>
        </p:nvSpPr>
        <p:spPr bwMode="auto">
          <a:xfrm>
            <a:off x="304800" y="4338638"/>
            <a:ext cx="2659063" cy="41275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latin typeface="Tahoma" panose="020B0604030504040204" pitchFamily="34" charset="0"/>
              </a:rPr>
              <a:t>Minimum Support = 3</a:t>
            </a:r>
          </a:p>
        </p:txBody>
      </p:sp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304800" y="5048250"/>
            <a:ext cx="3227388" cy="12001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>
                <a:latin typeface="Tahoma" panose="020B0604030504040204" pitchFamily="34" charset="0"/>
              </a:rPr>
              <a:t>If every subset is considered, </a:t>
            </a:r>
          </a:p>
          <a:p>
            <a:r>
              <a:rPr lang="en-US" altLang="en-US" sz="1800">
                <a:latin typeface="Tahoma" panose="020B0604030504040204" pitchFamily="34" charset="0"/>
              </a:rPr>
              <a:t>	</a:t>
            </a:r>
            <a:r>
              <a:rPr lang="en-US" altLang="en-US" sz="1800" baseline="30000">
                <a:latin typeface="Tahoma" panose="020B0604030504040204" pitchFamily="34" charset="0"/>
              </a:rPr>
              <a:t>6</a:t>
            </a:r>
            <a:r>
              <a:rPr lang="en-US" altLang="en-US" sz="1800">
                <a:latin typeface="Tahoma" panose="020B0604030504040204" pitchFamily="34" charset="0"/>
              </a:rPr>
              <a:t>C</a:t>
            </a:r>
            <a:r>
              <a:rPr lang="en-US" altLang="en-US" sz="1800" baseline="-25000">
                <a:latin typeface="Tahoma" panose="020B0604030504040204" pitchFamily="34" charset="0"/>
              </a:rPr>
              <a:t>1</a:t>
            </a:r>
            <a:r>
              <a:rPr lang="en-US" altLang="en-US" sz="1800">
                <a:latin typeface="Tahoma" panose="020B0604030504040204" pitchFamily="34" charset="0"/>
              </a:rPr>
              <a:t> + </a:t>
            </a:r>
            <a:r>
              <a:rPr lang="en-US" altLang="en-US" sz="1800" baseline="30000">
                <a:latin typeface="Tahoma" panose="020B0604030504040204" pitchFamily="34" charset="0"/>
              </a:rPr>
              <a:t>6</a:t>
            </a:r>
            <a:r>
              <a:rPr lang="en-US" altLang="en-US" sz="1800">
                <a:latin typeface="Tahoma" panose="020B0604030504040204" pitchFamily="34" charset="0"/>
              </a:rPr>
              <a:t>C</a:t>
            </a:r>
            <a:r>
              <a:rPr lang="en-US" altLang="en-US" sz="1800" baseline="-25000">
                <a:latin typeface="Tahoma" panose="020B0604030504040204" pitchFamily="34" charset="0"/>
              </a:rPr>
              <a:t>2</a:t>
            </a:r>
            <a:r>
              <a:rPr lang="en-US" altLang="en-US" sz="1800">
                <a:latin typeface="Tahoma" panose="020B0604030504040204" pitchFamily="34" charset="0"/>
              </a:rPr>
              <a:t> + </a:t>
            </a:r>
            <a:r>
              <a:rPr lang="en-US" altLang="en-US" sz="1800" baseline="30000">
                <a:latin typeface="Tahoma" panose="020B0604030504040204" pitchFamily="34" charset="0"/>
              </a:rPr>
              <a:t>6</a:t>
            </a:r>
            <a:r>
              <a:rPr lang="en-US" altLang="en-US" sz="1800">
                <a:latin typeface="Tahoma" panose="020B0604030504040204" pitchFamily="34" charset="0"/>
              </a:rPr>
              <a:t>C</a:t>
            </a:r>
            <a:r>
              <a:rPr lang="en-US" altLang="en-US" sz="1800" baseline="-25000">
                <a:latin typeface="Tahoma" panose="020B0604030504040204" pitchFamily="34" charset="0"/>
              </a:rPr>
              <a:t>3</a:t>
            </a:r>
            <a:r>
              <a:rPr lang="en-US" altLang="en-US" sz="1800">
                <a:latin typeface="Tahoma" panose="020B0604030504040204" pitchFamily="34" charset="0"/>
              </a:rPr>
              <a:t> = 41</a:t>
            </a:r>
          </a:p>
          <a:p>
            <a:r>
              <a:rPr lang="en-US" altLang="en-US" sz="1800">
                <a:latin typeface="Tahoma" panose="020B0604030504040204" pitchFamily="34" charset="0"/>
              </a:rPr>
              <a:t>With support-based pruning,</a:t>
            </a:r>
          </a:p>
          <a:p>
            <a:r>
              <a:rPr lang="en-US" altLang="en-US" sz="1800">
                <a:latin typeface="Tahoma" panose="020B0604030504040204" pitchFamily="34" charset="0"/>
              </a:rPr>
              <a:t>	6 + 6 + 1 = 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543800" cy="76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Apriori Algorithm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848600" cy="5029200"/>
          </a:xfrm>
        </p:spPr>
        <p:txBody>
          <a:bodyPr rtlCol="0">
            <a:normAutofit/>
          </a:bodyPr>
          <a:lstStyle/>
          <a:p>
            <a:pPr marL="91440" indent="-91440" eaLnBrk="1" fontAlgn="auto" hangingPunct="1">
              <a:spcAft>
                <a:spcPts val="0"/>
              </a:spcAft>
              <a:defRPr/>
            </a:pPr>
            <a:r>
              <a:rPr lang="en-US" altLang="en-US" sz="2400" u="sng">
                <a:solidFill>
                  <a:schemeClr val="tx1">
                    <a:lumMod val="75000"/>
                    <a:lumOff val="25000"/>
                  </a:schemeClr>
                </a:solidFill>
              </a:rPr>
              <a:t>Pseudo-code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: Candidate itemset of size k</a:t>
            </a: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: frequent itemset of size k</a:t>
            </a:r>
          </a:p>
          <a:p>
            <a:pPr marL="91440" indent="-9144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= {frequent items};</a:t>
            </a: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b="1">
                <a:solidFill>
                  <a:srgbClr val="F83F24"/>
                </a:solidFill>
              </a:rPr>
              <a:t>for</a:t>
            </a:r>
            <a:r>
              <a:rPr lang="en-US" altLang="en-US" sz="1800" b="1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= 1;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!=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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;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++) </a:t>
            </a:r>
            <a:r>
              <a:rPr lang="en-US" altLang="en-US" sz="1800" b="1">
                <a:solidFill>
                  <a:srgbClr val="F83F24"/>
                </a:solidFill>
              </a:rPr>
              <a:t>do begin</a:t>
            </a:r>
            <a:endParaRPr lang="en-US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   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k+1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= candidates generated from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// join and prune steps</a:t>
            </a: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en-US" sz="1800" b="1">
                <a:solidFill>
                  <a:srgbClr val="F83F24"/>
                </a:solidFill>
              </a:rPr>
              <a:t>for each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transaction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in database do</a:t>
            </a:r>
          </a:p>
          <a:p>
            <a:pPr marL="749808" lvl="3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       increment the count of all candidates in </a:t>
            </a:r>
            <a:r>
              <a:rPr lang="en-US" altLang="en-US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en-US" sz="16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k+1</a:t>
            </a:r>
            <a:r>
              <a:rPr lang="en-US" alt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that are contained in </a:t>
            </a:r>
            <a:r>
              <a:rPr lang="en-US" altLang="en-US" sz="1600" i="1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endParaRPr lang="en-US" alt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k+1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 = candidates in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k+1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with min_support (frequent)</a:t>
            </a: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  </a:t>
            </a:r>
            <a:r>
              <a:rPr lang="en-US" altLang="en-US" sz="1800" b="1">
                <a:solidFill>
                  <a:srgbClr val="F83F24"/>
                </a:solidFill>
              </a:rPr>
              <a:t> end</a:t>
            </a:r>
            <a:endParaRPr lang="en-US" alt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66928" lvl="2" indent="-182880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1800" b="1">
                <a:solidFill>
                  <a:srgbClr val="F83F24"/>
                </a:solidFill>
              </a:rPr>
              <a:t>return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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1800" i="1">
                <a:solidFill>
                  <a:schemeClr val="tx1">
                    <a:lumMod val="75000"/>
                    <a:lumOff val="25000"/>
                  </a:schemeClr>
                </a:solidFill>
              </a:rPr>
              <a:t>L</a:t>
            </a:r>
            <a:r>
              <a:rPr lang="en-US" altLang="en-US" sz="1800" i="1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eaLnBrk="1" fontAlgn="auto" hangingPunct="1">
              <a:spcAft>
                <a:spcPts val="0"/>
              </a:spcAft>
              <a:defRPr/>
            </a:pPr>
            <a:r>
              <a:rPr lang="en-US" altLang="en-US" sz="2400">
                <a:solidFill>
                  <a:srgbClr val="0000FF"/>
                </a:solidFill>
              </a:rPr>
              <a:t>Important steps in candidate generation:</a:t>
            </a:r>
          </a:p>
          <a:p>
            <a:pPr marL="384048" lvl="1" indent="-182880" eaLnBrk="1" fontAlgn="auto" hangingPunct="1">
              <a:spcAft>
                <a:spcPts val="0"/>
              </a:spcAft>
              <a:defRPr/>
            </a:pPr>
            <a:r>
              <a:rPr lang="en-US" altLang="en-US" sz="2000">
                <a:solidFill>
                  <a:srgbClr val="0000FF"/>
                </a:solidFill>
              </a:rPr>
              <a:t>Join Step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altLang="en-US" sz="1400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k+1</a:t>
            </a:r>
            <a:r>
              <a:rPr lang="en-US" alt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is generated by joining L</a:t>
            </a:r>
            <a:r>
              <a:rPr lang="en-US" altLang="en-US" sz="1400" baseline="-25000">
                <a:solidFill>
                  <a:schemeClr val="tx1">
                    <a:lumMod val="75000"/>
                    <a:lumOff val="25000"/>
                  </a:schemeClr>
                </a:solidFill>
              </a:rPr>
              <a:t>k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with itself</a:t>
            </a:r>
          </a:p>
          <a:p>
            <a:pPr marL="384048" lvl="1" indent="-182880" eaLnBrk="1" fontAlgn="auto" hangingPunct="1">
              <a:spcAft>
                <a:spcPts val="0"/>
              </a:spcAft>
              <a:defRPr/>
            </a:pPr>
            <a:r>
              <a:rPr lang="en-US" altLang="en-US" sz="2000">
                <a:solidFill>
                  <a:srgbClr val="0000FF"/>
                </a:solidFill>
              </a:rPr>
              <a:t>Prune Step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Any k-itemset that is not frequent cannot be a subset of a frequent (k+1)-itemset</a:t>
            </a:r>
            <a:endParaRPr lang="en-US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83820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Apriori Algorithm — Example</a:t>
            </a:r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303213" y="1795463"/>
          <a:ext cx="1814512" cy="162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8" name="Worksheet" r:id="rId4" imgW="1667372" imgH="1743437" progId="Excel.Sheet.8">
                  <p:embed/>
                </p:oleObj>
              </mc:Choice>
              <mc:Fallback>
                <p:oleObj name="Worksheet" r:id="rId4" imgW="1667372" imgH="1743437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3" y="1795463"/>
                        <a:ext cx="1814512" cy="162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55588" y="1389063"/>
            <a:ext cx="159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/>
              <a:t>Database D</a:t>
            </a:r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3262313" y="1468438"/>
          <a:ext cx="1824037" cy="194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9" name="Worksheet" r:id="rId6" imgW="1619701" imgH="2086337" progId="Excel.Sheet.8">
                  <p:embed/>
                </p:oleObj>
              </mc:Choice>
              <mc:Fallback>
                <p:oleObj name="Worksheet" r:id="rId6" imgW="1619701" imgH="2086337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1468438"/>
                        <a:ext cx="1824037" cy="194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5784850" y="1560513"/>
          <a:ext cx="2046288" cy="16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0" name="Worksheet" r:id="rId8" imgW="1619701" imgH="1743437" progId="Excel.Sheet.8">
                  <p:embed/>
                </p:oleObj>
              </mc:Choice>
              <mc:Fallback>
                <p:oleObj name="Worksheet" r:id="rId8" imgW="1619701" imgH="1743437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4850" y="1560513"/>
                        <a:ext cx="2046288" cy="166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2181225" y="2273300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/>
              <a:t>Scan D</a:t>
            </a:r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2297113" y="2719388"/>
            <a:ext cx="8318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2759075" y="172085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1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5346700" y="15636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L</a:t>
            </a:r>
            <a:r>
              <a:rPr lang="en-US" altLang="en-US" sz="2400" i="1" baseline="-25000"/>
              <a:t>1</a:t>
            </a:r>
          </a:p>
        </p:txBody>
      </p:sp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6610350" y="3381375"/>
          <a:ext cx="1120775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1" name="Worksheet" r:id="rId10" imgW="990961" imgH="2429237" progId="Excel.Sheet.8">
                  <p:embed/>
                </p:oleObj>
              </mc:Choice>
              <mc:Fallback>
                <p:oleObj name="Worksheet" r:id="rId10" imgW="990961" imgH="2429237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350" y="3381375"/>
                        <a:ext cx="1120775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4" name="Object 12"/>
          <p:cNvGraphicFramePr>
            <a:graphicFrameLocks noChangeAspect="1"/>
          </p:cNvGraphicFramePr>
          <p:nvPr/>
        </p:nvGraphicFramePr>
        <p:xfrm>
          <a:off x="3200400" y="3492500"/>
          <a:ext cx="17367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2" name="Worksheet" r:id="rId12" imgW="1581421" imgH="2429237" progId="Excel.Sheet.8">
                  <p:embed/>
                </p:oleObj>
              </mc:Choice>
              <mc:Fallback>
                <p:oleObj name="Worksheet" r:id="rId12" imgW="1581421" imgH="2429237" progId="Excel.Shee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92500"/>
                        <a:ext cx="17367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812800" y="3756025"/>
          <a:ext cx="171767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3" name="Worksheet" r:id="rId14" imgW="1581421" imgH="1743437" progId="Excel.Sheet.8">
                  <p:embed/>
                </p:oleObj>
              </mc:Choice>
              <mc:Fallback>
                <p:oleObj name="Worksheet" r:id="rId14" imgW="1581421" imgH="1743437" progId="Excel.Sheet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3756025"/>
                        <a:ext cx="171767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301625" y="372903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L</a:t>
            </a:r>
            <a:r>
              <a:rPr lang="en-US" altLang="en-US" sz="2400" i="1" baseline="-25000"/>
              <a:t>2</a:t>
            </a:r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2728913" y="33321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2</a:t>
            </a:r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6016625" y="3382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2</a:t>
            </a:r>
          </a:p>
        </p:txBody>
      </p:sp>
      <p:sp>
        <p:nvSpPr>
          <p:cNvPr id="54289" name="Line 17"/>
          <p:cNvSpPr>
            <a:spLocks noChangeShapeType="1"/>
          </p:cNvSpPr>
          <p:nvPr/>
        </p:nvSpPr>
        <p:spPr bwMode="auto">
          <a:xfrm flipH="1">
            <a:off x="5127625" y="4252913"/>
            <a:ext cx="1120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54290" name="Text Box 18"/>
          <p:cNvSpPr txBox="1">
            <a:spLocks noChangeArrowheads="1"/>
          </p:cNvSpPr>
          <p:nvPr/>
        </p:nvSpPr>
        <p:spPr bwMode="auto">
          <a:xfrm>
            <a:off x="5148263" y="3751263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/>
              <a:t>Scan D</a:t>
            </a:r>
          </a:p>
        </p:txBody>
      </p:sp>
      <p:sp>
        <p:nvSpPr>
          <p:cNvPr id="54291" name="AutoShape 19"/>
          <p:cNvSpPr>
            <a:spLocks noChangeArrowheads="1"/>
          </p:cNvSpPr>
          <p:nvPr/>
        </p:nvSpPr>
        <p:spPr bwMode="auto">
          <a:xfrm>
            <a:off x="7861300" y="3070225"/>
            <a:ext cx="627063" cy="855663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4292" name="Line 20"/>
          <p:cNvSpPr>
            <a:spLocks noChangeShapeType="1"/>
          </p:cNvSpPr>
          <p:nvPr/>
        </p:nvSpPr>
        <p:spPr bwMode="auto">
          <a:xfrm>
            <a:off x="2535238" y="6299200"/>
            <a:ext cx="1692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698500" y="580231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3</a:t>
            </a:r>
          </a:p>
        </p:txBody>
      </p:sp>
      <p:sp>
        <p:nvSpPr>
          <p:cNvPr id="54294" name="Text Box 22"/>
          <p:cNvSpPr txBox="1">
            <a:spLocks noChangeArrowheads="1"/>
          </p:cNvSpPr>
          <p:nvPr/>
        </p:nvSpPr>
        <p:spPr bwMode="auto">
          <a:xfrm>
            <a:off x="4114800" y="57912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L</a:t>
            </a:r>
            <a:r>
              <a:rPr lang="en-US" altLang="en-US" sz="2400" i="1" baseline="-25000"/>
              <a:t>3</a:t>
            </a:r>
          </a:p>
        </p:txBody>
      </p:sp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1166813" y="5845175"/>
          <a:ext cx="1125537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4" name="Worksheet" r:id="rId16" imgW="990961" imgH="714737" progId="Excel.Sheet.8">
                  <p:embed/>
                </p:oleObj>
              </mc:Choice>
              <mc:Fallback>
                <p:oleObj name="Worksheet" r:id="rId16" imgW="990961" imgH="714737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845175"/>
                        <a:ext cx="1125537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2732088" y="5881688"/>
            <a:ext cx="1073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/>
              <a:t>Scan D</a:t>
            </a:r>
          </a:p>
        </p:txBody>
      </p:sp>
      <p:graphicFrame>
        <p:nvGraphicFramePr>
          <p:cNvPr id="54297" name="Object 25"/>
          <p:cNvGraphicFramePr>
            <a:graphicFrameLocks noChangeAspect="1"/>
          </p:cNvGraphicFramePr>
          <p:nvPr/>
        </p:nvGraphicFramePr>
        <p:xfrm>
          <a:off x="4568825" y="5835650"/>
          <a:ext cx="17541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5" name="Worksheet" r:id="rId18" imgW="1581421" imgH="705332" progId="Excel.Sheet.8">
                  <p:embed/>
                </p:oleObj>
              </mc:Choice>
              <mc:Fallback>
                <p:oleObj name="Worksheet" r:id="rId18" imgW="1581421" imgH="705332" progId="Excel.Sheet.8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5835650"/>
                        <a:ext cx="17541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8" name="AutoShape 26"/>
          <p:cNvSpPr>
            <a:spLocks noChangeArrowheads="1"/>
          </p:cNvSpPr>
          <p:nvPr/>
        </p:nvSpPr>
        <p:spPr bwMode="auto">
          <a:xfrm>
            <a:off x="201613" y="4846638"/>
            <a:ext cx="441325" cy="1249362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>
            <a:off x="5181600" y="2438400"/>
            <a:ext cx="527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 flipH="1">
            <a:off x="2667000" y="46482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54301" name="Rectangle 29"/>
          <p:cNvSpPr>
            <a:spLocks noChangeArrowheads="1"/>
          </p:cNvSpPr>
          <p:nvPr/>
        </p:nvSpPr>
        <p:spPr bwMode="auto">
          <a:xfrm>
            <a:off x="152400" y="3276600"/>
            <a:ext cx="27193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>
                <a:solidFill>
                  <a:srgbClr val="0000FF"/>
                </a:solidFill>
                <a:latin typeface="Verdana" panose="020B0604030504040204" pitchFamily="34" charset="0"/>
              </a:rPr>
              <a:t>min_sup=2=50%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200">
                <a:solidFill>
                  <a:schemeClr val="tx1">
                    <a:lumMod val="75000"/>
                    <a:lumOff val="25000"/>
                  </a:schemeClr>
                </a:solidFill>
              </a:rPr>
              <a:t>AprioriTid Example (min_sup=2)</a:t>
            </a:r>
          </a:p>
        </p:txBody>
      </p:sp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757238" y="1816100"/>
          <a:ext cx="1539875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8" name="Worksheet" r:id="rId4" imgW="1667372" imgH="1743437" progId="Excel.Sheet.8">
                  <p:embed/>
                </p:oleObj>
              </mc:Choice>
              <mc:Fallback>
                <p:oleObj name="Worksheet" r:id="rId4" imgW="1667372" imgH="1743437" progId="Excel.Sheet.8">
                  <p:embed/>
                  <p:pic>
                    <p:nvPicPr>
                      <p:cNvPr id="696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1816100"/>
                        <a:ext cx="1539875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812800" y="1468438"/>
            <a:ext cx="1362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Database D</a:t>
            </a:r>
          </a:p>
        </p:txBody>
      </p:sp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6323013" y="1695450"/>
          <a:ext cx="175895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39" name="Worksheet" r:id="rId6" imgW="1619701" imgH="1743437" progId="Excel.Sheet.8">
                  <p:embed/>
                </p:oleObj>
              </mc:Choice>
              <mc:Fallback>
                <p:oleObj name="Worksheet" r:id="rId6" imgW="1619701" imgH="1743437" progId="Excel.Sheet.8">
                  <p:embed/>
                  <p:pic>
                    <p:nvPicPr>
                      <p:cNvPr id="69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3013" y="1695450"/>
                        <a:ext cx="175895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7010400" y="12192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L</a:t>
            </a:r>
            <a:r>
              <a:rPr lang="en-US" altLang="en-US" sz="2400" i="1" baseline="-25000"/>
              <a:t>1</a:t>
            </a:r>
          </a:p>
        </p:txBody>
      </p:sp>
      <p:graphicFrame>
        <p:nvGraphicFramePr>
          <p:cNvPr id="69639" name="Object 7"/>
          <p:cNvGraphicFramePr>
            <a:graphicFrameLocks noChangeAspect="1"/>
          </p:cNvGraphicFramePr>
          <p:nvPr/>
        </p:nvGraphicFramePr>
        <p:xfrm>
          <a:off x="914400" y="3416300"/>
          <a:ext cx="1066800" cy="222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0" name="Worksheet" r:id="rId8" imgW="990961" imgH="2429237" progId="Excel.Sheet.8">
                  <p:embed/>
                </p:oleObj>
              </mc:Choice>
              <mc:Fallback>
                <p:oleObj name="Worksheet" r:id="rId8" imgW="990961" imgH="2429237" progId="Excel.Sheet.8">
                  <p:embed/>
                  <p:pic>
                    <p:nvPicPr>
                      <p:cNvPr id="696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416300"/>
                        <a:ext cx="1066800" cy="222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/>
          <p:cNvGraphicFramePr>
            <a:graphicFrameLocks noChangeAspect="1"/>
          </p:cNvGraphicFramePr>
          <p:nvPr/>
        </p:nvGraphicFramePr>
        <p:xfrm>
          <a:off x="6484938" y="3836988"/>
          <a:ext cx="1504950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1" name="Worksheet" r:id="rId10" imgW="1581421" imgH="1743437" progId="Excel.Sheet.8">
                  <p:embed/>
                </p:oleObj>
              </mc:Choice>
              <mc:Fallback>
                <p:oleObj name="Worksheet" r:id="rId10" imgW="1581421" imgH="1743437" progId="Excel.Sheet.8">
                  <p:embed/>
                  <p:pic>
                    <p:nvPicPr>
                      <p:cNvPr id="696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3836988"/>
                        <a:ext cx="1504950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1" name="Text Box 9"/>
          <p:cNvSpPr txBox="1">
            <a:spLocks noChangeArrowheads="1"/>
          </p:cNvSpPr>
          <p:nvPr/>
        </p:nvSpPr>
        <p:spPr bwMode="auto">
          <a:xfrm>
            <a:off x="7010400" y="33797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L</a:t>
            </a:r>
            <a:r>
              <a:rPr lang="en-US" altLang="en-US" sz="2400" i="1" baseline="-25000"/>
              <a:t>2</a:t>
            </a:r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331788" y="387350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2</a:t>
            </a:r>
          </a:p>
        </p:txBody>
      </p:sp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5557838" y="5988050"/>
            <a:ext cx="590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3</a:t>
            </a:r>
            <a:r>
              <a:rPr lang="en-US" altLang="en-US" sz="2400" i="1"/>
              <a:t>’</a:t>
            </a:r>
          </a:p>
        </p:txBody>
      </p:sp>
      <p:graphicFrame>
        <p:nvGraphicFramePr>
          <p:cNvPr id="69644" name="Object 13"/>
          <p:cNvGraphicFramePr>
            <a:graphicFrameLocks noChangeAspect="1"/>
          </p:cNvGraphicFramePr>
          <p:nvPr/>
        </p:nvGraphicFramePr>
        <p:xfrm>
          <a:off x="914400" y="5668963"/>
          <a:ext cx="1125538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2" name="Worksheet" r:id="rId12" imgW="990961" imgH="714737" progId="Excel.Sheet.8">
                  <p:embed/>
                </p:oleObj>
              </mc:Choice>
              <mc:Fallback>
                <p:oleObj name="Worksheet" r:id="rId12" imgW="990961" imgH="714737" progId="Excel.Sheet.8">
                  <p:embed/>
                  <p:pic>
                    <p:nvPicPr>
                      <p:cNvPr id="6964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668963"/>
                        <a:ext cx="1125538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4"/>
          <p:cNvGraphicFramePr>
            <a:graphicFrameLocks noChangeAspect="1"/>
          </p:cNvGraphicFramePr>
          <p:nvPr/>
        </p:nvGraphicFramePr>
        <p:xfrm>
          <a:off x="6484938" y="5565775"/>
          <a:ext cx="175418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3" name="Worksheet" r:id="rId14" imgW="1581421" imgH="705332" progId="Excel.Sheet.8">
                  <p:embed/>
                </p:oleObj>
              </mc:Choice>
              <mc:Fallback>
                <p:oleObj name="Worksheet" r:id="rId14" imgW="1581421" imgH="705332" progId="Excel.Sheet.8">
                  <p:embed/>
                  <p:pic>
                    <p:nvPicPr>
                      <p:cNvPr id="6964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4938" y="5565775"/>
                        <a:ext cx="1754187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6" name="Rectangle 15"/>
          <p:cNvSpPr>
            <a:spLocks noChangeArrowheads="1"/>
          </p:cNvSpPr>
          <p:nvPr/>
        </p:nvSpPr>
        <p:spPr bwMode="auto">
          <a:xfrm>
            <a:off x="4953000" y="2384425"/>
            <a:ext cx="9525" cy="9525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graphicFrame>
        <p:nvGraphicFramePr>
          <p:cNvPr id="362512" name="Group 16"/>
          <p:cNvGraphicFramePr>
            <a:graphicFrameLocks noGrp="1"/>
          </p:cNvGraphicFramePr>
          <p:nvPr/>
        </p:nvGraphicFramePr>
        <p:xfrm>
          <a:off x="3048000" y="1857375"/>
          <a:ext cx="2514600" cy="123666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TID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1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Sets of itemsets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6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{{1},{3},{4}}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{{2},{3},{5}}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{{1},{2},{3},{5}}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400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{{2},{5}}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667" name="Text Box 36"/>
          <p:cNvSpPr txBox="1">
            <a:spLocks noChangeArrowheads="1"/>
          </p:cNvSpPr>
          <p:nvPr/>
        </p:nvSpPr>
        <p:spPr bwMode="auto">
          <a:xfrm>
            <a:off x="3863975" y="135890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1</a:t>
            </a:r>
            <a:r>
              <a:rPr lang="en-US" altLang="en-US" sz="2400" i="1"/>
              <a:t>’</a:t>
            </a:r>
          </a:p>
        </p:txBody>
      </p:sp>
      <p:graphicFrame>
        <p:nvGraphicFramePr>
          <p:cNvPr id="362533" name="Group 37"/>
          <p:cNvGraphicFramePr>
            <a:graphicFrameLocks noGrp="1"/>
          </p:cNvGraphicFramePr>
          <p:nvPr/>
        </p:nvGraphicFramePr>
        <p:xfrm>
          <a:off x="2795588" y="3805238"/>
          <a:ext cx="2790825" cy="1335087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9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TID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1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Sets of itemsets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82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{{1 3}}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4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{{2 3},{2 5},{3 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9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{{1 2},{1 3},{1 5},   {2 3},{2 5},{3 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9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400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{{2 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688" name="Text Box 57"/>
          <p:cNvSpPr txBox="1">
            <a:spLocks noChangeArrowheads="1"/>
          </p:cNvSpPr>
          <p:nvPr/>
        </p:nvSpPr>
        <p:spPr bwMode="auto">
          <a:xfrm>
            <a:off x="3348038" y="3200400"/>
            <a:ext cx="704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1</a:t>
            </a:r>
            <a:r>
              <a:rPr lang="en-US" altLang="en-US" sz="2400" i="1"/>
              <a:t>’</a:t>
            </a:r>
          </a:p>
        </p:txBody>
      </p:sp>
      <p:sp>
        <p:nvSpPr>
          <p:cNvPr id="69689" name="Line 58"/>
          <p:cNvSpPr>
            <a:spLocks noChangeShapeType="1"/>
          </p:cNvSpPr>
          <p:nvPr/>
        </p:nvSpPr>
        <p:spPr bwMode="auto">
          <a:xfrm>
            <a:off x="5586413" y="2336800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9690" name="Line 59"/>
          <p:cNvSpPr>
            <a:spLocks noChangeShapeType="1"/>
          </p:cNvSpPr>
          <p:nvPr/>
        </p:nvSpPr>
        <p:spPr bwMode="auto">
          <a:xfrm>
            <a:off x="1981200" y="4487863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9691" name="Line 60"/>
          <p:cNvSpPr>
            <a:spLocks noChangeShapeType="1"/>
          </p:cNvSpPr>
          <p:nvPr/>
        </p:nvSpPr>
        <p:spPr bwMode="auto">
          <a:xfrm>
            <a:off x="5586413" y="4487863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9692" name="Text Box 61"/>
          <p:cNvSpPr txBox="1">
            <a:spLocks noChangeArrowheads="1"/>
          </p:cNvSpPr>
          <p:nvPr/>
        </p:nvSpPr>
        <p:spPr bwMode="auto">
          <a:xfrm>
            <a:off x="268288" y="5668963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C</a:t>
            </a:r>
            <a:r>
              <a:rPr lang="en-US" altLang="en-US" sz="2400" i="1" baseline="-25000"/>
              <a:t>3</a:t>
            </a:r>
          </a:p>
        </p:txBody>
      </p:sp>
      <p:sp>
        <p:nvSpPr>
          <p:cNvPr id="69693" name="Line 62"/>
          <p:cNvSpPr>
            <a:spLocks noChangeShapeType="1"/>
          </p:cNvSpPr>
          <p:nvPr/>
        </p:nvSpPr>
        <p:spPr bwMode="auto">
          <a:xfrm>
            <a:off x="2039938" y="5867400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graphicFrame>
        <p:nvGraphicFramePr>
          <p:cNvPr id="362559" name="Group 63"/>
          <p:cNvGraphicFramePr>
            <a:graphicFrameLocks noGrp="1"/>
          </p:cNvGraphicFramePr>
          <p:nvPr/>
        </p:nvGraphicFramePr>
        <p:xfrm>
          <a:off x="2816225" y="5627688"/>
          <a:ext cx="2790825" cy="719142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TID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1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Sets of itemsets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1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1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{{2 3 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13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cs typeface="Arial" panose="020B0604020202020204" pitchFamily="34" charset="0"/>
                        </a:rPr>
                        <a:t>{{2 3 5}}</a:t>
                      </a:r>
                    </a:p>
                  </a:txBody>
                  <a:tcPr marL="45720" marR="4572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9708" name="Line 77"/>
          <p:cNvSpPr>
            <a:spLocks noChangeShapeType="1"/>
          </p:cNvSpPr>
          <p:nvPr/>
        </p:nvSpPr>
        <p:spPr bwMode="auto">
          <a:xfrm>
            <a:off x="5607050" y="5867400"/>
            <a:ext cx="6477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69709" name="Text Box 78"/>
          <p:cNvSpPr txBox="1">
            <a:spLocks noChangeArrowheads="1"/>
          </p:cNvSpPr>
          <p:nvPr/>
        </p:nvSpPr>
        <p:spPr bwMode="auto">
          <a:xfrm>
            <a:off x="8239125" y="5399088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i="1"/>
              <a:t>L</a:t>
            </a:r>
            <a:r>
              <a:rPr lang="en-US" altLang="en-US" sz="2400" i="1" baseline="-250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9764234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 of Candidates Generation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7239000" cy="50292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en-US" i="1" dirty="0" smtClean="0"/>
              <a:t>L</a:t>
            </a:r>
            <a:r>
              <a:rPr lang="en-US" altLang="en-US" i="1" baseline="-25000" dirty="0" smtClean="0"/>
              <a:t>3</a:t>
            </a:r>
            <a:r>
              <a:rPr lang="en-US" altLang="en-US" i="1" dirty="0" smtClean="0"/>
              <a:t>=</a:t>
            </a:r>
            <a:r>
              <a:rPr lang="en-US" altLang="en-US" dirty="0" smtClean="0"/>
              <a:t>{</a:t>
            </a:r>
            <a:r>
              <a:rPr lang="en-US" altLang="en-US" i="1" dirty="0" err="1" smtClean="0"/>
              <a:t>abc</a:t>
            </a:r>
            <a:r>
              <a:rPr lang="en-US" altLang="en-US" i="1" dirty="0" smtClean="0"/>
              <a:t>, </a:t>
            </a:r>
            <a:r>
              <a:rPr lang="en-US" altLang="en-US" i="1" dirty="0" err="1" smtClean="0"/>
              <a:t>abd</a:t>
            </a:r>
            <a:r>
              <a:rPr lang="en-US" altLang="en-US" i="1" dirty="0" smtClean="0"/>
              <a:t>, </a:t>
            </a:r>
            <a:r>
              <a:rPr lang="en-US" altLang="en-US" i="1" dirty="0" err="1" smtClean="0"/>
              <a:t>acd</a:t>
            </a:r>
            <a:r>
              <a:rPr lang="en-US" altLang="en-US" i="1" dirty="0" smtClean="0"/>
              <a:t>, ace, </a:t>
            </a:r>
            <a:r>
              <a:rPr lang="en-US" altLang="en-US" i="1" dirty="0" err="1" smtClean="0"/>
              <a:t>bcd</a:t>
            </a:r>
            <a:r>
              <a:rPr lang="en-US" altLang="en-US" dirty="0" smtClean="0"/>
              <a:t>}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dirty="0" smtClean="0"/>
              <a:t>Self-joining: </a:t>
            </a:r>
            <a:r>
              <a:rPr lang="en-US" altLang="en-US" i="1" dirty="0" smtClean="0"/>
              <a:t>L</a:t>
            </a:r>
            <a:r>
              <a:rPr lang="en-US" altLang="en-US" i="1" baseline="-25000" dirty="0" smtClean="0"/>
              <a:t>3</a:t>
            </a:r>
            <a:r>
              <a:rPr lang="en-US" altLang="en-US" i="1" dirty="0" smtClean="0"/>
              <a:t>*L</a:t>
            </a:r>
            <a:r>
              <a:rPr lang="en-US" altLang="en-US" i="1" baseline="-25000" dirty="0" smtClean="0"/>
              <a:t>3</a:t>
            </a:r>
            <a:endParaRPr lang="en-US" altLang="en-US" i="1" dirty="0" smtClean="0"/>
          </a:p>
          <a:p>
            <a:pPr lvl="1" eaLnBrk="1" hangingPunct="1">
              <a:lnSpc>
                <a:spcPct val="140000"/>
              </a:lnSpc>
            </a:pPr>
            <a:r>
              <a:rPr lang="en-US" altLang="en-US" i="1" dirty="0" err="1" smtClean="0"/>
              <a:t>abcd</a:t>
            </a:r>
            <a:r>
              <a:rPr lang="en-US" altLang="en-US" i="1" dirty="0" smtClean="0"/>
              <a:t>  </a:t>
            </a:r>
            <a:r>
              <a:rPr lang="en-US" altLang="en-US" dirty="0" smtClean="0"/>
              <a:t>from </a:t>
            </a:r>
            <a:r>
              <a:rPr lang="en-US" altLang="en-US" i="1" dirty="0" err="1" smtClean="0"/>
              <a:t>abc</a:t>
            </a:r>
            <a:r>
              <a:rPr lang="en-US" altLang="en-US" dirty="0" smtClean="0"/>
              <a:t> and </a:t>
            </a:r>
            <a:r>
              <a:rPr lang="en-US" altLang="en-US" i="1" dirty="0" err="1" smtClean="0"/>
              <a:t>abd</a:t>
            </a:r>
            <a:endParaRPr lang="en-US" altLang="en-US" i="1" dirty="0" smtClean="0"/>
          </a:p>
          <a:p>
            <a:pPr lvl="1" eaLnBrk="1" hangingPunct="1">
              <a:lnSpc>
                <a:spcPct val="140000"/>
              </a:lnSpc>
            </a:pPr>
            <a:r>
              <a:rPr lang="en-US" altLang="en-US" i="1" dirty="0" err="1" smtClean="0"/>
              <a:t>acde</a:t>
            </a:r>
            <a:r>
              <a:rPr lang="en-US" altLang="en-US" dirty="0" smtClean="0"/>
              <a:t>  from </a:t>
            </a:r>
            <a:r>
              <a:rPr lang="en-US" altLang="en-US" i="1" dirty="0" err="1" smtClean="0"/>
              <a:t>acd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ace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dirty="0" smtClean="0"/>
              <a:t>Pruning: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en-US" i="1" dirty="0" err="1" smtClean="0"/>
              <a:t>acde</a:t>
            </a:r>
            <a:r>
              <a:rPr lang="en-US" altLang="en-US" dirty="0" smtClean="0"/>
              <a:t> is removed because </a:t>
            </a:r>
            <a:r>
              <a:rPr lang="en-US" altLang="en-US" i="1" dirty="0" err="1" smtClean="0"/>
              <a:t>ade</a:t>
            </a:r>
            <a:r>
              <a:rPr lang="en-US" altLang="en-US" dirty="0" smtClean="0"/>
              <a:t> is not in </a:t>
            </a:r>
            <a:r>
              <a:rPr lang="en-US" altLang="en-US" i="1" dirty="0" smtClean="0"/>
              <a:t>L</a:t>
            </a:r>
            <a:r>
              <a:rPr lang="en-US" altLang="en-US" i="1" baseline="-25000" dirty="0" smtClean="0"/>
              <a:t>3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i="1" dirty="0" smtClean="0"/>
              <a:t>C</a:t>
            </a:r>
            <a:r>
              <a:rPr lang="en-US" altLang="en-US" i="1" baseline="-25000" dirty="0" smtClean="0"/>
              <a:t>4</a:t>
            </a:r>
            <a:r>
              <a:rPr lang="en-US" altLang="en-US" dirty="0" smtClean="0"/>
              <a:t>={</a:t>
            </a:r>
            <a:r>
              <a:rPr lang="en-US" altLang="en-US" i="1" dirty="0" err="1" smtClean="0"/>
              <a:t>abcd</a:t>
            </a:r>
            <a:r>
              <a:rPr lang="en-US" altLang="en-US" dirty="0" smtClean="0"/>
              <a:t>}</a:t>
            </a:r>
            <a:endParaRPr lang="en-US" altLang="en-US" i="1" dirty="0" smtClean="0"/>
          </a:p>
        </p:txBody>
      </p:sp>
      <p:grpSp>
        <p:nvGrpSpPr>
          <p:cNvPr id="355332" name="Group 4"/>
          <p:cNvGrpSpPr>
            <a:grpSpLocks/>
          </p:cNvGrpSpPr>
          <p:nvPr/>
        </p:nvGrpSpPr>
        <p:grpSpPr bwMode="auto">
          <a:xfrm>
            <a:off x="6248400" y="2433638"/>
            <a:ext cx="2436813" cy="1076325"/>
            <a:chOff x="3936" y="1533"/>
            <a:chExt cx="1535" cy="678"/>
          </a:xfrm>
        </p:grpSpPr>
        <p:sp>
          <p:nvSpPr>
            <p:cNvPr id="58387" name="Text Box 5"/>
            <p:cNvSpPr txBox="1">
              <a:spLocks noChangeArrowheads="1"/>
            </p:cNvSpPr>
            <p:nvPr/>
          </p:nvSpPr>
          <p:spPr bwMode="auto">
            <a:xfrm>
              <a:off x="3936" y="1533"/>
              <a:ext cx="645" cy="237"/>
            </a:xfrm>
            <a:prstGeom prst="rect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F8400E"/>
                  </a:solidFill>
                  <a:latin typeface="Tahoma" panose="020B0604030504040204" pitchFamily="34" charset="0"/>
                </a:rPr>
                <a:t>{</a:t>
              </a:r>
              <a:r>
                <a:rPr lang="en-US" altLang="en-US" sz="1800" b="1">
                  <a:latin typeface="Tahoma" panose="020B0604030504040204" pitchFamily="34" charset="0"/>
                </a:rPr>
                <a:t>a,c,</a:t>
              </a:r>
              <a:r>
                <a:rPr lang="en-US" altLang="en-US" sz="1800" b="1">
                  <a:solidFill>
                    <a:srgbClr val="F8400E"/>
                  </a:solidFill>
                  <a:latin typeface="Tahoma" panose="020B0604030504040204" pitchFamily="34" charset="0"/>
                </a:rPr>
                <a:t>d}</a:t>
              </a:r>
            </a:p>
          </p:txBody>
        </p:sp>
        <p:sp>
          <p:nvSpPr>
            <p:cNvPr id="58388" name="Text Box 6"/>
            <p:cNvSpPr txBox="1">
              <a:spLocks noChangeArrowheads="1"/>
            </p:cNvSpPr>
            <p:nvPr/>
          </p:nvSpPr>
          <p:spPr bwMode="auto">
            <a:xfrm>
              <a:off x="4831" y="1533"/>
              <a:ext cx="640" cy="237"/>
            </a:xfrm>
            <a:prstGeom prst="rect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F8400E"/>
                  </a:solidFill>
                  <a:latin typeface="Tahoma" panose="020B0604030504040204" pitchFamily="34" charset="0"/>
                </a:rPr>
                <a:t>{</a:t>
              </a:r>
              <a:r>
                <a:rPr lang="en-US" altLang="en-US" sz="1800" b="1">
                  <a:latin typeface="Tahoma" panose="020B0604030504040204" pitchFamily="34" charset="0"/>
                </a:rPr>
                <a:t>a,c,</a:t>
              </a:r>
              <a:r>
                <a:rPr lang="en-US" altLang="en-US" sz="1800" b="1">
                  <a:solidFill>
                    <a:srgbClr val="F8400E"/>
                  </a:solidFill>
                  <a:latin typeface="Tahoma" panose="020B0604030504040204" pitchFamily="34" charset="0"/>
                </a:rPr>
                <a:t>e}</a:t>
              </a:r>
            </a:p>
          </p:txBody>
        </p:sp>
        <p:sp>
          <p:nvSpPr>
            <p:cNvPr id="58389" name="Line 7"/>
            <p:cNvSpPr>
              <a:spLocks noChangeShapeType="1"/>
            </p:cNvSpPr>
            <p:nvPr/>
          </p:nvSpPr>
          <p:spPr bwMode="auto">
            <a:xfrm>
              <a:off x="4368" y="1764"/>
              <a:ext cx="240" cy="210"/>
            </a:xfrm>
            <a:prstGeom prst="line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58390" name="Line 8"/>
            <p:cNvSpPr>
              <a:spLocks noChangeShapeType="1"/>
            </p:cNvSpPr>
            <p:nvPr/>
          </p:nvSpPr>
          <p:spPr bwMode="auto">
            <a:xfrm flipH="1">
              <a:off x="4735" y="1764"/>
              <a:ext cx="257" cy="210"/>
            </a:xfrm>
            <a:prstGeom prst="line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58391" name="Text Box 9"/>
            <p:cNvSpPr txBox="1">
              <a:spLocks noChangeArrowheads="1"/>
            </p:cNvSpPr>
            <p:nvPr/>
          </p:nvSpPr>
          <p:spPr bwMode="auto">
            <a:xfrm>
              <a:off x="4344" y="1974"/>
              <a:ext cx="776" cy="237"/>
            </a:xfrm>
            <a:prstGeom prst="rect">
              <a:avLst/>
            </a:prstGeom>
            <a:noFill/>
            <a:ln w="9525">
              <a:solidFill>
                <a:srgbClr val="F8400E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F8400E"/>
                  </a:solidFill>
                  <a:latin typeface="Tahoma" panose="020B0604030504040204" pitchFamily="34" charset="0"/>
                </a:rPr>
                <a:t>{a,c,d,e}</a:t>
              </a:r>
            </a:p>
          </p:txBody>
        </p:sp>
      </p:grpSp>
      <p:grpSp>
        <p:nvGrpSpPr>
          <p:cNvPr id="355338" name="Group 10"/>
          <p:cNvGrpSpPr>
            <a:grpSpLocks/>
          </p:cNvGrpSpPr>
          <p:nvPr/>
        </p:nvGrpSpPr>
        <p:grpSpPr bwMode="auto">
          <a:xfrm>
            <a:off x="6273800" y="3509963"/>
            <a:ext cx="2565400" cy="823912"/>
            <a:chOff x="3952" y="2211"/>
            <a:chExt cx="1616" cy="519"/>
          </a:xfrm>
        </p:grpSpPr>
        <p:sp>
          <p:nvSpPr>
            <p:cNvPr id="58379" name="Line 11"/>
            <p:cNvSpPr>
              <a:spLocks noChangeShapeType="1"/>
            </p:cNvSpPr>
            <p:nvPr/>
          </p:nvSpPr>
          <p:spPr bwMode="auto">
            <a:xfrm flipH="1">
              <a:off x="4128" y="2211"/>
              <a:ext cx="336" cy="28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58380" name="Line 12"/>
            <p:cNvSpPr>
              <a:spLocks noChangeShapeType="1"/>
            </p:cNvSpPr>
            <p:nvPr/>
          </p:nvSpPr>
          <p:spPr bwMode="auto">
            <a:xfrm flipH="1">
              <a:off x="4464" y="2214"/>
              <a:ext cx="117" cy="282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58381" name="Line 13"/>
            <p:cNvSpPr>
              <a:spLocks noChangeShapeType="1"/>
            </p:cNvSpPr>
            <p:nvPr/>
          </p:nvSpPr>
          <p:spPr bwMode="auto">
            <a:xfrm>
              <a:off x="4813" y="2214"/>
              <a:ext cx="388" cy="28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58382" name="Rectangle 14"/>
            <p:cNvSpPr>
              <a:spLocks noChangeArrowheads="1"/>
            </p:cNvSpPr>
            <p:nvPr/>
          </p:nvSpPr>
          <p:spPr bwMode="auto">
            <a:xfrm>
              <a:off x="3952" y="2499"/>
              <a:ext cx="3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8000"/>
                  </a:solidFill>
                  <a:latin typeface="Tahoma" panose="020B0604030504040204" pitchFamily="34" charset="0"/>
                </a:rPr>
                <a:t>acd</a:t>
              </a:r>
            </a:p>
          </p:txBody>
        </p:sp>
        <p:sp>
          <p:nvSpPr>
            <p:cNvPr id="58383" name="Rectangle 15"/>
            <p:cNvSpPr>
              <a:spLocks noChangeArrowheads="1"/>
            </p:cNvSpPr>
            <p:nvPr/>
          </p:nvSpPr>
          <p:spPr bwMode="auto">
            <a:xfrm>
              <a:off x="4337" y="2499"/>
              <a:ext cx="36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8000"/>
                  </a:solidFill>
                  <a:latin typeface="Tahoma" panose="020B0604030504040204" pitchFamily="34" charset="0"/>
                </a:rPr>
                <a:t>ace</a:t>
              </a:r>
            </a:p>
          </p:txBody>
        </p:sp>
        <p:sp>
          <p:nvSpPr>
            <p:cNvPr id="58384" name="Rectangle 16"/>
            <p:cNvSpPr>
              <a:spLocks noChangeArrowheads="1"/>
            </p:cNvSpPr>
            <p:nvPr/>
          </p:nvSpPr>
          <p:spPr bwMode="auto">
            <a:xfrm>
              <a:off x="4728" y="2499"/>
              <a:ext cx="4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8000"/>
                  </a:solidFill>
                  <a:latin typeface="Tahoma" panose="020B0604030504040204" pitchFamily="34" charset="0"/>
                </a:rPr>
                <a:t>ade</a:t>
              </a:r>
            </a:p>
          </p:txBody>
        </p:sp>
        <p:sp>
          <p:nvSpPr>
            <p:cNvPr id="58385" name="Rectangle 17"/>
            <p:cNvSpPr>
              <a:spLocks noChangeArrowheads="1"/>
            </p:cNvSpPr>
            <p:nvPr/>
          </p:nvSpPr>
          <p:spPr bwMode="auto">
            <a:xfrm>
              <a:off x="5095" y="2496"/>
              <a:ext cx="47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8000"/>
                  </a:solidFill>
                  <a:latin typeface="Tahoma" panose="020B0604030504040204" pitchFamily="34" charset="0"/>
                </a:rPr>
                <a:t>cde</a:t>
              </a:r>
            </a:p>
          </p:txBody>
        </p:sp>
        <p:sp>
          <p:nvSpPr>
            <p:cNvPr id="58386" name="Line 18"/>
            <p:cNvSpPr>
              <a:spLocks noChangeShapeType="1"/>
            </p:cNvSpPr>
            <p:nvPr/>
          </p:nvSpPr>
          <p:spPr bwMode="auto">
            <a:xfrm>
              <a:off x="4735" y="2214"/>
              <a:ext cx="96" cy="285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prstDash val="dash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355347" name="Group 19"/>
          <p:cNvGrpSpPr>
            <a:grpSpLocks/>
          </p:cNvGrpSpPr>
          <p:nvPr/>
        </p:nvGrpSpPr>
        <p:grpSpPr bwMode="auto">
          <a:xfrm>
            <a:off x="6397625" y="4143375"/>
            <a:ext cx="1584325" cy="373063"/>
            <a:chOff x="4030" y="2610"/>
            <a:chExt cx="998" cy="235"/>
          </a:xfrm>
        </p:grpSpPr>
        <p:sp>
          <p:nvSpPr>
            <p:cNvPr id="58376" name="Text Box 20"/>
            <p:cNvSpPr txBox="1">
              <a:spLocks noChangeArrowheads="1"/>
            </p:cNvSpPr>
            <p:nvPr/>
          </p:nvSpPr>
          <p:spPr bwMode="auto">
            <a:xfrm>
              <a:off x="4030" y="261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</a:t>
              </a:r>
            </a:p>
          </p:txBody>
        </p:sp>
        <p:sp>
          <p:nvSpPr>
            <p:cNvPr id="58377" name="Text Box 21"/>
            <p:cNvSpPr txBox="1">
              <a:spLocks noChangeArrowheads="1"/>
            </p:cNvSpPr>
            <p:nvPr/>
          </p:nvSpPr>
          <p:spPr bwMode="auto">
            <a:xfrm>
              <a:off x="4413" y="2614"/>
              <a:ext cx="1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</a:t>
              </a:r>
            </a:p>
          </p:txBody>
        </p:sp>
        <p:sp>
          <p:nvSpPr>
            <p:cNvPr id="58378" name="Text Box 22"/>
            <p:cNvSpPr txBox="1">
              <a:spLocks noChangeArrowheads="1"/>
            </p:cNvSpPr>
            <p:nvPr/>
          </p:nvSpPr>
          <p:spPr bwMode="auto">
            <a:xfrm>
              <a:off x="4813" y="2610"/>
              <a:ext cx="21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 b="1">
                  <a:solidFill>
                    <a:srgbClr val="00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X</a:t>
              </a:r>
            </a:p>
          </p:txBody>
        </p:sp>
      </p:grpSp>
      <p:sp>
        <p:nvSpPr>
          <p:cNvPr id="355351" name="Text Box 23"/>
          <p:cNvSpPr txBox="1">
            <a:spLocks noChangeArrowheads="1"/>
          </p:cNvSpPr>
          <p:nvPr/>
        </p:nvSpPr>
        <p:spPr bwMode="auto">
          <a:xfrm>
            <a:off x="7239000" y="3124200"/>
            <a:ext cx="392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000000"/>
                </a:solidFill>
                <a:latin typeface="Tahoma" panose="020B0604030504040204" pitchFamily="34" charset="0"/>
              </a:rPr>
              <a:t>X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8915400" cy="1066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How to Count Supports of Candidates?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8077200" cy="4495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smtClean="0"/>
              <a:t>Why counting supports of candidates a problem?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smtClean="0"/>
              <a:t>The total number of candidates can be huge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smtClean="0"/>
              <a:t>One transaction may contain many candidates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smtClean="0"/>
              <a:t>Method: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smtClean="0"/>
              <a:t>Candidate itemsets are stored in a </a:t>
            </a:r>
            <a:r>
              <a:rPr lang="en-US" altLang="en-US" sz="2000" i="1" smtClean="0">
                <a:solidFill>
                  <a:srgbClr val="0000FF"/>
                </a:solidFill>
              </a:rPr>
              <a:t>hash-tree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i="1" smtClean="0">
                <a:solidFill>
                  <a:srgbClr val="0000FF"/>
                </a:solidFill>
              </a:rPr>
              <a:t>Leaf </a:t>
            </a:r>
            <a:r>
              <a:rPr lang="en-US" altLang="en-US" sz="2000" smtClean="0">
                <a:solidFill>
                  <a:srgbClr val="0000FF"/>
                </a:solidFill>
              </a:rPr>
              <a:t>node</a:t>
            </a:r>
            <a:r>
              <a:rPr lang="en-US" altLang="en-US" sz="2000" smtClean="0">
                <a:solidFill>
                  <a:schemeClr val="hlink"/>
                </a:solidFill>
              </a:rPr>
              <a:t> </a:t>
            </a:r>
            <a:r>
              <a:rPr lang="en-US" altLang="en-US" sz="2000" smtClean="0"/>
              <a:t>of hash-tree contains a list of itemsets and counts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i="1" smtClean="0">
                <a:solidFill>
                  <a:srgbClr val="0000FF"/>
                </a:solidFill>
              </a:rPr>
              <a:t>Interior </a:t>
            </a:r>
            <a:r>
              <a:rPr lang="en-US" altLang="en-US" sz="2000" smtClean="0">
                <a:solidFill>
                  <a:srgbClr val="0000FF"/>
                </a:solidFill>
              </a:rPr>
              <a:t>node</a:t>
            </a:r>
            <a:r>
              <a:rPr lang="en-US" altLang="en-US" sz="2000" smtClean="0"/>
              <a:t> contains a hash table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 i="1" smtClean="0">
                <a:solidFill>
                  <a:srgbClr val="0000FF"/>
                </a:solidFill>
              </a:rPr>
              <a:t>Subset function</a:t>
            </a:r>
            <a:r>
              <a:rPr lang="en-US" altLang="en-US" sz="2000" smtClean="0"/>
              <a:t>: finds all the candidates contained in a transaction</a:t>
            </a:r>
            <a:endParaRPr lang="en-US" altLang="en-US" sz="2000" i="1" smtClean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Problem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2467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1600200"/>
            <a:ext cx="4319588" cy="481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6349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19050"/>
            <a:ext cx="9123362" cy="683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645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4150" y="847725"/>
            <a:ext cx="9297988" cy="575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6554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1417638"/>
            <a:ext cx="9147175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6656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9150350" cy="543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57800"/>
            <a:ext cx="9144000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239000" cy="1066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200">
                <a:solidFill>
                  <a:schemeClr val="tx1">
                    <a:lumMod val="75000"/>
                    <a:lumOff val="25000"/>
                  </a:schemeClr>
                </a:solidFill>
              </a:rPr>
              <a:t>AprioriTid: Use D only for first pass</a:t>
            </a:r>
          </a:p>
        </p:txBody>
      </p:sp>
      <p:sp>
        <p:nvSpPr>
          <p:cNvPr id="67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31163" cy="44958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The database is not used after the 1</a:t>
            </a:r>
            <a:r>
              <a:rPr lang="en-US" altLang="en-US" sz="2400" baseline="30000" smtClean="0"/>
              <a:t>st</a:t>
            </a:r>
            <a:r>
              <a:rPr lang="en-US" altLang="en-US" sz="2400" smtClean="0"/>
              <a:t> pass.</a:t>
            </a:r>
          </a:p>
          <a:p>
            <a:pPr eaLnBrk="1" hangingPunct="1"/>
            <a:r>
              <a:rPr lang="en-US" altLang="en-US" sz="2400" smtClean="0"/>
              <a:t>Instead, the set C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’ is used for each step, C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’ = &lt;TID, {X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}&gt; : each X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 is a potentially frequent itemset in transaction with id=TID.</a:t>
            </a:r>
          </a:p>
          <a:p>
            <a:pPr eaLnBrk="1" hangingPunct="1"/>
            <a:r>
              <a:rPr lang="en-US" altLang="en-US" sz="2400" smtClean="0"/>
              <a:t>At each step C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’ is generated from C</a:t>
            </a:r>
            <a:r>
              <a:rPr lang="en-US" altLang="en-US" sz="2400" baseline="-25000" smtClean="0"/>
              <a:t>k-1</a:t>
            </a:r>
            <a:r>
              <a:rPr lang="en-US" altLang="en-US" sz="2400" smtClean="0"/>
              <a:t>’ at the pruning step of constructing C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 and used to compute L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.</a:t>
            </a:r>
          </a:p>
          <a:p>
            <a:pPr eaLnBrk="1" hangingPunct="1"/>
            <a:r>
              <a:rPr lang="en-US" altLang="en-US" sz="2400" smtClean="0"/>
              <a:t>For small values of k, C</a:t>
            </a:r>
            <a:r>
              <a:rPr lang="en-US" altLang="en-US" sz="2400" baseline="-25000" smtClean="0"/>
              <a:t>k</a:t>
            </a:r>
            <a:r>
              <a:rPr lang="en-US" altLang="en-US" sz="2400" smtClean="0"/>
              <a:t>’ could be larger than the database!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8534400" cy="685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Methods to Improve Apriori’s Efficiency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153400" cy="5029200"/>
          </a:xfrm>
        </p:spPr>
        <p:txBody>
          <a:bodyPr rtlCol="0">
            <a:normAutofit/>
          </a:bodyPr>
          <a:lstStyle/>
          <a:p>
            <a:pPr marL="91440" indent="-91440"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rgbClr val="0000FF"/>
                </a:solidFill>
              </a:rPr>
              <a:t>Hash-based </a:t>
            </a:r>
            <a:r>
              <a:rPr lang="en-US" altLang="en-US" dirty="0" err="1">
                <a:solidFill>
                  <a:srgbClr val="0000FF"/>
                </a:solidFill>
              </a:rPr>
              <a:t>itemset</a:t>
            </a:r>
            <a:r>
              <a:rPr lang="en-US" altLang="en-US" dirty="0">
                <a:solidFill>
                  <a:srgbClr val="0000FF"/>
                </a:solidFill>
              </a:rPr>
              <a:t> counting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 </a:t>
            </a:r>
            <a:r>
              <a:rPr lang="en-US" alt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itemset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whose corresponding hashing bucket count is below the threshold cannot be frequent</a:t>
            </a:r>
          </a:p>
          <a:p>
            <a:pPr marL="91440" indent="-91440"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rgbClr val="0000FF"/>
                </a:solidFill>
              </a:rPr>
              <a:t>Transaction reduction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 transaction that does not contain any frequent k-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itemset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is useless in subsequent scans</a:t>
            </a:r>
          </a:p>
          <a:p>
            <a:pPr marL="91440" indent="-91440"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rgbClr val="0000FF"/>
                </a:solidFill>
              </a:rPr>
              <a:t>Partitioning</a:t>
            </a:r>
            <a:r>
              <a:rPr lang="en-US" altLang="en-US" dirty="0">
                <a:solidFill>
                  <a:schemeClr val="hlink"/>
                </a:solidFill>
              </a:rPr>
              <a:t>: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Any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itemset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that is potentially frequent in DB must be frequent in at least one of the partitions of DB</a:t>
            </a:r>
          </a:p>
          <a:p>
            <a:pPr marL="91440" indent="-91440"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rgbClr val="0000FF"/>
                </a:solidFill>
              </a:rPr>
              <a:t>Sampling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mining on a subset of given data, lower support threshold + a method to determine the completeness</a:t>
            </a:r>
          </a:p>
          <a:p>
            <a:pPr marL="91440" indent="-91440" eaLnBrk="1" fontAlgn="auto" hangingPunct="1">
              <a:lnSpc>
                <a:spcPct val="140000"/>
              </a:lnSpc>
              <a:spcAft>
                <a:spcPts val="0"/>
              </a:spcAft>
              <a:defRPr/>
            </a:pPr>
            <a:r>
              <a:rPr lang="en-US" altLang="en-US" dirty="0">
                <a:solidFill>
                  <a:srgbClr val="0000FF"/>
                </a:solidFill>
              </a:rPr>
              <a:t>Dynamic </a:t>
            </a:r>
            <a:r>
              <a:rPr lang="en-US" altLang="en-US" dirty="0" err="1">
                <a:solidFill>
                  <a:srgbClr val="0000FF"/>
                </a:solidFill>
              </a:rPr>
              <a:t>itemset</a:t>
            </a:r>
            <a:r>
              <a:rPr lang="en-US" altLang="en-US" dirty="0">
                <a:solidFill>
                  <a:srgbClr val="0000FF"/>
                </a:solidFill>
              </a:rPr>
              <a:t> counting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add new candidate </a:t>
            </a:r>
            <a:r>
              <a:rPr lang="en-US" alt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itemsets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only when all of their subsets are estimated to be frequent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7373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1524000"/>
            <a:ext cx="8942387" cy="37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3" y="2590800"/>
            <a:ext cx="90455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7578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988" y="1365250"/>
            <a:ext cx="9451976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7680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2133600"/>
            <a:ext cx="88931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467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000">
                <a:solidFill>
                  <a:schemeClr val="tx1">
                    <a:lumMod val="75000"/>
                    <a:lumOff val="25000"/>
                  </a:schemeClr>
                </a:solidFill>
              </a:rPr>
              <a:t>Is Apriori Fast Enough? — Performance Bottlenecks</a:t>
            </a:r>
            <a:endParaRPr lang="en-US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382000" cy="48006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The core of the Apriori algorithm:</a:t>
            </a:r>
          </a:p>
          <a:p>
            <a:pPr lvl="1" eaLnBrk="1" hangingPunct="1"/>
            <a:r>
              <a:rPr lang="en-US" altLang="en-US" smtClean="0"/>
              <a:t>Use frequent (</a:t>
            </a:r>
            <a:r>
              <a:rPr lang="en-US" altLang="en-US" i="1" smtClean="0"/>
              <a:t>k </a:t>
            </a:r>
            <a:r>
              <a:rPr lang="en-US" altLang="en-US" smtClean="0"/>
              <a:t>– 1)-itemsets to generate </a:t>
            </a:r>
            <a:r>
              <a:rPr lang="en-US" altLang="en-US" u="sng" smtClean="0">
                <a:solidFill>
                  <a:srgbClr val="FF0000"/>
                </a:solidFill>
              </a:rPr>
              <a:t>candidate</a:t>
            </a:r>
            <a:r>
              <a:rPr lang="en-US" altLang="en-US" smtClean="0"/>
              <a:t> frequent </a:t>
            </a:r>
            <a:r>
              <a:rPr lang="en-US" altLang="en-US" i="1" smtClean="0"/>
              <a:t>k-</a:t>
            </a:r>
            <a:r>
              <a:rPr lang="en-US" altLang="en-US" smtClean="0"/>
              <a:t>itemsets</a:t>
            </a:r>
          </a:p>
          <a:p>
            <a:pPr lvl="1" eaLnBrk="1" hangingPunct="1"/>
            <a:r>
              <a:rPr lang="en-US" altLang="en-US" smtClean="0"/>
              <a:t>Use database scan and pattern matching to collect counts for the candidate itemsets</a:t>
            </a:r>
          </a:p>
          <a:p>
            <a:pPr eaLnBrk="1" hangingPunct="1"/>
            <a:r>
              <a:rPr lang="en-US" altLang="en-US" sz="2400" smtClean="0"/>
              <a:t>The bottleneck of </a:t>
            </a:r>
            <a:r>
              <a:rPr lang="en-US" altLang="en-US" sz="2400" i="1" smtClean="0"/>
              <a:t>Apriori</a:t>
            </a:r>
            <a:r>
              <a:rPr lang="en-US" altLang="en-US" sz="2400" smtClean="0"/>
              <a:t>: </a:t>
            </a:r>
            <a:r>
              <a:rPr lang="en-US" altLang="en-US" sz="2400" u="sng" smtClean="0">
                <a:solidFill>
                  <a:srgbClr val="FF0000"/>
                </a:solidFill>
              </a:rPr>
              <a:t>candidate generation</a:t>
            </a:r>
          </a:p>
          <a:p>
            <a:pPr lvl="1" eaLnBrk="1" hangingPunct="1"/>
            <a:r>
              <a:rPr lang="en-US" altLang="en-US" sz="2000" smtClean="0"/>
              <a:t>Huge candidate sets:</a:t>
            </a:r>
          </a:p>
          <a:p>
            <a:pPr lvl="2" eaLnBrk="1" hangingPunct="1"/>
            <a:r>
              <a:rPr lang="en-US" altLang="en-US" sz="1800" smtClean="0"/>
              <a:t>10</a:t>
            </a:r>
            <a:r>
              <a:rPr lang="en-US" altLang="en-US" sz="1800" baseline="30000" smtClean="0"/>
              <a:t>4</a:t>
            </a:r>
            <a:r>
              <a:rPr lang="en-US" altLang="en-US" sz="1800" smtClean="0"/>
              <a:t> frequent 1-itemset will generate 10</a:t>
            </a:r>
            <a:r>
              <a:rPr lang="en-US" altLang="en-US" sz="1800" baseline="30000" smtClean="0"/>
              <a:t>7</a:t>
            </a:r>
            <a:r>
              <a:rPr lang="en-US" altLang="en-US" sz="1800" smtClean="0"/>
              <a:t> candidate 2-itemsets</a:t>
            </a:r>
          </a:p>
          <a:p>
            <a:pPr lvl="2" eaLnBrk="1" hangingPunct="1"/>
            <a:r>
              <a:rPr lang="en-US" altLang="en-US" sz="1800" smtClean="0"/>
              <a:t>To discover a frequent pattern of size 100, e.g., {a</a:t>
            </a:r>
            <a:r>
              <a:rPr lang="en-US" altLang="en-US" sz="1800" baseline="-25000" smtClean="0"/>
              <a:t>1</a:t>
            </a:r>
            <a:r>
              <a:rPr lang="en-US" altLang="en-US" sz="1800" smtClean="0"/>
              <a:t>, a</a:t>
            </a:r>
            <a:r>
              <a:rPr lang="en-US" altLang="en-US" sz="1800" baseline="-25000" smtClean="0"/>
              <a:t>2</a:t>
            </a:r>
            <a:r>
              <a:rPr lang="en-US" altLang="en-US" sz="1800" smtClean="0"/>
              <a:t>, …, a</a:t>
            </a:r>
            <a:r>
              <a:rPr lang="en-US" altLang="en-US" sz="1800" baseline="-25000" smtClean="0"/>
              <a:t>100</a:t>
            </a:r>
            <a:r>
              <a:rPr lang="en-US" altLang="en-US" sz="1800" smtClean="0"/>
              <a:t>}, one needs to generate 2</a:t>
            </a:r>
            <a:r>
              <a:rPr lang="en-US" altLang="en-US" sz="1800" baseline="30000" smtClean="0"/>
              <a:t>100 </a:t>
            </a:r>
            <a:r>
              <a:rPr lang="en-US" altLang="en-US" sz="1800" smtClean="0">
                <a:sym typeface="Symbol" panose="05050102010706020507" pitchFamily="18" charset="2"/>
              </a:rPr>
              <a:t></a:t>
            </a:r>
            <a:r>
              <a:rPr lang="en-US" altLang="en-US" sz="1800" smtClean="0"/>
              <a:t> 10</a:t>
            </a:r>
            <a:r>
              <a:rPr lang="en-US" altLang="en-US" sz="1800" baseline="30000" smtClean="0"/>
              <a:t>30</a:t>
            </a:r>
            <a:r>
              <a:rPr lang="en-US" altLang="en-US" sz="1800" smtClean="0"/>
              <a:t> candidates.</a:t>
            </a:r>
          </a:p>
          <a:p>
            <a:pPr lvl="1" eaLnBrk="1" hangingPunct="1"/>
            <a:r>
              <a:rPr lang="en-US" altLang="en-US" sz="2000" smtClean="0"/>
              <a:t>Multiple scans of database: </a:t>
            </a:r>
          </a:p>
          <a:p>
            <a:pPr lvl="2" eaLnBrk="1" hangingPunct="1"/>
            <a:r>
              <a:rPr lang="en-US" altLang="en-US" sz="1800" smtClean="0"/>
              <a:t>Needs (</a:t>
            </a:r>
            <a:r>
              <a:rPr lang="en-US" altLang="en-US" sz="1800" i="1" smtClean="0"/>
              <a:t>n </a:t>
            </a:r>
            <a:r>
              <a:rPr lang="en-US" altLang="en-US" sz="1800" smtClean="0"/>
              <a:t>+</a:t>
            </a:r>
            <a:r>
              <a:rPr lang="en-US" altLang="en-US" sz="1800" i="1" smtClean="0"/>
              <a:t>1 </a:t>
            </a:r>
            <a:r>
              <a:rPr lang="en-US" altLang="en-US" sz="1800" smtClean="0"/>
              <a:t>) scans, </a:t>
            </a:r>
            <a:r>
              <a:rPr lang="en-US" altLang="en-US" sz="1800" i="1" smtClean="0"/>
              <a:t>n</a:t>
            </a:r>
            <a:r>
              <a:rPr lang="en-US" altLang="en-US" sz="1800" smtClean="0"/>
              <a:t>  is the length of the longest pattern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6939</TotalTime>
  <Words>1937</Words>
  <Application>Microsoft Office PowerPoint</Application>
  <PresentationFormat>On-screen Show (4:3)</PresentationFormat>
  <Paragraphs>308</Paragraphs>
  <Slides>36</Slides>
  <Notes>26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Arial</vt:lpstr>
      <vt:lpstr>Calibri</vt:lpstr>
      <vt:lpstr>Calibri Light</vt:lpstr>
      <vt:lpstr>Symbol</vt:lpstr>
      <vt:lpstr>Tahoma</vt:lpstr>
      <vt:lpstr>Times New Roman</vt:lpstr>
      <vt:lpstr>Verdana</vt:lpstr>
      <vt:lpstr>Wingdings</vt:lpstr>
      <vt:lpstr>Office Theme</vt:lpstr>
      <vt:lpstr>Document</vt:lpstr>
      <vt:lpstr>Worksheet</vt:lpstr>
      <vt:lpstr>Equation</vt:lpstr>
      <vt:lpstr>VISIO</vt:lpstr>
      <vt:lpstr>Mining Association Rules in Large Databases</vt:lpstr>
      <vt:lpstr>What Is Frequent Pattern Analysis?</vt:lpstr>
      <vt:lpstr>How are Association rules mined from large datasets?</vt:lpstr>
      <vt:lpstr>Association Rule Mining</vt:lpstr>
      <vt:lpstr>Definition: Frequent Itemset</vt:lpstr>
      <vt:lpstr>Definition: Association Rule</vt:lpstr>
      <vt:lpstr>Definition: Association Rule</vt:lpstr>
      <vt:lpstr>Rule Measures: Support and Confidence</vt:lpstr>
      <vt:lpstr>Example</vt:lpstr>
      <vt:lpstr>Association Rule Mining Task</vt:lpstr>
      <vt:lpstr>Mining Association Rules</vt:lpstr>
      <vt:lpstr>Mining Association Rules</vt:lpstr>
      <vt:lpstr>Frequent Itemset Generation</vt:lpstr>
      <vt:lpstr>Frequent Itemset Generation Strategies</vt:lpstr>
      <vt:lpstr>Reducing Number of Candidates</vt:lpstr>
      <vt:lpstr>Example</vt:lpstr>
      <vt:lpstr>Mining Frequent Itemsets: the Key Step</vt:lpstr>
      <vt:lpstr>The Apriori Algorithm (the general idea)</vt:lpstr>
      <vt:lpstr>Illustrating Apriori Principle</vt:lpstr>
      <vt:lpstr>The Apriori Algorithm</vt:lpstr>
      <vt:lpstr>The Apriori Algorithm — Example</vt:lpstr>
      <vt:lpstr>AprioriTid Example (min_sup=2)</vt:lpstr>
      <vt:lpstr>Example of Candidates Generation</vt:lpstr>
      <vt:lpstr>How to Count Supports of Candidates?</vt:lpstr>
      <vt:lpstr>Problem</vt:lpstr>
      <vt:lpstr>PowerPoint Presentation</vt:lpstr>
      <vt:lpstr>PowerPoint Presentation</vt:lpstr>
      <vt:lpstr>PowerPoint Presentation</vt:lpstr>
      <vt:lpstr>PowerPoint Presentation</vt:lpstr>
      <vt:lpstr>AprioriTid: Use D only for first pass</vt:lpstr>
      <vt:lpstr>Methods to Improve Apriori’s Efficiency</vt:lpstr>
      <vt:lpstr>PowerPoint Presentation</vt:lpstr>
      <vt:lpstr>PowerPoint Presentation</vt:lpstr>
      <vt:lpstr>PowerPoint Presentation</vt:lpstr>
      <vt:lpstr>PowerPoint Presentation</vt:lpstr>
      <vt:lpstr>Is Apriori Fast Enough? — Performance Bottlenecks</vt:lpstr>
    </vt:vector>
  </TitlesOfParts>
  <Company>hkucsis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CSIS 0323 Advanced Database Systems Spring 2003</dc:title>
  <dc:creator>hkucsis</dc:creator>
  <cp:lastModifiedBy>Dolly Sharma</cp:lastModifiedBy>
  <cp:revision>400</cp:revision>
  <cp:lastPrinted>2020-01-24T05:02:26Z</cp:lastPrinted>
  <dcterms:created xsi:type="dcterms:W3CDTF">2003-01-18T20:56:22Z</dcterms:created>
  <dcterms:modified xsi:type="dcterms:W3CDTF">2020-01-24T06:23:24Z</dcterms:modified>
</cp:coreProperties>
</file>