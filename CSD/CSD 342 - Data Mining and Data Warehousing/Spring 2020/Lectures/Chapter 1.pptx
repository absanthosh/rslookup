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283" r:id="rId1"/>
  </p:sldMasterIdLst>
  <p:sldIdLst>
    <p:sldId id="256" r:id="rId2"/>
    <p:sldId id="284" r:id="rId3"/>
    <p:sldId id="285" r:id="rId4"/>
    <p:sldId id="286" r:id="rId5"/>
    <p:sldId id="287" r:id="rId6"/>
    <p:sldId id="288" r:id="rId7"/>
    <p:sldId id="289" r:id="rId8"/>
    <p:sldId id="290" r:id="rId9"/>
    <p:sldId id="257" r:id="rId10"/>
    <p:sldId id="259" r:id="rId11"/>
    <p:sldId id="261" r:id="rId12"/>
    <p:sldId id="263" r:id="rId13"/>
    <p:sldId id="264" r:id="rId14"/>
    <p:sldId id="273" r:id="rId15"/>
    <p:sldId id="280" r:id="rId16"/>
    <p:sldId id="281" r:id="rId17"/>
    <p:sldId id="282" r:id="rId18"/>
    <p:sldId id="28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07" d="100"/>
          <a:sy n="107" d="100"/>
        </p:scale>
        <p:origin x="138"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ECD19FB2-3AAB-4D03-B13A-2960828C78E3}" type="datetimeFigureOut">
              <a:rPr lang="en-US" smtClean="0"/>
              <a:t>1/3/2020</a:t>
            </a:fld>
            <a:endParaRPr lang="en-US" dirty="0"/>
          </a:p>
        </p:txBody>
      </p:sp>
      <p:sp>
        <p:nvSpPr>
          <p:cNvPr id="8" name="Footer Placeholder 7"/>
          <p:cNvSpPr>
            <a:spLocks noGrp="1"/>
          </p:cNvSpPr>
          <p:nvPr>
            <p:ph type="ftr" sz="quarter" idx="11"/>
          </p:nvPr>
        </p:nvSpPr>
        <p:spPr/>
        <p:txBody>
          <a:bodyPr/>
          <a:lstStyle/>
          <a:p>
            <a:r>
              <a:rPr lang="en-US" smtClean="0"/>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9893875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9916976-5D93-46E4-A98A-FAD63E4D0EA8}" type="datetimeFigureOut">
              <a:rPr lang="en-US" smtClean="0"/>
              <a:t>1/3/2020</a:t>
            </a:fld>
            <a:endParaRPr lang="en-US" dirty="0"/>
          </a:p>
        </p:txBody>
      </p:sp>
      <p:sp>
        <p:nvSpPr>
          <p:cNvPr id="8" name="Footer Placeholder 7"/>
          <p:cNvSpPr>
            <a:spLocks noGrp="1"/>
          </p:cNvSpPr>
          <p:nvPr>
            <p:ph type="ftr" sz="quarter" idx="11"/>
          </p:nvPr>
        </p:nvSpPr>
        <p:spPr/>
        <p:txBody>
          <a:bodyPr/>
          <a:lstStyle/>
          <a:p>
            <a:r>
              <a:rPr lang="en-US" smtClean="0"/>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52685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7" name="Date Placeholder 6"/>
          <p:cNvSpPr>
            <a:spLocks noGrp="1"/>
          </p:cNvSpPr>
          <p:nvPr>
            <p:ph type="dt" sz="half" idx="10"/>
          </p:nvPr>
        </p:nvSpPr>
        <p:spPr/>
        <p:txBody>
          <a:bodyPr/>
          <a:lstStyle/>
          <a:p>
            <a:fld id="{0F39F4F5-F4D2-4D2A-AB60-88D37ADCB869}" type="datetimeFigureOut">
              <a:rPr lang="en-US" smtClean="0"/>
              <a:t>1/3/2020</a:t>
            </a:fld>
            <a:endParaRPr lang="en-US" dirty="0"/>
          </a:p>
        </p:txBody>
      </p:sp>
      <p:sp>
        <p:nvSpPr>
          <p:cNvPr id="8" name="Footer Placeholder 7"/>
          <p:cNvSpPr>
            <a:spLocks noGrp="1"/>
          </p:cNvSpPr>
          <p:nvPr>
            <p:ph type="ftr" sz="quarter" idx="11"/>
          </p:nvPr>
        </p:nvSpPr>
        <p:spPr/>
        <p:txBody>
          <a:bodyPr/>
          <a:lstStyle/>
          <a:p>
            <a:r>
              <a:rPr lang="en-US" smtClean="0"/>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715941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7"/>
          <p:cNvSpPr>
            <a:spLocks noGrp="1"/>
          </p:cNvSpPr>
          <p:nvPr>
            <p:ph type="dt" sz="half" idx="10"/>
          </p:nvPr>
        </p:nvSpPr>
        <p:spPr/>
        <p:txBody>
          <a:bodyPr/>
          <a:lstStyle/>
          <a:p>
            <a:fld id="{D23BC6CE-6D1E-47E5-8859-F31AC5380EB2}" type="datetimeFigureOut">
              <a:rPr lang="en-US" smtClean="0"/>
              <a:t>1/3/2020</a:t>
            </a:fld>
            <a:endParaRPr lang="en-US" dirty="0"/>
          </a:p>
        </p:txBody>
      </p:sp>
      <p:sp>
        <p:nvSpPr>
          <p:cNvPr id="9" name="Footer Placeholder 8"/>
          <p:cNvSpPr>
            <a:spLocks noGrp="1"/>
          </p:cNvSpPr>
          <p:nvPr>
            <p:ph type="ftr" sz="quarter" idx="11"/>
          </p:nvPr>
        </p:nvSpPr>
        <p:spPr/>
        <p:txBody>
          <a:bodyPr/>
          <a:lstStyle/>
          <a:p>
            <a:r>
              <a:rPr lang="en-US" smtClean="0"/>
              <a:t>
              </a:t>
            </a:r>
            <a:endParaRPr lang="en-US" dirty="0"/>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84193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7" name="Date Placeholder 6"/>
          <p:cNvSpPr>
            <a:spLocks noGrp="1"/>
          </p:cNvSpPr>
          <p:nvPr>
            <p:ph type="dt" sz="half" idx="10"/>
          </p:nvPr>
        </p:nvSpPr>
        <p:spPr/>
        <p:txBody>
          <a:bodyPr/>
          <a:lstStyle/>
          <a:p>
            <a:fld id="{B1B4E7C4-4DA4-404D-9965-B13F2DD7D8BF}" type="datetimeFigureOut">
              <a:rPr lang="en-US" smtClean="0"/>
              <a:t>1/3/2020</a:t>
            </a:fld>
            <a:endParaRPr lang="en-US" dirty="0"/>
          </a:p>
        </p:txBody>
      </p:sp>
      <p:sp>
        <p:nvSpPr>
          <p:cNvPr id="8" name="Footer Placeholder 7"/>
          <p:cNvSpPr>
            <a:spLocks noGrp="1"/>
          </p:cNvSpPr>
          <p:nvPr>
            <p:ph type="ftr" sz="quarter" idx="11"/>
          </p:nvPr>
        </p:nvSpPr>
        <p:spPr/>
        <p:txBody>
          <a:bodyPr/>
          <a:lstStyle/>
          <a:p>
            <a:r>
              <a:rPr lang="en-US" smtClean="0"/>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
        <p:nvSpPr>
          <p:cNvPr id="10" name="Title 9"/>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2876691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76FB7AA-4A53-424F-AD41-70827B6504BA}" type="datetimeFigureOut">
              <a:rPr lang="en-US" smtClean="0"/>
              <a:t>1/3/2020</a:t>
            </a:fld>
            <a:endParaRPr lang="en-US" dirty="0"/>
          </a:p>
        </p:txBody>
      </p:sp>
      <p:sp>
        <p:nvSpPr>
          <p:cNvPr id="4" name="Footer Placeholder 3"/>
          <p:cNvSpPr>
            <a:spLocks noGrp="1"/>
          </p:cNvSpPr>
          <p:nvPr>
            <p:ph type="ftr" sz="quarter" idx="11"/>
          </p:nvPr>
        </p:nvSpPr>
        <p:spPr/>
        <p:txBody>
          <a:bodyPr/>
          <a:lstStyle/>
          <a:p>
            <a:r>
              <a:rPr lang="en-US" smtClean="0"/>
              <a:t>
              </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58454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884882-FB12-4BC8-9960-9AD8104D7FAE}" type="datetimeFigureOut">
              <a:rPr lang="en-US" smtClean="0"/>
              <a:t>1/3/2020</a:t>
            </a:fld>
            <a:endParaRPr lang="en-US" dirty="0"/>
          </a:p>
        </p:txBody>
      </p:sp>
      <p:sp>
        <p:nvSpPr>
          <p:cNvPr id="3" name="Footer Placeholder 2"/>
          <p:cNvSpPr>
            <a:spLocks noGrp="1"/>
          </p:cNvSpPr>
          <p:nvPr>
            <p:ph type="ftr" sz="quarter" idx="11"/>
          </p:nvPr>
        </p:nvSpPr>
        <p:spPr/>
        <p:txBody>
          <a:bodyPr/>
          <a:lstStyle/>
          <a:p>
            <a:r>
              <a:rPr lang="en-US" smtClean="0"/>
              <a:t>
              </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53997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9" name="Date Placeholder 8"/>
          <p:cNvSpPr>
            <a:spLocks noGrp="1"/>
          </p:cNvSpPr>
          <p:nvPr>
            <p:ph type="dt" sz="half" idx="10"/>
          </p:nvPr>
        </p:nvSpPr>
        <p:spPr/>
        <p:txBody>
          <a:bodyPr/>
          <a:lstStyle/>
          <a:p>
            <a:fld id="{F7D1BD23-6E54-4D9D-AD88-A2813C73CC25}" type="datetimeFigureOut">
              <a:rPr lang="en-US" smtClean="0"/>
              <a:t>1/3/2020</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r>
              <a:rPr lang="en-US" smtClean="0"/>
              <a:t>
              </a:t>
            </a:r>
            <a:endParaRPr lang="en-US" dirty="0"/>
          </a:p>
        </p:txBody>
      </p:sp>
      <p:sp>
        <p:nvSpPr>
          <p:cNvPr id="11" name="Slide Number Placeholder 10"/>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23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1471A834-4F3C-4AF9-9C74-05EC35A0F292}" type="datetimeFigureOut">
              <a:rPr lang="en-US" smtClean="0"/>
              <a:t>1/3/2020</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68188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DED02AE-B9A4-47BD-AF8E-97E16144138B}" type="datetimeFigureOut">
              <a:rPr lang="en-US" smtClean="0"/>
              <a:t>1/3/2020</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42519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F0FD78B-DB02-4362-BCDC-98A55456977C}" type="datetimeFigureOut">
              <a:rPr lang="en-US" smtClean="0"/>
              <a:t>1/3/2020</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12827161"/>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51CF1133-3259-4C45-BABA-5B62D9C6F78D}" type="datetimeFigureOut">
              <a:rPr lang="en-US" smtClean="0"/>
              <a:t>1/3/2020</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r>
              <a:rPr lang="en-US" smtClean="0"/>
              <a:t>
              </a:t>
            </a:r>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710064246"/>
      </p:ext>
    </p:extLst>
  </p:cSld>
  <p:clrMap bg1="lt1" tx1="dk1" bg2="lt2" tx2="dk2" accent1="accent1" accent2="accent2" accent3="accent3" accent4="accent4" accent5="accent5" accent6="accent6" hlink="hlink" folHlink="folHlink"/>
  <p:sldLayoutIdLst>
    <p:sldLayoutId id="2147484284" r:id="rId1"/>
    <p:sldLayoutId id="2147484285" r:id="rId2"/>
    <p:sldLayoutId id="2147484286" r:id="rId3"/>
    <p:sldLayoutId id="2147484287" r:id="rId4"/>
    <p:sldLayoutId id="2147484288" r:id="rId5"/>
    <p:sldLayoutId id="2147484289" r:id="rId6"/>
    <p:sldLayoutId id="2147484290" r:id="rId7"/>
    <p:sldLayoutId id="2147484291" r:id="rId8"/>
    <p:sldLayoutId id="2147484292" r:id="rId9"/>
    <p:sldLayoutId id="2147484293" r:id="rId10"/>
    <p:sldLayoutId id="2147484294"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80571" y="1577009"/>
            <a:ext cx="10551886" cy="3578087"/>
          </a:xfrm>
        </p:spPr>
        <p:txBody>
          <a:bodyPr>
            <a:normAutofit/>
          </a:bodyPr>
          <a:lstStyle/>
          <a:p>
            <a:pPr algn="l"/>
            <a:r>
              <a:rPr lang="en-US" sz="2800" dirty="0" smtClean="0"/>
              <a:t>Course code:	CSD342	</a:t>
            </a:r>
            <a:br>
              <a:rPr lang="en-US" sz="2800" dirty="0" smtClean="0"/>
            </a:br>
            <a:r>
              <a:rPr lang="en-US" sz="2800" dirty="0" smtClean="0"/>
              <a:t/>
            </a:r>
            <a:br>
              <a:rPr lang="en-US" sz="2800" dirty="0" smtClean="0"/>
            </a:br>
            <a:r>
              <a:rPr lang="en-US" sz="2800" dirty="0" smtClean="0"/>
              <a:t>course title:		</a:t>
            </a:r>
            <a:r>
              <a:rPr lang="en-US" sz="2800" dirty="0" smtClean="0"/>
              <a:t>Data </a:t>
            </a:r>
            <a:r>
              <a:rPr lang="en-US" sz="2800" dirty="0" smtClean="0"/>
              <a:t>Mining </a:t>
            </a:r>
            <a:r>
              <a:rPr lang="en-US" sz="2800" dirty="0" smtClean="0"/>
              <a:t>and </a:t>
            </a:r>
            <a:br>
              <a:rPr lang="en-US" sz="2800" dirty="0" smtClean="0"/>
            </a:br>
            <a:r>
              <a:rPr lang="en-US" sz="2800" dirty="0" smtClean="0"/>
              <a:t>				Data Warehousing</a:t>
            </a:r>
            <a:r>
              <a:rPr lang="en-US" sz="2800" dirty="0"/>
              <a:t/>
            </a:r>
            <a:br>
              <a:rPr lang="en-US" sz="2800" dirty="0"/>
            </a:br>
            <a:r>
              <a:rPr lang="en-US" sz="2800" dirty="0" smtClean="0"/>
              <a:t>course </a:t>
            </a:r>
            <a:br>
              <a:rPr lang="en-US" sz="2800" dirty="0" smtClean="0"/>
            </a:br>
            <a:r>
              <a:rPr lang="en-US" sz="2800" dirty="0" smtClean="0"/>
              <a:t>Instructor: 		</a:t>
            </a:r>
            <a:r>
              <a:rPr lang="en-US" sz="2800" dirty="0" smtClean="0"/>
              <a:t>Dr</a:t>
            </a:r>
            <a:r>
              <a:rPr lang="en-US" sz="2800" dirty="0" smtClean="0"/>
              <a:t>. Dolly Sharma</a:t>
            </a:r>
            <a:br>
              <a:rPr lang="en-US" sz="2800" dirty="0" smtClean="0"/>
            </a:br>
            <a:endParaRPr lang="en-US" sz="2800" dirty="0"/>
          </a:p>
        </p:txBody>
      </p:sp>
    </p:spTree>
    <p:extLst>
      <p:ext uri="{BB962C8B-B14F-4D97-AF65-F5344CB8AC3E}">
        <p14:creationId xmlns:p14="http://schemas.microsoft.com/office/powerpoint/2010/main" val="2059299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27267412"/>
              </p:ext>
            </p:extLst>
          </p:nvPr>
        </p:nvGraphicFramePr>
        <p:xfrm>
          <a:off x="329609" y="404039"/>
          <a:ext cx="11600121" cy="6177510"/>
        </p:xfrm>
        <a:graphic>
          <a:graphicData uri="http://schemas.openxmlformats.org/drawingml/2006/table">
            <a:tbl>
              <a:tblPr firstRow="1" firstCol="1" bandRow="1">
                <a:tableStyleId>{5C22544A-7EE6-4342-B048-85BDC9FD1C3A}</a:tableStyleId>
              </a:tblPr>
              <a:tblGrid>
                <a:gridCol w="4370631">
                  <a:extLst>
                    <a:ext uri="{9D8B030D-6E8A-4147-A177-3AD203B41FA5}">
                      <a16:colId xmlns:a16="http://schemas.microsoft.com/office/drawing/2014/main" val="4058599386"/>
                    </a:ext>
                  </a:extLst>
                </a:gridCol>
                <a:gridCol w="3361925">
                  <a:extLst>
                    <a:ext uri="{9D8B030D-6E8A-4147-A177-3AD203B41FA5}">
                      <a16:colId xmlns:a16="http://schemas.microsoft.com/office/drawing/2014/main" val="216023109"/>
                    </a:ext>
                  </a:extLst>
                </a:gridCol>
                <a:gridCol w="3867565">
                  <a:extLst>
                    <a:ext uri="{9D8B030D-6E8A-4147-A177-3AD203B41FA5}">
                      <a16:colId xmlns:a16="http://schemas.microsoft.com/office/drawing/2014/main" val="4031121896"/>
                    </a:ext>
                  </a:extLst>
                </a:gridCol>
              </a:tblGrid>
              <a:tr h="686390">
                <a:tc>
                  <a:txBody>
                    <a:bodyPr/>
                    <a:lstStyle/>
                    <a:p>
                      <a:pPr marL="0" marR="0" lvl="0" indent="0" algn="just">
                        <a:lnSpc>
                          <a:spcPct val="115000"/>
                        </a:lnSpc>
                        <a:spcBef>
                          <a:spcPts val="0"/>
                        </a:spcBef>
                        <a:spcAft>
                          <a:spcPts val="0"/>
                        </a:spcAft>
                        <a:buFont typeface="Arial" panose="020B0604020202020204" pitchFamily="34" charset="0"/>
                        <a:buNone/>
                      </a:pPr>
                      <a:r>
                        <a:rPr lang="en-GB" sz="2400" dirty="0">
                          <a:effectLst/>
                          <a:uFill>
                            <a:solidFill>
                              <a:srgbClr val="000000"/>
                            </a:solidFill>
                          </a:uFill>
                        </a:rPr>
                        <a:t>School</a:t>
                      </a:r>
                      <a:endParaRPr lang="en-US" sz="3600" dirty="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GB" sz="2400">
                          <a:effectLst/>
                          <a:uFill>
                            <a:solidFill>
                              <a:srgbClr val="000000"/>
                            </a:solidFill>
                          </a:uFill>
                        </a:rPr>
                        <a:t>SOE</a:t>
                      </a:r>
                      <a:endParaRPr lang="en-US" sz="360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GB" sz="2400">
                          <a:effectLst/>
                          <a:uFill>
                            <a:solidFill>
                              <a:srgbClr val="000000"/>
                            </a:solidFill>
                          </a:uFill>
                        </a:rPr>
                        <a:t> </a:t>
                      </a:r>
                      <a:endParaRPr lang="en-US" sz="360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97664691"/>
                  </a:ext>
                </a:extLst>
              </a:tr>
              <a:tr h="686390">
                <a:tc>
                  <a:txBody>
                    <a:bodyPr/>
                    <a:lstStyle/>
                    <a:p>
                      <a:pPr marL="0" marR="0" lvl="0" indent="0" algn="just">
                        <a:lnSpc>
                          <a:spcPct val="115000"/>
                        </a:lnSpc>
                        <a:spcBef>
                          <a:spcPts val="0"/>
                        </a:spcBef>
                        <a:spcAft>
                          <a:spcPts val="0"/>
                        </a:spcAft>
                        <a:buFont typeface="Arial" panose="020B0604020202020204" pitchFamily="34" charset="0"/>
                        <a:buNone/>
                      </a:pPr>
                      <a:r>
                        <a:rPr lang="en-GB" sz="2400" dirty="0">
                          <a:effectLst/>
                          <a:uFill>
                            <a:solidFill>
                              <a:srgbClr val="000000"/>
                            </a:solidFill>
                          </a:uFill>
                        </a:rPr>
                        <a:t>Department</a:t>
                      </a:r>
                      <a:endParaRPr lang="en-US" sz="3600" dirty="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marL="0" marR="0" algn="just">
                        <a:lnSpc>
                          <a:spcPct val="115000"/>
                        </a:lnSpc>
                        <a:spcBef>
                          <a:spcPts val="0"/>
                        </a:spcBef>
                        <a:spcAft>
                          <a:spcPts val="0"/>
                        </a:spcAft>
                      </a:pPr>
                      <a:r>
                        <a:rPr lang="en-GB" sz="2400">
                          <a:effectLst/>
                          <a:uFill>
                            <a:solidFill>
                              <a:srgbClr val="000000"/>
                            </a:solidFill>
                          </a:uFill>
                        </a:rPr>
                        <a:t>Computer Science and Engineering</a:t>
                      </a:r>
                      <a:endParaRPr lang="en-US" sz="360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587202067"/>
                  </a:ext>
                </a:extLst>
              </a:tr>
              <a:tr h="686390">
                <a:tc>
                  <a:txBody>
                    <a:bodyPr/>
                    <a:lstStyle/>
                    <a:p>
                      <a:pPr marL="0" marR="0" lvl="0" indent="0" algn="just">
                        <a:lnSpc>
                          <a:spcPct val="115000"/>
                        </a:lnSpc>
                        <a:spcBef>
                          <a:spcPts val="0"/>
                        </a:spcBef>
                        <a:spcAft>
                          <a:spcPts val="0"/>
                        </a:spcAft>
                        <a:buFont typeface="Arial" panose="020B0604020202020204" pitchFamily="34" charset="0"/>
                        <a:buNone/>
                      </a:pPr>
                      <a:r>
                        <a:rPr lang="en-GB" sz="2400" dirty="0">
                          <a:effectLst/>
                          <a:uFill>
                            <a:solidFill>
                              <a:srgbClr val="000000"/>
                            </a:solidFill>
                          </a:uFill>
                        </a:rPr>
                        <a:t>Course Code</a:t>
                      </a:r>
                      <a:endParaRPr lang="en-US" sz="3600" dirty="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GB" sz="2400">
                          <a:effectLst/>
                          <a:uFill>
                            <a:solidFill>
                              <a:srgbClr val="000000"/>
                            </a:solidFill>
                          </a:uFill>
                        </a:rPr>
                        <a:t>CSD342</a:t>
                      </a:r>
                      <a:endParaRPr lang="en-US" sz="360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GB" sz="2400">
                          <a:effectLst/>
                          <a:uFill>
                            <a:solidFill>
                              <a:srgbClr val="000000"/>
                            </a:solidFill>
                          </a:uFill>
                        </a:rPr>
                        <a:t> </a:t>
                      </a:r>
                      <a:endParaRPr lang="en-US" sz="360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95509356"/>
                  </a:ext>
                </a:extLst>
              </a:tr>
              <a:tr h="686390">
                <a:tc>
                  <a:txBody>
                    <a:bodyPr/>
                    <a:lstStyle/>
                    <a:p>
                      <a:pPr marL="0" marR="0" lvl="0" indent="0" algn="just">
                        <a:lnSpc>
                          <a:spcPct val="115000"/>
                        </a:lnSpc>
                        <a:spcBef>
                          <a:spcPts val="0"/>
                        </a:spcBef>
                        <a:spcAft>
                          <a:spcPts val="0"/>
                        </a:spcAft>
                        <a:buFont typeface="Arial" panose="020B0604020202020204" pitchFamily="34" charset="0"/>
                        <a:buNone/>
                      </a:pPr>
                      <a:r>
                        <a:rPr lang="en-GB" sz="2400" dirty="0">
                          <a:effectLst/>
                          <a:uFill>
                            <a:solidFill>
                              <a:srgbClr val="000000"/>
                            </a:solidFill>
                          </a:uFill>
                        </a:rPr>
                        <a:t>Course Title</a:t>
                      </a:r>
                      <a:endParaRPr lang="en-US" sz="3600" dirty="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marL="0" marR="0" algn="just">
                        <a:lnSpc>
                          <a:spcPct val="115000"/>
                        </a:lnSpc>
                        <a:spcBef>
                          <a:spcPts val="0"/>
                        </a:spcBef>
                        <a:spcAft>
                          <a:spcPts val="0"/>
                        </a:spcAft>
                      </a:pPr>
                      <a:r>
                        <a:rPr lang="en-GB" sz="2400" dirty="0">
                          <a:effectLst/>
                          <a:uFill>
                            <a:solidFill>
                              <a:srgbClr val="000000"/>
                            </a:solidFill>
                          </a:uFill>
                        </a:rPr>
                        <a:t>Data Mining and Data Warehousing</a:t>
                      </a:r>
                      <a:endParaRPr lang="en-US" sz="3600" dirty="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449287677"/>
                  </a:ext>
                </a:extLst>
              </a:tr>
              <a:tr h="686390">
                <a:tc>
                  <a:txBody>
                    <a:bodyPr/>
                    <a:lstStyle/>
                    <a:p>
                      <a:pPr marL="0" marR="0" lvl="0" indent="0" algn="just">
                        <a:lnSpc>
                          <a:spcPct val="115000"/>
                        </a:lnSpc>
                        <a:spcBef>
                          <a:spcPts val="0"/>
                        </a:spcBef>
                        <a:spcAft>
                          <a:spcPts val="0"/>
                        </a:spcAft>
                        <a:buFont typeface="Arial" panose="020B0604020202020204" pitchFamily="34" charset="0"/>
                        <a:buNone/>
                      </a:pPr>
                      <a:r>
                        <a:rPr lang="en-GB" sz="2400" dirty="0">
                          <a:effectLst/>
                          <a:uFill>
                            <a:solidFill>
                              <a:srgbClr val="000000"/>
                            </a:solidFill>
                          </a:uFill>
                        </a:rPr>
                        <a:t>Credits (L:T:P)</a:t>
                      </a:r>
                      <a:endParaRPr lang="en-US" sz="3600" dirty="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marL="0" marR="0" algn="just">
                        <a:lnSpc>
                          <a:spcPct val="115000"/>
                        </a:lnSpc>
                        <a:spcBef>
                          <a:spcPts val="0"/>
                        </a:spcBef>
                        <a:spcAft>
                          <a:spcPts val="0"/>
                        </a:spcAft>
                      </a:pPr>
                      <a:r>
                        <a:rPr lang="en-GB" sz="2400">
                          <a:effectLst/>
                          <a:uFill>
                            <a:solidFill>
                              <a:srgbClr val="000000"/>
                            </a:solidFill>
                          </a:uFill>
                        </a:rPr>
                        <a:t>2:0:1</a:t>
                      </a:r>
                      <a:endParaRPr lang="en-US" sz="360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3892227899"/>
                  </a:ext>
                </a:extLst>
              </a:tr>
              <a:tr h="686390">
                <a:tc>
                  <a:txBody>
                    <a:bodyPr/>
                    <a:lstStyle/>
                    <a:p>
                      <a:pPr marL="0" marR="0" lvl="0" indent="0" algn="just">
                        <a:lnSpc>
                          <a:spcPct val="115000"/>
                        </a:lnSpc>
                        <a:spcBef>
                          <a:spcPts val="0"/>
                        </a:spcBef>
                        <a:spcAft>
                          <a:spcPts val="0"/>
                        </a:spcAft>
                        <a:buFont typeface="Arial" panose="020B0604020202020204" pitchFamily="34" charset="0"/>
                        <a:buNone/>
                      </a:pPr>
                      <a:r>
                        <a:rPr lang="en-GB" sz="2400" dirty="0">
                          <a:effectLst/>
                          <a:uFill>
                            <a:solidFill>
                              <a:srgbClr val="000000"/>
                            </a:solidFill>
                          </a:uFill>
                        </a:rPr>
                        <a:t>Contact Hours (L:T:P)*</a:t>
                      </a:r>
                      <a:endParaRPr lang="en-US" sz="3600" dirty="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marL="0" marR="0" algn="just">
                        <a:lnSpc>
                          <a:spcPct val="115000"/>
                        </a:lnSpc>
                        <a:spcBef>
                          <a:spcPts val="0"/>
                        </a:spcBef>
                        <a:spcAft>
                          <a:spcPts val="0"/>
                        </a:spcAft>
                      </a:pPr>
                      <a:r>
                        <a:rPr lang="en-GB" sz="2400" dirty="0">
                          <a:effectLst/>
                          <a:uFill>
                            <a:solidFill>
                              <a:srgbClr val="000000"/>
                            </a:solidFill>
                          </a:uFill>
                        </a:rPr>
                        <a:t>2:0:2</a:t>
                      </a:r>
                      <a:endParaRPr lang="en-US" sz="3600" dirty="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202615219"/>
                  </a:ext>
                </a:extLst>
              </a:tr>
              <a:tr h="686390">
                <a:tc>
                  <a:txBody>
                    <a:bodyPr/>
                    <a:lstStyle/>
                    <a:p>
                      <a:pPr marL="0" marR="0" lvl="0" indent="0" algn="just">
                        <a:lnSpc>
                          <a:spcPct val="115000"/>
                        </a:lnSpc>
                        <a:spcBef>
                          <a:spcPts val="0"/>
                        </a:spcBef>
                        <a:spcAft>
                          <a:spcPts val="0"/>
                        </a:spcAft>
                        <a:buFont typeface="Arial" panose="020B0604020202020204" pitchFamily="34" charset="0"/>
                        <a:buNone/>
                      </a:pPr>
                      <a:r>
                        <a:rPr lang="en-GB" sz="2400" dirty="0">
                          <a:effectLst/>
                          <a:uFill>
                            <a:solidFill>
                              <a:srgbClr val="000000"/>
                            </a:solidFill>
                          </a:uFill>
                        </a:rPr>
                        <a:t>Prerequisites</a:t>
                      </a:r>
                      <a:endParaRPr lang="en-US" sz="3600" dirty="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marL="0" marR="0" algn="just">
                        <a:lnSpc>
                          <a:spcPct val="115000"/>
                        </a:lnSpc>
                        <a:spcBef>
                          <a:spcPts val="0"/>
                        </a:spcBef>
                        <a:spcAft>
                          <a:spcPts val="0"/>
                        </a:spcAft>
                      </a:pPr>
                      <a:r>
                        <a:rPr lang="en-US" sz="2400" dirty="0" smtClean="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rPr>
                        <a:t>CSD209, CSD202</a:t>
                      </a:r>
                      <a:endParaRPr lang="en-US" sz="2400" dirty="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855167142"/>
                  </a:ext>
                </a:extLst>
              </a:tr>
              <a:tr h="686390">
                <a:tc>
                  <a:txBody>
                    <a:bodyPr/>
                    <a:lstStyle/>
                    <a:p>
                      <a:pPr marL="0" marR="0" lvl="0" indent="0" algn="just">
                        <a:lnSpc>
                          <a:spcPct val="115000"/>
                        </a:lnSpc>
                        <a:spcBef>
                          <a:spcPts val="0"/>
                        </a:spcBef>
                        <a:spcAft>
                          <a:spcPts val="0"/>
                        </a:spcAft>
                        <a:buFont typeface="Arial" panose="020B0604020202020204" pitchFamily="34" charset="0"/>
                        <a:buNone/>
                      </a:pPr>
                      <a:r>
                        <a:rPr lang="en-GB" sz="2400" dirty="0">
                          <a:effectLst/>
                          <a:uFill>
                            <a:solidFill>
                              <a:srgbClr val="000000"/>
                            </a:solidFill>
                          </a:uFill>
                        </a:rPr>
                        <a:t>Major Core for**</a:t>
                      </a:r>
                      <a:endParaRPr lang="en-US" sz="3600" dirty="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marL="0" marR="0" algn="just">
                        <a:lnSpc>
                          <a:spcPct val="115000"/>
                        </a:lnSpc>
                        <a:spcBef>
                          <a:spcPts val="0"/>
                        </a:spcBef>
                        <a:spcAft>
                          <a:spcPts val="0"/>
                        </a:spcAft>
                      </a:pPr>
                      <a:r>
                        <a:rPr lang="en-GB" sz="2400">
                          <a:effectLst/>
                          <a:uFill>
                            <a:solidFill>
                              <a:srgbClr val="000000"/>
                            </a:solidFill>
                          </a:uFill>
                        </a:rPr>
                        <a:t>NA</a:t>
                      </a:r>
                      <a:endParaRPr lang="en-US" sz="360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434138569"/>
                  </a:ext>
                </a:extLst>
              </a:tr>
              <a:tr h="686390">
                <a:tc>
                  <a:txBody>
                    <a:bodyPr/>
                    <a:lstStyle/>
                    <a:p>
                      <a:pPr marL="0" marR="0" lvl="0" indent="0" algn="just">
                        <a:lnSpc>
                          <a:spcPct val="115000"/>
                        </a:lnSpc>
                        <a:spcBef>
                          <a:spcPts val="0"/>
                        </a:spcBef>
                        <a:spcAft>
                          <a:spcPts val="0"/>
                        </a:spcAft>
                        <a:buFont typeface="Arial" panose="020B0604020202020204" pitchFamily="34" charset="0"/>
                        <a:buNone/>
                      </a:pPr>
                      <a:r>
                        <a:rPr lang="en-GB" sz="2400" dirty="0">
                          <a:effectLst/>
                          <a:uFill>
                            <a:solidFill>
                              <a:srgbClr val="000000"/>
                            </a:solidFill>
                          </a:uFill>
                        </a:rPr>
                        <a:t>Major Elective for</a:t>
                      </a:r>
                      <a:endParaRPr lang="en-US" sz="3600" dirty="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marL="0" marR="0" algn="just">
                        <a:lnSpc>
                          <a:spcPct val="115000"/>
                        </a:lnSpc>
                        <a:spcBef>
                          <a:spcPts val="0"/>
                        </a:spcBef>
                        <a:spcAft>
                          <a:spcPts val="0"/>
                        </a:spcAft>
                      </a:pPr>
                      <a:r>
                        <a:rPr lang="en-GB" sz="2400" dirty="0">
                          <a:effectLst/>
                          <a:uFill>
                            <a:solidFill>
                              <a:srgbClr val="000000"/>
                            </a:solidFill>
                          </a:uFill>
                        </a:rPr>
                        <a:t>CSE</a:t>
                      </a:r>
                      <a:endParaRPr lang="en-US" sz="3600" dirty="0">
                        <a:solidFill>
                          <a:srgbClr val="000000"/>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3148075533"/>
                  </a:ext>
                </a:extLst>
              </a:tr>
            </a:tbl>
          </a:graphicData>
        </a:graphic>
      </p:graphicFrame>
    </p:spTree>
    <p:extLst>
      <p:ext uri="{BB962C8B-B14F-4D97-AF65-F5344CB8AC3E}">
        <p14:creationId xmlns:p14="http://schemas.microsoft.com/office/powerpoint/2010/main" val="852659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b="1" dirty="0"/>
              <a:t>Course Summary</a:t>
            </a:r>
            <a:r>
              <a:rPr lang="en-US" dirty="0"/>
              <a:t/>
            </a:r>
            <a:br>
              <a:rPr lang="en-US" dirty="0"/>
            </a:br>
            <a:endParaRPr lang="en-US" dirty="0"/>
          </a:p>
        </p:txBody>
      </p:sp>
      <p:sp>
        <p:nvSpPr>
          <p:cNvPr id="3" name="Content Placeholder 2"/>
          <p:cNvSpPr>
            <a:spLocks noGrp="1"/>
          </p:cNvSpPr>
          <p:nvPr>
            <p:ph idx="1"/>
          </p:nvPr>
        </p:nvSpPr>
        <p:spPr/>
        <p:txBody>
          <a:bodyPr/>
          <a:lstStyle/>
          <a:p>
            <a:pPr marL="0" indent="0">
              <a:buNone/>
            </a:pPr>
            <a:r>
              <a:rPr lang="en-IN" dirty="0" smtClean="0"/>
              <a:t>In </a:t>
            </a:r>
            <a:r>
              <a:rPr lang="en-IN" dirty="0"/>
              <a:t>this course, we would explore the fundamental data mining methodology, OLTP and OLAP, data pre-processing, association rules mining, clustering, classification, and other advanced topics in the field such as Social impact of Data mining, Recent trends in Data mining research, Challenges and Future Scope, need for Security and Privacy preserving in Data Mining</a:t>
            </a:r>
            <a:endParaRPr lang="en-US" dirty="0"/>
          </a:p>
          <a:p>
            <a:endParaRPr lang="en-US" dirty="0"/>
          </a:p>
        </p:txBody>
      </p:sp>
    </p:spTree>
    <p:extLst>
      <p:ext uri="{BB962C8B-B14F-4D97-AF65-F5344CB8AC3E}">
        <p14:creationId xmlns:p14="http://schemas.microsoft.com/office/powerpoint/2010/main" val="614446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b="1" dirty="0"/>
              <a:t>Course </a:t>
            </a:r>
            <a:r>
              <a:rPr lang="en-GB" b="1" dirty="0" smtClean="0"/>
              <a:t>Aims</a:t>
            </a:r>
            <a:endParaRPr lang="en-US" dirty="0"/>
          </a:p>
        </p:txBody>
      </p:sp>
      <p:sp>
        <p:nvSpPr>
          <p:cNvPr id="3" name="Content Placeholder 2"/>
          <p:cNvSpPr>
            <a:spLocks noGrp="1"/>
          </p:cNvSpPr>
          <p:nvPr>
            <p:ph idx="1"/>
          </p:nvPr>
        </p:nvSpPr>
        <p:spPr>
          <a:xfrm>
            <a:off x="191387" y="2638044"/>
            <a:ext cx="11685180" cy="3101983"/>
          </a:xfrm>
        </p:spPr>
        <p:txBody>
          <a:bodyPr/>
          <a:lstStyle/>
          <a:p>
            <a:pPr marL="0" indent="0">
              <a:buNone/>
            </a:pPr>
            <a:r>
              <a:rPr lang="en-GB" dirty="0"/>
              <a:t>The aim of the course is as follows:</a:t>
            </a:r>
            <a:endParaRPr lang="en-US" dirty="0"/>
          </a:p>
          <a:p>
            <a:pPr lvl="0"/>
            <a:r>
              <a:rPr lang="en-IN" dirty="0"/>
              <a:t>To provide students with fundamental knowledge of data mining process. </a:t>
            </a:r>
            <a:endParaRPr lang="en-US" dirty="0"/>
          </a:p>
          <a:p>
            <a:pPr lvl="0"/>
            <a:r>
              <a:rPr lang="en-IN" dirty="0"/>
              <a:t>To enable students to apply association rules, classification and clustering on datasets.</a:t>
            </a:r>
            <a:endParaRPr lang="en-US" dirty="0"/>
          </a:p>
          <a:p>
            <a:pPr lvl="0"/>
            <a:r>
              <a:rPr lang="en-IN" dirty="0"/>
              <a:t>To develop students’ skills in understanding certain real-world data mining tasks, and then appraise and evaluate</a:t>
            </a:r>
            <a:r>
              <a:rPr lang="en-GB" dirty="0"/>
              <a:t> solutions.</a:t>
            </a:r>
            <a:endParaRPr lang="en-US" dirty="0"/>
          </a:p>
          <a:p>
            <a:pPr marL="0" indent="0">
              <a:buNone/>
            </a:pPr>
            <a:endParaRPr lang="en-US" dirty="0"/>
          </a:p>
        </p:txBody>
      </p:sp>
    </p:spTree>
    <p:extLst>
      <p:ext uri="{BB962C8B-B14F-4D97-AF65-F5344CB8AC3E}">
        <p14:creationId xmlns:p14="http://schemas.microsoft.com/office/powerpoint/2010/main" val="84193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 </a:t>
            </a:r>
            <a:r>
              <a:rPr lang="en-US" dirty="0"/>
              <a:t/>
            </a:r>
            <a:br>
              <a:rPr lang="en-US" dirty="0"/>
            </a:br>
            <a:r>
              <a:rPr lang="en-IN" b="1" dirty="0"/>
              <a:t>Learning Outcomes</a:t>
            </a:r>
            <a:r>
              <a:rPr lang="en-US" dirty="0"/>
              <a:t/>
            </a:r>
            <a:br>
              <a:rPr lang="en-US" dirty="0"/>
            </a:br>
            <a:endParaRPr lang="en-US" dirty="0"/>
          </a:p>
        </p:txBody>
      </p:sp>
      <p:sp>
        <p:nvSpPr>
          <p:cNvPr id="3" name="Content Placeholder 2"/>
          <p:cNvSpPr>
            <a:spLocks noGrp="1"/>
          </p:cNvSpPr>
          <p:nvPr>
            <p:ph idx="1"/>
          </p:nvPr>
        </p:nvSpPr>
        <p:spPr>
          <a:xfrm>
            <a:off x="212651" y="2466753"/>
            <a:ext cx="11504427" cy="3965945"/>
          </a:xfrm>
        </p:spPr>
        <p:txBody>
          <a:bodyPr>
            <a:normAutofit/>
          </a:bodyPr>
          <a:lstStyle/>
          <a:p>
            <a:pPr marL="0" indent="0">
              <a:buNone/>
            </a:pPr>
            <a:r>
              <a:rPr lang="en-IN" dirty="0"/>
              <a:t>On successful completion of the course, students will be able to:</a:t>
            </a:r>
            <a:endParaRPr lang="en-US" dirty="0"/>
          </a:p>
          <a:p>
            <a:pPr lvl="0"/>
            <a:r>
              <a:rPr lang="en-IN" dirty="0"/>
              <a:t>Demonstrate a comprehensive understanding of different tasks associated in Data Warehousing and Data Mining.</a:t>
            </a:r>
            <a:endParaRPr lang="en-US" dirty="0"/>
          </a:p>
          <a:p>
            <a:pPr lvl="0"/>
            <a:r>
              <a:rPr lang="en-IN" dirty="0"/>
              <a:t>Understand the concepts of Data Pre-processing in the Data Mining process. </a:t>
            </a:r>
            <a:endParaRPr lang="en-US" dirty="0"/>
          </a:p>
          <a:p>
            <a:pPr lvl="0"/>
            <a:r>
              <a:rPr lang="en-IN" dirty="0"/>
              <a:t>Understand concepts of Association rules mining.</a:t>
            </a:r>
            <a:endParaRPr lang="en-US" dirty="0"/>
          </a:p>
          <a:p>
            <a:pPr lvl="0"/>
            <a:r>
              <a:rPr lang="en-IN" dirty="0"/>
              <a:t>Understand concepts of Data Mining techniques, such as Clustering, Classification, etc.</a:t>
            </a:r>
            <a:endParaRPr lang="en-US" dirty="0"/>
          </a:p>
          <a:p>
            <a:pPr lvl="0"/>
            <a:r>
              <a:rPr lang="en-IN" dirty="0"/>
              <a:t>Formulate and Design solutions for real-world Data Mining applications and Implement the designed solutions in the most suitable programming language.</a:t>
            </a:r>
            <a:endParaRPr lang="en-US" dirty="0"/>
          </a:p>
          <a:p>
            <a:pPr lvl="0"/>
            <a:r>
              <a:rPr lang="en-IN" dirty="0"/>
              <a:t>Evaluate and Appraise/Criticize the solution designed for any data mining task. </a:t>
            </a:r>
            <a:endParaRPr lang="en-US" dirty="0"/>
          </a:p>
          <a:p>
            <a:pPr marL="0" indent="0">
              <a:buNone/>
            </a:pPr>
            <a:endParaRPr lang="en-US" dirty="0"/>
          </a:p>
        </p:txBody>
      </p:sp>
    </p:spTree>
    <p:extLst>
      <p:ext uri="{BB962C8B-B14F-4D97-AF65-F5344CB8AC3E}">
        <p14:creationId xmlns:p14="http://schemas.microsoft.com/office/powerpoint/2010/main" val="1415674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Curriculum content</a:t>
            </a:r>
            <a:endParaRPr lang="en-US" dirty="0"/>
          </a:p>
        </p:txBody>
      </p:sp>
      <p:graphicFrame>
        <p:nvGraphicFramePr>
          <p:cNvPr id="4" name="Content Placeholder 3"/>
          <p:cNvGraphicFramePr>
            <a:graphicFrameLocks noGrp="1"/>
          </p:cNvGraphicFramePr>
          <p:nvPr>
            <p:ph idx="1"/>
          </p:nvPr>
        </p:nvGraphicFramePr>
        <p:xfrm>
          <a:off x="1084729" y="2445487"/>
          <a:ext cx="10103224" cy="3154680"/>
        </p:xfrm>
        <a:graphic>
          <a:graphicData uri="http://schemas.openxmlformats.org/drawingml/2006/table">
            <a:tbl>
              <a:tblPr firstRow="1" firstCol="1" bandRow="1">
                <a:tableStyleId>{5C22544A-7EE6-4342-B048-85BDC9FD1C3A}</a:tableStyleId>
              </a:tblPr>
              <a:tblGrid>
                <a:gridCol w="10103224">
                  <a:extLst>
                    <a:ext uri="{9D8B030D-6E8A-4147-A177-3AD203B41FA5}">
                      <a16:colId xmlns:a16="http://schemas.microsoft.com/office/drawing/2014/main" val="3814887648"/>
                    </a:ext>
                  </a:extLst>
                </a:gridCol>
              </a:tblGrid>
              <a:tr h="288738">
                <a:tc>
                  <a:txBody>
                    <a:bodyPr/>
                    <a:lstStyle/>
                    <a:p>
                      <a:pPr marL="0" marR="0">
                        <a:lnSpc>
                          <a:spcPct val="115000"/>
                        </a:lnSpc>
                        <a:spcBef>
                          <a:spcPts val="0"/>
                        </a:spcBef>
                        <a:spcAft>
                          <a:spcPts val="0"/>
                        </a:spcAft>
                        <a:tabLst>
                          <a:tab pos="1943100" algn="l"/>
                        </a:tabLst>
                      </a:pPr>
                      <a:r>
                        <a:rPr lang="en-IN" sz="1800" b="0" dirty="0">
                          <a:solidFill>
                            <a:schemeClr val="tx1"/>
                          </a:solidFill>
                          <a:effectLst/>
                        </a:rPr>
                        <a:t>Introduction to data mining </a:t>
                      </a:r>
                      <a:endParaRPr lang="en-US" sz="2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402911619"/>
                  </a:ext>
                </a:extLst>
              </a:tr>
              <a:tr h="288738">
                <a:tc>
                  <a:txBody>
                    <a:bodyPr/>
                    <a:lstStyle/>
                    <a:p>
                      <a:pPr marL="0" marR="0">
                        <a:lnSpc>
                          <a:spcPct val="115000"/>
                        </a:lnSpc>
                        <a:spcBef>
                          <a:spcPts val="0"/>
                        </a:spcBef>
                        <a:spcAft>
                          <a:spcPts val="0"/>
                        </a:spcAft>
                        <a:tabLst>
                          <a:tab pos="1943100" algn="l"/>
                        </a:tabLst>
                      </a:pPr>
                      <a:r>
                        <a:rPr lang="en-IN" sz="1800" b="0">
                          <a:solidFill>
                            <a:schemeClr val="tx1"/>
                          </a:solidFill>
                          <a:effectLst/>
                        </a:rPr>
                        <a:t>Introduction to data warehousing, Modern Data Warehouses</a:t>
                      </a:r>
                      <a:endParaRPr lang="en-US" sz="28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695201840"/>
                  </a:ext>
                </a:extLst>
              </a:tr>
              <a:tr h="288738">
                <a:tc>
                  <a:txBody>
                    <a:bodyPr/>
                    <a:lstStyle/>
                    <a:p>
                      <a:pPr marL="0" marR="0">
                        <a:lnSpc>
                          <a:spcPct val="115000"/>
                        </a:lnSpc>
                        <a:spcBef>
                          <a:spcPts val="0"/>
                        </a:spcBef>
                        <a:spcAft>
                          <a:spcPts val="0"/>
                        </a:spcAft>
                        <a:tabLst>
                          <a:tab pos="1943100" algn="l"/>
                        </a:tabLst>
                      </a:pPr>
                      <a:r>
                        <a:rPr lang="en-IN" sz="1800" b="0" dirty="0">
                          <a:solidFill>
                            <a:schemeClr val="tx1"/>
                          </a:solidFill>
                          <a:effectLst/>
                        </a:rPr>
                        <a:t>Data Preparation -  Feature extraction, Data Cleaning, Reduction and Transformation, Data </a:t>
                      </a:r>
                      <a:r>
                        <a:rPr lang="en-IN" sz="1800" b="0" dirty="0" smtClean="0">
                          <a:solidFill>
                            <a:schemeClr val="tx1"/>
                          </a:solidFill>
                          <a:effectLst/>
                        </a:rPr>
                        <a:t>Visualization</a:t>
                      </a:r>
                      <a:endParaRPr lang="en-US" sz="2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522765452"/>
                  </a:ext>
                </a:extLst>
              </a:tr>
              <a:tr h="288738">
                <a:tc>
                  <a:txBody>
                    <a:bodyPr/>
                    <a:lstStyle/>
                    <a:p>
                      <a:pPr marL="0" marR="0">
                        <a:lnSpc>
                          <a:spcPct val="115000"/>
                        </a:lnSpc>
                        <a:spcBef>
                          <a:spcPts val="0"/>
                        </a:spcBef>
                        <a:spcAft>
                          <a:spcPts val="0"/>
                        </a:spcAft>
                        <a:tabLst>
                          <a:tab pos="1943100" algn="l"/>
                        </a:tabLst>
                      </a:pPr>
                      <a:r>
                        <a:rPr lang="en-IN" sz="1800" b="0" dirty="0">
                          <a:solidFill>
                            <a:schemeClr val="tx1"/>
                          </a:solidFill>
                          <a:effectLst/>
                        </a:rPr>
                        <a:t>Mining Association Rules, From Association Mining to Correlation Analysis</a:t>
                      </a:r>
                      <a:endParaRPr lang="en-US" sz="2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3563784284"/>
                  </a:ext>
                </a:extLst>
              </a:tr>
              <a:tr h="596825">
                <a:tc>
                  <a:txBody>
                    <a:bodyPr/>
                    <a:lstStyle/>
                    <a:p>
                      <a:pPr marL="0" marR="0">
                        <a:lnSpc>
                          <a:spcPct val="115000"/>
                        </a:lnSpc>
                        <a:spcBef>
                          <a:spcPts val="0"/>
                        </a:spcBef>
                        <a:spcAft>
                          <a:spcPts val="0"/>
                        </a:spcAft>
                        <a:tabLst>
                          <a:tab pos="1943100" algn="l"/>
                        </a:tabLst>
                      </a:pPr>
                      <a:r>
                        <a:rPr lang="en-IN" sz="1800" b="0">
                          <a:solidFill>
                            <a:schemeClr val="tx1"/>
                          </a:solidFill>
                          <a:effectLst/>
                        </a:rPr>
                        <a:t>Clustering and Classification, Outlier Analysis</a:t>
                      </a:r>
                      <a:endParaRPr lang="en-US" sz="2800" b="0">
                        <a:solidFill>
                          <a:schemeClr val="tx1"/>
                        </a:solidFill>
                        <a:effectLst/>
                      </a:endParaRPr>
                    </a:p>
                    <a:p>
                      <a:pPr marL="0" marR="0">
                        <a:lnSpc>
                          <a:spcPct val="115000"/>
                        </a:lnSpc>
                        <a:spcBef>
                          <a:spcPts val="0"/>
                        </a:spcBef>
                        <a:spcAft>
                          <a:spcPts val="0"/>
                        </a:spcAft>
                        <a:tabLst>
                          <a:tab pos="1943100" algn="l"/>
                        </a:tabLst>
                      </a:pPr>
                      <a:r>
                        <a:rPr lang="en-IN" sz="1800" b="0">
                          <a:solidFill>
                            <a:schemeClr val="tx1"/>
                          </a:solidFill>
                          <a:effectLst/>
                        </a:rPr>
                        <a:t>Mining Text Data</a:t>
                      </a:r>
                      <a:endParaRPr lang="en-US" sz="28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966220012"/>
                  </a:ext>
                </a:extLst>
              </a:tr>
              <a:tr h="596825">
                <a:tc>
                  <a:txBody>
                    <a:bodyPr/>
                    <a:lstStyle/>
                    <a:p>
                      <a:pPr marL="0" marR="0">
                        <a:lnSpc>
                          <a:spcPct val="115000"/>
                        </a:lnSpc>
                        <a:spcBef>
                          <a:spcPts val="0"/>
                        </a:spcBef>
                        <a:spcAft>
                          <a:spcPts val="0"/>
                        </a:spcAft>
                        <a:tabLst>
                          <a:tab pos="1943100" algn="l"/>
                        </a:tabLst>
                      </a:pPr>
                      <a:r>
                        <a:rPr lang="en-IN" sz="1800" b="0">
                          <a:solidFill>
                            <a:schemeClr val="tx1"/>
                          </a:solidFill>
                          <a:effectLst/>
                        </a:rPr>
                        <a:t>Mining Time-series data</a:t>
                      </a:r>
                      <a:endParaRPr lang="en-US" sz="2800" b="0">
                        <a:solidFill>
                          <a:schemeClr val="tx1"/>
                        </a:solidFill>
                        <a:effectLst/>
                      </a:endParaRPr>
                    </a:p>
                    <a:p>
                      <a:pPr marL="0" marR="0">
                        <a:lnSpc>
                          <a:spcPct val="115000"/>
                        </a:lnSpc>
                        <a:spcBef>
                          <a:spcPts val="0"/>
                        </a:spcBef>
                        <a:spcAft>
                          <a:spcPts val="0"/>
                        </a:spcAft>
                        <a:tabLst>
                          <a:tab pos="1943100" algn="l"/>
                        </a:tabLst>
                      </a:pPr>
                      <a:r>
                        <a:rPr lang="en-IN" sz="1800" b="0">
                          <a:solidFill>
                            <a:schemeClr val="tx1"/>
                          </a:solidFill>
                          <a:effectLst/>
                        </a:rPr>
                        <a:t>Spatial data mining</a:t>
                      </a:r>
                      <a:endParaRPr lang="en-US" sz="28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1649696663"/>
                  </a:ext>
                </a:extLst>
              </a:tr>
              <a:tr h="288738">
                <a:tc>
                  <a:txBody>
                    <a:bodyPr/>
                    <a:lstStyle/>
                    <a:p>
                      <a:pPr marL="0" marR="0">
                        <a:lnSpc>
                          <a:spcPct val="115000"/>
                        </a:lnSpc>
                        <a:spcBef>
                          <a:spcPts val="0"/>
                        </a:spcBef>
                        <a:spcAft>
                          <a:spcPts val="0"/>
                        </a:spcAft>
                        <a:tabLst>
                          <a:tab pos="1943100" algn="l"/>
                        </a:tabLst>
                      </a:pPr>
                      <a:r>
                        <a:rPr lang="en-IN" sz="1800" b="0">
                          <a:solidFill>
                            <a:schemeClr val="tx1"/>
                          </a:solidFill>
                          <a:effectLst/>
                        </a:rPr>
                        <a:t>Mining Biological data</a:t>
                      </a:r>
                      <a:endParaRPr lang="en-US" sz="28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749643329"/>
                  </a:ext>
                </a:extLst>
              </a:tr>
              <a:tr h="288738">
                <a:tc>
                  <a:txBody>
                    <a:bodyPr/>
                    <a:lstStyle/>
                    <a:p>
                      <a:pPr marL="0" marR="0">
                        <a:lnSpc>
                          <a:spcPct val="115000"/>
                        </a:lnSpc>
                        <a:spcBef>
                          <a:spcPts val="0"/>
                        </a:spcBef>
                        <a:spcAft>
                          <a:spcPts val="0"/>
                        </a:spcAft>
                        <a:tabLst>
                          <a:tab pos="1943100" algn="l"/>
                        </a:tabLst>
                      </a:pPr>
                      <a:r>
                        <a:rPr lang="en-IN" sz="1800" b="0" dirty="0">
                          <a:solidFill>
                            <a:schemeClr val="tx1"/>
                          </a:solidFill>
                          <a:effectLst/>
                        </a:rPr>
                        <a:t>Security and Privacy preserving in Data Mining</a:t>
                      </a:r>
                      <a:endParaRPr lang="en-US" sz="2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1382559960"/>
                  </a:ext>
                </a:extLst>
              </a:tr>
            </a:tbl>
          </a:graphicData>
        </a:graphic>
      </p:graphicFrame>
    </p:spTree>
    <p:extLst>
      <p:ext uri="{BB962C8B-B14F-4D97-AF65-F5344CB8AC3E}">
        <p14:creationId xmlns:p14="http://schemas.microsoft.com/office/powerpoint/2010/main" val="1883810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Assessment Strategy</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429257172"/>
              </p:ext>
            </p:extLst>
          </p:nvPr>
        </p:nvGraphicFramePr>
        <p:xfrm>
          <a:off x="1586754" y="2492189"/>
          <a:ext cx="9215365" cy="3148175"/>
        </p:xfrm>
        <a:graphic>
          <a:graphicData uri="http://schemas.openxmlformats.org/drawingml/2006/table">
            <a:tbl>
              <a:tblPr firstRow="1" firstCol="1" lastRow="1" lastCol="1" bandRow="1" bandCol="1">
                <a:tableStyleId>{793D81CF-94F2-401A-BA57-92F5A7B2D0C5}</a:tableStyleId>
              </a:tblPr>
              <a:tblGrid>
                <a:gridCol w="2596890">
                  <a:extLst>
                    <a:ext uri="{9D8B030D-6E8A-4147-A177-3AD203B41FA5}">
                      <a16:colId xmlns:a16="http://schemas.microsoft.com/office/drawing/2014/main" val="2719649400"/>
                    </a:ext>
                  </a:extLst>
                </a:gridCol>
                <a:gridCol w="1336228">
                  <a:extLst>
                    <a:ext uri="{9D8B030D-6E8A-4147-A177-3AD203B41FA5}">
                      <a16:colId xmlns:a16="http://schemas.microsoft.com/office/drawing/2014/main" val="2567862211"/>
                    </a:ext>
                  </a:extLst>
                </a:gridCol>
                <a:gridCol w="1362031">
                  <a:extLst>
                    <a:ext uri="{9D8B030D-6E8A-4147-A177-3AD203B41FA5}">
                      <a16:colId xmlns:a16="http://schemas.microsoft.com/office/drawing/2014/main" val="1407279990"/>
                    </a:ext>
                  </a:extLst>
                </a:gridCol>
                <a:gridCol w="3920216">
                  <a:extLst>
                    <a:ext uri="{9D8B030D-6E8A-4147-A177-3AD203B41FA5}">
                      <a16:colId xmlns:a16="http://schemas.microsoft.com/office/drawing/2014/main" val="1053143713"/>
                    </a:ext>
                  </a:extLst>
                </a:gridCol>
              </a:tblGrid>
              <a:tr h="287061">
                <a:tc>
                  <a:txBody>
                    <a:bodyPr/>
                    <a:lstStyle/>
                    <a:p>
                      <a:pPr marL="0" marR="0">
                        <a:lnSpc>
                          <a:spcPct val="115000"/>
                        </a:lnSpc>
                        <a:spcBef>
                          <a:spcPts val="0"/>
                        </a:spcBef>
                        <a:spcAft>
                          <a:spcPts val="0"/>
                        </a:spcAft>
                      </a:pPr>
                      <a:r>
                        <a:rPr lang="en-IN" sz="1800" dirty="0">
                          <a:effectLst/>
                        </a:rPr>
                        <a:t>Evaluation Instrument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IN" sz="1800">
                          <a:effectLst/>
                        </a:rPr>
                        <a:t>Weightage</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IN" sz="1800">
                          <a:effectLst/>
                        </a:rPr>
                        <a:t>Time</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IN" sz="1800">
                          <a:effectLst/>
                        </a:rPr>
                        <a:t>Comment</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14624666"/>
                  </a:ext>
                </a:extLst>
              </a:tr>
              <a:tr h="287061">
                <a:tc>
                  <a:txBody>
                    <a:bodyPr/>
                    <a:lstStyle/>
                    <a:p>
                      <a:pPr marL="0" marR="0">
                        <a:lnSpc>
                          <a:spcPct val="115000"/>
                        </a:lnSpc>
                        <a:spcBef>
                          <a:spcPts val="0"/>
                        </a:spcBef>
                        <a:spcAft>
                          <a:spcPts val="0"/>
                        </a:spcAft>
                      </a:pPr>
                      <a:r>
                        <a:rPr lang="en-IN" sz="1800" b="0" dirty="0">
                          <a:effectLst/>
                        </a:rPr>
                        <a:t>Midterm Exam</a:t>
                      </a:r>
                      <a:endParaRPr lang="en-US" sz="2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IN" sz="1800" b="0">
                          <a:effectLst/>
                        </a:rPr>
                        <a:t>15%</a:t>
                      </a:r>
                      <a:endParaRPr lang="en-US" sz="2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IN" sz="1800" b="0">
                          <a:effectLst/>
                        </a:rPr>
                        <a:t>1.5 hours</a:t>
                      </a:r>
                      <a:endParaRPr lang="en-US" sz="2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IN" sz="1800" b="0">
                          <a:effectLst/>
                        </a:rPr>
                        <a:t>Closed Book, In Class </a:t>
                      </a:r>
                      <a:endParaRPr lang="en-US" sz="2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41929821"/>
                  </a:ext>
                </a:extLst>
              </a:tr>
              <a:tr h="899654">
                <a:tc>
                  <a:txBody>
                    <a:bodyPr/>
                    <a:lstStyle/>
                    <a:p>
                      <a:pPr marL="0" marR="0">
                        <a:lnSpc>
                          <a:spcPct val="115000"/>
                        </a:lnSpc>
                        <a:spcBef>
                          <a:spcPts val="0"/>
                        </a:spcBef>
                        <a:spcAft>
                          <a:spcPts val="0"/>
                        </a:spcAft>
                      </a:pPr>
                      <a:r>
                        <a:rPr lang="en-IN" sz="1800" b="0" dirty="0">
                          <a:effectLst/>
                        </a:rPr>
                        <a:t>Laboratory/Programming Assignments/ Project</a:t>
                      </a:r>
                      <a:endParaRPr lang="en-US" sz="2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IN" sz="1800" b="0" dirty="0">
                          <a:effectLst/>
                        </a:rPr>
                        <a:t>40%</a:t>
                      </a:r>
                      <a:endParaRPr lang="en-US" sz="2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IN" sz="1800" b="0" dirty="0">
                          <a:effectLst/>
                        </a:rPr>
                        <a:t>By due date and time</a:t>
                      </a:r>
                      <a:endParaRPr lang="en-US" sz="2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IN" sz="1800" b="0">
                          <a:effectLst/>
                        </a:rPr>
                        <a:t>Programming assignments to be finished by due date. </a:t>
                      </a:r>
                      <a:endParaRPr lang="en-US" sz="2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31151814"/>
                  </a:ext>
                </a:extLst>
              </a:tr>
              <a:tr h="287061">
                <a:tc>
                  <a:txBody>
                    <a:bodyPr/>
                    <a:lstStyle/>
                    <a:p>
                      <a:pPr marL="0" marR="0">
                        <a:lnSpc>
                          <a:spcPct val="115000"/>
                        </a:lnSpc>
                        <a:spcBef>
                          <a:spcPts val="0"/>
                        </a:spcBef>
                        <a:spcAft>
                          <a:spcPts val="0"/>
                        </a:spcAft>
                      </a:pPr>
                      <a:r>
                        <a:rPr lang="en-IN" sz="1800" b="0">
                          <a:effectLst/>
                        </a:rPr>
                        <a:t>Quiz</a:t>
                      </a:r>
                      <a:endParaRPr lang="en-US" sz="2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IN" sz="1800" b="0">
                          <a:effectLst/>
                        </a:rPr>
                        <a:t>20%</a:t>
                      </a:r>
                      <a:endParaRPr lang="en-US" sz="2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tabLst>
                          <a:tab pos="731520" algn="ctr"/>
                        </a:tabLst>
                      </a:pPr>
                      <a:r>
                        <a:rPr lang="en-IN" sz="1800" b="0" dirty="0">
                          <a:effectLst/>
                        </a:rPr>
                        <a:t>--</a:t>
                      </a:r>
                      <a:endParaRPr lang="en-US" sz="2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IN" sz="1800" b="0">
                          <a:effectLst/>
                        </a:rPr>
                        <a:t>In-class Quiz</a:t>
                      </a:r>
                      <a:endParaRPr lang="en-US" sz="2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5240649"/>
                  </a:ext>
                </a:extLst>
              </a:tr>
              <a:tr h="899654">
                <a:tc>
                  <a:txBody>
                    <a:bodyPr/>
                    <a:lstStyle/>
                    <a:p>
                      <a:pPr marL="0" marR="0">
                        <a:lnSpc>
                          <a:spcPct val="115000"/>
                        </a:lnSpc>
                        <a:spcBef>
                          <a:spcPts val="0"/>
                        </a:spcBef>
                        <a:spcAft>
                          <a:spcPts val="0"/>
                        </a:spcAft>
                      </a:pPr>
                      <a:r>
                        <a:rPr lang="en-IN" sz="1800" b="0">
                          <a:effectLst/>
                        </a:rPr>
                        <a:t>Final Exam</a:t>
                      </a:r>
                      <a:endParaRPr lang="en-US" sz="2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IN" sz="1800" b="0" dirty="0">
                          <a:effectLst/>
                        </a:rPr>
                        <a:t>25%</a:t>
                      </a:r>
                      <a:endParaRPr lang="en-US" sz="2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IN" sz="1800" b="0" dirty="0">
                          <a:effectLst/>
                        </a:rPr>
                        <a:t>2 hours</a:t>
                      </a:r>
                      <a:endParaRPr lang="en-US" sz="2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IN" sz="1800" b="0" dirty="0">
                          <a:effectLst/>
                        </a:rPr>
                        <a:t>Closed Book, In Class (Comprehensive Exam of complete syllabus)</a:t>
                      </a:r>
                      <a:endParaRPr lang="en-US" sz="2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6091009"/>
                  </a:ext>
                </a:extLst>
              </a:tr>
              <a:tr h="448471">
                <a:tc>
                  <a:txBody>
                    <a:bodyPr/>
                    <a:lstStyle/>
                    <a:p>
                      <a:pPr marL="0" marR="0">
                        <a:lnSpc>
                          <a:spcPct val="115000"/>
                        </a:lnSpc>
                        <a:spcBef>
                          <a:spcPts val="0"/>
                        </a:spcBef>
                        <a:spcAft>
                          <a:spcPts val="0"/>
                        </a:spcAft>
                      </a:pP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70278840"/>
                  </a:ext>
                </a:extLst>
              </a:tr>
            </a:tbl>
          </a:graphicData>
        </a:graphic>
      </p:graphicFrame>
    </p:spTree>
    <p:extLst>
      <p:ext uri="{BB962C8B-B14F-4D97-AF65-F5344CB8AC3E}">
        <p14:creationId xmlns:p14="http://schemas.microsoft.com/office/powerpoint/2010/main" val="2928870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b="1" dirty="0"/>
              <a:t>Bibliography</a:t>
            </a:r>
            <a:r>
              <a:rPr lang="en-US" dirty="0"/>
              <a:t/>
            </a:r>
            <a:br>
              <a:rPr lang="en-US" dirty="0"/>
            </a:b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86128863"/>
              </p:ext>
            </p:extLst>
          </p:nvPr>
        </p:nvGraphicFramePr>
        <p:xfrm>
          <a:off x="555812" y="2294965"/>
          <a:ext cx="10972799" cy="3217307"/>
        </p:xfrm>
        <a:graphic>
          <a:graphicData uri="http://schemas.openxmlformats.org/drawingml/2006/table">
            <a:tbl>
              <a:tblPr firstRow="1" firstCol="1" bandRow="1">
                <a:tableStyleId>{5C22544A-7EE6-4342-B048-85BDC9FD1C3A}</a:tableStyleId>
              </a:tblPr>
              <a:tblGrid>
                <a:gridCol w="1071160">
                  <a:extLst>
                    <a:ext uri="{9D8B030D-6E8A-4147-A177-3AD203B41FA5}">
                      <a16:colId xmlns:a16="http://schemas.microsoft.com/office/drawing/2014/main" val="3158722968"/>
                    </a:ext>
                  </a:extLst>
                </a:gridCol>
                <a:gridCol w="2853498">
                  <a:extLst>
                    <a:ext uri="{9D8B030D-6E8A-4147-A177-3AD203B41FA5}">
                      <a16:colId xmlns:a16="http://schemas.microsoft.com/office/drawing/2014/main" val="304558170"/>
                    </a:ext>
                  </a:extLst>
                </a:gridCol>
                <a:gridCol w="2282799">
                  <a:extLst>
                    <a:ext uri="{9D8B030D-6E8A-4147-A177-3AD203B41FA5}">
                      <a16:colId xmlns:a16="http://schemas.microsoft.com/office/drawing/2014/main" val="2666058314"/>
                    </a:ext>
                  </a:extLst>
                </a:gridCol>
                <a:gridCol w="2072078">
                  <a:extLst>
                    <a:ext uri="{9D8B030D-6E8A-4147-A177-3AD203B41FA5}">
                      <a16:colId xmlns:a16="http://schemas.microsoft.com/office/drawing/2014/main" val="40691814"/>
                    </a:ext>
                  </a:extLst>
                </a:gridCol>
                <a:gridCol w="2693264">
                  <a:extLst>
                    <a:ext uri="{9D8B030D-6E8A-4147-A177-3AD203B41FA5}">
                      <a16:colId xmlns:a16="http://schemas.microsoft.com/office/drawing/2014/main" val="4857154"/>
                    </a:ext>
                  </a:extLst>
                </a:gridCol>
              </a:tblGrid>
              <a:tr h="457133">
                <a:tc>
                  <a:txBody>
                    <a:bodyPr/>
                    <a:lstStyle/>
                    <a:p>
                      <a:pPr marL="0" marR="0">
                        <a:lnSpc>
                          <a:spcPct val="115000"/>
                        </a:lnSpc>
                        <a:spcBef>
                          <a:spcPts val="0"/>
                        </a:spcBef>
                        <a:spcAft>
                          <a:spcPts val="0"/>
                        </a:spcAft>
                      </a:pPr>
                      <a:r>
                        <a:rPr lang="en-IN" sz="2000">
                          <a:effectLst/>
                        </a:rPr>
                        <a:t>S.No.</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IN" sz="2000">
                          <a:effectLst/>
                        </a:rPr>
                        <a:t>Title </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IN" sz="2000">
                          <a:effectLst/>
                        </a:rPr>
                        <a:t>Author</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IN" sz="2000">
                          <a:effectLst/>
                        </a:rPr>
                        <a:t>ISBN No.</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IN" sz="2000">
                          <a:effectLst/>
                        </a:rPr>
                        <a:t>Publisher</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1689561"/>
                  </a:ext>
                </a:extLst>
              </a:tr>
              <a:tr h="944903">
                <a:tc>
                  <a:txBody>
                    <a:bodyPr/>
                    <a:lstStyle/>
                    <a:p>
                      <a:pPr marL="0" marR="0">
                        <a:lnSpc>
                          <a:spcPct val="115000"/>
                        </a:lnSpc>
                        <a:spcBef>
                          <a:spcPts val="0"/>
                        </a:spcBef>
                        <a:spcAft>
                          <a:spcPts val="0"/>
                        </a:spcAft>
                      </a:pPr>
                      <a:r>
                        <a:rPr lang="en-IN" sz="2000">
                          <a:effectLst/>
                        </a:rPr>
                        <a:t>1</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IN" sz="2000">
                          <a:effectLst/>
                        </a:rPr>
                        <a:t>Data Mining: Concepts and Techniques</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IN" sz="2000">
                          <a:effectLst/>
                        </a:rPr>
                        <a:t>J. Han and M. Kamber</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IN" sz="2000">
                          <a:effectLst/>
                        </a:rPr>
                        <a:t> 9789380931913</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IN" sz="2000">
                          <a:effectLst/>
                        </a:rPr>
                        <a:t>Elsevier</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52511005"/>
                  </a:ext>
                </a:extLst>
              </a:tr>
              <a:tr h="670615">
                <a:tc>
                  <a:txBody>
                    <a:bodyPr/>
                    <a:lstStyle/>
                    <a:p>
                      <a:pPr marL="0" marR="0">
                        <a:lnSpc>
                          <a:spcPct val="115000"/>
                        </a:lnSpc>
                        <a:spcBef>
                          <a:spcPts val="0"/>
                        </a:spcBef>
                        <a:spcAft>
                          <a:spcPts val="0"/>
                        </a:spcAft>
                      </a:pPr>
                      <a:r>
                        <a:rPr lang="en-IN" sz="2000">
                          <a:effectLst/>
                        </a:rPr>
                        <a:t>2</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IN" sz="2000">
                          <a:effectLst/>
                        </a:rPr>
                        <a:t>Mining Massive Datasets</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IN" sz="2000">
                          <a:effectLst/>
                        </a:rPr>
                        <a:t>J. Lescovek,A. Rajaraman</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IN" sz="2000">
                          <a:effectLst/>
                        </a:rPr>
                        <a:t>1316638499</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IN" sz="2000">
                          <a:effectLst/>
                        </a:rPr>
                        <a:t>Dreamtech Press</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6625919"/>
                  </a:ext>
                </a:extLst>
              </a:tr>
              <a:tr h="670615">
                <a:tc>
                  <a:txBody>
                    <a:bodyPr/>
                    <a:lstStyle/>
                    <a:p>
                      <a:pPr marL="0" marR="0">
                        <a:lnSpc>
                          <a:spcPct val="115000"/>
                        </a:lnSpc>
                        <a:spcBef>
                          <a:spcPts val="0"/>
                        </a:spcBef>
                        <a:spcAft>
                          <a:spcPts val="0"/>
                        </a:spcAft>
                      </a:pPr>
                      <a:r>
                        <a:rPr lang="en-IN" sz="2000">
                          <a:effectLst/>
                        </a:rPr>
                        <a:t>3</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IN" sz="2000">
                          <a:effectLst/>
                        </a:rPr>
                        <a:t>Data Mining: The Textbook</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IN" sz="2000">
                          <a:effectLst/>
                        </a:rPr>
                        <a:t>Charu C. Agarwal</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IN" sz="2000">
                          <a:effectLst/>
                        </a:rPr>
                        <a:t> 3319381164</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IN" sz="2000">
                          <a:effectLst/>
                        </a:rPr>
                        <a:t>Springer</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62258781"/>
                  </a:ext>
                </a:extLst>
              </a:tr>
              <a:tr h="457133">
                <a:tc>
                  <a:txBody>
                    <a:bodyPr/>
                    <a:lstStyle/>
                    <a:p>
                      <a:pPr marL="0" marR="0">
                        <a:lnSpc>
                          <a:spcPct val="115000"/>
                        </a:lnSpc>
                        <a:spcBef>
                          <a:spcPts val="0"/>
                        </a:spcBef>
                        <a:spcAft>
                          <a:spcPts val="0"/>
                        </a:spcAft>
                      </a:pPr>
                      <a:r>
                        <a:rPr lang="en-IN" sz="2000">
                          <a:effectLst/>
                        </a:rPr>
                        <a:t>4</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IN" sz="2000">
                          <a:effectLst/>
                        </a:rPr>
                        <a:t>Applied Machine Learning</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IN" sz="2000">
                          <a:effectLst/>
                        </a:rPr>
                        <a:t>M. Gopal</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IN" sz="2000">
                          <a:effectLst/>
                        </a:rPr>
                        <a:t>9353160251</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IN" sz="2000" dirty="0">
                          <a:effectLst/>
                        </a:rPr>
                        <a:t>McGraw Hill Education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25526700"/>
                  </a:ext>
                </a:extLst>
              </a:tr>
            </a:tbl>
          </a:graphicData>
        </a:graphic>
      </p:graphicFrame>
    </p:spTree>
    <p:extLst>
      <p:ext uri="{BB962C8B-B14F-4D97-AF65-F5344CB8AC3E}">
        <p14:creationId xmlns:p14="http://schemas.microsoft.com/office/powerpoint/2010/main" val="1772583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We are living in the Information age</a:t>
            </a:r>
            <a:endParaRPr lang="en-US" dirty="0"/>
          </a:p>
        </p:txBody>
      </p:sp>
      <p:sp>
        <p:nvSpPr>
          <p:cNvPr id="3" name="Content Placeholder 2"/>
          <p:cNvSpPr>
            <a:spLocks noGrp="1"/>
          </p:cNvSpPr>
          <p:nvPr>
            <p:ph idx="1"/>
          </p:nvPr>
        </p:nvSpPr>
        <p:spPr>
          <a:xfrm>
            <a:off x="1295401" y="2556932"/>
            <a:ext cx="9601196" cy="3565572"/>
          </a:xfrm>
        </p:spPr>
        <p:txBody>
          <a:bodyPr>
            <a:normAutofit/>
          </a:bodyPr>
          <a:lstStyle/>
          <a:p>
            <a:r>
              <a:rPr lang="en-US" dirty="0" smtClean="0"/>
              <a:t>Are we really?</a:t>
            </a:r>
          </a:p>
          <a:p>
            <a:r>
              <a:rPr lang="en-US" dirty="0" smtClean="0"/>
              <a:t>Well, we are actually living in a data age. </a:t>
            </a:r>
          </a:p>
          <a:p>
            <a:r>
              <a:rPr lang="en-US" dirty="0"/>
              <a:t>This explosive growth of available data volume is a result of the computerization of our society and the fast development of powerful data collection and storage </a:t>
            </a:r>
            <a:r>
              <a:rPr lang="en-US" dirty="0" smtClean="0"/>
              <a:t>tools.</a:t>
            </a:r>
          </a:p>
          <a:p>
            <a:r>
              <a:rPr lang="en-US" dirty="0"/>
              <a:t>Powerful and versatile tools </a:t>
            </a:r>
            <a:r>
              <a:rPr lang="en-US" dirty="0" smtClean="0"/>
              <a:t>are </a:t>
            </a:r>
            <a:r>
              <a:rPr lang="en-US" dirty="0"/>
              <a:t>needed to automatically uncover valuable information from the tremendous amounts of data and to transform such data into organized knowledge. This necessity has led to the birth of data mining.</a:t>
            </a:r>
          </a:p>
        </p:txBody>
      </p:sp>
    </p:spTree>
    <p:extLst>
      <p:ext uri="{BB962C8B-B14F-4D97-AF65-F5344CB8AC3E}">
        <p14:creationId xmlns:p14="http://schemas.microsoft.com/office/powerpoint/2010/main" val="3071179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Data Mining?</a:t>
            </a:r>
            <a:endParaRPr lang="en-US" dirty="0"/>
          </a:p>
        </p:txBody>
      </p:sp>
      <p:sp>
        <p:nvSpPr>
          <p:cNvPr id="3" name="Content Placeholder 2"/>
          <p:cNvSpPr>
            <a:spLocks noGrp="1"/>
          </p:cNvSpPr>
          <p:nvPr>
            <p:ph idx="1"/>
          </p:nvPr>
        </p:nvSpPr>
        <p:spPr>
          <a:xfrm>
            <a:off x="1295401" y="2556932"/>
            <a:ext cx="6277376" cy="3318936"/>
          </a:xfrm>
        </p:spPr>
        <p:txBody>
          <a:bodyPr>
            <a:normAutofit/>
          </a:bodyPr>
          <a:lstStyle/>
          <a:p>
            <a:r>
              <a:rPr lang="en-US" altLang="en-US" dirty="0"/>
              <a:t>Data mining is the process of discovering interesting patterns (or knowledge) from large amounts of data. </a:t>
            </a:r>
            <a:endParaRPr lang="en-US" altLang="en-US" dirty="0" smtClean="0"/>
          </a:p>
          <a:p>
            <a:r>
              <a:rPr lang="en-US" dirty="0" smtClean="0"/>
              <a:t>Many </a:t>
            </a:r>
            <a:r>
              <a:rPr lang="en-US" dirty="0"/>
              <a:t>other terms have a similar meaning to data mining—for example, knowledge mining from data, knowledge extraction, data/pattern analysis, data archaeology, and data </a:t>
            </a:r>
            <a:r>
              <a:rPr lang="en-US" dirty="0" smtClean="0"/>
              <a:t>dredging, etc. </a:t>
            </a:r>
          </a:p>
          <a:p>
            <a:r>
              <a:rPr lang="en-US" dirty="0"/>
              <a:t>Many people treat data mining as a synonym for another popularly used term, knowledge discovery from data, or </a:t>
            </a:r>
            <a:r>
              <a:rPr lang="en-US" dirty="0" smtClean="0"/>
              <a:t>KDD.</a:t>
            </a:r>
            <a:endParaRPr lang="en-US" altLang="en-US" dirty="0"/>
          </a:p>
          <a:p>
            <a:pPr marL="0" indent="0">
              <a:buNone/>
            </a:pPr>
            <a:endParaRPr lang="en-US" dirty="0"/>
          </a:p>
        </p:txBody>
      </p:sp>
      <p:pic>
        <p:nvPicPr>
          <p:cNvPr id="5" name="Picture 4"/>
          <p:cNvPicPr>
            <a:picLocks noChangeAspect="1"/>
          </p:cNvPicPr>
          <p:nvPr/>
        </p:nvPicPr>
        <p:blipFill rotWithShape="1">
          <a:blip r:embed="rId2"/>
          <a:srcRect l="34328" t="14216" r="38848" b="35432"/>
          <a:stretch/>
        </p:blipFill>
        <p:spPr>
          <a:xfrm>
            <a:off x="7753082" y="2374720"/>
            <a:ext cx="3490175" cy="3683359"/>
          </a:xfrm>
          <a:prstGeom prst="rect">
            <a:avLst/>
          </a:prstGeom>
        </p:spPr>
      </p:pic>
    </p:spTree>
    <p:extLst>
      <p:ext uri="{BB962C8B-B14F-4D97-AF65-F5344CB8AC3E}">
        <p14:creationId xmlns:p14="http://schemas.microsoft.com/office/powerpoint/2010/main" val="16323567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Query Processing VS Data Mining</a:t>
            </a:r>
            <a:endParaRPr lang="en-US" dirty="0"/>
          </a:p>
        </p:txBody>
      </p:sp>
      <p:sp>
        <p:nvSpPr>
          <p:cNvPr id="3" name="Content Placeholder 2"/>
          <p:cNvSpPr>
            <a:spLocks noGrp="1"/>
          </p:cNvSpPr>
          <p:nvPr>
            <p:ph idx="1"/>
          </p:nvPr>
        </p:nvSpPr>
        <p:spPr>
          <a:xfrm>
            <a:off x="1092619" y="3050420"/>
            <a:ext cx="7729728" cy="3101983"/>
          </a:xfrm>
        </p:spPr>
        <p:txBody>
          <a:bodyPr/>
          <a:lstStyle/>
          <a:p>
            <a:r>
              <a:rPr lang="en-US" dirty="0" smtClean="0"/>
              <a:t>Database Query:</a:t>
            </a:r>
          </a:p>
          <a:p>
            <a:pPr lvl="1"/>
            <a:r>
              <a:rPr lang="en-US" dirty="0" smtClean="0"/>
              <a:t>Find all applicants with the name Bob.</a:t>
            </a:r>
          </a:p>
          <a:p>
            <a:pPr lvl="1"/>
            <a:r>
              <a:rPr lang="en-US" dirty="0" smtClean="0"/>
              <a:t>Identify customers who returned items worth </a:t>
            </a:r>
            <a:r>
              <a:rPr lang="en-US" dirty="0" err="1" smtClean="0"/>
              <a:t>Rs</a:t>
            </a:r>
            <a:r>
              <a:rPr lang="en-US" dirty="0" smtClean="0"/>
              <a:t>. 10000 or more. </a:t>
            </a:r>
          </a:p>
          <a:p>
            <a:r>
              <a:rPr lang="en-US" dirty="0" smtClean="0"/>
              <a:t>Data Mining</a:t>
            </a:r>
          </a:p>
          <a:p>
            <a:pPr lvl="1"/>
            <a:r>
              <a:rPr lang="en-US" dirty="0" smtClean="0"/>
              <a:t>Find all applicants with high risk.</a:t>
            </a:r>
          </a:p>
          <a:p>
            <a:pPr lvl="1"/>
            <a:r>
              <a:rPr lang="en-US" dirty="0" smtClean="0"/>
              <a:t>Identify customers with similar returning habits. </a:t>
            </a:r>
            <a:endParaRPr lang="en-US" dirty="0"/>
          </a:p>
        </p:txBody>
      </p:sp>
      <p:pic>
        <p:nvPicPr>
          <p:cNvPr id="14" name="Picture 13"/>
          <p:cNvPicPr>
            <a:picLocks noChangeAspect="1"/>
          </p:cNvPicPr>
          <p:nvPr/>
        </p:nvPicPr>
        <p:blipFill rotWithShape="1">
          <a:blip r:embed="rId2"/>
          <a:srcRect l="37297" t="21787" r="44193" b="38248"/>
          <a:stretch/>
        </p:blipFill>
        <p:spPr>
          <a:xfrm>
            <a:off x="7766889" y="2756306"/>
            <a:ext cx="3187623" cy="3869467"/>
          </a:xfrm>
          <a:prstGeom prst="rect">
            <a:avLst/>
          </a:prstGeom>
        </p:spPr>
      </p:pic>
    </p:spTree>
    <p:extLst>
      <p:ext uri="{BB962C8B-B14F-4D97-AF65-F5344CB8AC3E}">
        <p14:creationId xmlns:p14="http://schemas.microsoft.com/office/powerpoint/2010/main" val="19895358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rotWithShape="1">
          <a:blip r:embed="rId2"/>
          <a:srcRect l="38125" t="8916" r="27887" b="12819"/>
          <a:stretch/>
        </p:blipFill>
        <p:spPr>
          <a:xfrm>
            <a:off x="898954" y="0"/>
            <a:ext cx="9827103" cy="6857999"/>
          </a:xfrm>
          <a:prstGeom prst="rect">
            <a:avLst/>
          </a:prstGeom>
        </p:spPr>
      </p:pic>
    </p:spTree>
    <p:extLst>
      <p:ext uri="{BB962C8B-B14F-4D97-AF65-F5344CB8AC3E}">
        <p14:creationId xmlns:p14="http://schemas.microsoft.com/office/powerpoint/2010/main" val="38388434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43429" y="923365"/>
            <a:ext cx="10377714" cy="5491949"/>
          </a:xfrm>
        </p:spPr>
        <p:txBody>
          <a:bodyPr>
            <a:normAutofit/>
          </a:bodyPr>
          <a:lstStyle/>
          <a:p>
            <a:pPr marL="0" indent="0">
              <a:buNone/>
            </a:pPr>
            <a:r>
              <a:rPr lang="en-US" b="1" dirty="0"/>
              <a:t>The knowledge discovery </a:t>
            </a:r>
            <a:r>
              <a:rPr lang="en-US" b="1" dirty="0" smtClean="0"/>
              <a:t>process as </a:t>
            </a:r>
            <a:r>
              <a:rPr lang="en-US" b="1" dirty="0"/>
              <a:t>an iterative sequence of the following steps: </a:t>
            </a:r>
            <a:endParaRPr lang="en-US" b="1" dirty="0" smtClean="0"/>
          </a:p>
          <a:p>
            <a:pPr marL="0" indent="0">
              <a:buNone/>
            </a:pPr>
            <a:r>
              <a:rPr lang="en-US" dirty="0" smtClean="0"/>
              <a:t>1</a:t>
            </a:r>
            <a:r>
              <a:rPr lang="en-US" dirty="0"/>
              <a:t>. Data cleaning (to remove noise and inconsistent data) </a:t>
            </a:r>
            <a:endParaRPr lang="en-US" dirty="0" smtClean="0"/>
          </a:p>
          <a:p>
            <a:pPr marL="0" indent="0">
              <a:buNone/>
            </a:pPr>
            <a:r>
              <a:rPr lang="en-US" dirty="0" smtClean="0"/>
              <a:t>2</a:t>
            </a:r>
            <a:r>
              <a:rPr lang="en-US" dirty="0"/>
              <a:t>. Data integration (where multiple data sources may be </a:t>
            </a:r>
            <a:r>
              <a:rPr lang="en-US" dirty="0" smtClean="0"/>
              <a:t>combined)</a:t>
            </a:r>
          </a:p>
          <a:p>
            <a:pPr marL="0" indent="0">
              <a:buNone/>
            </a:pPr>
            <a:r>
              <a:rPr lang="en-US" dirty="0" smtClean="0"/>
              <a:t>3</a:t>
            </a:r>
            <a:r>
              <a:rPr lang="en-US" dirty="0"/>
              <a:t>. Data selection (where data relevant to the analysis task are retrieved from the database) </a:t>
            </a:r>
            <a:endParaRPr lang="en-US" dirty="0" smtClean="0"/>
          </a:p>
          <a:p>
            <a:pPr marL="0" indent="0">
              <a:buNone/>
            </a:pPr>
            <a:r>
              <a:rPr lang="en-US" dirty="0" smtClean="0"/>
              <a:t>4</a:t>
            </a:r>
            <a:r>
              <a:rPr lang="en-US" dirty="0"/>
              <a:t>. Data transformation (where data are transformed and consolidated into forms appropriate for mining by performing summary or aggregation </a:t>
            </a:r>
            <a:r>
              <a:rPr lang="en-US" dirty="0" smtClean="0"/>
              <a:t>operations)</a:t>
            </a:r>
          </a:p>
          <a:p>
            <a:pPr marL="0" indent="0">
              <a:buNone/>
            </a:pPr>
            <a:r>
              <a:rPr lang="en-US" dirty="0" smtClean="0"/>
              <a:t>5</a:t>
            </a:r>
            <a:r>
              <a:rPr lang="en-US" dirty="0"/>
              <a:t>. Data mining (an essential process where intelligent methods are applied to extract data patterns) </a:t>
            </a:r>
            <a:endParaRPr lang="en-US" dirty="0" smtClean="0"/>
          </a:p>
          <a:p>
            <a:pPr marL="0" indent="0">
              <a:buNone/>
            </a:pPr>
            <a:r>
              <a:rPr lang="en-US" dirty="0" smtClean="0"/>
              <a:t>6</a:t>
            </a:r>
            <a:r>
              <a:rPr lang="en-US" dirty="0"/>
              <a:t>. Pattern evaluation (to identify the truly interesting patterns representing knowledge based on interestingness </a:t>
            </a:r>
            <a:r>
              <a:rPr lang="en-US" dirty="0" smtClean="0"/>
              <a:t>measures) </a:t>
            </a:r>
          </a:p>
          <a:p>
            <a:pPr marL="0" indent="0">
              <a:buNone/>
            </a:pPr>
            <a:r>
              <a:rPr lang="en-US" dirty="0" smtClean="0"/>
              <a:t>7</a:t>
            </a:r>
            <a:r>
              <a:rPr lang="en-US" dirty="0"/>
              <a:t>. Knowledge presentation (where visualization and knowledge representation techniques are used to present mined knowledge to users)</a:t>
            </a:r>
          </a:p>
        </p:txBody>
      </p:sp>
    </p:spTree>
    <p:extLst>
      <p:ext uri="{BB962C8B-B14F-4D97-AF65-F5344CB8AC3E}">
        <p14:creationId xmlns:p14="http://schemas.microsoft.com/office/powerpoint/2010/main" val="18720745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5810" y="1828800"/>
            <a:ext cx="9692640" cy="1397124"/>
          </a:xfrm>
        </p:spPr>
        <p:txBody>
          <a:bodyPr>
            <a:normAutofit/>
          </a:bodyPr>
          <a:lstStyle/>
          <a:p>
            <a:r>
              <a:rPr lang="en-US" dirty="0"/>
              <a:t>What kind of data can be mined</a:t>
            </a:r>
            <a:r>
              <a:rPr lang="en-US" dirty="0" smtClean="0"/>
              <a:t>?</a:t>
            </a:r>
            <a:endParaRPr lang="en-US" dirty="0"/>
          </a:p>
        </p:txBody>
      </p:sp>
    </p:spTree>
    <p:extLst>
      <p:ext uri="{BB962C8B-B14F-4D97-AF65-F5344CB8AC3E}">
        <p14:creationId xmlns:p14="http://schemas.microsoft.com/office/powerpoint/2010/main" val="302136506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Are all the patterns interesting?</a:t>
            </a:r>
            <a:endParaRPr lang="en-US" dirty="0"/>
          </a:p>
        </p:txBody>
      </p:sp>
      <p:sp>
        <p:nvSpPr>
          <p:cNvPr id="3" name="Content Placeholder 2"/>
          <p:cNvSpPr>
            <a:spLocks noGrp="1"/>
          </p:cNvSpPr>
          <p:nvPr>
            <p:ph idx="1"/>
          </p:nvPr>
        </p:nvSpPr>
        <p:spPr>
          <a:xfrm>
            <a:off x="1261871" y="2456120"/>
            <a:ext cx="9464185" cy="4060793"/>
          </a:xfrm>
        </p:spPr>
        <p:txBody>
          <a:bodyPr/>
          <a:lstStyle/>
          <a:p>
            <a:pPr marL="0" indent="0">
              <a:buNone/>
            </a:pPr>
            <a:endParaRPr lang="en-US" dirty="0" smtClean="0"/>
          </a:p>
          <a:p>
            <a:pPr marL="0" indent="0">
              <a:buNone/>
            </a:pPr>
            <a:r>
              <a:rPr lang="en-US" dirty="0" smtClean="0"/>
              <a:t>To </a:t>
            </a:r>
            <a:r>
              <a:rPr lang="en-US" dirty="0"/>
              <a:t>answer the first question, a pattern is interesting if it is </a:t>
            </a:r>
            <a:endParaRPr lang="en-US" dirty="0" smtClean="0"/>
          </a:p>
          <a:p>
            <a:pPr marL="0" indent="0">
              <a:buNone/>
            </a:pPr>
            <a:r>
              <a:rPr lang="en-US" dirty="0" smtClean="0"/>
              <a:t>	(</a:t>
            </a:r>
            <a:r>
              <a:rPr lang="en-US" dirty="0"/>
              <a:t>1) easily understood by humans, </a:t>
            </a:r>
            <a:endParaRPr lang="en-US" dirty="0" smtClean="0"/>
          </a:p>
          <a:p>
            <a:pPr marL="0" indent="0">
              <a:buNone/>
            </a:pPr>
            <a:r>
              <a:rPr lang="en-US" dirty="0"/>
              <a:t>	</a:t>
            </a:r>
            <a:r>
              <a:rPr lang="en-US" dirty="0" smtClean="0"/>
              <a:t>(</a:t>
            </a:r>
            <a:r>
              <a:rPr lang="en-US" dirty="0"/>
              <a:t>2) valid on new or test data with some degree of certainty, </a:t>
            </a:r>
            <a:endParaRPr lang="en-US" dirty="0" smtClean="0"/>
          </a:p>
          <a:p>
            <a:pPr marL="0" indent="0">
              <a:buNone/>
            </a:pPr>
            <a:r>
              <a:rPr lang="en-US" dirty="0"/>
              <a:t>	</a:t>
            </a:r>
            <a:r>
              <a:rPr lang="en-US" dirty="0" smtClean="0"/>
              <a:t>(</a:t>
            </a:r>
            <a:r>
              <a:rPr lang="en-US" dirty="0"/>
              <a:t>3) potentially useful, and </a:t>
            </a:r>
            <a:endParaRPr lang="en-US" dirty="0" smtClean="0"/>
          </a:p>
          <a:p>
            <a:pPr marL="0" indent="0">
              <a:buNone/>
            </a:pPr>
            <a:r>
              <a:rPr lang="en-US" dirty="0"/>
              <a:t>	</a:t>
            </a:r>
            <a:r>
              <a:rPr lang="en-US" dirty="0" smtClean="0"/>
              <a:t>(</a:t>
            </a:r>
            <a:r>
              <a:rPr lang="en-US" dirty="0"/>
              <a:t>4) novel. </a:t>
            </a:r>
            <a:endParaRPr lang="en-US" dirty="0" smtClean="0"/>
          </a:p>
          <a:p>
            <a:pPr marL="0" indent="0">
              <a:buNone/>
            </a:pPr>
            <a:r>
              <a:rPr lang="en-US" dirty="0" smtClean="0"/>
              <a:t>A </a:t>
            </a:r>
            <a:r>
              <a:rPr lang="en-US" dirty="0"/>
              <a:t>pattern is also interesting if it validates a hypothesis that the user sought to confirm. An interesting pattern represents knowledge.</a:t>
            </a:r>
          </a:p>
        </p:txBody>
      </p:sp>
    </p:spTree>
    <p:extLst>
      <p:ext uri="{BB962C8B-B14F-4D97-AF65-F5344CB8AC3E}">
        <p14:creationId xmlns:p14="http://schemas.microsoft.com/office/powerpoint/2010/main" val="33405853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What technologies are used?</a:t>
            </a:r>
            <a:br>
              <a:rPr lang="en-US" dirty="0" smtClean="0"/>
            </a:br>
            <a:endParaRPr lang="en-US" dirty="0"/>
          </a:p>
        </p:txBody>
      </p:sp>
      <p:pic>
        <p:nvPicPr>
          <p:cNvPr id="4" name="Picture 3"/>
          <p:cNvPicPr>
            <a:picLocks noChangeAspect="1"/>
          </p:cNvPicPr>
          <p:nvPr/>
        </p:nvPicPr>
        <p:blipFill rotWithShape="1">
          <a:blip r:embed="rId2"/>
          <a:srcRect l="38175" t="36459" r="33826" b="31399"/>
          <a:stretch/>
        </p:blipFill>
        <p:spPr>
          <a:xfrm>
            <a:off x="2892055" y="2282817"/>
            <a:ext cx="6717417" cy="4335543"/>
          </a:xfrm>
          <a:prstGeom prst="rect">
            <a:avLst/>
          </a:prstGeom>
        </p:spPr>
      </p:pic>
    </p:spTree>
    <p:extLst>
      <p:ext uri="{BB962C8B-B14F-4D97-AF65-F5344CB8AC3E}">
        <p14:creationId xmlns:p14="http://schemas.microsoft.com/office/powerpoint/2010/main" val="127593957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Challenges </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Mining different kinds of knowledge in </a:t>
            </a:r>
            <a:r>
              <a:rPr lang="en-US" dirty="0" smtClean="0"/>
              <a:t>databases</a:t>
            </a:r>
            <a:endParaRPr lang="en-US" dirty="0" smtClean="0"/>
          </a:p>
          <a:p>
            <a:r>
              <a:rPr lang="en-US" dirty="0" smtClean="0"/>
              <a:t>Interactive mining of knowledge at multiple levels of abstraction</a:t>
            </a:r>
          </a:p>
          <a:p>
            <a:r>
              <a:rPr lang="en-US" dirty="0" smtClean="0"/>
              <a:t>Incorporation of background </a:t>
            </a:r>
            <a:r>
              <a:rPr lang="en-US" dirty="0" smtClean="0"/>
              <a:t>knowledge</a:t>
            </a:r>
            <a:endParaRPr lang="en-US" dirty="0" smtClean="0"/>
          </a:p>
          <a:p>
            <a:r>
              <a:rPr lang="en-US" dirty="0" smtClean="0"/>
              <a:t>Data Mining query languages and ad-hoc data mining</a:t>
            </a:r>
          </a:p>
          <a:p>
            <a:r>
              <a:rPr lang="en-US" dirty="0" smtClean="0"/>
              <a:t>Presentation and Visualization of data mining results</a:t>
            </a:r>
          </a:p>
          <a:p>
            <a:r>
              <a:rPr lang="en-US" dirty="0" smtClean="0"/>
              <a:t>Handling noisy and incomplete data</a:t>
            </a:r>
          </a:p>
          <a:p>
            <a:r>
              <a:rPr lang="en-US" dirty="0" smtClean="0"/>
              <a:t>Pattern evaluation</a:t>
            </a:r>
          </a:p>
          <a:p>
            <a:r>
              <a:rPr lang="en-US" dirty="0" smtClean="0"/>
              <a:t>Handling of relational and complex types of </a:t>
            </a:r>
            <a:r>
              <a:rPr lang="en-US" dirty="0" smtClean="0"/>
              <a:t>data</a:t>
            </a:r>
            <a:endParaRPr lang="en-US" dirty="0" smtClean="0"/>
          </a:p>
          <a:p>
            <a:r>
              <a:rPr lang="en-US" dirty="0" smtClean="0"/>
              <a:t>Mining information from heterogeneous </a:t>
            </a:r>
            <a:r>
              <a:rPr lang="en-US" dirty="0" smtClean="0"/>
              <a:t>databases</a:t>
            </a:r>
            <a:endParaRPr lang="en-US" dirty="0" smtClean="0"/>
          </a:p>
          <a:p>
            <a:endParaRPr lang="en-US" dirty="0" smtClean="0"/>
          </a:p>
          <a:p>
            <a:endParaRPr lang="en-US" dirty="0" smtClean="0"/>
          </a:p>
          <a:p>
            <a:endParaRPr lang="en-US" dirty="0"/>
          </a:p>
        </p:txBody>
      </p:sp>
    </p:spTree>
    <p:extLst>
      <p:ext uri="{BB962C8B-B14F-4D97-AF65-F5344CB8AC3E}">
        <p14:creationId xmlns:p14="http://schemas.microsoft.com/office/powerpoint/2010/main" val="35801974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Textbook:</a:t>
            </a:r>
          </a:p>
          <a:p>
            <a:pPr marL="0" indent="0">
              <a:buNone/>
            </a:pPr>
            <a:r>
              <a:rPr lang="en-US" dirty="0" smtClean="0"/>
              <a:t> “Data Mining: Concepts and Techniques” by Han and </a:t>
            </a:r>
            <a:r>
              <a:rPr lang="en-US" dirty="0" err="1" smtClean="0"/>
              <a:t>Kamber</a:t>
            </a:r>
            <a:endParaRPr lang="en-US" dirty="0"/>
          </a:p>
        </p:txBody>
      </p:sp>
    </p:spTree>
    <p:extLst>
      <p:ext uri="{BB962C8B-B14F-4D97-AF65-F5344CB8AC3E}">
        <p14:creationId xmlns:p14="http://schemas.microsoft.com/office/powerpoint/2010/main" val="597549026"/>
      </p:ext>
    </p:extLst>
  </p:cSld>
  <p:clrMapOvr>
    <a:masterClrMapping/>
  </p:clrMapOvr>
  <p:timing>
    <p:tnLst>
      <p:par>
        <p:cTn id="1" dur="indefinite" restart="never" nodeType="tmRoot"/>
      </p:par>
    </p:tnLst>
  </p:timing>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263</TotalTime>
  <Words>893</Words>
  <Application>Microsoft Office PowerPoint</Application>
  <PresentationFormat>Widescreen</PresentationFormat>
  <Paragraphs>142</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Gill Sans MT</vt:lpstr>
      <vt:lpstr>Times New Roman</vt:lpstr>
      <vt:lpstr>Parcel</vt:lpstr>
      <vt:lpstr>Course code: CSD342   course title:  Data Mining and      Data Warehousing course  Instructor:   Dr. Dolly Sharma </vt:lpstr>
      <vt:lpstr>PowerPoint Presentation</vt:lpstr>
      <vt:lpstr>Course Summary </vt:lpstr>
      <vt:lpstr>Course Aims</vt:lpstr>
      <vt:lpstr>  Learning Outcomes </vt:lpstr>
      <vt:lpstr>Curriculum content</vt:lpstr>
      <vt:lpstr>Assessment Strategy</vt:lpstr>
      <vt:lpstr>Bibliography </vt:lpstr>
      <vt:lpstr>We are living in the Information age</vt:lpstr>
      <vt:lpstr>What is Data Mining?</vt:lpstr>
      <vt:lpstr>Query Processing VS Data Mining</vt:lpstr>
      <vt:lpstr>PowerPoint Presentation</vt:lpstr>
      <vt:lpstr>PowerPoint Presentation</vt:lpstr>
      <vt:lpstr>What kind of data can be mined?</vt:lpstr>
      <vt:lpstr>Are all the patterns interesting?</vt:lpstr>
      <vt:lpstr>What technologies are used? </vt:lpstr>
      <vt:lpstr>Challenges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Mining and Data Warehousing  Dr. Dolly Sharma</dc:title>
  <dc:creator>Dolly Sharma</dc:creator>
  <cp:lastModifiedBy>Dolly Sharma</cp:lastModifiedBy>
  <cp:revision>20</cp:revision>
  <dcterms:created xsi:type="dcterms:W3CDTF">2016-01-11T04:07:15Z</dcterms:created>
  <dcterms:modified xsi:type="dcterms:W3CDTF">2020-01-03T06:09:41Z</dcterms:modified>
</cp:coreProperties>
</file>