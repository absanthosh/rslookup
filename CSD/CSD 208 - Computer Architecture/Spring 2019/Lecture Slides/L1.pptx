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3"/>
  </p:notesMasterIdLst>
  <p:sldIdLst>
    <p:sldId id="256" r:id="rId5"/>
    <p:sldId id="272" r:id="rId6"/>
    <p:sldId id="273" r:id="rId7"/>
    <p:sldId id="275" r:id="rId8"/>
    <p:sldId id="268" r:id="rId9"/>
    <p:sldId id="270" r:id="rId10"/>
    <p:sldId id="27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0C1F"/>
    <a:srgbClr val="903163"/>
    <a:srgbClr val="E1E1E1"/>
    <a:srgbClr val="AA2C71"/>
    <a:srgbClr val="A62C6F"/>
    <a:srgbClr val="F9E7F1"/>
    <a:srgbClr val="852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95F94-0189-4A23-9895-35FA752439AB}" type="datetimeFigureOut">
              <a:rPr lang="en-US" smtClean="0"/>
              <a:t>1/3/2019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E1C88-3939-4832-BAAB-091D6FA9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00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Delete this slide when you finish preparing the other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2E1C88-3939-4832-BAAB-091D6FA96E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598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7DA533B-45CB-4337-89C6-857AE8953CCB}" type="datetime3">
              <a:rPr lang="en-US" smtClean="0"/>
              <a:pPr/>
              <a:t>3 January 2019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6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749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07DA533B-45CB-4337-89C6-857AE8953CCB}" type="datetime3">
              <a:rPr lang="en-US" smtClean="0"/>
              <a:pPr/>
              <a:t>3 January 2019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7176E-D0DA-4D40-9114-1A30A59F807E}" type="slidenum">
              <a:rPr lang="en-US"/>
              <a:pPr/>
              <a:t>7</a:t>
            </a:fld>
            <a:endParaRPr lang="en-US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26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464567" y="3085765"/>
            <a:ext cx="11262866" cy="3304800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8000">
                <a:schemeClr val="accent2">
                  <a:lumMod val="7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020431"/>
            <a:ext cx="10993549" cy="1475013"/>
          </a:xfrm>
          <a:effectLst/>
        </p:spPr>
        <p:txBody>
          <a:bodyPr anchor="ctr" anchorCtr="0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D86AA0-B889-4FC0-8908-A1A591CF11C0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3C994CB-2BC6-164B-80D4-304B4CB6D8C3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4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D11B3-3F18-4FD1-BAEF-D15CC2EE16C2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5BE0FDB-DB48-E242-8A1F-5B06F79B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5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5655714" cy="524439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5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292" y="773724"/>
            <a:ext cx="5315516" cy="4958862"/>
          </a:xfrm>
        </p:spPr>
        <p:txBody>
          <a:bodyPr anchor="ctr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773724"/>
            <a:ext cx="5388785" cy="4958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04F6-55F4-45F8-BBB4-727BFFEADAA0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820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7817" y="5141974"/>
            <a:ext cx="11290860" cy="1258827"/>
          </a:xfrm>
          <a:prstGeom prst="rect">
            <a:avLst/>
          </a:prstGeom>
          <a:gradFill flip="none" rotWithShape="1">
            <a:gsLst>
              <a:gs pos="100000">
                <a:srgbClr val="903163"/>
              </a:gs>
              <a:gs pos="60000">
                <a:schemeClr val="accent1">
                  <a:lumMod val="95000"/>
                  <a:lumOff val="5000"/>
                </a:schemeClr>
              </a:gs>
              <a:gs pos="1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20C59B-4134-42ED-BEFA-FCBF7FC8D035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AE2A5-5D3B-4ECC-9A5D-868F6C887DEE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6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96" y="2023139"/>
            <a:ext cx="3198328" cy="53600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714624"/>
            <a:ext cx="3378403" cy="319405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4551DAFA-20BD-4111-8F90-24432E23573D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xmlns="" id="{6D289ABA-BA71-41AF-AA30-58CB8F426F6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45430" y="2714624"/>
            <a:ext cx="3378403" cy="319405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xmlns="" id="{C06DFC81-3912-4844-B25C-E1D7CBCD80A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400414" y="2714624"/>
            <a:ext cx="3378403" cy="3194051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11556C46-FD2A-4916-B30C-DB066CAEA4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241852" y="2023139"/>
            <a:ext cx="3198328" cy="53600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E2328988-0888-4C1A-8F73-17D455B6F8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4180115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D81892BA-72AB-4029-BF58-4D6F90C436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962123" y="2714625"/>
            <a:ext cx="0" cy="3194051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xmlns="" id="{8E232301-6803-418F-8637-ABBAC64416D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96836" y="2023139"/>
            <a:ext cx="3198328" cy="53600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119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 bwMode="white">
          <a:xfrm>
            <a:off x="445982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250892"/>
            <a:ext cx="5393102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7" y="2250892"/>
            <a:ext cx="5393102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4551DAFA-20BD-4111-8F90-24432E23573D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 bwMode="white">
          <a:xfrm>
            <a:off x="440683" y="606554"/>
            <a:ext cx="11300036" cy="125882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60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A1812-3FD3-44A5-B738-8F3425664C1B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5CEC16FA-81A4-6F41-9FCE-6262A4533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ctr" anchorCtr="0"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4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E2E361C1-C0E3-47DF-8509-372F2F8B74E4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903163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DFBB0525-CFF9-4A39-B5EA-57925399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white">
          <a:xfrm>
            <a:off x="447817" y="5141973"/>
            <a:ext cx="11298200" cy="127470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59000">
                <a:schemeClr val="accent1">
                  <a:lumMod val="95000"/>
                  <a:lumOff val="5000"/>
                </a:schemeClr>
              </a:gs>
              <a:gs pos="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9E538E-6783-48BF-9DAA-8D73DA1DF735}" type="datetime8">
              <a:rPr lang="en-US" smtClean="0"/>
              <a:pPr/>
              <a:t>1/3/2019 11:44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C3056E-1632-4A65-A24F-3F10A1450A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7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2CD03-0ACB-4458-BBFE-1F9AEE665C1A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1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gradFill flip="none"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E4BA81B-A36E-46D5-918F-749D311F4B4A}" type="datetime8">
              <a:rPr lang="en-US" smtClean="0"/>
              <a:t>1/3/2019 11:44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ZA" dirty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5C3056E-1632-4A65-A24F-3F10A1450A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7073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73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chemeClr val="accent4">
                <a:lumMod val="60000"/>
                <a:lumOff val="40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E9EA0F-FD88-464F-99D9-0E151D11E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5" y="965199"/>
            <a:ext cx="11243732" cy="175001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 smtClean="0"/>
              <a:t>1. Introduction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932A20C-8823-4E5C-BF21-C75BA56E76D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742950" y="3314700"/>
            <a:ext cx="10805583" cy="2800349"/>
          </a:xfrm>
        </p:spPr>
        <p:txBody>
          <a:bodyPr anchor="ctr">
            <a:normAutofit/>
          </a:bodyPr>
          <a:lstStyle/>
          <a:p>
            <a:pPr>
              <a:spcAft>
                <a:spcPts val="3000"/>
              </a:spcAft>
            </a:pPr>
            <a:r>
              <a:rPr lang="en-US" sz="2800" dirty="0">
                <a:solidFill>
                  <a:schemeClr val="tx1"/>
                </a:solidFill>
              </a:rPr>
              <a:t>CSD 208	Computer </a:t>
            </a:r>
            <a:r>
              <a:rPr lang="en-US" sz="2800" dirty="0" smtClean="0">
                <a:solidFill>
                  <a:schemeClr val="tx1"/>
                </a:solidFill>
              </a:rPr>
              <a:t>Architecture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spcAft>
                <a:spcPts val="3000"/>
              </a:spcAft>
            </a:pPr>
            <a:r>
              <a:rPr lang="en-US" sz="2000" cap="none" dirty="0" smtClean="0">
                <a:solidFill>
                  <a:srgbClr val="FFFFFF"/>
                </a:solidFill>
              </a:rPr>
              <a:t>Instructor: Dolly Sharma</a:t>
            </a:r>
            <a:endParaRPr lang="en-US" sz="2000" cap="non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037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Course Credits: 3Lectures + 1Lab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Lecture: 9:00 AM to 10:00AM (MWF)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Lab: 2:00PM to 3:55PM (M) and 4:00PM to 5:55PM (F)</a:t>
            </a:r>
          </a:p>
          <a:p>
            <a:pPr marL="324000" lvl="1" indent="0">
              <a:buNone/>
            </a:pPr>
            <a:endParaRPr lang="en-US" dirty="0" smtClean="0"/>
          </a:p>
          <a:p>
            <a:r>
              <a:rPr lang="en-US" dirty="0" smtClean="0"/>
              <a:t>Instructor: Dolly Sharma (dolly.sharma@snu.edu.in)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Office: C320-E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Office hours: Wednesday 2:00PM to 4:00PM (or by appointment)</a:t>
            </a:r>
          </a:p>
          <a:p>
            <a:endParaRPr lang="en-US" dirty="0" smtClean="0"/>
          </a:p>
          <a:p>
            <a:r>
              <a:rPr lang="en-US" dirty="0" smtClean="0"/>
              <a:t>Teaching Assistant: </a:t>
            </a:r>
            <a:r>
              <a:rPr lang="en-US" dirty="0" err="1" smtClean="0"/>
              <a:t>Purushottam</a:t>
            </a:r>
            <a:r>
              <a:rPr lang="en-US" dirty="0" smtClean="0"/>
              <a:t> Kumar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CSD208, Spring 2019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52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847355"/>
              </p:ext>
            </p:extLst>
          </p:nvPr>
        </p:nvGraphicFramePr>
        <p:xfrm>
          <a:off x="485193" y="2127383"/>
          <a:ext cx="11252718" cy="4297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6749"/>
                <a:gridCol w="9135969"/>
              </a:tblGrid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Week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Topic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Week 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Introduction and fundamentals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Week 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Conditions of parallelism, program portioning and scheduling, program flow mechanisms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System interconnection architectures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System interconnection architectures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Principles of scalable performance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Processors and Memory architecture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Processors and Memory architecture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Bus, Cache memory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Shared memory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Pipelining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Pipelining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Parallel and scalable architecture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Scalable, multithreaded architecture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Dataflow architecture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6860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Week 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Review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syllabus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8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Midterm – 20 (closed book)</a:t>
            </a:r>
          </a:p>
          <a:p>
            <a:r>
              <a:rPr lang="en-US" dirty="0" smtClean="0"/>
              <a:t>Final – 30 (closed book)</a:t>
            </a:r>
          </a:p>
          <a:p>
            <a:r>
              <a:rPr lang="en-US" dirty="0" smtClean="0"/>
              <a:t>Lab Assessments/Assignments – 30</a:t>
            </a:r>
          </a:p>
          <a:p>
            <a:r>
              <a:rPr lang="en-US" dirty="0" smtClean="0"/>
              <a:t>Quiz – 5 (in class, surprise, open book)</a:t>
            </a:r>
          </a:p>
          <a:p>
            <a:r>
              <a:rPr lang="en-US" dirty="0" smtClean="0"/>
              <a:t>Project – 15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4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9352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Personal Mobile Device (PMD)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e.g. smart phones, tablet computers (1.8 billion sold 2010)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energy efficiency and real-time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Desktop Computing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price-performance (0.35 billion)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Servers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availability (very costly downtime!), scalability, throughput (20 million)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Clusters / Warehouse Scale Computers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Used for “Software as a Service (SaaS)”, PaaS, IaaS, etc.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 on availability ($6M/hour-downtime at Amazon.com!) and price-performance (power=80% of TCO!)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Sub-class:  Supercomputers, emphasis:  floating-point performance and fast internal networks, and big data analytics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Embedded Computers (19 billion in 2010)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Emphasis:  price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of computers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20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Parallelism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Classes of parallelism in applications: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Data-Level Parallelism (DLP)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Task-Level Parallelism (TLP)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Classes of architectural parallelism: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Instruction-Level Parallelism (ILP)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Vector architectures/Graphic Processor Units (GPUs)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Thread-Level Parallelism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Request-Level Parallelism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6263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Flynn’s Taxonomy</a:t>
            </a:r>
            <a:endParaRPr lang="en-AU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Single instruction stream, single data stream (SISD)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400" dirty="0"/>
              <a:t>Single instruction stream, multiple data streams (SIMD)</a:t>
            </a:r>
          </a:p>
          <a:p>
            <a:pPr marL="324000" lvl="1" indent="0"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Multiple instruction streams, single data stream (MISD)</a:t>
            </a:r>
          </a:p>
          <a:p>
            <a:pPr marL="324000" lvl="1" indent="0">
              <a:lnSpc>
                <a:spcPct val="90000"/>
              </a:lnSpc>
              <a:buNone/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400" dirty="0"/>
              <a:t>Multiple instruction streams, multiple data streams (MIMD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4994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468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Cannot continue to leverage Instruction-Level parallelism (ILP)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Single processor performance improvement ended in 2003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New models for performance: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Data-level parallelism (DLP)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Thread-level parallelism (TLP)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Request-level parallelism (RLP)</a:t>
            </a:r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These require explicit restructuring of the application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Trends in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3947269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Custom 2">
      <a:majorFont>
        <a:latin typeface="Candara"/>
        <a:ea typeface=""/>
        <a:cs typeface=""/>
      </a:majorFont>
      <a:minorFont>
        <a:latin typeface="Candara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ooks Like Sounds Like_SL - v4" id="{49340C27-6B59-423E-9A21-D8403F920761}" vid="{33BFA150-A101-4C57-BCA6-BEC943E5B3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658AF07-9E42-47AF-83DF-C9E8FADF71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3253B1-1887-43EF-BBA6-7E1941C427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C4EF74-2977-4065-95FE-55F8E4B639D4}">
  <ds:schemaRefs>
    <ds:schemaRef ds:uri="http://schemas.microsoft.com/office/2006/documentManagement/types"/>
    <ds:schemaRef ds:uri="6dc4bcd6-49db-4c07-9060-8acfc67cef9f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purl.org/dc/terms/"/>
    <ds:schemaRef ds:uri="http://schemas.microsoft.com/sharepoint/v3"/>
    <ds:schemaRef ds:uri="http://schemas.microsoft.com/office/infopath/2007/PartnerControls"/>
    <ds:schemaRef ds:uri="fb0879af-3eba-417a-a55a-ffe6dcd6ca77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Looks like sounds like presentation</Template>
  <TotalTime>0</TotalTime>
  <Words>482</Words>
  <Application>Microsoft Office PowerPoint</Application>
  <PresentationFormat>Widescreen</PresentationFormat>
  <Paragraphs>104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Candara</vt:lpstr>
      <vt:lpstr>Courier New</vt:lpstr>
      <vt:lpstr>Times New Roman</vt:lpstr>
      <vt:lpstr>Wingdings 2</vt:lpstr>
      <vt:lpstr>Dividend</vt:lpstr>
      <vt:lpstr>1. Introduction</vt:lpstr>
      <vt:lpstr>CSD208, Spring 2019</vt:lpstr>
      <vt:lpstr>syllabus</vt:lpstr>
      <vt:lpstr>grading</vt:lpstr>
      <vt:lpstr>Classes of computers</vt:lpstr>
      <vt:lpstr>Parallelism</vt:lpstr>
      <vt:lpstr>Flynn’s Taxonomy</vt:lpstr>
      <vt:lpstr>Current Trends in Architecture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2019-01-03T06:14:12Z</dcterms:created>
  <dcterms:modified xsi:type="dcterms:W3CDTF">2019-01-03T09:47:06Z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