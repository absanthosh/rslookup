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69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3" r:id="rId28"/>
    <p:sldId id="284" r:id="rId29"/>
    <p:sldId id="285" r:id="rId3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5" autoAdjust="0"/>
    <p:restoredTop sz="94280" autoAdjust="0"/>
  </p:normalViewPr>
  <p:slideViewPr>
    <p:cSldViewPr>
      <p:cViewPr varScale="1">
        <p:scale>
          <a:sx n="73" d="100"/>
          <a:sy n="73" d="100"/>
        </p:scale>
        <p:origin x="540" y="72"/>
      </p:cViewPr>
      <p:guideLst>
        <p:guide pos="3839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1986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5A207F-0F91-42F2-96D0-049C6003623B}" type="datetimeFigureOut">
              <a:rPr lang="en-US"/>
              <a:t>4/1/2019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567D4A-04CB-4EDF-8FB1-342A02FC8EC5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125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C13F5-F2B1-464B-BE8F-27ABFBD2FBDE}" type="datetimeFigureOut">
              <a:rPr lang="en-US"/>
              <a:t>4/1/2019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1351F-DBB1-4664-ADA9-83BC7CB8848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42362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14" y="990600"/>
            <a:ext cx="8458200" cy="3200400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13" y="4267200"/>
            <a:ext cx="8458200" cy="1371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538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828" y="0"/>
            <a:ext cx="11350997" cy="8367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828" y="980727"/>
            <a:ext cx="11350997" cy="5375623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68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3" y="2057400"/>
            <a:ext cx="8458201" cy="2666999"/>
          </a:xfrm>
        </p:spPr>
        <p:txBody>
          <a:bodyPr anchor="b">
            <a:normAutofit/>
          </a:bodyPr>
          <a:lstStyle>
            <a:lvl1pPr algn="l">
              <a:defRPr sz="4800" b="0" i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4876800"/>
            <a:ext cx="8458201" cy="1143000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0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3812" y="1676400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035" y="1676401"/>
            <a:ext cx="4700016" cy="4495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62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399"/>
            <a:ext cx="4701142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3813" y="2516457"/>
            <a:ext cx="4701142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676399"/>
            <a:ext cx="4703259" cy="762001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516457"/>
            <a:ext cx="4703259" cy="365574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600200">
              <a:defRPr sz="1600"/>
            </a:lvl6pPr>
            <a:lvl7pPr marL="1874520">
              <a:defRPr sz="1600"/>
            </a:lvl7pPr>
            <a:lvl8pPr marL="2148840">
              <a:defRPr sz="1600"/>
            </a:lvl8pPr>
            <a:lvl9pPr marL="2423160"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552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59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9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1" y="1676400"/>
            <a:ext cx="3810000" cy="2438400"/>
          </a:xfrm>
        </p:spPr>
        <p:txBody>
          <a:bodyPr anchor="b">
            <a:norm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3813" y="685800"/>
            <a:ext cx="6172200" cy="54864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1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858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0812" y="1676400"/>
            <a:ext cx="3810000" cy="2438400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522412" y="0"/>
            <a:ext cx="5943601" cy="6858000"/>
          </a:xfrm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70812" y="4191000"/>
            <a:ext cx="3810000" cy="15240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49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600200">
              <a:defRPr/>
            </a:lvl6pPr>
            <a:lvl7pPr marL="1874520">
              <a:defRPr/>
            </a:lvl7pPr>
            <a:lvl8pPr marL="2148840">
              <a:defRPr/>
            </a:lvl8pPr>
            <a:lvl9pPr marL="2423160"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575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52014" y="381000"/>
            <a:ext cx="1904998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3814" y="381000"/>
            <a:ext cx="8305800" cy="57912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/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/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264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6614" y="0"/>
            <a:ext cx="11352212" cy="6858000"/>
          </a:xfrm>
          <a:prstGeom prst="rect">
            <a:avLst/>
          </a:prstGeom>
          <a:gradFill>
            <a:gsLst>
              <a:gs pos="0">
                <a:schemeClr val="bg1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3813" y="381000"/>
            <a:ext cx="96012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3813" y="1676400"/>
            <a:ext cx="9601200" cy="449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71781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3CD9712D-992A-4AB1-A5C2-575F75921AA2}" type="datetimeFigureOut">
              <a:rPr lang="en-US" smtClean="0"/>
              <a:pPr/>
              <a:t>4/1/2019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51225" y="6356351"/>
            <a:ext cx="28440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81FEFA0A-2F20-4B60-98C6-5FFDA469AA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721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8600" algn="l" defTabSz="914400" rtl="0" eaLnBrk="1" latinLnBrk="0" hangingPunct="1">
        <a:lnSpc>
          <a:spcPct val="90000"/>
        </a:lnSpc>
        <a:spcBef>
          <a:spcPts val="16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lnSpc>
          <a:spcPct val="90000"/>
        </a:lnSpc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228600" algn="l" defTabSz="914400" rtl="0" eaLnBrk="1" latinLnBrk="0" hangingPunct="1">
        <a:spcBef>
          <a:spcPts val="600"/>
        </a:spcBef>
        <a:buFont typeface="Euphemia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Distributed Systems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176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827" y="1484784"/>
            <a:ext cx="11350997" cy="40324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400" dirty="0" smtClean="0"/>
              <a:t>A Distributed system is a collection of independent computers that appear to the users of the system as a single computer. </a:t>
            </a:r>
          </a:p>
          <a:p>
            <a:pPr marL="0" indent="0" algn="ctr">
              <a:buNone/>
            </a:pPr>
            <a:endParaRPr lang="en-IN" sz="5400" dirty="0"/>
          </a:p>
          <a:p>
            <a:pPr marL="0" indent="0">
              <a:buNone/>
            </a:pP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85495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Advantages of Distributed systems over Centralized systems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940" y="1340768"/>
            <a:ext cx="8966508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42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Disadvantages of DS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556792"/>
            <a:ext cx="9330114" cy="281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8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Hardware Concepts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08" y="1052736"/>
            <a:ext cx="9395518" cy="54302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3512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88640"/>
            <a:ext cx="6408712" cy="187220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0156" y="2276872"/>
            <a:ext cx="7704856" cy="43077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39151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44" y="188640"/>
            <a:ext cx="6264696" cy="222910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148" y="2708920"/>
            <a:ext cx="8168273" cy="38884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5914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 Issues - Transparency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157" y="1556792"/>
            <a:ext cx="9829771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7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 Issues - Flexibility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62" y="1052736"/>
            <a:ext cx="8902751" cy="35283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3812" y="4766507"/>
            <a:ext cx="11495013" cy="22806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IN" sz="2000" dirty="0" smtClean="0"/>
              <a:t>The Microkernel approach provides four basic services:</a:t>
            </a:r>
          </a:p>
          <a:p>
            <a:pPr marL="285750" indent="-285750">
              <a:lnSpc>
                <a:spcPct val="90000"/>
              </a:lnSpc>
              <a:buFontTx/>
              <a:buChar char="-"/>
            </a:pPr>
            <a:r>
              <a:rPr lang="en-IN" sz="2000" dirty="0" smtClean="0"/>
              <a:t>An inter-process communication mechanism</a:t>
            </a:r>
          </a:p>
          <a:p>
            <a:pPr marL="285750" indent="-285750">
              <a:lnSpc>
                <a:spcPct val="90000"/>
              </a:lnSpc>
              <a:buFontTx/>
              <a:buChar char="-"/>
            </a:pPr>
            <a:r>
              <a:rPr lang="en-IN" sz="2000" dirty="0" smtClean="0"/>
              <a:t>Some memory management</a:t>
            </a:r>
          </a:p>
          <a:p>
            <a:pPr marL="285750" indent="-285750">
              <a:lnSpc>
                <a:spcPct val="90000"/>
              </a:lnSpc>
              <a:buFontTx/>
              <a:buChar char="-"/>
            </a:pPr>
            <a:r>
              <a:rPr lang="en-IN" sz="2000" dirty="0" smtClean="0"/>
              <a:t>A small amount of low-level process management and scheduling</a:t>
            </a:r>
          </a:p>
          <a:p>
            <a:pPr marL="285750" indent="-285750">
              <a:lnSpc>
                <a:spcPct val="90000"/>
              </a:lnSpc>
              <a:buFontTx/>
              <a:buChar char="-"/>
            </a:pPr>
            <a:r>
              <a:rPr lang="en-IN" sz="2000" dirty="0" smtClean="0"/>
              <a:t>Low-level input/output</a:t>
            </a:r>
          </a:p>
          <a:p>
            <a:pPr marL="285750" indent="-285750">
              <a:lnSpc>
                <a:spcPct val="90000"/>
              </a:lnSpc>
              <a:buFontTx/>
              <a:buChar char="-"/>
            </a:pPr>
            <a:endParaRPr lang="en-IN" sz="2000" dirty="0"/>
          </a:p>
          <a:p>
            <a:pPr>
              <a:lnSpc>
                <a:spcPct val="90000"/>
              </a:lnSpc>
            </a:pPr>
            <a:r>
              <a:rPr lang="en-IN" sz="2000" dirty="0" smtClean="0"/>
              <a:t>It does not provide file system, directory system, full process management and system call handling.</a:t>
            </a:r>
          </a:p>
          <a:p>
            <a:pPr>
              <a:lnSpc>
                <a:spcPct val="9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2460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 Issues - Reliability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828" y="980727"/>
            <a:ext cx="11350997" cy="58772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 smtClean="0"/>
              <a:t>Distributed system needs to be more reliable than single processor systems. That is, if a machine goes down, some other machine takes over the job. Example – There are 4 file servers each with 0.95 chance of being up at any instant, the probability of all four being down simultaneously is (0.05)</a:t>
            </a:r>
            <a:r>
              <a:rPr lang="en-IN" baseline="30000" dirty="0" smtClean="0"/>
              <a:t>4</a:t>
            </a:r>
            <a:r>
              <a:rPr lang="en-IN" dirty="0" smtClean="0"/>
              <a:t> = 0.000006. Therefore the probability of at least one being available is 0.999994.</a:t>
            </a:r>
          </a:p>
          <a:p>
            <a:pPr marL="0" indent="0">
              <a:buNone/>
            </a:pPr>
            <a:r>
              <a:rPr lang="en-IN" dirty="0" smtClean="0"/>
              <a:t>Aspects:</a:t>
            </a:r>
          </a:p>
          <a:p>
            <a:r>
              <a:rPr lang="en-IN" dirty="0" smtClean="0"/>
              <a:t>Availability – The fraction of time the system is usable. </a:t>
            </a:r>
          </a:p>
          <a:p>
            <a:pPr lvl="1"/>
            <a:r>
              <a:rPr lang="en-IN" dirty="0" smtClean="0"/>
              <a:t>Availability can be enhanced by a design that does not require the simultaneous functioning of a substantial number of critical components. </a:t>
            </a:r>
          </a:p>
          <a:p>
            <a:pPr lvl="1"/>
            <a:r>
              <a:rPr lang="en-IN" dirty="0" smtClean="0"/>
              <a:t>Availability can also be improved by Redundancy, where key pieces of hardware and software should be replicated. </a:t>
            </a:r>
          </a:p>
          <a:p>
            <a:pPr lvl="1"/>
            <a:r>
              <a:rPr lang="en-IN" dirty="0" smtClean="0"/>
              <a:t>However, a highly reliable system should be highly available, but that is not enough. </a:t>
            </a:r>
          </a:p>
          <a:p>
            <a:r>
              <a:rPr lang="en-IN" dirty="0" smtClean="0"/>
              <a:t>Security </a:t>
            </a:r>
          </a:p>
          <a:p>
            <a:r>
              <a:rPr lang="en-IN" dirty="0" smtClean="0"/>
              <a:t>Fault Tolerance</a:t>
            </a:r>
          </a:p>
        </p:txBody>
      </p:sp>
    </p:spTree>
    <p:extLst>
      <p:ext uri="{BB962C8B-B14F-4D97-AF65-F5344CB8AC3E}">
        <p14:creationId xmlns:p14="http://schemas.microsoft.com/office/powerpoint/2010/main" val="2186760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Design Issues - Performance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828" y="980727"/>
            <a:ext cx="11350997" cy="2808313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Design issues are subject to the system, some common ones are:</a:t>
            </a:r>
          </a:p>
          <a:p>
            <a:r>
              <a:rPr lang="en-IN" dirty="0" smtClean="0"/>
              <a:t>Response time</a:t>
            </a:r>
          </a:p>
          <a:p>
            <a:r>
              <a:rPr lang="en-IN" dirty="0" smtClean="0"/>
              <a:t>Throughput (Number of jobs per hour)</a:t>
            </a:r>
          </a:p>
          <a:p>
            <a:r>
              <a:rPr lang="en-IN" dirty="0" smtClean="0"/>
              <a:t>System utilization</a:t>
            </a:r>
          </a:p>
          <a:p>
            <a:r>
              <a:rPr lang="en-IN" dirty="0" smtClean="0"/>
              <a:t>Amount of network capacity consumed</a:t>
            </a:r>
          </a:p>
          <a:p>
            <a:pPr marL="0" indent="0">
              <a:buNone/>
            </a:pPr>
            <a:endParaRPr lang="en-IN" dirty="0" smtClean="0"/>
          </a:p>
          <a:p>
            <a:endParaRPr lang="en-IN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7828" y="4077072"/>
            <a:ext cx="11350997" cy="8367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mtClean="0"/>
              <a:t>Design Issues - Scalability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173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Synchronization in Distributed Systems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93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r>
              <a:rPr lang="en-IN" dirty="0" smtClean="0"/>
              <a:t>Synchronization in Distributed systems is more complicated as they use distributed algorithms that have the following properties:</a:t>
            </a:r>
          </a:p>
          <a:p>
            <a:pPr lvl="1"/>
            <a:r>
              <a:rPr lang="en-IN" dirty="0" smtClean="0"/>
              <a:t>The relevant information is scattered among multiple machines.</a:t>
            </a:r>
          </a:p>
          <a:p>
            <a:pPr lvl="1"/>
            <a:r>
              <a:rPr lang="en-IN" dirty="0" smtClean="0"/>
              <a:t>Processes make decisions based only on local information.</a:t>
            </a:r>
          </a:p>
          <a:p>
            <a:pPr lvl="1"/>
            <a:r>
              <a:rPr lang="en-IN" dirty="0" smtClean="0"/>
              <a:t>A single point of failure in the system should be avoided.</a:t>
            </a:r>
          </a:p>
          <a:p>
            <a:pPr lvl="1"/>
            <a:r>
              <a:rPr lang="en-IN" dirty="0" smtClean="0"/>
              <a:t>No common clock or other precise global time source exists.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Clock Synchronization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2838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Logical Clock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Nearly all computers have a circuit for keeping track of time, ‘Time’ is a more suitable word than ‘Clock’.</a:t>
            </a:r>
          </a:p>
          <a:p>
            <a:r>
              <a:rPr lang="en-IN" dirty="0" smtClean="0"/>
              <a:t>A computer timer is usually a precise machined  quartz crystal. When kept under tension, they oscillate at well-defined frequency that depends on the kind of crystal, how it is cut and the amount of tension. </a:t>
            </a:r>
          </a:p>
          <a:p>
            <a:r>
              <a:rPr lang="en-IN" dirty="0" smtClean="0"/>
              <a:t>Each crystal has two registers associated with them: </a:t>
            </a:r>
          </a:p>
          <a:p>
            <a:pPr lvl="1"/>
            <a:r>
              <a:rPr lang="en-IN" dirty="0" smtClean="0"/>
              <a:t>Counter and </a:t>
            </a:r>
          </a:p>
          <a:p>
            <a:pPr lvl="1"/>
            <a:r>
              <a:rPr lang="en-IN" dirty="0" smtClean="0"/>
              <a:t>Holding register.</a:t>
            </a:r>
            <a:br>
              <a:rPr lang="en-IN" dirty="0" smtClean="0"/>
            </a:br>
            <a:endParaRPr lang="en-IN" dirty="0" smtClean="0"/>
          </a:p>
          <a:p>
            <a:r>
              <a:rPr lang="en-IN" dirty="0" smtClean="0"/>
              <a:t>Clock skew – The difference in time values of different crystals.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621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Logical Clock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r>
              <a:rPr lang="en-IN" dirty="0" smtClean="0"/>
              <a:t>To synchronize logical clocks, </a:t>
            </a:r>
            <a:r>
              <a:rPr lang="en-IN" dirty="0" err="1" smtClean="0"/>
              <a:t>Lamport</a:t>
            </a:r>
            <a:r>
              <a:rPr lang="en-IN" dirty="0"/>
              <a:t> </a:t>
            </a:r>
            <a:r>
              <a:rPr lang="en-IN" dirty="0" smtClean="0"/>
              <a:t>defines a ‘Happens-before’ relation. The expression, a-&gt; b is read ‘a happens before b’.</a:t>
            </a:r>
          </a:p>
          <a:p>
            <a:r>
              <a:rPr lang="en-IN" dirty="0" smtClean="0"/>
              <a:t>This can be observed directly in two situations:</a:t>
            </a:r>
          </a:p>
          <a:p>
            <a:pPr lvl="1"/>
            <a:r>
              <a:rPr lang="en-IN" dirty="0" smtClean="0"/>
              <a:t>If a and b are events in the same process and a occurs before b. </a:t>
            </a:r>
          </a:p>
          <a:p>
            <a:pPr lvl="1"/>
            <a:r>
              <a:rPr lang="en-IN" dirty="0" smtClean="0"/>
              <a:t>If a is the event of a message being sent by one process, and b is the event of the message being received by another process.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4558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Lamport’s</a:t>
            </a:r>
            <a:r>
              <a:rPr lang="en-IN" dirty="0" smtClean="0"/>
              <a:t> algorithm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907" y="970468"/>
            <a:ext cx="9851297" cy="5338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Physical Clock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916" y="1196752"/>
            <a:ext cx="8856984" cy="526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57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Clock Synchronization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9876" y="1196752"/>
            <a:ext cx="4210745" cy="367240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004" y="5013176"/>
            <a:ext cx="9361040" cy="162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28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Christian’s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884" y="984130"/>
            <a:ext cx="9505056" cy="551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66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Berkeley Algorithm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804" y="980728"/>
            <a:ext cx="11233248" cy="562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503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Mutual Exclusion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7828" y="980727"/>
            <a:ext cx="11350997" cy="720081"/>
          </a:xfrm>
        </p:spPr>
        <p:txBody>
          <a:bodyPr/>
          <a:lstStyle/>
          <a:p>
            <a:pPr marL="0" indent="0">
              <a:buNone/>
            </a:pPr>
            <a:r>
              <a:rPr lang="en-IN" dirty="0" smtClean="0"/>
              <a:t>Centralized Algorithm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924" y="1809569"/>
            <a:ext cx="8784976" cy="431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3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828" y="0"/>
            <a:ext cx="11350997" cy="54868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Distributed Algorithm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828" y="548680"/>
            <a:ext cx="8136904" cy="19392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828" y="2551370"/>
            <a:ext cx="8136904" cy="430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852" y="997400"/>
            <a:ext cx="9793088" cy="44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9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Deadlocks in Distributed systems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1844" y="1052736"/>
            <a:ext cx="9003691" cy="2647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36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Centralized Deadlock Detection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9916" y="1556792"/>
            <a:ext cx="8316740" cy="3945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46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Distributed Deadlock Detection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1884" y="1772816"/>
            <a:ext cx="9656024" cy="3040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069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erenity 16x9">
  <a:themeElements>
    <a:clrScheme name="Serenity_16x9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F02801109.potx" id="{B47C65E8-9F73-4C4F-A3C2-84725F71438E}" vid="{CFC30A9F-F7E5-41F4-B6B7-D2E5B79E3BFB}"/>
    </a:ext>
  </a:extLst>
</a:theme>
</file>

<file path=ppt/theme/theme2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erenity">
      <a:dk1>
        <a:srgbClr val="164B4F"/>
      </a:dk1>
      <a:lt1>
        <a:sysClr val="window" lastClr="FFFFFF"/>
      </a:lt1>
      <a:dk2>
        <a:srgbClr val="000000"/>
      </a:dk2>
      <a:lt2>
        <a:srgbClr val="C5E5EC"/>
      </a:lt2>
      <a:accent1>
        <a:srgbClr val="1B91A1"/>
      </a:accent1>
      <a:accent2>
        <a:srgbClr val="46AC6F"/>
      </a:accent2>
      <a:accent3>
        <a:srgbClr val="37AFD5"/>
      </a:accent3>
      <a:accent4>
        <a:srgbClr val="6786A9"/>
      </a:accent4>
      <a:accent5>
        <a:srgbClr val="90A693"/>
      </a:accent5>
      <a:accent6>
        <a:srgbClr val="389066"/>
      </a:accent6>
      <a:hlink>
        <a:srgbClr val="27A99A"/>
      </a:hlink>
      <a:folHlink>
        <a:srgbClr val="94AE9D"/>
      </a:folHlink>
    </a:clrScheme>
    <a:fontScheme name="Euphemia">
      <a:majorFont>
        <a:latin typeface="Euphemia"/>
        <a:ea typeface=""/>
        <a:cs typeface=""/>
      </a:majorFont>
      <a:minorFont>
        <a:latin typeface="Euphem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1360506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TP102801108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706526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683C129-7B42-490A-AD74-E9303BC76D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249165-F638-412C-8E0A-DFB7045CA2E0}">
  <ds:schemaRefs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4873beb7-5857-4685-be1f-d57550cc96cc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11E33DF-2340-4F4E-B874-B73FEFEBFC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Serenity nature presentation (widescreen)</Template>
  <TotalTime>490</TotalTime>
  <Words>529</Words>
  <Application>Microsoft Office PowerPoint</Application>
  <PresentationFormat>Custom</PresentationFormat>
  <Paragraphs>62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Euphemia</vt:lpstr>
      <vt:lpstr>Serenity 16x9</vt:lpstr>
      <vt:lpstr>Distributed Systems</vt:lpstr>
      <vt:lpstr>PowerPoint Presentation</vt:lpstr>
      <vt:lpstr>Advantages of Distributed systems over Centralized systems</vt:lpstr>
      <vt:lpstr>Disadvantages of DS </vt:lpstr>
      <vt:lpstr>Hardware Concepts</vt:lpstr>
      <vt:lpstr>PowerPoint Presentation</vt:lpstr>
      <vt:lpstr>PowerPoint Presentation</vt:lpstr>
      <vt:lpstr>Design Issues - Transparency</vt:lpstr>
      <vt:lpstr>Design Issues - Flexibility</vt:lpstr>
      <vt:lpstr>Design Issues - Reliability</vt:lpstr>
      <vt:lpstr>Design Issues - Performance</vt:lpstr>
      <vt:lpstr>Synchronization in Distributed Systems</vt:lpstr>
      <vt:lpstr>Clock Synchronization </vt:lpstr>
      <vt:lpstr>Logical Clock</vt:lpstr>
      <vt:lpstr>Logical Clock</vt:lpstr>
      <vt:lpstr>Lamport’s algorithm</vt:lpstr>
      <vt:lpstr>Physical Clock</vt:lpstr>
      <vt:lpstr>Clock Synchronization</vt:lpstr>
      <vt:lpstr>Christian’s algorithm</vt:lpstr>
      <vt:lpstr>Berkeley Algorithm</vt:lpstr>
      <vt:lpstr>Mutual Exclusion</vt:lpstr>
      <vt:lpstr>Distributed Algorithm</vt:lpstr>
      <vt:lpstr>PowerPoint Presentation</vt:lpstr>
      <vt:lpstr>Deadlocks in Distributed systems</vt:lpstr>
      <vt:lpstr>Centralized Deadlock Detection</vt:lpstr>
      <vt:lpstr>Distributed Deadlock Detection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</dc:title>
  <dc:creator>Dolly Sharma</dc:creator>
  <cp:lastModifiedBy>Dolly Sharma</cp:lastModifiedBy>
  <cp:revision>17</cp:revision>
  <dcterms:created xsi:type="dcterms:W3CDTF">2017-09-03T16:53:19Z</dcterms:created>
  <dcterms:modified xsi:type="dcterms:W3CDTF">2019-04-01T03:25:25Z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