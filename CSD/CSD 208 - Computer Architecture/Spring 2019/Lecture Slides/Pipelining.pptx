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27"/>
  </p:notesMasterIdLst>
  <p:handoutMasterIdLst>
    <p:handoutMasterId r:id="rId28"/>
  </p:handoutMasterIdLst>
  <p:sldIdLst>
    <p:sldId id="256" r:id="rId2"/>
    <p:sldId id="258" r:id="rId3"/>
    <p:sldId id="265" r:id="rId4"/>
    <p:sldId id="260" r:id="rId5"/>
    <p:sldId id="261" r:id="rId6"/>
    <p:sldId id="262" r:id="rId7"/>
    <p:sldId id="263" r:id="rId8"/>
    <p:sldId id="264"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pelining" id="{E75E278A-FF0E-49A4-B170-79828D63BBAD}">
          <p14:sldIdLst>
            <p14:sldId id="256"/>
            <p14:sldId id="258"/>
            <p14:sldId id="265"/>
            <p14:sldId id="260"/>
            <p14:sldId id="261"/>
            <p14:sldId id="262"/>
            <p14:sldId id="263"/>
            <p14:sldId id="264"/>
            <p14:sldId id="266"/>
            <p14:sldId id="267"/>
            <p14:sldId id="268"/>
            <p14:sldId id="269"/>
            <p14:sldId id="270"/>
            <p14:sldId id="271"/>
            <p14:sldId id="272"/>
            <p14:sldId id="273"/>
            <p14:sldId id="274"/>
            <p14:sldId id="275"/>
            <p14:sldId id="276"/>
            <p14:sldId id="277"/>
            <p14:sldId id="278"/>
            <p14:sldId id="279"/>
            <p14:sldId id="280"/>
            <p14:sldId id="281"/>
            <p14:sldId id="28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0" autoAdjust="0"/>
    <p:restoredTop sz="94214" autoAdjust="0"/>
  </p:normalViewPr>
  <p:slideViewPr>
    <p:cSldViewPr snapToGrid="0">
      <p:cViewPr varScale="1">
        <p:scale>
          <a:sx n="73" d="100"/>
          <a:sy n="73" d="100"/>
        </p:scale>
        <p:origin x="534"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9" d="100"/>
          <a:sy n="69" d="100"/>
        </p:scale>
        <p:origin x="2784" y="5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2/21/2019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2/21/2019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2/21/2019</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299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5527" y="286604"/>
            <a:ext cx="11665528" cy="807906"/>
          </a:xfrm>
        </p:spPr>
        <p:txBody>
          <a:bodyPr/>
          <a:lstStyle>
            <a:lvl1pPr marL="0">
              <a:defRPr/>
            </a:lvl1pPr>
          </a:lstStyle>
          <a:p>
            <a:r>
              <a:rPr lang="en-US" dirty="0" smtClean="0"/>
              <a:t>Click to edit Master title style</a:t>
            </a:r>
            <a:endParaRPr lang="en-US" dirty="0"/>
          </a:p>
        </p:txBody>
      </p:sp>
      <p:sp>
        <p:nvSpPr>
          <p:cNvPr id="3" name="Content Placeholder 2"/>
          <p:cNvSpPr>
            <a:spLocks noGrp="1"/>
          </p:cNvSpPr>
          <p:nvPr>
            <p:ph idx="1"/>
          </p:nvPr>
        </p:nvSpPr>
        <p:spPr>
          <a:xfrm>
            <a:off x="235527" y="1291551"/>
            <a:ext cx="11665528" cy="49845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34327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pPr/>
              <a:t>2/21/2019</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9684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BEEBAAA-29B5-4AF5-BC5F-7E580C29002D}" type="datetimeFigureOut">
              <a:rPr lang="en-US" smtClean="0"/>
              <a:pPr/>
              <a:t>2/21/2019</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886449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BEEBAAA-29B5-4AF5-BC5F-7E580C29002D}" type="datetimeFigureOut">
              <a:rPr lang="en-US" smtClean="0"/>
              <a:pPr/>
              <a:t>2/21/2019</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31043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pPr/>
              <a:t>2/21/2019</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889806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BEEBAAA-29B5-4AF5-BC5F-7E580C29002D}" type="datetimeFigureOut">
              <a:rPr lang="en-US" smtClean="0"/>
              <a:pPr/>
              <a:t>2/21/2019</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2574264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BEEBAAA-29B5-4AF5-BC5F-7E580C29002D}" type="datetimeFigureOut">
              <a:rPr lang="en-US" smtClean="0"/>
              <a:pPr/>
              <a:t>2/21/2019</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860EDB8-5305-433F-BE41-D7A86D811DB3}" type="slidenum">
              <a:rPr lang="en-US" smtClean="0"/>
              <a:pPr/>
              <a:t>‹#›</a:t>
            </a:fld>
            <a:endParaRPr lang="en-US"/>
          </a:p>
        </p:txBody>
      </p:sp>
    </p:spTree>
    <p:extLst>
      <p:ext uri="{BB962C8B-B14F-4D97-AF65-F5344CB8AC3E}">
        <p14:creationId xmlns:p14="http://schemas.microsoft.com/office/powerpoint/2010/main" val="1203316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2/21/2019</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947920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2/21/2019</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269176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2/21/2019</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985254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89533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smtClean="0"/>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smtClean="0"/>
              <a:t>Edit Master text styles</a:t>
            </a:r>
          </a:p>
          <a:p>
            <a:pPr marL="0" lvl="1" indent="0">
              <a:lnSpc>
                <a:spcPct val="150000"/>
              </a:lnSpc>
              <a:spcBef>
                <a:spcPts val="1000"/>
              </a:spcBef>
              <a:spcAft>
                <a:spcPts val="1200"/>
              </a:spcAft>
              <a:buNone/>
            </a:pPr>
            <a:r>
              <a:rPr lang="en-US" smtClean="0"/>
              <a:t>Second level</a:t>
            </a:r>
          </a:p>
          <a:p>
            <a:pPr marL="0" lvl="2" indent="0">
              <a:lnSpc>
                <a:spcPct val="150000"/>
              </a:lnSpc>
              <a:spcBef>
                <a:spcPts val="1000"/>
              </a:spcBef>
              <a:spcAft>
                <a:spcPts val="1200"/>
              </a:spcAft>
              <a:buNone/>
            </a:pPr>
            <a:r>
              <a:rPr lang="en-US" smtClean="0"/>
              <a:t>Third level</a:t>
            </a:r>
          </a:p>
          <a:p>
            <a:pPr marL="0" lvl="3" indent="0">
              <a:lnSpc>
                <a:spcPct val="150000"/>
              </a:lnSpc>
              <a:spcBef>
                <a:spcPts val="1000"/>
              </a:spcBef>
              <a:spcAft>
                <a:spcPts val="1200"/>
              </a:spcAft>
              <a:buNone/>
            </a:pPr>
            <a:r>
              <a:rPr lang="en-US" smtClean="0"/>
              <a:t>Fourth level</a:t>
            </a:r>
          </a:p>
          <a:p>
            <a:pPr marL="0" lvl="4" indent="0">
              <a:lnSpc>
                <a:spcPct val="150000"/>
              </a:lnSpc>
              <a:spcBef>
                <a:spcPts val="1000"/>
              </a:spcBef>
              <a:spcAft>
                <a:spcPts val="1200"/>
              </a:spcAft>
              <a:buNone/>
            </a:pPr>
            <a:r>
              <a:rPr lang="en-US" smtClean="0"/>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BEEBAAA-29B5-4AF5-BC5F-7E580C29002D}" type="datetimeFigureOut">
              <a:rPr lang="en-US" smtClean="0"/>
              <a:pPr/>
              <a:t>2/21/2019</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860EDB8-5305-433F-BE41-D7A86D811DB3}"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3566861"/>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63" r:id="rId13"/>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4323"/>
            <a:ext cx="10515600" cy="4696149"/>
          </a:xfrm>
        </p:spPr>
        <p:txBody>
          <a:bodyPr anchor="ctr" anchorCtr="0">
            <a:normAutofit/>
          </a:bodyPr>
          <a:lstStyle/>
          <a:p>
            <a:r>
              <a:rPr lang="en-US" sz="4800" dirty="0" smtClean="0">
                <a:solidFill>
                  <a:schemeClr val="bg1"/>
                </a:solidFill>
              </a:rPr>
              <a:t>Pipelining</a:t>
            </a:r>
            <a:br>
              <a:rPr lang="en-US" sz="4800" dirty="0" smtClean="0">
                <a:solidFill>
                  <a:schemeClr val="bg1"/>
                </a:solidFill>
              </a:rPr>
            </a:br>
            <a:r>
              <a:rPr lang="en-US" dirty="0">
                <a:solidFill>
                  <a:schemeClr val="bg1"/>
                </a:solidFill>
              </a:rPr>
              <a:t/>
            </a:r>
            <a:br>
              <a:rPr lang="en-US" dirty="0">
                <a:solidFill>
                  <a:schemeClr val="bg1"/>
                </a:solidFill>
              </a:rPr>
            </a:br>
            <a:r>
              <a:rPr lang="en-US" sz="2000" dirty="0" smtClean="0">
                <a:solidFill>
                  <a:schemeClr val="bg1"/>
                </a:solidFill>
              </a:rPr>
              <a:t>References: </a:t>
            </a:r>
            <a:r>
              <a:rPr lang="en-US" sz="2000" dirty="0">
                <a:solidFill>
                  <a:schemeClr val="bg1"/>
                </a:solidFill>
              </a:rPr>
              <a:t/>
            </a:r>
            <a:br>
              <a:rPr lang="en-US" sz="2000" dirty="0">
                <a:solidFill>
                  <a:schemeClr val="bg1"/>
                </a:solidFill>
              </a:rPr>
            </a:br>
            <a:r>
              <a:rPr lang="en-US" sz="2000" dirty="0" smtClean="0">
                <a:solidFill>
                  <a:schemeClr val="bg1"/>
                </a:solidFill>
              </a:rPr>
              <a:t>Computer Architecture: A Quantitative Approach – Hennessy and Patterson</a:t>
            </a:r>
            <a:r>
              <a:rPr lang="en-US" sz="2000" dirty="0" smtClean="0">
                <a:solidFill>
                  <a:schemeClr val="bg1"/>
                </a:solidFill>
              </a:rPr>
              <a:t> </a:t>
            </a:r>
            <a:br>
              <a:rPr lang="en-US" sz="2000" dirty="0" smtClean="0">
                <a:solidFill>
                  <a:schemeClr val="bg1"/>
                </a:solidFill>
              </a:rPr>
            </a:br>
            <a:endParaRPr lang="en-US" sz="2000" dirty="0">
              <a:solidFill>
                <a:schemeClr val="bg1"/>
              </a:solidFill>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6799" y="0"/>
            <a:ext cx="9430917" cy="6262255"/>
          </a:xfrm>
          <a:prstGeom prst="rect">
            <a:avLst/>
          </a:prstGeom>
        </p:spPr>
      </p:pic>
    </p:spTree>
    <p:extLst>
      <p:ext uri="{BB962C8B-B14F-4D97-AF65-F5344CB8AC3E}">
        <p14:creationId xmlns:p14="http://schemas.microsoft.com/office/powerpoint/2010/main" val="1849006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51710" y="238184"/>
            <a:ext cx="9061708" cy="6024071"/>
          </a:xfrm>
          <a:prstGeom prst="rect">
            <a:avLst/>
          </a:prstGeom>
        </p:spPr>
      </p:pic>
    </p:spTree>
    <p:extLst>
      <p:ext uri="{BB962C8B-B14F-4D97-AF65-F5344CB8AC3E}">
        <p14:creationId xmlns:p14="http://schemas.microsoft.com/office/powerpoint/2010/main" val="4262560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33055" y="0"/>
            <a:ext cx="8937017" cy="6204477"/>
          </a:xfrm>
          <a:prstGeom prst="rect">
            <a:avLst/>
          </a:prstGeom>
        </p:spPr>
      </p:pic>
    </p:spTree>
    <p:extLst>
      <p:ext uri="{BB962C8B-B14F-4D97-AF65-F5344CB8AC3E}">
        <p14:creationId xmlns:p14="http://schemas.microsoft.com/office/powerpoint/2010/main" val="2659942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70364" y="321000"/>
            <a:ext cx="7857316" cy="5900370"/>
          </a:xfrm>
          <a:prstGeom prst="rect">
            <a:avLst/>
          </a:prstGeom>
        </p:spPr>
      </p:pic>
    </p:spTree>
    <p:extLst>
      <p:ext uri="{BB962C8B-B14F-4D97-AF65-F5344CB8AC3E}">
        <p14:creationId xmlns:p14="http://schemas.microsoft.com/office/powerpoint/2010/main" val="2049193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05346" y="0"/>
            <a:ext cx="8851458" cy="6142665"/>
          </a:xfrm>
          <a:prstGeom prst="rect">
            <a:avLst/>
          </a:prstGeom>
        </p:spPr>
      </p:pic>
    </p:spTree>
    <p:extLst>
      <p:ext uri="{BB962C8B-B14F-4D97-AF65-F5344CB8AC3E}">
        <p14:creationId xmlns:p14="http://schemas.microsoft.com/office/powerpoint/2010/main" val="838367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9765" y="0"/>
            <a:ext cx="8677907" cy="6265130"/>
          </a:xfrm>
          <a:prstGeom prst="rect">
            <a:avLst/>
          </a:prstGeom>
        </p:spPr>
      </p:pic>
    </p:spTree>
    <p:extLst>
      <p:ext uri="{BB962C8B-B14F-4D97-AF65-F5344CB8AC3E}">
        <p14:creationId xmlns:p14="http://schemas.microsoft.com/office/powerpoint/2010/main" val="942342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90654" y="0"/>
            <a:ext cx="9034000" cy="6294993"/>
          </a:xfrm>
          <a:prstGeom prst="rect">
            <a:avLst/>
          </a:prstGeom>
        </p:spPr>
      </p:pic>
    </p:spTree>
    <p:extLst>
      <p:ext uri="{BB962C8B-B14F-4D97-AF65-F5344CB8AC3E}">
        <p14:creationId xmlns:p14="http://schemas.microsoft.com/office/powerpoint/2010/main" val="3227507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80197"/>
          </a:xfrm>
        </p:spPr>
        <p:txBody>
          <a:bodyPr/>
          <a:lstStyle/>
          <a:p>
            <a:r>
              <a:rPr lang="en-US" dirty="0" smtClean="0"/>
              <a:t>What is Pipelining?</a:t>
            </a:r>
            <a:endParaRPr lang="en-US" dirty="0"/>
          </a:p>
        </p:txBody>
      </p:sp>
      <p:sp>
        <p:nvSpPr>
          <p:cNvPr id="3" name="Content Placeholder 2"/>
          <p:cNvSpPr>
            <a:spLocks noGrp="1"/>
          </p:cNvSpPr>
          <p:nvPr>
            <p:ph idx="1"/>
          </p:nvPr>
        </p:nvSpPr>
        <p:spPr/>
        <p:txBody>
          <a:bodyPr>
            <a:normAutofit lnSpcReduction="10000"/>
          </a:bodyPr>
          <a:lstStyle/>
          <a:p>
            <a:r>
              <a:rPr lang="en-US" i="1" dirty="0"/>
              <a:t>Pipelining </a:t>
            </a:r>
            <a:r>
              <a:rPr lang="en-US" dirty="0"/>
              <a:t>is an implementation technique whereby multiple instructions </a:t>
            </a:r>
            <a:r>
              <a:rPr lang="en-US" dirty="0" smtClean="0"/>
              <a:t>are overlapped </a:t>
            </a:r>
            <a:r>
              <a:rPr lang="en-US" dirty="0"/>
              <a:t>in execution; it takes advantage of parallelism that exists among </a:t>
            </a:r>
            <a:r>
              <a:rPr lang="en-US" dirty="0" smtClean="0"/>
              <a:t>the actions </a:t>
            </a:r>
            <a:r>
              <a:rPr lang="en-US" dirty="0"/>
              <a:t>needed to execute an instruction. Today, pipelining is the key </a:t>
            </a:r>
            <a:r>
              <a:rPr lang="en-US" dirty="0" smtClean="0"/>
              <a:t>implementation technique </a:t>
            </a:r>
            <a:r>
              <a:rPr lang="en-US" dirty="0"/>
              <a:t>used to make fast CPUs</a:t>
            </a:r>
            <a:r>
              <a:rPr lang="en-US" dirty="0" smtClean="0"/>
              <a:t>.</a:t>
            </a:r>
          </a:p>
          <a:p>
            <a:r>
              <a:rPr lang="en-US" dirty="0"/>
              <a:t>A pipeline is like an assembly line. In an automobile assembly line, there </a:t>
            </a:r>
            <a:r>
              <a:rPr lang="en-US" dirty="0" smtClean="0"/>
              <a:t>are many </a:t>
            </a:r>
            <a:r>
              <a:rPr lang="en-US" dirty="0"/>
              <a:t>steps, each contributing something to the construction of the car. Each </a:t>
            </a:r>
            <a:r>
              <a:rPr lang="en-US" dirty="0" smtClean="0"/>
              <a:t>step operates </a:t>
            </a:r>
            <a:r>
              <a:rPr lang="en-US" dirty="0"/>
              <a:t>in parallel with the other steps, although on a different car. In a </a:t>
            </a:r>
            <a:r>
              <a:rPr lang="en-US" dirty="0" smtClean="0"/>
              <a:t>computer pipeline</a:t>
            </a:r>
            <a:r>
              <a:rPr lang="en-US" dirty="0"/>
              <a:t>, each step in the pipeline completes a part of an instruction. Like </a:t>
            </a:r>
            <a:r>
              <a:rPr lang="en-US" dirty="0" smtClean="0"/>
              <a:t>the </a:t>
            </a:r>
            <a:r>
              <a:rPr lang="en-US" dirty="0"/>
              <a:t>assembly line, different steps are completing different parts of different </a:t>
            </a:r>
            <a:r>
              <a:rPr lang="en-US" dirty="0" smtClean="0"/>
              <a:t>instructions in </a:t>
            </a:r>
            <a:r>
              <a:rPr lang="en-US" dirty="0"/>
              <a:t>parallel. Each of these steps is called a </a:t>
            </a:r>
            <a:r>
              <a:rPr lang="en-US" i="1" dirty="0"/>
              <a:t>pipe stage </a:t>
            </a:r>
            <a:r>
              <a:rPr lang="en-US" dirty="0"/>
              <a:t>or a </a:t>
            </a:r>
            <a:r>
              <a:rPr lang="en-US" i="1" dirty="0"/>
              <a:t>pipe segment. </a:t>
            </a:r>
            <a:r>
              <a:rPr lang="en-US" dirty="0" smtClean="0"/>
              <a:t>The stages </a:t>
            </a:r>
            <a:r>
              <a:rPr lang="en-US" dirty="0"/>
              <a:t>are connected one to the next to form a pipe—instructions enter at </a:t>
            </a:r>
            <a:r>
              <a:rPr lang="en-US" dirty="0" smtClean="0"/>
              <a:t>one end</a:t>
            </a:r>
            <a:r>
              <a:rPr lang="en-US" dirty="0"/>
              <a:t>, progress through the stages, and exit at the other end, just as cars would </a:t>
            </a:r>
            <a:r>
              <a:rPr lang="en-US" dirty="0" smtClean="0"/>
              <a:t>in an </a:t>
            </a:r>
            <a:r>
              <a:rPr lang="en-US" dirty="0"/>
              <a:t>assembly line</a:t>
            </a:r>
            <a:r>
              <a:rPr lang="en-US" dirty="0" smtClean="0"/>
              <a:t>. In </a:t>
            </a:r>
            <a:r>
              <a:rPr lang="en-US" dirty="0"/>
              <a:t>an automobile assembly line, </a:t>
            </a:r>
            <a:r>
              <a:rPr lang="en-US" i="1" dirty="0"/>
              <a:t>throughput </a:t>
            </a:r>
            <a:r>
              <a:rPr lang="en-US" dirty="0"/>
              <a:t>is defined as the number of </a:t>
            </a:r>
            <a:r>
              <a:rPr lang="en-US" dirty="0" smtClean="0"/>
              <a:t>cars per </a:t>
            </a:r>
            <a:r>
              <a:rPr lang="en-US" dirty="0"/>
              <a:t>hour and is determined by how often a completed car exits the assembly line</a:t>
            </a:r>
            <a:r>
              <a:rPr lang="en-US" dirty="0" smtClean="0"/>
              <a:t>.</a:t>
            </a:r>
          </a:p>
          <a:p>
            <a:r>
              <a:rPr lang="en-US" dirty="0"/>
              <a:t>Likewise, the throughput of an instruction pipeline is determined by how often an instruction exits the pipeline. Because the pipe stages are hooked together, all the stages must be ready to proceed at the same time, just as we would require in an assembly line. The time required between moving an instruction one step down the pipeline is </a:t>
            </a:r>
            <a:r>
              <a:rPr lang="en-US" i="1" dirty="0"/>
              <a:t>&amp; processor cycle. </a:t>
            </a:r>
            <a:r>
              <a:rPr lang="en-US" dirty="0"/>
              <a:t>Because all stages proceed at the same time, the length of a processor cycle is determined by the time required for the slowest pipe stage, just as in an auto assembly line, the longest step would determine the time between advancing the line</a:t>
            </a:r>
            <a:r>
              <a:rPr lang="en-US" dirty="0" smtClean="0"/>
              <a:t>.</a:t>
            </a:r>
            <a:endParaRPr lang="en-US" dirty="0"/>
          </a:p>
        </p:txBody>
      </p:sp>
    </p:spTree>
    <p:extLst>
      <p:ext uri="{BB962C8B-B14F-4D97-AF65-F5344CB8AC3E}">
        <p14:creationId xmlns:p14="http://schemas.microsoft.com/office/powerpoint/2010/main" val="3210240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The </a:t>
            </a:r>
            <a:r>
              <a:rPr lang="en-US" dirty="0"/>
              <a:t>pipeline designer's goal is to balance the length of each pipeline stage</a:t>
            </a:r>
            <a:r>
              <a:rPr lang="en-US" dirty="0" smtClean="0"/>
              <a:t>, just </a:t>
            </a:r>
            <a:r>
              <a:rPr lang="en-US" dirty="0"/>
              <a:t>as the designer of the assembly line tries to balance the time for each step </a:t>
            </a:r>
            <a:r>
              <a:rPr lang="en-US" dirty="0" smtClean="0"/>
              <a:t>in the </a:t>
            </a:r>
            <a:r>
              <a:rPr lang="en-US" dirty="0"/>
              <a:t>process. If the stages are perfectly balanced, then the time per instruction </a:t>
            </a:r>
            <a:r>
              <a:rPr lang="en-US" dirty="0" smtClean="0"/>
              <a:t>on the </a:t>
            </a:r>
            <a:r>
              <a:rPr lang="en-US" dirty="0"/>
              <a:t>pipelined processor—assuming ideal conditions—is equal </a:t>
            </a:r>
            <a:r>
              <a:rPr lang="en-US" dirty="0" smtClean="0"/>
              <a:t>to (Time per instruction on </a:t>
            </a:r>
            <a:r>
              <a:rPr lang="en-US" dirty="0" err="1" smtClean="0"/>
              <a:t>unpipelined</a:t>
            </a:r>
            <a:r>
              <a:rPr lang="en-US" dirty="0" smtClean="0"/>
              <a:t> machine/Number of pipeline stages). </a:t>
            </a:r>
          </a:p>
          <a:p>
            <a:r>
              <a:rPr lang="en-US" dirty="0"/>
              <a:t>Under these conditions, the speedup from pipelining equals the number of </a:t>
            </a:r>
            <a:r>
              <a:rPr lang="en-US" dirty="0" smtClean="0"/>
              <a:t>pipe stages</a:t>
            </a:r>
            <a:r>
              <a:rPr lang="en-US" dirty="0"/>
              <a:t>, just as an assembly line with </a:t>
            </a:r>
            <a:r>
              <a:rPr lang="en-US" i="1" dirty="0"/>
              <a:t>n </a:t>
            </a:r>
            <a:r>
              <a:rPr lang="en-US" dirty="0"/>
              <a:t>stages can ideally produce cars </a:t>
            </a:r>
            <a:r>
              <a:rPr lang="en-US" i="1" dirty="0"/>
              <a:t>n </a:t>
            </a:r>
            <a:r>
              <a:rPr lang="en-US" dirty="0"/>
              <a:t>times </a:t>
            </a:r>
            <a:r>
              <a:rPr lang="en-US" dirty="0" smtClean="0"/>
              <a:t>as fast</a:t>
            </a:r>
            <a:r>
              <a:rPr lang="en-US" dirty="0"/>
              <a:t>. Usually, however, the stages will not be perfectly balanced; furthermore</a:t>
            </a:r>
            <a:r>
              <a:rPr lang="en-US" dirty="0" smtClean="0"/>
              <a:t>, pipelining </a:t>
            </a:r>
            <a:r>
              <a:rPr lang="en-US" dirty="0"/>
              <a:t>does involve some overhead. Thus, the time per instruction on </a:t>
            </a:r>
            <a:r>
              <a:rPr lang="en-US" dirty="0" smtClean="0"/>
              <a:t>the pipelined </a:t>
            </a:r>
            <a:r>
              <a:rPr lang="en-US" dirty="0"/>
              <a:t>processor will not have its minimum possible value, yet it can be close</a:t>
            </a:r>
            <a:r>
              <a:rPr lang="en-US" dirty="0" smtClean="0"/>
              <a:t>.</a:t>
            </a:r>
          </a:p>
          <a:p>
            <a:r>
              <a:rPr lang="en-US" dirty="0"/>
              <a:t>Pipelining yields a reduction in the average execution time per instruction. Depending on what you consider as the baseline, the reduction can be viewed as decreasing the number of clock cycles per instruction (CPI), as decreasing the clock cycle time, or as a combination. If the starting point is a processor that takes multiple clock cycles per instruction, then pipelining is usually viewed as reducing the CPI. This is the primary view we will take. If the starting point is a processor that takes 1 (long) clock cycle per instruction, then pipelining decreases the clock cycle time.</a:t>
            </a:r>
          </a:p>
          <a:p>
            <a:pPr marL="0" indent="0">
              <a:buNone/>
            </a:pPr>
            <a:endParaRPr lang="en-US" dirty="0" smtClean="0"/>
          </a:p>
          <a:p>
            <a:endParaRPr lang="en-US" dirty="0"/>
          </a:p>
        </p:txBody>
      </p:sp>
    </p:spTree>
    <p:extLst>
      <p:ext uri="{BB962C8B-B14F-4D97-AF65-F5344CB8AC3E}">
        <p14:creationId xmlns:p14="http://schemas.microsoft.com/office/powerpoint/2010/main" val="1989151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RISC Instruction Set</a:t>
            </a:r>
            <a:endParaRPr lang="en-US" dirty="0"/>
          </a:p>
        </p:txBody>
      </p:sp>
      <p:sp>
        <p:nvSpPr>
          <p:cNvPr id="3" name="Content Placeholder 2"/>
          <p:cNvSpPr>
            <a:spLocks noGrp="1"/>
          </p:cNvSpPr>
          <p:nvPr>
            <p:ph idx="1"/>
          </p:nvPr>
        </p:nvSpPr>
        <p:spPr/>
        <p:txBody>
          <a:bodyPr/>
          <a:lstStyle/>
          <a:p>
            <a:r>
              <a:rPr lang="en-US" dirty="0"/>
              <a:t>RISC </a:t>
            </a:r>
            <a:r>
              <a:rPr lang="en-US" dirty="0" smtClean="0"/>
              <a:t>architectures are </a:t>
            </a:r>
            <a:r>
              <a:rPr lang="en-US" dirty="0"/>
              <a:t>characterized by a few key properties, which dramatically </a:t>
            </a:r>
            <a:r>
              <a:rPr lang="en-US" dirty="0" smtClean="0"/>
              <a:t>simplify their </a:t>
            </a:r>
            <a:r>
              <a:rPr lang="en-US" dirty="0"/>
              <a:t>implementation:</a:t>
            </a:r>
          </a:p>
          <a:p>
            <a:r>
              <a:rPr lang="en-US" dirty="0"/>
              <a:t>• All operations on data apply to data in registers and typically change </a:t>
            </a:r>
            <a:r>
              <a:rPr lang="en-US" dirty="0" smtClean="0"/>
              <a:t>the entire </a:t>
            </a:r>
            <a:r>
              <a:rPr lang="en-US" dirty="0"/>
              <a:t>register (32 or 64 bits per register).</a:t>
            </a:r>
          </a:p>
          <a:p>
            <a:r>
              <a:rPr lang="en-US" dirty="0"/>
              <a:t>• The only operations that affect memory are load and store operations </a:t>
            </a:r>
            <a:r>
              <a:rPr lang="en-US" dirty="0" smtClean="0"/>
              <a:t>that move </a:t>
            </a:r>
            <a:r>
              <a:rPr lang="en-US" dirty="0"/>
              <a:t>data from memory to a register or to memory from a register, respectively</a:t>
            </a:r>
            <a:r>
              <a:rPr lang="en-US" dirty="0" smtClean="0"/>
              <a:t>. Load </a:t>
            </a:r>
            <a:r>
              <a:rPr lang="en-US" dirty="0"/>
              <a:t>and store operations that load or store less than a full </a:t>
            </a:r>
            <a:r>
              <a:rPr lang="en-US" dirty="0" smtClean="0"/>
              <a:t>register (</a:t>
            </a:r>
            <a:r>
              <a:rPr lang="en-US" dirty="0"/>
              <a:t>e.g., a byte, 16 bits, or 32 bits) are often available.</a:t>
            </a:r>
          </a:p>
          <a:p>
            <a:r>
              <a:rPr lang="en-US" dirty="0"/>
              <a:t>• The instruction formats are few in number with all instructions </a:t>
            </a:r>
            <a:r>
              <a:rPr lang="en-US" dirty="0" smtClean="0"/>
              <a:t>typically being </a:t>
            </a:r>
            <a:r>
              <a:rPr lang="en-US" dirty="0"/>
              <a:t>one size.</a:t>
            </a:r>
            <a:endParaRPr lang="en-US" dirty="0"/>
          </a:p>
        </p:txBody>
      </p:sp>
    </p:spTree>
    <p:extLst>
      <p:ext uri="{BB962C8B-B14F-4D97-AF65-F5344CB8AC3E}">
        <p14:creationId xmlns:p14="http://schemas.microsoft.com/office/powerpoint/2010/main" val="1656874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Like other RISC architectures, the MIPS instruction set provides 32 registers</a:t>
            </a:r>
            <a:r>
              <a:rPr lang="en-US" dirty="0" smtClean="0"/>
              <a:t>, although </a:t>
            </a:r>
            <a:r>
              <a:rPr lang="en-US" dirty="0"/>
              <a:t>register 0 always has the value 0. Most RISC architectures, like MIPS</a:t>
            </a:r>
            <a:r>
              <a:rPr lang="en-US" dirty="0" smtClean="0"/>
              <a:t>, have </a:t>
            </a:r>
            <a:r>
              <a:rPr lang="en-US" dirty="0"/>
              <a:t>three classes of instructions (see Appendix B for more detail):</a:t>
            </a:r>
          </a:p>
          <a:p>
            <a:r>
              <a:rPr lang="en-US" dirty="0"/>
              <a:t>1. </a:t>
            </a:r>
            <a:r>
              <a:rPr lang="en-US" i="1" dirty="0"/>
              <a:t>ALU instructions</a:t>
            </a:r>
            <a:r>
              <a:rPr lang="en-US" dirty="0"/>
              <a:t>—These instructions take either two registers or a </a:t>
            </a:r>
            <a:r>
              <a:rPr lang="en-US" dirty="0" smtClean="0"/>
              <a:t>register and </a:t>
            </a:r>
            <a:r>
              <a:rPr lang="en-US" dirty="0"/>
              <a:t>a sign-extended immediate (called ALU immediate instructions, </a:t>
            </a:r>
            <a:r>
              <a:rPr lang="en-US" dirty="0" smtClean="0"/>
              <a:t>they have </a:t>
            </a:r>
            <a:r>
              <a:rPr lang="en-US" dirty="0"/>
              <a:t>a 16-bit offset in MIPS), operate on them, and store the result into </a:t>
            </a:r>
            <a:r>
              <a:rPr lang="en-US" dirty="0" smtClean="0"/>
              <a:t>a third </a:t>
            </a:r>
            <a:r>
              <a:rPr lang="en-US" dirty="0"/>
              <a:t>register. Typical operations include add (DADD), subtract (DSUB), and </a:t>
            </a:r>
            <a:r>
              <a:rPr lang="en-US" dirty="0" smtClean="0"/>
              <a:t>logical operations </a:t>
            </a:r>
            <a:r>
              <a:rPr lang="en-US" dirty="0"/>
              <a:t>(such as AND or OR), which do not differentiate between </a:t>
            </a:r>
            <a:r>
              <a:rPr lang="en-US" dirty="0" smtClean="0"/>
              <a:t>32-bit and </a:t>
            </a:r>
            <a:r>
              <a:rPr lang="en-US" dirty="0"/>
              <a:t>64-bit versions. Immediate versions of these instructions use the </a:t>
            </a:r>
            <a:r>
              <a:rPr lang="en-US" dirty="0" smtClean="0"/>
              <a:t>same mnemonics </a:t>
            </a:r>
            <a:r>
              <a:rPr lang="en-US" dirty="0"/>
              <a:t>with a suffix of I. In MIPS, there are both signed and </a:t>
            </a:r>
            <a:r>
              <a:rPr lang="en-US" dirty="0" smtClean="0"/>
              <a:t>unsigned forms </a:t>
            </a:r>
            <a:r>
              <a:rPr lang="en-US" dirty="0"/>
              <a:t>of the arithmetic instructions; the unsigned forms, which do not </a:t>
            </a:r>
            <a:r>
              <a:rPr lang="en-US" dirty="0" smtClean="0"/>
              <a:t>generate overflow </a:t>
            </a:r>
            <a:r>
              <a:rPr lang="en-US" dirty="0"/>
              <a:t>exceptions—and thus are the same in 32-bit and 64-bit mode</a:t>
            </a:r>
            <a:r>
              <a:rPr lang="en-US" dirty="0" smtClean="0"/>
              <a:t>— have </a:t>
            </a:r>
            <a:r>
              <a:rPr lang="en-US" dirty="0"/>
              <a:t>a U at the end (e.g., DADDU, DSUBU, DADDIU).</a:t>
            </a:r>
          </a:p>
          <a:p>
            <a:r>
              <a:rPr lang="en-US" dirty="0"/>
              <a:t>2. </a:t>
            </a:r>
            <a:r>
              <a:rPr lang="en-US" i="1" dirty="0"/>
              <a:t>Load and store instructions</a:t>
            </a:r>
            <a:r>
              <a:rPr lang="en-US" dirty="0"/>
              <a:t>—These instructions take a register source, </a:t>
            </a:r>
            <a:r>
              <a:rPr lang="en-US" dirty="0" smtClean="0"/>
              <a:t>called the </a:t>
            </a:r>
            <a:r>
              <a:rPr lang="en-US" i="1" dirty="0"/>
              <a:t>base register, </a:t>
            </a:r>
            <a:r>
              <a:rPr lang="en-US" dirty="0"/>
              <a:t>and an immediate field (16-bit in MIPS), called the </a:t>
            </a:r>
            <a:r>
              <a:rPr lang="en-US" i="1" dirty="0"/>
              <a:t>offset, </a:t>
            </a:r>
            <a:r>
              <a:rPr lang="en-US" dirty="0" smtClean="0"/>
              <a:t>as operands</a:t>
            </a:r>
            <a:r>
              <a:rPr lang="en-US" dirty="0"/>
              <a:t>. The sum—called the </a:t>
            </a:r>
            <a:r>
              <a:rPr lang="en-US" i="1" dirty="0"/>
              <a:t>effective address</a:t>
            </a:r>
            <a:r>
              <a:rPr lang="en-US" dirty="0"/>
              <a:t>—of the contents of the </a:t>
            </a:r>
            <a:r>
              <a:rPr lang="en-US" dirty="0" smtClean="0"/>
              <a:t>base register </a:t>
            </a:r>
            <a:r>
              <a:rPr lang="en-US" dirty="0"/>
              <a:t>and the sign-extended offset is used as a memory address. In the </a:t>
            </a:r>
            <a:r>
              <a:rPr lang="en-US" dirty="0" smtClean="0"/>
              <a:t>case of </a:t>
            </a:r>
            <a:r>
              <a:rPr lang="en-US" dirty="0"/>
              <a:t>a load instruction, a second register operand acts as the destination for </a:t>
            </a:r>
            <a:r>
              <a:rPr lang="en-US" dirty="0" smtClean="0"/>
              <a:t>the </a:t>
            </a:r>
            <a:r>
              <a:rPr lang="en-US" dirty="0"/>
              <a:t>data loaded from memory. In the case of a store, the second register </a:t>
            </a:r>
            <a:r>
              <a:rPr lang="en-US" dirty="0" smtClean="0"/>
              <a:t>operand is </a:t>
            </a:r>
            <a:r>
              <a:rPr lang="en-US" dirty="0"/>
              <a:t>the source of the data that is stored into memory. The instructions </a:t>
            </a:r>
            <a:r>
              <a:rPr lang="en-US" dirty="0" smtClean="0"/>
              <a:t>load word </a:t>
            </a:r>
            <a:r>
              <a:rPr lang="en-US" dirty="0"/>
              <a:t>(LD) and store word (SD) load or store the entire 64-bit register contents.</a:t>
            </a:r>
            <a:endParaRPr lang="en-US" dirty="0"/>
          </a:p>
        </p:txBody>
      </p:sp>
    </p:spTree>
    <p:extLst>
      <p:ext uri="{BB962C8B-B14F-4D97-AF65-F5344CB8AC3E}">
        <p14:creationId xmlns:p14="http://schemas.microsoft.com/office/powerpoint/2010/main" val="2353743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3. </a:t>
            </a:r>
            <a:r>
              <a:rPr lang="en-US" i="1" dirty="0"/>
              <a:t>Branches and jumps</a:t>
            </a:r>
            <a:r>
              <a:rPr lang="en-US" dirty="0"/>
              <a:t>—Branches are conditional transfers of control. </a:t>
            </a:r>
            <a:r>
              <a:rPr lang="en-US" dirty="0" smtClean="0"/>
              <a:t>There are </a:t>
            </a:r>
            <a:r>
              <a:rPr lang="en-US" dirty="0"/>
              <a:t>usually two ways of specifying the branch condition in RISC architectures</a:t>
            </a:r>
            <a:r>
              <a:rPr lang="en-US" dirty="0" smtClean="0"/>
              <a:t>: with </a:t>
            </a:r>
            <a:r>
              <a:rPr lang="en-US" dirty="0"/>
              <a:t>a set of condition bits (sometimes called a condition code) or by </a:t>
            </a:r>
            <a:r>
              <a:rPr lang="en-US" dirty="0" smtClean="0"/>
              <a:t>a limited </a:t>
            </a:r>
            <a:r>
              <a:rPr lang="en-US" dirty="0"/>
              <a:t>set of comparisons between a pair </a:t>
            </a:r>
            <a:r>
              <a:rPr lang="en-US" dirty="0" smtClean="0"/>
              <a:t>of </a:t>
            </a:r>
            <a:r>
              <a:rPr lang="en-US" dirty="0"/>
              <a:t>registers or between a </a:t>
            </a:r>
            <a:r>
              <a:rPr lang="en-US" dirty="0" smtClean="0"/>
              <a:t>register and </a:t>
            </a:r>
            <a:r>
              <a:rPr lang="en-US" dirty="0"/>
              <a:t>zero. MIPS uses the latter. For this appendix, we consider only </a:t>
            </a:r>
            <a:r>
              <a:rPr lang="en-US" dirty="0" smtClean="0"/>
              <a:t>comparisons for </a:t>
            </a:r>
            <a:r>
              <a:rPr lang="en-US" dirty="0"/>
              <a:t>equality between two registers. In all RISC architectures, the </a:t>
            </a:r>
            <a:r>
              <a:rPr lang="en-US" dirty="0" smtClean="0"/>
              <a:t>branch destination </a:t>
            </a:r>
            <a:r>
              <a:rPr lang="en-US" dirty="0"/>
              <a:t>is obtained by adding a sign-extended offset (16 bits in MIPS) </a:t>
            </a:r>
            <a:r>
              <a:rPr lang="en-US" dirty="0" smtClean="0"/>
              <a:t>to the </a:t>
            </a:r>
            <a:r>
              <a:rPr lang="en-US" dirty="0"/>
              <a:t>current PC. </a:t>
            </a:r>
            <a:r>
              <a:rPr lang="en-US" dirty="0" smtClean="0"/>
              <a:t>Unconditional </a:t>
            </a:r>
            <a:r>
              <a:rPr lang="en-US" dirty="0"/>
              <a:t>jumps are provided in many RISC architectures</a:t>
            </a:r>
            <a:r>
              <a:rPr lang="en-US" dirty="0" smtClean="0"/>
              <a:t>, but </a:t>
            </a:r>
            <a:r>
              <a:rPr lang="en-US" dirty="0"/>
              <a:t>we will not cover jumps in this appendix.</a:t>
            </a:r>
            <a:endParaRPr lang="en-US" dirty="0"/>
          </a:p>
        </p:txBody>
      </p:sp>
    </p:spTree>
    <p:extLst>
      <p:ext uri="{BB962C8B-B14F-4D97-AF65-F5344CB8AC3E}">
        <p14:creationId xmlns:p14="http://schemas.microsoft.com/office/powerpoint/2010/main" val="3457834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Simple Implementation of a RISC Instruction Set</a:t>
            </a:r>
            <a:endParaRPr lang="en-US" dirty="0"/>
          </a:p>
        </p:txBody>
      </p:sp>
      <p:sp>
        <p:nvSpPr>
          <p:cNvPr id="3" name="Content Placeholder 2"/>
          <p:cNvSpPr>
            <a:spLocks noGrp="1"/>
          </p:cNvSpPr>
          <p:nvPr>
            <p:ph idx="1"/>
          </p:nvPr>
        </p:nvSpPr>
        <p:spPr/>
        <p:txBody>
          <a:bodyPr>
            <a:normAutofit/>
          </a:bodyPr>
          <a:lstStyle/>
          <a:p>
            <a:r>
              <a:rPr lang="en-US" dirty="0"/>
              <a:t>To understand how a RISC instruction set can be implemented in a </a:t>
            </a:r>
            <a:r>
              <a:rPr lang="en-US" dirty="0" smtClean="0"/>
              <a:t>pipelined fashion</a:t>
            </a:r>
            <a:r>
              <a:rPr lang="en-US" dirty="0"/>
              <a:t>, we need to understand how it is implemented </a:t>
            </a:r>
            <a:r>
              <a:rPr lang="en-US" i="1" dirty="0"/>
              <a:t>without </a:t>
            </a:r>
            <a:r>
              <a:rPr lang="en-US" dirty="0"/>
              <a:t>pipelining. </a:t>
            </a:r>
            <a:r>
              <a:rPr lang="en-US" dirty="0" smtClean="0"/>
              <a:t>This section </a:t>
            </a:r>
            <a:r>
              <a:rPr lang="en-US" dirty="0"/>
              <a:t>shows a simple implementation where every instruction takes at most </a:t>
            </a:r>
            <a:r>
              <a:rPr lang="en-US" dirty="0" smtClean="0"/>
              <a:t>5 clock </a:t>
            </a:r>
            <a:r>
              <a:rPr lang="en-US" dirty="0"/>
              <a:t>cycles. We will extend this basic implementation to a pipelined version</a:t>
            </a:r>
            <a:r>
              <a:rPr lang="en-US" dirty="0" smtClean="0"/>
              <a:t>, resulting </a:t>
            </a:r>
            <a:r>
              <a:rPr lang="en-US" dirty="0"/>
              <a:t>in a much lower CPI. Our </a:t>
            </a:r>
            <a:r>
              <a:rPr lang="en-US" dirty="0" err="1"/>
              <a:t>unpipelined</a:t>
            </a:r>
            <a:r>
              <a:rPr lang="en-US" dirty="0"/>
              <a:t> implementation is not the </a:t>
            </a:r>
            <a:r>
              <a:rPr lang="en-US" dirty="0" smtClean="0"/>
              <a:t>most economical </a:t>
            </a:r>
            <a:r>
              <a:rPr lang="en-US" dirty="0"/>
              <a:t>or the highest-performance implementation without pipelining</a:t>
            </a:r>
            <a:r>
              <a:rPr lang="en-US" dirty="0" smtClean="0"/>
              <a:t>. </a:t>
            </a:r>
            <a:endParaRPr lang="en-US" dirty="0"/>
          </a:p>
          <a:p>
            <a:r>
              <a:rPr lang="en-US" dirty="0"/>
              <a:t>Instead, it is designed to lead naturally to a pipelined implementation. </a:t>
            </a:r>
            <a:r>
              <a:rPr lang="en-US" dirty="0" smtClean="0"/>
              <a:t>Implementing the </a:t>
            </a:r>
            <a:r>
              <a:rPr lang="en-US" dirty="0"/>
              <a:t>instruction set requires the introduction of several temporary </a:t>
            </a:r>
            <a:r>
              <a:rPr lang="en-US" dirty="0" smtClean="0"/>
              <a:t>registers that </a:t>
            </a:r>
            <a:r>
              <a:rPr lang="en-US" dirty="0"/>
              <a:t>are not part of the architecture; these are introduced in this section </a:t>
            </a:r>
            <a:r>
              <a:rPr lang="en-US" dirty="0" smtClean="0"/>
              <a:t>to simplify </a:t>
            </a:r>
            <a:r>
              <a:rPr lang="en-US" dirty="0"/>
              <a:t>pipelining. Our implementation will focus only on a pipeline for an </a:t>
            </a:r>
            <a:r>
              <a:rPr lang="en-US" dirty="0" smtClean="0"/>
              <a:t>integer subset </a:t>
            </a:r>
            <a:r>
              <a:rPr lang="en-US" dirty="0"/>
              <a:t>of a RISC architecture that consists of load-store word, branch, </a:t>
            </a:r>
            <a:r>
              <a:rPr lang="en-US" dirty="0" smtClean="0"/>
              <a:t>and integer </a:t>
            </a:r>
            <a:r>
              <a:rPr lang="en-US" dirty="0"/>
              <a:t>ALU operations.</a:t>
            </a:r>
            <a:endParaRPr lang="en-US" dirty="0"/>
          </a:p>
        </p:txBody>
      </p:sp>
    </p:spTree>
    <p:extLst>
      <p:ext uri="{BB962C8B-B14F-4D97-AF65-F5344CB8AC3E}">
        <p14:creationId xmlns:p14="http://schemas.microsoft.com/office/powerpoint/2010/main" val="2505756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Every instruction in this RISC subset can be implemented in at most 5 </a:t>
            </a:r>
            <a:r>
              <a:rPr lang="en-US" dirty="0" smtClean="0"/>
              <a:t>clock cycles</a:t>
            </a:r>
            <a:r>
              <a:rPr lang="en-US" dirty="0"/>
              <a:t>. The 5 clock cycles are as follows</a:t>
            </a:r>
            <a:r>
              <a:rPr lang="en-US" dirty="0" smtClean="0"/>
              <a:t>.</a:t>
            </a:r>
          </a:p>
          <a:p>
            <a:r>
              <a:rPr lang="en-US" dirty="0"/>
              <a:t>1. </a:t>
            </a:r>
            <a:r>
              <a:rPr lang="en-US" i="1" dirty="0"/>
              <a:t>Instruction fetch cycle </a:t>
            </a:r>
            <a:r>
              <a:rPr lang="en-US" dirty="0"/>
              <a:t>(IF</a:t>
            </a:r>
            <a:r>
              <a:rPr lang="en-US" dirty="0" smtClean="0"/>
              <a:t>): Send </a:t>
            </a:r>
            <a:r>
              <a:rPr lang="en-US" dirty="0"/>
              <a:t>the program counter (PC) to memory and fetch the current </a:t>
            </a:r>
            <a:r>
              <a:rPr lang="en-US" dirty="0" smtClean="0"/>
              <a:t>instruction from </a:t>
            </a:r>
            <a:r>
              <a:rPr lang="en-US" dirty="0"/>
              <a:t>memory. Update the PC to the next sequential PC by adding 4 (</a:t>
            </a:r>
            <a:r>
              <a:rPr lang="en-US" dirty="0" smtClean="0"/>
              <a:t>since each </a:t>
            </a:r>
            <a:r>
              <a:rPr lang="en-US" dirty="0"/>
              <a:t>instruction is 4 bytes) to the PC.</a:t>
            </a:r>
          </a:p>
          <a:p>
            <a:r>
              <a:rPr lang="en-US" dirty="0"/>
              <a:t>2. </a:t>
            </a:r>
            <a:r>
              <a:rPr lang="en-US" i="1" dirty="0"/>
              <a:t>Instruction decode/register fetch cycle </a:t>
            </a:r>
            <a:r>
              <a:rPr lang="en-US" dirty="0"/>
              <a:t>(ID</a:t>
            </a:r>
            <a:r>
              <a:rPr lang="en-US" dirty="0" smtClean="0"/>
              <a:t>): Decode </a:t>
            </a:r>
            <a:r>
              <a:rPr lang="en-US" dirty="0"/>
              <a:t>the instruction and read the registers corresponding to </a:t>
            </a:r>
            <a:r>
              <a:rPr lang="en-US" dirty="0" smtClean="0"/>
              <a:t>register source </a:t>
            </a:r>
            <a:r>
              <a:rPr lang="en-US" dirty="0"/>
              <a:t>specifiers from the register file. Do the equality test on the </a:t>
            </a:r>
            <a:r>
              <a:rPr lang="en-US" dirty="0" smtClean="0"/>
              <a:t>registers as </a:t>
            </a:r>
            <a:r>
              <a:rPr lang="en-US" dirty="0"/>
              <a:t>they are read, for a possible branch. Sign-extend the offset field of </a:t>
            </a:r>
            <a:r>
              <a:rPr lang="en-US" dirty="0" smtClean="0"/>
              <a:t>the instruction </a:t>
            </a:r>
            <a:r>
              <a:rPr lang="en-US" dirty="0"/>
              <a:t>in case it is needed. Compute the possible branch target </a:t>
            </a:r>
            <a:r>
              <a:rPr lang="en-US" dirty="0" smtClean="0"/>
              <a:t>address by </a:t>
            </a:r>
            <a:r>
              <a:rPr lang="en-US" dirty="0"/>
              <a:t>adding the sign-extended offset to the incremented PC. In an </a:t>
            </a:r>
            <a:r>
              <a:rPr lang="en-US" dirty="0" smtClean="0"/>
              <a:t>aggressive implementation</a:t>
            </a:r>
            <a:r>
              <a:rPr lang="en-US" dirty="0"/>
              <a:t>, which we explore later, the branch can be completed at </a:t>
            </a:r>
            <a:r>
              <a:rPr lang="en-US" dirty="0" smtClean="0"/>
              <a:t>the end </a:t>
            </a:r>
            <a:r>
              <a:rPr lang="en-US" dirty="0"/>
              <a:t>of this stage, by storing the branch-target address into the PC, if </a:t>
            </a:r>
            <a:r>
              <a:rPr lang="en-US" dirty="0" smtClean="0"/>
              <a:t>the condition </a:t>
            </a:r>
            <a:r>
              <a:rPr lang="en-US" dirty="0"/>
              <a:t>test yielded true</a:t>
            </a:r>
            <a:r>
              <a:rPr lang="en-US" dirty="0" smtClean="0"/>
              <a:t>. Decoding </a:t>
            </a:r>
            <a:r>
              <a:rPr lang="en-US" dirty="0"/>
              <a:t>is done in parallel with reading registers, which is </a:t>
            </a:r>
            <a:r>
              <a:rPr lang="en-US" dirty="0" smtClean="0"/>
              <a:t>possible because </a:t>
            </a:r>
            <a:r>
              <a:rPr lang="en-US" dirty="0"/>
              <a:t>the register specifiers are at a fixed location in a RISC architecture</a:t>
            </a:r>
            <a:r>
              <a:rPr lang="en-US" dirty="0" smtClean="0"/>
              <a:t>. </a:t>
            </a:r>
            <a:r>
              <a:rPr lang="en-US" dirty="0"/>
              <a:t>This technique is known as </a:t>
            </a:r>
            <a:r>
              <a:rPr lang="en-US" i="1" dirty="0"/>
              <a:t>fixed-field decoding. </a:t>
            </a:r>
            <a:r>
              <a:rPr lang="en-US" dirty="0"/>
              <a:t>Note that we may read </a:t>
            </a:r>
            <a:r>
              <a:rPr lang="en-US" dirty="0" smtClean="0"/>
              <a:t>a register </a:t>
            </a:r>
            <a:r>
              <a:rPr lang="en-US" dirty="0"/>
              <a:t>we don't use, which doesn't help but also doesn't hurt performance.</a:t>
            </a:r>
            <a:endParaRPr lang="en-US" dirty="0"/>
          </a:p>
        </p:txBody>
      </p:sp>
    </p:spTree>
    <p:extLst>
      <p:ext uri="{BB962C8B-B14F-4D97-AF65-F5344CB8AC3E}">
        <p14:creationId xmlns:p14="http://schemas.microsoft.com/office/powerpoint/2010/main" val="2642305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3. </a:t>
            </a:r>
            <a:r>
              <a:rPr lang="en-US" i="1" dirty="0"/>
              <a:t>Execution/'effective address cycle </a:t>
            </a:r>
            <a:r>
              <a:rPr lang="en-US" dirty="0"/>
              <a:t>(EX</a:t>
            </a:r>
            <a:r>
              <a:rPr lang="en-US" dirty="0" smtClean="0"/>
              <a:t>): The </a:t>
            </a:r>
            <a:r>
              <a:rPr lang="en-US" dirty="0"/>
              <a:t>ALU operates on the operands prepared in the prior cycle, </a:t>
            </a:r>
            <a:r>
              <a:rPr lang="en-US" dirty="0" smtClean="0"/>
              <a:t>performing one </a:t>
            </a:r>
            <a:r>
              <a:rPr lang="en-US" dirty="0"/>
              <a:t>of three functions depending on the instruction type.</a:t>
            </a:r>
          </a:p>
          <a:p>
            <a:pPr lvl="1"/>
            <a:r>
              <a:rPr lang="en-US" dirty="0" smtClean="0"/>
              <a:t>Memory </a:t>
            </a:r>
            <a:r>
              <a:rPr lang="en-US" dirty="0"/>
              <a:t>reference: The ALU adds the base register and the offset to </a:t>
            </a:r>
            <a:r>
              <a:rPr lang="en-US" dirty="0" smtClean="0"/>
              <a:t>form the </a:t>
            </a:r>
            <a:r>
              <a:rPr lang="en-US" dirty="0"/>
              <a:t>effective address.</a:t>
            </a:r>
          </a:p>
          <a:p>
            <a:pPr lvl="1"/>
            <a:r>
              <a:rPr lang="en-US" dirty="0" smtClean="0"/>
              <a:t>Register-Register </a:t>
            </a:r>
            <a:r>
              <a:rPr lang="en-US" dirty="0"/>
              <a:t>ALU instruction: The ALU performs the </a:t>
            </a:r>
            <a:r>
              <a:rPr lang="en-US" dirty="0" smtClean="0"/>
              <a:t>operation specified </a:t>
            </a:r>
            <a:r>
              <a:rPr lang="en-US" dirty="0"/>
              <a:t>by the ALU opcode on the values read from the register file</a:t>
            </a:r>
            <a:r>
              <a:rPr lang="en-US" dirty="0" smtClean="0"/>
              <a:t>. </a:t>
            </a:r>
            <a:endParaRPr lang="en-US" dirty="0"/>
          </a:p>
          <a:p>
            <a:pPr lvl="1"/>
            <a:r>
              <a:rPr lang="en-US" dirty="0" smtClean="0"/>
              <a:t>Register-Immediate </a:t>
            </a:r>
            <a:r>
              <a:rPr lang="en-US" dirty="0"/>
              <a:t>ALU instruction: The ALU performs the </a:t>
            </a:r>
            <a:r>
              <a:rPr lang="en-US" dirty="0" smtClean="0"/>
              <a:t>operation specified </a:t>
            </a:r>
            <a:r>
              <a:rPr lang="en-US" dirty="0"/>
              <a:t>by the ALU opcode on the first value read from the register </a:t>
            </a:r>
            <a:r>
              <a:rPr lang="en-US" dirty="0" smtClean="0"/>
              <a:t>file and </a:t>
            </a:r>
            <a:r>
              <a:rPr lang="en-US" dirty="0"/>
              <a:t>the sign-extended immediate.</a:t>
            </a:r>
          </a:p>
          <a:p>
            <a:r>
              <a:rPr lang="en-US" dirty="0"/>
              <a:t>In a load-store architecture the effective address and execution </a:t>
            </a:r>
            <a:r>
              <a:rPr lang="en-US" dirty="0" smtClean="0"/>
              <a:t>cycles can </a:t>
            </a:r>
            <a:r>
              <a:rPr lang="en-US" dirty="0"/>
              <a:t>be combined into a single clock cycle, since no </a:t>
            </a:r>
            <a:r>
              <a:rPr lang="en-US" dirty="0" smtClean="0"/>
              <a:t>instruction </a:t>
            </a:r>
            <a:r>
              <a:rPr lang="en-US" dirty="0"/>
              <a:t>needs </a:t>
            </a:r>
            <a:r>
              <a:rPr lang="en-US" dirty="0" smtClean="0"/>
              <a:t>to simultaneously </a:t>
            </a:r>
            <a:r>
              <a:rPr lang="en-US" dirty="0"/>
              <a:t>calculate a data address and perform an operation on </a:t>
            </a:r>
            <a:r>
              <a:rPr lang="en-US" dirty="0" smtClean="0"/>
              <a:t>the data.</a:t>
            </a:r>
          </a:p>
          <a:p>
            <a:r>
              <a:rPr lang="en-US" dirty="0"/>
              <a:t>4. </a:t>
            </a:r>
            <a:r>
              <a:rPr lang="en-US" i="1" dirty="0"/>
              <a:t>Memory access </a:t>
            </a:r>
            <a:r>
              <a:rPr lang="en-US" dirty="0"/>
              <a:t>(MEM</a:t>
            </a:r>
            <a:r>
              <a:rPr lang="en-US" dirty="0" smtClean="0"/>
              <a:t>): If </a:t>
            </a:r>
            <a:r>
              <a:rPr lang="en-US" dirty="0"/>
              <a:t>the instruction is a load, memory does a read using the effective </a:t>
            </a:r>
            <a:r>
              <a:rPr lang="en-US" dirty="0" smtClean="0"/>
              <a:t>address computed </a:t>
            </a:r>
            <a:r>
              <a:rPr lang="en-US" dirty="0"/>
              <a:t>in the previous cycle. If it is a store, then the memory writes </a:t>
            </a:r>
            <a:r>
              <a:rPr lang="en-US" dirty="0" smtClean="0"/>
              <a:t>the data </a:t>
            </a:r>
            <a:r>
              <a:rPr lang="en-US" dirty="0"/>
              <a:t>from the second register read from the register file using the </a:t>
            </a:r>
            <a:r>
              <a:rPr lang="en-US" dirty="0" smtClean="0"/>
              <a:t>effective address.</a:t>
            </a:r>
          </a:p>
          <a:p>
            <a:r>
              <a:rPr lang="en-US" dirty="0"/>
              <a:t>5. </a:t>
            </a:r>
            <a:r>
              <a:rPr lang="en-US" i="1" dirty="0"/>
              <a:t>Write-back cycle </a:t>
            </a:r>
            <a:r>
              <a:rPr lang="en-US" dirty="0"/>
              <a:t>(WB):</a:t>
            </a:r>
          </a:p>
          <a:p>
            <a:r>
              <a:rPr lang="en-US" dirty="0"/>
              <a:t>• Register-Register ALU instruction or Load instruction</a:t>
            </a:r>
            <a:r>
              <a:rPr lang="en-US" dirty="0" smtClean="0"/>
              <a:t>: Write </a:t>
            </a:r>
            <a:r>
              <a:rPr lang="en-US" dirty="0"/>
              <a:t>the result into the register file, whether it comes from the </a:t>
            </a:r>
            <a:r>
              <a:rPr lang="en-US" dirty="0" smtClean="0"/>
              <a:t>memory system </a:t>
            </a:r>
            <a:r>
              <a:rPr lang="en-US" dirty="0"/>
              <a:t>(for a load) or from the ALU (for an ALU instruction).</a:t>
            </a:r>
            <a:endParaRPr lang="en-US" dirty="0"/>
          </a:p>
        </p:txBody>
      </p:sp>
    </p:spTree>
    <p:extLst>
      <p:ext uri="{BB962C8B-B14F-4D97-AF65-F5344CB8AC3E}">
        <p14:creationId xmlns:p14="http://schemas.microsoft.com/office/powerpoint/2010/main" val="290808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Classic Five-Stage Pipeline for a RISC Processor</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 this </a:t>
            </a:r>
            <a:r>
              <a:rPr lang="en-US" dirty="0"/>
              <a:t>and the following sections, we will make our RISC pipeline "real" by </a:t>
            </a:r>
            <a:r>
              <a:rPr lang="en-US" dirty="0" smtClean="0"/>
              <a:t>dealing with </a:t>
            </a:r>
            <a:r>
              <a:rPr lang="en-US" dirty="0"/>
              <a:t>problems that pipelining introduces</a:t>
            </a:r>
            <a:r>
              <a:rPr lang="en-US" dirty="0" smtClean="0"/>
              <a:t>.</a:t>
            </a:r>
          </a:p>
          <a:p>
            <a:r>
              <a:rPr lang="en-US" dirty="0"/>
              <a:t>To start with, we have to determine what happens on every clock cycle of </a:t>
            </a:r>
            <a:r>
              <a:rPr lang="en-US" dirty="0" smtClean="0"/>
              <a:t>the processor </a:t>
            </a:r>
            <a:r>
              <a:rPr lang="en-US" dirty="0"/>
              <a:t>and make sure we don't try to perform two different operations </a:t>
            </a:r>
            <a:r>
              <a:rPr lang="en-US" dirty="0" smtClean="0"/>
              <a:t>with the </a:t>
            </a:r>
            <a:r>
              <a:rPr lang="en-US" dirty="0"/>
              <a:t>same data path resource on the same clock cycle. For example, a single </a:t>
            </a:r>
            <a:r>
              <a:rPr lang="en-US" dirty="0" smtClean="0"/>
              <a:t>ALU cannot </a:t>
            </a:r>
            <a:r>
              <a:rPr lang="en-US" dirty="0"/>
              <a:t>be asked to compute an effective address and perform a subtract </a:t>
            </a:r>
            <a:r>
              <a:rPr lang="en-US" dirty="0" smtClean="0"/>
              <a:t>operation at </a:t>
            </a:r>
            <a:r>
              <a:rPr lang="en-US" dirty="0"/>
              <a:t>the same time. Thus, we must ensure that the overlap of instructions in </a:t>
            </a:r>
            <a:r>
              <a:rPr lang="en-US" dirty="0" smtClean="0"/>
              <a:t>the pipeline </a:t>
            </a:r>
            <a:r>
              <a:rPr lang="en-US" dirty="0"/>
              <a:t>cannot cause such a conflict. Fortunately, the simplicity of a </a:t>
            </a:r>
            <a:r>
              <a:rPr lang="en-US" dirty="0" smtClean="0"/>
              <a:t>RISC instruction </a:t>
            </a:r>
            <a:r>
              <a:rPr lang="en-US" dirty="0"/>
              <a:t>set makes resource evaluation relatively easy. Figure A.2 shows </a:t>
            </a:r>
            <a:r>
              <a:rPr lang="en-US" dirty="0" smtClean="0"/>
              <a:t>a simplified </a:t>
            </a:r>
            <a:r>
              <a:rPr lang="en-US" dirty="0"/>
              <a:t>version of a RISC data path drawn in pipeline fashion. As you can </a:t>
            </a:r>
            <a:r>
              <a:rPr lang="en-US" dirty="0" smtClean="0"/>
              <a:t>see, the </a:t>
            </a:r>
            <a:r>
              <a:rPr lang="en-US" dirty="0"/>
              <a:t>major functional units are used in different cycles, and hence overlapping </a:t>
            </a:r>
            <a:r>
              <a:rPr lang="en-US" dirty="0" smtClean="0"/>
              <a:t>the execution </a:t>
            </a:r>
            <a:r>
              <a:rPr lang="en-US" dirty="0"/>
              <a:t>of multiple instructions introduces relatively few conflicts. There </a:t>
            </a:r>
            <a:r>
              <a:rPr lang="en-US" dirty="0" smtClean="0"/>
              <a:t>are three </a:t>
            </a:r>
            <a:r>
              <a:rPr lang="en-US" dirty="0"/>
              <a:t>observations on which this fact rests</a:t>
            </a:r>
            <a:r>
              <a:rPr lang="en-US" dirty="0" smtClean="0"/>
              <a:t>.</a:t>
            </a:r>
          </a:p>
          <a:p>
            <a:r>
              <a:rPr lang="en-US" dirty="0"/>
              <a:t>First, we use separate instruction and data memories, which we would </a:t>
            </a:r>
            <a:r>
              <a:rPr lang="en-US" dirty="0" smtClean="0"/>
              <a:t>typically implement </a:t>
            </a:r>
            <a:r>
              <a:rPr lang="en-US" dirty="0"/>
              <a:t>with separate instruction and data caches (discussed in </a:t>
            </a:r>
            <a:r>
              <a:rPr lang="en-US" dirty="0" smtClean="0"/>
              <a:t>Chapter 5</a:t>
            </a:r>
            <a:r>
              <a:rPr lang="en-US" dirty="0"/>
              <a:t>). The use of separate caches eliminates a conflict for a single memory </a:t>
            </a:r>
            <a:r>
              <a:rPr lang="en-US" dirty="0" smtClean="0"/>
              <a:t>that would </a:t>
            </a:r>
            <a:r>
              <a:rPr lang="en-US" dirty="0"/>
              <a:t>arise between instruction fetch and data memory access. Notice that if </a:t>
            </a:r>
            <a:r>
              <a:rPr lang="en-US" dirty="0" smtClean="0"/>
              <a:t>our pipelined </a:t>
            </a:r>
            <a:r>
              <a:rPr lang="en-US" dirty="0"/>
              <a:t>processor has a clock cycle that is equal to that of the </a:t>
            </a:r>
            <a:r>
              <a:rPr lang="en-US" dirty="0" err="1"/>
              <a:t>unpipelined</a:t>
            </a:r>
            <a:r>
              <a:rPr lang="en-US" dirty="0"/>
              <a:t> version</a:t>
            </a:r>
            <a:r>
              <a:rPr lang="en-US" dirty="0" smtClean="0"/>
              <a:t>, the </a:t>
            </a:r>
            <a:r>
              <a:rPr lang="en-US" dirty="0"/>
              <a:t>memory system must deliver five times the bandwidth. This </a:t>
            </a:r>
            <a:r>
              <a:rPr lang="en-US" dirty="0" smtClean="0"/>
              <a:t>increased demand </a:t>
            </a:r>
            <a:r>
              <a:rPr lang="en-US" dirty="0"/>
              <a:t>is one cost of higher performance.</a:t>
            </a:r>
          </a:p>
          <a:p>
            <a:r>
              <a:rPr lang="en-US" dirty="0"/>
              <a:t>Second, the register file is used in the two stages: one for reading in ID </a:t>
            </a:r>
            <a:r>
              <a:rPr lang="en-US" dirty="0" smtClean="0"/>
              <a:t>and one </a:t>
            </a:r>
            <a:r>
              <a:rPr lang="en-US" dirty="0"/>
              <a:t>for writing in WB. These uses are distinct, so we simply show the register </a:t>
            </a:r>
            <a:r>
              <a:rPr lang="en-US" dirty="0" smtClean="0"/>
              <a:t>file in </a:t>
            </a:r>
            <a:r>
              <a:rPr lang="en-US" dirty="0"/>
              <a:t>two places. Hence, we need to perform two reads and one write every </a:t>
            </a:r>
            <a:r>
              <a:rPr lang="en-US" dirty="0" smtClean="0"/>
              <a:t>clock cycle</a:t>
            </a:r>
            <a:r>
              <a:rPr lang="en-US" dirty="0"/>
              <a:t>. To handle reads and a write to the same register we perform the register write in the first </a:t>
            </a:r>
            <a:r>
              <a:rPr lang="en-US" dirty="0" smtClean="0"/>
              <a:t>half of </a:t>
            </a:r>
            <a:r>
              <a:rPr lang="en-US" dirty="0"/>
              <a:t>the clock cycle and the read in the second half.</a:t>
            </a:r>
            <a:endParaRPr lang="en-US" dirty="0"/>
          </a:p>
        </p:txBody>
      </p:sp>
    </p:spTree>
    <p:extLst>
      <p:ext uri="{BB962C8B-B14F-4D97-AF65-F5344CB8AC3E}">
        <p14:creationId xmlns:p14="http://schemas.microsoft.com/office/powerpoint/2010/main" val="1576818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 start a new instruction </a:t>
            </a:r>
            <a:r>
              <a:rPr lang="en-US" dirty="0" smtClean="0"/>
              <a:t>every clock</a:t>
            </a:r>
            <a:r>
              <a:rPr lang="en-US" dirty="0"/>
              <a:t>, we must increment and store the PC every clock, and this must be </a:t>
            </a:r>
            <a:r>
              <a:rPr lang="en-US" dirty="0" smtClean="0"/>
              <a:t>done during </a:t>
            </a:r>
            <a:r>
              <a:rPr lang="en-US" dirty="0"/>
              <a:t>the IF stage in preparation for the next instruction. Furthermore, we </a:t>
            </a:r>
            <a:r>
              <a:rPr lang="en-US" dirty="0" smtClean="0"/>
              <a:t>must also </a:t>
            </a:r>
            <a:r>
              <a:rPr lang="en-US" dirty="0"/>
              <a:t>have an adder to compute the potential branch target during ID. One </a:t>
            </a:r>
            <a:r>
              <a:rPr lang="en-US" dirty="0" smtClean="0"/>
              <a:t>further problem </a:t>
            </a:r>
            <a:r>
              <a:rPr lang="en-US" dirty="0"/>
              <a:t>is that a branch does not change the PC until the ID stage. This causes </a:t>
            </a:r>
            <a:r>
              <a:rPr lang="en-US" dirty="0" smtClean="0"/>
              <a:t>a problem</a:t>
            </a:r>
            <a:r>
              <a:rPr lang="en-US" dirty="0"/>
              <a:t>, which we ignore for now, but will handle shortly</a:t>
            </a:r>
            <a:r>
              <a:rPr lang="en-US" dirty="0" smtClean="0"/>
              <a:t>.</a:t>
            </a:r>
          </a:p>
          <a:p>
            <a:endParaRPr lang="en-US" dirty="0"/>
          </a:p>
          <a:p>
            <a:r>
              <a:rPr lang="en-US" dirty="0"/>
              <a:t>Although it is critical to ensure that instructions in the pipeline do not </a:t>
            </a:r>
            <a:r>
              <a:rPr lang="en-US" dirty="0" smtClean="0"/>
              <a:t>attempt to </a:t>
            </a:r>
            <a:r>
              <a:rPr lang="en-US" dirty="0"/>
              <a:t>use the hardware resources at the same time, we must also ensure that </a:t>
            </a:r>
            <a:r>
              <a:rPr lang="en-US" dirty="0" smtClean="0"/>
              <a:t>instructions in </a:t>
            </a:r>
            <a:r>
              <a:rPr lang="en-US" dirty="0"/>
              <a:t>different stages of the pipeline do not interfere with one another. </a:t>
            </a:r>
            <a:r>
              <a:rPr lang="en-US" dirty="0" smtClean="0"/>
              <a:t>This separation </a:t>
            </a:r>
            <a:r>
              <a:rPr lang="en-US" dirty="0"/>
              <a:t>is done by introducing </a:t>
            </a:r>
            <a:r>
              <a:rPr lang="en-US" i="1" dirty="0"/>
              <a:t>pipeline registers </a:t>
            </a:r>
            <a:r>
              <a:rPr lang="en-US" dirty="0"/>
              <a:t>between successive stages </a:t>
            </a:r>
            <a:r>
              <a:rPr lang="en-US" dirty="0" smtClean="0"/>
              <a:t>of the </a:t>
            </a:r>
            <a:r>
              <a:rPr lang="en-US" dirty="0"/>
              <a:t>pipeline, so that at the end of a clock cycle all the results from a given </a:t>
            </a:r>
            <a:r>
              <a:rPr lang="en-US" dirty="0" smtClean="0"/>
              <a:t>stage are </a:t>
            </a:r>
            <a:r>
              <a:rPr lang="en-US" dirty="0"/>
              <a:t>stored into a register that is used as the input to the next stage on the </a:t>
            </a:r>
            <a:r>
              <a:rPr lang="en-US" dirty="0" smtClean="0"/>
              <a:t>next clock </a:t>
            </a:r>
            <a:r>
              <a:rPr lang="en-US" dirty="0"/>
              <a:t>cycle.</a:t>
            </a:r>
            <a:endParaRPr lang="en-US" dirty="0"/>
          </a:p>
        </p:txBody>
      </p:sp>
    </p:spTree>
    <p:extLst>
      <p:ext uri="{BB962C8B-B14F-4D97-AF65-F5344CB8AC3E}">
        <p14:creationId xmlns:p14="http://schemas.microsoft.com/office/powerpoint/2010/main" val="1014552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Pipeline Hazards</a:t>
            </a:r>
            <a:endParaRPr lang="en-US" dirty="0"/>
          </a:p>
        </p:txBody>
      </p:sp>
      <p:sp>
        <p:nvSpPr>
          <p:cNvPr id="3" name="Content Placeholder 2"/>
          <p:cNvSpPr>
            <a:spLocks noGrp="1"/>
          </p:cNvSpPr>
          <p:nvPr>
            <p:ph idx="1"/>
          </p:nvPr>
        </p:nvSpPr>
        <p:spPr/>
        <p:txBody>
          <a:bodyPr/>
          <a:lstStyle/>
          <a:p>
            <a:r>
              <a:rPr lang="en-US" dirty="0" smtClean="0"/>
              <a:t>Read from textbook and refer to class notes</a:t>
            </a:r>
            <a:endParaRPr lang="en-US" dirty="0"/>
          </a:p>
        </p:txBody>
      </p:sp>
    </p:spTree>
    <p:extLst>
      <p:ext uri="{BB962C8B-B14F-4D97-AF65-F5344CB8AC3E}">
        <p14:creationId xmlns:p14="http://schemas.microsoft.com/office/powerpoint/2010/main" val="852129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39489" y="319898"/>
            <a:ext cx="9414150" cy="2815188"/>
          </a:xfrm>
          <a:prstGeom prst="rect">
            <a:avLst/>
          </a:prstGeom>
        </p:spPr>
      </p:pic>
      <p:pic>
        <p:nvPicPr>
          <p:cNvPr id="3" name="Picture 2"/>
          <p:cNvPicPr>
            <a:picLocks noChangeAspect="1"/>
          </p:cNvPicPr>
          <p:nvPr/>
        </p:nvPicPr>
        <p:blipFill>
          <a:blip r:embed="rId3"/>
          <a:stretch>
            <a:fillRect/>
          </a:stretch>
        </p:blipFill>
        <p:spPr>
          <a:xfrm>
            <a:off x="487897" y="3703260"/>
            <a:ext cx="8540590" cy="1156124"/>
          </a:xfrm>
          <a:prstGeom prst="rect">
            <a:avLst/>
          </a:prstGeom>
        </p:spPr>
      </p:pic>
    </p:spTree>
    <p:extLst>
      <p:ext uri="{BB962C8B-B14F-4D97-AF65-F5344CB8AC3E}">
        <p14:creationId xmlns:p14="http://schemas.microsoft.com/office/powerpoint/2010/main" val="22934216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5401" y="1685109"/>
            <a:ext cx="11494761" cy="2351655"/>
          </a:xfrm>
          <a:prstGeom prst="rect">
            <a:avLst/>
          </a:prstGeom>
        </p:spPr>
      </p:pic>
    </p:spTree>
    <p:extLst>
      <p:ext uri="{BB962C8B-B14F-4D97-AF65-F5344CB8AC3E}">
        <p14:creationId xmlns:p14="http://schemas.microsoft.com/office/powerpoint/2010/main" val="8057397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0350" y="1280161"/>
            <a:ext cx="10442474" cy="3730546"/>
          </a:xfrm>
          <a:prstGeom prst="rect">
            <a:avLst/>
          </a:prstGeom>
        </p:spPr>
      </p:pic>
    </p:spTree>
    <p:extLst>
      <p:ext uri="{BB962C8B-B14F-4D97-AF65-F5344CB8AC3E}">
        <p14:creationId xmlns:p14="http://schemas.microsoft.com/office/powerpoint/2010/main" val="342493029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4025" t="1172" b="-1"/>
          <a:stretch/>
        </p:blipFill>
        <p:spPr>
          <a:xfrm>
            <a:off x="235131" y="274320"/>
            <a:ext cx="11800113" cy="6775466"/>
          </a:xfrm>
          <a:prstGeom prst="rect">
            <a:avLst/>
          </a:prstGeom>
        </p:spPr>
      </p:pic>
    </p:spTree>
    <p:extLst>
      <p:ext uri="{BB962C8B-B14F-4D97-AF65-F5344CB8AC3E}">
        <p14:creationId xmlns:p14="http://schemas.microsoft.com/office/powerpoint/2010/main" val="19133165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1165" y="1619794"/>
            <a:ext cx="11119192" cy="3450354"/>
          </a:xfrm>
          <a:prstGeom prst="rect">
            <a:avLst/>
          </a:prstGeom>
        </p:spPr>
      </p:pic>
    </p:spTree>
    <p:extLst>
      <p:ext uri="{BB962C8B-B14F-4D97-AF65-F5344CB8AC3E}">
        <p14:creationId xmlns:p14="http://schemas.microsoft.com/office/powerpoint/2010/main" val="16732600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835615"/>
          </a:xfrm>
        </p:spPr>
        <p:txBody>
          <a:bodyPr/>
          <a:lstStyle/>
          <a:p>
            <a:r>
              <a:rPr lang="en-US" dirty="0" smtClean="0"/>
              <a:t>Exceptions in Pipelining</a:t>
            </a:r>
            <a:endParaRPr lang="en-US" dirty="0"/>
          </a:p>
        </p:txBody>
      </p:sp>
      <p:pic>
        <p:nvPicPr>
          <p:cNvPr id="3" name="Picture 2"/>
          <p:cNvPicPr>
            <a:picLocks noChangeAspect="1"/>
          </p:cNvPicPr>
          <p:nvPr/>
        </p:nvPicPr>
        <p:blipFill>
          <a:blip r:embed="rId2"/>
          <a:stretch>
            <a:fillRect/>
          </a:stretch>
        </p:blipFill>
        <p:spPr>
          <a:xfrm>
            <a:off x="1097280" y="1335565"/>
            <a:ext cx="9777851" cy="4274734"/>
          </a:xfrm>
          <a:prstGeom prst="rect">
            <a:avLst/>
          </a:prstGeom>
        </p:spPr>
      </p:pic>
    </p:spTree>
    <p:extLst>
      <p:ext uri="{BB962C8B-B14F-4D97-AF65-F5344CB8AC3E}">
        <p14:creationId xmlns:p14="http://schemas.microsoft.com/office/powerpoint/2010/main" val="205525635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35</TotalTime>
  <Words>2298</Words>
  <Application>Microsoft Office PowerPoint</Application>
  <PresentationFormat>Widescreen</PresentationFormat>
  <Paragraphs>43</Paragraphs>
  <Slides>25</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Calibri</vt:lpstr>
      <vt:lpstr>Calibri Light</vt:lpstr>
      <vt:lpstr>Retrospect</vt:lpstr>
      <vt:lpstr>Pipelining  References:  Computer Architecture: A Quantitative Approach – Hennessy and Patterson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Pipelining?</vt:lpstr>
      <vt:lpstr>PowerPoint Presentation</vt:lpstr>
      <vt:lpstr>RISC Instruction Set</vt:lpstr>
      <vt:lpstr>PowerPoint Presentation</vt:lpstr>
      <vt:lpstr>PowerPoint Presentation</vt:lpstr>
      <vt:lpstr>A Simple Implementation of a RISC Instruction Set</vt:lpstr>
      <vt:lpstr>PowerPoint Presentation</vt:lpstr>
      <vt:lpstr>PowerPoint Presentation</vt:lpstr>
      <vt:lpstr>The Classic Five-Stage Pipeline for a RISC Processor</vt:lpstr>
      <vt:lpstr>PowerPoint Presentation</vt:lpstr>
      <vt:lpstr>Pipeline Hazards</vt:lpstr>
      <vt:lpstr>PowerPoint Presentation</vt:lpstr>
      <vt:lpstr>PowerPoint Presentation</vt:lpstr>
      <vt:lpstr>PowerPoint Presentation</vt:lpstr>
      <vt:lpstr>PowerPoint Presentation</vt:lpstr>
      <vt:lpstr>PowerPoint Presentation</vt:lpstr>
      <vt:lpstr>Exceptions in Pipelining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Pipelining</dc:title>
  <dc:creator>Dolly Sharma</dc:creator>
  <cp:keywords/>
  <cp:lastModifiedBy>Dolly Sharma</cp:lastModifiedBy>
  <cp:revision>7</cp:revision>
  <dcterms:created xsi:type="dcterms:W3CDTF">2019-02-21T16:22:39Z</dcterms:created>
  <dcterms:modified xsi:type="dcterms:W3CDTF">2019-02-21T16:58:14Z</dcterms:modified>
  <cp:version/>
</cp:coreProperties>
</file>