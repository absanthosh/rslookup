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29E24C9-7E53-4EEF-B7E6-9F380DB3E15A}" type="datetimeFigureOut">
              <a:rPr lang="en-US" smtClean="0"/>
              <a:t>2/11/2019</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47C3FB0B-9D11-4EB2-A2E6-158DF6FC7540}" type="slidenum">
              <a:rPr lang="en-US" smtClean="0"/>
              <a:t>‹#›</a:t>
            </a:fld>
            <a:endParaRPr lang="en-US"/>
          </a:p>
        </p:txBody>
      </p:sp>
    </p:spTree>
    <p:extLst>
      <p:ext uri="{BB962C8B-B14F-4D97-AF65-F5344CB8AC3E}">
        <p14:creationId xmlns:p14="http://schemas.microsoft.com/office/powerpoint/2010/main" val="2398977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9E24C9-7E53-4EEF-B7E6-9F380DB3E15A}" type="datetimeFigureOut">
              <a:rPr lang="en-US" smtClean="0"/>
              <a:t>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47C3FB0B-9D11-4EB2-A2E6-158DF6FC7540}" type="slidenum">
              <a:rPr lang="en-US" smtClean="0"/>
              <a:t>‹#›</a:t>
            </a:fld>
            <a:endParaRPr lang="en-US"/>
          </a:p>
        </p:txBody>
      </p:sp>
    </p:spTree>
    <p:extLst>
      <p:ext uri="{BB962C8B-B14F-4D97-AF65-F5344CB8AC3E}">
        <p14:creationId xmlns:p14="http://schemas.microsoft.com/office/powerpoint/2010/main" val="608744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429E24C9-7E53-4EEF-B7E6-9F380DB3E15A}" type="datetimeFigureOut">
              <a:rPr lang="en-US" smtClean="0"/>
              <a:t>2/11/2019</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47C3FB0B-9D11-4EB2-A2E6-158DF6FC7540}" type="slidenum">
              <a:rPr lang="en-US" smtClean="0"/>
              <a:t>‹#›</a:t>
            </a:fld>
            <a:endParaRPr lang="en-US"/>
          </a:p>
        </p:txBody>
      </p:sp>
    </p:spTree>
    <p:extLst>
      <p:ext uri="{BB962C8B-B14F-4D97-AF65-F5344CB8AC3E}">
        <p14:creationId xmlns:p14="http://schemas.microsoft.com/office/powerpoint/2010/main" val="3438799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29E24C9-7E53-4EEF-B7E6-9F380DB3E15A}" type="datetimeFigureOut">
              <a:rPr lang="en-US" smtClean="0"/>
              <a:t>2/11/2019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3FB0B-9D11-4EB2-A2E6-158DF6FC7540}" type="slidenum">
              <a:rPr lang="en-US" smtClean="0"/>
              <a:t>‹#›</a:t>
            </a:fld>
            <a:endParaRPr lang="en-US"/>
          </a:p>
        </p:txBody>
      </p:sp>
    </p:spTree>
    <p:extLst>
      <p:ext uri="{BB962C8B-B14F-4D97-AF65-F5344CB8AC3E}">
        <p14:creationId xmlns:p14="http://schemas.microsoft.com/office/powerpoint/2010/main" val="33975288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29E24C9-7E53-4EEF-B7E6-9F380DB3E15A}" type="datetimeFigureOut">
              <a:rPr lang="en-US" smtClean="0"/>
              <a:t>2/11/2019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C3FB0B-9D11-4EB2-A2E6-158DF6FC7540}" type="slidenum">
              <a:rPr lang="en-US" smtClean="0"/>
              <a:t>‹#›</a:t>
            </a:fld>
            <a:endParaRPr lang="en-US"/>
          </a:p>
        </p:txBody>
      </p:sp>
    </p:spTree>
    <p:extLst>
      <p:ext uri="{BB962C8B-B14F-4D97-AF65-F5344CB8AC3E}">
        <p14:creationId xmlns:p14="http://schemas.microsoft.com/office/powerpoint/2010/main" val="16256261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29E24C9-7E53-4EEF-B7E6-9F380DB3E15A}" type="datetimeFigureOut">
              <a:rPr lang="en-US" smtClean="0"/>
              <a:t>2/11/2019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C3FB0B-9D11-4EB2-A2E6-158DF6FC7540}" type="slidenum">
              <a:rPr lang="en-US" smtClean="0"/>
              <a:t>‹#›</a:t>
            </a:fld>
            <a:endParaRPr lang="en-US"/>
          </a:p>
        </p:txBody>
      </p:sp>
    </p:spTree>
    <p:extLst>
      <p:ext uri="{BB962C8B-B14F-4D97-AF65-F5344CB8AC3E}">
        <p14:creationId xmlns:p14="http://schemas.microsoft.com/office/powerpoint/2010/main" val="966030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9E24C9-7E53-4EEF-B7E6-9F380DB3E15A}" type="datetimeFigureOut">
              <a:rPr lang="en-US" smtClean="0"/>
              <a:t>2/11/2019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C3FB0B-9D11-4EB2-A2E6-158DF6FC7540}" type="slidenum">
              <a:rPr lang="en-US" smtClean="0"/>
              <a:t>‹#›</a:t>
            </a:fld>
            <a:endParaRPr lang="en-US"/>
          </a:p>
        </p:txBody>
      </p:sp>
    </p:spTree>
    <p:extLst>
      <p:ext uri="{BB962C8B-B14F-4D97-AF65-F5344CB8AC3E}">
        <p14:creationId xmlns:p14="http://schemas.microsoft.com/office/powerpoint/2010/main" val="3440273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29E24C9-7E53-4EEF-B7E6-9F380DB3E15A}" type="datetimeFigureOut">
              <a:rPr lang="en-US" smtClean="0"/>
              <a:t>2/11/2019</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47C3FB0B-9D11-4EB2-A2E6-158DF6FC7540}" type="slidenum">
              <a:rPr lang="en-US" smtClean="0"/>
              <a:t>‹#›</a:t>
            </a:fld>
            <a:endParaRPr lang="en-US"/>
          </a:p>
        </p:txBody>
      </p:sp>
    </p:spTree>
    <p:extLst>
      <p:ext uri="{BB962C8B-B14F-4D97-AF65-F5344CB8AC3E}">
        <p14:creationId xmlns:p14="http://schemas.microsoft.com/office/powerpoint/2010/main" val="598051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29E24C9-7E53-4EEF-B7E6-9F380DB3E15A}" type="datetimeFigureOut">
              <a:rPr lang="en-US" smtClean="0"/>
              <a:t>2/11/2019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3FB0B-9D11-4EB2-A2E6-158DF6FC7540}" type="slidenum">
              <a:rPr lang="en-US" smtClean="0"/>
              <a:t>‹#›</a:t>
            </a:fld>
            <a:endParaRPr lang="en-US"/>
          </a:p>
        </p:txBody>
      </p:sp>
    </p:spTree>
    <p:extLst>
      <p:ext uri="{BB962C8B-B14F-4D97-AF65-F5344CB8AC3E}">
        <p14:creationId xmlns:p14="http://schemas.microsoft.com/office/powerpoint/2010/main" val="1469096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9E24C9-7E53-4EEF-B7E6-9F380DB3E15A}" type="datetimeFigureOut">
              <a:rPr lang="en-US" smtClean="0"/>
              <a:t>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3FB0B-9D11-4EB2-A2E6-158DF6FC7540}" type="slidenum">
              <a:rPr lang="en-US" smtClean="0"/>
              <a:t>‹#›</a:t>
            </a:fld>
            <a:endParaRPr lang="en-US"/>
          </a:p>
        </p:txBody>
      </p:sp>
    </p:spTree>
    <p:extLst>
      <p:ext uri="{BB962C8B-B14F-4D97-AF65-F5344CB8AC3E}">
        <p14:creationId xmlns:p14="http://schemas.microsoft.com/office/powerpoint/2010/main" val="3576833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429E24C9-7E53-4EEF-B7E6-9F380DB3E15A}" type="datetimeFigureOut">
              <a:rPr lang="en-US" smtClean="0"/>
              <a:t>2/11/2019</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47C3FB0B-9D11-4EB2-A2E6-158DF6FC7540}" type="slidenum">
              <a:rPr lang="en-US" smtClean="0"/>
              <a:t>‹#›</a:t>
            </a:fld>
            <a:endParaRPr lang="en-US"/>
          </a:p>
        </p:txBody>
      </p:sp>
    </p:spTree>
    <p:extLst>
      <p:ext uri="{BB962C8B-B14F-4D97-AF65-F5344CB8AC3E}">
        <p14:creationId xmlns:p14="http://schemas.microsoft.com/office/powerpoint/2010/main" val="70114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429E24C9-7E53-4EEF-B7E6-9F380DB3E15A}" type="datetimeFigureOut">
              <a:rPr lang="en-US" smtClean="0"/>
              <a:t>2/11/2019</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47C3FB0B-9D11-4EB2-A2E6-158DF6FC7540}"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258540320"/>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Principles of Scalable Performance</a:t>
            </a:r>
            <a:endParaRPr lang="en-US" dirty="0"/>
          </a:p>
        </p:txBody>
      </p:sp>
      <p:sp>
        <p:nvSpPr>
          <p:cNvPr id="3" name="Subtitle 2"/>
          <p:cNvSpPr>
            <a:spLocks noGrp="1"/>
          </p:cNvSpPr>
          <p:nvPr>
            <p:ph type="subTitle" idx="1"/>
          </p:nvPr>
        </p:nvSpPr>
        <p:spPr/>
        <p:txBody>
          <a:bodyPr/>
          <a:lstStyle/>
          <a:p>
            <a:pPr algn="ctr"/>
            <a:r>
              <a:rPr lang="en-US" dirty="0" smtClean="0"/>
              <a:t>CSD208 – Computer Architecture</a:t>
            </a:r>
            <a:endParaRPr lang="en-US" dirty="0"/>
          </a:p>
        </p:txBody>
      </p:sp>
    </p:spTree>
    <p:extLst>
      <p:ext uri="{BB962C8B-B14F-4D97-AF65-F5344CB8AC3E}">
        <p14:creationId xmlns:p14="http://schemas.microsoft.com/office/powerpoint/2010/main" val="13910501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Parallelism profile in programs</a:t>
            </a:r>
            <a:endParaRPr lang="en-US" dirty="0"/>
          </a:p>
        </p:txBody>
      </p:sp>
      <p:sp>
        <p:nvSpPr>
          <p:cNvPr id="3" name="Content Placeholder 2"/>
          <p:cNvSpPr>
            <a:spLocks noGrp="1"/>
          </p:cNvSpPr>
          <p:nvPr>
            <p:ph idx="1"/>
          </p:nvPr>
        </p:nvSpPr>
        <p:spPr/>
        <p:txBody>
          <a:bodyPr>
            <a:normAutofit/>
          </a:bodyPr>
          <a:lstStyle/>
          <a:p>
            <a:r>
              <a:rPr lang="en-US" dirty="0" smtClean="0"/>
              <a:t>The execution of a program on a parallel computer may use different number of parallel processors at different time periods during the execution cycle. </a:t>
            </a:r>
          </a:p>
          <a:p>
            <a:r>
              <a:rPr lang="en-US" dirty="0" smtClean="0"/>
              <a:t>For, each time period, the number of processors used to execute a program is defined as the </a:t>
            </a:r>
            <a:r>
              <a:rPr lang="en-US" b="1" i="1" dirty="0" smtClean="0"/>
              <a:t>degree of parallelism (DOP)</a:t>
            </a:r>
            <a:r>
              <a:rPr lang="en-US" dirty="0" smtClean="0"/>
              <a:t>. </a:t>
            </a:r>
          </a:p>
          <a:p>
            <a:r>
              <a:rPr lang="en-US" dirty="0" smtClean="0"/>
              <a:t>It is a discrete time function, assuming only non-negative integer values. </a:t>
            </a:r>
          </a:p>
          <a:p>
            <a:r>
              <a:rPr lang="en-US" dirty="0" smtClean="0"/>
              <a:t>The plot of DOP as a function of time is the </a:t>
            </a:r>
            <a:r>
              <a:rPr lang="en-US" b="1" u="sng" dirty="0" smtClean="0"/>
              <a:t>Parallelism profile </a:t>
            </a:r>
            <a:r>
              <a:rPr lang="en-US" dirty="0" smtClean="0"/>
              <a:t>of the program. </a:t>
            </a:r>
          </a:p>
          <a:p>
            <a:r>
              <a:rPr lang="en-US" dirty="0" smtClean="0"/>
              <a:t>Fluctuation in the profile occurs due to algorithmic structure, program optimization, resource utilization, and runtime conditions of the computer system.  </a:t>
            </a:r>
            <a:endParaRPr lang="en-US" dirty="0"/>
          </a:p>
        </p:txBody>
      </p:sp>
      <p:sp>
        <p:nvSpPr>
          <p:cNvPr id="4" name="TextBox 3"/>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20979555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Efficiency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Let T(n) be the execution time in unit time steps. </a:t>
                </a:r>
              </a:p>
              <a:p>
                <a:r>
                  <a:rPr lang="en-US" dirty="0" smtClean="0"/>
                  <a:t>In general T(n) &lt; O(n), if more than one operation is performed by n processors per unit time, where n&gt;=2. </a:t>
                </a:r>
              </a:p>
              <a:p>
                <a:r>
                  <a:rPr lang="en-US" dirty="0" smtClean="0"/>
                  <a:t>Assume, T(1) = O(1) in a uniprocessor system. </a:t>
                </a:r>
              </a:p>
              <a:p>
                <a:r>
                  <a:rPr lang="en-US" dirty="0" smtClean="0"/>
                  <a:t>Speedup, S(n) = T(1)/T(n)</a:t>
                </a:r>
              </a:p>
              <a:p>
                <a:r>
                  <a:rPr lang="en-US" dirty="0" smtClean="0"/>
                  <a:t>System efficiency, E(n)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num>
                      <m:den>
                        <m:r>
                          <a:rPr lang="en-US" b="0" i="1" smtClean="0">
                            <a:latin typeface="Cambria Math" panose="02040503050406030204" pitchFamily="18" charset="0"/>
                          </a:rPr>
                          <m:t>𝑛</m:t>
                        </m:r>
                      </m:den>
                    </m:f>
                  </m:oMath>
                </a14:m>
                <a:r>
                  <a:rPr lang="en-US" dirty="0" smtClean="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𝑇</m:t>
                        </m:r>
                        <m:r>
                          <a:rPr lang="en-US" b="0" i="1" smtClean="0">
                            <a:latin typeface="Cambria Math" panose="02040503050406030204" pitchFamily="18" charset="0"/>
                          </a:rPr>
                          <m:t>(1)</m:t>
                        </m:r>
                      </m:num>
                      <m:den>
                        <m:r>
                          <a:rPr lang="en-US" b="0" i="1" smtClean="0">
                            <a:latin typeface="Cambria Math" panose="02040503050406030204" pitchFamily="18" charset="0"/>
                          </a:rPr>
                          <m:t>𝑛𝑇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den>
                    </m:f>
                  </m:oMath>
                </a14:m>
                <a:endParaRPr lang="en-US" dirty="0" smtClean="0"/>
              </a:p>
              <a:p>
                <a:r>
                  <a:rPr lang="en-US" dirty="0" smtClean="0"/>
                  <a:t>System efficiency is an indication of actual degree of speedup performance as compared with the maximum value. </a:t>
                </a:r>
                <a:endParaRPr lang="en-US" dirty="0"/>
              </a:p>
              <a:p>
                <a:r>
                  <a:rPr lang="en-US" dirty="0" smtClean="0"/>
                  <a:t>Since, 1</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therefore</m:t>
                    </m:r>
                    <m:f>
                      <m:fPr>
                        <m:ctrlPr>
                          <a:rPr lang="en-US" b="0" i="1" smtClean="0">
                            <a:latin typeface="Cambria Math" panose="02040503050406030204" pitchFamily="18" charset="0"/>
                            <a:ea typeface="Cambria Math" panose="02040503050406030204" pitchFamily="18" charset="0"/>
                          </a:rPr>
                        </m:ctrlPr>
                      </m:fPr>
                      <m:num>
                        <m:r>
                          <a:rPr lang="en-US" b="0" i="0" smtClean="0">
                            <a:latin typeface="Cambria Math" panose="02040503050406030204" pitchFamily="18" charset="0"/>
                            <a:ea typeface="Cambria Math" panose="02040503050406030204" pitchFamily="18" charset="0"/>
                          </a:rPr>
                          <m:t>1</m:t>
                        </m:r>
                      </m:num>
                      <m:den>
                        <m:r>
                          <m:rPr>
                            <m:sty m:val="p"/>
                          </m:rPr>
                          <a:rPr lang="en-US" b="0" i="0" smtClean="0">
                            <a:latin typeface="Cambria Math" panose="02040503050406030204" pitchFamily="18" charset="0"/>
                            <a:ea typeface="Cambria Math" panose="02040503050406030204" pitchFamily="18" charset="0"/>
                          </a:rPr>
                          <m:t>n</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21" r="-276"/>
                </a:stretch>
              </a:blipFill>
            </p:spPr>
            <p:txBody>
              <a:bodyPr/>
              <a:lstStyle/>
              <a:p>
                <a:r>
                  <a:rPr lang="en-US">
                    <a:noFill/>
                  </a:rPr>
                  <a:t> </a:t>
                </a:r>
              </a:p>
            </p:txBody>
          </p:sp>
        </mc:Fallback>
      </mc:AlternateContent>
    </p:spTree>
    <p:extLst>
      <p:ext uri="{BB962C8B-B14F-4D97-AF65-F5344CB8AC3E}">
        <p14:creationId xmlns:p14="http://schemas.microsoft.com/office/powerpoint/2010/main" val="13479763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Redundancy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Redundancy in a parallel computation is defined as a ratio of O(n) and O(1). </a:t>
                </a:r>
              </a:p>
              <a:p>
                <a:r>
                  <a:rPr lang="en-US" dirty="0" smtClean="0"/>
                  <a:t>R(n)=O(n)/O(1).</a:t>
                </a:r>
              </a:p>
              <a:p>
                <a:r>
                  <a:rPr lang="en-US" dirty="0" smtClean="0"/>
                  <a:t>The ratio signifies the extent of matching between software parallelism and hardware parallelism.</a:t>
                </a:r>
              </a:p>
              <a:p>
                <a:r>
                  <a:rPr lang="en-US" dirty="0" smtClean="0"/>
                  <a:t>System Utilization, U(n) = R(n)E(n)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num>
                      <m:den>
                        <m:r>
                          <a:rPr lang="en-US" b="0" i="1" smtClean="0">
                            <a:latin typeface="Cambria Math" panose="02040503050406030204" pitchFamily="18" charset="0"/>
                          </a:rPr>
                          <m:t>𝑛𝑇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den>
                    </m:f>
                  </m:oMath>
                </a14:m>
                <a:r>
                  <a:rPr lang="en-US" dirty="0" smtClean="0"/>
                  <a:t>.</a:t>
                </a:r>
              </a:p>
              <a:p>
                <a:r>
                  <a:rPr lang="en-US" dirty="0" smtClean="0"/>
                  <a:t>System utilization indicates the percentage of resources that was kept busy during the execution of parallel program.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21"/>
                </a:stretch>
              </a:blipFill>
            </p:spPr>
            <p:txBody>
              <a:bodyPr/>
              <a:lstStyle/>
              <a:p>
                <a:r>
                  <a:rPr lang="en-US">
                    <a:noFill/>
                  </a:rPr>
                  <a:t> </a:t>
                </a:r>
              </a:p>
            </p:txBody>
          </p:sp>
        </mc:Fallback>
      </mc:AlternateContent>
    </p:spTree>
    <p:extLst>
      <p:ext uri="{BB962C8B-B14F-4D97-AF65-F5344CB8AC3E}">
        <p14:creationId xmlns:p14="http://schemas.microsoft.com/office/powerpoint/2010/main" val="74164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of parallelism</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Quality of a parallel computation is directly proportional to the speedup and efficiency and inversely related to the redundancy.</a:t>
                </a:r>
              </a:p>
              <a:p>
                <a:r>
                  <a:rPr lang="en-US" dirty="0" smtClean="0"/>
                  <a:t>Thus, Q(n) = S(n)E(n)/R(n)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𝑇</m:t>
                        </m:r>
                        <m:r>
                          <a:rPr lang="en-US" b="0" i="1" baseline="30000" smtClean="0">
                            <a:latin typeface="Cambria Math" panose="02040503050406030204" pitchFamily="18" charset="0"/>
                          </a:rPr>
                          <m:t>3</m:t>
                        </m:r>
                        <m:r>
                          <a:rPr lang="en-US" b="0" i="1" smtClean="0">
                            <a:latin typeface="Cambria Math" panose="02040503050406030204" pitchFamily="18" charset="0"/>
                          </a:rPr>
                          <m:t>(1)</m:t>
                        </m:r>
                      </m:num>
                      <m:den>
                        <m:r>
                          <a:rPr lang="en-US" b="0" i="1" smtClean="0">
                            <a:latin typeface="Cambria Math" panose="02040503050406030204" pitchFamily="18" charset="0"/>
                          </a:rPr>
                          <m:t>𝑛𝑇</m:t>
                        </m:r>
                        <m:r>
                          <a:rPr lang="en-US" b="0" i="1" baseline="30000"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den>
                    </m:f>
                  </m:oMath>
                </a14:m>
                <a:r>
                  <a:rPr lang="en-US" dirty="0" smtClean="0"/>
                  <a:t>.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21"/>
                </a:stretch>
              </a:blipFill>
            </p:spPr>
            <p:txBody>
              <a:bodyPr/>
              <a:lstStyle/>
              <a:p>
                <a:r>
                  <a:rPr lang="en-US">
                    <a:noFill/>
                  </a:rPr>
                  <a:t> </a:t>
                </a:r>
              </a:p>
            </p:txBody>
          </p:sp>
        </mc:Fallback>
      </mc:AlternateContent>
    </p:spTree>
    <p:extLst>
      <p:ext uri="{BB962C8B-B14F-4D97-AF65-F5344CB8AC3E}">
        <p14:creationId xmlns:p14="http://schemas.microsoft.com/office/powerpoint/2010/main" val="26707187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2" y="2180496"/>
                <a:ext cx="11029615" cy="4507687"/>
              </a:xfrm>
            </p:spPr>
            <p:txBody>
              <a:bodyPr/>
              <a:lstStyle/>
              <a:p>
                <a:r>
                  <a:rPr lang="en-US" dirty="0" smtClean="0"/>
                  <a:t>O(1) = T(1) = n</a:t>
                </a:r>
                <a:r>
                  <a:rPr lang="en-US" baseline="30000" dirty="0" smtClean="0"/>
                  <a:t>3</a:t>
                </a:r>
              </a:p>
              <a:p>
                <a:r>
                  <a:rPr lang="en-US" dirty="0" smtClean="0"/>
                  <a:t>O(n) = n</a:t>
                </a:r>
                <a:r>
                  <a:rPr lang="en-US" baseline="30000" dirty="0" smtClean="0"/>
                  <a:t>3</a:t>
                </a:r>
                <a:r>
                  <a:rPr lang="en-US" dirty="0" smtClean="0"/>
                  <a:t> + n</a:t>
                </a:r>
                <a:r>
                  <a:rPr lang="en-US" baseline="30000" dirty="0" smtClean="0"/>
                  <a:t>2</a:t>
                </a:r>
                <a:r>
                  <a:rPr lang="en-US" dirty="0" smtClean="0"/>
                  <a:t>logn</a:t>
                </a:r>
              </a:p>
              <a:p>
                <a:r>
                  <a:rPr lang="en-US" dirty="0" smtClean="0"/>
                  <a:t>T(n)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4</m:t>
                        </m:r>
                        <m:r>
                          <a:rPr lang="en-US" b="0" i="1" smtClean="0">
                            <a:latin typeface="Cambria Math" panose="02040503050406030204" pitchFamily="18" charset="0"/>
                          </a:rPr>
                          <m:t>𝑛</m:t>
                        </m:r>
                        <m:r>
                          <a:rPr lang="en-US" b="0" i="1" baseline="30000" smtClean="0">
                            <a:latin typeface="Cambria Math" panose="02040503050406030204" pitchFamily="18" charset="0"/>
                          </a:rPr>
                          <m:t>3</m:t>
                        </m:r>
                      </m:num>
                      <m:den>
                        <m:r>
                          <a:rPr lang="en-US" b="0" i="1" smtClean="0">
                            <a:latin typeface="Cambria Math" panose="02040503050406030204" pitchFamily="18" charset="0"/>
                          </a:rPr>
                          <m:t>𝑛</m:t>
                        </m:r>
                        <m:r>
                          <a:rPr lang="en-US" b="0" i="1" smtClean="0">
                            <a:latin typeface="Cambria Math" panose="02040503050406030204" pitchFamily="18" charset="0"/>
                          </a:rPr>
                          <m:t>+3</m:t>
                        </m:r>
                      </m:den>
                    </m:f>
                  </m:oMath>
                </a14:m>
                <a:endParaRPr lang="en-US" dirty="0" smtClean="0"/>
              </a:p>
              <a:p>
                <a:r>
                  <a:rPr lang="en-US" dirty="0" smtClean="0"/>
                  <a:t>S(n) = </a:t>
                </a:r>
              </a:p>
              <a:p>
                <a:r>
                  <a:rPr lang="en-US" dirty="0" smtClean="0"/>
                  <a:t>E(n) = </a:t>
                </a:r>
              </a:p>
              <a:p>
                <a:r>
                  <a:rPr lang="en-US" dirty="0" smtClean="0"/>
                  <a:t>R(n) = </a:t>
                </a:r>
              </a:p>
              <a:p>
                <a:r>
                  <a:rPr lang="en-US" dirty="0" smtClean="0"/>
                  <a:t>U(n) = </a:t>
                </a:r>
              </a:p>
              <a:p>
                <a:r>
                  <a:rPr lang="en-US" dirty="0" smtClean="0"/>
                  <a:t>Q(n) =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2" y="2180496"/>
                <a:ext cx="11029615" cy="4507687"/>
              </a:xfrm>
              <a:blipFill>
                <a:blip r:embed="rId2"/>
                <a:stretch>
                  <a:fillRect l="-221"/>
                </a:stretch>
              </a:blipFill>
            </p:spPr>
            <p:txBody>
              <a:bodyPr/>
              <a:lstStyle/>
              <a:p>
                <a:r>
                  <a:rPr lang="en-US">
                    <a:noFill/>
                  </a:rPr>
                  <a:t> </a:t>
                </a:r>
              </a:p>
            </p:txBody>
          </p:sp>
        </mc:Fallback>
      </mc:AlternateContent>
    </p:spTree>
    <p:extLst>
      <p:ext uri="{BB962C8B-B14F-4D97-AF65-F5344CB8AC3E}">
        <p14:creationId xmlns:p14="http://schemas.microsoft.com/office/powerpoint/2010/main" val="5349408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Massive parallelism for grand challenges</a:t>
            </a:r>
            <a:endParaRPr lang="en-US" dirty="0"/>
          </a:p>
        </p:txBody>
      </p:sp>
      <p:pic>
        <p:nvPicPr>
          <p:cNvPr id="4" name="Picture 3"/>
          <p:cNvPicPr>
            <a:picLocks noChangeAspect="1"/>
          </p:cNvPicPr>
          <p:nvPr/>
        </p:nvPicPr>
        <p:blipFill rotWithShape="1">
          <a:blip r:embed="rId2"/>
          <a:srcRect l="19935" t="24132" r="19157" b="24479"/>
          <a:stretch/>
        </p:blipFill>
        <p:spPr>
          <a:xfrm>
            <a:off x="581192" y="2140047"/>
            <a:ext cx="7924801" cy="3759200"/>
          </a:xfrm>
          <a:prstGeom prst="rect">
            <a:avLst/>
          </a:prstGeom>
        </p:spPr>
      </p:pic>
    </p:spTree>
    <p:extLst>
      <p:ext uri="{BB962C8B-B14F-4D97-AF65-F5344CB8AC3E}">
        <p14:creationId xmlns:p14="http://schemas.microsoft.com/office/powerpoint/2010/main" val="38492069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Algorithmic characteristics</a:t>
            </a:r>
            <a:endParaRPr lang="en-US" dirty="0"/>
          </a:p>
        </p:txBody>
      </p:sp>
      <p:sp>
        <p:nvSpPr>
          <p:cNvPr id="3" name="Content Placeholder 2"/>
          <p:cNvSpPr>
            <a:spLocks noGrp="1"/>
          </p:cNvSpPr>
          <p:nvPr>
            <p:ph idx="1"/>
          </p:nvPr>
        </p:nvSpPr>
        <p:spPr/>
        <p:txBody>
          <a:bodyPr>
            <a:normAutofit/>
          </a:bodyPr>
          <a:lstStyle/>
          <a:p>
            <a:r>
              <a:rPr lang="en-US" dirty="0"/>
              <a:t>Computational algorithms are traditionally executed sequentially on uniprocessors. Parallel algorithms are those specially devised for parallel computers. </a:t>
            </a:r>
            <a:endParaRPr lang="en-US" dirty="0" smtClean="0"/>
          </a:p>
          <a:p>
            <a:r>
              <a:rPr lang="en-US" dirty="0" smtClean="0"/>
              <a:t>The </a:t>
            </a:r>
            <a:r>
              <a:rPr lang="en-US" dirty="0"/>
              <a:t>idealized parallel algorithms are those written for the PRAM models if no physical constraints or communication overheads are imposed. </a:t>
            </a:r>
            <a:endParaRPr lang="en-US" dirty="0" smtClean="0"/>
          </a:p>
          <a:p>
            <a:r>
              <a:rPr lang="en-US" dirty="0" smtClean="0"/>
              <a:t>In </a:t>
            </a:r>
            <a:r>
              <a:rPr lang="en-US" dirty="0"/>
              <a:t>the real world, an algorithm is considered efficient only if it can be cost effectively implemented on physical machines. In this sense, all </a:t>
            </a:r>
            <a:r>
              <a:rPr lang="en-US" dirty="0" smtClean="0"/>
              <a:t>machine-implementable </a:t>
            </a:r>
            <a:r>
              <a:rPr lang="en-US" dirty="0"/>
              <a:t>algorithms must be architecture-dependent. </a:t>
            </a:r>
          </a:p>
          <a:p>
            <a:r>
              <a:rPr lang="en-US" dirty="0" smtClean="0"/>
              <a:t>This </a:t>
            </a:r>
            <a:r>
              <a:rPr lang="en-US" dirty="0"/>
              <a:t>means the effects of </a:t>
            </a:r>
            <a:r>
              <a:rPr lang="en-US" dirty="0" smtClean="0"/>
              <a:t>communication </a:t>
            </a:r>
            <a:r>
              <a:rPr lang="en-US" dirty="0"/>
              <a:t>overhead and architectural constraints cannot be ignored. </a:t>
            </a:r>
          </a:p>
        </p:txBody>
      </p:sp>
    </p:spTree>
    <p:extLst>
      <p:ext uri="{BB962C8B-B14F-4D97-AF65-F5344CB8AC3E}">
        <p14:creationId xmlns:p14="http://schemas.microsoft.com/office/powerpoint/2010/main" val="42764530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8900" y="1816100"/>
            <a:ext cx="11938000" cy="5041900"/>
          </a:xfrm>
        </p:spPr>
        <p:txBody>
          <a:bodyPr>
            <a:normAutofit fontScale="92500" lnSpcReduction="10000"/>
          </a:bodyPr>
          <a:lstStyle/>
          <a:p>
            <a:pPr marL="0" indent="0">
              <a:buNone/>
            </a:pPr>
            <a:r>
              <a:rPr lang="en-US" dirty="0"/>
              <a:t>We summarize below important characteristics of parallel algorithms which axe machine implementable: </a:t>
            </a:r>
            <a:endParaRPr lang="en-US" dirty="0" smtClean="0"/>
          </a:p>
          <a:p>
            <a:pPr algn="just"/>
            <a:r>
              <a:rPr lang="en-US" dirty="0"/>
              <a:t>Deterministic versus </a:t>
            </a:r>
            <a:r>
              <a:rPr lang="en-US" dirty="0" smtClean="0"/>
              <a:t>nondeterministic: Only </a:t>
            </a:r>
            <a:r>
              <a:rPr lang="en-US" dirty="0"/>
              <a:t>deterministic algorithms are implementable on real machines. Our study is confined to deterministic algorithms with polynomial time </a:t>
            </a:r>
            <a:r>
              <a:rPr lang="en-US" dirty="0" smtClean="0"/>
              <a:t>complexity.</a:t>
            </a:r>
          </a:p>
          <a:p>
            <a:pPr algn="just"/>
            <a:r>
              <a:rPr lang="en-US" dirty="0"/>
              <a:t>Computational granularity: G</a:t>
            </a:r>
            <a:r>
              <a:rPr lang="en-US" dirty="0" smtClean="0"/>
              <a:t>ranularity </a:t>
            </a:r>
            <a:r>
              <a:rPr lang="en-US" dirty="0"/>
              <a:t>decides the size of data items and program modules used in computation. In this sense. we also classify algorithms as fine-grain, medium-grain, or coarse-grain. </a:t>
            </a:r>
            <a:endParaRPr lang="en-US" dirty="0" smtClean="0"/>
          </a:p>
          <a:p>
            <a:pPr algn="just"/>
            <a:r>
              <a:rPr lang="en-US" dirty="0"/>
              <a:t>Parallelism profile: The distribution of the degree of parallelism in an algorithm reveals the opportunity for parallel processing. This often affects the effectiveness of the parallel algorithms. </a:t>
            </a:r>
            <a:endParaRPr lang="en-US" dirty="0" smtClean="0"/>
          </a:p>
          <a:p>
            <a:pPr algn="just"/>
            <a:r>
              <a:rPr lang="en-US" dirty="0"/>
              <a:t>Communication patterns and synchronization requirements: Communication patterns address both memory access and </a:t>
            </a:r>
            <a:r>
              <a:rPr lang="en-US" dirty="0" smtClean="0"/>
              <a:t>inter-processor </a:t>
            </a:r>
            <a:r>
              <a:rPr lang="en-US" dirty="0" smtClean="0"/>
              <a:t>communications</a:t>
            </a:r>
            <a:r>
              <a:rPr lang="en-US" dirty="0"/>
              <a:t>. The patterns can be static or dynamic, depending on the algorithms. Static algorithms are more suitable for SIMD or pipelined machines, while dynamic algorithms are for MIMD machines. The synchronization frequency often affects the efficiency of an algorithm. </a:t>
            </a:r>
            <a:endParaRPr lang="en-US" dirty="0" smtClean="0"/>
          </a:p>
          <a:p>
            <a:pPr algn="just"/>
            <a:r>
              <a:rPr lang="en-US" dirty="0"/>
              <a:t>Uniformity of the operations: This refers to the types of fundamental operations to be performed. Obviously, if the operations are uniform across the data set, the SIMD processing or pipelining may be more desirable. In other words, randomly structured algorithms are more suitable for MIMD processing. Other related issues include data types and precision desired. </a:t>
            </a:r>
            <a:endParaRPr lang="en-US" dirty="0" smtClean="0"/>
          </a:p>
          <a:p>
            <a:pPr algn="just"/>
            <a:r>
              <a:rPr lang="en-US" dirty="0"/>
              <a:t>Memory requirement and data </a:t>
            </a:r>
            <a:r>
              <a:rPr lang="en-US" dirty="0" smtClean="0"/>
              <a:t>structures: In </a:t>
            </a:r>
            <a:r>
              <a:rPr lang="en-US" dirty="0"/>
              <a:t>solving large-scale problems, the data sets may require huge memory space. Memory efficiency is affected by data structures chosen and data movement patterns in the algorithms. Both time and space complexities are key measures of the granularity of a parallel algorithm. </a:t>
            </a:r>
          </a:p>
        </p:txBody>
      </p:sp>
    </p:spTree>
    <p:extLst>
      <p:ext uri="{BB962C8B-B14F-4D97-AF65-F5344CB8AC3E}">
        <p14:creationId xmlns:p14="http://schemas.microsoft.com/office/powerpoint/2010/main" val="3285661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isoefficiency</a:t>
            </a:r>
            <a:endParaRPr lang="en-US" dirty="0"/>
          </a:p>
        </p:txBody>
      </p:sp>
      <p:sp>
        <p:nvSpPr>
          <p:cNvPr id="3" name="Content Placeholder 2"/>
          <p:cNvSpPr>
            <a:spLocks noGrp="1"/>
          </p:cNvSpPr>
          <p:nvPr>
            <p:ph idx="1"/>
          </p:nvPr>
        </p:nvSpPr>
        <p:spPr>
          <a:xfrm>
            <a:off x="581192" y="1715956"/>
            <a:ext cx="11029615" cy="5142044"/>
          </a:xfrm>
        </p:spPr>
        <p:txBody>
          <a:bodyPr>
            <a:normAutofit/>
          </a:bodyPr>
          <a:lstStyle/>
          <a:p>
            <a:r>
              <a:rPr lang="en-US" sz="2000" dirty="0"/>
              <a:t>The workload w of an algorithm often grows in the order </a:t>
            </a:r>
            <a:r>
              <a:rPr lang="en-US" sz="2000" dirty="0" smtClean="0"/>
              <a:t>0(s), </a:t>
            </a:r>
            <a:r>
              <a:rPr lang="en-US" sz="2000" dirty="0"/>
              <a:t>where s is the problem size. Thus, we denote the </a:t>
            </a:r>
            <a:r>
              <a:rPr lang="en-US" sz="2000" dirty="0" smtClean="0"/>
              <a:t>workload </a:t>
            </a:r>
            <a:r>
              <a:rPr lang="en-US" sz="2000" dirty="0" smtClean="0"/>
              <a:t>to </a:t>
            </a:r>
            <a:r>
              <a:rPr lang="en-US" sz="2000" dirty="0"/>
              <a:t>w(s) as a function of </a:t>
            </a:r>
            <a:r>
              <a:rPr lang="en-US" sz="2000" dirty="0" smtClean="0"/>
              <a:t>s. </a:t>
            </a:r>
          </a:p>
          <a:p>
            <a:r>
              <a:rPr lang="en-US" sz="2000" dirty="0" smtClean="0"/>
              <a:t>The </a:t>
            </a:r>
            <a:r>
              <a:rPr lang="en-US" sz="2000" dirty="0" err="1" smtClean="0"/>
              <a:t>isoefficiency</a:t>
            </a:r>
            <a:r>
              <a:rPr lang="en-US" sz="2000" dirty="0" smtClean="0"/>
              <a:t> </a:t>
            </a:r>
            <a:r>
              <a:rPr lang="en-US" sz="2000" dirty="0"/>
              <a:t>concept relating workload to machine size n needed to maintain a fixed efficiency E when implementing a parallel algorithm on a parallel computer. </a:t>
            </a:r>
            <a:endParaRPr lang="en-US" sz="2000" dirty="0" smtClean="0"/>
          </a:p>
          <a:p>
            <a:r>
              <a:rPr lang="en-US" sz="2000" dirty="0" smtClean="0"/>
              <a:t>Let </a:t>
            </a:r>
            <a:r>
              <a:rPr lang="en-US" sz="2000" dirty="0"/>
              <a:t>k be the total communication overhead involved in the algorithm implementation. This overhead is usually a function of both machine size and problem size, thus denoted k = </a:t>
            </a:r>
            <a:r>
              <a:rPr lang="en-US" sz="2000" dirty="0" smtClean="0"/>
              <a:t>h(</a:t>
            </a:r>
            <a:r>
              <a:rPr lang="en-US" sz="2000" dirty="0" err="1" smtClean="0"/>
              <a:t>s,n</a:t>
            </a:r>
            <a:r>
              <a:rPr lang="en-US" sz="2000" dirty="0"/>
              <a:t>). The efficiency of a parallel algorithm implemented on a given parallel computer is thus defined </a:t>
            </a:r>
            <a:r>
              <a:rPr lang="en-US" sz="2000" dirty="0" smtClean="0"/>
              <a:t>as: </a:t>
            </a:r>
            <a:br>
              <a:rPr lang="en-US" sz="2000" dirty="0" smtClean="0"/>
            </a:br>
            <a:r>
              <a:rPr lang="en-US" sz="2000" dirty="0" smtClean="0"/>
              <a:t>E(s) = w(s)/(w(s) + h(</a:t>
            </a:r>
            <a:r>
              <a:rPr lang="en-US" sz="2000" dirty="0" err="1" smtClean="0"/>
              <a:t>s,n</a:t>
            </a:r>
            <a:r>
              <a:rPr lang="en-US" sz="2000" dirty="0" smtClean="0"/>
              <a:t>)). </a:t>
            </a:r>
          </a:p>
          <a:p>
            <a:r>
              <a:rPr lang="en-US" sz="2000" dirty="0"/>
              <a:t>The workload w(s) corresponds to useful computations while the overhead </a:t>
            </a:r>
            <a:r>
              <a:rPr lang="en-US" sz="2000" dirty="0" smtClean="0"/>
              <a:t>h(</a:t>
            </a:r>
            <a:r>
              <a:rPr lang="en-US" sz="2000" dirty="0" err="1" smtClean="0"/>
              <a:t>s,n</a:t>
            </a:r>
            <a:r>
              <a:rPr lang="en-US" sz="2000" dirty="0"/>
              <a:t>) are useless computations attributed to synchronization and data communications delays. In general, the overhead increases with respect to both increasing values of a and n. Thus, the efficiency is always less than 1. The question is hinged on relative growth rates between </a:t>
            </a:r>
            <a:r>
              <a:rPr lang="en-US" sz="2000" dirty="0" smtClean="0"/>
              <a:t>w(s</a:t>
            </a:r>
            <a:r>
              <a:rPr lang="en-US" sz="2000" dirty="0"/>
              <a:t>) and h(</a:t>
            </a:r>
            <a:r>
              <a:rPr lang="en-US" sz="2000" dirty="0" err="1"/>
              <a:t>s,n</a:t>
            </a:r>
            <a:r>
              <a:rPr lang="en-US" sz="2000" dirty="0" smtClean="0"/>
              <a:t>). </a:t>
            </a:r>
          </a:p>
          <a:p>
            <a:endParaRPr lang="en-US" sz="2000" dirty="0"/>
          </a:p>
        </p:txBody>
      </p:sp>
    </p:spTree>
    <p:extLst>
      <p:ext uri="{BB962C8B-B14F-4D97-AF65-F5344CB8AC3E}">
        <p14:creationId xmlns:p14="http://schemas.microsoft.com/office/powerpoint/2010/main" val="32904497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Isoefficiency</a:t>
            </a:r>
            <a:r>
              <a:rPr lang="en-US" dirty="0" smtClean="0"/>
              <a:t> function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sz="2400" dirty="0" err="1" smtClean="0"/>
                  <a:t>Isoefficiency</a:t>
                </a:r>
                <a:r>
                  <a:rPr lang="en-US" sz="2400" dirty="0" smtClean="0"/>
                  <a:t> </a:t>
                </a:r>
                <a:r>
                  <a:rPr lang="en-US" sz="2400" dirty="0" smtClean="0"/>
                  <a:t>function, E </a:t>
                </a:r>
                <a:r>
                  <a:rPr lang="en-US" sz="2400" dirty="0" smtClean="0"/>
                  <a:t>=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h</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𝑛</m:t>
                                </m:r>
                              </m:e>
                            </m:d>
                          </m:num>
                          <m:den>
                            <m:r>
                              <a:rPr lang="en-US" sz="2400" b="0" i="1" smtClean="0">
                                <a:latin typeface="Cambria Math" panose="02040503050406030204" pitchFamily="18" charset="0"/>
                              </a:rPr>
                              <m:t>𝑤</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den>
                        </m:f>
                        <m:r>
                          <a:rPr lang="en-US" sz="2400" b="0" i="1" smtClean="0">
                            <a:latin typeface="Cambria Math" panose="02040503050406030204" pitchFamily="18" charset="0"/>
                          </a:rPr>
                          <m:t>)</m:t>
                        </m:r>
                      </m:den>
                    </m:f>
                  </m:oMath>
                </a14:m>
                <a:r>
                  <a:rPr lang="en-US" sz="2400" dirty="0" smtClean="0"/>
                  <a:t>.</a:t>
                </a:r>
              </a:p>
              <a:p>
                <a:r>
                  <a:rPr lang="en-US" sz="2400" dirty="0" smtClean="0"/>
                  <a:t>To maintain a constant E, the workload should grow in proportion to the overhead. </a:t>
                </a:r>
              </a:p>
              <a:p>
                <a:r>
                  <a:rPr lang="en-US" sz="2400" dirty="0"/>
                  <a:t>w</a:t>
                </a:r>
                <a:r>
                  <a:rPr lang="en-US" sz="2400" dirty="0" smtClean="0"/>
                  <a:t>(s)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𝐸</m:t>
                        </m:r>
                      </m:num>
                      <m:den>
                        <m:r>
                          <a:rPr lang="en-US" sz="2400" b="0" i="1" smtClean="0">
                            <a:latin typeface="Cambria Math" panose="02040503050406030204" pitchFamily="18" charset="0"/>
                          </a:rPr>
                          <m:t>1−</m:t>
                        </m:r>
                        <m:r>
                          <a:rPr lang="en-US" sz="2400" b="0" i="1" smtClean="0">
                            <a:latin typeface="Cambria Math" panose="02040503050406030204" pitchFamily="18" charset="0"/>
                          </a:rPr>
                          <m:t>𝐸</m:t>
                        </m:r>
                      </m:den>
                    </m:f>
                  </m:oMath>
                </a14:m>
                <a:r>
                  <a:rPr lang="en-US" sz="2400" dirty="0" smtClean="0"/>
                  <a:t> * h(</a:t>
                </a:r>
                <a:r>
                  <a:rPr lang="en-US" sz="2400" dirty="0" err="1" smtClean="0"/>
                  <a:t>s,n</a:t>
                </a:r>
                <a:r>
                  <a:rPr lang="en-US" sz="2400" dirty="0" smtClean="0"/>
                  <a:t>).</a:t>
                </a:r>
              </a:p>
              <a:p>
                <a:endParaRPr lang="en-US" sz="2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52"/>
                </a:stretch>
              </a:blipFill>
            </p:spPr>
            <p:txBody>
              <a:bodyPr/>
              <a:lstStyle/>
              <a:p>
                <a:r>
                  <a:rPr lang="en-US">
                    <a:noFill/>
                  </a:rPr>
                  <a:t> </a:t>
                </a:r>
              </a:p>
            </p:txBody>
          </p:sp>
        </mc:Fallback>
      </mc:AlternateContent>
    </p:spTree>
    <p:extLst>
      <p:ext uri="{BB962C8B-B14F-4D97-AF65-F5344CB8AC3E}">
        <p14:creationId xmlns:p14="http://schemas.microsoft.com/office/powerpoint/2010/main" val="2934179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Scalability metrics</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2"/>
          <a:srcRect l="20034" t="26736" r="22083" b="17709"/>
          <a:stretch/>
        </p:blipFill>
        <p:spPr>
          <a:xfrm>
            <a:off x="431799" y="2180496"/>
            <a:ext cx="7531101" cy="4064000"/>
          </a:xfrm>
          <a:prstGeom prst="rect">
            <a:avLst/>
          </a:prstGeom>
        </p:spPr>
      </p:pic>
    </p:spTree>
    <p:extLst>
      <p:ext uri="{BB962C8B-B14F-4D97-AF65-F5344CB8AC3E}">
        <p14:creationId xmlns:p14="http://schemas.microsoft.com/office/powerpoint/2010/main" val="2112864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2"/>
          <a:srcRect l="20132" t="26562" r="21987" b="20660"/>
          <a:stretch/>
        </p:blipFill>
        <p:spPr>
          <a:xfrm>
            <a:off x="444499" y="2089247"/>
            <a:ext cx="7531101" cy="3860800"/>
          </a:xfrm>
          <a:prstGeom prst="rect">
            <a:avLst/>
          </a:prstGeom>
        </p:spPr>
      </p:pic>
    </p:spTree>
    <p:extLst>
      <p:ext uri="{BB962C8B-B14F-4D97-AF65-F5344CB8AC3E}">
        <p14:creationId xmlns:p14="http://schemas.microsoft.com/office/powerpoint/2010/main" val="3024245587"/>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83</TotalTime>
  <Words>770</Words>
  <Application>Microsoft Office PowerPoint</Application>
  <PresentationFormat>Widescreen</PresentationFormat>
  <Paragraphs>57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Cambria Math</vt:lpstr>
      <vt:lpstr>Gill Sans MT</vt:lpstr>
      <vt:lpstr>Wingdings 2</vt:lpstr>
      <vt:lpstr>Dividend</vt:lpstr>
      <vt:lpstr>Principles of Scalable Performance</vt:lpstr>
      <vt:lpstr>Parallelism profile in programs</vt:lpstr>
      <vt:lpstr>System Efficiency</vt:lpstr>
      <vt:lpstr>Redundancy</vt:lpstr>
      <vt:lpstr>Quality of parallelism</vt:lpstr>
      <vt:lpstr>Example:</vt:lpstr>
      <vt:lpstr>Massive parallelism for grand challenges</vt:lpstr>
      <vt:lpstr>Algorithmic characteristics</vt:lpstr>
      <vt:lpstr>PowerPoint Presentation</vt:lpstr>
      <vt:lpstr>isoefficiency</vt:lpstr>
      <vt:lpstr>Isoefficiency function</vt:lpstr>
      <vt:lpstr>Scalability metrics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Scalable Performance</dc:title>
  <dc:creator>Dolly Sharma</dc:creator>
  <cp:lastModifiedBy>Dolly Sharma</cp:lastModifiedBy>
  <cp:revision>9</cp:revision>
  <dcterms:created xsi:type="dcterms:W3CDTF">2019-02-10T15:53:21Z</dcterms:created>
  <dcterms:modified xsi:type="dcterms:W3CDTF">2019-02-11T03:29:15Z</dcterms:modified>
</cp:coreProperties>
</file>