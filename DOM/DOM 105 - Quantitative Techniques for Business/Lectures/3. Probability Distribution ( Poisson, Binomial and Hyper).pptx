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4" r:id="rId7"/>
    <p:sldId id="265" r:id="rId8"/>
    <p:sldId id="267" r:id="rId9"/>
    <p:sldId id="279" r:id="rId10"/>
    <p:sldId id="283" r:id="rId11"/>
    <p:sldId id="268" r:id="rId12"/>
    <p:sldId id="269" r:id="rId13"/>
    <p:sldId id="270" r:id="rId14"/>
    <p:sldId id="280" r:id="rId15"/>
    <p:sldId id="284" r:id="rId16"/>
    <p:sldId id="285" r:id="rId17"/>
    <p:sldId id="286" r:id="rId18"/>
    <p:sldId id="28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FB3F-0E25-4D2C-A534-D4AC995D9A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D3D6-2ED8-4703-BE6E-1E6E0BA3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40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FB3F-0E25-4D2C-A534-D4AC995D9A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D3D6-2ED8-4703-BE6E-1E6E0BA3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1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FB3F-0E25-4D2C-A534-D4AC995D9A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D3D6-2ED8-4703-BE6E-1E6E0BA3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0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FB3F-0E25-4D2C-A534-D4AC995D9A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D3D6-2ED8-4703-BE6E-1E6E0BA3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11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FB3F-0E25-4D2C-A534-D4AC995D9A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D3D6-2ED8-4703-BE6E-1E6E0BA3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87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FB3F-0E25-4D2C-A534-D4AC995D9A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D3D6-2ED8-4703-BE6E-1E6E0BA3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54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FB3F-0E25-4D2C-A534-D4AC995D9A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D3D6-2ED8-4703-BE6E-1E6E0BA3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FB3F-0E25-4D2C-A534-D4AC995D9A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D3D6-2ED8-4703-BE6E-1E6E0BA3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3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FB3F-0E25-4D2C-A534-D4AC995D9A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D3D6-2ED8-4703-BE6E-1E6E0BA3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2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FB3F-0E25-4D2C-A534-D4AC995D9A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D3D6-2ED8-4703-BE6E-1E6E0BA3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76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FB3F-0E25-4D2C-A534-D4AC995D9A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D3D6-2ED8-4703-BE6E-1E6E0BA3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03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62565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909573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74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5721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977061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374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196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678840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299795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928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8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AFB3F-0E25-4D2C-A534-D4AC995D9A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DD3D6-2ED8-4703-BE6E-1E6E0BA3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4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7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Session </a:t>
            </a:r>
            <a:r>
              <a:rPr lang="en-US" sz="3200" dirty="0"/>
              <a:t>3</a:t>
            </a:r>
            <a:endParaRPr lang="en-US" sz="3200" dirty="0" smtClean="0"/>
          </a:p>
          <a:p>
            <a:r>
              <a:rPr lang="en-US" sz="3200" dirty="0" smtClean="0"/>
              <a:t>Reference: </a:t>
            </a:r>
            <a:r>
              <a:rPr lang="en-US" sz="3200" dirty="0" err="1" smtClean="0"/>
              <a:t>SfM</a:t>
            </a:r>
            <a:r>
              <a:rPr lang="en-US" sz="3200" dirty="0" smtClean="0"/>
              <a:t> Ch. 5</a:t>
            </a:r>
            <a:endParaRPr lang="en-IN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DOM105 2019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529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 distribution of a discrete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discrete variable is a variable that takes only discrete values. These values may  not be integer, but they do not form a continuous function.</a:t>
            </a:r>
          </a:p>
          <a:p>
            <a:r>
              <a:rPr lang="en-US" dirty="0" smtClean="0"/>
              <a:t>It is a mutually exclusive list of all possible </a:t>
            </a:r>
            <a:r>
              <a:rPr lang="en-US" i="1" dirty="0" smtClean="0"/>
              <a:t>numerical </a:t>
            </a:r>
            <a:r>
              <a:rPr lang="en-US" dirty="0" smtClean="0"/>
              <a:t>outcomes along with the probability of each outcome occurring.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: The number of possible absentees in an office: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435802"/>
              </p:ext>
            </p:extLst>
          </p:nvPr>
        </p:nvGraphicFramePr>
        <p:xfrm>
          <a:off x="1881874" y="3776765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No.</a:t>
                      </a:r>
                      <a:r>
                        <a:rPr lang="en-US" baseline="0" dirty="0" smtClean="0"/>
                        <a:t> of absentees (x)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Probability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523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Expected value of a  discrete variable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expected value of a discrete variable is the weighted average of all the outcomes, the weights being the probability scores.</a:t>
                </a:r>
              </a:p>
              <a:p>
                <a:endParaRPr lang="en-US" dirty="0" smtClean="0"/>
              </a:p>
              <a:p>
                <a:r>
                  <a:rPr lang="en-US" b="0" i="1" dirty="0" smtClean="0"/>
                  <a:t>µ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In the previous example, </a:t>
                </a:r>
                <a:r>
                  <a:rPr lang="en-US" i="1" dirty="0" smtClean="0"/>
                  <a:t>µ = </a:t>
                </a:r>
                <a:r>
                  <a:rPr lang="en-US" dirty="0" smtClean="0"/>
                  <a:t>0.15(0)+0.35(1)+0.2(2)+0.15(3)+0.1(4)+0.05(5) = 1.85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 r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24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Variance and standard deviation of discrete variable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variance of the discrete variable is the sum of the squared difference between outcome and expected value, multiplied by the probability of that outcome.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Variance 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The standard deviation is the square root of the variance.</a:t>
                </a:r>
              </a:p>
              <a:p>
                <a:endParaRPr lang="en-US" dirty="0" smtClean="0"/>
              </a:p>
              <a:p>
                <a:r>
                  <a:rPr lang="el-GR" dirty="0" smtClean="0"/>
                  <a:t>σ</a:t>
                </a:r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𝑉𝑎𝑟𝑖𝑎𝑛𝑐𝑒</m:t>
                        </m:r>
                      </m:e>
                    </m:rad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ra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28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Uniform 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Also called rectangular dist. Has the same chance of occurrence anywhere in its range.</a:t>
                </a:r>
              </a:p>
              <a:p>
                <a:pPr marL="0" indent="0">
                  <a:buNone/>
                </a:pPr>
                <a:r>
                  <a:rPr lang="en-US" i="1" dirty="0" smtClean="0"/>
                  <a:t>P(X&lt;=x)=(x-a)/(b-a), where b is max(x) and a is min(x)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dirty="0" smtClean="0"/>
                  <a:t>Mean: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Variance: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Standard Deviation: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059" t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546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Binomial 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4843818"/>
              </a:xfrm>
            </p:spPr>
            <p:txBody>
              <a:bodyPr/>
              <a:lstStyle/>
              <a:p>
                <a:r>
                  <a:rPr lang="en-US" dirty="0" smtClean="0"/>
                  <a:t>A discrete random variable distribution created by a Bernoulli Process, which has the following properties –</a:t>
                </a:r>
              </a:p>
              <a:p>
                <a:r>
                  <a:rPr lang="en-US" dirty="0" smtClean="0"/>
                  <a:t>It is a series of trials, each trial has only two outcomes, with probabilities </a:t>
                </a:r>
                <a:r>
                  <a:rPr lang="en-US" i="1" dirty="0" smtClean="0"/>
                  <a:t>p</a:t>
                </a:r>
                <a:r>
                  <a:rPr lang="en-US" dirty="0" smtClean="0"/>
                  <a:t> and </a:t>
                </a:r>
                <a:r>
                  <a:rPr lang="en-US" i="1" dirty="0" smtClean="0"/>
                  <a:t>1-p</a:t>
                </a:r>
              </a:p>
              <a:p>
                <a:r>
                  <a:rPr lang="en-US" dirty="0" smtClean="0"/>
                  <a:t>The value of </a:t>
                </a:r>
                <a:r>
                  <a:rPr lang="en-US" i="1" dirty="0" smtClean="0"/>
                  <a:t>p</a:t>
                </a:r>
                <a:r>
                  <a:rPr lang="en-US" dirty="0" smtClean="0"/>
                  <a:t> stays fixed over the course of the process</a:t>
                </a:r>
              </a:p>
              <a:p>
                <a:r>
                  <a:rPr lang="en-US" dirty="0" smtClean="0"/>
                  <a:t>The trials are statistically independent</a:t>
                </a:r>
              </a:p>
              <a:p>
                <a:r>
                  <a:rPr lang="en-US" dirty="0" smtClean="0"/>
                  <a:t>If there are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trials, the chances of obtaining exactly 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 successes (r&lt;=n) is given by the binomial formula (let </a:t>
                </a:r>
                <a:r>
                  <a:rPr lang="en-US" i="1" dirty="0" smtClean="0"/>
                  <a:t>q = 1-p)</a:t>
                </a:r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!)</m:t>
                          </m:r>
                        </m:den>
                      </m:f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4843818"/>
              </a:xfrm>
              <a:blipFill rotWithShape="0">
                <a:blip r:embed="rId2"/>
                <a:stretch>
                  <a:fillRect l="-588" t="-1134" r="-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195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Central Tendency of the Binomial 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3200" dirty="0" smtClean="0"/>
                  <a:t>Mean: </a:t>
                </a:r>
                <a:r>
                  <a:rPr lang="en-US" sz="3200" i="1" dirty="0" smtClean="0"/>
                  <a:t>np</a:t>
                </a:r>
              </a:p>
              <a:p>
                <a:r>
                  <a:rPr lang="en-US" sz="3200" dirty="0" smtClean="0"/>
                  <a:t>Variance: </a:t>
                </a:r>
                <a:r>
                  <a:rPr lang="en-US" sz="3200" i="1" dirty="0" err="1" smtClean="0"/>
                  <a:t>npq</a:t>
                </a:r>
                <a:endParaRPr lang="en-US" sz="3200" i="1" dirty="0" smtClean="0"/>
              </a:p>
              <a:p>
                <a:r>
                  <a:rPr lang="en-US" sz="3200" dirty="0" smtClean="0"/>
                  <a:t>Standard deviation: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𝑛𝑝𝑞</m:t>
                        </m:r>
                      </m:e>
                    </m:rad>
                  </m:oMath>
                </a14:m>
                <a:endParaRPr lang="en-US" sz="3200" dirty="0" smtClean="0"/>
              </a:p>
              <a:p>
                <a:endParaRPr lang="en-US" sz="3200" dirty="0"/>
              </a:p>
              <a:p>
                <a:r>
                  <a:rPr lang="en-US" sz="3200" dirty="0" smtClean="0"/>
                  <a:t>Final note: To apply the binomial distribution, we must first ensure that the process meets the conditions for a Bernoulli Process.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882" t="-1733" r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18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Hypergeometric</a:t>
            </a:r>
            <a:r>
              <a:rPr lang="en-US" dirty="0" smtClean="0"/>
              <a:t> 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Where the binomial distribution the sample data are selected with replacement from a finite pool (or without from an infinite pool) the </a:t>
                </a:r>
                <a:r>
                  <a:rPr lang="en-US" dirty="0" err="1" smtClean="0"/>
                  <a:t>hypergeometric</a:t>
                </a:r>
                <a:r>
                  <a:rPr lang="en-US" dirty="0" smtClean="0"/>
                  <a:t> distribution is found when the samples are taken from a finite pool without replacement.</a:t>
                </a:r>
              </a:p>
              <a:p>
                <a:r>
                  <a:rPr lang="en-US" dirty="0" smtClean="0"/>
                  <a:t>If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samples are taken from population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, and out of the population </a:t>
                </a:r>
                <a:r>
                  <a:rPr lang="en-US" i="1" dirty="0" smtClean="0"/>
                  <a:t>A</a:t>
                </a:r>
                <a:r>
                  <a:rPr lang="en-US" dirty="0" smtClean="0"/>
                  <a:t> members are of interest, then the probability of exactly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 successes out of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samples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Mean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 smtClean="0"/>
                  <a:t> Std. dev.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ra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 r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08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39711" y="323537"/>
            <a:ext cx="11342558" cy="6137223"/>
          </a:xfrm>
        </p:spPr>
        <p:txBody>
          <a:bodyPr/>
          <a:lstStyle/>
          <a:p>
            <a:r>
              <a:rPr lang="en-US" dirty="0" smtClean="0"/>
              <a:t>Out of 20 people 12 have a Masters degree. If you select 5 at random without replacement, what is the chance of 3 people having masters?</a:t>
            </a:r>
          </a:p>
          <a:p>
            <a:r>
              <a:rPr lang="en-US" dirty="0" smtClean="0"/>
              <a:t>(12C3*8C2)/20C5</a:t>
            </a:r>
          </a:p>
          <a:p>
            <a:endParaRPr lang="en-US" dirty="0"/>
          </a:p>
          <a:p>
            <a:r>
              <a:rPr lang="en-US" dirty="0" smtClean="0"/>
              <a:t>P of there being at least one masters?</a:t>
            </a:r>
          </a:p>
          <a:p>
            <a:r>
              <a:rPr lang="en-US" dirty="0" smtClean="0"/>
              <a:t>P(x=1)+P(x=2)+…+P(x=5) = 1 - P(x=0) = 1 – (12C0*8C5)/20C5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63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Poisson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Characteristics of the Poisson Process:</a:t>
            </a:r>
          </a:p>
          <a:p>
            <a:r>
              <a:rPr lang="en-US" dirty="0" smtClean="0"/>
              <a:t>The process is applied to a discrete random variable that takes integer values</a:t>
            </a:r>
          </a:p>
          <a:p>
            <a:r>
              <a:rPr lang="en-US" dirty="0" smtClean="0"/>
              <a:t>The average value of the random variable over the given time period is already known or can be calculated given past data</a:t>
            </a:r>
          </a:p>
          <a:p>
            <a:r>
              <a:rPr lang="en-US" dirty="0" smtClean="0"/>
              <a:t>At any one second, the possibility of a positive outcome is very small, and a fixed value.</a:t>
            </a:r>
          </a:p>
          <a:p>
            <a:r>
              <a:rPr lang="en-US" dirty="0" smtClean="0"/>
              <a:t>At any one second, the possibility of two or more positive outcomes is so small we can assign it a value of zero.</a:t>
            </a:r>
          </a:p>
          <a:p>
            <a:r>
              <a:rPr lang="en-US" dirty="0" smtClean="0"/>
              <a:t>The probability of a positive outcome at any given second is not only fixed, but independent of the actual time as well as the result in any other second.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40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Poisson Formula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Let λ be the mean number of occurrences in the interval of time under study.</a:t>
                </a:r>
              </a:p>
              <a:p>
                <a:r>
                  <a:rPr lang="en-US" i="1" dirty="0" smtClean="0"/>
                  <a:t>e </a:t>
                </a:r>
                <a:r>
                  <a:rPr lang="en-US" dirty="0" smtClean="0"/>
                  <a:t>is the base of the natural logarithm system, approx. 2.71828</a:t>
                </a:r>
              </a:p>
              <a:p>
                <a:r>
                  <a:rPr lang="en-US" dirty="0" smtClean="0"/>
                  <a:t>Poisson probability of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 number of incidents occurring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If a binomial process has a large number of trials (n&gt;20) and a small probability of success (p&lt;0.05), we can use the </a:t>
                </a:r>
                <a:r>
                  <a:rPr lang="en-US" dirty="0"/>
                  <a:t>P</a:t>
                </a:r>
                <a:r>
                  <a:rPr lang="en-US" dirty="0" smtClean="0"/>
                  <a:t>oisson formula after substituting the binomial mean </a:t>
                </a:r>
                <a:r>
                  <a:rPr lang="en-US" i="1" dirty="0" smtClean="0"/>
                  <a:t>np.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2000" r="-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28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19200" y="1009934"/>
            <a:ext cx="4158018" cy="5009866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https://www.umass.edu/wsp/images/poisson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611" y="143744"/>
            <a:ext cx="8674526" cy="641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989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99474" y="638331"/>
            <a:ext cx="10742951" cy="5642548"/>
          </a:xfrm>
        </p:spPr>
        <p:txBody>
          <a:bodyPr/>
          <a:lstStyle/>
          <a:p>
            <a:r>
              <a:rPr lang="en-US" dirty="0" smtClean="0"/>
              <a:t>A store receives 5 customers an hour on average. If the hourly customer arrival follows a </a:t>
            </a:r>
            <a:r>
              <a:rPr lang="en-US" dirty="0" err="1" smtClean="0"/>
              <a:t>poisson</a:t>
            </a:r>
            <a:r>
              <a:rPr lang="en-US" dirty="0" smtClean="0"/>
              <a:t> distribution, what is the probability of receiving 10 or more customers in an hour?</a:t>
            </a:r>
          </a:p>
        </p:txBody>
      </p:sp>
    </p:spTree>
    <p:extLst>
      <p:ext uri="{BB962C8B-B14F-4D97-AF65-F5344CB8AC3E}">
        <p14:creationId xmlns:p14="http://schemas.microsoft.com/office/powerpoint/2010/main" val="3212313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normal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19200" y="1447799"/>
            <a:ext cx="10363200" cy="4761931"/>
          </a:xfrm>
        </p:spPr>
        <p:txBody>
          <a:bodyPr>
            <a:normAutofit/>
          </a:bodyPr>
          <a:lstStyle/>
          <a:p>
            <a:r>
              <a:rPr lang="en-US" dirty="0" smtClean="0"/>
              <a:t>It is a </a:t>
            </a:r>
            <a:r>
              <a:rPr lang="en-US" i="1" dirty="0" smtClean="0"/>
              <a:t>continuous probability distribution</a:t>
            </a:r>
            <a:r>
              <a:rPr lang="en-US" dirty="0" smtClean="0"/>
              <a:t>. Also called Gaussian distribution.</a:t>
            </a:r>
          </a:p>
          <a:p>
            <a:r>
              <a:rPr lang="en-US" dirty="0" smtClean="0"/>
              <a:t>Can be used to approximate discrete distributions, with sufficiently large samples. Can approximate Binomial distribution if </a:t>
            </a:r>
            <a:r>
              <a:rPr lang="en-US" i="1" dirty="0" err="1"/>
              <a:t>np,nq</a:t>
            </a:r>
            <a:r>
              <a:rPr lang="en-US" i="1" dirty="0"/>
              <a:t>&gt;</a:t>
            </a:r>
            <a:r>
              <a:rPr lang="en-US" dirty="0"/>
              <a:t>5</a:t>
            </a:r>
          </a:p>
          <a:p>
            <a:r>
              <a:rPr lang="en-US" dirty="0" smtClean="0"/>
              <a:t>It is symmetrical, bell-shaped in appearance, its interquartile range is from -0.67 standard deviations to +0.67 </a:t>
            </a:r>
            <a:r>
              <a:rPr lang="en-US" dirty="0" err="1" smtClean="0"/>
              <a:t>std.devs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601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7297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Normal Distribution from Z-score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04733" y="1031637"/>
                <a:ext cx="11392525" cy="5471410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For a normal distribution, we can find thee probability of the variable being below a certain value by using the Z-table.</a:t>
                </a:r>
              </a:p>
              <a:p>
                <a:r>
                  <a:rPr lang="en-US" dirty="0" smtClean="0"/>
                  <a:t>Calculate Z=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dirty="0" smtClean="0"/>
                  <a:t>, the corresponding value in the table shows the probability of the variable being less than or equal to that value.</a:t>
                </a:r>
              </a:p>
              <a:p>
                <a:r>
                  <a:rPr lang="en-US" dirty="0" smtClean="0"/>
                  <a:t>To find the probability of the variable being between X1 and X2, </a:t>
                </a:r>
                <a:r>
                  <a:rPr lang="en-US" dirty="0"/>
                  <a:t>P(X1&lt;X&lt;X2)= </a:t>
                </a:r>
                <a:r>
                  <a:rPr lang="en-US" dirty="0" smtClean="0"/>
                  <a:t>P(</a:t>
                </a:r>
                <a:r>
                  <a:rPr lang="en-US" i="1" dirty="0" smtClean="0"/>
                  <a:t>Z(X2))-P(Z(X1)).</a:t>
                </a:r>
              </a:p>
              <a:p>
                <a:r>
                  <a:rPr lang="en-US" dirty="0"/>
                  <a:t>P(X&lt;X1</a:t>
                </a:r>
                <a:r>
                  <a:rPr lang="en-US" dirty="0" smtClean="0"/>
                  <a:t>)=</a:t>
                </a:r>
                <a:r>
                  <a:rPr lang="en-US" i="1" dirty="0" smtClean="0"/>
                  <a:t>P(Z(X1)</a:t>
                </a:r>
              </a:p>
              <a:p>
                <a:r>
                  <a:rPr lang="en-US" dirty="0" smtClean="0"/>
                  <a:t>P(X&gt;X1)=</a:t>
                </a:r>
                <a:r>
                  <a:rPr lang="en-US" i="1" dirty="0"/>
                  <a:t> </a:t>
                </a:r>
                <a:r>
                  <a:rPr lang="en-US" i="1" dirty="0" smtClean="0"/>
                  <a:t>1-P(Z(X1</a:t>
                </a:r>
                <a:r>
                  <a:rPr lang="en-US" i="1" dirty="0"/>
                  <a:t>)</a:t>
                </a:r>
                <a:endParaRPr lang="en-US" i="1" dirty="0" smtClean="0"/>
              </a:p>
              <a:p>
                <a:r>
                  <a:rPr lang="en-US" i="1" dirty="0" smtClean="0"/>
                  <a:t>Normal curve of mean 200, </a:t>
                </a:r>
                <a:r>
                  <a:rPr lang="en-US" i="1" dirty="0" err="1" smtClean="0"/>
                  <a:t>stdev</a:t>
                </a:r>
                <a:r>
                  <a:rPr lang="en-US" i="1" dirty="0" smtClean="0"/>
                  <a:t> 50, what is P(X&lt;=168)? Z(168)=-0.64, P(Z(168)= 0.2611</a:t>
                </a:r>
              </a:p>
              <a:p>
                <a:r>
                  <a:rPr lang="en-US" i="1" dirty="0" smtClean="0"/>
                  <a:t>What is P(X&gt;300)? Z(300) = 2. P(Z(300)) = 0.9772, P(X&gt;300) = 1-0.9772=0.0228</a:t>
                </a:r>
              </a:p>
              <a:p>
                <a:r>
                  <a:rPr lang="en-US" i="1" dirty="0" smtClean="0"/>
                  <a:t>What is P(168&lt;=X&lt;=240) = P(X&lt;=240)-P(X&lt;=168) = 0.7881-0.2611=0.527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04733" y="1031637"/>
                <a:ext cx="11392525" cy="5471410"/>
              </a:xfrm>
              <a:blipFill rotWithShape="0">
                <a:blip r:embed="rId2"/>
                <a:stretch>
                  <a:fillRect l="-535" t="-891" r="-1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96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49575" y="203615"/>
            <a:ext cx="10922832" cy="6287125"/>
          </a:xfrm>
        </p:spPr>
        <p:txBody>
          <a:bodyPr/>
          <a:lstStyle/>
          <a:p>
            <a:r>
              <a:rPr lang="en-US" dirty="0" smtClean="0"/>
              <a:t>The annual household income of 300 surveyed families has a mean of 16 lakhs with </a:t>
            </a:r>
            <a:r>
              <a:rPr lang="en-US" dirty="0" err="1"/>
              <a:t>s</a:t>
            </a:r>
            <a:r>
              <a:rPr lang="en-US" dirty="0" err="1" smtClean="0"/>
              <a:t>tdev</a:t>
            </a:r>
            <a:r>
              <a:rPr lang="en-US" dirty="0" smtClean="0"/>
              <a:t> 90,000. How many families have an income between 10 and 15 lakh?</a:t>
            </a:r>
          </a:p>
          <a:p>
            <a:r>
              <a:rPr lang="en-US" dirty="0" smtClean="0"/>
              <a:t>  n=300, Mean=16, </a:t>
            </a:r>
            <a:r>
              <a:rPr lang="en-US" dirty="0" err="1" smtClean="0"/>
              <a:t>Stdev</a:t>
            </a:r>
            <a:r>
              <a:rPr lang="en-US" dirty="0"/>
              <a:t> </a:t>
            </a:r>
            <a:r>
              <a:rPr lang="en-US" dirty="0" smtClean="0"/>
              <a:t>= 0.90</a:t>
            </a:r>
          </a:p>
          <a:p>
            <a:r>
              <a:rPr lang="en-US" dirty="0" smtClean="0"/>
              <a:t>No. of houses between 10 and 15 = n*P(10&lt;=x&lt;=15) = n*[P(x&lt;=15)-P(x&lt;=10)]</a:t>
            </a:r>
          </a:p>
          <a:p>
            <a:r>
              <a:rPr lang="en-US" dirty="0" smtClean="0"/>
              <a:t>P(x&lt;=15)=P(Z(15))=P((15-16)/0.9)=P(-1.11) = 0.1335</a:t>
            </a:r>
          </a:p>
          <a:p>
            <a:r>
              <a:rPr lang="en-US" dirty="0" smtClean="0"/>
              <a:t>P(x&lt;=10) = P(Z(10))=P((10-16)/0.9)=P(-6.67)=0</a:t>
            </a:r>
          </a:p>
          <a:p>
            <a:r>
              <a:rPr lang="en-US" dirty="0" smtClean="0"/>
              <a:t>No. of houses = 300*(0.1335 – 0)=40.05 or 40 approx.</a:t>
            </a:r>
          </a:p>
          <a:p>
            <a:r>
              <a:rPr lang="en-US" dirty="0" smtClean="0"/>
              <a:t>How many families do you expect to have income above 17.5 lakhs?</a:t>
            </a:r>
          </a:p>
          <a:p>
            <a:r>
              <a:rPr lang="en-US" dirty="0" smtClean="0"/>
              <a:t>P(x&gt;17.5) = 1 – P(x&lt;=17.5)</a:t>
            </a:r>
          </a:p>
          <a:p>
            <a:r>
              <a:rPr lang="en-US" dirty="0" smtClean="0"/>
              <a:t>P(x&lt;=17.5) = P(z(17.5)) = P(1.67) = 0.9525</a:t>
            </a:r>
          </a:p>
          <a:p>
            <a:r>
              <a:rPr lang="en-US" dirty="0" smtClean="0"/>
              <a:t>No. of families = 300*(1 – 0.9525) = 14.25 or 14 </a:t>
            </a:r>
            <a:r>
              <a:rPr lang="en-US" dirty="0" err="1" smtClean="0"/>
              <a:t>approx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9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8699" y="587990"/>
            <a:ext cx="10859068" cy="5826457"/>
          </a:xfrm>
        </p:spPr>
        <p:txBody>
          <a:bodyPr/>
          <a:lstStyle/>
          <a:p>
            <a:r>
              <a:rPr lang="en-CA" dirty="0" smtClean="0"/>
              <a:t>Excel commands for Normal Distribution</a:t>
            </a:r>
          </a:p>
          <a:p>
            <a:r>
              <a:rPr lang="en-CA" dirty="0" smtClean="0"/>
              <a:t>NORM.DIST(x, Mean, </a:t>
            </a:r>
            <a:r>
              <a:rPr lang="en-CA" dirty="0" err="1" smtClean="0"/>
              <a:t>stdev</a:t>
            </a:r>
            <a:r>
              <a:rPr lang="en-CA" dirty="0" smtClean="0"/>
              <a:t>, 1): Returns the probability of a random variable being less than or equal to x, for a given Mean and </a:t>
            </a:r>
            <a:r>
              <a:rPr lang="en-CA" dirty="0" err="1" smtClean="0"/>
              <a:t>Stdev</a:t>
            </a:r>
            <a:r>
              <a:rPr lang="en-CA" dirty="0" smtClean="0"/>
              <a:t>.</a:t>
            </a:r>
          </a:p>
          <a:p>
            <a:r>
              <a:rPr lang="en-CA" dirty="0" smtClean="0"/>
              <a:t>NORM.INV(p, Mean, </a:t>
            </a:r>
            <a:r>
              <a:rPr lang="en-CA" dirty="0" err="1" smtClean="0"/>
              <a:t>Stdev</a:t>
            </a:r>
            <a:r>
              <a:rPr lang="en-CA" dirty="0" smtClean="0"/>
              <a:t>): Finds the value x for which (PX&lt;=x)=p, for a given mean and </a:t>
            </a:r>
            <a:r>
              <a:rPr lang="en-CA" dirty="0" err="1" smtClean="0"/>
              <a:t>stdev</a:t>
            </a:r>
            <a:r>
              <a:rPr lang="en-CA" dirty="0" smtClean="0"/>
              <a:t>.</a:t>
            </a:r>
          </a:p>
          <a:p>
            <a:r>
              <a:rPr lang="en-CA" dirty="0" smtClean="0"/>
              <a:t>NORM.S.DIST(z,1): Returns the corresponding probability value for a certain Z-score (can act as substitute for Z-table)</a:t>
            </a:r>
          </a:p>
          <a:p>
            <a:r>
              <a:rPr lang="en-CA" dirty="0" smtClean="0"/>
              <a:t>NORM.S.INV(p): Returns the Z-score for a certain probability (</a:t>
            </a:r>
            <a:r>
              <a:rPr lang="en-CA" dirty="0"/>
              <a:t>can act as substitute for Z-table)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81159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992</Words>
  <Application>Microsoft Office PowerPoint</Application>
  <PresentationFormat>Widescreen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Calibri Light</vt:lpstr>
      <vt:lpstr>Cambria</vt:lpstr>
      <vt:lpstr>Cambria Math</vt:lpstr>
      <vt:lpstr>Franklin Gothic Book</vt:lpstr>
      <vt:lpstr>Perpetua</vt:lpstr>
      <vt:lpstr>Wingdings 2</vt:lpstr>
      <vt:lpstr>Office Theme</vt:lpstr>
      <vt:lpstr>Equity</vt:lpstr>
      <vt:lpstr>DOM105 2019</vt:lpstr>
      <vt:lpstr>Probability distribution of a discrete variable</vt:lpstr>
      <vt:lpstr>Expected value of a  discrete variable</vt:lpstr>
      <vt:lpstr>Variance and standard deviation of discrete variable</vt:lpstr>
      <vt:lpstr>The Uniform Distribution</vt:lpstr>
      <vt:lpstr>The Binomial Distribution</vt:lpstr>
      <vt:lpstr>Central Tendency of the Binomial Distribution</vt:lpstr>
      <vt:lpstr>Hypergeometric Distribution</vt:lpstr>
      <vt:lpstr>PowerPoint Presentation</vt:lpstr>
      <vt:lpstr>Poisson Distribution</vt:lpstr>
      <vt:lpstr>The Poisson Formula</vt:lpstr>
      <vt:lpstr>PowerPoint Presentation</vt:lpstr>
      <vt:lpstr>PowerPoint Presentation</vt:lpstr>
      <vt:lpstr>The normal distribution</vt:lpstr>
      <vt:lpstr>Normal Distribution from Z-score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DOM101 2016</dc:title>
  <dc:creator>Surya Majumdar</dc:creator>
  <cp:lastModifiedBy>Surya Majumdar</cp:lastModifiedBy>
  <cp:revision>24</cp:revision>
  <dcterms:created xsi:type="dcterms:W3CDTF">2016-01-19T06:18:35Z</dcterms:created>
  <dcterms:modified xsi:type="dcterms:W3CDTF">2019-01-07T16:25:31Z</dcterms:modified>
</cp:coreProperties>
</file>