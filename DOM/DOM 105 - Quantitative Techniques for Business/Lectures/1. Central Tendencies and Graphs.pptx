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xls" ContentType="application/vnd.ms-excel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D41EB-2BAC-45B1-9A96-25C2AF322ADF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C956B-8BEB-44B4-911C-23210B5A5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AAA30-71EA-4FBB-B92E-5BE66CFCD8C0}" type="slidenum">
              <a:rPr lang="en-IN" smtClean="0">
                <a:solidFill>
                  <a:prstClr val="black"/>
                </a:solidFill>
              </a:rPr>
              <a:pPr/>
              <a:t>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46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AAA30-71EA-4FBB-B92E-5BE66CFCD8C0}" type="slidenum">
              <a:rPr lang="en-IN" smtClean="0">
                <a:solidFill>
                  <a:prstClr val="black"/>
                </a:solidFill>
              </a:rPr>
              <a:pPr/>
              <a:t>16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64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4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0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4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1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8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6516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45027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3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75344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7648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76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567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648184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64651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65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7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28B4F-B250-400D-A76D-CACC8F45AA62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D4DCF-4B3A-446E-8FFE-720499EA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3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1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2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3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4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5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6.xls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0.png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</a:t>
            </a:r>
            <a:r>
              <a:rPr lang="en-US" sz="3200" dirty="0" smtClean="0"/>
              <a:t>1</a:t>
            </a:r>
            <a:endParaRPr lang="en-US" sz="3200" dirty="0"/>
          </a:p>
          <a:p>
            <a:r>
              <a:rPr lang="en-US" sz="3200" dirty="0"/>
              <a:t>Reading: </a:t>
            </a:r>
            <a:r>
              <a:rPr lang="en-US" sz="3200" dirty="0" err="1"/>
              <a:t>SfM</a:t>
            </a:r>
            <a:r>
              <a:rPr lang="en-US" sz="3200"/>
              <a:t> </a:t>
            </a:r>
            <a:r>
              <a:rPr lang="en-US" sz="3200" smtClean="0"/>
              <a:t>Ch.2,3</a:t>
            </a:r>
            <a:endParaRPr lang="en-IN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9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Categorical and Numerical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77724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Categorical data is data that is separated into various groupings or categories for display.</a:t>
            </a:r>
          </a:p>
          <a:p>
            <a:r>
              <a:rPr lang="en-US" sz="2800" dirty="0"/>
              <a:t>Takes form of tables, bar charts, pie charts, etc.</a:t>
            </a:r>
          </a:p>
          <a:p>
            <a:r>
              <a:rPr lang="en-US" sz="2800" dirty="0"/>
              <a:t>Numerical data comprises of numbers that have not been separated into categories.</a:t>
            </a:r>
          </a:p>
          <a:p>
            <a:r>
              <a:rPr lang="en-US" sz="2800" dirty="0"/>
              <a:t>Displays of numerical data include arrays, frequency distributions, scatter plots, etc.</a:t>
            </a:r>
          </a:p>
          <a:p>
            <a:r>
              <a:rPr lang="en-US" sz="2800" dirty="0"/>
              <a:t>Both types of data can be displayed using some types of tables such as Pivot Tables.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945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Display Categorical Data – Bar Chart</a:t>
            </a:r>
            <a:endParaRPr lang="en-IN" dirty="0"/>
          </a:p>
        </p:txBody>
      </p:sp>
      <p:graphicFrame>
        <p:nvGraphicFramePr>
          <p:cNvPr id="17410" name="Object 2">
            <a:hlinkClick r:id="" action="ppaction://ole?verb=0"/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3124200" y="1828800"/>
          <a:ext cx="63246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3" imgW="3610356" imgH="2124456" progId="Excel.Sheet.8">
                  <p:embed/>
                </p:oleObj>
              </mc:Choice>
              <mc:Fallback>
                <p:oleObj name="Worksheet" r:id="rId3" imgW="3610356" imgH="2124456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28800"/>
                        <a:ext cx="63246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939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Pie Chart – Investor’s portfolio</a:t>
            </a:r>
            <a:endParaRPr lang="en-IN" dirty="0"/>
          </a:p>
        </p:txBody>
      </p:sp>
      <p:graphicFrame>
        <p:nvGraphicFramePr>
          <p:cNvPr id="18435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2514600" y="1752600"/>
          <a:ext cx="67056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Worksheet" r:id="rId3" imgW="2734056" imgH="1714805" progId="Excel.Sheet.8">
                  <p:embed/>
                </p:oleObj>
              </mc:Choice>
              <mc:Fallback>
                <p:oleObj name="Worksheet" r:id="rId3" imgW="2734056" imgH="1714805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52600"/>
                        <a:ext cx="670560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343400" y="1905001"/>
            <a:ext cx="1143000" cy="741363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Savings 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   15%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733801" y="3048000"/>
            <a:ext cx="758825" cy="7112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CD 14%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953000" y="5029200"/>
            <a:ext cx="914400" cy="674544"/>
          </a:xfrm>
          <a:prstGeom prst="rect">
            <a:avLst/>
          </a:prstGeom>
          <a:solidFill>
            <a:srgbClr val="A23475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Bonds </a:t>
            </a:r>
            <a:r>
              <a:rPr lang="en-US" b="1">
                <a:solidFill>
                  <a:srgbClr val="000000"/>
                </a:solidFill>
                <a:latin typeface="Times New Roman" pitchFamily="18" charset="0"/>
              </a:rPr>
              <a:t>29%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6934201" y="2438400"/>
            <a:ext cx="911225" cy="711200"/>
          </a:xfrm>
          <a:prstGeom prst="rect">
            <a:avLst/>
          </a:prstGeom>
          <a:solidFill>
            <a:srgbClr val="9999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Stocks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42%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7086600" y="4876800"/>
            <a:ext cx="2895600" cy="643766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696464"/>
                </a:solidFill>
                <a:latin typeface="Times New Roman" pitchFamily="18" charset="0"/>
              </a:rPr>
              <a:t>Percentages are rounded to the nearest percent.</a:t>
            </a:r>
          </a:p>
        </p:txBody>
      </p:sp>
    </p:spTree>
    <p:extLst>
      <p:ext uri="{BB962C8B-B14F-4D97-AF65-F5344CB8AC3E}">
        <p14:creationId xmlns:p14="http://schemas.microsoft.com/office/powerpoint/2010/main" val="75043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 by side Bar Chart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Uses sets of bars to show joint responses from two or more categorical variables.</a:t>
            </a:r>
            <a:endParaRPr lang="en-IN" dirty="0"/>
          </a:p>
        </p:txBody>
      </p:sp>
      <p:graphicFrame>
        <p:nvGraphicFramePr>
          <p:cNvPr id="29699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3048000" y="2362200"/>
          <a:ext cx="70866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Worksheet" r:id="rId3" imgW="7086600" imgH="5029200" progId="Excel.Sheet.8">
                  <p:embed/>
                </p:oleObj>
              </mc:Choice>
              <mc:Fallback>
                <p:oleObj name="Worksheet" r:id="rId3" imgW="7086600" imgH="502920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62200"/>
                        <a:ext cx="70866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371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/>
              <a:t>Tabulating Numerical Data: Frequency Distributions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05000" y="1792288"/>
            <a:ext cx="8763000" cy="43799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/>
              <a:t>Sort raw data in ascending order:</a:t>
            </a:r>
            <a:br>
              <a:rPr lang="en-US"/>
            </a:br>
            <a:r>
              <a:rPr lang="en-US" sz="2000" b="1">
                <a:solidFill>
                  <a:schemeClr val="tx2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  <a:p>
            <a:pPr>
              <a:lnSpc>
                <a:spcPct val="110000"/>
              </a:lnSpc>
            </a:pPr>
            <a:r>
              <a:rPr lang="en-US"/>
              <a:t>Find range: </a:t>
            </a:r>
            <a:r>
              <a:rPr lang="en-US" sz="2400" b="1">
                <a:solidFill>
                  <a:schemeClr val="tx2"/>
                </a:solidFill>
                <a:latin typeface="Times New Roman" pitchFamily="18" charset="0"/>
              </a:rPr>
              <a:t>58 - 12 = 46</a:t>
            </a:r>
          </a:p>
          <a:p>
            <a:pPr>
              <a:lnSpc>
                <a:spcPct val="110000"/>
              </a:lnSpc>
            </a:pPr>
            <a:r>
              <a:rPr lang="en-US"/>
              <a:t>Select number of classes: </a:t>
            </a:r>
            <a:r>
              <a:rPr lang="en-US" sz="2400" b="1">
                <a:solidFill>
                  <a:schemeClr val="tx2"/>
                </a:solidFill>
                <a:latin typeface="Times New Roman" pitchFamily="18" charset="0"/>
              </a:rPr>
              <a:t>5</a:t>
            </a:r>
            <a:r>
              <a:rPr lang="en-US" sz="2000" b="1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chemeClr val="tx2"/>
                </a:solidFill>
                <a:latin typeface="Times New Roman" pitchFamily="18" charset="0"/>
              </a:rPr>
              <a:t>(usually between 5 and 15)</a:t>
            </a:r>
            <a:endParaRPr lang="en-US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/>
              <a:t>Compute class interval (width): </a:t>
            </a:r>
            <a:r>
              <a:rPr lang="en-US" sz="2400" b="1">
                <a:solidFill>
                  <a:schemeClr val="tx2"/>
                </a:solidFill>
                <a:latin typeface="Times New Roman" pitchFamily="18" charset="0"/>
              </a:rPr>
              <a:t>10 </a:t>
            </a:r>
            <a:r>
              <a:rPr lang="en-US" sz="2000" b="1">
                <a:solidFill>
                  <a:schemeClr val="tx2"/>
                </a:solidFill>
                <a:latin typeface="Times New Roman" pitchFamily="18" charset="0"/>
              </a:rPr>
              <a:t>(46/5 then round up)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/>
              <a:t>Determine class boundaries (limits): </a:t>
            </a:r>
            <a:r>
              <a:rPr lang="en-US" sz="2000" b="1">
                <a:solidFill>
                  <a:schemeClr val="tx2"/>
                </a:solidFill>
                <a:latin typeface="Times New Roman" pitchFamily="18" charset="0"/>
              </a:rPr>
              <a:t>10, 20, 30, 40, 50, 60</a:t>
            </a:r>
          </a:p>
          <a:p>
            <a:pPr>
              <a:lnSpc>
                <a:spcPct val="110000"/>
              </a:lnSpc>
            </a:pPr>
            <a:r>
              <a:rPr lang="en-US"/>
              <a:t>Compute class midpoints: </a:t>
            </a:r>
            <a:r>
              <a:rPr lang="en-US" sz="2000" b="1">
                <a:solidFill>
                  <a:schemeClr val="tx2"/>
                </a:solidFill>
                <a:latin typeface="Times New Roman" pitchFamily="18" charset="0"/>
              </a:rPr>
              <a:t>15, 25, 35, 45,  55</a:t>
            </a:r>
          </a:p>
          <a:p>
            <a:pPr>
              <a:lnSpc>
                <a:spcPct val="110000"/>
              </a:lnSpc>
            </a:pPr>
            <a:r>
              <a:rPr lang="en-US"/>
              <a:t>Count observations &amp; assign to classes</a:t>
            </a:r>
          </a:p>
        </p:txBody>
      </p:sp>
    </p:spTree>
    <p:extLst>
      <p:ext uri="{BB962C8B-B14F-4D97-AF65-F5344CB8AC3E}">
        <p14:creationId xmlns:p14="http://schemas.microsoft.com/office/powerpoint/2010/main" val="38556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3000"/>
              <a:t>Frequency Distributions, Relative Frequency Distributions and Percentage Distributions</a:t>
            </a:r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© 2002 Prentice-Hall, Inc. 	</a:t>
            </a:r>
          </a:p>
          <a:p>
            <a:pPr algn="ctr"/>
            <a:endParaRPr lang="en-US">
              <a:solidFill>
                <a:srgbClr val="696464"/>
              </a:solidFill>
            </a:endParaRP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828800" y="2820988"/>
            <a:ext cx="8534400" cy="3732212"/>
          </a:xfrm>
          <a:prstGeom prst="rect">
            <a:avLst/>
          </a:prstGeom>
          <a:solidFill>
            <a:srgbClr val="EAEAEA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2133600" y="1828800"/>
            <a:ext cx="80200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2408239" y="2179639"/>
            <a:ext cx="7375525" cy="36784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US" sz="44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endParaRPr lang="en-US" sz="44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US" sz="44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>
              <a:spcBef>
                <a:spcPct val="50000"/>
              </a:spcBef>
              <a:buFontTx/>
              <a:buChar char="•"/>
            </a:pPr>
            <a:endParaRPr lang="en-US" sz="4400" b="1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2200276" y="3810000"/>
            <a:ext cx="78771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4572000" y="2898776"/>
            <a:ext cx="0" cy="3514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2057401" y="3117850"/>
            <a:ext cx="62833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b="1" dirty="0">
                <a:solidFill>
                  <a:srgbClr val="CC0000"/>
                </a:solidFill>
                <a:latin typeface="Times New Roman" pitchFamily="18" charset="0"/>
              </a:rPr>
              <a:t>  Class                  Frequency</a:t>
            </a: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1898651" y="3879850"/>
            <a:ext cx="8340725" cy="25642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E9E5DC"/>
                </a:solidFill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rgbClr val="1C1C1C"/>
                </a:solidFill>
                <a:latin typeface="Times New Roman" pitchFamily="18" charset="0"/>
              </a:rPr>
              <a:t>10 but under 20               3                     .15                  15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1C1C1C"/>
                </a:solidFill>
                <a:latin typeface="Times New Roman" pitchFamily="18" charset="0"/>
              </a:rPr>
              <a:t>20 but under 30	      6                     .30                  30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1C1C1C"/>
                </a:solidFill>
                <a:latin typeface="Times New Roman" pitchFamily="18" charset="0"/>
              </a:rPr>
              <a:t>30 but under 40	      5                     .25                  25              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1C1C1C"/>
                </a:solidFill>
                <a:latin typeface="Times New Roman" pitchFamily="18" charset="0"/>
              </a:rPr>
              <a:t>40 but under 50               4                     .20                  20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1C1C1C"/>
                </a:solidFill>
                <a:latin typeface="Times New Roman" pitchFamily="18" charset="0"/>
              </a:rPr>
              <a:t>50 but under 60	      2                     .10                  10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</a:rPr>
              <a:t>T</a:t>
            </a:r>
            <a:r>
              <a:rPr lang="en-US" sz="2400" b="1" dirty="0">
                <a:solidFill>
                  <a:srgbClr val="CC0000"/>
                </a:solidFill>
                <a:latin typeface="Times New Roman" pitchFamily="18" charset="0"/>
              </a:rPr>
              <a:t>otal			     20                     1                   100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6400800" y="2898776"/>
            <a:ext cx="0" cy="3514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457951" y="2952750"/>
            <a:ext cx="1635125" cy="6160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CC0000"/>
                </a:solidFill>
                <a:latin typeface="Times New Roman" pitchFamily="18" charset="0"/>
              </a:rPr>
              <a:t>Relative</a:t>
            </a:r>
          </a:p>
          <a:p>
            <a:pPr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b="1">
                <a:solidFill>
                  <a:srgbClr val="CC0000"/>
                </a:solidFill>
                <a:latin typeface="Times New Roman" pitchFamily="18" charset="0"/>
              </a:rPr>
              <a:t>Frequency</a:t>
            </a:r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8001000" y="2898776"/>
            <a:ext cx="0" cy="3514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981951" y="3028950"/>
            <a:ext cx="23971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b="1">
                <a:solidFill>
                  <a:srgbClr val="CC0000"/>
                </a:solidFill>
                <a:latin typeface="Times New Roman" pitchFamily="18" charset="0"/>
              </a:rPr>
              <a:t> Percentage</a:t>
            </a: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2124076" y="6019800"/>
            <a:ext cx="79533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1828800" y="1657350"/>
            <a:ext cx="8534400" cy="104387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</a:rPr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696464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</p:txBody>
      </p:sp>
    </p:spTree>
    <p:extLst>
      <p:ext uri="{BB962C8B-B14F-4D97-AF65-F5344CB8AC3E}">
        <p14:creationId xmlns:p14="http://schemas.microsoft.com/office/powerpoint/2010/main" val="148694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/>
              <a:t>Graphing Numerical Data: </a:t>
            </a:r>
            <a:br>
              <a:rPr lang="en-US"/>
            </a:br>
            <a:r>
              <a:rPr lang="en-US"/>
              <a:t>The Histogram</a:t>
            </a:r>
          </a:p>
        </p:txBody>
      </p:sp>
      <p:graphicFrame>
        <p:nvGraphicFramePr>
          <p:cNvPr id="6349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3505200" y="2667000"/>
          <a:ext cx="5334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Worksheet" r:id="rId3" imgW="2619756" imgH="1762354" progId="Excel.Sheet.8">
                  <p:embed/>
                </p:oleObj>
              </mc:Choice>
              <mc:Fallback>
                <p:oleObj name="Worksheet" r:id="rId3" imgW="2619756" imgH="1762354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667000"/>
                        <a:ext cx="53340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2357439" y="1893888"/>
            <a:ext cx="6594475" cy="527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6330950" y="2667000"/>
            <a:ext cx="3981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6483350" y="2667000"/>
            <a:ext cx="3600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2209800" y="1670050"/>
            <a:ext cx="7924800" cy="104387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</a:rPr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696464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9067800" y="3962401"/>
            <a:ext cx="1371600" cy="920765"/>
          </a:xfrm>
          <a:prstGeom prst="rect">
            <a:avLst/>
          </a:prstGeom>
          <a:solidFill>
            <a:srgbClr val="FEE1C6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  <a:latin typeface="Times New Roman" pitchFamily="18" charset="0"/>
              </a:rPr>
              <a:t>No Gaps Between Bars</a:t>
            </a:r>
          </a:p>
        </p:txBody>
      </p:sp>
      <p:sp>
        <p:nvSpPr>
          <p:cNvPr id="63499" name="Line 11"/>
          <p:cNvSpPr>
            <a:spLocks noChangeShapeType="1"/>
          </p:cNvSpPr>
          <p:nvPr/>
        </p:nvSpPr>
        <p:spPr bwMode="auto">
          <a:xfrm flipH="1" flipV="1">
            <a:off x="4800600" y="5867400"/>
            <a:ext cx="381000" cy="457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 flipH="1" flipV="1">
            <a:off x="5334000" y="5867400"/>
            <a:ext cx="152400" cy="457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01" name="Line 13"/>
          <p:cNvSpPr>
            <a:spLocks noChangeShapeType="1"/>
          </p:cNvSpPr>
          <p:nvPr/>
        </p:nvSpPr>
        <p:spPr bwMode="auto">
          <a:xfrm flipH="1" flipV="1">
            <a:off x="5943600" y="5867400"/>
            <a:ext cx="76200" cy="533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02" name="Line 14"/>
          <p:cNvSpPr>
            <a:spLocks noChangeShapeType="1"/>
          </p:cNvSpPr>
          <p:nvPr/>
        </p:nvSpPr>
        <p:spPr bwMode="auto">
          <a:xfrm flipV="1">
            <a:off x="6553200" y="5867400"/>
            <a:ext cx="0" cy="533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 flipV="1">
            <a:off x="7086600" y="5867400"/>
            <a:ext cx="76200" cy="6096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 flipV="1">
            <a:off x="7543800" y="5867400"/>
            <a:ext cx="152400" cy="533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5210176" y="6281739"/>
            <a:ext cx="2447925" cy="366767"/>
          </a:xfrm>
          <a:prstGeom prst="rect">
            <a:avLst/>
          </a:prstGeom>
          <a:solidFill>
            <a:srgbClr val="FEE1C6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  <a:latin typeface="Times New Roman" pitchFamily="18" charset="0"/>
              </a:rPr>
              <a:t>Class Midpoints</a:t>
            </a:r>
          </a:p>
        </p:txBody>
      </p:sp>
      <p:sp>
        <p:nvSpPr>
          <p:cNvPr id="63513" name="Line 25"/>
          <p:cNvSpPr>
            <a:spLocks noChangeShapeType="1"/>
          </p:cNvSpPr>
          <p:nvPr/>
        </p:nvSpPr>
        <p:spPr bwMode="auto">
          <a:xfrm flipV="1">
            <a:off x="3352800" y="5486400"/>
            <a:ext cx="1752600" cy="685800"/>
          </a:xfrm>
          <a:prstGeom prst="line">
            <a:avLst/>
          </a:prstGeom>
          <a:noFill/>
          <a:ln w="9525">
            <a:solidFill>
              <a:srgbClr val="000099"/>
            </a:solidFill>
            <a:prstDash val="lg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14" name="Line 26"/>
          <p:cNvSpPr>
            <a:spLocks noChangeShapeType="1"/>
          </p:cNvSpPr>
          <p:nvPr/>
        </p:nvSpPr>
        <p:spPr bwMode="auto">
          <a:xfrm flipV="1">
            <a:off x="4191000" y="5562600"/>
            <a:ext cx="1447800" cy="685800"/>
          </a:xfrm>
          <a:prstGeom prst="line">
            <a:avLst/>
          </a:prstGeom>
          <a:noFill/>
          <a:ln w="9525">
            <a:solidFill>
              <a:srgbClr val="000099"/>
            </a:solidFill>
            <a:prstDash val="lg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3516" name="Text Box 28"/>
          <p:cNvSpPr txBox="1">
            <a:spLocks noChangeArrowheads="1"/>
          </p:cNvSpPr>
          <p:nvPr/>
        </p:nvSpPr>
        <p:spPr bwMode="auto">
          <a:xfrm>
            <a:off x="1828800" y="6096000"/>
            <a:ext cx="2667000" cy="3693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99"/>
                </a:solidFill>
              </a:rPr>
              <a:t>Class Boundaries</a:t>
            </a:r>
          </a:p>
        </p:txBody>
      </p:sp>
    </p:spTree>
    <p:extLst>
      <p:ext uri="{BB962C8B-B14F-4D97-AF65-F5344CB8AC3E}">
        <p14:creationId xmlns:p14="http://schemas.microsoft.com/office/powerpoint/2010/main" val="424778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/>
              <a:t>Tabulating Numerical Data: </a:t>
            </a:r>
            <a:br>
              <a:rPr lang="en-US"/>
            </a:br>
            <a:r>
              <a:rPr lang="en-US"/>
              <a:t>Cumulative Frequency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2973388" y="2971800"/>
            <a:ext cx="6551612" cy="279820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	             	          </a:t>
            </a:r>
            <a:r>
              <a:rPr lang="en-US" sz="2000" b="1" dirty="0">
                <a:solidFill>
                  <a:srgbClr val="990000"/>
                </a:solidFill>
                <a:latin typeface="Times New Roman" pitchFamily="18" charset="0"/>
              </a:rPr>
              <a:t>Cumulative            </a:t>
            </a:r>
            <a:r>
              <a:rPr lang="en-US" sz="2000" b="1" dirty="0" err="1">
                <a:solidFill>
                  <a:srgbClr val="990000"/>
                </a:solidFill>
                <a:latin typeface="Times New Roman" pitchFamily="18" charset="0"/>
              </a:rPr>
              <a:t>Cumulative</a:t>
            </a:r>
            <a:endParaRPr lang="en-US" sz="2000" b="1" dirty="0">
              <a:solidFill>
                <a:srgbClr val="990000"/>
              </a:solidFill>
              <a:latin typeface="Times New Roman" pitchFamily="18" charset="0"/>
            </a:endParaRPr>
          </a:p>
          <a:p>
            <a:pPr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sz="2000" b="1" dirty="0">
                <a:solidFill>
                  <a:srgbClr val="990000"/>
                </a:solidFill>
                <a:latin typeface="Times New Roman" pitchFamily="18" charset="0"/>
              </a:rPr>
              <a:t>Class  		           Frequency            % Frequency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           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10 but under 20               3                     15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20 but under 30	      9                     45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30 but under 40	     14                    70              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40 but under 50              18                    90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50 but under 60	     20                   100 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6477000" y="2667000"/>
            <a:ext cx="3600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5543" name="Line 7"/>
          <p:cNvSpPr>
            <a:spLocks noChangeShapeType="1"/>
          </p:cNvSpPr>
          <p:nvPr/>
        </p:nvSpPr>
        <p:spPr bwMode="auto">
          <a:xfrm>
            <a:off x="3124201" y="3581400"/>
            <a:ext cx="56673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5544" name="Line 8"/>
          <p:cNvSpPr>
            <a:spLocks noChangeShapeType="1"/>
          </p:cNvSpPr>
          <p:nvPr/>
        </p:nvSpPr>
        <p:spPr bwMode="auto">
          <a:xfrm>
            <a:off x="5334000" y="3124201"/>
            <a:ext cx="0" cy="24669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5545" name="Line 9"/>
          <p:cNvSpPr>
            <a:spLocks noChangeShapeType="1"/>
          </p:cNvSpPr>
          <p:nvPr/>
        </p:nvSpPr>
        <p:spPr bwMode="auto">
          <a:xfrm>
            <a:off x="7239000" y="3200401"/>
            <a:ext cx="0" cy="24669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5546" name="Rectangle 10"/>
          <p:cNvSpPr>
            <a:spLocks noChangeArrowheads="1"/>
          </p:cNvSpPr>
          <p:nvPr/>
        </p:nvSpPr>
        <p:spPr bwMode="auto">
          <a:xfrm>
            <a:off x="2209800" y="1670050"/>
            <a:ext cx="7924800" cy="104387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</a:rPr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696464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</p:txBody>
      </p:sp>
    </p:spTree>
    <p:extLst>
      <p:ext uri="{BB962C8B-B14F-4D97-AF65-F5344CB8AC3E}">
        <p14:creationId xmlns:p14="http://schemas.microsoft.com/office/powerpoint/2010/main" val="87717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/>
              <a:t>Graphing Numerical Data: </a:t>
            </a:r>
            <a:br>
              <a:rPr lang="en-US"/>
            </a:br>
            <a:r>
              <a:rPr lang="en-US" sz="3700"/>
              <a:t>The Ogive (Cumulative % Polygon)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6324600" y="2667000"/>
            <a:ext cx="3981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477000" y="2667000"/>
            <a:ext cx="3600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graphicFrame>
        <p:nvGraphicFramePr>
          <p:cNvPr id="66566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2903538" y="2673350"/>
          <a:ext cx="6538912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Worksheet" r:id="rId3" imgW="2981554" imgH="1943405" progId="Excel.Sheet.8">
                  <p:embed/>
                </p:oleObj>
              </mc:Choice>
              <mc:Fallback>
                <p:oleObj name="Worksheet" r:id="rId3" imgW="2981554" imgH="1943405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2673350"/>
                        <a:ext cx="6538912" cy="334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3581400" y="6013451"/>
            <a:ext cx="5181600" cy="366767"/>
          </a:xfrm>
          <a:prstGeom prst="rect">
            <a:avLst/>
          </a:prstGeom>
          <a:solidFill>
            <a:srgbClr val="FEE1C6"/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  <a:latin typeface="Times New Roman" pitchFamily="18" charset="0"/>
              </a:rPr>
              <a:t>Class Boundaries (</a:t>
            </a:r>
            <a:r>
              <a:rPr lang="en-US" b="1" i="1">
                <a:solidFill>
                  <a:srgbClr val="CC0000"/>
                </a:solidFill>
                <a:latin typeface="Times New Roman" pitchFamily="18" charset="0"/>
              </a:rPr>
              <a:t>Not Midpoints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en-US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2209800" y="1670050"/>
            <a:ext cx="7924800" cy="104387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</a:rPr>
              <a:t>Data in ordered array: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696464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</p:txBody>
      </p:sp>
    </p:spTree>
    <p:extLst>
      <p:ext uri="{BB962C8B-B14F-4D97-AF65-F5344CB8AC3E}">
        <p14:creationId xmlns:p14="http://schemas.microsoft.com/office/powerpoint/2010/main" val="3991630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Graphing </a:t>
            </a:r>
            <a:r>
              <a:rPr lang="en-US" dirty="0" smtClean="0"/>
              <a:t>Two Numerical Variables - Scatter Plot</a:t>
            </a:r>
            <a:endParaRPr lang="en-US" dirty="0"/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2209800" y="1600200"/>
          <a:ext cx="8077200" cy="472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Chart" r:id="rId3" imgW="3143707" imgH="1714805" progId="Excel.Chart.8">
                  <p:embed/>
                </p:oleObj>
              </mc:Choice>
              <mc:Fallback>
                <p:oleObj name="Chart" r:id="rId3" imgW="3143707" imgH="171480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0"/>
                        <a:ext cx="8077200" cy="472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7260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Time-Series Plot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Numerical variable on Y-axis, associated time period on X-axis.</a:t>
            </a:r>
            <a:endParaRPr lang="en-IN" dirty="0"/>
          </a:p>
        </p:txBody>
      </p:sp>
      <p:pic>
        <p:nvPicPr>
          <p:cNvPr id="37890" name="Picture 2" descr="http://www.uow.edu.au/content/groups/public/@web/@stsv/documents/mm/uow15357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286000"/>
            <a:ext cx="7239000" cy="434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087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Errors in visualizing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7772400" cy="5410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smtClean="0"/>
              <a:t>Using “chart junk”, visual effects that distort or distract from the data to be presented, </a:t>
            </a:r>
            <a:r>
              <a:rPr lang="en-US" dirty="0" err="1" smtClean="0"/>
              <a:t>eg</a:t>
            </a:r>
            <a:r>
              <a:rPr lang="en-US" dirty="0" smtClean="0"/>
              <a:t>: garish graphics, irrelevant visuals.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Failing to provide a relative basis in comparing data between groups. For example, two separate pie charts showing the operations of two companies does not help if we’re trying to compare the two.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Compressing the vertical axis – using an axis going up to 100 when the highest value is 30. 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smtClean="0"/>
              <a:t>Make sure to include zero on the axes.</a:t>
            </a:r>
          </a:p>
        </p:txBody>
      </p:sp>
    </p:spTree>
    <p:extLst>
      <p:ext uri="{BB962C8B-B14F-4D97-AF65-F5344CB8AC3E}">
        <p14:creationId xmlns:p14="http://schemas.microsoft.com/office/powerpoint/2010/main" val="898277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Measures of Central Tendency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52800" y="1600200"/>
            <a:ext cx="5829300" cy="440055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Most sets of data show a tendency to group around a central value, this is the ‘central tendency’.</a:t>
            </a:r>
          </a:p>
          <a:p>
            <a:r>
              <a:rPr lang="en-US" dirty="0" smtClean="0"/>
              <a:t>The most common measures of central tendency are </a:t>
            </a:r>
            <a:r>
              <a:rPr lang="en-US" b="1" dirty="0" smtClean="0"/>
              <a:t>mean, median, </a:t>
            </a:r>
            <a:r>
              <a:rPr lang="en-US" dirty="0" smtClean="0"/>
              <a:t>and </a:t>
            </a:r>
            <a:r>
              <a:rPr lang="en-US" b="1" dirty="0" smtClean="0"/>
              <a:t>mode.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/>
              <a:t>mean</a:t>
            </a:r>
            <a:r>
              <a:rPr lang="en-US" dirty="0" smtClean="0"/>
              <a:t>, also called the arithmetic mean, is the average of all values in the sample space.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i="1" dirty="0" smtClean="0"/>
              <a:t>n</a:t>
            </a:r>
            <a:r>
              <a:rPr lang="en-US" dirty="0" smtClean="0"/>
              <a:t> is the size of the sample.</a:t>
            </a:r>
            <a:endParaRPr lang="en-IN" i="1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>
            <p:extLst/>
          </p:nvPr>
        </p:nvGraphicFramePr>
        <p:xfrm>
          <a:off x="4114800" y="4114801"/>
          <a:ext cx="3829050" cy="1202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3" imgW="1942920" imgH="609480" progId="Equation.DSMT4">
                  <p:embed/>
                </p:oleObj>
              </mc:Choice>
              <mc:Fallback>
                <p:oleObj name="Equation" r:id="rId3" imgW="19429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114801"/>
                        <a:ext cx="3829050" cy="12025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191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Mean of Grouped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i="1" dirty="0" smtClean="0"/>
              <a:t>d </a:t>
            </a:r>
            <a:r>
              <a:rPr lang="en-US" dirty="0" smtClean="0"/>
              <a:t>is the number of classes </a:t>
            </a:r>
          </a:p>
          <a:p>
            <a:r>
              <a:rPr lang="en-US" i="1" dirty="0" err="1" smtClean="0"/>
              <a:t>f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  </a:t>
            </a:r>
            <a:r>
              <a:rPr lang="en-US" dirty="0" smtClean="0"/>
              <a:t>is the frequency of the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class</a:t>
            </a:r>
          </a:p>
          <a:p>
            <a:r>
              <a:rPr lang="en-US" i="1" dirty="0" smtClean="0"/>
              <a:t>x</a:t>
            </a:r>
            <a:r>
              <a:rPr lang="en-US" i="1" baseline="-25000" dirty="0" smtClean="0"/>
              <a:t>i</a:t>
            </a:r>
            <a:r>
              <a:rPr lang="en-US" dirty="0" smtClean="0"/>
              <a:t> is the mid-point of the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class               </a:t>
            </a:r>
            <a:endParaRPr lang="en-US" i="1" dirty="0" smtClean="0"/>
          </a:p>
          <a:p>
            <a:r>
              <a:rPr lang="en-US" i="1" dirty="0" smtClean="0"/>
              <a:t>n</a:t>
            </a:r>
            <a:r>
              <a:rPr lang="en-US" dirty="0" smtClean="0"/>
              <a:t> is the sample size    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000" y="857251"/>
            <a:ext cx="57150" cy="142875"/>
          </a:xfrm>
          <a:prstGeom prst="rect">
            <a:avLst/>
          </a:prstGeom>
          <a:noFill/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000" y="857251"/>
            <a:ext cx="57150" cy="142875"/>
          </a:xfrm>
          <a:prstGeom prst="rect">
            <a:avLst/>
          </a:prstGeom>
          <a:noFill/>
        </p:spPr>
      </p:pic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000" y="857251"/>
            <a:ext cx="57150" cy="142875"/>
          </a:xfrm>
          <a:prstGeom prst="rect">
            <a:avLst/>
          </a:prstGeom>
          <a:noFill/>
        </p:spPr>
      </p:pic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10001" y="2000250"/>
            <a:ext cx="1846385" cy="857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236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0" y="1063228"/>
            <a:ext cx="5829300" cy="536972"/>
          </a:xfrm>
        </p:spPr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Grouped data mean example</a:t>
            </a:r>
            <a:endParaRPr lang="en-US" sz="2250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"/>
          </p:nvPr>
        </p:nvSpPr>
        <p:spPr>
          <a:xfrm>
            <a:off x="3352800" y="1943100"/>
            <a:ext cx="5829300" cy="3600450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Mean = (15*3+25*6+35*5+45*4+55*2)/20 = 33</a:t>
            </a:r>
            <a:endParaRPr lang="en-IN" dirty="0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2895600" y="2057400"/>
            <a:ext cx="6400800" cy="2800350"/>
          </a:xfrm>
          <a:prstGeom prst="rect">
            <a:avLst/>
          </a:prstGeom>
          <a:solidFill>
            <a:srgbClr val="EAEAEA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3124200" y="2228851"/>
            <a:ext cx="6015038" cy="481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330180" y="2491980"/>
            <a:ext cx="5531644" cy="27588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7866" tIns="33338" rIns="67866" bIns="33338">
            <a:spAutoFit/>
          </a:bodyPr>
          <a:lstStyle/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US" sz="33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endParaRPr lang="en-US" sz="33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US" sz="3300" b="1">
              <a:solidFill>
                <a:srgbClr val="333399"/>
              </a:solidFill>
              <a:latin typeface="Times New Roman" pitchFamily="18" charset="0"/>
            </a:endParaRPr>
          </a:p>
          <a:p>
            <a:pPr algn="ctr">
              <a:spcBef>
                <a:spcPct val="50000"/>
              </a:spcBef>
              <a:buFontTx/>
              <a:buChar char="•"/>
            </a:pPr>
            <a:endParaRPr lang="en-US" sz="3300" b="1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174209" y="2800350"/>
            <a:ext cx="5907881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4953000" y="2116932"/>
            <a:ext cx="0" cy="26360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3067051" y="2281238"/>
            <a:ext cx="4712494" cy="3904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7866" tIns="33338" rIns="67866" bIns="333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100" b="1" dirty="0">
                <a:solidFill>
                  <a:srgbClr val="CC0000"/>
                </a:solidFill>
                <a:latin typeface="Times New Roman" pitchFamily="18" charset="0"/>
              </a:rPr>
              <a:t>  Class                  Frequency</a:t>
            </a: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2947989" y="2852738"/>
            <a:ext cx="6255544" cy="19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7866" tIns="33338" rIns="67866" bIns="33338">
            <a:spAutoFit/>
          </a:bodyPr>
          <a:lstStyle/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350" b="1" dirty="0">
                <a:solidFill>
                  <a:srgbClr val="E9E5DC"/>
                </a:solidFill>
                <a:latin typeface="Times New Roman" pitchFamily="18" charset="0"/>
              </a:rPr>
              <a:t> </a:t>
            </a:r>
            <a:r>
              <a:rPr lang="en-US" b="1" dirty="0">
                <a:solidFill>
                  <a:srgbClr val="1C1C1C"/>
                </a:solidFill>
                <a:latin typeface="Times New Roman" pitchFamily="18" charset="0"/>
              </a:rPr>
              <a:t>10 but under 20               3                     .15                  15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1C1C1C"/>
                </a:solidFill>
                <a:latin typeface="Times New Roman" pitchFamily="18" charset="0"/>
              </a:rPr>
              <a:t>20 but under 30	      6                     .30                  30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1C1C1C"/>
                </a:solidFill>
                <a:latin typeface="Times New Roman" pitchFamily="18" charset="0"/>
              </a:rPr>
              <a:t>30 but under 40	      5                     .25                  25              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1C1C1C"/>
                </a:solidFill>
                <a:latin typeface="Times New Roman" pitchFamily="18" charset="0"/>
              </a:rPr>
              <a:t>40 but under 50               4                     .20                  20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1C1C1C"/>
                </a:solidFill>
                <a:latin typeface="Times New Roman" pitchFamily="18" charset="0"/>
              </a:rPr>
              <a:t>50 but under 60	      2                     .10                  10</a:t>
            </a:r>
          </a:p>
          <a:p>
            <a:pPr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</a:rPr>
              <a:t>T</a:t>
            </a:r>
            <a:r>
              <a:rPr lang="en-US" b="1" dirty="0">
                <a:solidFill>
                  <a:srgbClr val="CC0000"/>
                </a:solidFill>
                <a:latin typeface="Times New Roman" pitchFamily="18" charset="0"/>
              </a:rPr>
              <a:t>otal			     20                     1                   100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6324600" y="2116932"/>
            <a:ext cx="0" cy="26360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367464" y="2157414"/>
            <a:ext cx="1226344" cy="46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7866" tIns="33338" rIns="67866" bIns="333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350" b="1">
                <a:solidFill>
                  <a:srgbClr val="CC0000"/>
                </a:solidFill>
                <a:latin typeface="Times New Roman" pitchFamily="18" charset="0"/>
              </a:rPr>
              <a:t>Relative</a:t>
            </a:r>
          </a:p>
          <a:p>
            <a:pPr ea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sz="1350" b="1">
                <a:solidFill>
                  <a:srgbClr val="CC0000"/>
                </a:solidFill>
                <a:latin typeface="Times New Roman" pitchFamily="18" charset="0"/>
              </a:rPr>
              <a:t>Frequency</a:t>
            </a:r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7524750" y="2116932"/>
            <a:ext cx="0" cy="26360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510464" y="2214563"/>
            <a:ext cx="1797844" cy="3904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7866" tIns="33338" rIns="67866" bIns="333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100" b="1">
                <a:solidFill>
                  <a:srgbClr val="CC0000"/>
                </a:solidFill>
                <a:latin typeface="Times New Roman" pitchFamily="18" charset="0"/>
              </a:rPr>
              <a:t> Percentage</a:t>
            </a: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3117059" y="4457700"/>
            <a:ext cx="5965031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1350">
              <a:solidFill>
                <a:prstClr val="black"/>
              </a:solidFill>
            </a:endParaRP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895600" y="1543052"/>
            <a:ext cx="6629400" cy="436659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7866" tIns="33338" rIns="67866" bIns="333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</a:rPr>
              <a:t>Data: </a:t>
            </a:r>
            <a:r>
              <a:rPr lang="en-US" sz="1500" b="1" dirty="0">
                <a:solidFill>
                  <a:srgbClr val="696464"/>
                </a:solidFill>
                <a:latin typeface="Times New Roman" pitchFamily="18" charset="0"/>
              </a:rPr>
              <a:t>12, 13, 17, 21, 24, 24, 26, 27, 27, 30, 32, 35, 37, 38, 41, 43, 44, 46, 53, 58</a:t>
            </a:r>
          </a:p>
        </p:txBody>
      </p:sp>
    </p:spTree>
    <p:extLst>
      <p:ext uri="{BB962C8B-B14F-4D97-AF65-F5344CB8AC3E}">
        <p14:creationId xmlns:p14="http://schemas.microsoft.com/office/powerpoint/2010/main" val="178089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Median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95650" y="2057402"/>
            <a:ext cx="6057900" cy="33992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Robust measure of central tendency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Not affected by extreme values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 In an ordered array, the median is the “middle” number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Median: (n+1)/2 ranked value.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If n is odd, the median is the middle number.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If n is even, the median is the average of the two middle numbers.</a:t>
            </a:r>
          </a:p>
          <a:p>
            <a:pPr>
              <a:lnSpc>
                <a:spcPct val="90000"/>
              </a:lnSpc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01835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28600"/>
            <a:ext cx="75438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</a:t>
            </a:r>
            <a:r>
              <a:rPr lang="en-US" dirty="0" smtClean="0"/>
              <a:t>alculating Median of Grouped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7400" y="914400"/>
            <a:ext cx="8229600" cy="5638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 cumulative frequency to  find class that contains median.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n</a:t>
            </a:r>
            <a:r>
              <a:rPr lang="en-US" dirty="0"/>
              <a:t> is sample size, </a:t>
            </a:r>
            <a:r>
              <a:rPr lang="en-US" i="1" dirty="0"/>
              <a:t>w </a:t>
            </a:r>
            <a:r>
              <a:rPr lang="en-US" dirty="0"/>
              <a:t>is class interval width </a:t>
            </a:r>
          </a:p>
          <a:p>
            <a:r>
              <a:rPr lang="en-US" i="1" dirty="0"/>
              <a:t>F</a:t>
            </a:r>
            <a:r>
              <a:rPr lang="en-US" dirty="0"/>
              <a:t> is cumulative frequency </a:t>
            </a:r>
            <a:r>
              <a:rPr lang="en-US" i="1" dirty="0"/>
              <a:t>up to but not including</a:t>
            </a:r>
            <a:r>
              <a:rPr lang="en-US" dirty="0"/>
              <a:t> the median class.</a:t>
            </a:r>
          </a:p>
          <a:p>
            <a:r>
              <a:rPr lang="en-US" i="1" dirty="0" err="1"/>
              <a:t>f</a:t>
            </a:r>
            <a:r>
              <a:rPr lang="en-US" i="1" baseline="-25000" dirty="0" err="1"/>
              <a:t>m</a:t>
            </a:r>
            <a:r>
              <a:rPr lang="en-US" i="1" dirty="0"/>
              <a:t> </a:t>
            </a:r>
            <a:r>
              <a:rPr lang="en-US" dirty="0"/>
              <a:t>is the frequency of the median class</a:t>
            </a:r>
          </a:p>
          <a:p>
            <a:r>
              <a:rPr lang="en-US" i="1" dirty="0"/>
              <a:t>L</a:t>
            </a:r>
            <a:r>
              <a:rPr lang="en-US" i="1" baseline="-25000" dirty="0"/>
              <a:t>m</a:t>
            </a:r>
            <a:r>
              <a:rPr lang="en-US" i="1" dirty="0"/>
              <a:t> </a:t>
            </a:r>
            <a:r>
              <a:rPr lang="en-US" dirty="0"/>
              <a:t>is the lower limit of the median class.</a:t>
            </a:r>
          </a:p>
          <a:p>
            <a:r>
              <a:rPr lang="en-US" dirty="0"/>
              <a:t>Example: [((20+1)/2 – (9+1))/5]*10 + 30 = 31</a:t>
            </a:r>
            <a:r>
              <a:rPr lang="en-US" i="1" dirty="0"/>
              <a:t>  </a:t>
            </a:r>
          </a:p>
          <a:p>
            <a:r>
              <a:rPr lang="en-US" dirty="0"/>
              <a:t>The median formula can be modified to calculate any percentile. </a:t>
            </a:r>
            <a:r>
              <a:rPr lang="en-US" dirty="0" err="1"/>
              <a:t>Eg</a:t>
            </a:r>
            <a:r>
              <a:rPr lang="en-US" dirty="0"/>
              <a:t>, for 90</a:t>
            </a:r>
            <a:r>
              <a:rPr lang="en-US" baseline="30000" dirty="0"/>
              <a:t>th</a:t>
            </a:r>
            <a:r>
              <a:rPr lang="en-US" dirty="0"/>
              <a:t> percentile change (n+1)/2 to (n+1)(9/10) and change </a:t>
            </a:r>
            <a:r>
              <a:rPr lang="en-US" dirty="0" err="1"/>
              <a:t>fm</a:t>
            </a:r>
            <a:r>
              <a:rPr lang="en-US" dirty="0"/>
              <a:t>, F, Lm, and w accordingly.</a:t>
            </a:r>
            <a:endParaRPr lang="en-IN" dirty="0"/>
          </a:p>
          <a:p>
            <a:endParaRPr lang="en-US" dirty="0" smtClean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3400" y="1676400"/>
            <a:ext cx="4051300" cy="12153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690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19400" y="1752600"/>
            <a:ext cx="7162800" cy="4800600"/>
          </a:xfrm>
        </p:spPr>
        <p:txBody>
          <a:bodyPr/>
          <a:lstStyle/>
          <a:p>
            <a:r>
              <a:rPr lang="en-US" sz="2800" dirty="0"/>
              <a:t>A measure of central tendency</a:t>
            </a:r>
          </a:p>
          <a:p>
            <a:r>
              <a:rPr lang="en-US" sz="2800" dirty="0"/>
              <a:t>It is the value that occurs most often in the sample.</a:t>
            </a:r>
          </a:p>
          <a:p>
            <a:r>
              <a:rPr lang="en-US" sz="2800" dirty="0"/>
              <a:t>Not affected by extreme values</a:t>
            </a:r>
          </a:p>
          <a:p>
            <a:r>
              <a:rPr lang="en-US" sz="2800" dirty="0"/>
              <a:t>Used for either numerical or categorical data</a:t>
            </a:r>
          </a:p>
          <a:p>
            <a:r>
              <a:rPr lang="en-US" sz="2800" dirty="0"/>
              <a:t>There may be no mode if all values have the same frequency</a:t>
            </a:r>
          </a:p>
          <a:p>
            <a:r>
              <a:rPr lang="en-US" sz="2800" dirty="0"/>
              <a:t>There may be several modes if more than one value are tied for the highest frequency.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2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Calculating mode of grouped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67002" y="1439864"/>
            <a:ext cx="7238999" cy="503713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Determine the class with the highest frequency. This is called the modal class.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</a:t>
            </a:r>
            <a:r>
              <a:rPr lang="en-US" baseline="-25000" dirty="0" smtClean="0"/>
              <a:t>M0</a:t>
            </a:r>
            <a:r>
              <a:rPr lang="en-US" dirty="0" smtClean="0"/>
              <a:t> is the lower limit of the modal class.</a:t>
            </a:r>
          </a:p>
          <a:p>
            <a:r>
              <a:rPr lang="en-US" dirty="0" smtClean="0"/>
              <a:t>d</a:t>
            </a:r>
            <a:r>
              <a:rPr lang="en-US" baseline="-25000" dirty="0" smtClean="0"/>
              <a:t>1</a:t>
            </a:r>
            <a:r>
              <a:rPr lang="en-US" dirty="0" smtClean="0"/>
              <a:t> is the difference between modal class frequency and the frequency of the class with value below the modal class.</a:t>
            </a:r>
          </a:p>
          <a:p>
            <a:r>
              <a:rPr lang="en-US" dirty="0" smtClean="0"/>
              <a:t>d</a:t>
            </a:r>
            <a:r>
              <a:rPr lang="en-US" baseline="-25000" dirty="0" smtClean="0"/>
              <a:t>2</a:t>
            </a:r>
            <a:r>
              <a:rPr lang="en-US" dirty="0" smtClean="0"/>
              <a:t> is the difference between modal class frequency and the frequency of the class with value above the modal class.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w</a:t>
            </a:r>
            <a:r>
              <a:rPr lang="en-US" dirty="0" smtClean="0"/>
              <a:t> is the width of the modal class interval. </a:t>
            </a:r>
          </a:p>
          <a:p>
            <a:r>
              <a:rPr lang="en-US" dirty="0" smtClean="0"/>
              <a:t>In the example, mode = 20+((6-3)/(6-3+6-5))*10=27.5     </a:t>
            </a:r>
            <a:endParaRPr lang="en-IN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350">
              <a:solidFill>
                <a:prstClr val="black"/>
              </a:solidFill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1" y="2209800"/>
            <a:ext cx="3374293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2330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457200"/>
            <a:ext cx="8229600" cy="60960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20 to less than 32	6</a:t>
            </a:r>
          </a:p>
          <a:p>
            <a:r>
              <a:rPr lang="en-US" dirty="0" smtClean="0"/>
              <a:t>32 </a:t>
            </a:r>
            <a:r>
              <a:rPr lang="en-US" dirty="0"/>
              <a:t>to less than </a:t>
            </a:r>
            <a:r>
              <a:rPr lang="en-US" dirty="0" smtClean="0"/>
              <a:t>44	8	</a:t>
            </a:r>
          </a:p>
          <a:p>
            <a:r>
              <a:rPr lang="en-US" dirty="0" smtClean="0"/>
              <a:t>44 </a:t>
            </a:r>
            <a:r>
              <a:rPr lang="en-US" dirty="0"/>
              <a:t>to less than </a:t>
            </a:r>
            <a:r>
              <a:rPr lang="en-US" dirty="0" smtClean="0"/>
              <a:t>56	12</a:t>
            </a:r>
          </a:p>
          <a:p>
            <a:r>
              <a:rPr lang="en-US" dirty="0" smtClean="0"/>
              <a:t>56 </a:t>
            </a:r>
            <a:r>
              <a:rPr lang="en-US" dirty="0"/>
              <a:t>to less than </a:t>
            </a:r>
            <a:r>
              <a:rPr lang="en-US" dirty="0" smtClean="0"/>
              <a:t>68	5	</a:t>
            </a:r>
          </a:p>
          <a:p>
            <a:r>
              <a:rPr lang="en-US" dirty="0" smtClean="0"/>
              <a:t>68 </a:t>
            </a:r>
            <a:r>
              <a:rPr lang="en-US" dirty="0"/>
              <a:t>to less than </a:t>
            </a:r>
            <a:r>
              <a:rPr lang="en-US" dirty="0" smtClean="0"/>
              <a:t>80	3</a:t>
            </a:r>
          </a:p>
          <a:p>
            <a:r>
              <a:rPr lang="en-US" dirty="0" smtClean="0"/>
              <a:t>n=6+8+12+5+3=34</a:t>
            </a:r>
          </a:p>
          <a:p>
            <a:r>
              <a:rPr lang="en-US" dirty="0" smtClean="0"/>
              <a:t>Mean = (26*6 + 38*8 + 12*50 + 5*62 + 3*74)/34</a:t>
            </a:r>
          </a:p>
          <a:p>
            <a:r>
              <a:rPr lang="en-US" dirty="0" smtClean="0"/>
              <a:t>Median = (34+1)*0.5 = 17.5</a:t>
            </a:r>
            <a:r>
              <a:rPr lang="en-US" baseline="30000" dirty="0" smtClean="0"/>
              <a:t>th</a:t>
            </a:r>
            <a:r>
              <a:rPr lang="en-US" dirty="0" smtClean="0"/>
              <a:t> data point, F=6+8=14,</a:t>
            </a:r>
          </a:p>
          <a:p>
            <a:r>
              <a:rPr lang="en-US" dirty="0" smtClean="0"/>
              <a:t>44+ [(17.5-15)/12]*12=46.5</a:t>
            </a:r>
          </a:p>
          <a:p>
            <a:endParaRPr lang="en-US" dirty="0"/>
          </a:p>
          <a:p>
            <a:r>
              <a:rPr lang="en-US" dirty="0" smtClean="0"/>
              <a:t>Mode: Lower limit: 44, d1=4, d2=7</a:t>
            </a:r>
          </a:p>
          <a:p>
            <a:r>
              <a:rPr lang="en-US" dirty="0" smtClean="0"/>
              <a:t>Mode = 44+ [4/(4+7)]*12=48.44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393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Variation and shape of data: Range</a:t>
            </a:r>
            <a:endParaRPr lang="en-US" altLang="en-US" dirty="0"/>
          </a:p>
        </p:txBody>
      </p:sp>
      <p:graphicFrame>
        <p:nvGraphicFramePr>
          <p:cNvPr id="107527" name="Object 7"/>
          <p:cNvGraphicFramePr>
            <a:graphicFrameLocks noChangeAspect="1"/>
          </p:cNvGraphicFramePr>
          <p:nvPr>
            <p:extLst/>
          </p:nvPr>
        </p:nvGraphicFramePr>
        <p:xfrm>
          <a:off x="3748585" y="2696767"/>
          <a:ext cx="3257550" cy="50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3" imgW="1549080" imgH="241200" progId="Equation.DSMT4">
                  <p:embed/>
                </p:oleObj>
              </mc:Choice>
              <mc:Fallback>
                <p:oleObj name="Equation" r:id="rId3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585" y="2696767"/>
                        <a:ext cx="3257550" cy="508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6"/>
          <p:cNvSpPr txBox="1">
            <a:spLocks noChangeArrowheads="1"/>
          </p:cNvSpPr>
          <p:nvPr/>
        </p:nvSpPr>
        <p:spPr>
          <a:xfrm>
            <a:off x="2438400" y="1943100"/>
            <a:ext cx="7772400" cy="3429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34817"/>
              </a:buClr>
            </a:pPr>
            <a:r>
              <a:rPr lang="en-US" altLang="en-US" sz="2400" dirty="0">
                <a:solidFill>
                  <a:prstClr val="black"/>
                </a:solidFill>
              </a:rPr>
              <a:t>Measure of variation</a:t>
            </a:r>
          </a:p>
          <a:p>
            <a:pPr>
              <a:buClr>
                <a:srgbClr val="D34817"/>
              </a:buClr>
            </a:pPr>
            <a:r>
              <a:rPr lang="en-US" altLang="en-US" sz="2400" dirty="0">
                <a:solidFill>
                  <a:prstClr val="black"/>
                </a:solidFill>
              </a:rPr>
              <a:t>Difference between the largest and the smallest observations:</a:t>
            </a:r>
          </a:p>
          <a:p>
            <a:pPr>
              <a:buClr>
                <a:srgbClr val="D34817"/>
              </a:buClr>
            </a:pPr>
            <a:endParaRPr lang="en-US" altLang="en-US" sz="2400" dirty="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  <a:buClr>
                <a:srgbClr val="D34817"/>
              </a:buClr>
            </a:pPr>
            <a:endParaRPr lang="en-US" altLang="en-US" sz="2400" dirty="0">
              <a:solidFill>
                <a:prstClr val="black"/>
              </a:solidFill>
            </a:endParaRPr>
          </a:p>
          <a:p>
            <a:pPr>
              <a:lnSpc>
                <a:spcPct val="60000"/>
              </a:lnSpc>
              <a:buClr>
                <a:srgbClr val="D34817"/>
              </a:buClr>
            </a:pPr>
            <a:r>
              <a:rPr lang="en-US" altLang="en-US" sz="2400" dirty="0">
                <a:solidFill>
                  <a:prstClr val="black"/>
                </a:solidFill>
              </a:rPr>
              <a:t>Ignores the way in which data are distributed</a:t>
            </a:r>
          </a:p>
          <a:p>
            <a:pPr>
              <a:lnSpc>
                <a:spcPct val="60000"/>
              </a:lnSpc>
              <a:buClr>
                <a:srgbClr val="D34817"/>
              </a:buClr>
            </a:pPr>
            <a:endParaRPr lang="en-US" altLang="en-US" sz="2400" dirty="0">
              <a:solidFill>
                <a:prstClr val="black"/>
              </a:solidFill>
            </a:endParaRPr>
          </a:p>
          <a:p>
            <a:pPr>
              <a:lnSpc>
                <a:spcPct val="60000"/>
              </a:lnSpc>
              <a:buClr>
                <a:srgbClr val="D34817"/>
              </a:buClr>
            </a:pPr>
            <a:r>
              <a:rPr lang="en-US" altLang="en-US" sz="2400" dirty="0">
                <a:solidFill>
                  <a:prstClr val="black"/>
                </a:solidFill>
              </a:rPr>
              <a:t>Does not consider how the values cluster between extremes.</a:t>
            </a:r>
          </a:p>
          <a:p>
            <a:pPr>
              <a:buClr>
                <a:srgbClr val="D34817"/>
              </a:buClr>
              <a:buFont typeface="Wingdings" panose="05000000000000000000" pitchFamily="2" charset="2"/>
              <a:buNone/>
            </a:pPr>
            <a:endParaRPr lang="en-US" altLang="en-US" sz="19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08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1" name="Object 3"/>
          <p:cNvGraphicFramePr>
            <a:graphicFrameLocks noChangeAspect="1"/>
          </p:cNvGraphicFramePr>
          <p:nvPr>
            <p:extLst/>
          </p:nvPr>
        </p:nvGraphicFramePr>
        <p:xfrm>
          <a:off x="5238750" y="4248150"/>
          <a:ext cx="2171700" cy="1146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3" imgW="1155600" imgH="609480" progId="Equation.DSMT4">
                  <p:embed/>
                </p:oleObj>
              </mc:Choice>
              <mc:Fallback>
                <p:oleObj name="Equation" r:id="rId3" imgW="115560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4248150"/>
                        <a:ext cx="2171700" cy="1146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9573" name="Rectangle 5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 smtClean="0"/>
                  <a:t>Important measure of variation</a:t>
                </a:r>
              </a:p>
              <a:p>
                <a:r>
                  <a:rPr lang="en-US" altLang="en-US" dirty="0"/>
                  <a:t>Shows variation about the </a:t>
                </a:r>
                <a:r>
                  <a:rPr lang="en-US" altLang="en-US" dirty="0" smtClean="0"/>
                  <a:t>mean</a:t>
                </a:r>
              </a:p>
              <a:p>
                <a:r>
                  <a:rPr lang="en-US" altLang="en-US" dirty="0" smtClean="0"/>
                  <a:t>Is the average of the square of the difference between an element and the mean</a:t>
                </a:r>
                <a:endParaRPr lang="en-US" altLang="en-US" dirty="0"/>
              </a:p>
              <a:p>
                <a:pPr lvl="1"/>
                <a:endParaRPr lang="en-US" altLang="en-US" dirty="0" smtClean="0"/>
              </a:p>
              <a:p>
                <a:pPr lvl="1"/>
                <a:endParaRPr lang="en-US" altLang="en-US" dirty="0"/>
              </a:p>
              <a:p>
                <a:pPr lvl="1"/>
                <a:r>
                  <a:rPr lang="en-US" altLang="en-US" dirty="0" smtClean="0"/>
                  <a:t>Sample </a:t>
                </a:r>
                <a:r>
                  <a:rPr lang="en-US" altLang="en-US" dirty="0"/>
                  <a:t>variance: </a:t>
                </a:r>
                <a:r>
                  <a:rPr lang="en-US" altLang="en-US" dirty="0" smtClean="0"/>
                  <a:t>                                                           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en-US" dirty="0" smtClean="0"/>
                  <a:t> is the sample mean.</a:t>
                </a:r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r>
                  <a:rPr lang="en-US" altLang="en-US" dirty="0"/>
                  <a:t>Population variance</a:t>
                </a:r>
                <a:r>
                  <a:rPr lang="en-US" altLang="en-US" dirty="0" smtClean="0"/>
                  <a:t>:                                                       , </a:t>
                </a:r>
                <a:r>
                  <a:rPr lang="en-US" altLang="en-US" i="1" dirty="0" smtClean="0"/>
                  <a:t>µ </a:t>
                </a:r>
                <a:r>
                  <a:rPr lang="en-US" altLang="en-US" dirty="0" smtClean="0"/>
                  <a:t>is the population mean.</a:t>
                </a:r>
                <a:endParaRPr lang="en-US" altLang="en-US" i="1" dirty="0"/>
              </a:p>
            </p:txBody>
          </p:sp>
        </mc:Choice>
        <mc:Fallback xmlns="">
          <p:sp>
            <p:nvSpPr>
              <p:cNvPr id="109573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5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574" name="Object 6"/>
          <p:cNvGraphicFramePr>
            <a:graphicFrameLocks noChangeAspect="1"/>
          </p:cNvGraphicFramePr>
          <p:nvPr>
            <p:extLst/>
          </p:nvPr>
        </p:nvGraphicFramePr>
        <p:xfrm>
          <a:off x="5046829" y="2950724"/>
          <a:ext cx="22288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6" imgW="1168200" imgH="609480" progId="Equation.DSMT4">
                  <p:embed/>
                </p:oleObj>
              </mc:Choice>
              <mc:Fallback>
                <p:oleObj name="Equation" r:id="rId6" imgW="116820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829" y="2950724"/>
                        <a:ext cx="222885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/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1840273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Deviation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95650" y="2000252"/>
            <a:ext cx="6057900" cy="339923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Most important measure of variation</a:t>
            </a:r>
          </a:p>
          <a:p>
            <a:r>
              <a:rPr lang="en-US" altLang="en-US" dirty="0"/>
              <a:t>Shows variation about the mean</a:t>
            </a:r>
          </a:p>
          <a:p>
            <a:r>
              <a:rPr lang="en-US" altLang="en-US" dirty="0"/>
              <a:t>Has the same units as the original </a:t>
            </a:r>
            <a:r>
              <a:rPr lang="en-US" altLang="en-US" dirty="0" smtClean="0"/>
              <a:t>data</a:t>
            </a:r>
          </a:p>
          <a:p>
            <a:r>
              <a:rPr lang="en-US" altLang="en-US" dirty="0" smtClean="0"/>
              <a:t>Is the square root of the </a:t>
            </a:r>
            <a:r>
              <a:rPr lang="en-US" altLang="en-US" b="1" dirty="0" smtClean="0"/>
              <a:t>variance</a:t>
            </a:r>
          </a:p>
          <a:p>
            <a:endParaRPr lang="en-US" altLang="en-US" b="1" dirty="0"/>
          </a:p>
          <a:p>
            <a:pPr lvl="1"/>
            <a:r>
              <a:rPr lang="en-US" altLang="en-US" dirty="0"/>
              <a:t>Sample standard deviation: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Population standard deviation:</a:t>
            </a: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/>
        </p:nvGraphicFramePr>
        <p:xfrm>
          <a:off x="6724650" y="3314702"/>
          <a:ext cx="2171700" cy="1175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3" imgW="1218960" imgH="660240" progId="Equation.DSMT4">
                  <p:embed/>
                </p:oleObj>
              </mc:Choice>
              <mc:Fallback>
                <p:oleObj name="Equation" r:id="rId3" imgW="12189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3314702"/>
                        <a:ext cx="2171700" cy="1175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6734176" y="4629151"/>
          <a:ext cx="2162175" cy="118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5" imgW="1206360" imgH="660240" progId="Equation.DSMT4">
                  <p:embed/>
                </p:oleObj>
              </mc:Choice>
              <mc:Fallback>
                <p:oleObj name="Equation" r:id="rId5" imgW="12063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6" y="4629151"/>
                        <a:ext cx="2162175" cy="1184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4170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do we divide by (n-1) for sample variance?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a sample variance to be </a:t>
            </a:r>
            <a:r>
              <a:rPr lang="en-US" sz="2400" i="1" dirty="0"/>
              <a:t>unbiased</a:t>
            </a:r>
            <a:r>
              <a:rPr lang="en-US" sz="2400" dirty="0"/>
              <a:t>, the average variance for all possible samples for a given population has to be equal to the population variance. </a:t>
            </a:r>
          </a:p>
          <a:p>
            <a:r>
              <a:rPr lang="en-US" sz="2400" dirty="0"/>
              <a:t>It was mathematically shown that if the sample variance was calculated using </a:t>
            </a:r>
            <a:r>
              <a:rPr lang="en-US" sz="2400" i="1" dirty="0"/>
              <a:t>n</a:t>
            </a:r>
            <a:r>
              <a:rPr lang="en-US" sz="2400" dirty="0"/>
              <a:t> instead of </a:t>
            </a:r>
            <a:r>
              <a:rPr lang="en-US" sz="2400" i="1" dirty="0"/>
              <a:t>n-1,</a:t>
            </a:r>
            <a:r>
              <a:rPr lang="en-US" sz="2400" dirty="0"/>
              <a:t> the average variance of all possible samples was not equal to population variance. </a:t>
            </a:r>
          </a:p>
          <a:p>
            <a:r>
              <a:rPr lang="en-US" sz="2400" dirty="0"/>
              <a:t>This is called </a:t>
            </a:r>
            <a:r>
              <a:rPr lang="en-US" sz="2400" b="1" dirty="0"/>
              <a:t>Bessel’s correction.</a:t>
            </a:r>
          </a:p>
          <a:p>
            <a:r>
              <a:rPr lang="en-US" sz="2400" dirty="0"/>
              <a:t>Only used when the population mean and variance is unknown.</a:t>
            </a:r>
          </a:p>
        </p:txBody>
      </p:sp>
    </p:spTree>
    <p:extLst>
      <p:ext uri="{BB962C8B-B14F-4D97-AF65-F5344CB8AC3E}">
        <p14:creationId xmlns:p14="http://schemas.microsoft.com/office/powerpoint/2010/main" val="332481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7239000" y="3657600"/>
            <a:ext cx="21717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1" name="Rectangle 3"/>
          <p:cNvSpPr>
            <a:spLocks noChangeArrowheads="1"/>
          </p:cNvSpPr>
          <p:nvPr/>
        </p:nvSpPr>
        <p:spPr bwMode="auto">
          <a:xfrm>
            <a:off x="2781300" y="3657600"/>
            <a:ext cx="21717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5010150" y="3657600"/>
            <a:ext cx="2171700" cy="18288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Shape of a Distribution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Describes how data is distributed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Measures of shape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Symmetric or skewed</a:t>
            </a:r>
          </a:p>
        </p:txBody>
      </p:sp>
      <p:sp>
        <p:nvSpPr>
          <p:cNvPr id="114695" name="Freeform 7"/>
          <p:cNvSpPr>
            <a:spLocks/>
          </p:cNvSpPr>
          <p:nvPr/>
        </p:nvSpPr>
        <p:spPr bwMode="auto">
          <a:xfrm>
            <a:off x="4235055" y="4471989"/>
            <a:ext cx="339328" cy="803672"/>
          </a:xfrm>
          <a:custGeom>
            <a:avLst/>
            <a:gdLst>
              <a:gd name="T0" fmla="*/ 284 w 285"/>
              <a:gd name="T1" fmla="*/ 674 h 675"/>
              <a:gd name="T2" fmla="*/ 254 w 285"/>
              <a:gd name="T3" fmla="*/ 667 h 675"/>
              <a:gd name="T4" fmla="*/ 239 w 285"/>
              <a:gd name="T5" fmla="*/ 659 h 675"/>
              <a:gd name="T6" fmla="*/ 225 w 285"/>
              <a:gd name="T7" fmla="*/ 648 h 675"/>
              <a:gd name="T8" fmla="*/ 210 w 285"/>
              <a:gd name="T9" fmla="*/ 633 h 675"/>
              <a:gd name="T10" fmla="*/ 195 w 285"/>
              <a:gd name="T11" fmla="*/ 612 h 675"/>
              <a:gd name="T12" fmla="*/ 180 w 285"/>
              <a:gd name="T13" fmla="*/ 583 h 675"/>
              <a:gd name="T14" fmla="*/ 150 w 285"/>
              <a:gd name="T15" fmla="*/ 506 h 675"/>
              <a:gd name="T16" fmla="*/ 119 w 285"/>
              <a:gd name="T17" fmla="*/ 396 h 675"/>
              <a:gd name="T18" fmla="*/ 91 w 285"/>
              <a:gd name="T19" fmla="*/ 263 h 675"/>
              <a:gd name="T20" fmla="*/ 76 w 285"/>
              <a:gd name="T21" fmla="*/ 197 h 675"/>
              <a:gd name="T22" fmla="*/ 61 w 285"/>
              <a:gd name="T23" fmla="*/ 133 h 675"/>
              <a:gd name="T24" fmla="*/ 45 w 285"/>
              <a:gd name="T25" fmla="*/ 78 h 675"/>
              <a:gd name="T26" fmla="*/ 30 w 285"/>
              <a:gd name="T27" fmla="*/ 36 h 675"/>
              <a:gd name="T28" fmla="*/ 15 w 285"/>
              <a:gd name="T29" fmla="*/ 10 h 675"/>
              <a:gd name="T30" fmla="*/ 0 w 285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85" h="675">
                <a:moveTo>
                  <a:pt x="284" y="674"/>
                </a:moveTo>
                <a:lnTo>
                  <a:pt x="254" y="667"/>
                </a:lnTo>
                <a:lnTo>
                  <a:pt x="239" y="659"/>
                </a:lnTo>
                <a:lnTo>
                  <a:pt x="225" y="648"/>
                </a:lnTo>
                <a:lnTo>
                  <a:pt x="210" y="633"/>
                </a:lnTo>
                <a:lnTo>
                  <a:pt x="195" y="612"/>
                </a:lnTo>
                <a:lnTo>
                  <a:pt x="180" y="583"/>
                </a:lnTo>
                <a:lnTo>
                  <a:pt x="150" y="506"/>
                </a:lnTo>
                <a:lnTo>
                  <a:pt x="119" y="396"/>
                </a:lnTo>
                <a:lnTo>
                  <a:pt x="91" y="263"/>
                </a:lnTo>
                <a:lnTo>
                  <a:pt x="76" y="197"/>
                </a:lnTo>
                <a:lnTo>
                  <a:pt x="61" y="133"/>
                </a:lnTo>
                <a:lnTo>
                  <a:pt x="45" y="78"/>
                </a:lnTo>
                <a:lnTo>
                  <a:pt x="30" y="36"/>
                </a:lnTo>
                <a:lnTo>
                  <a:pt x="15" y="1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6" name="Freeform 8"/>
          <p:cNvSpPr>
            <a:spLocks/>
          </p:cNvSpPr>
          <p:nvPr/>
        </p:nvSpPr>
        <p:spPr bwMode="auto">
          <a:xfrm>
            <a:off x="3220644" y="4471989"/>
            <a:ext cx="988218" cy="803672"/>
          </a:xfrm>
          <a:custGeom>
            <a:avLst/>
            <a:gdLst>
              <a:gd name="T0" fmla="*/ 0 w 853"/>
              <a:gd name="T1" fmla="*/ 674 h 675"/>
              <a:gd name="T2" fmla="*/ 90 w 853"/>
              <a:gd name="T3" fmla="*/ 667 h 675"/>
              <a:gd name="T4" fmla="*/ 134 w 853"/>
              <a:gd name="T5" fmla="*/ 659 h 675"/>
              <a:gd name="T6" fmla="*/ 179 w 853"/>
              <a:gd name="T7" fmla="*/ 648 h 675"/>
              <a:gd name="T8" fmla="*/ 225 w 853"/>
              <a:gd name="T9" fmla="*/ 633 h 675"/>
              <a:gd name="T10" fmla="*/ 269 w 853"/>
              <a:gd name="T11" fmla="*/ 612 h 675"/>
              <a:gd name="T12" fmla="*/ 314 w 853"/>
              <a:gd name="T13" fmla="*/ 583 h 675"/>
              <a:gd name="T14" fmla="*/ 403 w 853"/>
              <a:gd name="T15" fmla="*/ 506 h 675"/>
              <a:gd name="T16" fmla="*/ 494 w 853"/>
              <a:gd name="T17" fmla="*/ 396 h 675"/>
              <a:gd name="T18" fmla="*/ 583 w 853"/>
              <a:gd name="T19" fmla="*/ 263 h 675"/>
              <a:gd name="T20" fmla="*/ 628 w 853"/>
              <a:gd name="T21" fmla="*/ 197 h 675"/>
              <a:gd name="T22" fmla="*/ 674 w 853"/>
              <a:gd name="T23" fmla="*/ 133 h 675"/>
              <a:gd name="T24" fmla="*/ 717 w 853"/>
              <a:gd name="T25" fmla="*/ 78 h 675"/>
              <a:gd name="T26" fmla="*/ 763 w 853"/>
              <a:gd name="T27" fmla="*/ 36 h 675"/>
              <a:gd name="T28" fmla="*/ 808 w 853"/>
              <a:gd name="T29" fmla="*/ 10 h 675"/>
              <a:gd name="T30" fmla="*/ 852 w 853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53" h="675">
                <a:moveTo>
                  <a:pt x="0" y="674"/>
                </a:moveTo>
                <a:lnTo>
                  <a:pt x="90" y="667"/>
                </a:lnTo>
                <a:lnTo>
                  <a:pt x="134" y="659"/>
                </a:lnTo>
                <a:lnTo>
                  <a:pt x="179" y="648"/>
                </a:lnTo>
                <a:lnTo>
                  <a:pt x="225" y="633"/>
                </a:lnTo>
                <a:lnTo>
                  <a:pt x="269" y="612"/>
                </a:lnTo>
                <a:lnTo>
                  <a:pt x="314" y="583"/>
                </a:lnTo>
                <a:lnTo>
                  <a:pt x="403" y="506"/>
                </a:lnTo>
                <a:lnTo>
                  <a:pt x="494" y="396"/>
                </a:lnTo>
                <a:lnTo>
                  <a:pt x="583" y="263"/>
                </a:lnTo>
                <a:lnTo>
                  <a:pt x="628" y="197"/>
                </a:lnTo>
                <a:lnTo>
                  <a:pt x="674" y="133"/>
                </a:lnTo>
                <a:lnTo>
                  <a:pt x="717" y="78"/>
                </a:lnTo>
                <a:lnTo>
                  <a:pt x="763" y="36"/>
                </a:lnTo>
                <a:lnTo>
                  <a:pt x="808" y="10"/>
                </a:lnTo>
                <a:lnTo>
                  <a:pt x="852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7" name="Freeform 9"/>
          <p:cNvSpPr>
            <a:spLocks/>
          </p:cNvSpPr>
          <p:nvPr/>
        </p:nvSpPr>
        <p:spPr bwMode="auto">
          <a:xfrm>
            <a:off x="6117483" y="4470797"/>
            <a:ext cx="658419" cy="803672"/>
          </a:xfrm>
          <a:custGeom>
            <a:avLst/>
            <a:gdLst>
              <a:gd name="T0" fmla="*/ 569 w 570"/>
              <a:gd name="T1" fmla="*/ 674 h 675"/>
              <a:gd name="T2" fmla="*/ 508 w 570"/>
              <a:gd name="T3" fmla="*/ 667 h 675"/>
              <a:gd name="T4" fmla="*/ 478 w 570"/>
              <a:gd name="T5" fmla="*/ 659 h 675"/>
              <a:gd name="T6" fmla="*/ 449 w 570"/>
              <a:gd name="T7" fmla="*/ 648 h 675"/>
              <a:gd name="T8" fmla="*/ 419 w 570"/>
              <a:gd name="T9" fmla="*/ 633 h 675"/>
              <a:gd name="T10" fmla="*/ 389 w 570"/>
              <a:gd name="T11" fmla="*/ 612 h 675"/>
              <a:gd name="T12" fmla="*/ 358 w 570"/>
              <a:gd name="T13" fmla="*/ 583 h 675"/>
              <a:gd name="T14" fmla="*/ 300 w 570"/>
              <a:gd name="T15" fmla="*/ 506 h 675"/>
              <a:gd name="T16" fmla="*/ 239 w 570"/>
              <a:gd name="T17" fmla="*/ 396 h 675"/>
              <a:gd name="T18" fmla="*/ 178 w 570"/>
              <a:gd name="T19" fmla="*/ 263 h 675"/>
              <a:gd name="T20" fmla="*/ 150 w 570"/>
              <a:gd name="T21" fmla="*/ 197 h 675"/>
              <a:gd name="T22" fmla="*/ 120 w 570"/>
              <a:gd name="T23" fmla="*/ 133 h 675"/>
              <a:gd name="T24" fmla="*/ 89 w 570"/>
              <a:gd name="T25" fmla="*/ 78 h 675"/>
              <a:gd name="T26" fmla="*/ 59 w 570"/>
              <a:gd name="T27" fmla="*/ 36 h 675"/>
              <a:gd name="T28" fmla="*/ 29 w 570"/>
              <a:gd name="T29" fmla="*/ 10 h 675"/>
              <a:gd name="T30" fmla="*/ 0 w 570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70" h="675">
                <a:moveTo>
                  <a:pt x="569" y="674"/>
                </a:moveTo>
                <a:lnTo>
                  <a:pt x="508" y="667"/>
                </a:lnTo>
                <a:lnTo>
                  <a:pt x="478" y="659"/>
                </a:lnTo>
                <a:lnTo>
                  <a:pt x="449" y="648"/>
                </a:lnTo>
                <a:lnTo>
                  <a:pt x="419" y="633"/>
                </a:lnTo>
                <a:lnTo>
                  <a:pt x="389" y="612"/>
                </a:lnTo>
                <a:lnTo>
                  <a:pt x="358" y="583"/>
                </a:lnTo>
                <a:lnTo>
                  <a:pt x="300" y="506"/>
                </a:lnTo>
                <a:lnTo>
                  <a:pt x="239" y="396"/>
                </a:lnTo>
                <a:lnTo>
                  <a:pt x="178" y="263"/>
                </a:lnTo>
                <a:lnTo>
                  <a:pt x="150" y="197"/>
                </a:lnTo>
                <a:lnTo>
                  <a:pt x="120" y="133"/>
                </a:lnTo>
                <a:lnTo>
                  <a:pt x="89" y="78"/>
                </a:lnTo>
                <a:lnTo>
                  <a:pt x="59" y="36"/>
                </a:lnTo>
                <a:lnTo>
                  <a:pt x="29" y="1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8" name="Freeform 10"/>
          <p:cNvSpPr>
            <a:spLocks/>
          </p:cNvSpPr>
          <p:nvPr/>
        </p:nvSpPr>
        <p:spPr bwMode="auto">
          <a:xfrm>
            <a:off x="5547124" y="4471989"/>
            <a:ext cx="564586" cy="803672"/>
          </a:xfrm>
          <a:custGeom>
            <a:avLst/>
            <a:gdLst>
              <a:gd name="T0" fmla="*/ 0 w 569"/>
              <a:gd name="T1" fmla="*/ 674 h 675"/>
              <a:gd name="T2" fmla="*/ 59 w 569"/>
              <a:gd name="T3" fmla="*/ 667 h 675"/>
              <a:gd name="T4" fmla="*/ 89 w 569"/>
              <a:gd name="T5" fmla="*/ 659 h 675"/>
              <a:gd name="T6" fmla="*/ 120 w 569"/>
              <a:gd name="T7" fmla="*/ 648 h 675"/>
              <a:gd name="T8" fmla="*/ 150 w 569"/>
              <a:gd name="T9" fmla="*/ 633 h 675"/>
              <a:gd name="T10" fmla="*/ 178 w 569"/>
              <a:gd name="T11" fmla="*/ 612 h 675"/>
              <a:gd name="T12" fmla="*/ 209 w 569"/>
              <a:gd name="T13" fmla="*/ 583 h 675"/>
              <a:gd name="T14" fmla="*/ 269 w 569"/>
              <a:gd name="T15" fmla="*/ 506 h 675"/>
              <a:gd name="T16" fmla="*/ 328 w 569"/>
              <a:gd name="T17" fmla="*/ 396 h 675"/>
              <a:gd name="T18" fmla="*/ 389 w 569"/>
              <a:gd name="T19" fmla="*/ 263 h 675"/>
              <a:gd name="T20" fmla="*/ 419 w 569"/>
              <a:gd name="T21" fmla="*/ 197 h 675"/>
              <a:gd name="T22" fmla="*/ 449 w 569"/>
              <a:gd name="T23" fmla="*/ 133 h 675"/>
              <a:gd name="T24" fmla="*/ 478 w 569"/>
              <a:gd name="T25" fmla="*/ 78 h 675"/>
              <a:gd name="T26" fmla="*/ 508 w 569"/>
              <a:gd name="T27" fmla="*/ 36 h 675"/>
              <a:gd name="T28" fmla="*/ 538 w 569"/>
              <a:gd name="T29" fmla="*/ 10 h 675"/>
              <a:gd name="T30" fmla="*/ 568 w 569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69" h="675">
                <a:moveTo>
                  <a:pt x="0" y="674"/>
                </a:moveTo>
                <a:lnTo>
                  <a:pt x="59" y="667"/>
                </a:lnTo>
                <a:lnTo>
                  <a:pt x="89" y="659"/>
                </a:lnTo>
                <a:lnTo>
                  <a:pt x="120" y="648"/>
                </a:lnTo>
                <a:lnTo>
                  <a:pt x="150" y="633"/>
                </a:lnTo>
                <a:lnTo>
                  <a:pt x="178" y="612"/>
                </a:lnTo>
                <a:lnTo>
                  <a:pt x="209" y="583"/>
                </a:lnTo>
                <a:lnTo>
                  <a:pt x="269" y="506"/>
                </a:lnTo>
                <a:lnTo>
                  <a:pt x="328" y="396"/>
                </a:lnTo>
                <a:lnTo>
                  <a:pt x="389" y="263"/>
                </a:lnTo>
                <a:lnTo>
                  <a:pt x="419" y="197"/>
                </a:lnTo>
                <a:lnTo>
                  <a:pt x="449" y="133"/>
                </a:lnTo>
                <a:lnTo>
                  <a:pt x="478" y="78"/>
                </a:lnTo>
                <a:lnTo>
                  <a:pt x="508" y="36"/>
                </a:lnTo>
                <a:lnTo>
                  <a:pt x="538" y="10"/>
                </a:lnTo>
                <a:lnTo>
                  <a:pt x="568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699" name="Freeform 11"/>
          <p:cNvSpPr>
            <a:spLocks/>
          </p:cNvSpPr>
          <p:nvPr/>
        </p:nvSpPr>
        <p:spPr bwMode="auto">
          <a:xfrm>
            <a:off x="8062912" y="4428250"/>
            <a:ext cx="1015604" cy="803672"/>
          </a:xfrm>
          <a:custGeom>
            <a:avLst/>
            <a:gdLst>
              <a:gd name="T0" fmla="*/ 852 w 853"/>
              <a:gd name="T1" fmla="*/ 674 h 675"/>
              <a:gd name="T2" fmla="*/ 761 w 853"/>
              <a:gd name="T3" fmla="*/ 667 h 675"/>
              <a:gd name="T4" fmla="*/ 718 w 853"/>
              <a:gd name="T5" fmla="*/ 659 h 675"/>
              <a:gd name="T6" fmla="*/ 672 w 853"/>
              <a:gd name="T7" fmla="*/ 648 h 675"/>
              <a:gd name="T8" fmla="*/ 627 w 853"/>
              <a:gd name="T9" fmla="*/ 633 h 675"/>
              <a:gd name="T10" fmla="*/ 583 w 853"/>
              <a:gd name="T11" fmla="*/ 612 h 675"/>
              <a:gd name="T12" fmla="*/ 538 w 853"/>
              <a:gd name="T13" fmla="*/ 583 h 675"/>
              <a:gd name="T14" fmla="*/ 447 w 853"/>
              <a:gd name="T15" fmla="*/ 506 h 675"/>
              <a:gd name="T16" fmla="*/ 358 w 853"/>
              <a:gd name="T17" fmla="*/ 396 h 675"/>
              <a:gd name="T18" fmla="*/ 269 w 853"/>
              <a:gd name="T19" fmla="*/ 263 h 675"/>
              <a:gd name="T20" fmla="*/ 224 w 853"/>
              <a:gd name="T21" fmla="*/ 197 h 675"/>
              <a:gd name="T22" fmla="*/ 178 w 853"/>
              <a:gd name="T23" fmla="*/ 133 h 675"/>
              <a:gd name="T24" fmla="*/ 135 w 853"/>
              <a:gd name="T25" fmla="*/ 78 h 675"/>
              <a:gd name="T26" fmla="*/ 89 w 853"/>
              <a:gd name="T27" fmla="*/ 36 h 675"/>
              <a:gd name="T28" fmla="*/ 44 w 853"/>
              <a:gd name="T29" fmla="*/ 10 h 675"/>
              <a:gd name="T30" fmla="*/ 0 w 853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53" h="675">
                <a:moveTo>
                  <a:pt x="852" y="674"/>
                </a:moveTo>
                <a:lnTo>
                  <a:pt x="761" y="667"/>
                </a:lnTo>
                <a:lnTo>
                  <a:pt x="718" y="659"/>
                </a:lnTo>
                <a:lnTo>
                  <a:pt x="672" y="648"/>
                </a:lnTo>
                <a:lnTo>
                  <a:pt x="627" y="633"/>
                </a:lnTo>
                <a:lnTo>
                  <a:pt x="583" y="612"/>
                </a:lnTo>
                <a:lnTo>
                  <a:pt x="538" y="583"/>
                </a:lnTo>
                <a:lnTo>
                  <a:pt x="447" y="506"/>
                </a:lnTo>
                <a:lnTo>
                  <a:pt x="358" y="396"/>
                </a:lnTo>
                <a:lnTo>
                  <a:pt x="269" y="263"/>
                </a:lnTo>
                <a:lnTo>
                  <a:pt x="224" y="197"/>
                </a:lnTo>
                <a:lnTo>
                  <a:pt x="178" y="133"/>
                </a:lnTo>
                <a:lnTo>
                  <a:pt x="135" y="78"/>
                </a:lnTo>
                <a:lnTo>
                  <a:pt x="89" y="36"/>
                </a:lnTo>
                <a:lnTo>
                  <a:pt x="44" y="1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0" name="Freeform 12"/>
          <p:cNvSpPr>
            <a:spLocks/>
          </p:cNvSpPr>
          <p:nvPr/>
        </p:nvSpPr>
        <p:spPr bwMode="auto">
          <a:xfrm>
            <a:off x="7724776" y="4454128"/>
            <a:ext cx="339329" cy="803672"/>
          </a:xfrm>
          <a:custGeom>
            <a:avLst/>
            <a:gdLst>
              <a:gd name="T0" fmla="*/ 0 w 285"/>
              <a:gd name="T1" fmla="*/ 674 h 675"/>
              <a:gd name="T2" fmla="*/ 28 w 285"/>
              <a:gd name="T3" fmla="*/ 667 h 675"/>
              <a:gd name="T4" fmla="*/ 43 w 285"/>
              <a:gd name="T5" fmla="*/ 659 h 675"/>
              <a:gd name="T6" fmla="*/ 59 w 285"/>
              <a:gd name="T7" fmla="*/ 648 h 675"/>
              <a:gd name="T8" fmla="*/ 74 w 285"/>
              <a:gd name="T9" fmla="*/ 633 h 675"/>
              <a:gd name="T10" fmla="*/ 89 w 285"/>
              <a:gd name="T11" fmla="*/ 612 h 675"/>
              <a:gd name="T12" fmla="*/ 104 w 285"/>
              <a:gd name="T13" fmla="*/ 583 h 675"/>
              <a:gd name="T14" fmla="*/ 134 w 285"/>
              <a:gd name="T15" fmla="*/ 506 h 675"/>
              <a:gd name="T16" fmla="*/ 165 w 285"/>
              <a:gd name="T17" fmla="*/ 396 h 675"/>
              <a:gd name="T18" fmla="*/ 193 w 285"/>
              <a:gd name="T19" fmla="*/ 263 h 675"/>
              <a:gd name="T20" fmla="*/ 208 w 285"/>
              <a:gd name="T21" fmla="*/ 197 h 675"/>
              <a:gd name="T22" fmla="*/ 223 w 285"/>
              <a:gd name="T23" fmla="*/ 133 h 675"/>
              <a:gd name="T24" fmla="*/ 239 w 285"/>
              <a:gd name="T25" fmla="*/ 78 h 675"/>
              <a:gd name="T26" fmla="*/ 254 w 285"/>
              <a:gd name="T27" fmla="*/ 36 h 675"/>
              <a:gd name="T28" fmla="*/ 269 w 285"/>
              <a:gd name="T29" fmla="*/ 10 h 675"/>
              <a:gd name="T30" fmla="*/ 284 w 285"/>
              <a:gd name="T31" fmla="*/ 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85" h="675">
                <a:moveTo>
                  <a:pt x="0" y="674"/>
                </a:moveTo>
                <a:lnTo>
                  <a:pt x="28" y="667"/>
                </a:lnTo>
                <a:lnTo>
                  <a:pt x="43" y="659"/>
                </a:lnTo>
                <a:lnTo>
                  <a:pt x="59" y="648"/>
                </a:lnTo>
                <a:lnTo>
                  <a:pt x="74" y="633"/>
                </a:lnTo>
                <a:lnTo>
                  <a:pt x="89" y="612"/>
                </a:lnTo>
                <a:lnTo>
                  <a:pt x="104" y="583"/>
                </a:lnTo>
                <a:lnTo>
                  <a:pt x="134" y="506"/>
                </a:lnTo>
                <a:lnTo>
                  <a:pt x="165" y="396"/>
                </a:lnTo>
                <a:lnTo>
                  <a:pt x="193" y="263"/>
                </a:lnTo>
                <a:lnTo>
                  <a:pt x="208" y="197"/>
                </a:lnTo>
                <a:lnTo>
                  <a:pt x="223" y="133"/>
                </a:lnTo>
                <a:lnTo>
                  <a:pt x="239" y="78"/>
                </a:lnTo>
                <a:lnTo>
                  <a:pt x="254" y="36"/>
                </a:lnTo>
                <a:lnTo>
                  <a:pt x="269" y="10"/>
                </a:lnTo>
                <a:lnTo>
                  <a:pt x="284" y="0"/>
                </a:lnTo>
              </a:path>
            </a:pathLst>
          </a:custGeom>
          <a:noFill/>
          <a:ln w="254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1" name="Rectangle 13"/>
          <p:cNvSpPr>
            <a:spLocks noChangeArrowheads="1"/>
          </p:cNvSpPr>
          <p:nvPr/>
        </p:nvSpPr>
        <p:spPr bwMode="auto">
          <a:xfrm>
            <a:off x="5010152" y="4095751"/>
            <a:ext cx="2176077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lang="en-US" altLang="en-US" sz="1500" b="1" dirty="0">
                <a:solidFill>
                  <a:srgbClr val="C00000"/>
                </a:solidFill>
                <a:latin typeface="Arial" panose="020B0604020202020204" pitchFamily="34" charset="0"/>
              </a:rPr>
              <a:t>Mean = Median =Mode</a:t>
            </a:r>
            <a:endParaRPr lang="en-US" altLang="en-US" sz="135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14702" name="Rectangle 14"/>
          <p:cNvSpPr>
            <a:spLocks noChangeArrowheads="1"/>
          </p:cNvSpPr>
          <p:nvPr/>
        </p:nvSpPr>
        <p:spPr bwMode="auto">
          <a:xfrm>
            <a:off x="6251973" y="4095751"/>
            <a:ext cx="185148" cy="27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lang="en-US" altLang="en-US" sz="135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4703" name="Rectangle 15"/>
          <p:cNvSpPr>
            <a:spLocks noChangeArrowheads="1"/>
          </p:cNvSpPr>
          <p:nvPr/>
        </p:nvSpPr>
        <p:spPr bwMode="auto">
          <a:xfrm>
            <a:off x="7290198" y="4343401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4" name="Rectangle 16"/>
          <p:cNvSpPr>
            <a:spLocks noChangeArrowheads="1"/>
          </p:cNvSpPr>
          <p:nvPr/>
        </p:nvSpPr>
        <p:spPr bwMode="auto">
          <a:xfrm>
            <a:off x="2745583" y="4090989"/>
            <a:ext cx="2228977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lang="en-US" altLang="en-US" sz="1500" b="1" dirty="0">
                <a:solidFill>
                  <a:srgbClr val="C00000"/>
                </a:solidFill>
                <a:latin typeface="Arial" panose="020B0604020202020204" pitchFamily="34" charset="0"/>
              </a:rPr>
              <a:t>Mean &lt; Median &lt; Mode</a:t>
            </a:r>
          </a:p>
        </p:txBody>
      </p:sp>
      <p:sp>
        <p:nvSpPr>
          <p:cNvPr id="114705" name="Rectangle 17"/>
          <p:cNvSpPr>
            <a:spLocks noChangeArrowheads="1"/>
          </p:cNvSpPr>
          <p:nvPr/>
        </p:nvSpPr>
        <p:spPr bwMode="auto">
          <a:xfrm>
            <a:off x="4462463" y="4356499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6" name="Rectangle 18"/>
          <p:cNvSpPr>
            <a:spLocks noChangeArrowheads="1"/>
          </p:cNvSpPr>
          <p:nvPr/>
        </p:nvSpPr>
        <p:spPr bwMode="auto">
          <a:xfrm>
            <a:off x="7217571" y="4105276"/>
            <a:ext cx="2272257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lang="en-US" altLang="en-US" sz="1350" b="1" dirty="0">
                <a:solidFill>
                  <a:srgbClr val="FF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500" b="1" dirty="0">
                <a:solidFill>
                  <a:srgbClr val="C00000"/>
                </a:solidFill>
                <a:latin typeface="Arial" panose="020B0604020202020204" pitchFamily="34" charset="0"/>
              </a:rPr>
              <a:t>Mode &lt;</a:t>
            </a:r>
            <a:r>
              <a:rPr lang="en-US" altLang="en-US" sz="135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500" b="1" dirty="0">
                <a:solidFill>
                  <a:srgbClr val="C00000"/>
                </a:solidFill>
                <a:latin typeface="Arial" panose="020B0604020202020204" pitchFamily="34" charset="0"/>
              </a:rPr>
              <a:t>Median &lt; Mean</a:t>
            </a:r>
            <a:endParaRPr lang="en-US" altLang="en-US" sz="135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14707" name="Rectangle 19"/>
          <p:cNvSpPr>
            <a:spLocks noChangeArrowheads="1"/>
          </p:cNvSpPr>
          <p:nvPr/>
        </p:nvSpPr>
        <p:spPr bwMode="auto">
          <a:xfrm>
            <a:off x="9166623" y="4343401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8" name="Line 20"/>
          <p:cNvSpPr>
            <a:spLocks noChangeShapeType="1"/>
          </p:cNvSpPr>
          <p:nvPr/>
        </p:nvSpPr>
        <p:spPr bwMode="auto">
          <a:xfrm>
            <a:off x="8056960" y="4514850"/>
            <a:ext cx="0" cy="74295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09" name="Line 21"/>
          <p:cNvSpPr>
            <a:spLocks noChangeShapeType="1"/>
          </p:cNvSpPr>
          <p:nvPr/>
        </p:nvSpPr>
        <p:spPr bwMode="auto">
          <a:xfrm flipH="1">
            <a:off x="8210550" y="4514850"/>
            <a:ext cx="0" cy="7429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0" name="Line 22"/>
          <p:cNvSpPr>
            <a:spLocks noChangeShapeType="1"/>
          </p:cNvSpPr>
          <p:nvPr/>
        </p:nvSpPr>
        <p:spPr bwMode="auto">
          <a:xfrm>
            <a:off x="8382000" y="4800600"/>
            <a:ext cx="0" cy="457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1" name="Line 23"/>
          <p:cNvSpPr>
            <a:spLocks noChangeShapeType="1"/>
          </p:cNvSpPr>
          <p:nvPr/>
        </p:nvSpPr>
        <p:spPr bwMode="auto">
          <a:xfrm>
            <a:off x="4210051" y="4514850"/>
            <a:ext cx="1191" cy="74295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2" name="Line 24"/>
          <p:cNvSpPr>
            <a:spLocks noChangeShapeType="1"/>
          </p:cNvSpPr>
          <p:nvPr/>
        </p:nvSpPr>
        <p:spPr bwMode="auto">
          <a:xfrm>
            <a:off x="3982641" y="4743450"/>
            <a:ext cx="0" cy="5143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3" name="Line 25"/>
          <p:cNvSpPr>
            <a:spLocks noChangeShapeType="1"/>
          </p:cNvSpPr>
          <p:nvPr/>
        </p:nvSpPr>
        <p:spPr bwMode="auto">
          <a:xfrm>
            <a:off x="3811191" y="4997055"/>
            <a:ext cx="0" cy="28217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4" name="Line 26"/>
          <p:cNvSpPr>
            <a:spLocks noChangeShapeType="1"/>
          </p:cNvSpPr>
          <p:nvPr/>
        </p:nvSpPr>
        <p:spPr bwMode="auto">
          <a:xfrm>
            <a:off x="6097191" y="4546998"/>
            <a:ext cx="3572" cy="65484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5" name="Line 27"/>
          <p:cNvSpPr>
            <a:spLocks noChangeShapeType="1"/>
          </p:cNvSpPr>
          <p:nvPr/>
        </p:nvSpPr>
        <p:spPr bwMode="auto">
          <a:xfrm>
            <a:off x="6096000" y="4755357"/>
            <a:ext cx="0" cy="388144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6" name="Line 28"/>
          <p:cNvSpPr>
            <a:spLocks noChangeShapeType="1"/>
          </p:cNvSpPr>
          <p:nvPr/>
        </p:nvSpPr>
        <p:spPr bwMode="auto">
          <a:xfrm>
            <a:off x="6096000" y="4975623"/>
            <a:ext cx="0" cy="28217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7" name="Line 29"/>
          <p:cNvSpPr>
            <a:spLocks noChangeShapeType="1"/>
          </p:cNvSpPr>
          <p:nvPr/>
        </p:nvSpPr>
        <p:spPr bwMode="auto">
          <a:xfrm>
            <a:off x="5553075" y="5274469"/>
            <a:ext cx="1195388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8" name="Rectangle 30"/>
          <p:cNvSpPr>
            <a:spLocks noChangeArrowheads="1"/>
          </p:cNvSpPr>
          <p:nvPr/>
        </p:nvSpPr>
        <p:spPr bwMode="auto">
          <a:xfrm>
            <a:off x="6017420" y="5360195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19" name="Line 31"/>
          <p:cNvSpPr>
            <a:spLocks noChangeShapeType="1"/>
          </p:cNvSpPr>
          <p:nvPr/>
        </p:nvSpPr>
        <p:spPr bwMode="auto">
          <a:xfrm>
            <a:off x="7867650" y="5256610"/>
            <a:ext cx="1195388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0" name="Rectangle 32"/>
          <p:cNvSpPr>
            <a:spLocks noChangeArrowheads="1"/>
          </p:cNvSpPr>
          <p:nvPr/>
        </p:nvSpPr>
        <p:spPr bwMode="auto">
          <a:xfrm>
            <a:off x="8331995" y="5342336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1" name="Line 33"/>
          <p:cNvSpPr>
            <a:spLocks noChangeShapeType="1"/>
          </p:cNvSpPr>
          <p:nvPr/>
        </p:nvSpPr>
        <p:spPr bwMode="auto">
          <a:xfrm>
            <a:off x="3363517" y="5274469"/>
            <a:ext cx="1194197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2" name="Rectangle 34"/>
          <p:cNvSpPr>
            <a:spLocks noChangeArrowheads="1"/>
          </p:cNvSpPr>
          <p:nvPr/>
        </p:nvSpPr>
        <p:spPr bwMode="auto">
          <a:xfrm>
            <a:off x="3827861" y="5360195"/>
            <a:ext cx="138113" cy="6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3" name="Line 35"/>
          <p:cNvSpPr>
            <a:spLocks noChangeShapeType="1"/>
          </p:cNvSpPr>
          <p:nvPr/>
        </p:nvSpPr>
        <p:spPr bwMode="auto">
          <a:xfrm flipH="1">
            <a:off x="4268391" y="4507706"/>
            <a:ext cx="342900" cy="685800"/>
          </a:xfrm>
          <a:prstGeom prst="line">
            <a:avLst/>
          </a:prstGeom>
          <a:noFill/>
          <a:ln w="12700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4" name="Line 36"/>
          <p:cNvSpPr>
            <a:spLocks noChangeShapeType="1"/>
          </p:cNvSpPr>
          <p:nvPr/>
        </p:nvSpPr>
        <p:spPr bwMode="auto">
          <a:xfrm>
            <a:off x="3811191" y="4450556"/>
            <a:ext cx="114300" cy="7429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5" name="Line 37"/>
          <p:cNvSpPr>
            <a:spLocks noChangeShapeType="1"/>
          </p:cNvSpPr>
          <p:nvPr/>
        </p:nvSpPr>
        <p:spPr bwMode="auto">
          <a:xfrm>
            <a:off x="3296841" y="4450556"/>
            <a:ext cx="457200" cy="7429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6" name="Line 38"/>
          <p:cNvSpPr>
            <a:spLocks noChangeShapeType="1"/>
          </p:cNvSpPr>
          <p:nvPr/>
        </p:nvSpPr>
        <p:spPr bwMode="auto">
          <a:xfrm>
            <a:off x="7656910" y="4489847"/>
            <a:ext cx="342900" cy="742950"/>
          </a:xfrm>
          <a:prstGeom prst="line">
            <a:avLst/>
          </a:prstGeom>
          <a:noFill/>
          <a:ln w="12700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7" name="Line 39"/>
          <p:cNvSpPr>
            <a:spLocks noChangeShapeType="1"/>
          </p:cNvSpPr>
          <p:nvPr/>
        </p:nvSpPr>
        <p:spPr bwMode="auto">
          <a:xfrm flipH="1">
            <a:off x="8285560" y="4432697"/>
            <a:ext cx="57150" cy="8001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28" name="Line 40"/>
          <p:cNvSpPr>
            <a:spLocks noChangeShapeType="1"/>
          </p:cNvSpPr>
          <p:nvPr/>
        </p:nvSpPr>
        <p:spPr bwMode="auto">
          <a:xfrm flipH="1">
            <a:off x="8457010" y="4489847"/>
            <a:ext cx="457200" cy="7429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4730" name="Rectangle 42"/>
          <p:cNvSpPr>
            <a:spLocks noChangeArrowheads="1"/>
          </p:cNvSpPr>
          <p:nvPr/>
        </p:nvSpPr>
        <p:spPr bwMode="auto">
          <a:xfrm>
            <a:off x="2776923" y="3719514"/>
            <a:ext cx="2154100" cy="27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/>
          <a:p>
            <a:pPr eaLnBrk="0" hangingPunct="0"/>
            <a:r>
              <a:rPr lang="en-US" altLang="en-US" sz="1350" b="1" dirty="0">
                <a:solidFill>
                  <a:prstClr val="black"/>
                </a:solidFill>
                <a:latin typeface="Arial" panose="020B0604020202020204" pitchFamily="34" charset="0"/>
              </a:rPr>
              <a:t>Left-skewed or negative</a:t>
            </a:r>
          </a:p>
        </p:txBody>
      </p:sp>
      <p:sp>
        <p:nvSpPr>
          <p:cNvPr id="114731" name="Rectangle 43"/>
          <p:cNvSpPr>
            <a:spLocks noChangeArrowheads="1"/>
          </p:cNvSpPr>
          <p:nvPr/>
        </p:nvSpPr>
        <p:spPr bwMode="auto">
          <a:xfrm>
            <a:off x="5419726" y="3719514"/>
            <a:ext cx="1510832" cy="39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lang="en-US" altLang="en-US" sz="2100" b="1">
                <a:solidFill>
                  <a:prstClr val="black"/>
                </a:solidFill>
                <a:latin typeface="Arial" panose="020B0604020202020204" pitchFamily="34" charset="0"/>
              </a:rPr>
              <a:t>Symmetric</a:t>
            </a:r>
          </a:p>
        </p:txBody>
      </p:sp>
      <p:sp>
        <p:nvSpPr>
          <p:cNvPr id="47" name="Rectangle 42"/>
          <p:cNvSpPr>
            <a:spLocks noChangeArrowheads="1"/>
          </p:cNvSpPr>
          <p:nvPr/>
        </p:nvSpPr>
        <p:spPr bwMode="auto">
          <a:xfrm>
            <a:off x="7237084" y="3690898"/>
            <a:ext cx="2173616" cy="27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/>
          <a:p>
            <a:pPr eaLnBrk="0" hangingPunct="0"/>
            <a:r>
              <a:rPr lang="en-US" altLang="en-US" sz="1350" b="1" dirty="0">
                <a:solidFill>
                  <a:prstClr val="black"/>
                </a:solidFill>
                <a:latin typeface="Arial" panose="020B0604020202020204" pitchFamily="34" charset="0"/>
              </a:rPr>
              <a:t>Right-skewed or positive</a:t>
            </a:r>
          </a:p>
        </p:txBody>
      </p:sp>
    </p:spTree>
    <p:extLst>
      <p:ext uri="{BB962C8B-B14F-4D97-AF65-F5344CB8AC3E}">
        <p14:creationId xmlns:p14="http://schemas.microsoft.com/office/powerpoint/2010/main" val="263084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Quartiles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Quartiles split data into 4 parts.</a:t>
                </a:r>
              </a:p>
              <a:p>
                <a:r>
                  <a:rPr lang="en-US" dirty="0" smtClean="0"/>
                  <a:t>1</a:t>
                </a:r>
                <a:r>
                  <a:rPr lang="en-US" baseline="30000" dirty="0" smtClean="0"/>
                  <a:t>st</a:t>
                </a:r>
                <a:r>
                  <a:rPr lang="en-US" dirty="0" smtClean="0"/>
                  <a:t> Quartile splits the lowest 25% of the values from the rest.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𝑟𝑎𝑛𝑘𝑒𝑑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3</a:t>
                </a:r>
                <a:r>
                  <a:rPr lang="en-US" baseline="30000" dirty="0" smtClean="0"/>
                  <a:t>rd</a:t>
                </a:r>
                <a:r>
                  <a:rPr lang="en-US" dirty="0" smtClean="0"/>
                  <a:t> Quartile </a:t>
                </a:r>
                <a:r>
                  <a:rPr lang="en-US" dirty="0"/>
                  <a:t>splits the lowest </a:t>
                </a:r>
                <a:r>
                  <a:rPr lang="en-US" dirty="0" smtClean="0"/>
                  <a:t>75</a:t>
                </a:r>
                <a:r>
                  <a:rPr lang="en-US" dirty="0"/>
                  <a:t>% of the values from the rest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𝑟𝑎𝑛𝑘𝑒𝑑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𝑣𝑎𝑙𝑢𝑒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Q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 is the median.</a:t>
                </a:r>
              </a:p>
              <a:p>
                <a:r>
                  <a:rPr lang="en-US" dirty="0" smtClean="0"/>
                  <a:t>If the rank is a half (2.5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, 7.5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 etc.) then the quartile is average of the two values on either side. If the rank is a fraction other than half, round to nearest integer.  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539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3810000" y="4743450"/>
            <a:ext cx="485775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Measure of variation</a:t>
            </a:r>
          </a:p>
          <a:p>
            <a:r>
              <a:rPr lang="en-US" altLang="en-US" dirty="0"/>
              <a:t>Also known as </a:t>
            </a:r>
            <a:r>
              <a:rPr lang="en-US" altLang="en-US" b="1" dirty="0" err="1" smtClean="0"/>
              <a:t>midspread</a:t>
            </a:r>
            <a:endParaRPr lang="en-US" altLang="en-US" b="1" dirty="0" smtClean="0"/>
          </a:p>
          <a:p>
            <a:r>
              <a:rPr lang="en-US" altLang="en-US" dirty="0" smtClean="0"/>
              <a:t>Spread </a:t>
            </a:r>
            <a:r>
              <a:rPr lang="en-US" altLang="en-US" dirty="0"/>
              <a:t>in the middle 50%</a:t>
            </a:r>
          </a:p>
          <a:p>
            <a:r>
              <a:rPr lang="en-US" altLang="en-US" dirty="0"/>
              <a:t>Difference between the first and third quartiles</a:t>
            </a:r>
          </a:p>
          <a:p>
            <a:pPr>
              <a:lnSpc>
                <a:spcPct val="160000"/>
              </a:lnSpc>
            </a:pPr>
            <a:r>
              <a:rPr lang="en-US" altLang="en-US" dirty="0" smtClean="0"/>
              <a:t>Not </a:t>
            </a:r>
            <a:r>
              <a:rPr lang="en-US" altLang="en-US" dirty="0"/>
              <a:t>affected by extreme values</a:t>
            </a:r>
          </a:p>
        </p:txBody>
      </p:sp>
      <p:graphicFrame>
        <p:nvGraphicFramePr>
          <p:cNvPr id="108548" name="Object 4"/>
          <p:cNvGraphicFramePr>
            <a:graphicFrameLocks noChangeAspect="1"/>
          </p:cNvGraphicFramePr>
          <p:nvPr/>
        </p:nvGraphicFramePr>
        <p:xfrm>
          <a:off x="3924300" y="4686300"/>
          <a:ext cx="468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686300"/>
                        <a:ext cx="4686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Interquartile Range</a:t>
            </a:r>
          </a:p>
        </p:txBody>
      </p:sp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3124201" y="4229101"/>
            <a:ext cx="6118622" cy="275076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8" rIns="67866" bIns="333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350" b="1">
                <a:solidFill>
                  <a:prstClr val="black"/>
                </a:solidFill>
                <a:latin typeface="Times New Roman" panose="02020603050405020304" pitchFamily="18" charset="0"/>
              </a:rPr>
              <a:t>Data in Ordered Array:  11   12   13   16   16   17    17   18   21</a:t>
            </a:r>
          </a:p>
        </p:txBody>
      </p:sp>
    </p:spTree>
    <p:extLst>
      <p:ext uri="{BB962C8B-B14F-4D97-AF65-F5344CB8AC3E}">
        <p14:creationId xmlns:p14="http://schemas.microsoft.com/office/powerpoint/2010/main" val="504547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99565" y="1085850"/>
            <a:ext cx="7175418" cy="85725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tabLst>
                <a:tab pos="1371600" algn="l"/>
              </a:tabLst>
            </a:pPr>
            <a:r>
              <a:rPr lang="en-US" altLang="en-US" dirty="0"/>
              <a:t>Pitfalls </a:t>
            </a:r>
            <a:r>
              <a:rPr lang="en-US" altLang="en-US" dirty="0" smtClean="0"/>
              <a:t>and Ethical Considerations</a:t>
            </a:r>
            <a:endParaRPr lang="en-US" altLang="en-US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9565" y="1943101"/>
            <a:ext cx="8168185" cy="381710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dirty="0"/>
              <a:t>Data analysis is </a:t>
            </a:r>
            <a:r>
              <a:rPr lang="en-US" altLang="en-US" dirty="0" smtClean="0"/>
              <a:t>objective</a:t>
            </a:r>
          </a:p>
          <a:p>
            <a:pPr>
              <a:lnSpc>
                <a:spcPct val="110000"/>
              </a:lnSpc>
            </a:pPr>
            <a:r>
              <a:rPr lang="en-US" altLang="en-US" dirty="0" smtClean="0"/>
              <a:t>Should </a:t>
            </a:r>
            <a:r>
              <a:rPr lang="en-US" altLang="en-US" dirty="0"/>
              <a:t>report the summary measures that best meet the assumptions about the data set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Data interpretation is </a:t>
            </a:r>
            <a:r>
              <a:rPr lang="en-US" altLang="en-US" dirty="0" smtClean="0"/>
              <a:t>subjective</a:t>
            </a:r>
          </a:p>
          <a:p>
            <a:pPr>
              <a:lnSpc>
                <a:spcPct val="110000"/>
              </a:lnSpc>
            </a:pPr>
            <a:r>
              <a:rPr lang="en-US" altLang="en-US" dirty="0" smtClean="0"/>
              <a:t>Should </a:t>
            </a:r>
            <a:r>
              <a:rPr lang="en-US" altLang="en-US" dirty="0"/>
              <a:t>be done in fair, neutral and clear </a:t>
            </a:r>
            <a:r>
              <a:rPr lang="en-US" altLang="en-US" dirty="0" smtClean="0"/>
              <a:t>manner</a:t>
            </a:r>
          </a:p>
          <a:p>
            <a:pPr>
              <a:lnSpc>
                <a:spcPct val="110000"/>
              </a:lnSpc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Numerical descriptive measures:</a:t>
            </a:r>
          </a:p>
          <a:p>
            <a:r>
              <a:rPr lang="en-US" altLang="en-US" dirty="0" smtClean="0"/>
              <a:t>Should </a:t>
            </a:r>
            <a:r>
              <a:rPr lang="en-US" altLang="en-US" dirty="0"/>
              <a:t>document both good and bad results</a:t>
            </a:r>
          </a:p>
          <a:p>
            <a:r>
              <a:rPr lang="en-US" altLang="en-US" dirty="0"/>
              <a:t>Should be presented in a fair, objective and neutral manner</a:t>
            </a:r>
          </a:p>
          <a:p>
            <a:r>
              <a:rPr lang="en-US" altLang="en-US" dirty="0"/>
              <a:t>Should not use inappropriate summary measures to distort facts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103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1369</Words>
  <Application>Microsoft Office PowerPoint</Application>
  <PresentationFormat>Widescreen</PresentationFormat>
  <Paragraphs>233</Paragraphs>
  <Slides>29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Franklin Gothic Book</vt:lpstr>
      <vt:lpstr>Perpetua</vt:lpstr>
      <vt:lpstr>Times New Roman</vt:lpstr>
      <vt:lpstr>Wingdings</vt:lpstr>
      <vt:lpstr>Wingdings 2</vt:lpstr>
      <vt:lpstr>Office Theme</vt:lpstr>
      <vt:lpstr>Equity</vt:lpstr>
      <vt:lpstr>Worksheet</vt:lpstr>
      <vt:lpstr>Chart</vt:lpstr>
      <vt:lpstr>Equation</vt:lpstr>
      <vt:lpstr>DOM105 2019</vt:lpstr>
      <vt:lpstr>Categorical and Numerical Data</vt:lpstr>
      <vt:lpstr>Display Categorical Data – Bar Chart</vt:lpstr>
      <vt:lpstr>Pie Chart – Investor’s portfolio</vt:lpstr>
      <vt:lpstr>Side by side Bar Chart</vt:lpstr>
      <vt:lpstr>Tabulating Numerical Data: Frequency Distributions</vt:lpstr>
      <vt:lpstr>Frequency Distributions, Relative Frequency Distributions and Percentage Distributions</vt:lpstr>
      <vt:lpstr>Graphing Numerical Data:  The Histogram</vt:lpstr>
      <vt:lpstr>Tabulating Numerical Data:  Cumulative Frequency</vt:lpstr>
      <vt:lpstr>Graphing Numerical Data:  The Ogive (Cumulative % Polygon)</vt:lpstr>
      <vt:lpstr>Graphing Two Numerical Variables - Scatter Plot</vt:lpstr>
      <vt:lpstr>Time-Series Plot</vt:lpstr>
      <vt:lpstr>Errors in visualizing data</vt:lpstr>
      <vt:lpstr>Measures of Central Tendency</vt:lpstr>
      <vt:lpstr>Arithmetic Mean of Grouped Data</vt:lpstr>
      <vt:lpstr>Grouped data mean example</vt:lpstr>
      <vt:lpstr>Median</vt:lpstr>
      <vt:lpstr>Calculating Median of Grouped data</vt:lpstr>
      <vt:lpstr>Mode</vt:lpstr>
      <vt:lpstr>Calculating mode of grouped data</vt:lpstr>
      <vt:lpstr>PowerPoint Presentation</vt:lpstr>
      <vt:lpstr>Variation and shape of data: Range</vt:lpstr>
      <vt:lpstr>Variance</vt:lpstr>
      <vt:lpstr>Standard Deviation</vt:lpstr>
      <vt:lpstr>Why do we divide by (n-1) for sample variance?</vt:lpstr>
      <vt:lpstr>Shape of a Distribution</vt:lpstr>
      <vt:lpstr>Quartiles</vt:lpstr>
      <vt:lpstr>Interquartile Range</vt:lpstr>
      <vt:lpstr>Pitfalls and Ethical Considerations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DOM103</dc:title>
  <dc:creator>Surya Majumdar</dc:creator>
  <cp:lastModifiedBy>Hp</cp:lastModifiedBy>
  <cp:revision>6</cp:revision>
  <dcterms:created xsi:type="dcterms:W3CDTF">2017-07-26T06:12:28Z</dcterms:created>
  <dcterms:modified xsi:type="dcterms:W3CDTF">2019-02-04T16:21:17Z</dcterms:modified>
</cp:coreProperties>
</file>