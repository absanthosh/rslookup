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7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1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6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2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4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5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1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2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0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89998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69424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71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54010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54179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798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80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7972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01284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60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678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FC506285-2E2A-4651-ADEF-5DA40834FC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803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0A13A525-B6A0-413A-9FDC-A7A6810D9E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6694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723D9-BAD8-4303-817B-659B672E9E96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C6461-3AD4-45AB-893F-2E2D51078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00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2/12/2019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83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Session </a:t>
            </a:r>
            <a:r>
              <a:rPr lang="en-US" sz="3200" dirty="0" smtClean="0"/>
              <a:t>13-14</a:t>
            </a:r>
            <a:endParaRPr lang="en-US" sz="3200" dirty="0" smtClean="0"/>
          </a:p>
          <a:p>
            <a:r>
              <a:rPr lang="en-US" sz="3200" dirty="0" smtClean="0"/>
              <a:t>Reading: Ch. 12.4-12.6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DOM105 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227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parametric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Normal methods of testing and analysis require certain assumptions about the data, such as the assumption of a large sample size, or that the populations have a normal distribution</a:t>
            </a:r>
          </a:p>
          <a:p>
            <a:endParaRPr lang="en-US" dirty="0" smtClean="0"/>
          </a:p>
          <a:p>
            <a:r>
              <a:rPr lang="en-US" dirty="0" smtClean="0"/>
              <a:t>Nonparametric methods require few or no assumptions about the population parameters or distribution</a:t>
            </a:r>
          </a:p>
          <a:p>
            <a:endParaRPr lang="en-US" dirty="0" smtClean="0"/>
          </a:p>
          <a:p>
            <a:r>
              <a:rPr lang="en-US" dirty="0" smtClean="0"/>
              <a:t>Such methods useful for small samples, for non-normal or heavily skewed distributions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41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Difference between two medians –Wilcoxon rank-sum test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For testing difference between median of two independent populations</a:t>
                </a:r>
                <a:endParaRPr lang="en-US" b="0" dirty="0" smtClean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Pool the two samples together into one sample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then arrange the combined sample in ascending order of value, giving each a rank starting with rank 1. If some values are the same, assign them all the average of the ranks that would have been assigned to them.</a:t>
                </a:r>
              </a:p>
              <a:p>
                <a:r>
                  <a:rPr lang="en-US" dirty="0" smtClean="0"/>
                  <a:t>Test statistic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is the sum of ranks assigned to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values of the smaller sample</a:t>
                </a:r>
              </a:p>
              <a:p>
                <a:r>
                  <a:rPr lang="en-US" dirty="0" smtClean="0"/>
                  <a:t>Accuracy of the rankings checked by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588" t="-1200" r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61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 between two medians </a:t>
            </a:r>
            <a:r>
              <a:rPr lang="en-US" dirty="0" smtClean="0"/>
              <a:t>–Wilcoxon </a:t>
            </a:r>
            <a:r>
              <a:rPr lang="en-US" dirty="0"/>
              <a:t>rank-sum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23960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is approximately normally distributed with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/>
                  <a:t>Standard deviation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ra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Based on level of significance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</a:t>
                </a:r>
              </a:p>
              <a:p>
                <a:pPr lvl="0">
                  <a:buClr>
                    <a:srgbClr val="D34817"/>
                  </a:buClr>
                </a:pPr>
                <a:r>
                  <a:rPr lang="en-US" sz="2800" dirty="0">
                    <a:solidFill>
                      <a:prstClr val="black"/>
                    </a:solidFill>
                  </a:rPr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if Z between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buClr>
                    <a:srgbClr val="D34817"/>
                  </a:buClr>
                </a:pPr>
                <a:r>
                  <a:rPr lang="en-US" sz="2800" dirty="0" smtClean="0">
                    <a:solidFill>
                      <a:prstClr val="black"/>
                    </a:solidFill>
                  </a:rPr>
                  <a:t>Right </a:t>
                </a:r>
                <a:r>
                  <a:rPr lang="en-US" sz="2800" dirty="0">
                    <a:solidFill>
                      <a:prstClr val="black"/>
                    </a:solidFill>
                  </a:rPr>
                  <a:t>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if Z </a:t>
                </a:r>
                <a:r>
                  <a:rPr lang="en-US" sz="2800" dirty="0" smtClean="0">
                    <a:solidFill>
                      <a:prstClr val="black"/>
                    </a:solidFill>
                  </a:rPr>
                  <a:t>greater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than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D34817"/>
                  </a:buClr>
                </a:pPr>
                <a:r>
                  <a:rPr lang="en-US" sz="2800" dirty="0" smtClean="0">
                    <a:solidFill>
                      <a:prstClr val="black"/>
                    </a:solidFill>
                  </a:rPr>
                  <a:t>Left </a:t>
                </a:r>
                <a:r>
                  <a:rPr lang="en-US" sz="2800" dirty="0">
                    <a:solidFill>
                      <a:prstClr val="black"/>
                    </a:solidFill>
                  </a:rPr>
                  <a:t>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dirty="0" smtClean="0">
                    <a:solidFill>
                      <a:prstClr val="black"/>
                    </a:solidFill>
                  </a:rPr>
                  <a:t>less </a:t>
                </a:r>
                <a:r>
                  <a:rPr lang="en-US" sz="2800" dirty="0">
                    <a:solidFill>
                      <a:prstClr val="black"/>
                    </a:solidFill>
                  </a:rPr>
                  <a:t>than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239604"/>
              </a:xfrm>
              <a:blipFill rotWithShape="0">
                <a:blip r:embed="rId2"/>
                <a:stretch>
                  <a:fillRect l="-1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50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Kruskal</a:t>
            </a:r>
            <a:r>
              <a:rPr lang="en-US" dirty="0" smtClean="0"/>
              <a:t>-Wallis rank test for comparing medians of multiple (more than 2) independent populations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13042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Let 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 be the number of populations, 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&gt;2.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 smtClean="0"/>
                  <a:t>, with significance level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Pool the </a:t>
                </a:r>
                <a:r>
                  <a:rPr lang="en-US" i="1" dirty="0"/>
                  <a:t>c</a:t>
                </a:r>
                <a:r>
                  <a:rPr lang="en-US" dirty="0" smtClean="0"/>
                  <a:t> </a:t>
                </a:r>
                <a:r>
                  <a:rPr lang="en-US" dirty="0"/>
                  <a:t>samples together into one sample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, then arrange the combined sample in ascending order of value, giving each a rank starting with rank 1. If some values are the same, assign them all the average of the ranks that would have been assigned to them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Let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 smtClean="0"/>
                  <a:t> be </a:t>
                </a:r>
                <a:r>
                  <a:rPr lang="en-US" dirty="0"/>
                  <a:t>the sum of ranks assigned to </a:t>
                </a:r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 smtClean="0"/>
                  <a:t> sample.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b="0" dirty="0" smtClean="0"/>
              </a:p>
              <a:p>
                <a:r>
                  <a:rPr lang="en-US" dirty="0" smtClean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, from table E4,pg 824, Degrees of freedom </a:t>
                </a:r>
                <a:r>
                  <a:rPr lang="en-US" b="1" i="1" dirty="0" err="1" smtClean="0"/>
                  <a:t>df</a:t>
                </a:r>
                <a:r>
                  <a:rPr lang="en-US" b="1" i="1" dirty="0" smtClean="0"/>
                  <a:t>=c-1</a:t>
                </a:r>
                <a:r>
                  <a:rPr lang="en-US" dirty="0" smtClean="0"/>
                  <a:t>. Excel command: CHISQ.INV.RT(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𝑑𝑓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:r>
                  <a:rPr lang="en-US" dirty="0" smtClean="0"/>
                  <a:t>CHIINV(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𝑑𝑓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130421"/>
              </a:xfrm>
              <a:blipFill rotWithShape="0">
                <a:blip r:embed="rId2"/>
                <a:stretch>
                  <a:fillRect l="-588" t="-1425" r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03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McNemmar</a:t>
            </a:r>
            <a:r>
              <a:rPr lang="en-US" dirty="0" smtClean="0"/>
              <a:t> test for difference in proportion in two related samples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22595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Useful in marketing when the same population is sampled in order to detect changes in preference</a:t>
                </a:r>
              </a:p>
              <a:p>
                <a:r>
                  <a:rPr lang="en-US" i="1" dirty="0"/>
                  <a:t>A </a:t>
                </a:r>
                <a:r>
                  <a:rPr lang="en-US" dirty="0"/>
                  <a:t>= number of respondents who answer yes to condition 1 and yes to condition 2</a:t>
                </a:r>
              </a:p>
              <a:p>
                <a:r>
                  <a:rPr lang="en-US" i="1" dirty="0"/>
                  <a:t>B </a:t>
                </a:r>
                <a:r>
                  <a:rPr lang="en-US" dirty="0"/>
                  <a:t>= number of respondents who answer yes to condition 1 and no to condition 2</a:t>
                </a:r>
              </a:p>
              <a:p>
                <a:r>
                  <a:rPr lang="en-US" i="1" dirty="0"/>
                  <a:t>C </a:t>
                </a:r>
                <a:r>
                  <a:rPr lang="en-US" dirty="0"/>
                  <a:t>= number of respondents who answer no to condition 1 and yes to condition 2</a:t>
                </a:r>
              </a:p>
              <a:p>
                <a:r>
                  <a:rPr lang="en-US" i="1" dirty="0"/>
                  <a:t>D </a:t>
                </a:r>
                <a:r>
                  <a:rPr lang="en-US" dirty="0"/>
                  <a:t>= number of respondents who answer no to condition 1 and no to condition 2</a:t>
                </a:r>
              </a:p>
              <a:p>
                <a:r>
                  <a:rPr lang="en-US" i="1" dirty="0"/>
                  <a:t>n </a:t>
                </a:r>
                <a:r>
                  <a:rPr lang="en-US" dirty="0"/>
                  <a:t>= number of respondents in the </a:t>
                </a:r>
                <a:r>
                  <a:rPr lang="en-US" dirty="0" smtClean="0"/>
                  <a:t>sample = </a:t>
                </a:r>
                <a:r>
                  <a:rPr lang="en-US" i="1" dirty="0" smtClean="0"/>
                  <a:t>A+B+C+D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is the proportion of people who say yes to condition 1 in the sample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is the proportion of people who say yes to condition 2 in the </a:t>
                </a:r>
                <a:r>
                  <a:rPr lang="en-US" dirty="0" smtClean="0"/>
                  <a:t>sample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447799"/>
                <a:ext cx="10363200" cy="5225955"/>
              </a:xfrm>
              <a:blipFill rotWithShape="0">
                <a:blip r:embed="rId2"/>
                <a:stretch>
                  <a:fillRect l="-588" t="-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90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Carrying out </a:t>
            </a:r>
            <a:r>
              <a:rPr lang="en-US" dirty="0" err="1" smtClean="0"/>
              <a:t>McNemar</a:t>
            </a:r>
            <a:r>
              <a:rPr lang="en-US" dirty="0" smtClean="0"/>
              <a:t> test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Proportion of </a:t>
                </a:r>
                <a:r>
                  <a:rPr lang="en-US" dirty="0" smtClean="0"/>
                  <a:t>population </a:t>
                </a:r>
                <a:r>
                  <a:rPr lang="en-US" dirty="0"/>
                  <a:t>saying yes to condition </a:t>
                </a:r>
                <a:r>
                  <a:rPr lang="en-US" dirty="0" smtClean="0"/>
                  <a:t>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Proportion of </a:t>
                </a:r>
                <a:r>
                  <a:rPr lang="en-US" dirty="0" smtClean="0"/>
                  <a:t>population </a:t>
                </a:r>
                <a:r>
                  <a:rPr lang="en-US" dirty="0"/>
                  <a:t>saying yes to condition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, significance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lvl="0">
                  <a:buClr>
                    <a:srgbClr val="D34817"/>
                  </a:buClr>
                </a:pPr>
                <a:r>
                  <a:rPr lang="en-US" sz="2800" dirty="0">
                    <a:solidFill>
                      <a:prstClr val="black"/>
                    </a:solidFill>
                  </a:rPr>
                  <a:t>Two tailed test: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if Z between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b>
                    </m:sSub>
                  </m:oMath>
                </a14:m>
                <a:r>
                  <a:rPr lang="en-US" sz="2800" dirty="0" smtClean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>
                    <a:solidFill>
                      <a:prstClr val="black"/>
                    </a:solidFill>
                  </a:rPr>
                  <a:t> </a:t>
                </a:r>
                <a:endParaRPr lang="en-US" sz="2800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D34817"/>
                  </a:buClr>
                </a:pPr>
                <a:r>
                  <a:rPr lang="en-US" sz="2800" dirty="0">
                    <a:solidFill>
                      <a:prstClr val="black"/>
                    </a:solidFill>
                  </a:rPr>
                  <a:t>Left 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if Z less than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</a:endParaRPr>
              </a:p>
              <a:p>
                <a:pPr lvl="0">
                  <a:buClr>
                    <a:srgbClr val="D34817"/>
                  </a:buClr>
                </a:pPr>
                <a:r>
                  <a:rPr lang="en-US" sz="2800" dirty="0">
                    <a:solidFill>
                      <a:prstClr val="black"/>
                    </a:solidFill>
                  </a:rPr>
                  <a:t>Right tailed test;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greater than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706" t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69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223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Franklin Gothic Book</vt:lpstr>
      <vt:lpstr>Perpetua</vt:lpstr>
      <vt:lpstr>Wingdings 2</vt:lpstr>
      <vt:lpstr>Office Theme</vt:lpstr>
      <vt:lpstr>Equity</vt:lpstr>
      <vt:lpstr>DOM105 2019</vt:lpstr>
      <vt:lpstr>Non parametric methods</vt:lpstr>
      <vt:lpstr>Difference between two medians –Wilcoxon rank-sum test</vt:lpstr>
      <vt:lpstr>Difference between two medians –Wilcoxon rank-sum test</vt:lpstr>
      <vt:lpstr>Kruskal-Wallis rank test for comparing medians of multiple (more than 2) independent populations</vt:lpstr>
      <vt:lpstr>McNemmar test for difference in proportion in two related samples</vt:lpstr>
      <vt:lpstr>Carrying out McNemar test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Techniques in Management - I</dc:title>
  <dc:creator>Surya Majumdar</dc:creator>
  <cp:lastModifiedBy>Surya Majumdar</cp:lastModifiedBy>
  <cp:revision>40</cp:revision>
  <dcterms:created xsi:type="dcterms:W3CDTF">2014-08-19T10:54:49Z</dcterms:created>
  <dcterms:modified xsi:type="dcterms:W3CDTF">2019-02-12T06:39:45Z</dcterms:modified>
</cp:coreProperties>
</file>