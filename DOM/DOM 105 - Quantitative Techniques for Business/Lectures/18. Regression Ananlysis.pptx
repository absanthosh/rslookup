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62" d="100"/>
          <a:sy n="62" d="100"/>
        </p:scale>
        <p:origin x="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B690-5721-4000-95E1-1ED7AD2F8878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09027-AF1A-4869-98C2-697AD831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568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B690-5721-4000-95E1-1ED7AD2F8878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09027-AF1A-4869-98C2-697AD831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41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B690-5721-4000-95E1-1ED7AD2F8878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09027-AF1A-4869-98C2-697AD831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7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B690-5721-4000-95E1-1ED7AD2F8878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09027-AF1A-4869-98C2-697AD831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21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B690-5721-4000-95E1-1ED7AD2F8878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09027-AF1A-4869-98C2-697AD831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33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B690-5721-4000-95E1-1ED7AD2F8878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09027-AF1A-4869-98C2-697AD831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65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B690-5721-4000-95E1-1ED7AD2F8878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09027-AF1A-4869-98C2-697AD831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64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B690-5721-4000-95E1-1ED7AD2F8878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09027-AF1A-4869-98C2-697AD831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53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B690-5721-4000-95E1-1ED7AD2F8878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09027-AF1A-4869-98C2-697AD831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32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B690-5721-4000-95E1-1ED7AD2F8878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09027-AF1A-4869-98C2-697AD831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17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6B690-5721-4000-95E1-1ED7AD2F8878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09027-AF1A-4869-98C2-697AD831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42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3/26/2019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83648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3/26/2019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98178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3/26/2019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847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3/26/2019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181614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3/26/2019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70554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3/26/2019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48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3/26/2019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422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3/26/2019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2878776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3/26/2019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98983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3/26/2019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364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3/26/2019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071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FC506285-2E2A-4651-ADEF-5DA40834FC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09091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0A13A525-B6A0-413A-9FDC-A7A6810D9E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804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6B690-5721-4000-95E1-1ED7AD2F8878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09027-AF1A-4869-98C2-697AD831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2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3/26/2019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74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Session 18-19</a:t>
            </a:r>
          </a:p>
          <a:p>
            <a:r>
              <a:rPr lang="en-US" sz="3200" dirty="0" smtClean="0"/>
              <a:t>Reading: Ch. 13.1-13.4,13.6-13.8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DOM105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866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Linear regression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This represents a straight-line relationship between the response variable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 and the explanatory variable </a:t>
                </a:r>
                <a:r>
                  <a:rPr lang="en-US" i="1" dirty="0" smtClean="0"/>
                  <a:t>x. y</a:t>
                </a:r>
                <a:r>
                  <a:rPr lang="en-US" dirty="0" smtClean="0"/>
                  <a:t> is also called </a:t>
                </a:r>
                <a:r>
                  <a:rPr lang="en-US" b="1" dirty="0" smtClean="0"/>
                  <a:t>dependent variable</a:t>
                </a:r>
                <a:r>
                  <a:rPr lang="en-US" dirty="0" smtClean="0"/>
                  <a:t> and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 the </a:t>
                </a:r>
                <a:r>
                  <a:rPr lang="en-US" b="1" dirty="0" smtClean="0"/>
                  <a:t>independent variable.</a:t>
                </a:r>
                <a:endParaRPr lang="en-US" dirty="0" smtClean="0"/>
              </a:p>
              <a:p>
                <a:r>
                  <a:rPr lang="en-US" dirty="0" smtClean="0"/>
                  <a:t>The population values take the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, where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 smtClean="0"/>
                  <a:t> y-intercept for the population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 smtClean="0"/>
                  <a:t> Slope of the population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 smtClean="0"/>
                  <a:t> random error in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 smtClean="0"/>
                  <a:t>When the population is sampled,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is the estimated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is the estimated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. Using these estimates, we can formulate the prediction line: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 the predicted value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 smtClean="0"/>
                  <a:t> observation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059" t="-1867" r="-412"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667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Calculating the regression equation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447799"/>
                <a:ext cx="10363200" cy="5116773"/>
              </a:xfrm>
            </p:spPr>
            <p:txBody>
              <a:bodyPr/>
              <a:lstStyle/>
              <a:p>
                <a:r>
                  <a:rPr lang="en-US" dirty="0" smtClean="0"/>
                  <a:t>To calculate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, the most common method is to minimize the square of the difference between predicted value and observed value, called the least-squares method. Thus the objective is to minimize: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 smtClean="0"/>
              </a:p>
              <a:p>
                <a:r>
                  <a:rPr lang="en-US" dirty="0" smtClean="0"/>
                  <a:t>The formulae to estimate slope and y-intercept are: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𝑆𝑆𝑋𝑌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𝑆𝑆𝑋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                              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3"/>
                                  </m:r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)(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brk m:alnAt="23"/>
                                      </m:r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</m:nary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447799"/>
                <a:ext cx="10363200" cy="5116773"/>
              </a:xfrm>
              <a:blipFill rotWithShape="0">
                <a:blip r:embed="rId2"/>
                <a:stretch>
                  <a:fillRect l="-588" t="-833" r="-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101" y="3298910"/>
            <a:ext cx="2304684" cy="165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87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Variation in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Total variation = Explained variation (variation in relationship between x and y) + unexplained variation (error)</a:t>
            </a:r>
          </a:p>
          <a:p>
            <a:r>
              <a:rPr lang="en-US" dirty="0" smtClean="0"/>
              <a:t>Total Sum of squares SST= Regression sum squares (SSR) + Error sum squares (SSE)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288" y="3143179"/>
            <a:ext cx="2845424" cy="57164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042" y="3927453"/>
            <a:ext cx="2794612" cy="55893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288" y="4699024"/>
            <a:ext cx="2845424" cy="57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73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423081"/>
                <a:ext cx="10363200" cy="5596719"/>
              </a:xfrm>
            </p:spPr>
            <p:txBody>
              <a:bodyPr/>
              <a:lstStyle/>
              <a:p>
                <a:r>
                  <a:rPr lang="en-US" dirty="0" smtClean="0"/>
                  <a:t>The </a:t>
                </a:r>
                <a:r>
                  <a:rPr lang="en-US" b="1" dirty="0" smtClean="0"/>
                  <a:t>coefficient of determination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is a measure of the proportion of variation in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 that is explained by variation in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. A large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1" dirty="0" smtClean="0"/>
                  <a:t> </a:t>
                </a:r>
                <a:r>
                  <a:rPr lang="en-US" dirty="0" smtClean="0"/>
                  <a:t>indicates a strong linear relationship since the model has explained a large part of the variation.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𝑆𝑆𝑅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𝑆𝑆𝑇</m:t>
                          </m:r>
                        </m:den>
                      </m:f>
                    </m:oMath>
                  </m:oMathPara>
                </a14:m>
                <a:endParaRPr lang="en-US" i="1" dirty="0" smtClean="0"/>
              </a:p>
              <a:p>
                <a:r>
                  <a:rPr lang="en-US" dirty="0" smtClean="0"/>
                  <a:t>The </a:t>
                </a:r>
                <a:r>
                  <a:rPr lang="en-US" b="1" dirty="0" smtClean="0"/>
                  <a:t>standard error of the estimate</a:t>
                </a:r>
                <a:r>
                  <a:rPr lang="en-US" dirty="0" smtClean="0"/>
                  <a:t> is the variability between predicted and observed Y values.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𝑆𝑆𝐸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423081"/>
                <a:ext cx="10363200" cy="5596719"/>
              </a:xfrm>
              <a:blipFill rotWithShape="0">
                <a:blip r:embed="rId2"/>
                <a:stretch>
                  <a:fillRect l="-588" t="-762" r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48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Assumptions behind regression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Linearity – relationship between variables is linear</a:t>
                </a:r>
              </a:p>
              <a:p>
                <a:r>
                  <a:rPr lang="en-US" dirty="0" smtClean="0"/>
                  <a:t>Independence of errors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 smtClean="0"/>
                  <a:t>Normality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be normally distributed for each value of </a:t>
                </a:r>
                <a:r>
                  <a:rPr lang="en-US" i="1" dirty="0" smtClean="0"/>
                  <a:t>x</a:t>
                </a:r>
                <a:endParaRPr lang="en-US" dirty="0" smtClean="0"/>
              </a:p>
              <a:p>
                <a:r>
                  <a:rPr lang="en-US" dirty="0" smtClean="0"/>
                  <a:t>Equal variance or homoscedasticity – the variance in the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be equal for all values of </a:t>
                </a:r>
                <a:r>
                  <a:rPr lang="en-US" i="1" dirty="0" smtClean="0"/>
                  <a:t>x</a:t>
                </a:r>
                <a:endParaRPr lang="en-US" dirty="0" smtClean="0"/>
              </a:p>
              <a:p>
                <a:r>
                  <a:rPr lang="en-US" dirty="0" smtClean="0"/>
                  <a:t>To check these assumptions, we analyze the residual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1200" r="-1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7988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Durbin-Watson (DW) statistic to detect autocorrelation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Autocorrelation is when the errors are not independent 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A low </a:t>
                </a:r>
                <a:r>
                  <a:rPr lang="en-US" i="1" dirty="0" smtClean="0"/>
                  <a:t>D</a:t>
                </a:r>
                <a:r>
                  <a:rPr lang="en-US" dirty="0" smtClean="0"/>
                  <a:t> indicates positive autocorrelation, a high D indicates negative autocorrelation. A value between 1.5 and 2.5 indicates no autocorrelation.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1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031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for the slope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 (no relationship between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 and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T-test: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𝑦𝑥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𝑆𝑆𝑋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𝑆𝑆𝑋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US" b="0" dirty="0" smtClean="0"/>
              </a:p>
              <a:p>
                <a:pPr marL="0" indent="0">
                  <a:buNone/>
                </a:pPr>
                <a:r>
                  <a:rPr lang="en-US" dirty="0" smtClean="0"/>
                  <a:t>Critical values: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endParaRPr lang="en-US" b="0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F-test: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𝑀𝑆𝑅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𝑚𝑒𝑎𝑛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𝑠𝑞𝑢𝑎𝑟𝑒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𝑟𝑒𝑔𝑟𝑒𝑠𝑠𝑖𝑜𝑛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𝑀𝑆𝐸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𝑚𝑒𝑎𝑛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𝑠𝑞𝑢𝑎𝑟𝑒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𝑒𝑟𝑟𝑜𝑟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US" b="0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Confidence interval of the slope: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059" t="-1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446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Estimating mean and predicted value of 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Mean value of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 for any given 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 smtClean="0"/>
                  <a:t>Confidence interval for the mean: </a:t>
                </a: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𝑦𝑥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𝑆𝑆𝑋</m:t>
                        </m:r>
                      </m:den>
                    </m:f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The predicted value of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 for any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 smtClean="0"/>
                  <a:t>Confidence interval for the predicted value: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𝑦𝑥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6204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218364"/>
                <a:ext cx="10363200" cy="5801436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Coefficient of determination for a Simple Linear Reg. is 0.82. If the total sum-square variation is 67, what is the standard error when sample size is 50?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𝑇𝑜𝑡𝑎𝑙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𝑣𝑎𝑟𝑖𝑎𝑛𝑐𝑒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𝑆𝑆𝑇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=67,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𝑆𝑆𝑅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𝑆𝑆𝑇</m:t>
                        </m:r>
                      </m:den>
                    </m:f>
                  </m:oMath>
                </a14:m>
                <a:r>
                  <a:rPr lang="en-US" dirty="0"/>
                  <a:t>=0.82, Sample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Thus,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𝑆𝑆𝑅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=67∗0.82=54.94,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𝑆𝑡𝑑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𝑆𝑆𝐸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𝑆𝑆𝑇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𝑆𝑆𝑅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48</m:t>
                              </m:r>
                            </m:den>
                          </m:f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𝑆𝑆𝑇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−0.82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𝑆𝑆𝑇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48</m:t>
                              </m:r>
                            </m:den>
                          </m:f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=0.501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218364"/>
                <a:ext cx="10363200" cy="5801436"/>
              </a:xfrm>
              <a:blipFill rotWithShape="0">
                <a:blip r:embed="rId2"/>
                <a:stretch>
                  <a:fillRect l="-1059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281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219200" y="286603"/>
            <a:ext cx="10363200" cy="6155140"/>
          </a:xfrm>
        </p:spPr>
        <p:txBody>
          <a:bodyPr>
            <a:normAutofit/>
          </a:bodyPr>
          <a:lstStyle/>
          <a:p>
            <a:r>
              <a:rPr lang="en-US" dirty="0" smtClean="0"/>
              <a:t>The annual salary (</a:t>
            </a:r>
            <a:r>
              <a:rPr lang="en-US" dirty="0" err="1" smtClean="0"/>
              <a:t>rs</a:t>
            </a:r>
            <a:r>
              <a:rPr lang="en-US" dirty="0" smtClean="0"/>
              <a:t>. Lakh) and work experience (</a:t>
            </a:r>
            <a:r>
              <a:rPr lang="en-US" dirty="0" err="1" smtClean="0"/>
              <a:t>yrs</a:t>
            </a:r>
            <a:r>
              <a:rPr lang="en-US" dirty="0" smtClean="0"/>
              <a:t>) of 50 workers is given in the excel sheet titled “DOM103 2017 Session 19”. Find the following:</a:t>
            </a:r>
          </a:p>
          <a:p>
            <a:pPr marL="514350" indent="-514350">
              <a:buAutoNum type="alphaLcParenBoth"/>
            </a:pPr>
            <a:r>
              <a:rPr lang="en-US" dirty="0" smtClean="0"/>
              <a:t>Calculate the slope and its 95% confidence interval, y-intercept, coefficient of determination, and standard error. </a:t>
            </a:r>
            <a:endParaRPr lang="en-US" dirty="0" smtClean="0"/>
          </a:p>
          <a:p>
            <a:pPr marL="0" indent="0">
              <a:buNone/>
            </a:pPr>
            <a:r>
              <a:rPr lang="en-CA" dirty="0" smtClean="0"/>
              <a:t>Using “Regression” tool under Data Analysis tab, we enter Work Experience as the X-variable, Annual Salary as the Y-variable. The confidence interval is selected as 95%, as the results displayed on a new worksheet.</a:t>
            </a:r>
          </a:p>
          <a:p>
            <a:pPr marL="0" indent="0">
              <a:buNone/>
            </a:pPr>
            <a:r>
              <a:rPr lang="en-CA" dirty="0" smtClean="0"/>
              <a:t>The results as calculated in Excel are: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 smtClean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 smtClean="0"/>
          </a:p>
          <a:p>
            <a:pPr marL="0" indent="0">
              <a:buNone/>
            </a:pPr>
            <a:r>
              <a:rPr lang="en-CA" dirty="0" err="1" smtClean="0"/>
              <a:t>Coeff</a:t>
            </a:r>
            <a:r>
              <a:rPr lang="en-CA" dirty="0" smtClean="0"/>
              <a:t>. Of determination R^2 = 0.829, Standard error = 1.389</a:t>
            </a:r>
            <a:endParaRPr lang="en-CA" dirty="0"/>
          </a:p>
          <a:p>
            <a:pPr marL="0" indent="0">
              <a:buNone/>
            </a:pPr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584046"/>
              </p:ext>
            </p:extLst>
          </p:nvPr>
        </p:nvGraphicFramePr>
        <p:xfrm>
          <a:off x="1875296" y="3859076"/>
          <a:ext cx="6788257" cy="1735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6791"/>
                <a:gridCol w="1948430"/>
                <a:gridCol w="1594884"/>
                <a:gridCol w="1598152"/>
              </a:tblGrid>
              <a:tr h="75309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 </a:t>
                      </a:r>
                      <a:endParaRPr lang="en-US" sz="28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Coefficients</a:t>
                      </a:r>
                      <a:endParaRPr lang="en-US" sz="28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Lower 95%</a:t>
                      </a:r>
                      <a:endParaRPr lang="en-US" sz="28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Upper 95%</a:t>
                      </a:r>
                      <a:endParaRPr lang="en-US" sz="28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91356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Intercept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6.942109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6.185376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>
                          <a:effectLst/>
                        </a:rPr>
                        <a:t>7.698842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91356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Work ex.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0.418965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0.363789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0.474141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302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Practice problem continued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447800"/>
                <a:ext cx="10363200" cy="54102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(b) Calculate </a:t>
                </a:r>
                <a:r>
                  <a:rPr lang="en-US" dirty="0"/>
                  <a:t>90% confidence intervals for the average and individual predictions for a worker with 7.5 </a:t>
                </a:r>
                <a:r>
                  <a:rPr lang="en-US" dirty="0" err="1"/>
                  <a:t>yrs</a:t>
                </a:r>
                <a:r>
                  <a:rPr lang="en-US" dirty="0"/>
                  <a:t> work ex</a:t>
                </a:r>
                <a:r>
                  <a:rPr lang="en-US" dirty="0" smtClean="0"/>
                  <a:t>.</a:t>
                </a:r>
              </a:p>
              <a:p>
                <a:pPr marL="0" indent="0">
                  <a:buNone/>
                </a:pPr>
                <a:r>
                  <a:rPr lang="en-CA" dirty="0" smtClean="0"/>
                  <a:t>Formulas for average prediction: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𝑦𝑥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CA" dirty="0" smtClean="0"/>
                  <a:t>Formula for individual prediction of y: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𝑦𝑥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CA" dirty="0" smtClean="0"/>
                  <a:t>From using Regression tool in part (a) we get b0=6.942, b1 = 0.419;</a:t>
                </a:r>
              </a:p>
              <a:p>
                <a:pPr marL="0" indent="0">
                  <a:buNone/>
                </a:pPr>
                <a:r>
                  <a:rPr lang="en-CA" dirty="0" smtClean="0"/>
                  <a:t>X = 7.5,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0+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 smtClean="0"/>
                  <a:t>(cutting it short due to lack of time)</a:t>
                </a:r>
                <a:endParaRPr lang="en-US" dirty="0"/>
              </a:p>
              <a:p>
                <a:r>
                  <a:rPr lang="en-CA" dirty="0" smtClean="0"/>
                  <a:t>(The excel sheet contains the rest of the calculations. Copy these calculations out to your answer sheet like any other problem)</a:t>
                </a:r>
              </a:p>
              <a:p>
                <a:r>
                  <a:rPr lang="en-CA" dirty="0" smtClean="0">
                    <a:solidFill>
                      <a:srgbClr val="FF0000"/>
                    </a:solidFill>
                  </a:rPr>
                  <a:t>Rule of documenting Excel work</a:t>
                </a:r>
                <a:r>
                  <a:rPr lang="en-CA" dirty="0" smtClean="0"/>
                  <a:t>: Ask yourself, can someone use what I have written down to duplicate my results? Then your written answer is sufficient.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447800"/>
                <a:ext cx="10363200" cy="5410200"/>
              </a:xfrm>
              <a:blipFill rotWithShape="0">
                <a:blip r:embed="rId2"/>
                <a:stretch>
                  <a:fillRect l="-1059" t="-1578" r="-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89987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1844</TotalTime>
  <Words>355</Words>
  <Application>Microsoft Office PowerPoint</Application>
  <PresentationFormat>Widescreen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Franklin Gothic Book</vt:lpstr>
      <vt:lpstr>Perpetua</vt:lpstr>
      <vt:lpstr>Wingdings 2</vt:lpstr>
      <vt:lpstr>Office Theme</vt:lpstr>
      <vt:lpstr>Equity</vt:lpstr>
      <vt:lpstr>DOM105</vt:lpstr>
      <vt:lpstr>Simple Linear regression</vt:lpstr>
      <vt:lpstr>Calculating the regression equation</vt:lpstr>
      <vt:lpstr>Variation in regression</vt:lpstr>
      <vt:lpstr>PowerPoint Presentation</vt:lpstr>
      <vt:lpstr>Assumptions behind regression</vt:lpstr>
      <vt:lpstr>The Durbin-Watson (DW) statistic to detect autocorrelation</vt:lpstr>
      <vt:lpstr>Testing for the slope</vt:lpstr>
      <vt:lpstr>Estimating mean and predicted value of y</vt:lpstr>
      <vt:lpstr>PowerPoint Presentation</vt:lpstr>
      <vt:lpstr>PowerPoint Presentation</vt:lpstr>
      <vt:lpstr>Practice problem continued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Techniques in Management - I</dc:title>
  <dc:creator>Surya Majumdar</dc:creator>
  <cp:lastModifiedBy>Surya Majumdar</cp:lastModifiedBy>
  <cp:revision>48</cp:revision>
  <dcterms:created xsi:type="dcterms:W3CDTF">2014-08-24T20:39:46Z</dcterms:created>
  <dcterms:modified xsi:type="dcterms:W3CDTF">2019-03-26T05:39:02Z</dcterms:modified>
</cp:coreProperties>
</file>