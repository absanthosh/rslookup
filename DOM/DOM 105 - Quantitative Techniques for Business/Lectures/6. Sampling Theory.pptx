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4" r:id="rId8"/>
    <p:sldId id="267" r:id="rId9"/>
    <p:sldId id="268" r:id="rId10"/>
    <p:sldId id="270" r:id="rId11"/>
    <p:sldId id="271" r:id="rId12"/>
    <p:sldId id="285" r:id="rId13"/>
    <p:sldId id="272" r:id="rId14"/>
    <p:sldId id="273" r:id="rId15"/>
    <p:sldId id="274" r:id="rId16"/>
    <p:sldId id="275"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397188-35F9-448C-8730-1C5A6C678BAC}" type="datetimeFigureOut">
              <a:rPr lang="en-US" smtClean="0"/>
              <a:t>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1289841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397188-35F9-448C-8730-1C5A6C678BAC}" type="datetimeFigureOut">
              <a:rPr lang="en-US" smtClean="0"/>
              <a:t>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208118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397188-35F9-448C-8730-1C5A6C678BAC}" type="datetimeFigureOut">
              <a:rPr lang="en-US" smtClean="0"/>
              <a:t>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756210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397188-35F9-448C-8730-1C5A6C678BAC}" type="datetimeFigureOut">
              <a:rPr lang="en-US" smtClean="0"/>
              <a:t>1/15/2019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3718415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397188-35F9-448C-8730-1C5A6C678BAC}" type="datetimeFigureOut">
              <a:rPr lang="en-US" smtClean="0"/>
              <a:t>1/15/2019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2287637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397188-35F9-448C-8730-1C5A6C678BAC}" type="datetimeFigureOut">
              <a:rPr lang="en-US" smtClean="0"/>
              <a:t>1/15/2019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563739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97188-35F9-448C-8730-1C5A6C678BAC}" type="datetimeFigureOut">
              <a:rPr lang="en-US" smtClean="0"/>
              <a:t>1/15/2019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1376110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397188-35F9-448C-8730-1C5A6C678BAC}" type="datetimeFigureOut">
              <a:rPr lang="en-US" smtClean="0"/>
              <a:t>1/15/2019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1353113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397188-35F9-448C-8730-1C5A6C678BAC}" type="datetimeFigureOut">
              <a:rPr lang="en-US" smtClean="0"/>
              <a:t>1/15/2019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161953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397188-35F9-448C-8730-1C5A6C678BAC}" type="datetimeFigureOut">
              <a:rPr lang="en-US" smtClean="0"/>
              <a:t>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18786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397188-35F9-448C-8730-1C5A6C678BAC}" type="datetimeFigureOut">
              <a:rPr lang="en-US" smtClean="0"/>
              <a:t>1/15/2019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953DF-183D-4DBC-9497-72D722295658}" type="slidenum">
              <a:rPr lang="en-US" smtClean="0"/>
              <a:t>‹#›</a:t>
            </a:fld>
            <a:endParaRPr lang="en-US"/>
          </a:p>
        </p:txBody>
      </p:sp>
    </p:spTree>
    <p:extLst>
      <p:ext uri="{BB962C8B-B14F-4D97-AF65-F5344CB8AC3E}">
        <p14:creationId xmlns:p14="http://schemas.microsoft.com/office/powerpoint/2010/main" val="3179103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extLst>
      <p:ext uri="{BB962C8B-B14F-4D97-AF65-F5344CB8AC3E}">
        <p14:creationId xmlns:p14="http://schemas.microsoft.com/office/powerpoint/2010/main" val="410101776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3124380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5" name="Footer Placeholder 4"/>
          <p:cNvSpPr>
            <a:spLocks noGrp="1"/>
          </p:cNvSpPr>
          <p:nvPr>
            <p:ph type="ftr" sz="quarter" idx="11"/>
          </p:nvPr>
        </p:nvSpPr>
        <p:spPr>
          <a:xfrm>
            <a:off x="1066800" y="6172200"/>
            <a:ext cx="5334000" cy="457200"/>
          </a:xfrm>
        </p:spPr>
        <p:txBody>
          <a:bodyPr/>
          <a:lstStyle/>
          <a:p>
            <a:endParaRPr lang="en-US">
              <a:solidFill>
                <a:srgbClr val="696464"/>
              </a:solidFill>
            </a:endParaRPr>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95072" y="6208776"/>
            <a:ext cx="609600" cy="457200"/>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0136597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15168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3741119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6771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9599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856962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6" name="Footer Placeholder 5"/>
          <p:cNvSpPr>
            <a:spLocks noGrp="1"/>
          </p:cNvSpPr>
          <p:nvPr>
            <p:ph type="ftr" sz="quarter" idx="11"/>
          </p:nvPr>
        </p:nvSpPr>
        <p:spPr>
          <a:xfrm>
            <a:off x="1219200" y="6172200"/>
            <a:ext cx="51816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95072" y="6208776"/>
            <a:ext cx="609600" cy="457200"/>
          </a:xfrm>
        </p:spPr>
        <p:txBody>
          <a:bodyPr/>
          <a:lstStyle/>
          <a:p>
            <a:fld id="{B6F15528-21DE-4FAA-801E-634DDDAF4B2B}" type="slidenum">
              <a:rPr lang="en-US" smtClean="0"/>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p14="http://schemas.microsoft.com/office/powerpoint/2010/main" val="42295455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27794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6661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397188-35F9-448C-8730-1C5A6C678BAC}" type="datetimeFigureOut">
              <a:rPr lang="en-US" smtClean="0"/>
              <a:t>1/15/2019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E953DF-183D-4DBC-9497-72D722295658}" type="slidenum">
              <a:rPr lang="en-US" smtClean="0"/>
              <a:t>‹#›</a:t>
            </a:fld>
            <a:endParaRPr lang="en-US"/>
          </a:p>
        </p:txBody>
      </p:sp>
    </p:spTree>
    <p:extLst>
      <p:ext uri="{BB962C8B-B14F-4D97-AF65-F5344CB8AC3E}">
        <p14:creationId xmlns:p14="http://schemas.microsoft.com/office/powerpoint/2010/main" val="3125463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solidFill>
                  <a:srgbClr val="696464"/>
                </a:solidFill>
              </a:rPr>
              <a:pPr/>
              <a:t>1/15/2019</a:t>
            </a:fld>
            <a:endParaRPr lang="en-US">
              <a:solidFill>
                <a:srgbClr val="696464"/>
              </a:solidFill>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811621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3200" dirty="0" smtClean="0"/>
              <a:t>Session </a:t>
            </a:r>
            <a:r>
              <a:rPr lang="en-US" sz="3200" dirty="0" smtClean="0"/>
              <a:t>5</a:t>
            </a:r>
            <a:endParaRPr lang="en-US" sz="3200" dirty="0" smtClean="0"/>
          </a:p>
          <a:p>
            <a:endParaRPr lang="en-US" sz="3200" dirty="0" smtClean="0"/>
          </a:p>
        </p:txBody>
      </p:sp>
      <p:sp>
        <p:nvSpPr>
          <p:cNvPr id="2" name="Title 1"/>
          <p:cNvSpPr>
            <a:spLocks noGrp="1"/>
          </p:cNvSpPr>
          <p:nvPr>
            <p:ph type="ctrTitle"/>
          </p:nvPr>
        </p:nvSpPr>
        <p:spPr/>
        <p:txBody>
          <a:bodyPr/>
          <a:lstStyle/>
          <a:p>
            <a:r>
              <a:rPr lang="en-US" dirty="0" smtClean="0"/>
              <a:t>DOM105 2019</a:t>
            </a:r>
            <a:endParaRPr lang="en-IN" dirty="0"/>
          </a:p>
        </p:txBody>
      </p:sp>
    </p:spTree>
    <p:extLst>
      <p:ext uri="{BB962C8B-B14F-4D97-AF65-F5344CB8AC3E}">
        <p14:creationId xmlns:p14="http://schemas.microsoft.com/office/powerpoint/2010/main" val="5441852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Population parameters and sample statistics</a:t>
            </a:r>
            <a:endParaRPr lang="en-US" dirty="0"/>
          </a:p>
        </p:txBody>
      </p:sp>
      <p:sp>
        <p:nvSpPr>
          <p:cNvPr id="3" name="Content Placeholder 2"/>
          <p:cNvSpPr>
            <a:spLocks noGrp="1"/>
          </p:cNvSpPr>
          <p:nvPr>
            <p:ph sz="quarter" idx="1"/>
          </p:nvPr>
        </p:nvSpPr>
        <p:spPr/>
        <p:txBody>
          <a:bodyPr/>
          <a:lstStyle/>
          <a:p>
            <a:r>
              <a:rPr lang="en-US" sz="3200" dirty="0" smtClean="0"/>
              <a:t>Population refers to all items that have been chosen for study.</a:t>
            </a:r>
          </a:p>
          <a:p>
            <a:r>
              <a:rPr lang="en-US" sz="3200" dirty="0" smtClean="0"/>
              <a:t>A parameter is the characteristic of a population. </a:t>
            </a:r>
            <a:r>
              <a:rPr lang="en-US" sz="3200" dirty="0" err="1" smtClean="0"/>
              <a:t>Eg</a:t>
            </a:r>
            <a:r>
              <a:rPr lang="en-US" sz="3200" dirty="0" smtClean="0"/>
              <a:t>: 127cm is the mean height of all students in a secondary school, and is a parameter of the population “all students in the school”</a:t>
            </a:r>
          </a:p>
          <a:p>
            <a:r>
              <a:rPr lang="en-US" sz="3200" dirty="0" smtClean="0"/>
              <a:t>Sample is a portion chosen from the population.</a:t>
            </a:r>
          </a:p>
          <a:p>
            <a:r>
              <a:rPr lang="en-US" sz="3200" dirty="0"/>
              <a:t>A </a:t>
            </a:r>
            <a:r>
              <a:rPr lang="en-US" sz="3200" dirty="0" smtClean="0"/>
              <a:t>statistic </a:t>
            </a:r>
            <a:r>
              <a:rPr lang="en-US" sz="3200" dirty="0"/>
              <a:t>is the characteristic of a </a:t>
            </a:r>
            <a:r>
              <a:rPr lang="en-US" sz="3200" dirty="0" smtClean="0"/>
              <a:t>sample. </a:t>
            </a:r>
            <a:r>
              <a:rPr lang="en-US" sz="3200" dirty="0" err="1"/>
              <a:t>Eg</a:t>
            </a:r>
            <a:r>
              <a:rPr lang="en-US" sz="3200" dirty="0"/>
              <a:t>: </a:t>
            </a:r>
            <a:r>
              <a:rPr lang="en-US" sz="3200" dirty="0" smtClean="0"/>
              <a:t>129cm </a:t>
            </a:r>
            <a:r>
              <a:rPr lang="en-US" sz="3200" dirty="0"/>
              <a:t>is the mean height of </a:t>
            </a:r>
            <a:r>
              <a:rPr lang="en-US" sz="3200" dirty="0" smtClean="0"/>
              <a:t>100 random students from </a:t>
            </a:r>
            <a:r>
              <a:rPr lang="en-US" sz="3200" dirty="0"/>
              <a:t>a secondary school, and is a </a:t>
            </a:r>
            <a:r>
              <a:rPr lang="en-US" sz="3200" dirty="0" smtClean="0"/>
              <a:t>statistic </a:t>
            </a:r>
            <a:r>
              <a:rPr lang="en-US" sz="3200" dirty="0"/>
              <a:t>of the </a:t>
            </a:r>
            <a:r>
              <a:rPr lang="en-US" sz="3200" dirty="0" smtClean="0"/>
              <a:t>sample of 100 students.</a:t>
            </a:r>
            <a:endParaRPr lang="en-US" sz="3200" dirty="0"/>
          </a:p>
          <a:p>
            <a:endParaRPr lang="en-US" dirty="0"/>
          </a:p>
        </p:txBody>
      </p:sp>
    </p:spTree>
    <p:extLst>
      <p:ext uri="{BB962C8B-B14F-4D97-AF65-F5344CB8AC3E}">
        <p14:creationId xmlns:p14="http://schemas.microsoft.com/office/powerpoint/2010/main" val="10101707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60060" y="274637"/>
            <a:ext cx="9126940" cy="899070"/>
          </a:xfrm>
        </p:spPr>
        <p:txBody>
          <a:bodyPr>
            <a:normAutofit/>
          </a:bodyPr>
          <a:lstStyle/>
          <a:p>
            <a:pPr algn="l" eaLnBrk="1" hangingPunct="1"/>
            <a:r>
              <a:rPr lang="en-US" altLang="en-US" dirty="0">
                <a:cs typeface="Times New Roman" panose="02020603050405020304" pitchFamily="18" charset="0"/>
              </a:rPr>
              <a:t>Sampling Theory</a:t>
            </a:r>
            <a:r>
              <a:rPr lang="en-US" altLang="en-US" dirty="0"/>
              <a:t> </a:t>
            </a:r>
          </a:p>
        </p:txBody>
      </p:sp>
      <p:sp>
        <p:nvSpPr>
          <p:cNvPr id="11267" name="Rectangle 3"/>
          <p:cNvSpPr>
            <a:spLocks noGrp="1" noChangeArrowheads="1"/>
          </p:cNvSpPr>
          <p:nvPr>
            <p:ph type="body" idx="1"/>
          </p:nvPr>
        </p:nvSpPr>
        <p:spPr>
          <a:xfrm>
            <a:off x="955343" y="1310185"/>
            <a:ext cx="9484057" cy="4815979"/>
          </a:xfrm>
        </p:spPr>
        <p:txBody>
          <a:bodyPr>
            <a:normAutofit lnSpcReduction="10000"/>
          </a:bodyPr>
          <a:lstStyle/>
          <a:p>
            <a:pPr eaLnBrk="1" hangingPunct="1">
              <a:lnSpc>
                <a:spcPct val="90000"/>
              </a:lnSpc>
            </a:pPr>
            <a:r>
              <a:rPr lang="en-US" altLang="en-US" sz="3200" dirty="0" smtClean="0">
                <a:cs typeface="Times New Roman" panose="02020603050405020304" pitchFamily="18" charset="0"/>
              </a:rPr>
              <a:t>Judgment sampling – prior knowledge and opinions are used to determine which items from a population are to be included in a sample. </a:t>
            </a:r>
            <a:r>
              <a:rPr lang="en-US" altLang="en-US" sz="3200" dirty="0" err="1" smtClean="0">
                <a:cs typeface="Times New Roman" panose="02020603050405020304" pitchFamily="18" charset="0"/>
              </a:rPr>
              <a:t>Eg</a:t>
            </a:r>
            <a:r>
              <a:rPr lang="en-US" altLang="en-US" sz="3200" dirty="0" smtClean="0">
                <a:cs typeface="Times New Roman" panose="02020603050405020304" pitchFamily="18" charset="0"/>
              </a:rPr>
              <a:t>: Determining which geographical areas to carry out a survey.</a:t>
            </a:r>
          </a:p>
          <a:p>
            <a:pPr eaLnBrk="1" hangingPunct="1">
              <a:lnSpc>
                <a:spcPct val="90000"/>
              </a:lnSpc>
            </a:pPr>
            <a:r>
              <a:rPr lang="en-US" altLang="en-US" sz="3200" dirty="0" smtClean="0"/>
              <a:t>Probability sampling – all items in the population have a chance of being selected in the sample. </a:t>
            </a:r>
            <a:r>
              <a:rPr lang="en-US" altLang="en-US" sz="3200" dirty="0" err="1" smtClean="0"/>
              <a:t>Eg</a:t>
            </a:r>
            <a:r>
              <a:rPr lang="en-US" altLang="en-US" sz="3200" dirty="0" smtClean="0"/>
              <a:t>: Randomly selecting employees from everyone working in a company for a survey.</a:t>
            </a:r>
          </a:p>
          <a:p>
            <a:pPr eaLnBrk="1" hangingPunct="1">
              <a:lnSpc>
                <a:spcPct val="90000"/>
              </a:lnSpc>
            </a:pPr>
            <a:r>
              <a:rPr lang="en-US" altLang="en-US" sz="3200" dirty="0" smtClean="0"/>
              <a:t>Sampling Bias – when samples are chosen that are not truly representative of the population. For example, only polling car owners on their opinion on new traffic laws.</a:t>
            </a:r>
          </a:p>
          <a:p>
            <a:pPr eaLnBrk="1" hangingPunct="1">
              <a:lnSpc>
                <a:spcPct val="90000"/>
              </a:lnSpc>
              <a:buFontTx/>
              <a:buNone/>
            </a:pPr>
            <a:endParaRPr lang="en-US" altLang="en-US" u="sng" dirty="0" smtClean="0"/>
          </a:p>
        </p:txBody>
      </p:sp>
    </p:spTree>
    <p:extLst>
      <p:ext uri="{BB962C8B-B14F-4D97-AF65-F5344CB8AC3E}">
        <p14:creationId xmlns:p14="http://schemas.microsoft.com/office/powerpoint/2010/main" val="1403813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Sampling</a:t>
            </a:r>
            <a:endParaRPr lang="en-US" dirty="0"/>
          </a:p>
        </p:txBody>
      </p:sp>
      <p:sp>
        <p:nvSpPr>
          <p:cNvPr id="3" name="Content Placeholder 2"/>
          <p:cNvSpPr>
            <a:spLocks noGrp="1"/>
          </p:cNvSpPr>
          <p:nvPr>
            <p:ph sz="quarter" idx="1"/>
          </p:nvPr>
        </p:nvSpPr>
        <p:spPr/>
        <p:txBody>
          <a:bodyPr>
            <a:normAutofit/>
          </a:bodyPr>
          <a:lstStyle/>
          <a:p>
            <a:r>
              <a:rPr lang="en-US" sz="3200" dirty="0" smtClean="0"/>
              <a:t>Simple Random Sampling With/Without Replacement</a:t>
            </a:r>
          </a:p>
          <a:p>
            <a:endParaRPr lang="en-US" sz="3200" dirty="0" smtClean="0"/>
          </a:p>
          <a:p>
            <a:r>
              <a:rPr lang="en-US" sz="3200" dirty="0" smtClean="0"/>
              <a:t>Systematic Sampling</a:t>
            </a:r>
          </a:p>
          <a:p>
            <a:endParaRPr lang="en-US" sz="3200" dirty="0" smtClean="0"/>
          </a:p>
          <a:p>
            <a:r>
              <a:rPr lang="en-US" sz="3200" dirty="0" smtClean="0"/>
              <a:t>Stratified Sampling</a:t>
            </a:r>
          </a:p>
          <a:p>
            <a:endParaRPr lang="en-US" sz="3200" dirty="0" smtClean="0"/>
          </a:p>
          <a:p>
            <a:r>
              <a:rPr lang="en-US" sz="3200" dirty="0" smtClean="0"/>
              <a:t>Cluster Sampling</a:t>
            </a:r>
            <a:endParaRPr lang="en-US" sz="3200" dirty="0"/>
          </a:p>
        </p:txBody>
      </p:sp>
    </p:spTree>
    <p:extLst>
      <p:ext uri="{BB962C8B-B14F-4D97-AF65-F5344CB8AC3E}">
        <p14:creationId xmlns:p14="http://schemas.microsoft.com/office/powerpoint/2010/main" val="1004465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20"/>
          <p:cNvSpPr>
            <a:spLocks noGrp="1" noChangeArrowheads="1"/>
          </p:cNvSpPr>
          <p:nvPr>
            <p:ph type="title"/>
          </p:nvPr>
        </p:nvSpPr>
        <p:spPr/>
        <p:txBody>
          <a:bodyPr>
            <a:normAutofit fontScale="90000"/>
          </a:bodyPr>
          <a:lstStyle/>
          <a:p>
            <a:pPr eaLnBrk="1" hangingPunct="1"/>
            <a:r>
              <a:rPr lang="en-US" altLang="en-US" dirty="0" smtClean="0"/>
              <a:t>Simple Random Sampling With Replacement (SRSWR)</a:t>
            </a:r>
          </a:p>
        </p:txBody>
      </p:sp>
      <p:sp>
        <p:nvSpPr>
          <p:cNvPr id="13315" name="Rectangle 121"/>
          <p:cNvSpPr>
            <a:spLocks noGrp="1" noChangeArrowheads="1"/>
          </p:cNvSpPr>
          <p:nvPr>
            <p:ph type="body" idx="1"/>
          </p:nvPr>
        </p:nvSpPr>
        <p:spPr>
          <a:xfrm>
            <a:off x="1219201" y="1417639"/>
            <a:ext cx="8991600" cy="4830762"/>
          </a:xfrm>
        </p:spPr>
        <p:txBody>
          <a:bodyPr>
            <a:normAutofit/>
          </a:bodyPr>
          <a:lstStyle/>
          <a:p>
            <a:pPr eaLnBrk="1" hangingPunct="1">
              <a:lnSpc>
                <a:spcPct val="90000"/>
              </a:lnSpc>
            </a:pPr>
            <a:r>
              <a:rPr lang="en-US" altLang="en-US" sz="3200" dirty="0" smtClean="0"/>
              <a:t>n units to draw from N units</a:t>
            </a:r>
          </a:p>
          <a:p>
            <a:pPr eaLnBrk="1" hangingPunct="1">
              <a:lnSpc>
                <a:spcPct val="90000"/>
              </a:lnSpc>
            </a:pPr>
            <a:r>
              <a:rPr lang="en-US" altLang="en-US" sz="3200" dirty="0" smtClean="0"/>
              <a:t>Unit drawn is returned before next draw</a:t>
            </a:r>
          </a:p>
          <a:p>
            <a:pPr eaLnBrk="1" hangingPunct="1">
              <a:lnSpc>
                <a:spcPct val="90000"/>
              </a:lnSpc>
            </a:pPr>
            <a:r>
              <a:rPr lang="en-US" altLang="en-US" sz="3200" dirty="0" smtClean="0"/>
              <a:t>All possible choices are equally likely</a:t>
            </a:r>
          </a:p>
          <a:p>
            <a:pPr eaLnBrk="1" hangingPunct="1">
              <a:lnSpc>
                <a:spcPct val="90000"/>
              </a:lnSpc>
            </a:pPr>
            <a:r>
              <a:rPr lang="en-US" altLang="en-US" sz="3200" dirty="0" err="1" smtClean="0"/>
              <a:t>N</a:t>
            </a:r>
            <a:r>
              <a:rPr lang="en-US" altLang="en-US" sz="3200" baseline="30000" dirty="0" err="1" smtClean="0"/>
              <a:t>n</a:t>
            </a:r>
            <a:r>
              <a:rPr lang="en-US" altLang="en-US" sz="3200" dirty="0" smtClean="0"/>
              <a:t> possible samples of size n each</a:t>
            </a:r>
          </a:p>
          <a:p>
            <a:pPr eaLnBrk="1" hangingPunct="1">
              <a:lnSpc>
                <a:spcPct val="90000"/>
              </a:lnSpc>
            </a:pPr>
            <a:r>
              <a:rPr lang="en-US" altLang="en-US" sz="3200" dirty="0" smtClean="0"/>
              <a:t>Each sample has probability 1/</a:t>
            </a:r>
            <a:r>
              <a:rPr lang="en-US" altLang="en-US" sz="3200" dirty="0" err="1" smtClean="0"/>
              <a:t>N</a:t>
            </a:r>
            <a:r>
              <a:rPr lang="en-US" altLang="en-US" sz="3200" baseline="30000" dirty="0" err="1" smtClean="0"/>
              <a:t>n</a:t>
            </a:r>
            <a:r>
              <a:rPr lang="en-US" altLang="en-US" sz="3200" baseline="30000" dirty="0" smtClean="0"/>
              <a:t>  </a:t>
            </a:r>
            <a:endParaRPr lang="en-US" altLang="en-US" sz="3200" dirty="0" smtClean="0"/>
          </a:p>
          <a:p>
            <a:pPr eaLnBrk="1" hangingPunct="1">
              <a:lnSpc>
                <a:spcPct val="90000"/>
              </a:lnSpc>
            </a:pPr>
            <a:r>
              <a:rPr lang="en-US" altLang="en-US" sz="3200" dirty="0" smtClean="0"/>
              <a:t>Same unit may repeat in the same sample</a:t>
            </a:r>
          </a:p>
          <a:p>
            <a:pPr eaLnBrk="1" hangingPunct="1">
              <a:lnSpc>
                <a:spcPct val="90000"/>
              </a:lnSpc>
            </a:pPr>
            <a:r>
              <a:rPr lang="en-US" altLang="en-US" sz="3200" dirty="0" smtClean="0"/>
              <a:t>Values of sampled units are random variables.</a:t>
            </a:r>
          </a:p>
          <a:p>
            <a:pPr>
              <a:lnSpc>
                <a:spcPct val="90000"/>
              </a:lnSpc>
            </a:pPr>
            <a:r>
              <a:rPr lang="en-US" altLang="en-US" sz="3200" dirty="0">
                <a:cs typeface="Times New Roman" panose="02020603050405020304" pitchFamily="18" charset="0"/>
              </a:rPr>
              <a:t>Independent and identically distributed (IID) random variables </a:t>
            </a:r>
            <a:endParaRPr lang="en-US" altLang="en-US" sz="3200" dirty="0"/>
          </a:p>
          <a:p>
            <a:pPr eaLnBrk="1" hangingPunct="1">
              <a:lnSpc>
                <a:spcPct val="90000"/>
              </a:lnSpc>
            </a:pPr>
            <a:endParaRPr lang="en-US" altLang="en-US" sz="3200" baseline="30000" dirty="0" smtClean="0"/>
          </a:p>
        </p:txBody>
      </p:sp>
    </p:spTree>
    <p:extLst>
      <p:ext uri="{BB962C8B-B14F-4D97-AF65-F5344CB8AC3E}">
        <p14:creationId xmlns:p14="http://schemas.microsoft.com/office/powerpoint/2010/main" val="10220441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274638"/>
            <a:ext cx="8229600" cy="715962"/>
          </a:xfrm>
        </p:spPr>
        <p:txBody>
          <a:bodyPr>
            <a:noAutofit/>
          </a:bodyPr>
          <a:lstStyle/>
          <a:p>
            <a:pPr algn="l" eaLnBrk="1" hangingPunct="1"/>
            <a:r>
              <a:rPr lang="en-US" altLang="en-US" dirty="0"/>
              <a:t>SRS Without Replacement (SRSWOR)</a:t>
            </a:r>
          </a:p>
        </p:txBody>
      </p:sp>
      <p:sp>
        <p:nvSpPr>
          <p:cNvPr id="17411" name="Rectangle 3"/>
          <p:cNvSpPr>
            <a:spLocks noGrp="1" noChangeArrowheads="1"/>
          </p:cNvSpPr>
          <p:nvPr>
            <p:ph type="body" idx="1"/>
          </p:nvPr>
        </p:nvSpPr>
        <p:spPr>
          <a:xfrm>
            <a:off x="1981200" y="1219201"/>
            <a:ext cx="8229600" cy="4906963"/>
          </a:xfrm>
        </p:spPr>
        <p:txBody>
          <a:bodyPr>
            <a:normAutofit lnSpcReduction="10000"/>
          </a:bodyPr>
          <a:lstStyle/>
          <a:p>
            <a:pPr eaLnBrk="1" hangingPunct="1">
              <a:lnSpc>
                <a:spcPct val="90000"/>
              </a:lnSpc>
            </a:pPr>
            <a:r>
              <a:rPr lang="en-US" altLang="en-US" sz="3200" dirty="0" smtClean="0"/>
              <a:t>n units to draw at random from N units</a:t>
            </a:r>
          </a:p>
          <a:p>
            <a:pPr eaLnBrk="1" hangingPunct="1">
              <a:lnSpc>
                <a:spcPct val="90000"/>
              </a:lnSpc>
            </a:pPr>
            <a:r>
              <a:rPr lang="en-US" altLang="en-US" sz="3200" dirty="0" smtClean="0"/>
              <a:t>Unit once drawn is not returned before drawing the next unit</a:t>
            </a:r>
          </a:p>
          <a:p>
            <a:pPr eaLnBrk="1" hangingPunct="1">
              <a:lnSpc>
                <a:spcPct val="90000"/>
              </a:lnSpc>
            </a:pPr>
            <a:r>
              <a:rPr lang="en-US" altLang="en-US" sz="3200" dirty="0" smtClean="0"/>
              <a:t>All possible choices are equally likely</a:t>
            </a:r>
          </a:p>
          <a:p>
            <a:pPr eaLnBrk="1" hangingPunct="1">
              <a:lnSpc>
                <a:spcPct val="90000"/>
              </a:lnSpc>
            </a:pPr>
            <a:r>
              <a:rPr lang="en-US" altLang="en-US" sz="3200" baseline="30000" dirty="0" err="1" smtClean="0"/>
              <a:t>N</a:t>
            </a:r>
            <a:r>
              <a:rPr lang="en-US" altLang="en-US" sz="3200" dirty="0" err="1" smtClean="0"/>
              <a:t>C</a:t>
            </a:r>
            <a:r>
              <a:rPr lang="en-US" altLang="en-US" sz="3200" baseline="-25000" dirty="0" err="1" smtClean="0"/>
              <a:t>n</a:t>
            </a:r>
            <a:r>
              <a:rPr lang="en-US" altLang="en-US" sz="3200" dirty="0" smtClean="0"/>
              <a:t> possible samples of size n each</a:t>
            </a:r>
          </a:p>
          <a:p>
            <a:pPr eaLnBrk="1" hangingPunct="1">
              <a:lnSpc>
                <a:spcPct val="90000"/>
              </a:lnSpc>
            </a:pPr>
            <a:r>
              <a:rPr lang="en-US" altLang="en-US" sz="3200" dirty="0" smtClean="0"/>
              <a:t>Each sample has probability 1/</a:t>
            </a:r>
            <a:r>
              <a:rPr lang="en-US" altLang="en-US" sz="3200" baseline="30000" dirty="0" err="1" smtClean="0"/>
              <a:t>N</a:t>
            </a:r>
            <a:r>
              <a:rPr lang="en-US" altLang="en-US" sz="3200" dirty="0" err="1" smtClean="0"/>
              <a:t>C</a:t>
            </a:r>
            <a:r>
              <a:rPr lang="en-US" altLang="en-US" sz="3200" baseline="-25000" dirty="0" err="1" smtClean="0"/>
              <a:t>n</a:t>
            </a:r>
            <a:r>
              <a:rPr lang="en-US" altLang="en-US" sz="3200" baseline="30000" dirty="0" smtClean="0"/>
              <a:t>  </a:t>
            </a:r>
            <a:endParaRPr lang="en-US" altLang="en-US" sz="3200" dirty="0" smtClean="0"/>
          </a:p>
          <a:p>
            <a:pPr eaLnBrk="1" hangingPunct="1">
              <a:lnSpc>
                <a:spcPct val="90000"/>
              </a:lnSpc>
            </a:pPr>
            <a:r>
              <a:rPr lang="en-US" altLang="en-US" sz="3200" dirty="0" smtClean="0"/>
              <a:t>Units in a sample are all distinct</a:t>
            </a:r>
          </a:p>
          <a:p>
            <a:pPr eaLnBrk="1" hangingPunct="1">
              <a:lnSpc>
                <a:spcPct val="90000"/>
              </a:lnSpc>
            </a:pPr>
            <a:r>
              <a:rPr lang="en-US" altLang="en-US" sz="3200" dirty="0" smtClean="0"/>
              <a:t>Values of sampled units are random variables </a:t>
            </a:r>
          </a:p>
          <a:p>
            <a:pPr>
              <a:lnSpc>
                <a:spcPct val="90000"/>
              </a:lnSpc>
            </a:pPr>
            <a:r>
              <a:rPr lang="en-US" altLang="en-US" sz="3200" dirty="0"/>
              <a:t>Sample units are not </a:t>
            </a:r>
            <a:r>
              <a:rPr lang="en-US" altLang="en-US" sz="3200" dirty="0" smtClean="0"/>
              <a:t>independent, but they are identically distributed.</a:t>
            </a:r>
            <a:endParaRPr lang="en-US" altLang="en-US" sz="3200" dirty="0"/>
          </a:p>
          <a:p>
            <a:pPr eaLnBrk="1" hangingPunct="1">
              <a:lnSpc>
                <a:spcPct val="90000"/>
              </a:lnSpc>
            </a:pPr>
            <a:endParaRPr lang="en-US" altLang="en-US" sz="3200" dirty="0" smtClean="0"/>
          </a:p>
        </p:txBody>
      </p:sp>
    </p:spTree>
    <p:extLst>
      <p:ext uri="{BB962C8B-B14F-4D97-AF65-F5344CB8AC3E}">
        <p14:creationId xmlns:p14="http://schemas.microsoft.com/office/powerpoint/2010/main" val="31624915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types of Sampling</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In systematic sampling, elements are selected from the population in uniform intervals, such as after a certain time, or in a certain order.</a:t>
            </a:r>
          </a:p>
          <a:p>
            <a:r>
              <a:rPr lang="en-US" dirty="0" smtClean="0"/>
              <a:t>Systematic sampling inappropriate when elements have sequential patterns.</a:t>
            </a:r>
          </a:p>
          <a:p>
            <a:r>
              <a:rPr lang="en-US" dirty="0" smtClean="0"/>
              <a:t>In stratified sampling, the population divided into homogenous strata, then each strata sampled in proportion to their size (or sampled equally and weighted in proportion to their size)</a:t>
            </a:r>
          </a:p>
          <a:p>
            <a:r>
              <a:rPr lang="en-US" dirty="0" smtClean="0"/>
              <a:t>In cluster sampling, population divided into clusters, each of which are representative of the population, and a random selection of clusters chosen for sampling.</a:t>
            </a:r>
          </a:p>
          <a:p>
            <a:r>
              <a:rPr lang="en-US" dirty="0" smtClean="0"/>
              <a:t>A strata has low variance but differs greatly from other strata, clusters have high variance but are similar to each other.</a:t>
            </a:r>
            <a:endParaRPr lang="en-US" dirty="0"/>
          </a:p>
        </p:txBody>
      </p:sp>
    </p:spTree>
    <p:extLst>
      <p:ext uri="{BB962C8B-B14F-4D97-AF65-F5344CB8AC3E}">
        <p14:creationId xmlns:p14="http://schemas.microsoft.com/office/powerpoint/2010/main" val="36338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designing an experiment</a:t>
            </a:r>
            <a:endParaRPr lang="en-US" dirty="0"/>
          </a:p>
        </p:txBody>
      </p:sp>
      <p:sp>
        <p:nvSpPr>
          <p:cNvPr id="3" name="Content Placeholder 2"/>
          <p:cNvSpPr>
            <a:spLocks noGrp="1"/>
          </p:cNvSpPr>
          <p:nvPr>
            <p:ph sz="quarter" idx="1"/>
          </p:nvPr>
        </p:nvSpPr>
        <p:spPr/>
        <p:txBody>
          <a:bodyPr>
            <a:normAutofit fontScale="92500" lnSpcReduction="20000"/>
          </a:bodyPr>
          <a:lstStyle/>
          <a:p>
            <a:r>
              <a:rPr lang="en-US" sz="3200" dirty="0" smtClean="0"/>
              <a:t>Define the </a:t>
            </a:r>
            <a:r>
              <a:rPr lang="en-US" sz="3200" b="1" dirty="0" smtClean="0"/>
              <a:t>objective</a:t>
            </a:r>
            <a:r>
              <a:rPr lang="en-US" sz="3200" dirty="0" smtClean="0"/>
              <a:t> of the experiment</a:t>
            </a:r>
          </a:p>
          <a:p>
            <a:r>
              <a:rPr lang="en-US" sz="3200" dirty="0" smtClean="0"/>
              <a:t>Determine what exactly is to be measured, also called the </a:t>
            </a:r>
            <a:r>
              <a:rPr lang="en-US" sz="3200" b="1" dirty="0" smtClean="0"/>
              <a:t>response variable. </a:t>
            </a:r>
            <a:r>
              <a:rPr lang="en-US" sz="3200" dirty="0" smtClean="0"/>
              <a:t>This is not always same </a:t>
            </a:r>
            <a:r>
              <a:rPr lang="en-US" sz="3200" smtClean="0"/>
              <a:t>as objective</a:t>
            </a:r>
            <a:endParaRPr lang="en-US" sz="3200" b="1" dirty="0" smtClean="0"/>
          </a:p>
          <a:p>
            <a:r>
              <a:rPr lang="en-US" sz="3200" dirty="0" smtClean="0"/>
              <a:t>Decide sampling methods – judgement/probability, systematic/cluster/stratified etc. More than one method may be applied</a:t>
            </a:r>
          </a:p>
          <a:p>
            <a:r>
              <a:rPr lang="en-US" sz="3200" dirty="0" smtClean="0"/>
              <a:t>Decide the size of the sample – larger samples better, smaller samples cheaper</a:t>
            </a:r>
          </a:p>
          <a:p>
            <a:r>
              <a:rPr lang="en-US" sz="3200" dirty="0" smtClean="0"/>
              <a:t>Conduct the experiment under controlled conditions – take steps to eliminate bias and external factors</a:t>
            </a:r>
          </a:p>
          <a:p>
            <a:r>
              <a:rPr lang="en-US" sz="3200" dirty="0" smtClean="0"/>
              <a:t>Analyze the data using statistics or test for hypotheses.</a:t>
            </a:r>
            <a:endParaRPr lang="en-US" sz="3200" dirty="0"/>
          </a:p>
        </p:txBody>
      </p:sp>
    </p:spTree>
    <p:extLst>
      <p:ext uri="{BB962C8B-B14F-4D97-AF65-F5344CB8AC3E}">
        <p14:creationId xmlns:p14="http://schemas.microsoft.com/office/powerpoint/2010/main" val="963015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Sampling Distributions</a:t>
            </a:r>
            <a:endParaRPr lang="en-US" dirty="0"/>
          </a:p>
        </p:txBody>
      </p:sp>
      <p:sp>
        <p:nvSpPr>
          <p:cNvPr id="3" name="Content Placeholder 2"/>
          <p:cNvSpPr>
            <a:spLocks noGrp="1"/>
          </p:cNvSpPr>
          <p:nvPr>
            <p:ph sz="quarter" idx="1"/>
          </p:nvPr>
        </p:nvSpPr>
        <p:spPr/>
        <p:txBody>
          <a:bodyPr/>
          <a:lstStyle/>
          <a:p>
            <a:r>
              <a:rPr lang="en-US" dirty="0" smtClean="0"/>
              <a:t>A probability distribution of all possible means of the samples is a distribution of the sample means.</a:t>
            </a:r>
          </a:p>
          <a:p>
            <a:r>
              <a:rPr lang="en-US" dirty="0" smtClean="0"/>
              <a:t>You can also have distributions of the sample median, the sample proportion, or some other statistic of the sample.</a:t>
            </a:r>
          </a:p>
          <a:p>
            <a:r>
              <a:rPr lang="en-US" dirty="0" smtClean="0"/>
              <a:t>The standard deviation of the distribution of a sample statistic is called the </a:t>
            </a:r>
            <a:r>
              <a:rPr lang="en-US" b="1" dirty="0" smtClean="0"/>
              <a:t>standard error</a:t>
            </a:r>
            <a:r>
              <a:rPr lang="en-US" dirty="0" smtClean="0"/>
              <a:t> of that sample statistic, e.g., the standard error of the sample mean.</a:t>
            </a:r>
          </a:p>
          <a:p>
            <a:r>
              <a:rPr lang="en-US" dirty="0" smtClean="0"/>
              <a:t>Sampling distributions are used to make samples cost-effective by finding the best balance between reducing errors in the sample and reducing cost.</a:t>
            </a:r>
            <a:endParaRPr lang="en-US" dirty="0"/>
          </a:p>
        </p:txBody>
      </p:sp>
    </p:spTree>
    <p:extLst>
      <p:ext uri="{BB962C8B-B14F-4D97-AF65-F5344CB8AC3E}">
        <p14:creationId xmlns:p14="http://schemas.microsoft.com/office/powerpoint/2010/main" val="3630065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1199" y="274637"/>
            <a:ext cx="9305499" cy="1131081"/>
          </a:xfrm>
        </p:spPr>
        <p:txBody>
          <a:bodyPr>
            <a:noAutofit/>
          </a:bodyPr>
          <a:lstStyle/>
          <a:p>
            <a:pPr algn="l" eaLnBrk="1" hangingPunct="1"/>
            <a:r>
              <a:rPr lang="en-US" altLang="en-US" sz="3600" dirty="0"/>
              <a:t>Sampling Distribution of Sample Mean in Simple Random Sampling</a:t>
            </a:r>
          </a:p>
        </p:txBody>
      </p:sp>
      <p:sp>
        <p:nvSpPr>
          <p:cNvPr id="22531" name="Rectangle 3"/>
          <p:cNvSpPr>
            <a:spLocks noGrp="1" noChangeArrowheads="1"/>
          </p:cNvSpPr>
          <p:nvPr>
            <p:ph type="body" idx="1"/>
          </p:nvPr>
        </p:nvSpPr>
        <p:spPr>
          <a:xfrm>
            <a:off x="1981199" y="1405718"/>
            <a:ext cx="8841475" cy="5145207"/>
          </a:xfrm>
        </p:spPr>
        <p:txBody>
          <a:bodyPr>
            <a:normAutofit fontScale="92500" lnSpcReduction="10000"/>
          </a:bodyPr>
          <a:lstStyle/>
          <a:p>
            <a:pPr eaLnBrk="1" hangingPunct="1"/>
            <a:r>
              <a:rPr lang="en-US" altLang="en-US" sz="2800" dirty="0">
                <a:sym typeface="Symbol" panose="05050102010706020507" pitchFamily="18" charset="2"/>
              </a:rPr>
              <a:t>Finite Population of size N</a:t>
            </a:r>
          </a:p>
          <a:p>
            <a:pPr eaLnBrk="1" hangingPunct="1"/>
            <a:r>
              <a:rPr lang="en-US" altLang="en-US" sz="2800" dirty="0">
                <a:sym typeface="Symbol" panose="05050102010706020507" pitchFamily="18" charset="2"/>
              </a:rPr>
              <a:t>Population mean =  and SD = </a:t>
            </a:r>
          </a:p>
          <a:p>
            <a:pPr eaLnBrk="1" hangingPunct="1"/>
            <a:r>
              <a:rPr lang="en-US" altLang="en-US" sz="2800" dirty="0">
                <a:sym typeface="Symbol" panose="05050102010706020507" pitchFamily="18" charset="2"/>
              </a:rPr>
              <a:t>Random Sample of size n drawn (WR/WOR)</a:t>
            </a:r>
          </a:p>
          <a:p>
            <a:pPr eaLnBrk="1" hangingPunct="1"/>
            <a:r>
              <a:rPr lang="en-US" altLang="en-US" sz="2800" dirty="0">
                <a:sym typeface="Symbol" panose="05050102010706020507" pitchFamily="18" charset="2"/>
              </a:rPr>
              <a:t>Statistic is Sample Mean</a:t>
            </a:r>
          </a:p>
          <a:p>
            <a:pPr eaLnBrk="1" hangingPunct="1"/>
            <a:r>
              <a:rPr lang="en-US" altLang="en-US" sz="2800" dirty="0">
                <a:sym typeface="Symbol" panose="05050102010706020507" pitchFamily="18" charset="2"/>
              </a:rPr>
              <a:t>Expectation =  (both SRSWR and SRSWOR)</a:t>
            </a:r>
          </a:p>
          <a:p>
            <a:pPr eaLnBrk="1" hangingPunct="1"/>
            <a:r>
              <a:rPr lang="en-US" altLang="en-US" sz="2800" dirty="0">
                <a:sym typeface="Symbol" panose="05050102010706020507" pitchFamily="18" charset="2"/>
              </a:rPr>
              <a:t>SE = /n for SRSWR</a:t>
            </a:r>
          </a:p>
          <a:p>
            <a:pPr eaLnBrk="1" hangingPunct="1"/>
            <a:r>
              <a:rPr lang="en-US" altLang="en-US" sz="2800" dirty="0">
                <a:sym typeface="Symbol" panose="05050102010706020507" pitchFamily="18" charset="2"/>
              </a:rPr>
              <a:t>SE = (/n).( FPC)  for SRSWOR</a:t>
            </a:r>
          </a:p>
          <a:p>
            <a:pPr eaLnBrk="1" hangingPunct="1"/>
            <a:r>
              <a:rPr lang="en-US" altLang="en-US" sz="2800" dirty="0">
                <a:sym typeface="Symbol" panose="05050102010706020507" pitchFamily="18" charset="2"/>
              </a:rPr>
              <a:t>FPC = Finite Population Correction = (N-n)/(N-1</a:t>
            </a:r>
            <a:r>
              <a:rPr lang="en-US" altLang="en-US" sz="2800" dirty="0" smtClean="0">
                <a:sym typeface="Symbol" panose="05050102010706020507" pitchFamily="18" charset="2"/>
              </a:rPr>
              <a:t>)</a:t>
            </a:r>
          </a:p>
          <a:p>
            <a:r>
              <a:rPr lang="en-US" altLang="en-US" sz="2800" dirty="0"/>
              <a:t>Limiting </a:t>
            </a:r>
            <a:r>
              <a:rPr lang="en-US" altLang="en-US" sz="2800" dirty="0" err="1"/>
              <a:t>Behaviour</a:t>
            </a:r>
            <a:r>
              <a:rPr lang="en-US" altLang="en-US" sz="2800" dirty="0"/>
              <a:t>: As N becomes large with n fixed, both sampling methods are asymptotically equivalent</a:t>
            </a:r>
          </a:p>
          <a:p>
            <a:r>
              <a:rPr lang="en-US" altLang="en-US" sz="2800" dirty="0"/>
              <a:t>As a general rule, if n/N&lt;0.05, FPC need not be calculated and can be taken as 1.</a:t>
            </a:r>
          </a:p>
          <a:p>
            <a:pPr eaLnBrk="1" hangingPunct="1"/>
            <a:endParaRPr lang="en-US" altLang="en-US" sz="2800" dirty="0">
              <a:sym typeface="Symbol" panose="05050102010706020507" pitchFamily="18" charset="2"/>
            </a:endParaRPr>
          </a:p>
        </p:txBody>
      </p:sp>
    </p:spTree>
    <p:extLst>
      <p:ext uri="{BB962C8B-B14F-4D97-AF65-F5344CB8AC3E}">
        <p14:creationId xmlns:p14="http://schemas.microsoft.com/office/powerpoint/2010/main" val="1553617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smtClean="0"/>
              <a:t>The </a:t>
            </a:r>
            <a:r>
              <a:rPr lang="en-US" b="1" dirty="0" smtClean="0"/>
              <a:t>standard error (S.E.) </a:t>
            </a:r>
            <a:r>
              <a:rPr lang="en-US" dirty="0" smtClean="0"/>
              <a:t>is a measure of how theoretical sample means deviate from the population mean. The larger the sample, the more likely it is that any sample mean is close to the population mean, and so smaller the </a:t>
            </a:r>
            <a:r>
              <a:rPr lang="en-US" b="1" dirty="0" smtClean="0"/>
              <a:t>S.E.</a:t>
            </a:r>
            <a:r>
              <a:rPr lang="en-US" dirty="0" smtClean="0"/>
              <a:t> In other words, the</a:t>
            </a:r>
            <a:r>
              <a:rPr lang="en-US" b="1" dirty="0"/>
              <a:t> </a:t>
            </a:r>
            <a:r>
              <a:rPr lang="en-US" b="1" dirty="0" smtClean="0"/>
              <a:t>S.E. </a:t>
            </a:r>
            <a:r>
              <a:rPr lang="en-US" dirty="0" smtClean="0"/>
              <a:t>is the standard deviation of the sample mean.</a:t>
            </a:r>
          </a:p>
          <a:p>
            <a:endParaRPr lang="en-US" dirty="0"/>
          </a:p>
          <a:p>
            <a:r>
              <a:rPr lang="en-US" dirty="0" smtClean="0"/>
              <a:t>This is different from sample standard deviation </a:t>
            </a:r>
            <a:r>
              <a:rPr lang="en-US" b="1" dirty="0" smtClean="0"/>
              <a:t>S</a:t>
            </a:r>
            <a:r>
              <a:rPr lang="en-US" dirty="0" smtClean="0"/>
              <a:t>, which is the measure of how individual data points deviate from the mean of that single sample.</a:t>
            </a:r>
          </a:p>
          <a:p>
            <a:endParaRPr lang="en-US" dirty="0"/>
          </a:p>
          <a:p>
            <a:endParaRPr lang="en-US" dirty="0"/>
          </a:p>
        </p:txBody>
      </p:sp>
    </p:spTree>
    <p:extLst>
      <p:ext uri="{BB962C8B-B14F-4D97-AF65-F5344CB8AC3E}">
        <p14:creationId xmlns:p14="http://schemas.microsoft.com/office/powerpoint/2010/main" val="3008088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274638"/>
            <a:ext cx="8229600" cy="715962"/>
          </a:xfrm>
        </p:spPr>
        <p:txBody>
          <a:bodyPr>
            <a:normAutofit/>
          </a:bodyPr>
          <a:lstStyle/>
          <a:p>
            <a:pPr algn="l" eaLnBrk="1" hangingPunct="1"/>
            <a:r>
              <a:rPr lang="en-US" altLang="en-US" sz="3600" dirty="0" smtClean="0"/>
              <a:t>Drawbacks of Simple Random Sampling</a:t>
            </a:r>
            <a:endParaRPr lang="en-US" altLang="en-US" sz="3600" u="sng" dirty="0"/>
          </a:p>
        </p:txBody>
      </p:sp>
      <p:sp>
        <p:nvSpPr>
          <p:cNvPr id="24579" name="Rectangle 3"/>
          <p:cNvSpPr>
            <a:spLocks noGrp="1" noChangeArrowheads="1"/>
          </p:cNvSpPr>
          <p:nvPr>
            <p:ph type="body" idx="1"/>
          </p:nvPr>
        </p:nvSpPr>
        <p:spPr/>
        <p:txBody>
          <a:bodyPr/>
          <a:lstStyle/>
          <a:p>
            <a:pPr eaLnBrk="1" hangingPunct="1"/>
            <a:r>
              <a:rPr lang="en-US" altLang="en-US" dirty="0" smtClean="0">
                <a:sym typeface="Symbol" panose="05050102010706020507" pitchFamily="18" charset="2"/>
              </a:rPr>
              <a:t>SRS is random, does not take into account existing information and proportions</a:t>
            </a:r>
          </a:p>
          <a:p>
            <a:pPr eaLnBrk="1" hangingPunct="1"/>
            <a:r>
              <a:rPr lang="en-US" altLang="en-US" dirty="0" smtClean="0">
                <a:sym typeface="Symbol" panose="05050102010706020507" pitchFamily="18" charset="2"/>
              </a:rPr>
              <a:t>Ignores typical composition of a population</a:t>
            </a:r>
          </a:p>
          <a:p>
            <a:pPr eaLnBrk="1" hangingPunct="1">
              <a:buFontTx/>
              <a:buNone/>
            </a:pPr>
            <a:r>
              <a:rPr lang="en-US" altLang="en-US" dirty="0" smtClean="0">
                <a:sym typeface="Symbol" panose="05050102010706020507" pitchFamily="18" charset="2"/>
              </a:rPr>
              <a:t>	</a:t>
            </a:r>
            <a:r>
              <a:rPr lang="en-US" altLang="en-US" u="sng" dirty="0" smtClean="0">
                <a:sym typeface="Symbol" panose="05050102010706020507" pitchFamily="18" charset="2"/>
              </a:rPr>
              <a:t>Example</a:t>
            </a:r>
            <a:r>
              <a:rPr lang="en-US" altLang="en-US" dirty="0" smtClean="0">
                <a:sym typeface="Symbol" panose="05050102010706020507" pitchFamily="18" charset="2"/>
              </a:rPr>
              <a:t>: Suppose the Population is characterized by sex – males and females</a:t>
            </a:r>
          </a:p>
          <a:p>
            <a:pPr eaLnBrk="1" hangingPunct="1"/>
            <a:r>
              <a:rPr lang="en-US" altLang="en-US" dirty="0" smtClean="0">
                <a:sym typeface="Symbol" panose="05050102010706020507" pitchFamily="18" charset="2"/>
              </a:rPr>
              <a:t>N</a:t>
            </a:r>
            <a:r>
              <a:rPr lang="en-US" altLang="en-US" baseline="-25000" dirty="0" smtClean="0">
                <a:sym typeface="Symbol" panose="05050102010706020507" pitchFamily="18" charset="2"/>
              </a:rPr>
              <a:t>1</a:t>
            </a:r>
            <a:r>
              <a:rPr lang="en-US" altLang="en-US" dirty="0" smtClean="0">
                <a:sym typeface="Symbol" panose="05050102010706020507" pitchFamily="18" charset="2"/>
              </a:rPr>
              <a:t> males and N</a:t>
            </a:r>
            <a:r>
              <a:rPr lang="en-US" altLang="en-US" baseline="-25000" dirty="0" smtClean="0">
                <a:sym typeface="Symbol" panose="05050102010706020507" pitchFamily="18" charset="2"/>
              </a:rPr>
              <a:t>2</a:t>
            </a:r>
            <a:r>
              <a:rPr lang="en-US" altLang="en-US" dirty="0" smtClean="0">
                <a:sym typeface="Symbol" panose="05050102010706020507" pitchFamily="18" charset="2"/>
              </a:rPr>
              <a:t> females in the population</a:t>
            </a:r>
          </a:p>
          <a:p>
            <a:pPr eaLnBrk="1" hangingPunct="1"/>
            <a:r>
              <a:rPr lang="en-US" altLang="en-US" dirty="0" smtClean="0">
                <a:sym typeface="Symbol" panose="05050102010706020507" pitchFamily="18" charset="2"/>
              </a:rPr>
              <a:t>N</a:t>
            </a:r>
            <a:r>
              <a:rPr lang="en-US" altLang="en-US" baseline="-25000" dirty="0" smtClean="0">
                <a:sym typeface="Symbol" panose="05050102010706020507" pitchFamily="18" charset="2"/>
              </a:rPr>
              <a:t>1</a:t>
            </a:r>
            <a:r>
              <a:rPr lang="en-US" altLang="en-US" dirty="0" smtClean="0">
                <a:sym typeface="Symbol" panose="05050102010706020507" pitchFamily="18" charset="2"/>
              </a:rPr>
              <a:t> ‘too large’ compared to N</a:t>
            </a:r>
            <a:r>
              <a:rPr lang="en-US" altLang="en-US" baseline="-25000" dirty="0" smtClean="0">
                <a:sym typeface="Symbol" panose="05050102010706020507" pitchFamily="18" charset="2"/>
              </a:rPr>
              <a:t>2</a:t>
            </a:r>
            <a:r>
              <a:rPr lang="en-US" altLang="en-US" dirty="0" smtClean="0">
                <a:sym typeface="Symbol" panose="05050102010706020507" pitchFamily="18" charset="2"/>
              </a:rPr>
              <a:t>, say at least 80% are males </a:t>
            </a:r>
            <a:endParaRPr lang="en-US" altLang="en-US" dirty="0">
              <a:sym typeface="Symbol" panose="05050102010706020507" pitchFamily="18" charset="2"/>
            </a:endParaRPr>
          </a:p>
          <a:p>
            <a:pPr eaLnBrk="1" hangingPunct="1"/>
            <a:r>
              <a:rPr lang="en-US" altLang="en-US" dirty="0" smtClean="0">
                <a:sym typeface="Symbol" panose="05050102010706020507" pitchFamily="18" charset="2"/>
              </a:rPr>
              <a:t>SRS will not be representative if the opinions of males and females are to be given equal weightage in the survey.</a:t>
            </a:r>
          </a:p>
          <a:p>
            <a:pPr eaLnBrk="1" hangingPunct="1"/>
            <a:r>
              <a:rPr lang="en-US" altLang="en-US" dirty="0" smtClean="0">
                <a:sym typeface="Symbol" panose="05050102010706020507" pitchFamily="18" charset="2"/>
              </a:rPr>
              <a:t>Surveys such as social surveys that require representation from every part of the population needs other methods.</a:t>
            </a:r>
          </a:p>
        </p:txBody>
      </p:sp>
    </p:spTree>
    <p:extLst>
      <p:ext uri="{BB962C8B-B14F-4D97-AF65-F5344CB8AC3E}">
        <p14:creationId xmlns:p14="http://schemas.microsoft.com/office/powerpoint/2010/main" val="1407712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219200" y="274638"/>
            <a:ext cx="10363200" cy="899069"/>
          </a:xfrm>
        </p:spPr>
        <p:txBody>
          <a:bodyPr>
            <a:normAutofit/>
          </a:bodyPr>
          <a:lstStyle/>
          <a:p>
            <a:pPr eaLnBrk="1" hangingPunct="1"/>
            <a:r>
              <a:rPr lang="en-US" altLang="en-US" sz="3600" dirty="0" smtClean="0"/>
              <a:t>Sampling Distribution of the proportion</a:t>
            </a:r>
            <a:endParaRPr lang="en-US" altLang="en-US" sz="3600" dirty="0"/>
          </a:p>
        </p:txBody>
      </p:sp>
      <mc:AlternateContent xmlns:mc="http://schemas.openxmlformats.org/markup-compatibility/2006" xmlns:a14="http://schemas.microsoft.com/office/drawing/2010/main">
        <mc:Choice Requires="a14">
          <p:sp>
            <p:nvSpPr>
              <p:cNvPr id="32771" name="Content Placeholder 2"/>
              <p:cNvSpPr>
                <a:spLocks noGrp="1"/>
              </p:cNvSpPr>
              <p:nvPr>
                <p:ph idx="1"/>
              </p:nvPr>
            </p:nvSpPr>
            <p:spPr>
              <a:xfrm>
                <a:off x="1752600" y="1600200"/>
                <a:ext cx="8686800" cy="4876800"/>
              </a:xfrm>
            </p:spPr>
            <p:txBody>
              <a:bodyPr/>
              <a:lstStyle/>
              <a:p>
                <a:pPr eaLnBrk="1" hangingPunct="1"/>
                <a:r>
                  <a:rPr lang="en-US" altLang="en-US" dirty="0" smtClean="0"/>
                  <a:t>Applicable in the case of categorical variable with only 2 categories</a:t>
                </a:r>
              </a:p>
              <a:p>
                <a:pPr eaLnBrk="1" hangingPunct="1"/>
                <a:r>
                  <a:rPr lang="en-US" altLang="en-US" dirty="0" smtClean="0"/>
                  <a:t>Sample proportion </a:t>
                </a:r>
                <a14:m>
                  <m:oMath xmlns:m="http://schemas.openxmlformats.org/officeDocument/2006/math">
                    <m:r>
                      <a:rPr lang="en-US" altLang="en-US" b="0" i="1" smtClean="0">
                        <a:latin typeface="Cambria Math" panose="02040503050406030204" pitchFamily="18" charset="0"/>
                      </a:rPr>
                      <m:t>𝑝</m:t>
                    </m:r>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𝑁𝑜</m:t>
                        </m:r>
                        <m:r>
                          <a:rPr lang="en-US" altLang="en-US" b="0" i="1" smtClean="0">
                            <a:latin typeface="Cambria Math" panose="02040503050406030204" pitchFamily="18" charset="0"/>
                          </a:rPr>
                          <m:t>. </m:t>
                        </m:r>
                        <m:r>
                          <a:rPr lang="en-US" altLang="en-US" b="0" i="1" smtClean="0">
                            <a:latin typeface="Cambria Math" panose="02040503050406030204" pitchFamily="18" charset="0"/>
                          </a:rPr>
                          <m:t>𝑜𝑓</m:t>
                        </m:r>
                        <m:r>
                          <a:rPr lang="en-US" altLang="en-US" b="0" i="1" smtClean="0">
                            <a:latin typeface="Cambria Math" panose="02040503050406030204" pitchFamily="18" charset="0"/>
                          </a:rPr>
                          <m:t> </m:t>
                        </m:r>
                        <m:r>
                          <a:rPr lang="en-US" altLang="en-US" b="0" i="1" smtClean="0">
                            <a:latin typeface="Cambria Math" panose="02040503050406030204" pitchFamily="18" charset="0"/>
                          </a:rPr>
                          <m:t>𝑖𝑡𝑒𝑚𝑠</m:t>
                        </m:r>
                        <m:r>
                          <a:rPr lang="en-US" altLang="en-US" b="0" i="1" smtClean="0">
                            <a:latin typeface="Cambria Math" panose="02040503050406030204" pitchFamily="18" charset="0"/>
                          </a:rPr>
                          <m:t> </m:t>
                        </m:r>
                        <m:r>
                          <a:rPr lang="en-US" altLang="en-US" b="0" i="1" smtClean="0">
                            <a:latin typeface="Cambria Math" panose="02040503050406030204" pitchFamily="18" charset="0"/>
                          </a:rPr>
                          <m:t>𝑤𝑖𝑡h</m:t>
                        </m:r>
                        <m:r>
                          <a:rPr lang="en-US" altLang="en-US" b="0" i="1" smtClean="0">
                            <a:latin typeface="Cambria Math" panose="02040503050406030204" pitchFamily="18" charset="0"/>
                          </a:rPr>
                          <m:t> </m:t>
                        </m:r>
                        <m:r>
                          <a:rPr lang="en-US" altLang="en-US" b="0" i="1" smtClean="0">
                            <a:latin typeface="Cambria Math" panose="02040503050406030204" pitchFamily="18" charset="0"/>
                          </a:rPr>
                          <m:t>𝑐h𝑎𝑟𝑎𝑐𝑡𝑒𝑟𝑖𝑠𝑡𝑖𝑐</m:t>
                        </m:r>
                      </m:num>
                      <m:den>
                        <m:r>
                          <a:rPr lang="en-US" altLang="en-US" b="0" i="1" smtClean="0">
                            <a:latin typeface="Cambria Math" panose="02040503050406030204" pitchFamily="18" charset="0"/>
                          </a:rPr>
                          <m:t>𝑠𝑎𝑚𝑝𝑙𝑒</m:t>
                        </m:r>
                        <m:r>
                          <a:rPr lang="en-US" altLang="en-US" b="0" i="1" smtClean="0">
                            <a:latin typeface="Cambria Math" panose="02040503050406030204" pitchFamily="18" charset="0"/>
                          </a:rPr>
                          <m:t> </m:t>
                        </m:r>
                        <m:r>
                          <a:rPr lang="en-US" altLang="en-US" b="0" i="1" smtClean="0">
                            <a:latin typeface="Cambria Math" panose="02040503050406030204" pitchFamily="18" charset="0"/>
                          </a:rPr>
                          <m:t>𝑠𝑖𝑧𝑒</m:t>
                        </m:r>
                      </m:den>
                    </m:f>
                  </m:oMath>
                </a14:m>
                <a:endParaRPr lang="en-US" altLang="en-US" dirty="0" smtClean="0"/>
              </a:p>
              <a:p>
                <a:pPr eaLnBrk="1" hangingPunct="1"/>
                <a:r>
                  <a:rPr lang="en-US" altLang="en-US" dirty="0" smtClean="0"/>
                  <a:t>Population proportion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𝜋</m:t>
                    </m:r>
                  </m:oMath>
                </a14:m>
                <a:endParaRPr lang="en-US" altLang="en-US" dirty="0" smtClean="0"/>
              </a:p>
              <a:p>
                <a:pPr eaLnBrk="1" hangingPunct="1"/>
                <a:r>
                  <a:rPr lang="en-US" altLang="en-US" dirty="0" smtClean="0"/>
                  <a:t>Standard error of proportion </a:t>
                </a:r>
                <a14:m>
                  <m:oMath xmlns:m="http://schemas.openxmlformats.org/officeDocument/2006/math">
                    <m:sSub>
                      <m:sSubPr>
                        <m:ctrlPr>
                          <a:rPr lang="en-US" altLang="en-US" i="1" smtClean="0">
                            <a:latin typeface="Cambria Math" panose="02040503050406030204" pitchFamily="18" charset="0"/>
                          </a:rPr>
                        </m:ctrlPr>
                      </m:sSubPr>
                      <m:e>
                        <m:r>
                          <a:rPr lang="en-US" altLang="en-US" i="1" smtClean="0">
                            <a:latin typeface="Cambria Math" panose="02040503050406030204" pitchFamily="18" charset="0"/>
                            <a:ea typeface="Cambria Math" panose="02040503050406030204" pitchFamily="18" charset="0"/>
                          </a:rPr>
                          <m:t>𝜎</m:t>
                        </m:r>
                      </m:e>
                      <m:sub>
                        <m:r>
                          <a:rPr lang="en-US" altLang="en-US" b="0" i="1" smtClean="0">
                            <a:latin typeface="Cambria Math" panose="02040503050406030204" pitchFamily="18" charset="0"/>
                          </a:rPr>
                          <m:t>𝑝</m:t>
                        </m:r>
                      </m:sub>
                    </m:sSub>
                    <m:r>
                      <a:rPr lang="en-US" altLang="en-US" b="0" i="0" smtClean="0">
                        <a:latin typeface="Cambria Math" panose="02040503050406030204" pitchFamily="18" charset="0"/>
                      </a:rPr>
                      <m:t>=</m:t>
                    </m:r>
                    <m:rad>
                      <m:radPr>
                        <m:degHide m:val="on"/>
                        <m:ctrlPr>
                          <a:rPr lang="en-US" altLang="en-US" b="0" i="1" smtClean="0">
                            <a:latin typeface="Cambria Math" panose="02040503050406030204" pitchFamily="18" charset="0"/>
                          </a:rPr>
                        </m:ctrlPr>
                      </m:radPr>
                      <m:deg/>
                      <m:e>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ea typeface="Cambria Math" panose="02040503050406030204" pitchFamily="18" charset="0"/>
                              </a:rPr>
                              <m:t>𝜋</m:t>
                            </m:r>
                            <m:r>
                              <a:rPr lang="en-US" altLang="en-US" b="0" i="1"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𝜋</m:t>
                            </m:r>
                            <m:r>
                              <a:rPr lang="en-US" altLang="en-US" b="0" i="1" smtClean="0">
                                <a:latin typeface="Cambria Math" panose="02040503050406030204" pitchFamily="18" charset="0"/>
                                <a:ea typeface="Cambria Math" panose="02040503050406030204" pitchFamily="18" charset="0"/>
                              </a:rPr>
                              <m:t>)</m:t>
                            </m:r>
                          </m:num>
                          <m:den>
                            <m:r>
                              <a:rPr lang="en-US" altLang="en-US" b="0" i="1" smtClean="0">
                                <a:latin typeface="Cambria Math" panose="02040503050406030204" pitchFamily="18" charset="0"/>
                              </a:rPr>
                              <m:t>𝑛</m:t>
                            </m:r>
                          </m:den>
                        </m:f>
                      </m:e>
                    </m:rad>
                  </m:oMath>
                </a14:m>
                <a:endParaRPr lang="en-US" altLang="en-US" dirty="0" smtClean="0"/>
              </a:p>
              <a:p>
                <a:pPr eaLnBrk="1" hangingPunct="1"/>
                <a:r>
                  <a:rPr lang="en-US" altLang="en-US" dirty="0" smtClean="0"/>
                  <a:t>Sampling distribution of proportion follows the </a:t>
                </a:r>
                <a:r>
                  <a:rPr lang="en-US" altLang="en-US" b="1" dirty="0" smtClean="0"/>
                  <a:t>binomial</a:t>
                </a:r>
                <a:r>
                  <a:rPr lang="en-US" altLang="en-US" dirty="0" smtClean="0"/>
                  <a:t> distribution, but can be approximated to normal if </a:t>
                </a:r>
                <a:endParaRPr lang="en-US" altLang="en-US" b="0" i="1" dirty="0" smtClean="0">
                  <a:latin typeface="Cambria Math" panose="02040503050406030204"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𝑛</m:t>
                      </m:r>
                      <m:r>
                        <a:rPr lang="en-US" altLang="en-US" b="0" i="1" smtClean="0">
                          <a:latin typeface="Cambria Math" panose="02040503050406030204" pitchFamily="18" charset="0"/>
                          <a:ea typeface="Cambria Math" panose="02040503050406030204" pitchFamily="18" charset="0"/>
                        </a:rPr>
                        <m:t>𝜋</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𝑛</m:t>
                      </m:r>
                      <m:d>
                        <m:dPr>
                          <m:ctrlPr>
                            <a:rPr lang="en-US" altLang="en-US" b="0" i="1" smtClean="0">
                              <a:latin typeface="Cambria Math" panose="02040503050406030204" pitchFamily="18" charset="0"/>
                              <a:ea typeface="Cambria Math" panose="02040503050406030204" pitchFamily="18" charset="0"/>
                            </a:rPr>
                          </m:ctrlPr>
                        </m:dPr>
                        <m:e>
                          <m:r>
                            <a:rPr lang="en-US" altLang="en-US" b="0" i="1"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𝜋</m:t>
                          </m:r>
                        </m:e>
                      </m:d>
                      <m:r>
                        <a:rPr lang="en-US" altLang="en-US" b="0" i="1" smtClean="0">
                          <a:latin typeface="Cambria Math" panose="02040503050406030204" pitchFamily="18" charset="0"/>
                          <a:ea typeface="Cambria Math" panose="02040503050406030204" pitchFamily="18" charset="0"/>
                        </a:rPr>
                        <m:t>&gt;5</m:t>
                      </m:r>
                    </m:oMath>
                  </m:oMathPara>
                </a14:m>
                <a:endParaRPr lang="en-US" altLang="en-US" dirty="0" smtClean="0"/>
              </a:p>
              <a:p>
                <a:r>
                  <a:rPr lang="en-US" altLang="en-US" dirty="0" smtClean="0"/>
                  <a:t>Z transformation, Z=</a:t>
                </a:r>
                <a14:m>
                  <m:oMath xmlns:m="http://schemas.openxmlformats.org/officeDocument/2006/math">
                    <m:f>
                      <m:fPr>
                        <m:ctrlPr>
                          <a:rPr lang="en-US" altLang="en-US" i="1" smtClean="0">
                            <a:latin typeface="Cambria Math" panose="02040503050406030204" pitchFamily="18" charset="0"/>
                          </a:rPr>
                        </m:ctrlPr>
                      </m:fPr>
                      <m:num>
                        <m:r>
                          <a:rPr lang="en-US" altLang="en-US" b="0" i="1" smtClean="0">
                            <a:latin typeface="Cambria Math" panose="02040503050406030204" pitchFamily="18" charset="0"/>
                          </a:rPr>
                          <m:t>𝑝</m:t>
                        </m:r>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𝜋</m:t>
                        </m:r>
                      </m:num>
                      <m:den>
                        <m:sSub>
                          <m:sSubPr>
                            <m:ctrlPr>
                              <a:rPr lang="en-US" altLang="en-US" i="1" smtClean="0">
                                <a:latin typeface="Cambria Math" panose="02040503050406030204" pitchFamily="18" charset="0"/>
                              </a:rPr>
                            </m:ctrlPr>
                          </m:sSubPr>
                          <m:e>
                            <m:r>
                              <a:rPr lang="en-US" altLang="en-US" i="1" smtClean="0">
                                <a:latin typeface="Cambria Math" panose="02040503050406030204" pitchFamily="18" charset="0"/>
                                <a:ea typeface="Cambria Math" panose="02040503050406030204" pitchFamily="18" charset="0"/>
                              </a:rPr>
                              <m:t>𝜎</m:t>
                            </m:r>
                          </m:e>
                          <m:sub>
                            <m:r>
                              <a:rPr lang="en-US" altLang="en-US" b="0" i="1" smtClean="0">
                                <a:latin typeface="Cambria Math" panose="02040503050406030204" pitchFamily="18" charset="0"/>
                              </a:rPr>
                              <m:t>𝑝</m:t>
                            </m:r>
                          </m:sub>
                        </m:sSub>
                      </m:den>
                    </m:f>
                  </m:oMath>
                </a14:m>
                <a:endParaRPr lang="en-US" altLang="en-US" dirty="0" smtClean="0"/>
              </a:p>
            </p:txBody>
          </p:sp>
        </mc:Choice>
        <mc:Fallback xmlns="">
          <p:sp>
            <p:nvSpPr>
              <p:cNvPr id="32771" name="Content Placeholder 2"/>
              <p:cNvSpPr>
                <a:spLocks noGrp="1" noRot="1" noChangeAspect="1" noMove="1" noResize="1" noEditPoints="1" noAdjustHandles="1" noChangeArrowheads="1" noChangeShapeType="1" noTextEdit="1"/>
              </p:cNvSpPr>
              <p:nvPr>
                <p:ph idx="1"/>
              </p:nvPr>
            </p:nvSpPr>
            <p:spPr>
              <a:xfrm>
                <a:off x="1752600" y="1600200"/>
                <a:ext cx="8686800" cy="4876800"/>
              </a:xfrm>
              <a:blipFill rotWithShape="0">
                <a:blip r:embed="rId2"/>
                <a:stretch>
                  <a:fillRect l="-702" t="-1125"/>
                </a:stretch>
              </a:blipFill>
            </p:spPr>
            <p:txBody>
              <a:bodyPr/>
              <a:lstStyle/>
              <a:p>
                <a:r>
                  <a:rPr lang="en-US">
                    <a:noFill/>
                  </a:rPr>
                  <a:t> </a:t>
                </a:r>
              </a:p>
            </p:txBody>
          </p:sp>
        </mc:Fallback>
      </mc:AlternateContent>
    </p:spTree>
    <p:extLst>
      <p:ext uri="{BB962C8B-B14F-4D97-AF65-F5344CB8AC3E}">
        <p14:creationId xmlns:p14="http://schemas.microsoft.com/office/powerpoint/2010/main" val="2339167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200" y="274637"/>
            <a:ext cx="8229600" cy="1062843"/>
          </a:xfrm>
        </p:spPr>
        <p:txBody>
          <a:bodyPr>
            <a:noAutofit/>
          </a:bodyPr>
          <a:lstStyle/>
          <a:p>
            <a:pPr algn="l" eaLnBrk="1" hangingPunct="1"/>
            <a:r>
              <a:rPr lang="en-US" altLang="en-US" sz="3600" dirty="0" smtClean="0"/>
              <a:t>Normal and non-normal sampling distributions</a:t>
            </a:r>
            <a:endParaRPr lang="en-US" altLang="en-US" sz="3600" dirty="0"/>
          </a:p>
        </p:txBody>
      </p:sp>
      <p:sp>
        <p:nvSpPr>
          <p:cNvPr id="29699" name="Rectangle 3"/>
          <p:cNvSpPr>
            <a:spLocks noGrp="1" noChangeArrowheads="1"/>
          </p:cNvSpPr>
          <p:nvPr>
            <p:ph type="body" idx="1"/>
          </p:nvPr>
        </p:nvSpPr>
        <p:spPr>
          <a:xfrm>
            <a:off x="1828800" y="1600200"/>
            <a:ext cx="8229600" cy="4953000"/>
          </a:xfrm>
        </p:spPr>
        <p:txBody>
          <a:bodyPr/>
          <a:lstStyle/>
          <a:p>
            <a:pPr eaLnBrk="1" hangingPunct="1">
              <a:lnSpc>
                <a:spcPct val="90000"/>
              </a:lnSpc>
              <a:buFontTx/>
              <a:buNone/>
            </a:pPr>
            <a:r>
              <a:rPr lang="en-US" altLang="en-US" sz="2800" dirty="0"/>
              <a:t>	</a:t>
            </a:r>
            <a:r>
              <a:rPr lang="en-US" altLang="en-US" sz="2800" u="sng" dirty="0"/>
              <a:t>Sampling from a normal population</a:t>
            </a:r>
          </a:p>
          <a:p>
            <a:pPr eaLnBrk="1" hangingPunct="1">
              <a:lnSpc>
                <a:spcPct val="90000"/>
              </a:lnSpc>
            </a:pPr>
            <a:r>
              <a:rPr lang="en-US" altLang="en-US" sz="2800" dirty="0"/>
              <a:t>Mean = </a:t>
            </a:r>
            <a:r>
              <a:rPr lang="en-US" altLang="en-US" sz="2800" dirty="0">
                <a:sym typeface="Symbol" panose="05050102010706020507" pitchFamily="18" charset="2"/>
              </a:rPr>
              <a:t> and SD = </a:t>
            </a:r>
          </a:p>
          <a:p>
            <a:pPr eaLnBrk="1" hangingPunct="1">
              <a:lnSpc>
                <a:spcPct val="90000"/>
              </a:lnSpc>
            </a:pPr>
            <a:r>
              <a:rPr lang="en-US" altLang="en-US" sz="2800" dirty="0">
                <a:sym typeface="Symbol" panose="05050102010706020507" pitchFamily="18" charset="2"/>
              </a:rPr>
              <a:t>SRS of size = n (With Replacement)</a:t>
            </a:r>
          </a:p>
          <a:p>
            <a:pPr eaLnBrk="1" hangingPunct="1">
              <a:lnSpc>
                <a:spcPct val="90000"/>
              </a:lnSpc>
            </a:pPr>
            <a:r>
              <a:rPr lang="en-US" altLang="en-US" sz="2800" dirty="0">
                <a:sym typeface="Symbol" panose="05050102010706020507" pitchFamily="18" charset="2"/>
              </a:rPr>
              <a:t>Statistic = Sample Mean</a:t>
            </a:r>
          </a:p>
          <a:p>
            <a:pPr eaLnBrk="1" hangingPunct="1">
              <a:lnSpc>
                <a:spcPct val="90000"/>
              </a:lnSpc>
            </a:pPr>
            <a:r>
              <a:rPr lang="en-US" altLang="en-US" sz="2800" dirty="0">
                <a:sym typeface="Symbol" panose="05050102010706020507" pitchFamily="18" charset="2"/>
              </a:rPr>
              <a:t>Expectation = ; SE = /n</a:t>
            </a:r>
          </a:p>
          <a:p>
            <a:pPr eaLnBrk="1" hangingPunct="1">
              <a:lnSpc>
                <a:spcPct val="90000"/>
              </a:lnSpc>
            </a:pPr>
            <a:r>
              <a:rPr lang="en-US" altLang="en-US" sz="2800" dirty="0">
                <a:sym typeface="Symbol" panose="05050102010706020507" pitchFamily="18" charset="2"/>
              </a:rPr>
              <a:t>Z = (Sample Mean - )/(/n) is N(0, 1)</a:t>
            </a:r>
          </a:p>
          <a:p>
            <a:pPr>
              <a:lnSpc>
                <a:spcPct val="90000"/>
              </a:lnSpc>
            </a:pPr>
            <a:r>
              <a:rPr lang="en-US" altLang="en-US" sz="2800" dirty="0" smtClean="0">
                <a:sym typeface="Symbol" panose="05050102010706020507" pitchFamily="18" charset="2"/>
              </a:rPr>
              <a:t>If sampling is done from a non-normal distribution, distribution </a:t>
            </a:r>
            <a:r>
              <a:rPr lang="en-US" altLang="en-US" sz="2800" dirty="0">
                <a:sym typeface="Symbol" panose="05050102010706020507" pitchFamily="18" charset="2"/>
              </a:rPr>
              <a:t>of sample mean is no longer normal though formulae for Expectation &amp; SE are still true </a:t>
            </a:r>
          </a:p>
        </p:txBody>
      </p:sp>
    </p:spTree>
    <p:extLst>
      <p:ext uri="{BB962C8B-B14F-4D97-AF65-F5344CB8AC3E}">
        <p14:creationId xmlns:p14="http://schemas.microsoft.com/office/powerpoint/2010/main" val="11205626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981200" y="274638"/>
            <a:ext cx="8229600" cy="715962"/>
          </a:xfrm>
        </p:spPr>
        <p:txBody>
          <a:bodyPr>
            <a:normAutofit/>
          </a:bodyPr>
          <a:lstStyle/>
          <a:p>
            <a:pPr algn="l" eaLnBrk="1" hangingPunct="1"/>
            <a:r>
              <a:rPr lang="en-US" altLang="en-US" sz="3600" dirty="0" smtClean="0"/>
              <a:t>Central Limit Theorem</a:t>
            </a:r>
            <a:endParaRPr lang="en-US" altLang="en-US" sz="3600" dirty="0"/>
          </a:p>
        </p:txBody>
      </p:sp>
      <p:sp>
        <p:nvSpPr>
          <p:cNvPr id="30723" name="Rectangle 3"/>
          <p:cNvSpPr>
            <a:spLocks noGrp="1" noChangeArrowheads="1"/>
          </p:cNvSpPr>
          <p:nvPr>
            <p:ph type="body" idx="1"/>
          </p:nvPr>
        </p:nvSpPr>
        <p:spPr/>
        <p:txBody>
          <a:bodyPr/>
          <a:lstStyle/>
          <a:p>
            <a:pPr>
              <a:lnSpc>
                <a:spcPct val="90000"/>
              </a:lnSpc>
            </a:pPr>
            <a:r>
              <a:rPr lang="en-US" altLang="en-US" sz="2800" dirty="0" smtClean="0">
                <a:sym typeface="Symbol" panose="05050102010706020507" pitchFamily="18" charset="2"/>
              </a:rPr>
              <a:t>As sample size gets large enough, sampling distribution of the mean is approximately normally distributed even if population has non-normal distribution.</a:t>
            </a:r>
          </a:p>
          <a:p>
            <a:pPr>
              <a:lnSpc>
                <a:spcPct val="90000"/>
              </a:lnSpc>
            </a:pPr>
            <a:r>
              <a:rPr lang="en-US" altLang="en-US" sz="2800" dirty="0" smtClean="0">
                <a:sym typeface="Symbol" panose="05050102010706020507" pitchFamily="18" charset="2"/>
              </a:rPr>
              <a:t> Generally n&gt;30 sufficiently large.</a:t>
            </a:r>
            <a:endParaRPr lang="en-US" altLang="en-US" sz="2800" dirty="0">
              <a:sym typeface="Symbol" panose="05050102010706020507" pitchFamily="18" charset="2"/>
            </a:endParaRPr>
          </a:p>
          <a:p>
            <a:pPr eaLnBrk="1" hangingPunct="1">
              <a:lnSpc>
                <a:spcPct val="90000"/>
              </a:lnSpc>
            </a:pPr>
            <a:r>
              <a:rPr lang="en-US" altLang="en-US" sz="2800" dirty="0">
                <a:sym typeface="Symbol" panose="05050102010706020507" pitchFamily="18" charset="2"/>
              </a:rPr>
              <a:t>Distribution of sample mean is still normal, but only approximately</a:t>
            </a:r>
          </a:p>
          <a:p>
            <a:pPr eaLnBrk="1" hangingPunct="1">
              <a:lnSpc>
                <a:spcPct val="90000"/>
              </a:lnSpc>
            </a:pPr>
            <a:r>
              <a:rPr lang="en-US" altLang="en-US" sz="2800" dirty="0">
                <a:sym typeface="Symbol" panose="05050102010706020507" pitchFamily="18" charset="2"/>
              </a:rPr>
              <a:t>Approximation is better and better as n becomes larger and larger</a:t>
            </a:r>
          </a:p>
          <a:p>
            <a:pPr eaLnBrk="1" hangingPunct="1">
              <a:lnSpc>
                <a:spcPct val="90000"/>
              </a:lnSpc>
            </a:pPr>
            <a:r>
              <a:rPr lang="en-US" altLang="en-US" sz="2800" dirty="0">
                <a:sym typeface="Symbol" panose="05050102010706020507" pitchFamily="18" charset="2"/>
              </a:rPr>
              <a:t>Always true regardless of the underlying distribution from which sampling is </a:t>
            </a:r>
            <a:r>
              <a:rPr lang="en-US" altLang="en-US" sz="2800" dirty="0" smtClean="0">
                <a:sym typeface="Symbol" panose="05050102010706020507" pitchFamily="18" charset="2"/>
              </a:rPr>
              <a:t>done</a:t>
            </a:r>
            <a:endParaRPr lang="en-US" altLang="en-US" sz="2800" dirty="0">
              <a:sym typeface="Symbol" panose="05050102010706020507" pitchFamily="18" charset="2"/>
            </a:endParaRPr>
          </a:p>
        </p:txBody>
      </p:sp>
    </p:spTree>
    <p:extLst>
      <p:ext uri="{BB962C8B-B14F-4D97-AF65-F5344CB8AC3E}">
        <p14:creationId xmlns:p14="http://schemas.microsoft.com/office/powerpoint/2010/main" val="882318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09766" y="424217"/>
            <a:ext cx="10831773" cy="5908343"/>
          </a:xfrm>
        </p:spPr>
        <p:txBody>
          <a:bodyPr/>
          <a:lstStyle/>
          <a:p>
            <a:pPr marL="0" indent="0">
              <a:buNone/>
            </a:pPr>
            <a:r>
              <a:rPr lang="en-US" dirty="0" smtClean="0"/>
              <a:t>A confectioner is planning to launch a premium brand of chocolates nationwide. What steps would you take to find out what percentage of the population is both able and willing to buy the new brand?</a:t>
            </a:r>
            <a:endParaRPr lang="en-US" dirty="0"/>
          </a:p>
        </p:txBody>
      </p:sp>
    </p:spTree>
    <p:extLst>
      <p:ext uri="{BB962C8B-B14F-4D97-AF65-F5344CB8AC3E}">
        <p14:creationId xmlns:p14="http://schemas.microsoft.com/office/powerpoint/2010/main" val="11716665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728</TotalTime>
  <Words>1025</Words>
  <Application>Microsoft Office PowerPoint</Application>
  <PresentationFormat>Widescreen</PresentationFormat>
  <Paragraphs>100</Paragraphs>
  <Slides>16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Arial</vt:lpstr>
      <vt:lpstr>Calibri</vt:lpstr>
      <vt:lpstr>Calibri Light</vt:lpstr>
      <vt:lpstr>Cambria Math</vt:lpstr>
      <vt:lpstr>Franklin Gothic Book</vt:lpstr>
      <vt:lpstr>Perpetua</vt:lpstr>
      <vt:lpstr>Symbol</vt:lpstr>
      <vt:lpstr>Times New Roman</vt:lpstr>
      <vt:lpstr>Wingdings 2</vt:lpstr>
      <vt:lpstr>Office Theme</vt:lpstr>
      <vt:lpstr>Equity</vt:lpstr>
      <vt:lpstr>DOM105 2019</vt:lpstr>
      <vt:lpstr>Population parameters and sample statistics</vt:lpstr>
      <vt:lpstr>Sampling Theory </vt:lpstr>
      <vt:lpstr>Types of Sampling</vt:lpstr>
      <vt:lpstr>Simple Random Sampling With Replacement (SRSWR)</vt:lpstr>
      <vt:lpstr>SRS Without Replacement (SRSWOR)</vt:lpstr>
      <vt:lpstr>Other types of Sampling</vt:lpstr>
      <vt:lpstr>Steps to designing an experiment</vt:lpstr>
      <vt:lpstr>Sampling Distributions</vt:lpstr>
      <vt:lpstr>Sampling Distribution of Sample Mean in Simple Random Sampling</vt:lpstr>
      <vt:lpstr>PowerPoint Presentation</vt:lpstr>
      <vt:lpstr>Drawbacks of Simple Random Sampling</vt:lpstr>
      <vt:lpstr>Sampling Distribution of the proportion</vt:lpstr>
      <vt:lpstr>Normal and non-normal sampling distributions</vt:lpstr>
      <vt:lpstr>Central Limit Theorem</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Techniques in Management - I</dc:title>
  <dc:creator>Surya Majumdar</dc:creator>
  <cp:lastModifiedBy>Surya Majumdar</cp:lastModifiedBy>
  <cp:revision>24</cp:revision>
  <dcterms:created xsi:type="dcterms:W3CDTF">2015-02-03T05:08:26Z</dcterms:created>
  <dcterms:modified xsi:type="dcterms:W3CDTF">2019-01-15T08:01:22Z</dcterms:modified>
</cp:coreProperties>
</file>