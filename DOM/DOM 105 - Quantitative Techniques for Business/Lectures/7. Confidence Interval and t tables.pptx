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8"/>
  </p:notesMasterIdLst>
  <p:sldIdLst>
    <p:sldId id="256" r:id="rId3"/>
    <p:sldId id="257" r:id="rId4"/>
    <p:sldId id="258" r:id="rId5"/>
    <p:sldId id="259" r:id="rId6"/>
    <p:sldId id="260" r:id="rId7"/>
    <p:sldId id="267" r:id="rId8"/>
    <p:sldId id="261" r:id="rId9"/>
    <p:sldId id="269" r:id="rId10"/>
    <p:sldId id="262" r:id="rId11"/>
    <p:sldId id="263" r:id="rId12"/>
    <p:sldId id="264" r:id="rId13"/>
    <p:sldId id="270" r:id="rId14"/>
    <p:sldId id="265" r:id="rId15"/>
    <p:sldId id="266"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4"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BBE422-2071-4CD0-A612-05EDA6F722B3}" type="datetimeFigureOut">
              <a:rPr lang="en-US" smtClean="0"/>
              <a:t>1/22/2019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A4AB05-2262-4CAD-8B10-59B24BA54992}" type="slidenum">
              <a:rPr lang="en-US" smtClean="0"/>
              <a:t>‹#›</a:t>
            </a:fld>
            <a:endParaRPr lang="en-US"/>
          </a:p>
        </p:txBody>
      </p:sp>
    </p:spTree>
    <p:extLst>
      <p:ext uri="{BB962C8B-B14F-4D97-AF65-F5344CB8AC3E}">
        <p14:creationId xmlns:p14="http://schemas.microsoft.com/office/powerpoint/2010/main" val="3751360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1A65C5-FE10-4647-9145-4199880558C2}" type="slidenum">
              <a:rPr lang="en-US" altLang="en-US">
                <a:solidFill>
                  <a:prstClr val="black"/>
                </a:solidFill>
              </a:rPr>
              <a:pPr/>
              <a:t>3</a:t>
            </a:fld>
            <a:endParaRPr lang="en-US" altLang="en-US">
              <a:solidFill>
                <a:prstClr val="black"/>
              </a:solidFill>
            </a:endParaRPr>
          </a:p>
        </p:txBody>
      </p:sp>
      <p:sp>
        <p:nvSpPr>
          <p:cNvPr id="167938" name="Rectangle 2"/>
          <p:cNvSpPr>
            <a:spLocks noGrp="1" noRot="1" noChangeAspect="1" noChangeArrowheads="1" noTextEdit="1"/>
          </p:cNvSpPr>
          <p:nvPr>
            <p:ph type="sldImg"/>
          </p:nvPr>
        </p:nvSpPr>
        <p:spPr>
          <a:ln/>
        </p:spPr>
      </p:sp>
      <p:sp>
        <p:nvSpPr>
          <p:cNvPr id="167939" name="Rectangle 3"/>
          <p:cNvSpPr>
            <a:spLocks noGrp="1" noChangeArrowheads="1"/>
          </p:cNvSpPr>
          <p:nvPr>
            <p:ph type="body" idx="1"/>
          </p:nvPr>
        </p:nvSpPr>
        <p:spPr/>
        <p:txBody>
          <a:bodyPr/>
          <a:lstStyle/>
          <a:p>
            <a:r>
              <a:rPr lang="en-US" altLang="en-US"/>
              <a:t>Maximum likelihood gives good point estimates</a:t>
            </a:r>
          </a:p>
        </p:txBody>
      </p:sp>
    </p:spTree>
    <p:extLst>
      <p:ext uri="{BB962C8B-B14F-4D97-AF65-F5344CB8AC3E}">
        <p14:creationId xmlns:p14="http://schemas.microsoft.com/office/powerpoint/2010/main" val="754712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9D2824-951F-4124-AD39-990A14A9DCA2}" type="slidenum">
              <a:rPr lang="en-US" altLang="en-US">
                <a:solidFill>
                  <a:prstClr val="black"/>
                </a:solidFill>
              </a:rPr>
              <a:pPr/>
              <a:t>9</a:t>
            </a:fld>
            <a:endParaRPr lang="en-US" altLang="en-US">
              <a:solidFill>
                <a:prstClr val="black"/>
              </a:solidFill>
            </a:endParaRPr>
          </a:p>
        </p:txBody>
      </p:sp>
      <p:sp>
        <p:nvSpPr>
          <p:cNvPr id="171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720701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89EAF0E-5F61-4006-A50B-CD3B61D951F4}" type="datetimeFigureOut">
              <a:rPr lang="en-US" smtClean="0"/>
              <a:t>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46912-536D-4E2F-B570-E7412004B828}" type="slidenum">
              <a:rPr lang="en-US" smtClean="0"/>
              <a:t>‹#›</a:t>
            </a:fld>
            <a:endParaRPr lang="en-US"/>
          </a:p>
        </p:txBody>
      </p:sp>
    </p:spTree>
    <p:extLst>
      <p:ext uri="{BB962C8B-B14F-4D97-AF65-F5344CB8AC3E}">
        <p14:creationId xmlns:p14="http://schemas.microsoft.com/office/powerpoint/2010/main" val="822094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9EAF0E-5F61-4006-A50B-CD3B61D951F4}" type="datetimeFigureOut">
              <a:rPr lang="en-US" smtClean="0"/>
              <a:t>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46912-536D-4E2F-B570-E7412004B828}" type="slidenum">
              <a:rPr lang="en-US" smtClean="0"/>
              <a:t>‹#›</a:t>
            </a:fld>
            <a:endParaRPr lang="en-US"/>
          </a:p>
        </p:txBody>
      </p:sp>
    </p:spTree>
    <p:extLst>
      <p:ext uri="{BB962C8B-B14F-4D97-AF65-F5344CB8AC3E}">
        <p14:creationId xmlns:p14="http://schemas.microsoft.com/office/powerpoint/2010/main" val="220228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89EAF0E-5F61-4006-A50B-CD3B61D951F4}" type="datetimeFigureOut">
              <a:rPr lang="en-US" smtClean="0"/>
              <a:t>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46912-536D-4E2F-B570-E7412004B828}" type="slidenum">
              <a:rPr lang="en-US" smtClean="0"/>
              <a:t>‹#›</a:t>
            </a:fld>
            <a:endParaRPr lang="en-US"/>
          </a:p>
        </p:txBody>
      </p:sp>
    </p:spTree>
    <p:extLst>
      <p:ext uri="{BB962C8B-B14F-4D97-AF65-F5344CB8AC3E}">
        <p14:creationId xmlns:p14="http://schemas.microsoft.com/office/powerpoint/2010/main" val="713639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89EAF0E-5F61-4006-A50B-CD3B61D951F4}" type="datetimeFigureOut">
              <a:rPr lang="en-US" smtClean="0"/>
              <a:t>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46912-536D-4E2F-B570-E7412004B828}" type="slidenum">
              <a:rPr lang="en-US" smtClean="0"/>
              <a:t>‹#›</a:t>
            </a:fld>
            <a:endParaRPr lang="en-US"/>
          </a:p>
        </p:txBody>
      </p:sp>
    </p:spTree>
    <p:extLst>
      <p:ext uri="{BB962C8B-B14F-4D97-AF65-F5344CB8AC3E}">
        <p14:creationId xmlns:p14="http://schemas.microsoft.com/office/powerpoint/2010/main" val="3294916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89EAF0E-5F61-4006-A50B-CD3B61D951F4}" type="datetimeFigureOut">
              <a:rPr lang="en-US" smtClean="0"/>
              <a:t>1/22/2019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F46912-536D-4E2F-B570-E7412004B828}" type="slidenum">
              <a:rPr lang="en-US" smtClean="0"/>
              <a:t>‹#›</a:t>
            </a:fld>
            <a:endParaRPr lang="en-US"/>
          </a:p>
        </p:txBody>
      </p:sp>
    </p:spTree>
    <p:extLst>
      <p:ext uri="{BB962C8B-B14F-4D97-AF65-F5344CB8AC3E}">
        <p14:creationId xmlns:p14="http://schemas.microsoft.com/office/powerpoint/2010/main" val="1070429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89EAF0E-5F61-4006-A50B-CD3B61D951F4}" type="datetimeFigureOut">
              <a:rPr lang="en-US" smtClean="0"/>
              <a:t>1/22/2019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F46912-536D-4E2F-B570-E7412004B828}" type="slidenum">
              <a:rPr lang="en-US" smtClean="0"/>
              <a:t>‹#›</a:t>
            </a:fld>
            <a:endParaRPr lang="en-US"/>
          </a:p>
        </p:txBody>
      </p:sp>
    </p:spTree>
    <p:extLst>
      <p:ext uri="{BB962C8B-B14F-4D97-AF65-F5344CB8AC3E}">
        <p14:creationId xmlns:p14="http://schemas.microsoft.com/office/powerpoint/2010/main" val="1925131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9EAF0E-5F61-4006-A50B-CD3B61D951F4}" type="datetimeFigureOut">
              <a:rPr lang="en-US" smtClean="0"/>
              <a:t>1/22/2019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F46912-536D-4E2F-B570-E7412004B828}" type="slidenum">
              <a:rPr lang="en-US" smtClean="0"/>
              <a:t>‹#›</a:t>
            </a:fld>
            <a:endParaRPr lang="en-US"/>
          </a:p>
        </p:txBody>
      </p:sp>
    </p:spTree>
    <p:extLst>
      <p:ext uri="{BB962C8B-B14F-4D97-AF65-F5344CB8AC3E}">
        <p14:creationId xmlns:p14="http://schemas.microsoft.com/office/powerpoint/2010/main" val="1008131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9EAF0E-5F61-4006-A50B-CD3B61D951F4}" type="datetimeFigureOut">
              <a:rPr lang="en-US" smtClean="0"/>
              <a:t>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46912-536D-4E2F-B570-E7412004B828}" type="slidenum">
              <a:rPr lang="en-US" smtClean="0"/>
              <a:t>‹#›</a:t>
            </a:fld>
            <a:endParaRPr lang="en-US"/>
          </a:p>
        </p:txBody>
      </p:sp>
    </p:spTree>
    <p:extLst>
      <p:ext uri="{BB962C8B-B14F-4D97-AF65-F5344CB8AC3E}">
        <p14:creationId xmlns:p14="http://schemas.microsoft.com/office/powerpoint/2010/main" val="1435885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9EAF0E-5F61-4006-A50B-CD3B61D951F4}" type="datetimeFigureOut">
              <a:rPr lang="en-US" smtClean="0"/>
              <a:t>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46912-536D-4E2F-B570-E7412004B828}" type="slidenum">
              <a:rPr lang="en-US" smtClean="0"/>
              <a:t>‹#›</a:t>
            </a:fld>
            <a:endParaRPr lang="en-US"/>
          </a:p>
        </p:txBody>
      </p:sp>
    </p:spTree>
    <p:extLst>
      <p:ext uri="{BB962C8B-B14F-4D97-AF65-F5344CB8AC3E}">
        <p14:creationId xmlns:p14="http://schemas.microsoft.com/office/powerpoint/2010/main" val="3579995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9EAF0E-5F61-4006-A50B-CD3B61D951F4}" type="datetimeFigureOut">
              <a:rPr lang="en-US" smtClean="0"/>
              <a:t>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46912-536D-4E2F-B570-E7412004B828}" type="slidenum">
              <a:rPr lang="en-US" smtClean="0"/>
              <a:t>‹#›</a:t>
            </a:fld>
            <a:endParaRPr lang="en-US"/>
          </a:p>
        </p:txBody>
      </p:sp>
    </p:spTree>
    <p:extLst>
      <p:ext uri="{BB962C8B-B14F-4D97-AF65-F5344CB8AC3E}">
        <p14:creationId xmlns:p14="http://schemas.microsoft.com/office/powerpoint/2010/main" val="291324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9EAF0E-5F61-4006-A50B-CD3B61D951F4}" type="datetimeFigureOut">
              <a:rPr lang="en-US" smtClean="0"/>
              <a:t>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46912-536D-4E2F-B570-E7412004B828}" type="slidenum">
              <a:rPr lang="en-US" smtClean="0"/>
              <a:t>‹#›</a:t>
            </a:fld>
            <a:endParaRPr lang="en-US"/>
          </a:p>
        </p:txBody>
      </p:sp>
    </p:spTree>
    <p:extLst>
      <p:ext uri="{BB962C8B-B14F-4D97-AF65-F5344CB8AC3E}">
        <p14:creationId xmlns:p14="http://schemas.microsoft.com/office/powerpoint/2010/main" val="875197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17" name="Footer Placeholder 16"/>
          <p:cNvSpPr>
            <a:spLocks noGrp="1"/>
          </p:cNvSpPr>
          <p:nvPr>
            <p:ph type="ftr" sz="quarter" idx="11"/>
          </p:nvPr>
        </p:nvSpPr>
        <p:spPr/>
        <p:txBody>
          <a:bodyPr/>
          <a:lstStyle/>
          <a:p>
            <a:endParaRPr lang="en-US">
              <a:solidFill>
                <a:srgbClr val="696464"/>
              </a:solidFill>
            </a:endParaRP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extLst>
      <p:ext uri="{BB962C8B-B14F-4D97-AF65-F5344CB8AC3E}">
        <p14:creationId xmlns:p14="http://schemas.microsoft.com/office/powerpoint/2010/main" val="17080921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2299511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5" name="Footer Placeholder 4"/>
          <p:cNvSpPr>
            <a:spLocks noGrp="1"/>
          </p:cNvSpPr>
          <p:nvPr>
            <p:ph type="ftr" sz="quarter" idx="11"/>
          </p:nvPr>
        </p:nvSpPr>
        <p:spPr>
          <a:xfrm>
            <a:off x="1066800" y="6172200"/>
            <a:ext cx="5334000" cy="457200"/>
          </a:xfrm>
        </p:spPr>
        <p:txBody>
          <a:bodyPr/>
          <a:lstStyle/>
          <a:p>
            <a:endParaRPr lang="en-US">
              <a:solidFill>
                <a:srgbClr val="696464"/>
              </a:solidFill>
            </a:endParaRPr>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6" name="Slide Number Placeholder 5"/>
          <p:cNvSpPr>
            <a:spLocks noGrp="1"/>
          </p:cNvSpPr>
          <p:nvPr>
            <p:ph type="sldNum" sz="quarter" idx="12"/>
          </p:nvPr>
        </p:nvSpPr>
        <p:spPr>
          <a:xfrm>
            <a:off x="195072" y="6208776"/>
            <a:ext cx="609600" cy="457200"/>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3857663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4252101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8" name="Footer Placeholder 7"/>
          <p:cNvSpPr>
            <a:spLocks noGrp="1"/>
          </p:cNvSpPr>
          <p:nvPr>
            <p:ph type="ftr" sz="quarter" idx="11"/>
          </p:nvPr>
        </p:nvSpPr>
        <p:spPr/>
        <p:txBody>
          <a:bodyPr/>
          <a:lstStyle/>
          <a:p>
            <a:endParaRPr lang="en-US">
              <a:solidFill>
                <a:srgbClr val="696464"/>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2869385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4" name="Footer Placeholder 3"/>
          <p:cNvSpPr>
            <a:spLocks noGrp="1"/>
          </p:cNvSpPr>
          <p:nvPr>
            <p:ph type="ftr" sz="quarter" idx="11"/>
          </p:nvPr>
        </p:nvSpPr>
        <p:spPr/>
        <p:txBody>
          <a:bodyPr/>
          <a:lstStyle/>
          <a:p>
            <a:endParaRPr lang="en-US">
              <a:solidFill>
                <a:srgbClr val="696464"/>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356662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3" name="Footer Placeholder 2"/>
          <p:cNvSpPr>
            <a:spLocks noGrp="1"/>
          </p:cNvSpPr>
          <p:nvPr>
            <p:ph type="ftr" sz="quarter" idx="11"/>
          </p:nvPr>
        </p:nvSpPr>
        <p:spPr/>
        <p:txBody>
          <a:bodyPr/>
          <a:lstStyle/>
          <a:p>
            <a:endParaRPr lang="en-US">
              <a:solidFill>
                <a:srgbClr val="696464"/>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93962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27607655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6" name="Footer Placeholder 5"/>
          <p:cNvSpPr>
            <a:spLocks noGrp="1"/>
          </p:cNvSpPr>
          <p:nvPr>
            <p:ph type="ftr" sz="quarter" idx="11"/>
          </p:nvPr>
        </p:nvSpPr>
        <p:spPr>
          <a:xfrm>
            <a:off x="1219200" y="6172200"/>
            <a:ext cx="5181600" cy="457200"/>
          </a:xfrm>
        </p:spPr>
        <p:txBody>
          <a:bodyPr/>
          <a:lstStyle/>
          <a:p>
            <a:endParaRPr lang="en-US">
              <a:solidFill>
                <a:srgbClr val="696464"/>
              </a:solidFill>
            </a:endParaRPr>
          </a:p>
        </p:txBody>
      </p:sp>
      <p:sp>
        <p:nvSpPr>
          <p:cNvPr id="7" name="Slide Number Placeholder 6"/>
          <p:cNvSpPr>
            <a:spLocks noGrp="1"/>
          </p:cNvSpPr>
          <p:nvPr>
            <p:ph type="sldNum" sz="quarter" idx="12"/>
          </p:nvPr>
        </p:nvSpPr>
        <p:spPr>
          <a:xfrm>
            <a:off x="195072" y="6208776"/>
            <a:ext cx="609600" cy="457200"/>
          </a:xfrm>
        </p:spPr>
        <p:txBody>
          <a:bodyPr/>
          <a:lstStyle/>
          <a:p>
            <a:fld id="{B6F15528-21DE-4FAA-801E-634DDDAF4B2B}" type="slidenum">
              <a:rPr lang="en-US" smtClean="0"/>
              <a:pPr/>
              <a:t>‹#›</a:t>
            </a:fld>
            <a:endParaRPr lang="en-US"/>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p14="http://schemas.microsoft.com/office/powerpoint/2010/main" val="33525641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57326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39310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600" y="6245225"/>
            <a:ext cx="2844800" cy="476250"/>
          </a:xfrm>
        </p:spPr>
        <p:txBody>
          <a:bodyPr/>
          <a:lstStyle>
            <a:lvl1pPr>
              <a:defRPr/>
            </a:lvl1pPr>
          </a:lstStyle>
          <a:p>
            <a:endParaRPr lang="en-US" altLang="en-US">
              <a:solidFill>
                <a:srgbClr val="696464"/>
              </a:solidFill>
            </a:endParaRPr>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endParaRPr lang="en-US" altLang="en-US">
              <a:solidFill>
                <a:srgbClr val="696464"/>
              </a:solidFill>
            </a:endParaRPr>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FC506285-2E2A-4651-ADEF-5DA40834FCB9}" type="slidenum">
              <a:rPr lang="en-US" altLang="en-US"/>
              <a:pPr/>
              <a:t>‹#›</a:t>
            </a:fld>
            <a:endParaRPr lang="en-US" altLang="en-US"/>
          </a:p>
        </p:txBody>
      </p:sp>
    </p:spTree>
    <p:extLst>
      <p:ext uri="{BB962C8B-B14F-4D97-AF65-F5344CB8AC3E}">
        <p14:creationId xmlns:p14="http://schemas.microsoft.com/office/powerpoint/2010/main" val="20372069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97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09600" y="6245225"/>
            <a:ext cx="2844800" cy="476250"/>
          </a:xfrm>
        </p:spPr>
        <p:txBody>
          <a:bodyPr/>
          <a:lstStyle>
            <a:lvl1pPr>
              <a:defRPr/>
            </a:lvl1pPr>
          </a:lstStyle>
          <a:p>
            <a:endParaRPr lang="en-US" altLang="en-US">
              <a:solidFill>
                <a:srgbClr val="696464"/>
              </a:solidFill>
            </a:endParaRPr>
          </a:p>
        </p:txBody>
      </p:sp>
      <p:sp>
        <p:nvSpPr>
          <p:cNvPr id="7" name="Footer Placeholder 6"/>
          <p:cNvSpPr>
            <a:spLocks noGrp="1"/>
          </p:cNvSpPr>
          <p:nvPr>
            <p:ph type="ftr" sz="quarter" idx="11"/>
          </p:nvPr>
        </p:nvSpPr>
        <p:spPr>
          <a:xfrm>
            <a:off x="4165600" y="6245225"/>
            <a:ext cx="3860800" cy="476250"/>
          </a:xfrm>
        </p:spPr>
        <p:txBody>
          <a:bodyPr/>
          <a:lstStyle>
            <a:lvl1pPr>
              <a:defRPr/>
            </a:lvl1pPr>
          </a:lstStyle>
          <a:p>
            <a:endParaRPr lang="en-US" altLang="en-US">
              <a:solidFill>
                <a:srgbClr val="696464"/>
              </a:solidFill>
            </a:endParaRPr>
          </a:p>
        </p:txBody>
      </p:sp>
      <p:sp>
        <p:nvSpPr>
          <p:cNvPr id="8" name="Slide Number Placeholder 7"/>
          <p:cNvSpPr>
            <a:spLocks noGrp="1"/>
          </p:cNvSpPr>
          <p:nvPr>
            <p:ph type="sldNum" sz="quarter" idx="12"/>
          </p:nvPr>
        </p:nvSpPr>
        <p:spPr>
          <a:xfrm>
            <a:off x="8737600" y="6245225"/>
            <a:ext cx="2844800" cy="476250"/>
          </a:xfrm>
        </p:spPr>
        <p:txBody>
          <a:bodyPr/>
          <a:lstStyle>
            <a:lvl1pPr>
              <a:defRPr/>
            </a:lvl1pPr>
          </a:lstStyle>
          <a:p>
            <a:fld id="{0A13A525-B6A0-413A-9FDC-A7A6810D9E6D}" type="slidenum">
              <a:rPr lang="en-US" altLang="en-US"/>
              <a:pPr/>
              <a:t>‹#›</a:t>
            </a:fld>
            <a:endParaRPr lang="en-US" altLang="en-US"/>
          </a:p>
        </p:txBody>
      </p:sp>
    </p:spTree>
    <p:extLst>
      <p:ext uri="{BB962C8B-B14F-4D97-AF65-F5344CB8AC3E}">
        <p14:creationId xmlns:p14="http://schemas.microsoft.com/office/powerpoint/2010/main" val="2075524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9EAF0E-5F61-4006-A50B-CD3B61D951F4}" type="datetimeFigureOut">
              <a:rPr lang="en-US" smtClean="0"/>
              <a:t>1/22/2019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F46912-536D-4E2F-B570-E7412004B828}" type="slidenum">
              <a:rPr lang="en-US" smtClean="0"/>
              <a:t>‹#›</a:t>
            </a:fld>
            <a:endParaRPr lang="en-US"/>
          </a:p>
        </p:txBody>
      </p:sp>
    </p:spTree>
    <p:extLst>
      <p:ext uri="{BB962C8B-B14F-4D97-AF65-F5344CB8AC3E}">
        <p14:creationId xmlns:p14="http://schemas.microsoft.com/office/powerpoint/2010/main" val="49213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solidFill>
                  <a:srgbClr val="696464"/>
                </a:solidFill>
              </a:rPr>
              <a:pPr/>
              <a:t>1/22/2019</a:t>
            </a:fld>
            <a:endParaRPr lang="en-US">
              <a:solidFill>
                <a:srgbClr val="696464"/>
              </a:solidFill>
            </a:endParaRPr>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US">
              <a:solidFill>
                <a:srgbClr val="696464"/>
              </a:solidFill>
            </a:endParaRPr>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7110402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3.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wmf"/><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5.w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2.xml"/><Relationship Id="rId7" Type="http://schemas.openxmlformats.org/officeDocument/2006/relationships/image" Target="../media/image8.wmf"/><Relationship Id="rId2" Type="http://schemas.openxmlformats.org/officeDocument/2006/relationships/slideLayout" Target="../slideLayouts/slideLayout24.xml"/><Relationship Id="rId1" Type="http://schemas.openxmlformats.org/officeDocument/2006/relationships/vmlDrawing" Target="../drawings/vmlDrawing3.vml"/><Relationship Id="rId6" Type="http://schemas.openxmlformats.org/officeDocument/2006/relationships/oleObject" Target="../embeddings/oleObject7.bin"/><Relationship Id="rId11" Type="http://schemas.openxmlformats.org/officeDocument/2006/relationships/image" Target="../media/image4.wmf"/><Relationship Id="rId5" Type="http://schemas.openxmlformats.org/officeDocument/2006/relationships/image" Target="../media/image7.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9.wmf"/></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US" sz="3200" dirty="0" smtClean="0"/>
              <a:t>Session </a:t>
            </a:r>
            <a:r>
              <a:rPr lang="en-US" sz="3200" dirty="0"/>
              <a:t>7</a:t>
            </a:r>
            <a:endParaRPr lang="en-US" sz="3200" dirty="0" smtClean="0"/>
          </a:p>
          <a:p>
            <a:r>
              <a:rPr lang="en-US" sz="3200" dirty="0" smtClean="0"/>
              <a:t>Reading: </a:t>
            </a:r>
            <a:r>
              <a:rPr lang="en-US" sz="3200" dirty="0" err="1" smtClean="0"/>
              <a:t>SfM</a:t>
            </a:r>
            <a:r>
              <a:rPr lang="en-US" sz="3200" dirty="0" smtClean="0"/>
              <a:t> Ch. 8</a:t>
            </a:r>
          </a:p>
        </p:txBody>
      </p:sp>
      <p:sp>
        <p:nvSpPr>
          <p:cNvPr id="2" name="Title 1"/>
          <p:cNvSpPr>
            <a:spLocks noGrp="1"/>
          </p:cNvSpPr>
          <p:nvPr>
            <p:ph type="ctrTitle"/>
          </p:nvPr>
        </p:nvSpPr>
        <p:spPr/>
        <p:txBody>
          <a:bodyPr/>
          <a:lstStyle/>
          <a:p>
            <a:r>
              <a:rPr lang="en-US" dirty="0" smtClean="0"/>
              <a:t>DOM105 2019</a:t>
            </a:r>
            <a:endParaRPr lang="en-IN" dirty="0"/>
          </a:p>
        </p:txBody>
      </p:sp>
    </p:spTree>
    <p:extLst>
      <p:ext uri="{BB962C8B-B14F-4D97-AF65-F5344CB8AC3E}">
        <p14:creationId xmlns:p14="http://schemas.microsoft.com/office/powerpoint/2010/main" val="36484270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 and Interval Estimates</a:t>
            </a:r>
            <a:endParaRPr lang="en-US" dirty="0"/>
          </a:p>
        </p:txBody>
      </p:sp>
      <p:sp>
        <p:nvSpPr>
          <p:cNvPr id="3" name="Content Placeholder 2"/>
          <p:cNvSpPr>
            <a:spLocks noGrp="1"/>
          </p:cNvSpPr>
          <p:nvPr>
            <p:ph sz="quarter" idx="1"/>
          </p:nvPr>
        </p:nvSpPr>
        <p:spPr/>
        <p:txBody>
          <a:bodyPr/>
          <a:lstStyle/>
          <a:p>
            <a:r>
              <a:rPr lang="en-US" altLang="en-US" sz="2800" b="1" dirty="0" smtClean="0"/>
              <a:t>Estimation</a:t>
            </a:r>
            <a:r>
              <a:rPr lang="en-US" altLang="en-US" sz="2800" dirty="0" smtClean="0"/>
              <a:t> refers to the calculation of unknown population parameters such as mean and standard deviation from a study of the sample.</a:t>
            </a:r>
          </a:p>
          <a:p>
            <a:endParaRPr lang="en-US" altLang="en-US" sz="2800" b="1" dirty="0" smtClean="0"/>
          </a:p>
          <a:p>
            <a:r>
              <a:rPr lang="en-US" altLang="en-US" sz="2800" b="1" dirty="0" smtClean="0"/>
              <a:t>Point </a:t>
            </a:r>
            <a:r>
              <a:rPr lang="en-US" altLang="en-US" sz="2800" b="1" dirty="0"/>
              <a:t>estimate</a:t>
            </a:r>
            <a:r>
              <a:rPr lang="en-US" altLang="en-US" sz="2800" dirty="0"/>
              <a:t>: A single statistic value that is the “best guess” for the parameter </a:t>
            </a:r>
            <a:r>
              <a:rPr lang="en-US" altLang="en-US" sz="2800" dirty="0" smtClean="0"/>
              <a:t>value, such as population mean</a:t>
            </a:r>
            <a:endParaRPr lang="en-US" altLang="en-US" sz="2800" dirty="0"/>
          </a:p>
          <a:p>
            <a:pPr>
              <a:buFontTx/>
              <a:buNone/>
            </a:pPr>
            <a:endParaRPr lang="en-US" altLang="en-US" sz="2800" dirty="0"/>
          </a:p>
          <a:p>
            <a:r>
              <a:rPr lang="en-US" altLang="en-US" sz="2800" b="1" dirty="0"/>
              <a:t>Interval estimate</a:t>
            </a:r>
            <a:r>
              <a:rPr lang="en-US" altLang="en-US" sz="2800" dirty="0"/>
              <a:t>: An interval of numbers around the point estimate, that has a fixed “confidence level” of containing the parameter value.  Called a </a:t>
            </a:r>
            <a:r>
              <a:rPr lang="en-US" altLang="en-US" sz="2800" b="1" i="1" dirty="0"/>
              <a:t>confidence interval</a:t>
            </a:r>
            <a:r>
              <a:rPr lang="en-US" altLang="en-US" sz="2800" dirty="0"/>
              <a:t>.  </a:t>
            </a:r>
          </a:p>
          <a:p>
            <a:endParaRPr lang="en-US" dirty="0"/>
          </a:p>
        </p:txBody>
      </p:sp>
    </p:spTree>
    <p:extLst>
      <p:ext uri="{BB962C8B-B14F-4D97-AF65-F5344CB8AC3E}">
        <p14:creationId xmlns:p14="http://schemas.microsoft.com/office/powerpoint/2010/main" val="7345294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1524000" y="0"/>
            <a:ext cx="9144000" cy="838200"/>
          </a:xfrm>
        </p:spPr>
        <p:txBody>
          <a:bodyPr/>
          <a:lstStyle/>
          <a:p>
            <a:r>
              <a:rPr lang="en-US" altLang="en-US"/>
              <a:t>Properties of good estimators</a:t>
            </a:r>
          </a:p>
        </p:txBody>
      </p:sp>
      <p:sp>
        <p:nvSpPr>
          <p:cNvPr id="166915" name="Rectangle 3"/>
          <p:cNvSpPr>
            <a:spLocks noGrp="1" noChangeArrowheads="1"/>
          </p:cNvSpPr>
          <p:nvPr>
            <p:ph type="body" idx="1"/>
          </p:nvPr>
        </p:nvSpPr>
        <p:spPr>
          <a:xfrm>
            <a:off x="1524000" y="1295400"/>
            <a:ext cx="9144000" cy="5562600"/>
          </a:xfrm>
        </p:spPr>
        <p:txBody>
          <a:bodyPr/>
          <a:lstStyle/>
          <a:p>
            <a:pPr>
              <a:lnSpc>
                <a:spcPct val="80000"/>
              </a:lnSpc>
            </a:pPr>
            <a:r>
              <a:rPr lang="en-US" altLang="en-US" sz="2800" b="1"/>
              <a:t>Unbiased</a:t>
            </a:r>
            <a:r>
              <a:rPr lang="en-US" altLang="en-US" sz="2800"/>
              <a:t>: Sampling distribution of the estimator centers around the parameter value </a:t>
            </a:r>
          </a:p>
          <a:p>
            <a:pPr>
              <a:lnSpc>
                <a:spcPct val="80000"/>
              </a:lnSpc>
              <a:buFontTx/>
              <a:buNone/>
            </a:pPr>
            <a:endParaRPr lang="en-US" altLang="en-US" sz="2800"/>
          </a:p>
          <a:p>
            <a:pPr>
              <a:lnSpc>
                <a:spcPct val="80000"/>
              </a:lnSpc>
              <a:buFontTx/>
              <a:buNone/>
            </a:pPr>
            <a:r>
              <a:rPr lang="en-US" altLang="en-US" sz="2800"/>
              <a:t>  </a:t>
            </a:r>
            <a:r>
              <a:rPr lang="en-US" altLang="en-US" sz="2800" b="1"/>
              <a:t>ex</a:t>
            </a:r>
            <a:r>
              <a:rPr lang="en-US" altLang="en-US" sz="2800"/>
              <a:t>. Biased estimator: sample range.  It cannot be larger than population range.</a:t>
            </a:r>
          </a:p>
          <a:p>
            <a:pPr>
              <a:lnSpc>
                <a:spcPct val="80000"/>
              </a:lnSpc>
              <a:buFontTx/>
              <a:buNone/>
            </a:pPr>
            <a:endParaRPr lang="en-US" altLang="en-US" sz="2800"/>
          </a:p>
          <a:p>
            <a:pPr>
              <a:lnSpc>
                <a:spcPct val="80000"/>
              </a:lnSpc>
            </a:pPr>
            <a:r>
              <a:rPr lang="en-US" altLang="en-US" sz="2800" b="1"/>
              <a:t>Efficient</a:t>
            </a:r>
            <a:r>
              <a:rPr lang="en-US" altLang="en-US" sz="2800"/>
              <a:t>: Smallest possible standard error, compared to other estimators</a:t>
            </a:r>
          </a:p>
          <a:p>
            <a:pPr>
              <a:lnSpc>
                <a:spcPct val="80000"/>
              </a:lnSpc>
            </a:pPr>
            <a:endParaRPr lang="en-US" altLang="en-US" sz="2800"/>
          </a:p>
          <a:p>
            <a:pPr>
              <a:lnSpc>
                <a:spcPct val="80000"/>
              </a:lnSpc>
              <a:buFontTx/>
              <a:buNone/>
            </a:pPr>
            <a:r>
              <a:rPr lang="en-US" altLang="en-US" sz="2800" b="1"/>
              <a:t> Ex</a:t>
            </a:r>
            <a:r>
              <a:rPr lang="en-US" altLang="en-US" sz="2800"/>
              <a:t>. If population is symmetric and approximately normal in shape, sample mean is more efficient than sample median in estimating the population mean and median.  (can check this with sampling distribution applet at www.prenhall.com/agresti)</a:t>
            </a:r>
            <a:endParaRPr lang="en-US" altLang="en-US" sz="2800" b="1"/>
          </a:p>
        </p:txBody>
      </p:sp>
    </p:spTree>
    <p:extLst>
      <p:ext uri="{BB962C8B-B14F-4D97-AF65-F5344CB8AC3E}">
        <p14:creationId xmlns:p14="http://schemas.microsoft.com/office/powerpoint/2010/main" val="10999424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r>
              <a:rPr lang="en-US" altLang="en-US" sz="3600"/>
              <a:t>Point Estimators – Most common to use sample values</a:t>
            </a:r>
          </a:p>
        </p:txBody>
      </p:sp>
      <p:sp>
        <p:nvSpPr>
          <p:cNvPr id="153603" name="Rectangle 3"/>
          <p:cNvSpPr>
            <a:spLocks noGrp="1" noChangeArrowheads="1"/>
          </p:cNvSpPr>
          <p:nvPr>
            <p:ph type="body" sz="half" idx="1"/>
          </p:nvPr>
        </p:nvSpPr>
        <p:spPr>
          <a:xfrm>
            <a:off x="1752600" y="2057401"/>
            <a:ext cx="8534400" cy="4602163"/>
          </a:xfrm>
        </p:spPr>
        <p:txBody>
          <a:bodyPr/>
          <a:lstStyle/>
          <a:p>
            <a:pPr>
              <a:lnSpc>
                <a:spcPct val="90000"/>
              </a:lnSpc>
            </a:pPr>
            <a:r>
              <a:rPr lang="en-US" altLang="en-US" sz="2800"/>
              <a:t>Sample mean estimates population mean </a:t>
            </a:r>
            <a:r>
              <a:rPr lang="en-US" altLang="en-US" sz="2800" i="1">
                <a:latin typeface="Symbol" panose="05050102010706020507" pitchFamily="18" charset="2"/>
              </a:rPr>
              <a:t>m</a:t>
            </a:r>
            <a:endParaRPr lang="en-US" altLang="en-US"/>
          </a:p>
        </p:txBody>
      </p:sp>
      <p:graphicFrame>
        <p:nvGraphicFramePr>
          <p:cNvPr id="153604" name="Object 4"/>
          <p:cNvGraphicFramePr>
            <a:graphicFrameLocks noChangeAspect="1"/>
          </p:cNvGraphicFramePr>
          <p:nvPr/>
        </p:nvGraphicFramePr>
        <p:xfrm>
          <a:off x="4953000" y="2514601"/>
          <a:ext cx="1778000" cy="873125"/>
        </p:xfrm>
        <a:graphic>
          <a:graphicData uri="http://schemas.openxmlformats.org/presentationml/2006/ole">
            <mc:AlternateContent xmlns:mc="http://schemas.openxmlformats.org/markup-compatibility/2006">
              <mc:Choice xmlns:v="urn:schemas-microsoft-com:vml" Requires="v">
                <p:oleObj spid="_x0000_s1074" name="Equation" r:id="rId3" imgW="876240" imgH="431640" progId="Equation.DSMT4">
                  <p:embed/>
                </p:oleObj>
              </mc:Choice>
              <mc:Fallback>
                <p:oleObj name="Equation" r:id="rId3" imgW="87624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2514601"/>
                        <a:ext cx="1778000" cy="87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05" name="Rectangle 5"/>
          <p:cNvSpPr>
            <a:spLocks noChangeArrowheads="1"/>
          </p:cNvSpPr>
          <p:nvPr/>
        </p:nvSpPr>
        <p:spPr bwMode="auto">
          <a:xfrm>
            <a:off x="1676400" y="3429000"/>
            <a:ext cx="8839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800">
                <a:solidFill>
                  <a:prstClr val="black"/>
                </a:solidFill>
              </a:rPr>
              <a:t>Sample std. dev. estimates population std. dev. </a:t>
            </a:r>
            <a:r>
              <a:rPr lang="en-US" altLang="en-US" sz="2800" i="1">
                <a:solidFill>
                  <a:prstClr val="black"/>
                </a:solidFill>
                <a:latin typeface="Symbol" panose="05050102010706020507" pitchFamily="18" charset="2"/>
              </a:rPr>
              <a:t>s </a:t>
            </a:r>
            <a:endParaRPr lang="en-US" altLang="en-US">
              <a:solidFill>
                <a:prstClr val="black"/>
              </a:solidFill>
            </a:endParaRPr>
          </a:p>
        </p:txBody>
      </p:sp>
      <p:graphicFrame>
        <p:nvGraphicFramePr>
          <p:cNvPr id="153606" name="Object 6"/>
          <p:cNvGraphicFramePr>
            <a:graphicFrameLocks noChangeAspect="1"/>
          </p:cNvGraphicFramePr>
          <p:nvPr/>
        </p:nvGraphicFramePr>
        <p:xfrm>
          <a:off x="4114800" y="4343401"/>
          <a:ext cx="2667000" cy="944563"/>
        </p:xfrm>
        <a:graphic>
          <a:graphicData uri="http://schemas.openxmlformats.org/presentationml/2006/ole">
            <mc:AlternateContent xmlns:mc="http://schemas.openxmlformats.org/markup-compatibility/2006">
              <mc:Choice xmlns:v="urn:schemas-microsoft-com:vml" Requires="v">
                <p:oleObj spid="_x0000_s1075" name="Equation" r:id="rId5" imgW="1358640" imgH="482400" progId="Equation.DSMT4">
                  <p:embed/>
                </p:oleObj>
              </mc:Choice>
              <mc:Fallback>
                <p:oleObj name="Equation" r:id="rId5" imgW="1358640" imgH="4824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4343401"/>
                        <a:ext cx="2667000" cy="944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07" name="Rectangle 7"/>
          <p:cNvSpPr>
            <a:spLocks noChangeArrowheads="1"/>
          </p:cNvSpPr>
          <p:nvPr/>
        </p:nvSpPr>
        <p:spPr bwMode="auto">
          <a:xfrm>
            <a:off x="1905000" y="5791200"/>
            <a:ext cx="8229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800">
                <a:solidFill>
                  <a:prstClr val="black"/>
                </a:solidFill>
              </a:rPr>
              <a:t>Sample proportion      estimates population proportion </a:t>
            </a:r>
            <a:r>
              <a:rPr lang="en-US" altLang="en-US" sz="2800">
                <a:solidFill>
                  <a:prstClr val="black"/>
                </a:solidFill>
                <a:sym typeface="Euclid Symbol" pitchFamily="18" charset="2"/>
              </a:rPr>
              <a:t></a:t>
            </a:r>
            <a:endParaRPr lang="en-US" altLang="en-US">
              <a:solidFill>
                <a:prstClr val="black"/>
              </a:solidFill>
              <a:sym typeface="Euclid Symbol" pitchFamily="18" charset="2"/>
            </a:endParaRPr>
          </a:p>
        </p:txBody>
      </p:sp>
      <p:graphicFrame>
        <p:nvGraphicFramePr>
          <p:cNvPr id="153609" name="Object 9"/>
          <p:cNvGraphicFramePr>
            <a:graphicFrameLocks noGrp="1" noChangeAspect="1"/>
          </p:cNvGraphicFramePr>
          <p:nvPr>
            <p:ph sz="half" idx="2"/>
          </p:nvPr>
        </p:nvGraphicFramePr>
        <p:xfrm>
          <a:off x="5334001" y="5867400"/>
          <a:ext cx="358775" cy="457200"/>
        </p:xfrm>
        <a:graphic>
          <a:graphicData uri="http://schemas.openxmlformats.org/presentationml/2006/ole">
            <mc:AlternateContent xmlns:mc="http://schemas.openxmlformats.org/markup-compatibility/2006">
              <mc:Choice xmlns:v="urn:schemas-microsoft-com:vml" Requires="v">
                <p:oleObj spid="_x0000_s1076" name="Equation" r:id="rId7" imgW="139680" imgH="177480" progId="Equation.DSMT4">
                  <p:embed/>
                </p:oleObj>
              </mc:Choice>
              <mc:Fallback>
                <p:oleObj name="Equation" r:id="rId7" imgW="139680" imgH="1774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1" y="5867400"/>
                        <a:ext cx="3587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506124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1524000" y="0"/>
            <a:ext cx="9144000" cy="1219200"/>
          </a:xfrm>
        </p:spPr>
        <p:txBody>
          <a:bodyPr/>
          <a:lstStyle/>
          <a:p>
            <a:r>
              <a:rPr lang="en-US" altLang="en-US" dirty="0"/>
              <a:t>Confidence Interval for the Mean</a:t>
            </a:r>
          </a:p>
        </p:txBody>
      </p:sp>
      <mc:AlternateContent xmlns:mc="http://schemas.openxmlformats.org/markup-compatibility/2006" xmlns:a14="http://schemas.microsoft.com/office/drawing/2010/main">
        <mc:Choice Requires="a14">
          <p:sp>
            <p:nvSpPr>
              <p:cNvPr id="155651" name="Rectangle 3"/>
              <p:cNvSpPr>
                <a:spLocks noGrp="1" noChangeArrowheads="1"/>
              </p:cNvSpPr>
              <p:nvPr>
                <p:ph type="body" idx="1"/>
              </p:nvPr>
            </p:nvSpPr>
            <p:spPr>
              <a:xfrm>
                <a:off x="1524000" y="1600200"/>
                <a:ext cx="8382000" cy="2743200"/>
              </a:xfrm>
            </p:spPr>
            <p:txBody>
              <a:bodyPr>
                <a:normAutofit fontScale="92500"/>
              </a:bodyPr>
              <a:lstStyle/>
              <a:p>
                <a:r>
                  <a:rPr lang="en-US" altLang="en-US" sz="2800" dirty="0" smtClean="0"/>
                  <a:t>In large random samples, the sample mean has approximately a normal sampling distribution with mean </a:t>
                </a:r>
                <a:r>
                  <a:rPr lang="en-US" altLang="en-US" sz="2800" i="1" dirty="0">
                    <a:latin typeface="Symbol" panose="05050102010706020507" pitchFamily="18" charset="2"/>
                  </a:rPr>
                  <a:t>m</a:t>
                </a:r>
                <a:r>
                  <a:rPr lang="en-US" altLang="en-US" sz="2800" dirty="0"/>
                  <a:t> and standard error </a:t>
                </a:r>
              </a:p>
              <a:p>
                <a:endParaRPr lang="en-US" altLang="en-US" sz="2800" dirty="0"/>
              </a:p>
              <a:p>
                <a:r>
                  <a:rPr lang="en-US" altLang="en-US" sz="2800" dirty="0"/>
                  <a:t>Thus, </a:t>
                </a:r>
                <a14:m>
                  <m:oMath xmlns:m="http://schemas.openxmlformats.org/officeDocument/2006/math">
                    <m:acc>
                      <m:accPr>
                        <m:chr m:val="̅"/>
                        <m:ctrlPr>
                          <a:rPr lang="en-US" altLang="en-US" sz="2800" i="1" smtClean="0">
                            <a:latin typeface="Cambria Math" panose="02040503050406030204" pitchFamily="18" charset="0"/>
                          </a:rPr>
                        </m:ctrlPr>
                      </m:accPr>
                      <m:e>
                        <m:r>
                          <a:rPr lang="en-US" altLang="en-US" sz="2800" b="0" i="1" smtClean="0">
                            <a:latin typeface="Cambria Math" panose="02040503050406030204" pitchFamily="18" charset="0"/>
                          </a:rPr>
                          <m:t>𝑋</m:t>
                        </m:r>
                      </m:e>
                    </m:acc>
                    <m:r>
                      <a:rPr lang="en-US" altLang="en-US" sz="2800" i="1">
                        <a:latin typeface="Cambria Math" panose="02040503050406030204" pitchFamily="18" charset="0"/>
                        <a:ea typeface="Cambria Math" panose="02040503050406030204" pitchFamily="18" charset="0"/>
                      </a:rPr>
                      <m:t>±</m:t>
                    </m:r>
                    <m:sSub>
                      <m:sSubPr>
                        <m:ctrlPr>
                          <a:rPr lang="en-US" altLang="en-US" sz="2800" b="0" i="1" smtClean="0">
                            <a:latin typeface="Cambria Math" panose="02040503050406030204" pitchFamily="18" charset="0"/>
                          </a:rPr>
                        </m:ctrlPr>
                      </m:sSubPr>
                      <m:e>
                        <m:r>
                          <a:rPr lang="en-US" altLang="en-US" sz="2800" b="0" i="1" smtClean="0">
                            <a:latin typeface="Cambria Math" panose="02040503050406030204" pitchFamily="18" charset="0"/>
                          </a:rPr>
                          <m:t>𝑍</m:t>
                        </m:r>
                      </m:e>
                      <m:sub>
                        <m:r>
                          <a:rPr lang="en-US" altLang="en-US" sz="2800" b="0" i="1" smtClean="0">
                            <a:latin typeface="Cambria Math" panose="02040503050406030204" pitchFamily="18" charset="0"/>
                            <a:ea typeface="Cambria Math" panose="02040503050406030204" pitchFamily="18" charset="0"/>
                          </a:rPr>
                          <m:t>𝛼</m:t>
                        </m:r>
                        <m:r>
                          <a:rPr lang="en-US" altLang="en-US" sz="2800" b="0" i="1" smtClean="0">
                            <a:latin typeface="Cambria Math" panose="02040503050406030204" pitchFamily="18" charset="0"/>
                            <a:ea typeface="Cambria Math" panose="02040503050406030204" pitchFamily="18" charset="0"/>
                          </a:rPr>
                          <m:t>/2</m:t>
                        </m:r>
                      </m:sub>
                    </m:sSub>
                    <m:f>
                      <m:fPr>
                        <m:ctrlPr>
                          <a:rPr lang="en-US" altLang="en-US" sz="2800" b="0" i="1" smtClean="0">
                            <a:latin typeface="Cambria Math" panose="02040503050406030204" pitchFamily="18" charset="0"/>
                          </a:rPr>
                        </m:ctrlPr>
                      </m:fPr>
                      <m:num>
                        <m:r>
                          <a:rPr lang="en-US" altLang="en-US" sz="2800" b="0" i="1" smtClean="0">
                            <a:latin typeface="Cambria Math" panose="02040503050406030204" pitchFamily="18" charset="0"/>
                            <a:ea typeface="Cambria Math" panose="02040503050406030204" pitchFamily="18" charset="0"/>
                          </a:rPr>
                          <m:t>𝜎</m:t>
                        </m:r>
                      </m:num>
                      <m:den>
                        <m:rad>
                          <m:radPr>
                            <m:degHide m:val="on"/>
                            <m:ctrlPr>
                              <a:rPr lang="en-US" altLang="en-US" sz="2800" b="0" i="1" smtClean="0">
                                <a:latin typeface="Cambria Math" panose="02040503050406030204" pitchFamily="18" charset="0"/>
                              </a:rPr>
                            </m:ctrlPr>
                          </m:radPr>
                          <m:deg/>
                          <m:e>
                            <m:r>
                              <a:rPr lang="en-US" altLang="en-US" sz="2800" b="0" i="1" smtClean="0">
                                <a:latin typeface="Cambria Math" panose="02040503050406030204" pitchFamily="18" charset="0"/>
                              </a:rPr>
                              <m:t>𝑛</m:t>
                            </m:r>
                          </m:e>
                        </m:rad>
                      </m:den>
                    </m:f>
                  </m:oMath>
                </a14:m>
                <a:r>
                  <a:rPr lang="en-US" altLang="en-US" sz="2800" dirty="0" smtClean="0"/>
                  <a:t> is the confidence interval of probability</a:t>
                </a:r>
              </a:p>
              <a:p>
                <a:r>
                  <a:rPr lang="el-GR" altLang="en-US" sz="2800" dirty="0" smtClean="0">
                    <a:latin typeface="Calibri" panose="020F0502020204030204" pitchFamily="34" charset="0"/>
                  </a:rPr>
                  <a:t>α</a:t>
                </a:r>
                <a:r>
                  <a:rPr lang="en-US" altLang="en-US" sz="2800" dirty="0" smtClean="0">
                    <a:latin typeface="Calibri" panose="020F0502020204030204" pitchFamily="34" charset="0"/>
                  </a:rPr>
                  <a:t>=(1-confidence level)</a:t>
                </a:r>
                <a:endParaRPr lang="en-US" altLang="en-US" sz="2800" dirty="0"/>
              </a:p>
            </p:txBody>
          </p:sp>
        </mc:Choice>
        <mc:Fallback xmlns="">
          <p:sp>
            <p:nvSpPr>
              <p:cNvPr id="155651" name="Rectangle 3"/>
              <p:cNvSpPr>
                <a:spLocks noGrp="1" noRot="1" noChangeAspect="1" noMove="1" noResize="1" noEditPoints="1" noAdjustHandles="1" noChangeArrowheads="1" noChangeShapeType="1" noTextEdit="1"/>
              </p:cNvSpPr>
              <p:nvPr>
                <p:ph type="body" idx="1"/>
              </p:nvPr>
            </p:nvSpPr>
            <p:spPr>
              <a:xfrm>
                <a:off x="1524000" y="1600200"/>
                <a:ext cx="8382000" cy="2743200"/>
              </a:xfrm>
              <a:blipFill rotWithShape="0">
                <a:blip r:embed="rId3"/>
                <a:stretch>
                  <a:fillRect l="-727" t="-2000"/>
                </a:stretch>
              </a:blipFill>
            </p:spPr>
            <p:txBody>
              <a:bodyPr/>
              <a:lstStyle/>
              <a:p>
                <a:r>
                  <a:rPr lang="en-US">
                    <a:noFill/>
                  </a:rPr>
                  <a:t> </a:t>
                </a:r>
              </a:p>
            </p:txBody>
          </p:sp>
        </mc:Fallback>
      </mc:AlternateContent>
      <p:graphicFrame>
        <p:nvGraphicFramePr>
          <p:cNvPr id="155652" name="Object 4"/>
          <p:cNvGraphicFramePr>
            <a:graphicFrameLocks noChangeAspect="1"/>
          </p:cNvGraphicFramePr>
          <p:nvPr>
            <p:extLst>
              <p:ext uri="{D42A27DB-BD31-4B8C-83A1-F6EECF244321}">
                <p14:modId xmlns:p14="http://schemas.microsoft.com/office/powerpoint/2010/main" val="4213009487"/>
              </p:ext>
            </p:extLst>
          </p:nvPr>
        </p:nvGraphicFramePr>
        <p:xfrm>
          <a:off x="3912359" y="2381250"/>
          <a:ext cx="1219200" cy="596348"/>
        </p:xfrm>
        <a:graphic>
          <a:graphicData uri="http://schemas.openxmlformats.org/presentationml/2006/ole">
            <mc:AlternateContent xmlns:mc="http://schemas.openxmlformats.org/markup-compatibility/2006">
              <mc:Choice xmlns:v="urn:schemas-microsoft-com:vml" Requires="v">
                <p:oleObj spid="_x0000_s2084" name="Equation" r:id="rId4" imgW="698400" imgH="342720" progId="Equation.DSMT4">
                  <p:embed/>
                </p:oleObj>
              </mc:Choice>
              <mc:Fallback>
                <p:oleObj name="Equation" r:id="rId4" imgW="698400" imgH="34272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12359" y="2381250"/>
                        <a:ext cx="1219200" cy="596348"/>
                      </a:xfrm>
                      <a:prstGeom prst="rect">
                        <a:avLst/>
                      </a:prstGeom>
                      <a:noFill/>
                      <a:ln>
                        <a:noFill/>
                      </a:ln>
                      <a:effectLst/>
                      <a:extLst/>
                    </p:spPr>
                  </p:pic>
                </p:oleObj>
              </mc:Fallback>
            </mc:AlternateContent>
          </a:graphicData>
        </a:graphic>
      </p:graphicFrame>
      <p:graphicFrame>
        <p:nvGraphicFramePr>
          <p:cNvPr id="155653" name="Object 5"/>
          <p:cNvGraphicFramePr>
            <a:graphicFrameLocks noChangeAspect="1"/>
          </p:cNvGraphicFramePr>
          <p:nvPr/>
        </p:nvGraphicFramePr>
        <p:xfrm>
          <a:off x="3338513" y="4535488"/>
          <a:ext cx="4927600" cy="514350"/>
        </p:xfrm>
        <a:graphic>
          <a:graphicData uri="http://schemas.openxmlformats.org/presentationml/2006/ole">
            <mc:AlternateContent xmlns:mc="http://schemas.openxmlformats.org/markup-compatibility/2006">
              <mc:Choice xmlns:v="urn:schemas-microsoft-com:vml" Requires="v">
                <p:oleObj spid="_x0000_s2085" name="Equation" r:id="rId6" imgW="2298600" imgH="241200" progId="Equation.DSMT4">
                  <p:embed/>
                </p:oleObj>
              </mc:Choice>
              <mc:Fallback>
                <p:oleObj name="Equation" r:id="rId6" imgW="2298600" imgH="2412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38513" y="4535488"/>
                        <a:ext cx="49276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5654" name="Text Box 6"/>
          <p:cNvSpPr txBox="1">
            <a:spLocks noChangeArrowheads="1"/>
          </p:cNvSpPr>
          <p:nvPr/>
        </p:nvSpPr>
        <p:spPr bwMode="auto">
          <a:xfrm>
            <a:off x="1828800" y="5257801"/>
            <a:ext cx="85344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FontTx/>
              <a:buChar char="•"/>
            </a:pPr>
            <a:r>
              <a:rPr lang="en-US" altLang="en-US" sz="2400">
                <a:solidFill>
                  <a:prstClr val="black"/>
                </a:solidFill>
                <a:latin typeface="Times New Roman" panose="02020603050405020304" pitchFamily="18" charset="0"/>
              </a:rPr>
              <a:t> </a:t>
            </a:r>
            <a:r>
              <a:rPr lang="en-US" altLang="en-US" sz="2800">
                <a:solidFill>
                  <a:prstClr val="black"/>
                </a:solidFill>
              </a:rPr>
              <a:t>We can be 95% confident that the sample mean lies within 1.96 standard errors of the (unknown) population mean</a:t>
            </a:r>
          </a:p>
        </p:txBody>
      </p:sp>
    </p:spTree>
    <p:extLst>
      <p:ext uri="{BB962C8B-B14F-4D97-AF65-F5344CB8AC3E}">
        <p14:creationId xmlns:p14="http://schemas.microsoft.com/office/powerpoint/2010/main" val="34862142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smtClean="0"/>
                  <a:t>If sample mean is 100, sample size is 50, pop. </a:t>
                </a:r>
                <a:r>
                  <a:rPr lang="en-US" dirty="0" err="1" smtClean="0"/>
                  <a:t>Stdev</a:t>
                </a:r>
                <a:r>
                  <a:rPr lang="en-US" dirty="0" smtClean="0"/>
                  <a:t> is 30, what is 90% confidence interval if pop mean?</a:t>
                </a:r>
              </a:p>
              <a:p>
                <a:r>
                  <a:rPr lang="en-US" dirty="0" smtClean="0"/>
                  <a:t>Confidence interval: </a:t>
                </a:r>
                <a14:m>
                  <m:oMath xmlns:m="http://schemas.openxmlformats.org/officeDocument/2006/math">
                    <m:acc>
                      <m:accPr>
                        <m:chr m:val="̅"/>
                        <m:ctrlPr>
                          <a:rPr lang="en-US" altLang="en-US" sz="2400" i="1">
                            <a:latin typeface="Cambria Math" panose="02040503050406030204" pitchFamily="18" charset="0"/>
                          </a:rPr>
                        </m:ctrlPr>
                      </m:accPr>
                      <m:e>
                        <m:r>
                          <a:rPr lang="en-US" altLang="en-US" sz="2400" i="1">
                            <a:latin typeface="Cambria Math" panose="02040503050406030204" pitchFamily="18" charset="0"/>
                          </a:rPr>
                          <m:t>𝑋</m:t>
                        </m:r>
                      </m:e>
                    </m:acc>
                    <m:r>
                      <a:rPr lang="en-US" altLang="en-US" sz="2400" i="1">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𝑍</m:t>
                        </m:r>
                      </m:e>
                      <m:sub>
                        <m:r>
                          <a:rPr lang="en-US" altLang="en-US" sz="2400" i="1">
                            <a:latin typeface="Cambria Math" panose="02040503050406030204" pitchFamily="18" charset="0"/>
                            <a:ea typeface="Cambria Math" panose="02040503050406030204" pitchFamily="18" charset="0"/>
                          </a:rPr>
                          <m:t>𝛼</m:t>
                        </m:r>
                        <m:r>
                          <a:rPr lang="en-US" altLang="en-US" sz="2400" i="1">
                            <a:latin typeface="Cambria Math" panose="02040503050406030204" pitchFamily="18" charset="0"/>
                            <a:ea typeface="Cambria Math" panose="02040503050406030204" pitchFamily="18" charset="0"/>
                          </a:rPr>
                          <m:t>/2</m:t>
                        </m:r>
                      </m:sub>
                    </m:sSub>
                    <m:f>
                      <m:fPr>
                        <m:ctrlPr>
                          <a:rPr lang="en-US" altLang="en-US" sz="2400" i="1">
                            <a:latin typeface="Cambria Math" panose="02040503050406030204" pitchFamily="18" charset="0"/>
                          </a:rPr>
                        </m:ctrlPr>
                      </m:fPr>
                      <m:num>
                        <m:r>
                          <a:rPr lang="en-US" altLang="en-US" sz="2400" i="1">
                            <a:latin typeface="Cambria Math" panose="02040503050406030204" pitchFamily="18" charset="0"/>
                            <a:ea typeface="Cambria Math" panose="02040503050406030204" pitchFamily="18" charset="0"/>
                          </a:rPr>
                          <m:t>𝜎</m:t>
                        </m:r>
                      </m:num>
                      <m:den>
                        <m:rad>
                          <m:radPr>
                            <m:degHide m:val="on"/>
                            <m:ctrlPr>
                              <a:rPr lang="en-US" altLang="en-US" sz="2400" i="1">
                                <a:latin typeface="Cambria Math" panose="02040503050406030204" pitchFamily="18" charset="0"/>
                              </a:rPr>
                            </m:ctrlPr>
                          </m:radPr>
                          <m:deg/>
                          <m:e>
                            <m:r>
                              <a:rPr lang="en-US" altLang="en-US" sz="2400" i="1">
                                <a:latin typeface="Cambria Math" panose="02040503050406030204" pitchFamily="18" charset="0"/>
                              </a:rPr>
                              <m:t>𝑛</m:t>
                            </m:r>
                          </m:e>
                        </m:rad>
                      </m:den>
                    </m:f>
                  </m:oMath>
                </a14:m>
                <a:r>
                  <a:rPr lang="en-US" dirty="0" smtClean="0"/>
                  <a:t>, </a:t>
                </a:r>
                <a14:m>
                  <m:oMath xmlns:m="http://schemas.openxmlformats.org/officeDocument/2006/math">
                    <m:acc>
                      <m:accPr>
                        <m:chr m:val="̅"/>
                        <m:ctrlPr>
                          <a:rPr lang="en-US" altLang="en-US" sz="3200" i="1">
                            <a:latin typeface="Cambria Math" panose="02040503050406030204" pitchFamily="18" charset="0"/>
                          </a:rPr>
                        </m:ctrlPr>
                      </m:accPr>
                      <m:e>
                        <m:r>
                          <a:rPr lang="en-US" altLang="en-US" sz="3200" i="1">
                            <a:latin typeface="Cambria Math" panose="02040503050406030204" pitchFamily="18" charset="0"/>
                          </a:rPr>
                          <m:t>𝑋</m:t>
                        </m:r>
                      </m:e>
                    </m:acc>
                    <m:r>
                      <a:rPr lang="en-US" altLang="en-US" sz="3200" b="0" i="1" smtClean="0">
                        <a:latin typeface="Cambria Math" panose="02040503050406030204" pitchFamily="18" charset="0"/>
                      </a:rPr>
                      <m:t>=100, </m:t>
                    </m:r>
                    <m:r>
                      <a:rPr lang="en-US" altLang="en-US" sz="3200" b="0" i="1" smtClean="0">
                        <a:latin typeface="Cambria Math" panose="02040503050406030204" pitchFamily="18" charset="0"/>
                      </a:rPr>
                      <m:t>𝑛</m:t>
                    </m:r>
                    <m:r>
                      <a:rPr lang="en-US" altLang="en-US" sz="3200" b="0" i="1" smtClean="0">
                        <a:latin typeface="Cambria Math" panose="02040503050406030204" pitchFamily="18" charset="0"/>
                      </a:rPr>
                      <m:t>=50, </m:t>
                    </m:r>
                    <m:r>
                      <a:rPr lang="en-US" altLang="en-US" sz="2800" i="1">
                        <a:latin typeface="Cambria Math" panose="02040503050406030204" pitchFamily="18" charset="0"/>
                        <a:ea typeface="Cambria Math" panose="02040503050406030204" pitchFamily="18" charset="0"/>
                      </a:rPr>
                      <m:t>𝜎</m:t>
                    </m:r>
                  </m:oMath>
                </a14:m>
                <a:r>
                  <a:rPr lang="en-US" dirty="0" smtClean="0"/>
                  <a:t>=30, </a:t>
                </a:r>
                <a14:m>
                  <m:oMath xmlns:m="http://schemas.openxmlformats.org/officeDocument/2006/math">
                    <m:r>
                      <a:rPr lang="en-US" altLang="en-US" sz="2800" i="1">
                        <a:latin typeface="Cambria Math" panose="02040503050406030204" pitchFamily="18" charset="0"/>
                        <a:ea typeface="Cambria Math" panose="02040503050406030204" pitchFamily="18" charset="0"/>
                      </a:rPr>
                      <m:t>𝛼</m:t>
                    </m:r>
                  </m:oMath>
                </a14:m>
                <a:r>
                  <a:rPr lang="en-US" dirty="0" smtClean="0"/>
                  <a:t>=1-0.9=0.1</a:t>
                </a:r>
              </a:p>
              <a:p>
                <a14:m>
                  <m:oMath xmlns:m="http://schemas.openxmlformats.org/officeDocument/2006/math">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𝑍</m:t>
                        </m:r>
                      </m:e>
                      <m:sub>
                        <m:r>
                          <a:rPr lang="en-US" altLang="en-US" sz="2800" b="0" i="1" smtClean="0">
                            <a:latin typeface="Cambria Math" panose="02040503050406030204" pitchFamily="18" charset="0"/>
                          </a:rPr>
                          <m:t>0.05</m:t>
                        </m:r>
                      </m:sub>
                    </m:sSub>
                    <m:r>
                      <a:rPr lang="en-US" altLang="en-US" sz="2800" b="0" i="1" smtClean="0">
                        <a:latin typeface="Cambria Math" panose="02040503050406030204" pitchFamily="18" charset="0"/>
                        <a:ea typeface="Cambria Math" panose="02040503050406030204" pitchFamily="18" charset="0"/>
                      </a:rPr>
                      <m:t>=−1.645</m:t>
                    </m:r>
                  </m:oMath>
                </a14:m>
                <a:r>
                  <a:rPr lang="en-US" dirty="0" smtClean="0"/>
                  <a:t>, interval is </a:t>
                </a:r>
                <a14:m>
                  <m:oMath xmlns:m="http://schemas.openxmlformats.org/officeDocument/2006/math">
                    <m:r>
                      <a:rPr lang="en-US" b="0" i="1" smtClean="0">
                        <a:latin typeface="Cambria Math" panose="02040503050406030204" pitchFamily="18" charset="0"/>
                      </a:rPr>
                      <m:t>100±1.645∗</m:t>
                    </m:r>
                    <m:f>
                      <m:fPr>
                        <m:ctrlPr>
                          <a:rPr lang="en-US" b="0" i="1" smtClean="0">
                            <a:latin typeface="Cambria Math" panose="02040503050406030204" pitchFamily="18" charset="0"/>
                          </a:rPr>
                        </m:ctrlPr>
                      </m:fPr>
                      <m:num>
                        <m:r>
                          <a:rPr lang="en-US" b="0" i="1" smtClean="0">
                            <a:latin typeface="Cambria Math" panose="02040503050406030204" pitchFamily="18" charset="0"/>
                          </a:rPr>
                          <m:t>30</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50</m:t>
                            </m:r>
                          </m:e>
                        </m:rad>
                      </m:den>
                    </m:f>
                    <m:r>
                      <a:rPr lang="en-US" b="0" i="1" smtClean="0">
                        <a:latin typeface="Cambria Math" panose="02040503050406030204" pitchFamily="18" charset="0"/>
                      </a:rPr>
                      <m:t>=100±6.979</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l="-588" t="-1200"/>
                </a:stretch>
              </a:blipFill>
            </p:spPr>
            <p:txBody>
              <a:bodyPr/>
              <a:lstStyle/>
              <a:p>
                <a:r>
                  <a:rPr lang="en-US">
                    <a:noFill/>
                  </a:rPr>
                  <a:t> </a:t>
                </a:r>
              </a:p>
            </p:txBody>
          </p:sp>
        </mc:Fallback>
      </mc:AlternateContent>
    </p:spTree>
    <p:extLst>
      <p:ext uri="{BB962C8B-B14F-4D97-AF65-F5344CB8AC3E}">
        <p14:creationId xmlns:p14="http://schemas.microsoft.com/office/powerpoint/2010/main" val="721957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Confidence Interval (</a:t>
            </a:r>
            <a:r>
              <a:rPr lang="en-US" dirty="0" err="1" smtClean="0"/>
              <a:t>Std</a:t>
            </a:r>
            <a:r>
              <a:rPr lang="en-US" dirty="0" smtClean="0"/>
              <a:t> </a:t>
            </a:r>
            <a:r>
              <a:rPr lang="en-US" dirty="0" err="1" smtClean="0"/>
              <a:t>dev</a:t>
            </a:r>
            <a:r>
              <a:rPr lang="en-US" dirty="0" smtClean="0"/>
              <a:t> unknown)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smtClean="0"/>
                  <a:t>The </a:t>
                </a:r>
                <a:r>
                  <a:rPr lang="en-US" i="1" dirty="0" smtClean="0"/>
                  <a:t>t</a:t>
                </a:r>
                <a:r>
                  <a:rPr lang="en-US" dirty="0" smtClean="0"/>
                  <a:t> distribution </a:t>
                </a:r>
                <a14:m>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𝜇</m:t>
                        </m:r>
                      </m:num>
                      <m:den>
                        <m:f>
                          <m:fPr>
                            <m:ctrlPr>
                              <a:rPr lang="en-US" i="1">
                                <a:latin typeface="Cambria Math" panose="02040503050406030204" pitchFamily="18" charset="0"/>
                              </a:rPr>
                            </m:ctrlPr>
                          </m:fPr>
                          <m:num>
                            <m:r>
                              <a:rPr lang="en-US" i="1">
                                <a:latin typeface="Cambria Math" panose="02040503050406030204" pitchFamily="18" charset="0"/>
                              </a:rPr>
                              <m:t>𝑆</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den>
                    </m:f>
                  </m:oMath>
                </a14:m>
                <a:r>
                  <a:rPr lang="en-US" dirty="0" smtClean="0"/>
                  <a:t> (table pg. 696)</a:t>
                </a:r>
              </a:p>
              <a:p>
                <a:pPr>
                  <a:lnSpc>
                    <a:spcPct val="90000"/>
                  </a:lnSpc>
                </a:pPr>
                <a:r>
                  <a:rPr lang="en-US" altLang="en-US" sz="2400" dirty="0"/>
                  <a:t>Bell-shaped, symmetric about 0</a:t>
                </a:r>
              </a:p>
              <a:p>
                <a:pPr>
                  <a:lnSpc>
                    <a:spcPct val="90000"/>
                  </a:lnSpc>
                </a:pPr>
                <a:r>
                  <a:rPr lang="en-US" altLang="en-US" sz="2400" dirty="0"/>
                  <a:t>Standard deviation a bit larger than 1 (slightly thicker tails than standard normal distribution, which has mean = 0, standard deviation = 1)</a:t>
                </a:r>
              </a:p>
              <a:p>
                <a:pPr>
                  <a:lnSpc>
                    <a:spcPct val="90000"/>
                  </a:lnSpc>
                </a:pPr>
                <a:r>
                  <a:rPr lang="en-US" altLang="en-US" sz="2400" dirty="0"/>
                  <a:t>Precise shape depends on </a:t>
                </a:r>
                <a:r>
                  <a:rPr lang="en-US" altLang="en-US" sz="2400" b="1" dirty="0"/>
                  <a:t>degrees of freedom</a:t>
                </a:r>
                <a:r>
                  <a:rPr lang="en-US" altLang="en-US" sz="2400" dirty="0"/>
                  <a:t> (</a:t>
                </a:r>
                <a:r>
                  <a:rPr lang="en-US" altLang="en-US" sz="2400" i="1" dirty="0" err="1"/>
                  <a:t>df</a:t>
                </a:r>
                <a:r>
                  <a:rPr lang="en-US" altLang="en-US" sz="2400" dirty="0"/>
                  <a:t>).  For inference about mean</a:t>
                </a:r>
                <a:r>
                  <a:rPr lang="en-US" altLang="en-US" sz="2400" dirty="0" smtClean="0"/>
                  <a:t>, </a:t>
                </a:r>
                <a:r>
                  <a:rPr lang="en-US" altLang="en-US" sz="2400" i="1" dirty="0" err="1"/>
                  <a:t>df</a:t>
                </a:r>
                <a:r>
                  <a:rPr lang="en-US" altLang="en-US" sz="2400" i="1" dirty="0"/>
                  <a:t> = </a:t>
                </a:r>
                <a:r>
                  <a:rPr lang="en-US" altLang="en-US" sz="2400" i="1" dirty="0" smtClean="0"/>
                  <a:t>n-1 </a:t>
                </a:r>
                <a:endParaRPr lang="en-US" altLang="en-US" sz="2400" dirty="0"/>
              </a:p>
              <a:p>
                <a:pPr>
                  <a:lnSpc>
                    <a:spcPct val="90000"/>
                  </a:lnSpc>
                </a:pPr>
                <a:r>
                  <a:rPr lang="en-US" altLang="en-US" sz="2400" dirty="0"/>
                  <a:t>Gets narrower and more closely resembles standard normal distribution as </a:t>
                </a:r>
                <a:r>
                  <a:rPr lang="en-US" altLang="en-US" sz="2400" i="1" dirty="0" err="1"/>
                  <a:t>df</a:t>
                </a:r>
                <a:r>
                  <a:rPr lang="en-US" altLang="en-US" sz="2400" i="1" dirty="0"/>
                  <a:t> </a:t>
                </a:r>
                <a:r>
                  <a:rPr lang="en-US" altLang="en-US" sz="2400" dirty="0"/>
                  <a:t>increases </a:t>
                </a:r>
              </a:p>
              <a:p>
                <a:pPr>
                  <a:lnSpc>
                    <a:spcPct val="90000"/>
                  </a:lnSpc>
                  <a:buFontTx/>
                  <a:buNone/>
                </a:pPr>
                <a:r>
                  <a:rPr lang="en-US" altLang="en-US" sz="2400" dirty="0"/>
                  <a:t>           (nearly identical when </a:t>
                </a:r>
                <a:r>
                  <a:rPr lang="en-US" altLang="en-US" sz="2400" i="1" dirty="0" err="1"/>
                  <a:t>df</a:t>
                </a:r>
                <a:r>
                  <a:rPr lang="en-US" altLang="en-US" sz="2400" i="1" dirty="0"/>
                  <a:t> &gt; 30</a:t>
                </a:r>
                <a:r>
                  <a:rPr lang="en-US" altLang="en-US" sz="2400" dirty="0" smtClean="0"/>
                  <a:t>)</a:t>
                </a:r>
              </a:p>
              <a:p>
                <a:pPr>
                  <a:lnSpc>
                    <a:spcPct val="90000"/>
                  </a:lnSpc>
                </a:pPr>
                <a:r>
                  <a:rPr lang="el-GR" altLang="en-US" sz="2400" dirty="0" smtClean="0">
                    <a:latin typeface="Times New Roman" panose="02020603050405020304" pitchFamily="18" charset="0"/>
                    <a:cs typeface="Times New Roman" panose="02020603050405020304" pitchFamily="18" charset="0"/>
                  </a:rPr>
                  <a:t>α</a:t>
                </a:r>
                <a:r>
                  <a:rPr lang="en-US" altLang="en-US" sz="2400" dirty="0" smtClean="0">
                    <a:latin typeface="Times New Roman" panose="02020603050405020304" pitchFamily="18" charset="0"/>
                    <a:cs typeface="Times New Roman" panose="02020603050405020304" pitchFamily="18" charset="0"/>
                  </a:rPr>
                  <a:t> is </a:t>
                </a:r>
                <a:r>
                  <a:rPr lang="en-US" altLang="en-US" sz="2400" b="1" dirty="0" smtClean="0">
                    <a:latin typeface="Times New Roman" panose="02020603050405020304" pitchFamily="18" charset="0"/>
                    <a:cs typeface="Times New Roman" panose="02020603050405020304" pitchFamily="18" charset="0"/>
                  </a:rPr>
                  <a:t>upper tail area </a:t>
                </a:r>
                <a:r>
                  <a:rPr lang="en-US" altLang="en-US" sz="2400" dirty="0" smtClean="0">
                    <a:latin typeface="Times New Roman" panose="02020603050405020304" pitchFamily="18" charset="0"/>
                    <a:cs typeface="Times New Roman" panose="02020603050405020304" pitchFamily="18" charset="0"/>
                  </a:rPr>
                  <a:t> = 1 – confidence %</a:t>
                </a:r>
                <a:endParaRPr lang="en-US" altLang="en-US" sz="2400" dirty="0"/>
              </a:p>
              <a:p>
                <a:pPr>
                  <a:lnSpc>
                    <a:spcPct val="90000"/>
                  </a:lnSpc>
                </a:pPr>
                <a:r>
                  <a:rPr lang="en-US" altLang="en-US" sz="2400" dirty="0"/>
                  <a:t>CI for mean has margin of error </a:t>
                </a:r>
                <a:r>
                  <a:rPr lang="en-US" altLang="en-US" sz="2400" i="1" dirty="0"/>
                  <a:t>t</a:t>
                </a:r>
                <a:r>
                  <a:rPr lang="en-US" altLang="en-US" sz="2400" dirty="0"/>
                  <a:t>(</a:t>
                </a:r>
                <a:r>
                  <a:rPr lang="en-US" altLang="en-US" sz="2400" i="1" dirty="0"/>
                  <a:t>se</a:t>
                </a:r>
                <a:r>
                  <a:rPr lang="en-US" altLang="en-US" sz="2400" dirty="0" smtClean="0"/>
                  <a:t>), interval estimate </a:t>
                </a:r>
                <a14:m>
                  <m:oMath xmlns:m="http://schemas.openxmlformats.org/officeDocument/2006/math">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𝑋</m:t>
                        </m:r>
                      </m:e>
                    </m:acc>
                    <m:r>
                      <a:rPr lang="en-US" altLang="en-US" sz="24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US" altLang="en-US" sz="2000" b="0" i="1" smtClean="0">
                            <a:latin typeface="Cambria Math" panose="02040503050406030204" pitchFamily="18" charset="0"/>
                          </a:rPr>
                          <m:t>𝑡</m:t>
                        </m:r>
                      </m:e>
                      <m:sub>
                        <m:r>
                          <a:rPr lang="en-US" altLang="en-US" sz="2000" i="1">
                            <a:latin typeface="Cambria Math" panose="02040503050406030204" pitchFamily="18" charset="0"/>
                            <a:ea typeface="Cambria Math" panose="02040503050406030204" pitchFamily="18" charset="0"/>
                          </a:rPr>
                          <m:t>𝛼</m:t>
                        </m:r>
                        <m:r>
                          <a:rPr lang="en-US" altLang="en-US" sz="2000" i="1">
                            <a:latin typeface="Cambria Math" panose="02040503050406030204" pitchFamily="18" charset="0"/>
                            <a:ea typeface="Cambria Math" panose="02040503050406030204" pitchFamily="18" charset="0"/>
                          </a:rPr>
                          <m:t>/2</m:t>
                        </m:r>
                      </m:sub>
                    </m:sSub>
                    <m:f>
                      <m:fPr>
                        <m:ctrlPr>
                          <a:rPr lang="en-US" altLang="en-US" sz="2000" i="1">
                            <a:latin typeface="Cambria Math" panose="02040503050406030204" pitchFamily="18" charset="0"/>
                          </a:rPr>
                        </m:ctrlPr>
                      </m:fPr>
                      <m:num>
                        <m:r>
                          <a:rPr lang="en-US" altLang="en-US" sz="2000" b="0" i="1" smtClean="0">
                            <a:latin typeface="Cambria Math" panose="02040503050406030204" pitchFamily="18" charset="0"/>
                          </a:rPr>
                          <m:t>𝑆</m:t>
                        </m:r>
                      </m:num>
                      <m:den>
                        <m:rad>
                          <m:radPr>
                            <m:degHide m:val="on"/>
                            <m:ctrlPr>
                              <a:rPr lang="en-US" altLang="en-US" sz="2000" i="1">
                                <a:latin typeface="Cambria Math" panose="02040503050406030204" pitchFamily="18" charset="0"/>
                              </a:rPr>
                            </m:ctrlPr>
                          </m:radPr>
                          <m:deg/>
                          <m:e>
                            <m:r>
                              <a:rPr lang="en-US" altLang="en-US" sz="2000" i="1">
                                <a:latin typeface="Cambria Math" panose="02040503050406030204" pitchFamily="18" charset="0"/>
                              </a:rPr>
                              <m:t>𝑛</m:t>
                            </m:r>
                          </m:e>
                        </m:rad>
                      </m:den>
                    </m:f>
                  </m:oMath>
                </a14:m>
                <a:endParaRPr lang="en-US" alt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l="-588" r="-941"/>
                </a:stretch>
              </a:blipFill>
            </p:spPr>
            <p:txBody>
              <a:bodyPr/>
              <a:lstStyle/>
              <a:p>
                <a:r>
                  <a:rPr lang="en-US">
                    <a:noFill/>
                  </a:rPr>
                  <a:t> </a:t>
                </a:r>
              </a:p>
            </p:txBody>
          </p:sp>
        </mc:Fallback>
      </mc:AlternateContent>
    </p:spTree>
    <p:extLst>
      <p:ext uri="{BB962C8B-B14F-4D97-AF65-F5344CB8AC3E}">
        <p14:creationId xmlns:p14="http://schemas.microsoft.com/office/powerpoint/2010/main" val="40162403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smtClean="0"/>
                  <a:t>If sample mean is 100, sample size is 50, sample </a:t>
                </a:r>
                <a:r>
                  <a:rPr lang="en-US" dirty="0" err="1" smtClean="0"/>
                  <a:t>Stdev</a:t>
                </a:r>
                <a:r>
                  <a:rPr lang="en-US" dirty="0" smtClean="0"/>
                  <a:t> </a:t>
                </a:r>
                <a:r>
                  <a:rPr lang="en-US" dirty="0"/>
                  <a:t>is 30, what is 90% confidence interval if pop mean</a:t>
                </a:r>
                <a:r>
                  <a:rPr lang="en-US" dirty="0" smtClean="0"/>
                  <a:t>?</a:t>
                </a:r>
              </a:p>
              <a:p>
                <a:r>
                  <a:rPr lang="en-US" dirty="0" smtClean="0"/>
                  <a:t>Pop. </a:t>
                </a:r>
                <a:r>
                  <a:rPr lang="en-US" dirty="0" err="1" smtClean="0"/>
                  <a:t>Stdev</a:t>
                </a:r>
                <a:r>
                  <a:rPr lang="en-US" dirty="0" smtClean="0"/>
                  <a:t> unknown, use t-table, </a:t>
                </a:r>
                <a:r>
                  <a:rPr lang="en-US" dirty="0" err="1" smtClean="0"/>
                  <a:t>Df</a:t>
                </a:r>
                <a:r>
                  <a:rPr lang="en-US" dirty="0" smtClean="0"/>
                  <a:t>=49</a:t>
                </a:r>
              </a:p>
              <a:p>
                <a:r>
                  <a:rPr lang="en-US" altLang="en-US" sz="2800" dirty="0" smtClean="0"/>
                  <a:t>Interval: </a:t>
                </a:r>
                <a14:m>
                  <m:oMath xmlns:m="http://schemas.openxmlformats.org/officeDocument/2006/math">
                    <m:acc>
                      <m:accPr>
                        <m:chr m:val="̅"/>
                        <m:ctrlPr>
                          <a:rPr lang="en-US" altLang="en-US" sz="2800" i="1">
                            <a:latin typeface="Cambria Math" panose="02040503050406030204" pitchFamily="18" charset="0"/>
                          </a:rPr>
                        </m:ctrlPr>
                      </m:accPr>
                      <m:e>
                        <m:r>
                          <a:rPr lang="en-US" altLang="en-US" sz="2800" i="1">
                            <a:latin typeface="Cambria Math" panose="02040503050406030204" pitchFamily="18" charset="0"/>
                          </a:rPr>
                          <m:t>𝑋</m:t>
                        </m:r>
                      </m:e>
                    </m:acc>
                    <m:r>
                      <a:rPr lang="en-US" altLang="en-US" sz="3200" i="1">
                        <a:latin typeface="Cambria Math" panose="02040503050406030204" pitchFamily="18" charset="0"/>
                        <a:ea typeface="Cambria Math" panose="02040503050406030204" pitchFamily="18" charset="0"/>
                      </a:rPr>
                      <m:t>±</m:t>
                    </m:r>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𝑡</m:t>
                        </m:r>
                      </m:e>
                      <m:sub>
                        <m:r>
                          <a:rPr lang="en-US" altLang="en-US" sz="2800" i="1">
                            <a:latin typeface="Cambria Math" panose="02040503050406030204" pitchFamily="18" charset="0"/>
                            <a:ea typeface="Cambria Math" panose="02040503050406030204" pitchFamily="18" charset="0"/>
                          </a:rPr>
                          <m:t>𝛼</m:t>
                        </m:r>
                        <m:r>
                          <a:rPr lang="en-US" altLang="en-US" sz="2800" i="1">
                            <a:latin typeface="Cambria Math" panose="02040503050406030204" pitchFamily="18" charset="0"/>
                            <a:ea typeface="Cambria Math" panose="02040503050406030204" pitchFamily="18" charset="0"/>
                          </a:rPr>
                          <m:t>/2</m:t>
                        </m:r>
                      </m:sub>
                    </m:sSub>
                    <m:f>
                      <m:fPr>
                        <m:ctrlPr>
                          <a:rPr lang="en-US" altLang="en-US" sz="2800" i="1">
                            <a:latin typeface="Cambria Math" panose="02040503050406030204" pitchFamily="18" charset="0"/>
                          </a:rPr>
                        </m:ctrlPr>
                      </m:fPr>
                      <m:num>
                        <m:r>
                          <a:rPr lang="en-US" altLang="en-US" sz="2800" i="1">
                            <a:latin typeface="Cambria Math" panose="02040503050406030204" pitchFamily="18" charset="0"/>
                          </a:rPr>
                          <m:t>𝑆</m:t>
                        </m:r>
                      </m:num>
                      <m:den>
                        <m:rad>
                          <m:radPr>
                            <m:degHide m:val="on"/>
                            <m:ctrlPr>
                              <a:rPr lang="en-US" altLang="en-US" sz="2800" i="1">
                                <a:latin typeface="Cambria Math" panose="02040503050406030204" pitchFamily="18" charset="0"/>
                              </a:rPr>
                            </m:ctrlPr>
                          </m:radPr>
                          <m:deg/>
                          <m:e>
                            <m:r>
                              <a:rPr lang="en-US" altLang="en-US" sz="2800" i="1">
                                <a:latin typeface="Cambria Math" panose="02040503050406030204" pitchFamily="18" charset="0"/>
                              </a:rPr>
                              <m:t>𝑛</m:t>
                            </m:r>
                          </m:e>
                        </m:rad>
                      </m:den>
                    </m:f>
                    <m:r>
                      <a:rPr lang="en-US" altLang="en-US" sz="2800" b="0" i="1" smtClean="0">
                        <a:latin typeface="Cambria Math" panose="02040503050406030204" pitchFamily="18" charset="0"/>
                      </a:rPr>
                      <m:t>=100±</m:t>
                    </m:r>
                    <m:f>
                      <m:fPr>
                        <m:ctrlPr>
                          <a:rPr lang="en-US" altLang="en-US" sz="2800" b="0" i="1" smtClean="0">
                            <a:latin typeface="Cambria Math" panose="02040503050406030204" pitchFamily="18" charset="0"/>
                          </a:rPr>
                        </m:ctrlPr>
                      </m:fPr>
                      <m:num>
                        <m:r>
                          <a:rPr lang="en-US" altLang="en-US" sz="2800" b="0" i="1" smtClean="0">
                            <a:latin typeface="Cambria Math" panose="02040503050406030204" pitchFamily="18" charset="0"/>
                          </a:rPr>
                          <m:t>30</m:t>
                        </m:r>
                      </m:num>
                      <m:den>
                        <m:rad>
                          <m:radPr>
                            <m:degHide m:val="on"/>
                            <m:ctrlPr>
                              <a:rPr lang="en-US" altLang="en-US" sz="2800" b="0" i="1" smtClean="0">
                                <a:latin typeface="Cambria Math" panose="02040503050406030204" pitchFamily="18" charset="0"/>
                              </a:rPr>
                            </m:ctrlPr>
                          </m:radPr>
                          <m:deg/>
                          <m:e>
                            <m:r>
                              <a:rPr lang="en-US" altLang="en-US" sz="2800" b="0" i="1" smtClean="0">
                                <a:latin typeface="Cambria Math" panose="02040503050406030204" pitchFamily="18" charset="0"/>
                              </a:rPr>
                              <m:t>50</m:t>
                            </m:r>
                          </m:e>
                        </m:rad>
                      </m:den>
                    </m:f>
                    <m:r>
                      <a:rPr lang="en-US" altLang="en-US" sz="2800" b="0" i="1" smtClean="0">
                        <a:latin typeface="Cambria Math" panose="02040503050406030204" pitchFamily="18" charset="0"/>
                      </a:rPr>
                      <m:t>∗1.676=100±7.11</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l="-706" t="-1200"/>
                </a:stretch>
              </a:blipFill>
            </p:spPr>
            <p:txBody>
              <a:bodyPr/>
              <a:lstStyle/>
              <a:p>
                <a:r>
                  <a:rPr lang="en-US">
                    <a:noFill/>
                  </a:rPr>
                  <a:t> </a:t>
                </a:r>
              </a:p>
            </p:txBody>
          </p:sp>
        </mc:Fallback>
      </mc:AlternateContent>
    </p:spTree>
    <p:extLst>
      <p:ext uri="{BB962C8B-B14F-4D97-AF65-F5344CB8AC3E}">
        <p14:creationId xmlns:p14="http://schemas.microsoft.com/office/powerpoint/2010/main" val="2657657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1524000" y="0"/>
            <a:ext cx="9144000" cy="1371600"/>
          </a:xfrm>
        </p:spPr>
        <p:txBody>
          <a:bodyPr/>
          <a:lstStyle/>
          <a:p>
            <a:r>
              <a:rPr lang="en-US" altLang="en-US" dirty="0"/>
              <a:t>Confidence Interval for a Proportion </a:t>
            </a:r>
          </a:p>
        </p:txBody>
      </p:sp>
      <p:sp>
        <p:nvSpPr>
          <p:cNvPr id="159747" name="Rectangle 3"/>
          <p:cNvSpPr>
            <a:spLocks noGrp="1" noChangeArrowheads="1"/>
          </p:cNvSpPr>
          <p:nvPr>
            <p:ph type="body" sz="half" idx="1"/>
          </p:nvPr>
        </p:nvSpPr>
        <p:spPr>
          <a:xfrm>
            <a:off x="1752600" y="1676400"/>
            <a:ext cx="8915400" cy="5181600"/>
          </a:xfrm>
        </p:spPr>
        <p:txBody>
          <a:bodyPr/>
          <a:lstStyle/>
          <a:p>
            <a:r>
              <a:rPr lang="en-US" altLang="en-US" sz="2400"/>
              <a:t>Recall that the sample proportion      is a mean when we let </a:t>
            </a:r>
          </a:p>
          <a:p>
            <a:pPr>
              <a:buFontTx/>
              <a:buNone/>
            </a:pPr>
            <a:r>
              <a:rPr lang="en-US" altLang="en-US" sz="2400"/>
              <a:t>    y = 1 for observation in category of interest, y = 0 otherwise</a:t>
            </a:r>
          </a:p>
          <a:p>
            <a:endParaRPr lang="en-US" altLang="en-US" sz="2400"/>
          </a:p>
          <a:p>
            <a:r>
              <a:rPr lang="en-US" altLang="en-US" sz="2400"/>
              <a:t>Recall the population proportion is mean </a:t>
            </a:r>
            <a:r>
              <a:rPr lang="en-US" altLang="en-US" sz="2400">
                <a:cs typeface="Arial" panose="020B0604020202020204" pitchFamily="34" charset="0"/>
              </a:rPr>
              <a:t>µ of prob. dist having</a:t>
            </a:r>
          </a:p>
          <a:p>
            <a:endParaRPr lang="en-US" altLang="en-US" sz="2400">
              <a:cs typeface="Arial" panose="020B0604020202020204" pitchFamily="34" charset="0"/>
            </a:endParaRPr>
          </a:p>
          <a:p>
            <a:endParaRPr lang="en-US" altLang="en-US" sz="2400">
              <a:cs typeface="Arial" panose="020B0604020202020204" pitchFamily="34" charset="0"/>
            </a:endParaRPr>
          </a:p>
          <a:p>
            <a:r>
              <a:rPr lang="en-US" altLang="en-US" sz="2400">
                <a:cs typeface="Arial" panose="020B0604020202020204" pitchFamily="34" charset="0"/>
              </a:rPr>
              <a:t>The standard deviation of this probability distribution is</a:t>
            </a:r>
          </a:p>
          <a:p>
            <a:endParaRPr lang="en-US" altLang="en-US" sz="2400">
              <a:cs typeface="Arial" panose="020B0604020202020204" pitchFamily="34" charset="0"/>
            </a:endParaRPr>
          </a:p>
          <a:p>
            <a:pPr>
              <a:buFontTx/>
              <a:buNone/>
            </a:pPr>
            <a:endParaRPr lang="en-US" altLang="en-US" sz="2400">
              <a:cs typeface="Arial" panose="020B0604020202020204" pitchFamily="34" charset="0"/>
            </a:endParaRPr>
          </a:p>
          <a:p>
            <a:r>
              <a:rPr lang="en-US" altLang="en-US" sz="2400">
                <a:cs typeface="Arial" panose="020B0604020202020204" pitchFamily="34" charset="0"/>
              </a:rPr>
              <a:t>The standard error of the sample proportion is</a:t>
            </a:r>
          </a:p>
          <a:p>
            <a:endParaRPr lang="en-US" altLang="en-US" sz="2400"/>
          </a:p>
        </p:txBody>
      </p:sp>
      <p:graphicFrame>
        <p:nvGraphicFramePr>
          <p:cNvPr id="159748" name="Object 4"/>
          <p:cNvGraphicFramePr>
            <a:graphicFrameLocks noGrp="1" noChangeAspect="1"/>
          </p:cNvGraphicFramePr>
          <p:nvPr>
            <p:ph sz="quarter" idx="2"/>
          </p:nvPr>
        </p:nvGraphicFramePr>
        <p:xfrm>
          <a:off x="4343400" y="3505201"/>
          <a:ext cx="4191000" cy="544513"/>
        </p:xfrm>
        <a:graphic>
          <a:graphicData uri="http://schemas.openxmlformats.org/presentationml/2006/ole">
            <mc:AlternateContent xmlns:mc="http://schemas.openxmlformats.org/markup-compatibility/2006">
              <mc:Choice xmlns:v="urn:schemas-microsoft-com:vml" Requires="v">
                <p:oleObj spid="_x0000_s3138" name="Equation" r:id="rId4" imgW="1562040" imgH="203040" progId="Equation.DSMT4">
                  <p:embed/>
                </p:oleObj>
              </mc:Choice>
              <mc:Fallback>
                <p:oleObj name="Equation" r:id="rId4" imgW="1562040" imgH="2030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3505201"/>
                        <a:ext cx="4191000" cy="54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9752" name="Object 8"/>
          <p:cNvGraphicFramePr>
            <a:graphicFrameLocks noGrp="1" noChangeAspect="1"/>
          </p:cNvGraphicFramePr>
          <p:nvPr>
            <p:ph sz="quarter" idx="3"/>
          </p:nvPr>
        </p:nvGraphicFramePr>
        <p:xfrm>
          <a:off x="2895600" y="4724401"/>
          <a:ext cx="5867400" cy="587375"/>
        </p:xfrm>
        <a:graphic>
          <a:graphicData uri="http://schemas.openxmlformats.org/presentationml/2006/ole">
            <mc:AlternateContent xmlns:mc="http://schemas.openxmlformats.org/markup-compatibility/2006">
              <mc:Choice xmlns:v="urn:schemas-microsoft-com:vml" Requires="v">
                <p:oleObj spid="_x0000_s3139" name="Equation" r:id="rId6" imgW="2539800" imgH="253800" progId="Equation.DSMT4">
                  <p:embed/>
                </p:oleObj>
              </mc:Choice>
              <mc:Fallback>
                <p:oleObj name="Equation" r:id="rId6" imgW="2539800" imgH="2538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5600" y="4724401"/>
                        <a:ext cx="586740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9754" name="Object 10"/>
          <p:cNvGraphicFramePr>
            <a:graphicFrameLocks noChangeAspect="1"/>
          </p:cNvGraphicFramePr>
          <p:nvPr/>
        </p:nvGraphicFramePr>
        <p:xfrm>
          <a:off x="3276600" y="6096000"/>
          <a:ext cx="4114800" cy="623888"/>
        </p:xfrm>
        <a:graphic>
          <a:graphicData uri="http://schemas.openxmlformats.org/presentationml/2006/ole">
            <mc:AlternateContent xmlns:mc="http://schemas.openxmlformats.org/markup-compatibility/2006">
              <mc:Choice xmlns:v="urn:schemas-microsoft-com:vml" Requires="v">
                <p:oleObj spid="_x0000_s3140" name="Equation" r:id="rId8" imgW="1676160" imgH="253800" progId="Equation.DSMT4">
                  <p:embed/>
                </p:oleObj>
              </mc:Choice>
              <mc:Fallback>
                <p:oleObj name="Equation" r:id="rId8" imgW="1676160" imgH="2538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6096000"/>
                        <a:ext cx="4114800"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9756" name="Object 12"/>
          <p:cNvGraphicFramePr>
            <a:graphicFrameLocks noChangeAspect="1"/>
          </p:cNvGraphicFramePr>
          <p:nvPr>
            <p:extLst/>
          </p:nvPr>
        </p:nvGraphicFramePr>
        <p:xfrm>
          <a:off x="5829300" y="1676400"/>
          <a:ext cx="358775" cy="457200"/>
        </p:xfrm>
        <a:graphic>
          <a:graphicData uri="http://schemas.openxmlformats.org/presentationml/2006/ole">
            <mc:AlternateContent xmlns:mc="http://schemas.openxmlformats.org/markup-compatibility/2006">
              <mc:Choice xmlns:v="urn:schemas-microsoft-com:vml" Requires="v">
                <p:oleObj spid="_x0000_s3141" name="Equation" r:id="rId10" imgW="139680" imgH="177480" progId="Equation.DSMT4">
                  <p:embed/>
                </p:oleObj>
              </mc:Choice>
              <mc:Fallback>
                <p:oleObj name="Equation" r:id="rId10" imgW="139680" imgH="17748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29300" y="1676400"/>
                        <a:ext cx="3587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088903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Proportions continued</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sz="half" idx="1"/>
              </p:nvPr>
            </p:nvSpPr>
            <p:spPr>
              <a:xfrm>
                <a:off x="609600" y="1600202"/>
                <a:ext cx="10827224" cy="4486700"/>
              </a:xfrm>
            </p:spPr>
            <p:txBody>
              <a:bodyPr/>
              <a:lstStyle/>
              <a:p>
                <a:r>
                  <a:rPr lang="en-US" dirty="0" smtClean="0"/>
                  <a:t>Thus, confidence interval for proportion is</a:t>
                </a:r>
              </a:p>
              <a:p>
                <a:pPr marL="0" indent="0">
                  <a:buNone/>
                </a:pPr>
                <a14:m>
                  <m:oMathPara xmlns:m="http://schemas.openxmlformats.org/officeDocument/2006/math">
                    <m:oMathParaPr>
                      <m:jc m:val="centerGroup"/>
                    </m:oMathParaPr>
                    <m:oMath xmlns:m="http://schemas.openxmlformats.org/officeDocument/2006/math">
                      <m:r>
                        <a:rPr lang="en-US" altLang="en-US" sz="2800" b="0" i="1" smtClean="0">
                          <a:latin typeface="Cambria Math" panose="02040503050406030204" pitchFamily="18" charset="0"/>
                        </a:rPr>
                        <m:t>𝑝</m:t>
                      </m:r>
                      <m:r>
                        <a:rPr lang="en-US" altLang="en-US" sz="2800" i="1">
                          <a:latin typeface="Cambria Math" panose="02040503050406030204" pitchFamily="18" charset="0"/>
                          <a:ea typeface="Cambria Math" panose="02040503050406030204" pitchFamily="18" charset="0"/>
                        </a:rPr>
                        <m:t>±</m:t>
                      </m:r>
                      <m:sSub>
                        <m:sSubPr>
                          <m:ctrlPr>
                            <a:rPr lang="en-US" altLang="en-US" sz="2800" i="1">
                              <a:latin typeface="Cambria Math" panose="02040503050406030204" pitchFamily="18" charset="0"/>
                            </a:rPr>
                          </m:ctrlPr>
                        </m:sSubPr>
                        <m:e>
                          <m:r>
                            <a:rPr lang="en-US" altLang="en-US" sz="2800" b="0" i="1" smtClean="0">
                              <a:latin typeface="Cambria Math" panose="02040503050406030204" pitchFamily="18" charset="0"/>
                            </a:rPr>
                            <m:t>𝑍</m:t>
                          </m:r>
                        </m:e>
                        <m:sub>
                          <m:r>
                            <a:rPr lang="en-US" altLang="en-US" sz="2800" i="1">
                              <a:latin typeface="Cambria Math" panose="02040503050406030204" pitchFamily="18" charset="0"/>
                              <a:ea typeface="Cambria Math" panose="02040503050406030204" pitchFamily="18" charset="0"/>
                            </a:rPr>
                            <m:t>𝛼</m:t>
                          </m:r>
                          <m:r>
                            <a:rPr lang="en-US" altLang="en-US" sz="2800" i="1">
                              <a:latin typeface="Cambria Math" panose="02040503050406030204" pitchFamily="18" charset="0"/>
                              <a:ea typeface="Cambria Math" panose="02040503050406030204" pitchFamily="18" charset="0"/>
                            </a:rPr>
                            <m:t>/2</m:t>
                          </m:r>
                        </m:sub>
                      </m:sSub>
                      <m:rad>
                        <m:radPr>
                          <m:degHide m:val="on"/>
                          <m:ctrlPr>
                            <a:rPr lang="en-US" altLang="en-US" sz="2800" i="1" smtClean="0">
                              <a:latin typeface="Cambria Math" panose="02040503050406030204" pitchFamily="18" charset="0"/>
                              <a:ea typeface="Cambria Math" panose="02040503050406030204" pitchFamily="18" charset="0"/>
                            </a:rPr>
                          </m:ctrlPr>
                        </m:radPr>
                        <m:deg/>
                        <m:e>
                          <m:f>
                            <m:fPr>
                              <m:ctrlPr>
                                <a:rPr lang="en-US" altLang="en-US" sz="2800" b="0" i="1" smtClean="0">
                                  <a:latin typeface="Cambria Math" panose="02040503050406030204" pitchFamily="18" charset="0"/>
                                  <a:ea typeface="Cambria Math" panose="02040503050406030204" pitchFamily="18" charset="0"/>
                                </a:rPr>
                              </m:ctrlPr>
                            </m:fPr>
                            <m:num>
                              <m:r>
                                <a:rPr lang="en-US" altLang="en-US" sz="2800" i="1">
                                  <a:latin typeface="Cambria Math" panose="02040503050406030204" pitchFamily="18" charset="0"/>
                                  <a:ea typeface="Cambria Math" panose="02040503050406030204" pitchFamily="18" charset="0"/>
                                </a:rPr>
                                <m:t>𝑝</m:t>
                              </m:r>
                              <m:r>
                                <a:rPr lang="en-US" altLang="en-US" sz="2800" i="1">
                                  <a:latin typeface="Cambria Math" panose="02040503050406030204" pitchFamily="18" charset="0"/>
                                  <a:ea typeface="Cambria Math" panose="02040503050406030204" pitchFamily="18" charset="0"/>
                                </a:rPr>
                                <m:t>(1−</m:t>
                              </m:r>
                              <m:r>
                                <a:rPr lang="en-US" altLang="en-US" sz="2800" i="1">
                                  <a:latin typeface="Cambria Math" panose="02040503050406030204" pitchFamily="18" charset="0"/>
                                  <a:ea typeface="Cambria Math" panose="02040503050406030204" pitchFamily="18" charset="0"/>
                                </a:rPr>
                                <m:t>𝑝</m:t>
                              </m:r>
                              <m:r>
                                <a:rPr lang="en-US" altLang="en-US" sz="2800" i="1">
                                  <a:latin typeface="Cambria Math" panose="02040503050406030204" pitchFamily="18" charset="0"/>
                                  <a:ea typeface="Cambria Math" panose="02040503050406030204" pitchFamily="18" charset="0"/>
                                </a:rPr>
                                <m:t>)</m:t>
                              </m:r>
                            </m:num>
                            <m:den>
                              <m:r>
                                <a:rPr lang="en-US" altLang="en-US" sz="2800" b="0" i="1" smtClean="0">
                                  <a:latin typeface="Cambria Math" panose="02040503050406030204" pitchFamily="18" charset="0"/>
                                  <a:ea typeface="Cambria Math" panose="02040503050406030204" pitchFamily="18" charset="0"/>
                                </a:rPr>
                                <m:t>𝑛</m:t>
                              </m:r>
                            </m:den>
                          </m:f>
                        </m:e>
                      </m:rad>
                    </m:oMath>
                  </m:oMathPara>
                </a14:m>
                <a:endParaRPr lang="en-US" dirty="0" smtClean="0"/>
              </a:p>
              <a:p>
                <a:pPr marL="0" indent="0">
                  <a:buNone/>
                </a:pPr>
                <a:r>
                  <a:rPr lang="en-US" dirty="0" smtClean="0"/>
                  <a:t>If out of 100 people, 62 say they prefer Coke to Pepsi, what is the 99% confidence interval?</a:t>
                </a:r>
              </a:p>
              <a:p>
                <a:r>
                  <a:rPr lang="en-US" dirty="0" smtClean="0"/>
                  <a:t>p=62/100=0.62</a:t>
                </a:r>
              </a:p>
              <a:p>
                <a:r>
                  <a:rPr lang="en-US" dirty="0" smtClean="0"/>
                  <a:t>Interval: </a:t>
                </a:r>
                <a14:m>
                  <m:oMath xmlns:m="http://schemas.openxmlformats.org/officeDocument/2006/math">
                    <m:r>
                      <a:rPr lang="en-US" b="0" i="1" smtClean="0">
                        <a:latin typeface="Cambria Math" panose="02040503050406030204" pitchFamily="18" charset="0"/>
                      </a:rPr>
                      <m:t>0.62±</m:t>
                    </m:r>
                    <m:r>
                      <a:rPr lang="en-US" b="0" i="0" smtClean="0">
                        <a:latin typeface="Cambria Math" panose="02040503050406030204" pitchFamily="18" charset="0"/>
                      </a:rPr>
                      <m:t>2.576</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0.62∗0.38</m:t>
                            </m:r>
                          </m:num>
                          <m:den>
                            <m:r>
                              <a:rPr lang="en-US" b="0" i="1" smtClean="0">
                                <a:latin typeface="Cambria Math" panose="02040503050406030204" pitchFamily="18" charset="0"/>
                              </a:rPr>
                              <m:t>100</m:t>
                            </m:r>
                          </m:den>
                        </m:f>
                      </m:e>
                    </m:rad>
                    <m:r>
                      <a:rPr lang="en-US" b="0" i="1" smtClean="0">
                        <a:latin typeface="Cambria Math" panose="02040503050406030204" pitchFamily="18" charset="0"/>
                      </a:rPr>
                      <m:t>=0.62±0.125</m:t>
                    </m:r>
                  </m:oMath>
                </a14:m>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sz="half" idx="1"/>
              </p:nvPr>
            </p:nvSpPr>
            <p:spPr>
              <a:xfrm>
                <a:off x="609600" y="1600202"/>
                <a:ext cx="10827224" cy="4486700"/>
              </a:xfrm>
              <a:blipFill rotWithShape="0">
                <a:blip r:embed="rId2"/>
                <a:stretch>
                  <a:fillRect l="-1014" t="-1223"/>
                </a:stretch>
              </a:blipFill>
            </p:spPr>
            <p:txBody>
              <a:bodyPr/>
              <a:lstStyle/>
              <a:p>
                <a:r>
                  <a:rPr lang="en-US">
                    <a:noFill/>
                  </a:rPr>
                  <a:t> </a:t>
                </a:r>
              </a:p>
            </p:txBody>
          </p:sp>
        </mc:Fallback>
      </mc:AlternateContent>
    </p:spTree>
    <p:extLst>
      <p:ext uri="{BB962C8B-B14F-4D97-AF65-F5344CB8AC3E}">
        <p14:creationId xmlns:p14="http://schemas.microsoft.com/office/powerpoint/2010/main" val="29926845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Determining Sample Size</a:t>
            </a:r>
            <a:endParaRPr lang="en-US" dirty="0"/>
          </a:p>
        </p:txBody>
      </p:sp>
      <mc:AlternateContent xmlns:mc="http://schemas.openxmlformats.org/markup-compatibility/2006" xmlns:a14="http://schemas.microsoft.com/office/drawing/2010/main">
        <mc:Choice Requires="a14">
          <p:sp>
            <p:nvSpPr>
              <p:cNvPr id="7" name="Content Placeholder 6"/>
              <p:cNvSpPr>
                <a:spLocks noGrp="1"/>
              </p:cNvSpPr>
              <p:nvPr>
                <p:ph sz="quarter" idx="1"/>
              </p:nvPr>
            </p:nvSpPr>
            <p:spPr/>
            <p:txBody>
              <a:bodyPr/>
              <a:lstStyle/>
              <a:p>
                <a:r>
                  <a:rPr lang="en-US" dirty="0" smtClean="0"/>
                  <a:t>The sampling error for mean is Err.</a:t>
                </a:r>
                <a14:m>
                  <m:oMath xmlns:m="http://schemas.openxmlformats.org/officeDocument/2006/math">
                    <m:r>
                      <a:rPr lang="en-US" b="0" i="1" smtClean="0">
                        <a:latin typeface="Cambria Math" panose="02040503050406030204" pitchFamily="18" charset="0"/>
                      </a:rPr>
                      <m:t>=</m:t>
                    </m:r>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𝑍</m:t>
                        </m:r>
                      </m:e>
                      <m:sub>
                        <m:r>
                          <a:rPr lang="en-US" altLang="en-US" sz="2400" i="1">
                            <a:latin typeface="Cambria Math" panose="02040503050406030204" pitchFamily="18" charset="0"/>
                            <a:ea typeface="Cambria Math" panose="02040503050406030204" pitchFamily="18" charset="0"/>
                          </a:rPr>
                          <m:t>𝛼</m:t>
                        </m:r>
                        <m:r>
                          <a:rPr lang="en-US" altLang="en-US" sz="2400" i="1">
                            <a:latin typeface="Cambria Math" panose="02040503050406030204" pitchFamily="18" charset="0"/>
                            <a:ea typeface="Cambria Math" panose="02040503050406030204" pitchFamily="18" charset="0"/>
                          </a:rPr>
                          <m:t>/2</m:t>
                        </m:r>
                      </m:sub>
                    </m:sSub>
                    <m:f>
                      <m:fPr>
                        <m:ctrlPr>
                          <a:rPr lang="en-US" altLang="en-US" sz="2400" i="1">
                            <a:latin typeface="Cambria Math" panose="02040503050406030204" pitchFamily="18" charset="0"/>
                          </a:rPr>
                        </m:ctrlPr>
                      </m:fPr>
                      <m:num>
                        <m:r>
                          <a:rPr lang="en-US" altLang="en-US" sz="2400" i="1">
                            <a:latin typeface="Cambria Math" panose="02040503050406030204" pitchFamily="18" charset="0"/>
                            <a:ea typeface="Cambria Math" panose="02040503050406030204" pitchFamily="18" charset="0"/>
                          </a:rPr>
                          <m:t>𝜎</m:t>
                        </m:r>
                      </m:num>
                      <m:den>
                        <m:rad>
                          <m:radPr>
                            <m:degHide m:val="on"/>
                            <m:ctrlPr>
                              <a:rPr lang="en-US" altLang="en-US" sz="2400" i="1">
                                <a:latin typeface="Cambria Math" panose="02040503050406030204" pitchFamily="18" charset="0"/>
                              </a:rPr>
                            </m:ctrlPr>
                          </m:radPr>
                          <m:deg/>
                          <m:e>
                            <m:r>
                              <a:rPr lang="en-US" altLang="en-US" sz="2400" i="1">
                                <a:latin typeface="Cambria Math" panose="02040503050406030204" pitchFamily="18" charset="0"/>
                              </a:rPr>
                              <m:t>𝑛</m:t>
                            </m:r>
                          </m:e>
                        </m:rad>
                      </m:den>
                    </m:f>
                  </m:oMath>
                </a14:m>
                <a:endParaRPr lang="en-US" dirty="0" smtClean="0"/>
              </a:p>
              <a:p>
                <a:r>
                  <a:rPr lang="en-US" dirty="0" smtClean="0"/>
                  <a:t>The sample size</a:t>
                </a:r>
                <a:r>
                  <a:rPr lang="en-US" dirty="0" smtClean="0">
                    <a:latin typeface="Times New Roman" panose="02020603050405020304" pitchFamily="18" charset="0"/>
                    <a:cs typeface="Times New Roman" panose="02020603050405020304" pitchFamily="18" charset="0"/>
                  </a:rPr>
                  <a:t> is</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𝑍</m:t>
                                </m:r>
                              </m:e>
                              <m:sub>
                                <m:r>
                                  <a:rPr lang="en-US" altLang="en-US" sz="2400" i="1">
                                    <a:latin typeface="Cambria Math" panose="02040503050406030204" pitchFamily="18" charset="0"/>
                                    <a:ea typeface="Cambria Math" panose="02040503050406030204" pitchFamily="18" charset="0"/>
                                  </a:rPr>
                                  <m:t>𝛼</m:t>
                                </m:r>
                                <m:r>
                                  <a:rPr lang="en-US" altLang="en-US" sz="2400" i="1">
                                    <a:latin typeface="Cambria Math" panose="02040503050406030204" pitchFamily="18" charset="0"/>
                                    <a:ea typeface="Cambria Math" panose="02040503050406030204" pitchFamily="18" charset="0"/>
                                  </a:rPr>
                                  <m:t>/2</m:t>
                                </m:r>
                              </m:sub>
                            </m:sSub>
                          </m:e>
                          <m:sup>
                            <m:r>
                              <a:rPr lang="en-US" b="0" i="1" smtClean="0">
                                <a:latin typeface="Cambria Math" panose="02040503050406030204" pitchFamily="18" charset="0"/>
                              </a:rPr>
                              <m:t>2</m:t>
                            </m:r>
                          </m:sup>
                        </m:sSup>
                        <m:sSup>
                          <m:sSupPr>
                            <m:ctrlPr>
                              <a:rPr lang="en-US" altLang="en-US" sz="2400" i="1" smtClean="0">
                                <a:latin typeface="Cambria Math" panose="02040503050406030204" pitchFamily="18" charset="0"/>
                                <a:ea typeface="Cambria Math" panose="02040503050406030204" pitchFamily="18" charset="0"/>
                              </a:rPr>
                            </m:ctrlPr>
                          </m:sSupPr>
                          <m:e>
                            <m:r>
                              <a:rPr lang="en-US" altLang="en-US" sz="2400" i="1" smtClean="0">
                                <a:latin typeface="Cambria Math" panose="02040503050406030204" pitchFamily="18" charset="0"/>
                                <a:ea typeface="Cambria Math" panose="02040503050406030204" pitchFamily="18" charset="0"/>
                              </a:rPr>
                              <m:t>𝜎</m:t>
                            </m:r>
                          </m:e>
                          <m:sup>
                            <m:r>
                              <a:rPr lang="en-US" altLang="en-US" sz="2400"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𝐸𝑟𝑟</m:t>
                            </m:r>
                            <m:r>
                              <a:rPr lang="en-US" b="0" i="1" smtClean="0">
                                <a:latin typeface="Cambria Math" panose="02040503050406030204" pitchFamily="18" charset="0"/>
                              </a:rPr>
                              <m:t>.</m:t>
                            </m:r>
                          </m:e>
                          <m:sup>
                            <m:r>
                              <a:rPr lang="en-US" b="0" i="1" smtClean="0">
                                <a:latin typeface="Cambria Math" panose="02040503050406030204" pitchFamily="18" charset="0"/>
                              </a:rPr>
                              <m:t>2</m:t>
                            </m:r>
                          </m:sup>
                        </m:sSup>
                      </m:den>
                    </m:f>
                  </m:oMath>
                </a14:m>
                <a:endParaRPr lang="en-US" dirty="0" smtClean="0"/>
              </a:p>
              <a:p>
                <a:endParaRPr lang="en-US" dirty="0"/>
              </a:p>
              <a:p>
                <a:r>
                  <a:rPr lang="en-US" dirty="0" smtClean="0"/>
                  <a:t>The sampling error for proportion is Err.=</a:t>
                </a:r>
                <a14:m>
                  <m:oMath xmlns:m="http://schemas.openxmlformats.org/officeDocument/2006/math">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𝑍</m:t>
                        </m:r>
                      </m:e>
                      <m:sub>
                        <m:r>
                          <a:rPr lang="en-US" altLang="en-US" sz="2800" i="1">
                            <a:latin typeface="Cambria Math" panose="02040503050406030204" pitchFamily="18" charset="0"/>
                            <a:ea typeface="Cambria Math" panose="02040503050406030204" pitchFamily="18" charset="0"/>
                          </a:rPr>
                          <m:t>𝛼</m:t>
                        </m:r>
                        <m:r>
                          <a:rPr lang="en-US" altLang="en-US" sz="2800" i="1">
                            <a:latin typeface="Cambria Math" panose="02040503050406030204" pitchFamily="18" charset="0"/>
                            <a:ea typeface="Cambria Math" panose="02040503050406030204" pitchFamily="18" charset="0"/>
                          </a:rPr>
                          <m:t>/2</m:t>
                        </m:r>
                      </m:sub>
                    </m:sSub>
                    <m:rad>
                      <m:radPr>
                        <m:degHide m:val="on"/>
                        <m:ctrlPr>
                          <a:rPr lang="en-US" altLang="en-US" sz="2800" i="1" smtClean="0">
                            <a:latin typeface="Cambria Math" panose="02040503050406030204" pitchFamily="18" charset="0"/>
                            <a:ea typeface="Cambria Math" panose="02040503050406030204" pitchFamily="18" charset="0"/>
                          </a:rPr>
                        </m:ctrlPr>
                      </m:radPr>
                      <m:deg/>
                      <m:e>
                        <m:f>
                          <m:fPr>
                            <m:ctrlPr>
                              <a:rPr lang="en-US" altLang="en-US" sz="2800" i="1" smtClean="0">
                                <a:latin typeface="Cambria Math" panose="02040503050406030204" pitchFamily="18" charset="0"/>
                                <a:ea typeface="Cambria Math" panose="02040503050406030204" pitchFamily="18" charset="0"/>
                              </a:rPr>
                            </m:ctrlPr>
                          </m:fPr>
                          <m:num>
                            <m:r>
                              <a:rPr lang="en-US" altLang="en-US" sz="2800" i="1" smtClean="0">
                                <a:latin typeface="Cambria Math" panose="02040503050406030204" pitchFamily="18" charset="0"/>
                                <a:ea typeface="Cambria Math" panose="02040503050406030204" pitchFamily="18" charset="0"/>
                              </a:rPr>
                              <m:t>𝜋</m:t>
                            </m:r>
                            <m:r>
                              <a:rPr lang="en-US" altLang="en-US" sz="2800" b="0" i="1" smtClean="0">
                                <a:latin typeface="Cambria Math" panose="02040503050406030204" pitchFamily="18" charset="0"/>
                                <a:ea typeface="Cambria Math" panose="02040503050406030204" pitchFamily="18" charset="0"/>
                              </a:rPr>
                              <m:t>(1−</m:t>
                            </m:r>
                            <m:r>
                              <a:rPr lang="en-US" altLang="en-US" sz="2800" b="0" i="1" smtClean="0">
                                <a:latin typeface="Cambria Math" panose="02040503050406030204" pitchFamily="18" charset="0"/>
                                <a:ea typeface="Cambria Math" panose="02040503050406030204" pitchFamily="18" charset="0"/>
                              </a:rPr>
                              <m:t>𝜋</m:t>
                            </m:r>
                            <m:r>
                              <a:rPr lang="en-US" altLang="en-US" sz="2800" b="0" i="1" smtClean="0">
                                <a:latin typeface="Cambria Math" panose="02040503050406030204" pitchFamily="18" charset="0"/>
                                <a:ea typeface="Cambria Math" panose="02040503050406030204" pitchFamily="18" charset="0"/>
                              </a:rPr>
                              <m:t>)</m:t>
                            </m:r>
                          </m:num>
                          <m:den>
                            <m:r>
                              <a:rPr lang="en-US" altLang="en-US" sz="2800" b="0" i="1" smtClean="0">
                                <a:latin typeface="Cambria Math" panose="02040503050406030204" pitchFamily="18" charset="0"/>
                                <a:ea typeface="Cambria Math" panose="02040503050406030204" pitchFamily="18" charset="0"/>
                              </a:rPr>
                              <m:t>𝑛</m:t>
                            </m:r>
                          </m:den>
                        </m:f>
                      </m:e>
                    </m:rad>
                  </m:oMath>
                </a14:m>
                <a:endParaRPr lang="en-US" altLang="en-US" sz="2800" dirty="0" smtClean="0">
                  <a:ea typeface="Cambria Math" panose="02040503050406030204" pitchFamily="18" charset="0"/>
                </a:endParaRPr>
              </a:p>
              <a:p>
                <a:r>
                  <a:rPr lang="en-US" dirty="0" smtClean="0"/>
                  <a:t>Sample size: </a:t>
                </a:r>
                <a14:m>
                  <m:oMath xmlns:m="http://schemas.openxmlformats.org/officeDocument/2006/math">
                    <m:r>
                      <a:rPr lang="en-US" sz="2400" i="1">
                        <a:latin typeface="Cambria Math" panose="02040503050406030204" pitchFamily="18" charset="0"/>
                      </a:rPr>
                      <m:t>𝑛</m:t>
                    </m:r>
                    <m:r>
                      <a:rPr lang="en-US" sz="2400" i="1" smtClean="0">
                        <a:latin typeface="Cambria Math" panose="02040503050406030204" pitchFamily="18" charset="0"/>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𝑍</m:t>
                                </m:r>
                              </m:e>
                              <m:sub>
                                <m:r>
                                  <a:rPr lang="en-US" altLang="en-US" sz="2000" i="1">
                                    <a:latin typeface="Cambria Math" panose="02040503050406030204" pitchFamily="18" charset="0"/>
                                    <a:ea typeface="Cambria Math" panose="02040503050406030204" pitchFamily="18" charset="0"/>
                                  </a:rPr>
                                  <m:t>𝛼</m:t>
                                </m:r>
                                <m:r>
                                  <a:rPr lang="en-US" altLang="en-US" sz="2000" i="1">
                                    <a:latin typeface="Cambria Math" panose="02040503050406030204" pitchFamily="18" charset="0"/>
                                    <a:ea typeface="Cambria Math" panose="02040503050406030204" pitchFamily="18" charset="0"/>
                                  </a:rPr>
                                  <m:t>/2</m:t>
                                </m:r>
                              </m:sub>
                            </m:sSub>
                          </m:e>
                          <m:sup>
                            <m:r>
                              <a:rPr lang="en-US" sz="2400" i="1">
                                <a:latin typeface="Cambria Math" panose="02040503050406030204" pitchFamily="18" charset="0"/>
                              </a:rPr>
                              <m:t>2</m:t>
                            </m:r>
                          </m:sup>
                        </m:sSup>
                        <m:r>
                          <a:rPr lang="en-US" altLang="en-US" sz="2400" i="1">
                            <a:latin typeface="Cambria Math" panose="02040503050406030204" pitchFamily="18" charset="0"/>
                            <a:ea typeface="Cambria Math" panose="02040503050406030204" pitchFamily="18" charset="0"/>
                          </a:rPr>
                          <m:t>𝜋</m:t>
                        </m:r>
                        <m:r>
                          <a:rPr lang="en-US" altLang="en-US" sz="2400" i="1">
                            <a:latin typeface="Cambria Math" panose="02040503050406030204" pitchFamily="18" charset="0"/>
                            <a:ea typeface="Cambria Math" panose="02040503050406030204" pitchFamily="18" charset="0"/>
                          </a:rPr>
                          <m:t>(1−</m:t>
                        </m:r>
                        <m:r>
                          <a:rPr lang="en-US" altLang="en-US" sz="2400" i="1">
                            <a:latin typeface="Cambria Math" panose="02040503050406030204" pitchFamily="18" charset="0"/>
                            <a:ea typeface="Cambria Math" panose="02040503050406030204" pitchFamily="18" charset="0"/>
                          </a:rPr>
                          <m:t>𝜋</m:t>
                        </m:r>
                        <m:r>
                          <a:rPr lang="en-US" altLang="en-US" sz="2400" i="1">
                            <a:latin typeface="Cambria Math" panose="02040503050406030204" pitchFamily="18" charset="0"/>
                            <a:ea typeface="Cambria Math" panose="02040503050406030204" pitchFamily="18" charset="0"/>
                          </a:rPr>
                          <m:t>)</m:t>
                        </m:r>
                      </m:num>
                      <m:den>
                        <m:sSup>
                          <m:sSupPr>
                            <m:ctrlPr>
                              <a:rPr lang="en-US" sz="2400" i="1">
                                <a:latin typeface="Cambria Math" panose="02040503050406030204" pitchFamily="18" charset="0"/>
                              </a:rPr>
                            </m:ctrlPr>
                          </m:sSupPr>
                          <m:e>
                            <m:r>
                              <a:rPr lang="en-US" sz="2400" i="1">
                                <a:latin typeface="Cambria Math" panose="02040503050406030204" pitchFamily="18" charset="0"/>
                              </a:rPr>
                              <m:t>𝐸𝑟𝑟</m:t>
                            </m:r>
                            <m:r>
                              <a:rPr lang="en-US" sz="2400" i="1">
                                <a:latin typeface="Cambria Math" panose="02040503050406030204" pitchFamily="18" charset="0"/>
                              </a:rPr>
                              <m:t>.</m:t>
                            </m:r>
                          </m:e>
                          <m:sup>
                            <m:r>
                              <a:rPr lang="en-US" sz="2400" i="1">
                                <a:latin typeface="Cambria Math" panose="02040503050406030204" pitchFamily="18" charset="0"/>
                              </a:rPr>
                              <m:t>2</m:t>
                            </m:r>
                          </m:sup>
                        </m:sSup>
                      </m:den>
                    </m:f>
                  </m:oMath>
                </a14:m>
                <a:endParaRPr lang="en-US" dirty="0"/>
              </a:p>
            </p:txBody>
          </p:sp>
        </mc:Choice>
        <mc:Fallback xmlns="">
          <p:sp>
            <p:nvSpPr>
              <p:cNvPr id="7" name="Content Placeholder 6"/>
              <p:cNvSpPr>
                <a:spLocks noGrp="1" noRot="1" noChangeAspect="1" noMove="1" noResize="1" noEditPoints="1" noAdjustHandles="1" noChangeArrowheads="1" noChangeShapeType="1" noTextEdit="1"/>
              </p:cNvSpPr>
              <p:nvPr>
                <p:ph sz="quarter" idx="1"/>
              </p:nvPr>
            </p:nvSpPr>
            <p:spPr>
              <a:blipFill rotWithShape="0">
                <a:blip r:embed="rId2"/>
                <a:stretch>
                  <a:fillRect l="-588"/>
                </a:stretch>
              </a:blipFill>
            </p:spPr>
            <p:txBody>
              <a:bodyPr/>
              <a:lstStyle/>
              <a:p>
                <a:r>
                  <a:rPr lang="en-US">
                    <a:noFill/>
                  </a:rPr>
                  <a:t> </a:t>
                </a:r>
              </a:p>
            </p:txBody>
          </p:sp>
        </mc:Fallback>
      </mc:AlternateContent>
    </p:spTree>
    <p:extLst>
      <p:ext uri="{BB962C8B-B14F-4D97-AF65-F5344CB8AC3E}">
        <p14:creationId xmlns:p14="http://schemas.microsoft.com/office/powerpoint/2010/main" val="18536823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smtClean="0"/>
                  <a:t>If in a survey it is know roughly 60% of the pop. prefers Coke to Pepsi, then what is the sample size to ensure that the sample proportion is within 12.5% of the population prop., 99.9% of the time.</a:t>
                </a:r>
              </a:p>
              <a:p>
                <a14:m>
                  <m:oMath xmlns:m="http://schemas.openxmlformats.org/officeDocument/2006/math">
                    <m:r>
                      <a:rPr lang="en-US" sz="2800" i="1">
                        <a:latin typeface="Cambria Math" panose="02040503050406030204" pitchFamily="18" charset="0"/>
                      </a:rPr>
                      <m:t>𝑛</m:t>
                    </m:r>
                    <m:r>
                      <a:rPr lang="en-US" sz="2800" i="1">
                        <a:latin typeface="Cambria Math" panose="02040503050406030204" pitchFamily="18" charset="0"/>
                      </a:rPr>
                      <m:t>≥</m:t>
                    </m:r>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𝑍</m:t>
                                </m:r>
                              </m:e>
                              <m:sub>
                                <m:f>
                                  <m:fPr>
                                    <m:ctrlPr>
                                      <a:rPr lang="en-US" altLang="en-US" sz="2400" i="1">
                                        <a:latin typeface="Cambria Math" panose="02040503050406030204" pitchFamily="18" charset="0"/>
                                        <a:ea typeface="Cambria Math" panose="02040503050406030204" pitchFamily="18" charset="0"/>
                                      </a:rPr>
                                    </m:ctrlPr>
                                  </m:fPr>
                                  <m:num>
                                    <m:r>
                                      <a:rPr lang="en-US" altLang="en-US" sz="2400" i="1">
                                        <a:latin typeface="Cambria Math" panose="02040503050406030204" pitchFamily="18" charset="0"/>
                                        <a:ea typeface="Cambria Math" panose="02040503050406030204" pitchFamily="18" charset="0"/>
                                      </a:rPr>
                                      <m:t>𝛼</m:t>
                                    </m:r>
                                  </m:num>
                                  <m:den>
                                    <m:r>
                                      <a:rPr lang="en-US" altLang="en-US" sz="2400" i="1">
                                        <a:latin typeface="Cambria Math" panose="02040503050406030204" pitchFamily="18" charset="0"/>
                                        <a:ea typeface="Cambria Math" panose="02040503050406030204" pitchFamily="18" charset="0"/>
                                      </a:rPr>
                                      <m:t>2</m:t>
                                    </m:r>
                                  </m:den>
                                </m:f>
                              </m:sub>
                            </m:sSub>
                          </m:e>
                          <m:sup>
                            <m:r>
                              <a:rPr lang="en-US" sz="2800" i="1">
                                <a:latin typeface="Cambria Math" panose="02040503050406030204" pitchFamily="18" charset="0"/>
                              </a:rPr>
                              <m:t>2</m:t>
                            </m:r>
                          </m:sup>
                        </m:sSup>
                        <m:r>
                          <a:rPr lang="en-US" altLang="en-US" sz="2800" i="1">
                            <a:latin typeface="Cambria Math" panose="02040503050406030204" pitchFamily="18" charset="0"/>
                            <a:ea typeface="Cambria Math" panose="02040503050406030204" pitchFamily="18" charset="0"/>
                          </a:rPr>
                          <m:t>𝜋</m:t>
                        </m:r>
                        <m:d>
                          <m:dPr>
                            <m:ctrlPr>
                              <a:rPr lang="en-US" altLang="en-US" sz="2800" i="1">
                                <a:latin typeface="Cambria Math" panose="02040503050406030204" pitchFamily="18" charset="0"/>
                                <a:ea typeface="Cambria Math" panose="02040503050406030204" pitchFamily="18" charset="0"/>
                              </a:rPr>
                            </m:ctrlPr>
                          </m:dPr>
                          <m:e>
                            <m:r>
                              <a:rPr lang="en-US" altLang="en-US" sz="2800" i="1">
                                <a:latin typeface="Cambria Math" panose="02040503050406030204" pitchFamily="18" charset="0"/>
                                <a:ea typeface="Cambria Math" panose="02040503050406030204" pitchFamily="18" charset="0"/>
                              </a:rPr>
                              <m:t>1−</m:t>
                            </m:r>
                            <m:r>
                              <a:rPr lang="en-US" altLang="en-US" sz="2800" i="1">
                                <a:latin typeface="Cambria Math" panose="02040503050406030204" pitchFamily="18" charset="0"/>
                                <a:ea typeface="Cambria Math" panose="02040503050406030204" pitchFamily="18" charset="0"/>
                              </a:rPr>
                              <m:t>𝜋</m:t>
                            </m:r>
                          </m:e>
                        </m:d>
                      </m:num>
                      <m:den>
                        <m:sSup>
                          <m:sSupPr>
                            <m:ctrlPr>
                              <a:rPr lang="en-US" sz="2800" i="1">
                                <a:latin typeface="Cambria Math" panose="02040503050406030204" pitchFamily="18" charset="0"/>
                              </a:rPr>
                            </m:ctrlPr>
                          </m:sSupPr>
                          <m:e>
                            <m:r>
                              <a:rPr lang="en-US" sz="2800" i="1">
                                <a:latin typeface="Cambria Math" panose="02040503050406030204" pitchFamily="18" charset="0"/>
                              </a:rPr>
                              <m:t>𝐸𝑟𝑟</m:t>
                            </m:r>
                            <m:r>
                              <a:rPr lang="en-US" sz="2800" i="1">
                                <a:latin typeface="Cambria Math" panose="02040503050406030204" pitchFamily="18" charset="0"/>
                              </a:rPr>
                              <m:t>.</m:t>
                            </m:r>
                          </m:e>
                          <m:sup>
                            <m:r>
                              <a:rPr lang="en-US" sz="2800" i="1">
                                <a:latin typeface="Cambria Math" panose="02040503050406030204" pitchFamily="18" charset="0"/>
                              </a:rPr>
                              <m:t>2</m:t>
                            </m:r>
                          </m:sup>
                        </m:sSup>
                      </m:den>
                    </m:f>
                    <m:r>
                      <a:rPr lang="en-US" sz="2800" b="0" i="1" smtClean="0">
                        <a:latin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𝜋</m:t>
                    </m:r>
                    <m:r>
                      <a:rPr lang="en-US" sz="2800" b="0" i="1" smtClean="0">
                        <a:latin typeface="Cambria Math" panose="02040503050406030204" pitchFamily="18" charset="0"/>
                        <a:ea typeface="Cambria Math" panose="02040503050406030204" pitchFamily="18" charset="0"/>
                      </a:rPr>
                      <m:t>=60%=0.6, </m:t>
                    </m:r>
                    <m:r>
                      <a:rPr lang="en-US" sz="2800" b="0" i="1" smtClean="0">
                        <a:latin typeface="Cambria Math" panose="02040503050406030204" pitchFamily="18" charset="0"/>
                        <a:ea typeface="Cambria Math" panose="02040503050406030204" pitchFamily="18" charset="0"/>
                      </a:rPr>
                      <m:t>𝛼</m:t>
                    </m:r>
                    <m:r>
                      <a:rPr lang="en-US" sz="2800" b="0" i="1" smtClean="0">
                        <a:latin typeface="Cambria Math" panose="02040503050406030204" pitchFamily="18" charset="0"/>
                        <a:ea typeface="Cambria Math" panose="02040503050406030204" pitchFamily="18" charset="0"/>
                      </a:rPr>
                      <m:t>=1−99.9%=0.001, </m:t>
                    </m:r>
                    <m:r>
                      <a:rPr lang="en-US" sz="2800" b="0" i="1" smtClean="0">
                        <a:latin typeface="Cambria Math" panose="02040503050406030204" pitchFamily="18" charset="0"/>
                        <a:ea typeface="Cambria Math" panose="02040503050406030204" pitchFamily="18" charset="0"/>
                      </a:rPr>
                      <m:t>𝐸𝑟𝑟</m:t>
                    </m:r>
                    <m:r>
                      <a:rPr lang="en-US" sz="2800" b="0" i="1" smtClean="0">
                        <a:latin typeface="Cambria Math" panose="02040503050406030204" pitchFamily="18" charset="0"/>
                        <a:ea typeface="Cambria Math" panose="02040503050406030204" pitchFamily="18" charset="0"/>
                      </a:rPr>
                      <m:t>=12.5%=0.125</m:t>
                    </m:r>
                  </m:oMath>
                </a14:m>
                <a:r>
                  <a:rPr lang="en-US" dirty="0" smtClean="0"/>
                  <a:t>, </a:t>
                </a:r>
                <a14:m>
                  <m:oMath xmlns:m="http://schemas.openxmlformats.org/officeDocument/2006/math">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𝑍</m:t>
                        </m:r>
                      </m:e>
                      <m:sub>
                        <m:f>
                          <m:fPr>
                            <m:ctrlPr>
                              <a:rPr lang="en-US" altLang="en-US" sz="2800" i="1">
                                <a:latin typeface="Cambria Math" panose="02040503050406030204" pitchFamily="18" charset="0"/>
                                <a:ea typeface="Cambria Math" panose="02040503050406030204" pitchFamily="18" charset="0"/>
                              </a:rPr>
                            </m:ctrlPr>
                          </m:fPr>
                          <m:num>
                            <m:r>
                              <a:rPr lang="en-US" altLang="en-US" sz="2800" i="1">
                                <a:latin typeface="Cambria Math" panose="02040503050406030204" pitchFamily="18" charset="0"/>
                                <a:ea typeface="Cambria Math" panose="02040503050406030204" pitchFamily="18" charset="0"/>
                              </a:rPr>
                              <m:t>𝛼</m:t>
                            </m:r>
                          </m:num>
                          <m:den>
                            <m:r>
                              <a:rPr lang="en-US" altLang="en-US" sz="2800" i="1">
                                <a:latin typeface="Cambria Math" panose="02040503050406030204" pitchFamily="18" charset="0"/>
                                <a:ea typeface="Cambria Math" panose="02040503050406030204" pitchFamily="18" charset="0"/>
                              </a:rPr>
                              <m:t>2</m:t>
                            </m:r>
                          </m:den>
                        </m:f>
                      </m:sub>
                    </m:sSub>
                    <m:r>
                      <a:rPr lang="en-US" altLang="en-US" sz="2800" b="0" i="1" smtClean="0">
                        <a:latin typeface="Cambria Math" panose="02040503050406030204" pitchFamily="18" charset="0"/>
                        <a:ea typeface="Cambria Math" panose="02040503050406030204" pitchFamily="18" charset="0"/>
                      </a:rPr>
                      <m:t>=3.291</m:t>
                    </m:r>
                  </m:oMath>
                </a14:m>
                <a:endParaRPr lang="en-US" altLang="en-US" sz="2800" b="0" dirty="0" smtClean="0">
                  <a:ea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3.291</m:t>
                            </m:r>
                          </m:e>
                          <m:sup>
                            <m:r>
                              <a:rPr lang="en-US" i="1">
                                <a:latin typeface="Cambria Math" panose="02040503050406030204" pitchFamily="18" charset="0"/>
                              </a:rPr>
                              <m:t>2</m:t>
                            </m:r>
                          </m:sup>
                        </m:sSup>
                        <m:r>
                          <a:rPr lang="en-US" b="0" i="1" smtClean="0">
                            <a:latin typeface="Cambria Math" panose="02040503050406030204" pitchFamily="18" charset="0"/>
                          </a:rPr>
                          <m:t>∗0.6∗0.4</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0.125</m:t>
                            </m:r>
                          </m:e>
                          <m:sup>
                            <m:r>
                              <a:rPr lang="en-US" b="0" i="1" smtClean="0">
                                <a:latin typeface="Cambria Math" panose="02040503050406030204" pitchFamily="18" charset="0"/>
                              </a:rPr>
                              <m:t>2</m:t>
                            </m:r>
                          </m:sup>
                        </m:sSup>
                      </m:den>
                    </m:f>
                    <m:r>
                      <a:rPr lang="en-US" b="0" i="1" smtClean="0">
                        <a:latin typeface="Cambria Math" panose="02040503050406030204" pitchFamily="18" charset="0"/>
                      </a:rPr>
                      <m:t>=166.36</m:t>
                    </m:r>
                  </m:oMath>
                </a14:m>
                <a:endParaRPr lang="en-US" dirty="0" smtClean="0"/>
              </a:p>
              <a:p>
                <a:r>
                  <a:rPr lang="en-US" dirty="0" smtClean="0"/>
                  <a:t>Min. sample size: 167</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l="-588" t="-1200"/>
                </a:stretch>
              </a:blipFill>
            </p:spPr>
            <p:txBody>
              <a:bodyPr/>
              <a:lstStyle/>
              <a:p>
                <a:r>
                  <a:rPr lang="en-US">
                    <a:noFill/>
                  </a:rPr>
                  <a:t> </a:t>
                </a:r>
              </a:p>
            </p:txBody>
          </p:sp>
        </mc:Fallback>
      </mc:AlternateContent>
    </p:spTree>
    <p:extLst>
      <p:ext uri="{BB962C8B-B14F-4D97-AF65-F5344CB8AC3E}">
        <p14:creationId xmlns:p14="http://schemas.microsoft.com/office/powerpoint/2010/main" val="4191733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559632" y="683301"/>
                <a:ext cx="10802911" cy="5432685"/>
              </a:xfrm>
            </p:spPr>
            <p:txBody>
              <a:bodyPr/>
              <a:lstStyle/>
              <a:p>
                <a:r>
                  <a:rPr lang="en-US" dirty="0" smtClean="0"/>
                  <a:t>20 sampled households in a locality have average annual income of 7.2 lakh, with </a:t>
                </a:r>
                <a:r>
                  <a:rPr lang="en-US" dirty="0" err="1" smtClean="0"/>
                  <a:t>std</a:t>
                </a:r>
                <a:r>
                  <a:rPr lang="en-US" dirty="0" smtClean="0"/>
                  <a:t> </a:t>
                </a:r>
                <a:r>
                  <a:rPr lang="en-US" dirty="0" err="1" smtClean="0"/>
                  <a:t>dev</a:t>
                </a:r>
                <a:r>
                  <a:rPr lang="en-US" dirty="0" smtClean="0"/>
                  <a:t> 80,000. What is the 99% confidence interval for the population average annual income.</a:t>
                </a:r>
              </a:p>
              <a:p>
                <a:r>
                  <a:rPr lang="en-US" dirty="0" err="1" smtClean="0"/>
                  <a:t>Df</a:t>
                </a:r>
                <a:r>
                  <a:rPr lang="en-US" dirty="0" smtClean="0"/>
                  <a:t> = n-1 = 19, </a:t>
                </a:r>
                <a:r>
                  <a:rPr lang="el-GR" dirty="0" smtClean="0">
                    <a:latin typeface="Calibri" panose="020F0502020204030204" pitchFamily="34" charset="0"/>
                  </a:rPr>
                  <a:t>α</a:t>
                </a:r>
                <a:r>
                  <a:rPr lang="en-US" dirty="0" smtClean="0">
                    <a:latin typeface="Calibri" panose="020F0502020204030204" pitchFamily="34" charset="0"/>
                  </a:rPr>
                  <a:t>=1 – 0.99 = 0.01</a:t>
                </a:r>
                <a:endParaRPr lang="en-US" dirty="0" smtClean="0"/>
              </a:p>
              <a:p>
                <a:pPr marL="0" indent="0">
                  <a:buNone/>
                </a:pPr>
                <a14:m>
                  <m:oMathPara xmlns:m="http://schemas.openxmlformats.org/officeDocument/2006/math">
                    <m:oMathParaPr>
                      <m:jc m:val="centerGroup"/>
                    </m:oMathParaPr>
                    <m:oMath xmlns:m="http://schemas.openxmlformats.org/officeDocument/2006/math">
                      <m:acc>
                        <m:accPr>
                          <m:chr m:val="̅"/>
                          <m:ctrlPr>
                            <a:rPr lang="en-US" altLang="en-US" sz="2800" i="1">
                              <a:latin typeface="Cambria Math" panose="02040503050406030204" pitchFamily="18" charset="0"/>
                            </a:rPr>
                          </m:ctrlPr>
                        </m:accPr>
                        <m:e>
                          <m:r>
                            <a:rPr lang="en-US" altLang="en-US" sz="2800" i="1">
                              <a:latin typeface="Cambria Math" panose="02040503050406030204" pitchFamily="18" charset="0"/>
                            </a:rPr>
                            <m:t>𝑋</m:t>
                          </m:r>
                        </m:e>
                      </m:acc>
                      <m:r>
                        <a:rPr lang="en-US" altLang="en-US" sz="3200" i="1">
                          <a:latin typeface="Cambria Math" panose="02040503050406030204" pitchFamily="18" charset="0"/>
                          <a:ea typeface="Cambria Math" panose="02040503050406030204" pitchFamily="18" charset="0"/>
                        </a:rPr>
                        <m:t>±</m:t>
                      </m:r>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𝑡</m:t>
                          </m:r>
                        </m:e>
                        <m:sub>
                          <m:r>
                            <a:rPr lang="en-US" altLang="en-US" sz="2800" i="1">
                              <a:latin typeface="Cambria Math" panose="02040503050406030204" pitchFamily="18" charset="0"/>
                              <a:ea typeface="Cambria Math" panose="02040503050406030204" pitchFamily="18" charset="0"/>
                            </a:rPr>
                            <m:t>𝛼</m:t>
                          </m:r>
                          <m:r>
                            <a:rPr lang="en-US" altLang="en-US" sz="2800" i="1">
                              <a:latin typeface="Cambria Math" panose="02040503050406030204" pitchFamily="18" charset="0"/>
                              <a:ea typeface="Cambria Math" panose="02040503050406030204" pitchFamily="18" charset="0"/>
                            </a:rPr>
                            <m:t>/2</m:t>
                          </m:r>
                        </m:sub>
                      </m:sSub>
                      <m:f>
                        <m:fPr>
                          <m:ctrlPr>
                            <a:rPr lang="en-US" altLang="en-US" sz="2800" i="1">
                              <a:latin typeface="Cambria Math" panose="02040503050406030204" pitchFamily="18" charset="0"/>
                            </a:rPr>
                          </m:ctrlPr>
                        </m:fPr>
                        <m:num>
                          <m:r>
                            <a:rPr lang="en-US" altLang="en-US" sz="2800" i="1">
                              <a:latin typeface="Cambria Math" panose="02040503050406030204" pitchFamily="18" charset="0"/>
                            </a:rPr>
                            <m:t>𝑆</m:t>
                          </m:r>
                        </m:num>
                        <m:den>
                          <m:rad>
                            <m:radPr>
                              <m:degHide m:val="on"/>
                              <m:ctrlPr>
                                <a:rPr lang="en-US" altLang="en-US" sz="2800" i="1">
                                  <a:latin typeface="Cambria Math" panose="02040503050406030204" pitchFamily="18" charset="0"/>
                                </a:rPr>
                              </m:ctrlPr>
                            </m:radPr>
                            <m:deg/>
                            <m:e>
                              <m:r>
                                <a:rPr lang="en-US" altLang="en-US" sz="2800" i="1">
                                  <a:latin typeface="Cambria Math" panose="02040503050406030204" pitchFamily="18" charset="0"/>
                                </a:rPr>
                                <m:t>𝑛</m:t>
                              </m:r>
                            </m:e>
                          </m:rad>
                        </m:den>
                      </m:f>
                      <m:r>
                        <a:rPr lang="en-US" altLang="en-US" sz="2800" b="0" i="0" smtClean="0">
                          <a:latin typeface="Cambria Math" panose="02040503050406030204" pitchFamily="18" charset="0"/>
                        </a:rPr>
                        <m:t>=7.2±2.861∗</m:t>
                      </m:r>
                      <m:f>
                        <m:fPr>
                          <m:ctrlPr>
                            <a:rPr lang="en-US" altLang="en-US" sz="2800" b="0" i="1" smtClean="0">
                              <a:latin typeface="Cambria Math" panose="02040503050406030204" pitchFamily="18" charset="0"/>
                            </a:rPr>
                          </m:ctrlPr>
                        </m:fPr>
                        <m:num>
                          <m:r>
                            <a:rPr lang="en-US" altLang="en-US" sz="2800" b="0" i="0" smtClean="0">
                              <a:latin typeface="Cambria Math" panose="02040503050406030204" pitchFamily="18" charset="0"/>
                            </a:rPr>
                            <m:t>0.8</m:t>
                          </m:r>
                        </m:num>
                        <m:den>
                          <m:rad>
                            <m:radPr>
                              <m:degHide m:val="on"/>
                              <m:ctrlPr>
                                <a:rPr lang="en-US" altLang="en-US" sz="2800" b="0" i="1" smtClean="0">
                                  <a:latin typeface="Cambria Math" panose="02040503050406030204" pitchFamily="18" charset="0"/>
                                </a:rPr>
                              </m:ctrlPr>
                            </m:radPr>
                            <m:deg/>
                            <m:e>
                              <m:r>
                                <a:rPr lang="en-US" altLang="en-US" sz="2800" b="0" i="1" smtClean="0">
                                  <a:latin typeface="Cambria Math" panose="02040503050406030204" pitchFamily="18" charset="0"/>
                                </a:rPr>
                                <m:t>20</m:t>
                              </m:r>
                            </m:e>
                          </m:rad>
                        </m:den>
                      </m:f>
                      <m:r>
                        <a:rPr lang="en-US" altLang="en-US" sz="2800" b="0" i="1" smtClean="0">
                          <a:latin typeface="Cambria Math" panose="02040503050406030204" pitchFamily="18" charset="0"/>
                        </a:rPr>
                        <m:t>=7.2±0.5118</m:t>
                      </m:r>
                    </m:oMath>
                  </m:oMathPara>
                </a14:m>
                <a:endParaRPr lang="en-US" dirty="0" smtClean="0"/>
              </a:p>
              <a:p>
                <a:pPr marL="0" indent="0">
                  <a:buNone/>
                </a:pPr>
                <a:endParaRPr lang="en-US" dirty="0" smtClean="0"/>
              </a:p>
              <a:p>
                <a:r>
                  <a:rPr lang="en-US" dirty="0" smtClean="0"/>
                  <a:t>The </a:t>
                </a:r>
                <a:r>
                  <a:rPr lang="en-US" dirty="0" err="1" smtClean="0"/>
                  <a:t>std.dev</a:t>
                </a:r>
                <a:r>
                  <a:rPr lang="en-US" dirty="0" smtClean="0"/>
                  <a:t>. For the average overtime of all workers in a company is 26min. The average error is 18. How many workers must be sampled to get a 90% confidence interval for the average overtime?</a:t>
                </a:r>
              </a:p>
              <a:p>
                <a:pPr marL="0" indent="0">
                  <a:buNone/>
                </a:pPr>
                <a:r>
                  <a:rPr lang="en-US" dirty="0"/>
                  <a:t> </a:t>
                </a:r>
                <a:r>
                  <a:rPr lang="en-US" dirty="0" smtClean="0"/>
                  <a:t>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𝑍</m:t>
                                </m:r>
                              </m:e>
                              <m:sub>
                                <m:r>
                                  <a:rPr lang="en-US" altLang="en-US" sz="2400" i="1">
                                    <a:latin typeface="Cambria Math" panose="02040503050406030204" pitchFamily="18" charset="0"/>
                                    <a:ea typeface="Cambria Math" panose="02040503050406030204" pitchFamily="18" charset="0"/>
                                  </a:rPr>
                                  <m:t>𝛼</m:t>
                                </m:r>
                                <m:r>
                                  <a:rPr lang="en-US" altLang="en-US" sz="2400" i="1">
                                    <a:latin typeface="Cambria Math" panose="02040503050406030204" pitchFamily="18" charset="0"/>
                                    <a:ea typeface="Cambria Math" panose="02040503050406030204" pitchFamily="18" charset="0"/>
                                  </a:rPr>
                                  <m:t>/2</m:t>
                                </m:r>
                              </m:sub>
                            </m:sSub>
                          </m:e>
                          <m:sup>
                            <m:r>
                              <a:rPr lang="en-US" i="1">
                                <a:latin typeface="Cambria Math" panose="02040503050406030204" pitchFamily="18" charset="0"/>
                              </a:rPr>
                              <m:t>2</m:t>
                            </m:r>
                          </m:sup>
                        </m:sSup>
                        <m:sSup>
                          <m:sSupPr>
                            <m:ctrlPr>
                              <a:rPr lang="en-US" altLang="en-US" sz="2400" i="1">
                                <a:latin typeface="Cambria Math" panose="02040503050406030204" pitchFamily="18" charset="0"/>
                                <a:ea typeface="Cambria Math" panose="02040503050406030204" pitchFamily="18" charset="0"/>
                              </a:rPr>
                            </m:ctrlPr>
                          </m:sSupPr>
                          <m:e>
                            <m:r>
                              <a:rPr lang="en-US" altLang="en-US" sz="2400" i="1">
                                <a:latin typeface="Cambria Math" panose="02040503050406030204" pitchFamily="18" charset="0"/>
                                <a:ea typeface="Cambria Math" panose="02040503050406030204" pitchFamily="18" charset="0"/>
                              </a:rPr>
                              <m:t>𝜎</m:t>
                            </m:r>
                          </m:e>
                          <m:sup>
                            <m:r>
                              <a:rPr lang="en-US" altLang="en-US" sz="2400" i="1">
                                <a:latin typeface="Cambria Math" panose="02040503050406030204" pitchFamily="18" charset="0"/>
                                <a:ea typeface="Cambria Math" panose="02040503050406030204" pitchFamily="18" charset="0"/>
                              </a:rPr>
                              <m:t>2</m:t>
                            </m:r>
                          </m:sup>
                        </m:sSup>
                      </m:num>
                      <m:den>
                        <m:sSup>
                          <m:sSupPr>
                            <m:ctrlPr>
                              <a:rPr lang="en-US" i="1">
                                <a:latin typeface="Cambria Math" panose="02040503050406030204" pitchFamily="18" charset="0"/>
                              </a:rPr>
                            </m:ctrlPr>
                          </m:sSupPr>
                          <m:e>
                            <m:r>
                              <a:rPr lang="en-US" i="1">
                                <a:latin typeface="Cambria Math" panose="02040503050406030204" pitchFamily="18" charset="0"/>
                              </a:rPr>
                              <m:t>𝐸𝑟𝑟</m:t>
                            </m:r>
                            <m:r>
                              <a:rPr lang="en-US" i="1">
                                <a:latin typeface="Cambria Math" panose="02040503050406030204" pitchFamily="18" charset="0"/>
                              </a:rPr>
                              <m:t>.</m:t>
                            </m:r>
                          </m:e>
                          <m:sup>
                            <m:r>
                              <a:rPr lang="en-US" i="1">
                                <a:latin typeface="Cambria Math" panose="02040503050406030204" pitchFamily="18" charset="0"/>
                              </a:rPr>
                              <m:t>2</m:t>
                            </m:r>
                          </m:sup>
                        </m:sSup>
                      </m:den>
                    </m:f>
                    <m:r>
                      <a:rPr lang="en-US" i="1"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−1.645</m:t>
                            </m:r>
                          </m:e>
                          <m:sup>
                            <m:r>
                              <a:rPr lang="en-US" b="0" i="1" smtClean="0">
                                <a:latin typeface="Cambria Math" panose="02040503050406030204" pitchFamily="18" charset="0"/>
                                <a:ea typeface="Cambria Math" panose="02040503050406030204" pitchFamily="18" charset="0"/>
                              </a:rPr>
                              <m:t>2</m:t>
                            </m:r>
                          </m:sup>
                        </m:sSup>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26</m:t>
                            </m:r>
                          </m:e>
                          <m:sup>
                            <m:r>
                              <a:rPr lang="en-US" b="0" i="1" smtClean="0">
                                <a:latin typeface="Cambria Math" panose="02040503050406030204" pitchFamily="18" charset="0"/>
                                <a:ea typeface="Cambria Math" panose="02040503050406030204" pitchFamily="18" charset="0"/>
                              </a:rPr>
                              <m:t>2</m:t>
                            </m:r>
                          </m:sup>
                        </m:sSup>
                      </m:num>
                      <m:den>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18</m:t>
                            </m:r>
                          </m:e>
                          <m:sup>
                            <m:r>
                              <a:rPr lang="en-US" b="0" i="1" smtClean="0">
                                <a:latin typeface="Cambria Math" panose="02040503050406030204" pitchFamily="18" charset="0"/>
                                <a:ea typeface="Cambria Math" panose="02040503050406030204" pitchFamily="18" charset="0"/>
                              </a:rPr>
                              <m:t>2</m:t>
                            </m:r>
                          </m:sup>
                        </m:sSup>
                      </m:den>
                    </m:f>
                  </m:oMath>
                </a14:m>
                <a:endParaRPr lang="en-US" dirty="0"/>
              </a:p>
              <a:p>
                <a:pPr marL="0" indent="0">
                  <a:buNone/>
                </a:pP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559632" y="683301"/>
                <a:ext cx="10802911" cy="5432685"/>
              </a:xfrm>
              <a:blipFill rotWithShape="0">
                <a:blip r:embed="rId2"/>
                <a:stretch>
                  <a:fillRect l="-564" t="-898"/>
                </a:stretch>
              </a:blipFill>
            </p:spPr>
            <p:txBody>
              <a:bodyPr/>
              <a:lstStyle/>
              <a:p>
                <a:r>
                  <a:rPr lang="en-US">
                    <a:noFill/>
                  </a:rPr>
                  <a:t> </a:t>
                </a:r>
              </a:p>
            </p:txBody>
          </p:sp>
        </mc:Fallback>
      </mc:AlternateContent>
    </p:spTree>
    <p:extLst>
      <p:ext uri="{BB962C8B-B14F-4D97-AF65-F5344CB8AC3E}">
        <p14:creationId xmlns:p14="http://schemas.microsoft.com/office/powerpoint/2010/main" val="4073359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74557" y="524656"/>
                <a:ext cx="10907843" cy="5495144"/>
              </a:xfrm>
            </p:spPr>
            <p:txBody>
              <a:bodyPr/>
              <a:lstStyle/>
              <a:p>
                <a:r>
                  <a:rPr lang="en-US" dirty="0" smtClean="0"/>
                  <a:t>If 6 out of 20 sampled workers are working overtime, what is the 95% confidence interval for the proportion of the company’s workers that are working overtime.</a:t>
                </a:r>
              </a:p>
              <a:p>
                <a:pPr marL="0" indent="0">
                  <a:buNone/>
                </a:pPr>
                <a:r>
                  <a:rPr lang="en-US" dirty="0" smtClean="0"/>
                  <a:t>   </a:t>
                </a:r>
                <a:r>
                  <a:rPr lang="en-US" dirty="0" err="1" smtClean="0"/>
                  <a:t>Conf</a:t>
                </a:r>
                <a:r>
                  <a:rPr lang="en-US" dirty="0" smtClean="0"/>
                  <a:t> </a:t>
                </a:r>
                <a:r>
                  <a:rPr lang="en-US" dirty="0" err="1" smtClean="0"/>
                  <a:t>Int</a:t>
                </a:r>
                <a:r>
                  <a:rPr lang="en-US" dirty="0" smtClean="0"/>
                  <a:t> = </a:t>
                </a:r>
                <a14:m>
                  <m:oMath xmlns:m="http://schemas.openxmlformats.org/officeDocument/2006/math">
                    <m:r>
                      <a:rPr lang="en-US" altLang="en-US" sz="2800" i="1">
                        <a:latin typeface="Cambria Math" panose="02040503050406030204" pitchFamily="18" charset="0"/>
                      </a:rPr>
                      <m:t>𝑝</m:t>
                    </m:r>
                    <m:r>
                      <a:rPr lang="en-US" altLang="en-US" sz="2800" i="1">
                        <a:latin typeface="Cambria Math" panose="02040503050406030204" pitchFamily="18" charset="0"/>
                        <a:ea typeface="Cambria Math" panose="02040503050406030204" pitchFamily="18" charset="0"/>
                      </a:rPr>
                      <m:t>±</m:t>
                    </m:r>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𝑍</m:t>
                        </m:r>
                      </m:e>
                      <m:sub>
                        <m:r>
                          <a:rPr lang="en-US" altLang="en-US" sz="2800" i="1">
                            <a:latin typeface="Cambria Math" panose="02040503050406030204" pitchFamily="18" charset="0"/>
                            <a:ea typeface="Cambria Math" panose="02040503050406030204" pitchFamily="18" charset="0"/>
                          </a:rPr>
                          <m:t>𝛼</m:t>
                        </m:r>
                        <m:r>
                          <a:rPr lang="en-US" altLang="en-US" sz="2800" i="1">
                            <a:latin typeface="Cambria Math" panose="02040503050406030204" pitchFamily="18" charset="0"/>
                            <a:ea typeface="Cambria Math" panose="02040503050406030204" pitchFamily="18" charset="0"/>
                          </a:rPr>
                          <m:t>/2</m:t>
                        </m:r>
                      </m:sub>
                    </m:sSub>
                    <m:rad>
                      <m:radPr>
                        <m:degHide m:val="on"/>
                        <m:ctrlPr>
                          <a:rPr lang="en-US" altLang="en-US" sz="2800" i="1">
                            <a:latin typeface="Cambria Math" panose="02040503050406030204" pitchFamily="18" charset="0"/>
                            <a:ea typeface="Cambria Math" panose="02040503050406030204" pitchFamily="18" charset="0"/>
                          </a:rPr>
                        </m:ctrlPr>
                      </m:radPr>
                      <m:deg/>
                      <m:e>
                        <m:f>
                          <m:fPr>
                            <m:ctrlPr>
                              <a:rPr lang="en-US" altLang="en-US" sz="2800" i="1">
                                <a:latin typeface="Cambria Math" panose="02040503050406030204" pitchFamily="18" charset="0"/>
                                <a:ea typeface="Cambria Math" panose="02040503050406030204" pitchFamily="18" charset="0"/>
                              </a:rPr>
                            </m:ctrlPr>
                          </m:fPr>
                          <m:num>
                            <m:r>
                              <a:rPr lang="en-US" altLang="en-US" sz="2800" i="1">
                                <a:latin typeface="Cambria Math" panose="02040503050406030204" pitchFamily="18" charset="0"/>
                                <a:ea typeface="Cambria Math" panose="02040503050406030204" pitchFamily="18" charset="0"/>
                              </a:rPr>
                              <m:t>𝑝</m:t>
                            </m:r>
                            <m:r>
                              <a:rPr lang="en-US" altLang="en-US" sz="2800" i="1">
                                <a:latin typeface="Cambria Math" panose="02040503050406030204" pitchFamily="18" charset="0"/>
                                <a:ea typeface="Cambria Math" panose="02040503050406030204" pitchFamily="18" charset="0"/>
                              </a:rPr>
                              <m:t>(1−</m:t>
                            </m:r>
                            <m:r>
                              <a:rPr lang="en-US" altLang="en-US" sz="2800" i="1">
                                <a:latin typeface="Cambria Math" panose="02040503050406030204" pitchFamily="18" charset="0"/>
                                <a:ea typeface="Cambria Math" panose="02040503050406030204" pitchFamily="18" charset="0"/>
                              </a:rPr>
                              <m:t>𝑝</m:t>
                            </m:r>
                            <m:r>
                              <a:rPr lang="en-US" altLang="en-US" sz="2800" i="1">
                                <a:latin typeface="Cambria Math" panose="02040503050406030204" pitchFamily="18" charset="0"/>
                                <a:ea typeface="Cambria Math" panose="02040503050406030204" pitchFamily="18" charset="0"/>
                              </a:rPr>
                              <m:t>)</m:t>
                            </m:r>
                          </m:num>
                          <m:den>
                            <m:r>
                              <a:rPr lang="en-US" altLang="en-US" sz="2800" i="1">
                                <a:latin typeface="Cambria Math" panose="02040503050406030204" pitchFamily="18" charset="0"/>
                                <a:ea typeface="Cambria Math" panose="02040503050406030204" pitchFamily="18" charset="0"/>
                              </a:rPr>
                              <m:t>𝑛</m:t>
                            </m:r>
                          </m:den>
                        </m:f>
                      </m:e>
                    </m:rad>
                    <m:r>
                      <a:rPr lang="en-US" altLang="en-US" sz="2800" b="0" i="1" smtClean="0">
                        <a:latin typeface="Cambria Math" panose="02040503050406030204" pitchFamily="18" charset="0"/>
                        <a:ea typeface="Cambria Math" panose="02040503050406030204" pitchFamily="18" charset="0"/>
                      </a:rPr>
                      <m:t>, </m:t>
                    </m:r>
                  </m:oMath>
                </a14:m>
                <a:endParaRPr lang="en-US" altLang="en-US" sz="2800" b="0" i="1" dirty="0" smtClean="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en-US" sz="2800" b="0" i="1" smtClean="0">
                          <a:latin typeface="Cambria Math" panose="02040503050406030204" pitchFamily="18" charset="0"/>
                          <a:ea typeface="Cambria Math" panose="02040503050406030204" pitchFamily="18" charset="0"/>
                        </a:rPr>
                        <m:t>𝑝</m:t>
                      </m:r>
                      <m:r>
                        <a:rPr lang="en-US" altLang="en-US" sz="2800" b="0" i="1" smtClean="0">
                          <a:latin typeface="Cambria Math" panose="02040503050406030204" pitchFamily="18" charset="0"/>
                          <a:ea typeface="Cambria Math" panose="02040503050406030204" pitchFamily="18" charset="0"/>
                        </a:rPr>
                        <m:t>=</m:t>
                      </m:r>
                      <m:f>
                        <m:fPr>
                          <m:ctrlPr>
                            <a:rPr lang="en-US" altLang="en-US" sz="2800" b="0" i="1" smtClean="0">
                              <a:latin typeface="Cambria Math" panose="02040503050406030204" pitchFamily="18" charset="0"/>
                              <a:ea typeface="Cambria Math" panose="02040503050406030204" pitchFamily="18" charset="0"/>
                            </a:rPr>
                          </m:ctrlPr>
                        </m:fPr>
                        <m:num>
                          <m:r>
                            <a:rPr lang="en-US" altLang="en-US" sz="2800" b="0" i="1" smtClean="0">
                              <a:latin typeface="Cambria Math" panose="02040503050406030204" pitchFamily="18" charset="0"/>
                              <a:ea typeface="Cambria Math" panose="02040503050406030204" pitchFamily="18" charset="0"/>
                            </a:rPr>
                            <m:t>6</m:t>
                          </m:r>
                        </m:num>
                        <m:den>
                          <m:r>
                            <a:rPr lang="en-US" altLang="en-US" sz="2800" b="0" i="1" smtClean="0">
                              <a:latin typeface="Cambria Math" panose="02040503050406030204" pitchFamily="18" charset="0"/>
                              <a:ea typeface="Cambria Math" panose="02040503050406030204" pitchFamily="18" charset="0"/>
                            </a:rPr>
                            <m:t>20</m:t>
                          </m:r>
                        </m:den>
                      </m:f>
                      <m:r>
                        <a:rPr lang="en-US" altLang="en-US" sz="2800" b="0" i="1" smtClean="0">
                          <a:latin typeface="Cambria Math" panose="02040503050406030204" pitchFamily="18" charset="0"/>
                          <a:ea typeface="Cambria Math" panose="02040503050406030204" pitchFamily="18" charset="0"/>
                        </a:rPr>
                        <m:t>=0.3, </m:t>
                      </m:r>
                      <m:r>
                        <a:rPr lang="en-US" altLang="en-US" sz="2800" b="0" i="1" smtClean="0">
                          <a:latin typeface="Cambria Math" panose="02040503050406030204" pitchFamily="18" charset="0"/>
                          <a:ea typeface="Cambria Math" panose="02040503050406030204" pitchFamily="18" charset="0"/>
                        </a:rPr>
                        <m:t>𝑛</m:t>
                      </m:r>
                      <m:r>
                        <a:rPr lang="en-US" altLang="en-US" sz="2800" b="0" i="1" smtClean="0">
                          <a:latin typeface="Cambria Math" panose="02040503050406030204" pitchFamily="18" charset="0"/>
                          <a:ea typeface="Cambria Math" panose="02040503050406030204" pitchFamily="18" charset="0"/>
                        </a:rPr>
                        <m:t>=20,</m:t>
                      </m:r>
                      <m:r>
                        <a:rPr lang="en-US" altLang="en-US" sz="2800" i="1">
                          <a:latin typeface="Cambria Math" panose="02040503050406030204" pitchFamily="18" charset="0"/>
                          <a:ea typeface="Cambria Math" panose="02040503050406030204" pitchFamily="18" charset="0"/>
                        </a:rPr>
                        <m:t>𝛼</m:t>
                      </m:r>
                      <m:r>
                        <a:rPr lang="en-US" altLang="en-US" sz="2800" b="0" i="1" smtClean="0">
                          <a:latin typeface="Cambria Math" panose="02040503050406030204" pitchFamily="18" charset="0"/>
                          <a:ea typeface="Cambria Math" panose="02040503050406030204" pitchFamily="18" charset="0"/>
                        </a:rPr>
                        <m:t>=0.05,</m:t>
                      </m:r>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𝑍</m:t>
                          </m:r>
                        </m:e>
                        <m:sub>
                          <m:r>
                            <a:rPr lang="en-US" altLang="en-US" sz="2800" i="1">
                              <a:latin typeface="Cambria Math" panose="02040503050406030204" pitchFamily="18" charset="0"/>
                              <a:ea typeface="Cambria Math" panose="02040503050406030204" pitchFamily="18" charset="0"/>
                            </a:rPr>
                            <m:t>𝛼</m:t>
                          </m:r>
                          <m:r>
                            <a:rPr lang="en-US" altLang="en-US" sz="2800" i="1">
                              <a:latin typeface="Cambria Math" panose="02040503050406030204" pitchFamily="18" charset="0"/>
                              <a:ea typeface="Cambria Math" panose="02040503050406030204" pitchFamily="18" charset="0"/>
                            </a:rPr>
                            <m:t>/2</m:t>
                          </m:r>
                        </m:sub>
                      </m:sSub>
                      <m:r>
                        <a:rPr lang="en-US" altLang="en-US" sz="2800" b="0" i="0" smtClean="0">
                          <a:latin typeface="Cambria Math" panose="02040503050406030204" pitchFamily="18" charset="0"/>
                          <a:ea typeface="Cambria Math" panose="02040503050406030204" pitchFamily="18" charset="0"/>
                        </a:rPr>
                        <m:t>=−1.96</m:t>
                      </m:r>
                    </m:oMath>
                  </m:oMathPara>
                </a14:m>
                <a:endParaRPr lang="en-US" dirty="0" smtClean="0"/>
              </a:p>
              <a:p>
                <a:pPr marL="0" indent="0">
                  <a:buNone/>
                </a:pPr>
                <a:r>
                  <a:rPr lang="en-US" dirty="0" err="1" smtClean="0"/>
                  <a:t>Conf</a:t>
                </a:r>
                <a:r>
                  <a:rPr lang="en-US" dirty="0" smtClean="0"/>
                  <a:t> </a:t>
                </a:r>
                <a:r>
                  <a:rPr lang="en-US" dirty="0" err="1" smtClean="0"/>
                  <a:t>Int</a:t>
                </a:r>
                <a:r>
                  <a:rPr lang="en-US" dirty="0" smtClean="0"/>
                  <a:t> = </a:t>
                </a:r>
                <a14:m>
                  <m:oMath xmlns:m="http://schemas.openxmlformats.org/officeDocument/2006/math">
                    <m:r>
                      <a:rPr lang="en-US" b="0" i="1" smtClean="0">
                        <a:latin typeface="Cambria Math" panose="02040503050406030204" pitchFamily="18" charset="0"/>
                      </a:rPr>
                      <m:t>0.3</m:t>
                    </m:r>
                    <m:r>
                      <a:rPr lang="en-US" b="0" i="1" smtClean="0">
                        <a:latin typeface="Cambria Math" panose="02040503050406030204" pitchFamily="18" charset="0"/>
                        <a:ea typeface="Cambria Math" panose="02040503050406030204" pitchFamily="18" charset="0"/>
                      </a:rPr>
                      <m:t>±0.201</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74557" y="524656"/>
                <a:ext cx="10907843" cy="5495144"/>
              </a:xfrm>
              <a:blipFill rotWithShape="0">
                <a:blip r:embed="rId2"/>
                <a:stretch>
                  <a:fillRect l="-1006" t="-887"/>
                </a:stretch>
              </a:blipFill>
            </p:spPr>
            <p:txBody>
              <a:bodyPr/>
              <a:lstStyle/>
              <a:p>
                <a:r>
                  <a:rPr lang="en-US">
                    <a:noFill/>
                  </a:rPr>
                  <a:t> </a:t>
                </a:r>
              </a:p>
            </p:txBody>
          </p:sp>
        </mc:Fallback>
      </mc:AlternateContent>
    </p:spTree>
    <p:extLst>
      <p:ext uri="{BB962C8B-B14F-4D97-AF65-F5344CB8AC3E}">
        <p14:creationId xmlns:p14="http://schemas.microsoft.com/office/powerpoint/2010/main" val="3252190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89613" y="623340"/>
            <a:ext cx="10997784" cy="5597577"/>
          </a:xfrm>
        </p:spPr>
        <p:txBody>
          <a:bodyPr/>
          <a:lstStyle/>
          <a:p>
            <a:r>
              <a:rPr lang="en-US" dirty="0" smtClean="0"/>
              <a:t>A company has determined that they either need a sample accurate to within 5% of the population proportion 99% of the time, or within 2% of the pop. Proportion 95% of the time. Which method requires a smaller sample? The population proportion is </a:t>
            </a:r>
            <a:r>
              <a:rPr lang="en-US" dirty="0" smtClean="0"/>
              <a:t>known </a:t>
            </a:r>
            <a:r>
              <a:rPr lang="en-US" dirty="0" smtClean="0"/>
              <a:t>to be roughly 40%.</a:t>
            </a:r>
          </a:p>
          <a:p>
            <a:endParaRPr lang="en-US" dirty="0"/>
          </a:p>
          <a:p>
            <a:endParaRPr lang="en-US" dirty="0"/>
          </a:p>
        </p:txBody>
      </p:sp>
    </p:spTree>
    <p:extLst>
      <p:ext uri="{BB962C8B-B14F-4D97-AF65-F5344CB8AC3E}">
        <p14:creationId xmlns:p14="http://schemas.microsoft.com/office/powerpoint/2010/main" val="3090838582"/>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469</TotalTime>
  <Words>618</Words>
  <Application>Microsoft Office PowerPoint</Application>
  <PresentationFormat>Widescreen</PresentationFormat>
  <Paragraphs>83</Paragraphs>
  <Slides>15</Slides>
  <Notes>2</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28" baseType="lpstr">
      <vt:lpstr>Arial</vt:lpstr>
      <vt:lpstr>Calibri</vt:lpstr>
      <vt:lpstr>Calibri Light</vt:lpstr>
      <vt:lpstr>Cambria Math</vt:lpstr>
      <vt:lpstr>Euclid Symbol</vt:lpstr>
      <vt:lpstr>Franklin Gothic Book</vt:lpstr>
      <vt:lpstr>Perpetua</vt:lpstr>
      <vt:lpstr>Symbol</vt:lpstr>
      <vt:lpstr>Times New Roman</vt:lpstr>
      <vt:lpstr>Wingdings 2</vt:lpstr>
      <vt:lpstr>Office Theme</vt:lpstr>
      <vt:lpstr>Equity</vt:lpstr>
      <vt:lpstr>Equation</vt:lpstr>
      <vt:lpstr>DOM105 2019</vt:lpstr>
      <vt:lpstr>Point and Interval Estimates</vt:lpstr>
      <vt:lpstr>Properties of good estimators</vt:lpstr>
      <vt:lpstr>Point Estimators – Most common to use sample values</vt:lpstr>
      <vt:lpstr>Confidence Interval for the Mean</vt:lpstr>
      <vt:lpstr>PowerPoint Presentation</vt:lpstr>
      <vt:lpstr>Confidence Interval (Std dev unknown)</vt:lpstr>
      <vt:lpstr>PowerPoint Presentation</vt:lpstr>
      <vt:lpstr>Confidence Interval for a Proportion </vt:lpstr>
      <vt:lpstr>Proportions continued</vt:lpstr>
      <vt:lpstr>Determining Sample Size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Quantitative Techniques in Management - I</dc:title>
  <dc:creator>Surya Majumdar</dc:creator>
  <cp:lastModifiedBy>Surya Majumdar</cp:lastModifiedBy>
  <cp:revision>21</cp:revision>
  <dcterms:created xsi:type="dcterms:W3CDTF">2015-02-12T05:05:37Z</dcterms:created>
  <dcterms:modified xsi:type="dcterms:W3CDTF">2019-01-22T07:19:12Z</dcterms:modified>
</cp:coreProperties>
</file>