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1"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6ECA127-2DAF-441B-9DA9-6E35C4A5CCD1}" type="datetimeFigureOut">
              <a:rPr lang="en-US" smtClean="0"/>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6174DF-A3BE-4D0E-8E26-BB923D188EE5}" type="slidenum">
              <a:rPr lang="en-US" smtClean="0"/>
              <a:t>‹#›</a:t>
            </a:fld>
            <a:endParaRPr lang="en-US"/>
          </a:p>
        </p:txBody>
      </p:sp>
    </p:spTree>
    <p:extLst>
      <p:ext uri="{BB962C8B-B14F-4D97-AF65-F5344CB8AC3E}">
        <p14:creationId xmlns:p14="http://schemas.microsoft.com/office/powerpoint/2010/main" val="30314219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6ECA127-2DAF-441B-9DA9-6E35C4A5CCD1}" type="datetimeFigureOut">
              <a:rPr lang="en-US" smtClean="0"/>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6174DF-A3BE-4D0E-8E26-BB923D188EE5}" type="slidenum">
              <a:rPr lang="en-US" smtClean="0"/>
              <a:t>‹#›</a:t>
            </a:fld>
            <a:endParaRPr lang="en-US"/>
          </a:p>
        </p:txBody>
      </p:sp>
    </p:spTree>
    <p:extLst>
      <p:ext uri="{BB962C8B-B14F-4D97-AF65-F5344CB8AC3E}">
        <p14:creationId xmlns:p14="http://schemas.microsoft.com/office/powerpoint/2010/main" val="3772253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6ECA127-2DAF-441B-9DA9-6E35C4A5CCD1}" type="datetimeFigureOut">
              <a:rPr lang="en-US" smtClean="0"/>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6174DF-A3BE-4D0E-8E26-BB923D188EE5}" type="slidenum">
              <a:rPr lang="en-US" smtClean="0"/>
              <a:t>‹#›</a:t>
            </a:fld>
            <a:endParaRPr lang="en-US"/>
          </a:p>
        </p:txBody>
      </p:sp>
    </p:spTree>
    <p:extLst>
      <p:ext uri="{BB962C8B-B14F-4D97-AF65-F5344CB8AC3E}">
        <p14:creationId xmlns:p14="http://schemas.microsoft.com/office/powerpoint/2010/main" val="3127119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6ECA127-2DAF-441B-9DA9-6E35C4A5CCD1}" type="datetimeFigureOut">
              <a:rPr lang="en-US" smtClean="0"/>
              <a:t>4/8/2019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6174DF-A3BE-4D0E-8E26-BB923D188EE5}" type="slidenum">
              <a:rPr lang="en-US" smtClean="0"/>
              <a:t>‹#›</a:t>
            </a:fld>
            <a:endParaRPr lang="en-US"/>
          </a:p>
        </p:txBody>
      </p:sp>
    </p:spTree>
    <p:extLst>
      <p:ext uri="{BB962C8B-B14F-4D97-AF65-F5344CB8AC3E}">
        <p14:creationId xmlns:p14="http://schemas.microsoft.com/office/powerpoint/2010/main" val="1654091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45127" y="2507550"/>
            <a:ext cx="5156200" cy="3680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7550"/>
            <a:ext cx="5181601" cy="3680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6ECA127-2DAF-441B-9DA9-6E35C4A5CCD1}" type="datetimeFigureOut">
              <a:rPr lang="en-US" smtClean="0"/>
              <a:t>4/8/2019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6174DF-A3BE-4D0E-8E26-BB923D188EE5}" type="slidenum">
              <a:rPr lang="en-US" smtClean="0"/>
              <a:t>‹#›</a:t>
            </a:fld>
            <a:endParaRPr lang="en-US"/>
          </a:p>
        </p:txBody>
      </p:sp>
      <p:sp>
        <p:nvSpPr>
          <p:cNvPr id="10" name="Title 9"/>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1325613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6ECA127-2DAF-441B-9DA9-6E35C4A5CCD1}" type="datetimeFigureOut">
              <a:rPr lang="en-US" smtClean="0"/>
              <a:t>4/8/2019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6174DF-A3BE-4D0E-8E26-BB923D188EE5}" type="slidenum">
              <a:rPr lang="en-US" smtClean="0"/>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058980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ECA127-2DAF-441B-9DA9-6E35C4A5CCD1}" type="datetimeFigureOut">
              <a:rPr lang="en-US" smtClean="0"/>
              <a:t>4/8/2019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6174DF-A3BE-4D0E-8E26-BB923D188EE5}" type="slidenum">
              <a:rPr lang="en-US" smtClean="0"/>
              <a:t>‹#›</a:t>
            </a:fld>
            <a:endParaRPr lang="en-US"/>
          </a:p>
        </p:txBody>
      </p:sp>
    </p:spTree>
    <p:extLst>
      <p:ext uri="{BB962C8B-B14F-4D97-AF65-F5344CB8AC3E}">
        <p14:creationId xmlns:p14="http://schemas.microsoft.com/office/powerpoint/2010/main" val="312055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en-US" smtClean="0"/>
              <a:t>Click to edit Master title style</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ECA127-2DAF-441B-9DA9-6E35C4A5CCD1}" type="datetimeFigureOut">
              <a:rPr lang="en-US" smtClean="0"/>
              <a:t>4/8/2019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6174DF-A3BE-4D0E-8E26-BB923D188EE5}" type="slidenum">
              <a:rPr lang="en-US" smtClean="0"/>
              <a:t>‹#›</a:t>
            </a:fld>
            <a:endParaRPr lang="en-US"/>
          </a:p>
        </p:txBody>
      </p:sp>
    </p:spTree>
    <p:extLst>
      <p:ext uri="{BB962C8B-B14F-4D97-AF65-F5344CB8AC3E}">
        <p14:creationId xmlns:p14="http://schemas.microsoft.com/office/powerpoint/2010/main" val="3416080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en-US" smtClean="0"/>
              <a:t>Click to edit Master title style</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ECA127-2DAF-441B-9DA9-6E35C4A5CCD1}" type="datetimeFigureOut">
              <a:rPr lang="en-US" smtClean="0"/>
              <a:t>4/8/2019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6174DF-A3BE-4D0E-8E26-BB923D188EE5}" type="slidenum">
              <a:rPr lang="en-US" smtClean="0"/>
              <a:t>‹#›</a:t>
            </a:fld>
            <a:endParaRPr lang="en-US"/>
          </a:p>
        </p:txBody>
      </p:sp>
    </p:spTree>
    <p:extLst>
      <p:ext uri="{BB962C8B-B14F-4D97-AF65-F5344CB8AC3E}">
        <p14:creationId xmlns:p14="http://schemas.microsoft.com/office/powerpoint/2010/main" val="3481548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6ECA127-2DAF-441B-9DA9-6E35C4A5CCD1}" type="datetimeFigureOut">
              <a:rPr lang="en-US" smtClean="0"/>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6174DF-A3BE-4D0E-8E26-BB923D188EE5}" type="slidenum">
              <a:rPr lang="en-US" smtClean="0"/>
              <a:t>‹#›</a:t>
            </a:fld>
            <a:endParaRPr lang="en-US"/>
          </a:p>
        </p:txBody>
      </p:sp>
    </p:spTree>
    <p:extLst>
      <p:ext uri="{BB962C8B-B14F-4D97-AF65-F5344CB8AC3E}">
        <p14:creationId xmlns:p14="http://schemas.microsoft.com/office/powerpoint/2010/main" val="18170700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6ECA127-2DAF-441B-9DA9-6E35C4A5CCD1}" type="datetimeFigureOut">
              <a:rPr lang="en-US" smtClean="0"/>
              <a:t>4/8/2019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6174DF-A3BE-4D0E-8E26-BB923D188EE5}" type="slidenum">
              <a:rPr lang="en-US" smtClean="0"/>
              <a:t>‹#›</a:t>
            </a:fld>
            <a:endParaRPr lang="en-US"/>
          </a:p>
        </p:txBody>
      </p:sp>
    </p:spTree>
    <p:extLst>
      <p:ext uri="{BB962C8B-B14F-4D97-AF65-F5344CB8AC3E}">
        <p14:creationId xmlns:p14="http://schemas.microsoft.com/office/powerpoint/2010/main" val="574473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36ECA127-2DAF-441B-9DA9-6E35C4A5CCD1}" type="datetimeFigureOut">
              <a:rPr lang="en-US" smtClean="0"/>
              <a:t>4/8/2019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406174DF-A3BE-4D0E-8E26-BB923D188EE5}" type="slidenum">
              <a:rPr lang="en-US" smtClean="0"/>
              <a:t>‹#›</a:t>
            </a:fld>
            <a:endParaRPr lang="en-US"/>
          </a:p>
        </p:txBody>
      </p:sp>
    </p:spTree>
    <p:extLst>
      <p:ext uri="{BB962C8B-B14F-4D97-AF65-F5344CB8AC3E}">
        <p14:creationId xmlns:p14="http://schemas.microsoft.com/office/powerpoint/2010/main" val="294813080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DOM105 2019</a:t>
            </a:r>
            <a:endParaRPr lang="en-IN" dirty="0"/>
          </a:p>
        </p:txBody>
      </p:sp>
      <p:sp>
        <p:nvSpPr>
          <p:cNvPr id="3" name="Subtitle 2"/>
          <p:cNvSpPr>
            <a:spLocks noGrp="1"/>
          </p:cNvSpPr>
          <p:nvPr>
            <p:ph type="subTitle" idx="1"/>
          </p:nvPr>
        </p:nvSpPr>
        <p:spPr/>
        <p:txBody>
          <a:bodyPr>
            <a:normAutofit/>
          </a:bodyPr>
          <a:lstStyle/>
          <a:p>
            <a:r>
              <a:rPr lang="en-US" sz="3200"/>
              <a:t>Session </a:t>
            </a:r>
            <a:r>
              <a:rPr lang="en-US" sz="3200" smtClean="0"/>
              <a:t>24</a:t>
            </a:r>
            <a:endParaRPr lang="en-US" sz="3200" dirty="0" smtClean="0"/>
          </a:p>
          <a:p>
            <a:r>
              <a:rPr lang="en-US" sz="3200" dirty="0" smtClean="0"/>
              <a:t>Reading: Kothari </a:t>
            </a:r>
            <a:r>
              <a:rPr lang="en-US" sz="3200" dirty="0" err="1"/>
              <a:t>ch.</a:t>
            </a:r>
            <a:r>
              <a:rPr lang="en-US" sz="3200" dirty="0"/>
              <a:t> </a:t>
            </a:r>
            <a:r>
              <a:rPr lang="en-US" sz="3200" dirty="0" smtClean="0"/>
              <a:t>10, 11</a:t>
            </a:r>
            <a:endParaRPr lang="en-IN" sz="3200" dirty="0"/>
          </a:p>
        </p:txBody>
      </p:sp>
    </p:spTree>
    <p:extLst>
      <p:ext uri="{BB962C8B-B14F-4D97-AF65-F5344CB8AC3E}">
        <p14:creationId xmlns:p14="http://schemas.microsoft.com/office/powerpoint/2010/main" val="16722319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l="10703" t="9062" r="25169" b="6563"/>
          <a:stretch/>
        </p:blipFill>
        <p:spPr>
          <a:xfrm>
            <a:off x="0" y="-667011"/>
            <a:ext cx="12192000" cy="7525011"/>
          </a:xfrm>
          <a:prstGeom prst="rect">
            <a:avLst/>
          </a:prstGeom>
        </p:spPr>
      </p:pic>
    </p:spTree>
    <p:extLst>
      <p:ext uri="{BB962C8B-B14F-4D97-AF65-F5344CB8AC3E}">
        <p14:creationId xmlns:p14="http://schemas.microsoft.com/office/powerpoint/2010/main" val="128553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19312" t="10001" r="17438" b="16874"/>
          <a:stretch/>
        </p:blipFill>
        <p:spPr>
          <a:xfrm>
            <a:off x="0" y="-1"/>
            <a:ext cx="12192000" cy="6968871"/>
          </a:xfrm>
          <a:prstGeom prst="rect">
            <a:avLst/>
          </a:prstGeom>
        </p:spPr>
      </p:pic>
    </p:spTree>
    <p:extLst>
      <p:ext uri="{BB962C8B-B14F-4D97-AF65-F5344CB8AC3E}">
        <p14:creationId xmlns:p14="http://schemas.microsoft.com/office/powerpoint/2010/main" val="3619304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Solving LP problems in Excel</a:t>
            </a:r>
            <a:endParaRPr lang="en-US" dirty="0"/>
          </a:p>
        </p:txBody>
      </p:sp>
      <p:sp>
        <p:nvSpPr>
          <p:cNvPr id="3" name="Content Placeholder 2"/>
          <p:cNvSpPr>
            <a:spLocks noGrp="1"/>
          </p:cNvSpPr>
          <p:nvPr>
            <p:ph idx="1"/>
          </p:nvPr>
        </p:nvSpPr>
        <p:spPr/>
        <p:txBody>
          <a:bodyPr>
            <a:normAutofit/>
          </a:bodyPr>
          <a:lstStyle/>
          <a:p>
            <a:r>
              <a:rPr lang="en-US" dirty="0" smtClean="0"/>
              <a:t>LP Problems can be solved in Excel using the Solver tool under the “Data” tab.</a:t>
            </a:r>
          </a:p>
          <a:p>
            <a:r>
              <a:rPr lang="en-US" dirty="0" smtClean="0"/>
              <a:t>First, set up the linear programming equations and constraints using the information given  in a problem, then implement those equations in Excel before solving them.</a:t>
            </a:r>
          </a:p>
          <a:p>
            <a:r>
              <a:rPr lang="en-US" dirty="0" smtClean="0"/>
              <a:t>Excel Solver gives the option of using Simplex method to solve the problem.</a:t>
            </a:r>
          </a:p>
        </p:txBody>
      </p:sp>
    </p:spTree>
    <p:extLst>
      <p:ext uri="{BB962C8B-B14F-4D97-AF65-F5344CB8AC3E}">
        <p14:creationId xmlns:p14="http://schemas.microsoft.com/office/powerpoint/2010/main" val="2348636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2263" y="272956"/>
            <a:ext cx="10828464" cy="5907182"/>
          </a:xfrm>
        </p:spPr>
        <p:txBody>
          <a:bodyPr/>
          <a:lstStyle/>
          <a:p>
            <a:r>
              <a:rPr lang="en-CA" dirty="0" smtClean="0"/>
              <a:t>Shadow price (Found in Sensitivity report of Excel Solver):</a:t>
            </a:r>
          </a:p>
          <a:p>
            <a:r>
              <a:rPr lang="en-CA" dirty="0" smtClean="0"/>
              <a:t>Increasing the RHS of any constraint by 1 will increase the optimum value by the shadow price of that constraint (or decrease if shadow price is negative)</a:t>
            </a:r>
          </a:p>
          <a:p>
            <a:endParaRPr lang="en-CA" dirty="0" smtClean="0"/>
          </a:p>
          <a:p>
            <a:r>
              <a:rPr lang="en-CA" dirty="0" smtClean="0"/>
              <a:t>Allowable increase/decrease:</a:t>
            </a:r>
          </a:p>
          <a:p>
            <a:r>
              <a:rPr lang="en-CA" dirty="0" smtClean="0"/>
              <a:t>Represents the range of values by which a constraint RHS can be increased or decreased, without affecting the optimality equation. Within the allowable range, a change to the constraint RHS will change the optimal value by the shadow price * amount of change. </a:t>
            </a:r>
            <a:endParaRPr lang="en-US" dirty="0"/>
          </a:p>
        </p:txBody>
      </p:sp>
    </p:spTree>
    <p:extLst>
      <p:ext uri="{BB962C8B-B14F-4D97-AF65-F5344CB8AC3E}">
        <p14:creationId xmlns:p14="http://schemas.microsoft.com/office/powerpoint/2010/main" val="1077101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77672" y="0"/>
                <a:ext cx="11104728" cy="6858000"/>
              </a:xfrm>
            </p:spPr>
            <p:txBody>
              <a:bodyPr>
                <a:normAutofit/>
              </a:bodyPr>
              <a:lstStyle/>
              <a:p>
                <a:pPr marL="0" indent="0">
                  <a:buNone/>
                </a:pPr>
                <a:r>
                  <a:rPr lang="en-US" dirty="0" smtClean="0"/>
                  <a:t>Q: A company can produce two different products.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𝑖</m:t>
                        </m:r>
                      </m:sub>
                    </m:sSub>
                  </m:oMath>
                </a14:m>
                <a:r>
                  <a:rPr lang="en-US" dirty="0" smtClean="0"/>
                  <a:t> represents the amount of labor put into the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𝑡h</m:t>
                        </m:r>
                      </m:sup>
                    </m:sSup>
                  </m:oMath>
                </a14:m>
                <a:r>
                  <a:rPr lang="en-US" dirty="0" smtClean="0"/>
                  <a:t> product, and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𝑟</m:t>
                        </m:r>
                      </m:e>
                      <m:sub>
                        <m:r>
                          <a:rPr lang="en-US" i="1">
                            <a:latin typeface="Cambria Math" panose="02040503050406030204" pitchFamily="18" charset="0"/>
                          </a:rPr>
                          <m:t>𝑖</m:t>
                        </m:r>
                      </m:sub>
                    </m:sSub>
                  </m:oMath>
                </a14:m>
                <a:r>
                  <a:rPr lang="en-US" dirty="0" smtClean="0"/>
                  <a:t> represents raw materials. The earnings from each product are as follows:</a:t>
                </a:r>
              </a:p>
              <a:p>
                <a:pPr marL="0" indent="0">
                  <a:buNone/>
                </a:pPr>
                <a:r>
                  <a:rPr lang="en-US" dirty="0" smtClean="0"/>
                  <a:t>Product 1 earnings: </a:t>
                </a:r>
                <a14:m>
                  <m:oMath xmlns:m="http://schemas.openxmlformats.org/officeDocument/2006/math">
                    <m:r>
                      <a:rPr lang="en-US" b="0" i="1" smtClean="0">
                        <a:latin typeface="Cambria Math" panose="02040503050406030204" pitchFamily="18" charset="0"/>
                      </a:rPr>
                      <m:t>6</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5</m:t>
                        </m:r>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1" smtClean="0">
                        <a:latin typeface="Cambria Math" panose="02040503050406030204" pitchFamily="18" charset="0"/>
                      </a:rPr>
                      <m:t>−35</m:t>
                    </m:r>
                  </m:oMath>
                </a14:m>
                <a:endParaRPr lang="en-US" dirty="0" smtClean="0"/>
              </a:p>
              <a:p>
                <a:pPr marL="0" indent="0">
                  <a:buNone/>
                </a:pPr>
                <a:r>
                  <a:rPr lang="en-US" dirty="0"/>
                  <a:t>Product </a:t>
                </a:r>
                <a:r>
                  <a:rPr lang="en-US" dirty="0" smtClean="0"/>
                  <a:t>2 </a:t>
                </a:r>
                <a:r>
                  <a:rPr lang="en-US" dirty="0"/>
                  <a:t>earnings: </a:t>
                </a:r>
                <a14:m>
                  <m:oMath xmlns:m="http://schemas.openxmlformats.org/officeDocument/2006/math">
                    <m:r>
                      <a:rPr lang="en-US" i="1" smtClean="0">
                        <a:latin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𝑙</m:t>
                        </m:r>
                      </m:e>
                      <m:sub>
                        <m:r>
                          <a:rPr lang="en-US" b="0" i="1" smtClean="0">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7</m:t>
                        </m:r>
                        <m:r>
                          <a:rPr lang="en-US" i="1">
                            <a:latin typeface="Cambria Math" panose="02040503050406030204" pitchFamily="18" charset="0"/>
                          </a:rPr>
                          <m:t>𝑟</m:t>
                        </m:r>
                      </m:e>
                      <m:sub>
                        <m:r>
                          <a:rPr lang="en-US" b="0" i="1" smtClean="0">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60</m:t>
                    </m:r>
                  </m:oMath>
                </a14:m>
                <a:endParaRPr lang="en-US" dirty="0" smtClean="0"/>
              </a:p>
              <a:p>
                <a:pPr marL="0" indent="0">
                  <a:buNone/>
                </a:pPr>
                <a:r>
                  <a:rPr lang="en-US" dirty="0" smtClean="0"/>
                  <a:t>Each product must have at least 30 labor and 20 raw materials.</a:t>
                </a:r>
              </a:p>
              <a:p>
                <a:pPr marL="0" indent="0">
                  <a:buNone/>
                </a:pPr>
                <a:r>
                  <a:rPr lang="en-US" dirty="0" smtClean="0"/>
                  <a:t>The total labor available to the company is between 200 and 300, and the total raw materials available is between 120 and 150. Raw materials must be less than or equal to 0.7 of the amount of labor assigned to a product. How much labor and raw materials must be assigned to each product to maximize total earnings?</a:t>
                </a:r>
              </a:p>
              <a:p>
                <a:pPr marL="0" indent="0">
                  <a:buNone/>
                </a:pPr>
                <a:endParaRPr lang="en-US" dirty="0"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77672" y="0"/>
                <a:ext cx="11104728" cy="6858000"/>
              </a:xfrm>
              <a:blipFill rotWithShape="0">
                <a:blip r:embed="rId2"/>
                <a:stretch>
                  <a:fillRect l="-1098" t="-1422"/>
                </a:stretch>
              </a:blipFill>
            </p:spPr>
            <p:txBody>
              <a:bodyPr/>
              <a:lstStyle/>
              <a:p>
                <a:r>
                  <a:rPr lang="en-US">
                    <a:noFill/>
                  </a:rPr>
                  <a:t> </a:t>
                </a:r>
              </a:p>
            </p:txBody>
          </p:sp>
        </mc:Fallback>
      </mc:AlternateContent>
    </p:spTree>
    <p:extLst>
      <p:ext uri="{BB962C8B-B14F-4D97-AF65-F5344CB8AC3E}">
        <p14:creationId xmlns:p14="http://schemas.microsoft.com/office/powerpoint/2010/main" val="1008664289"/>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TM02900771[[fn=Slice]]</Template>
  <TotalTime>223</TotalTime>
  <Words>177</Words>
  <Application>Microsoft Office PowerPoint</Application>
  <PresentationFormat>Widescreen</PresentationFormat>
  <Paragraphs>17</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Calibri</vt:lpstr>
      <vt:lpstr>Calibri Light</vt:lpstr>
      <vt:lpstr>Cambria Math</vt:lpstr>
      <vt:lpstr>Wingdings 2</vt:lpstr>
      <vt:lpstr>HDOfficeLightV0</vt:lpstr>
      <vt:lpstr>DOM105 2019</vt:lpstr>
      <vt:lpstr>PowerPoint Presentation</vt:lpstr>
      <vt:lpstr>PowerPoint Presentation</vt:lpstr>
      <vt:lpstr>Solving LP problems in Excel</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DOM101</dc:title>
  <dc:creator>Surya Majumdar</dc:creator>
  <cp:lastModifiedBy>Surya Majumdar</cp:lastModifiedBy>
  <cp:revision>13</cp:revision>
  <dcterms:created xsi:type="dcterms:W3CDTF">2016-04-19T09:11:23Z</dcterms:created>
  <dcterms:modified xsi:type="dcterms:W3CDTF">2019-04-08T09:36:10Z</dcterms:modified>
</cp:coreProperties>
</file>