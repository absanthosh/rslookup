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76" r:id="rId9"/>
    <p:sldId id="269" r:id="rId10"/>
    <p:sldId id="272" r:id="rId11"/>
    <p:sldId id="277" r:id="rId12"/>
    <p:sldId id="273" r:id="rId13"/>
    <p:sldId id="262" r:id="rId14"/>
    <p:sldId id="275" r:id="rId15"/>
    <p:sldId id="264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 snapToGrid="0">
      <p:cViewPr varScale="1">
        <p:scale>
          <a:sx n="89" d="100"/>
          <a:sy n="89" d="100"/>
        </p:scale>
        <p:origin x="40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3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3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2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8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8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4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59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2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8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4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8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29498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092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83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41921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54157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572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70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28937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18266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80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159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C506285-2E2A-4651-ADEF-5DA40834F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3639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A13A525-B6A0-413A-9FDC-A7A6810D9E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162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52FCD-138B-4F4D-BA1D-4709349C0556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36A44-608B-4FD8-9A6E-A6B4F6CF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8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Session 8-9</a:t>
            </a:r>
          </a:p>
          <a:p>
            <a:r>
              <a:rPr lang="en-US" sz="3200" dirty="0" smtClean="0"/>
              <a:t>Reading: </a:t>
            </a:r>
            <a:r>
              <a:rPr lang="en-US" sz="3200" dirty="0" err="1" smtClean="0"/>
              <a:t>SfM</a:t>
            </a:r>
            <a:r>
              <a:rPr lang="en-US" sz="3200" dirty="0" smtClean="0"/>
              <a:t> Ch. </a:t>
            </a:r>
            <a:r>
              <a:rPr lang="en-US" sz="3200" dirty="0"/>
              <a:t>9</a:t>
            </a:r>
            <a:endParaRPr lang="en-US" sz="3200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DOM105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58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What is a Hypothesis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Hypothesis is a </a:t>
            </a:r>
            <a:r>
              <a:rPr lang="en-US" dirty="0" smtClean="0"/>
              <a:t>Claim </a:t>
            </a:r>
            <a:r>
              <a:rPr lang="en-US" dirty="0"/>
              <a:t>about a </a:t>
            </a:r>
            <a:r>
              <a:rPr lang="en-US" dirty="0" smtClean="0"/>
              <a:t>Population parameter such as population mean or </a:t>
            </a:r>
            <a:r>
              <a:rPr lang="en-US" dirty="0"/>
              <a:t>proportion or </a:t>
            </a:r>
            <a:r>
              <a:rPr lang="en-US" dirty="0" err="1"/>
              <a:t>std</a:t>
            </a:r>
            <a:r>
              <a:rPr lang="en-US" dirty="0"/>
              <a:t> </a:t>
            </a:r>
            <a:r>
              <a:rPr lang="en-US" dirty="0" smtClean="0"/>
              <a:t>dev </a:t>
            </a:r>
            <a:endParaRPr lang="en-US" dirty="0" smtClean="0"/>
          </a:p>
          <a:p>
            <a:r>
              <a:rPr lang="en-US" dirty="0" smtClean="0"/>
              <a:t>Example: I hypothesize that the average IQ score of IBM employees is above 120.</a:t>
            </a:r>
          </a:p>
          <a:p>
            <a:r>
              <a:rPr lang="en-US" dirty="0" smtClean="0"/>
              <a:t>Status Quo (H0): Average IQ is less than </a:t>
            </a:r>
            <a:r>
              <a:rPr lang="en-US" b="1" dirty="0" smtClean="0"/>
              <a:t>or</a:t>
            </a:r>
            <a:r>
              <a:rPr lang="en-US" dirty="0" smtClean="0"/>
              <a:t> </a:t>
            </a:r>
            <a:r>
              <a:rPr lang="en-US" b="1" dirty="0" smtClean="0"/>
              <a:t>equal</a:t>
            </a:r>
            <a:r>
              <a:rPr lang="en-US" dirty="0" smtClean="0"/>
              <a:t> to 120.</a:t>
            </a:r>
          </a:p>
          <a:p>
            <a:r>
              <a:rPr lang="en-US" dirty="0" smtClean="0"/>
              <a:t>Alternative hypothesis (H1): IQ </a:t>
            </a:r>
            <a:r>
              <a:rPr lang="en-US" b="1" dirty="0" smtClean="0"/>
              <a:t>above 120.</a:t>
            </a:r>
          </a:p>
          <a:p>
            <a:endParaRPr lang="en-US" b="1" dirty="0"/>
          </a:p>
          <a:p>
            <a:r>
              <a:rPr lang="en-US" dirty="0" smtClean="0"/>
              <a:t>If we said “Average IQ is above </a:t>
            </a:r>
            <a:r>
              <a:rPr lang="en-US" b="1" dirty="0" smtClean="0"/>
              <a:t>or equal </a:t>
            </a:r>
            <a:r>
              <a:rPr lang="en-US" dirty="0" smtClean="0"/>
              <a:t>to 120”, then that would be H0, with alt. hypothesis H1: “Average IQ less than 120”.</a:t>
            </a:r>
          </a:p>
          <a:p>
            <a:r>
              <a:rPr lang="en-US" dirty="0" smtClean="0"/>
              <a:t>Please note the ‘equal to’ statement is always placed in H0, whereas the strict inequality is placed in H1.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Significance level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purpose of hypothesis testing is to make a judgment about the difference between a sample statistic and the hypothesized population parameter.</a:t>
                </a:r>
              </a:p>
              <a:p>
                <a:r>
                  <a:rPr lang="en-US" dirty="0" smtClean="0"/>
                  <a:t>If we assume a hypothesis is true, then the significance level indicates the percentage of sample statistics that is outside hypothesized limits.</a:t>
                </a:r>
              </a:p>
              <a:p>
                <a:r>
                  <a:rPr lang="en-US" dirty="0" smtClean="0"/>
                  <a:t>The higher the significance level, the greater the chance of rejecting a null hypothesis when its true. This is called Type I error.</a:t>
                </a:r>
              </a:p>
              <a:p>
                <a:r>
                  <a:rPr lang="en-US" dirty="0" smtClean="0"/>
                  <a:t>Probability of Type I error: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61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Hypothesis testing errors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3360419" y="2476498"/>
          <a:ext cx="6315843" cy="2832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5281"/>
                <a:gridCol w="2105281"/>
                <a:gridCol w="2105281"/>
              </a:tblGrid>
              <a:tr h="5664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 dirty="0">
                          <a:effectLst/>
                        </a:rPr>
                        <a:t>Decision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>
                          <a:effectLst/>
                        </a:rPr>
                        <a:t>H</a:t>
                      </a:r>
                      <a:r>
                        <a:rPr lang="en-US" sz="2200">
                          <a:effectLst/>
                        </a:rPr>
                        <a:t>0</a:t>
                      </a:r>
                      <a:r>
                        <a:rPr lang="en-US" sz="3300">
                          <a:effectLst/>
                        </a:rPr>
                        <a:t>: True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>
                          <a:effectLst/>
                        </a:rPr>
                        <a:t>H</a:t>
                      </a:r>
                      <a:r>
                        <a:rPr lang="en-US" sz="2200">
                          <a:effectLst/>
                        </a:rPr>
                        <a:t>0</a:t>
                      </a:r>
                      <a:r>
                        <a:rPr lang="en-US" sz="3300">
                          <a:effectLst/>
                        </a:rPr>
                        <a:t>: False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</a:tr>
              <a:tr h="11329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 dirty="0">
                          <a:effectLst/>
                        </a:rPr>
                        <a:t>Accept H</a:t>
                      </a:r>
                      <a:r>
                        <a:rPr lang="en-US" sz="2200" dirty="0">
                          <a:effectLst/>
                        </a:rPr>
                        <a:t>0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 dirty="0">
                          <a:effectLst/>
                        </a:rPr>
                        <a:t>Correct decision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>
                          <a:effectLst/>
                        </a:rPr>
                        <a:t>“Type II”error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</a:tr>
              <a:tr h="11329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>
                          <a:effectLst/>
                        </a:rPr>
                        <a:t>Reject H</a:t>
                      </a:r>
                      <a:r>
                        <a:rPr lang="en-US" sz="2200">
                          <a:effectLst/>
                        </a:rPr>
                        <a:t>0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>
                          <a:effectLst/>
                        </a:rPr>
                        <a:t>“Type I”error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300" dirty="0">
                          <a:effectLst/>
                        </a:rPr>
                        <a:t>Correct decision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one-tailed and two-tailed tests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Two-tails means there is a region on both sides of the null hypothesis where the hypothesis may be rejected.</a:t>
            </a:r>
          </a:p>
          <a:p>
            <a:r>
              <a:rPr lang="en-US" dirty="0" smtClean="0"/>
              <a:t>One-tailed test is when a hypothesis is rejected only if the sample statistic is too low or too high.</a:t>
            </a:r>
          </a:p>
          <a:p>
            <a:r>
              <a:rPr lang="en-US" dirty="0" smtClean="0"/>
              <a:t>The border values at which a null hypothesis is rejected is called the </a:t>
            </a:r>
            <a:r>
              <a:rPr lang="en-US" b="1" dirty="0" smtClean="0"/>
              <a:t>critical values</a:t>
            </a:r>
            <a:endParaRPr lang="en-US" dirty="0" smtClean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08123151"/>
                  </p:ext>
                </p:extLst>
              </p:nvPr>
            </p:nvGraphicFramePr>
            <p:xfrm>
              <a:off x="1219200" y="4191000"/>
              <a:ext cx="10363200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4400"/>
                    <a:gridCol w="3454400"/>
                    <a:gridCol w="3454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Test-type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Two-tailed test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Left-tailed test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Right-tailed test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08123151"/>
                  </p:ext>
                </p:extLst>
              </p:nvPr>
            </p:nvGraphicFramePr>
            <p:xfrm>
              <a:off x="1219200" y="4191000"/>
              <a:ext cx="10363200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4400"/>
                    <a:gridCol w="3454400"/>
                    <a:gridCol w="3454400"/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53" t="-11765" r="-20070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30" t="-11765" r="-101060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Test-type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53" t="-110465" r="-20070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30" t="-110465" r="-101060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Two-tailed test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53" t="-212941" r="-20070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30" t="-212941" r="-101060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Left-tailed test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53" t="-312941" r="-20070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30" t="-312941" r="-101060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 smtClean="0"/>
                            <a:t>Right-tailed test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285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Hypothesis testing of mean when population </a:t>
            </a:r>
            <a:r>
              <a:rPr lang="en-US" dirty="0" err="1" smtClean="0"/>
              <a:t>std</a:t>
            </a:r>
            <a:r>
              <a:rPr lang="en-US" dirty="0" smtClean="0"/>
              <a:t> dev is known or n&gt;100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089478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 smtClean="0"/>
                  <a:t>Significance level: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3200" dirty="0" smtClean="0"/>
                  <a:t>, 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 smtClean="0"/>
                  <a:t>, hypothesized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 smtClean="0"/>
                  <a:t>, sample size: </a:t>
                </a:r>
                <a:r>
                  <a:rPr lang="en-US" sz="3200" i="1" dirty="0" smtClean="0"/>
                  <a:t>n, </a:t>
                </a:r>
                <a:r>
                  <a:rPr lang="en-US" sz="3200" dirty="0" smtClean="0"/>
                  <a:t>Population </a:t>
                </a:r>
                <a:r>
                  <a:rPr lang="en-US" sz="3200" dirty="0" err="1" smtClean="0"/>
                  <a:t>std</a:t>
                </a:r>
                <a:r>
                  <a:rPr lang="en-US" sz="3200" dirty="0" smtClean="0"/>
                  <a:t> </a:t>
                </a:r>
                <a:r>
                  <a:rPr lang="en-US" sz="3200" dirty="0" err="1" smtClean="0"/>
                  <a:t>dev</a:t>
                </a:r>
                <a:r>
                  <a:rPr lang="en-US" sz="3200" dirty="0" smtClean="0"/>
                  <a:t>: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 smtClean="0"/>
                  <a:t>, Sample </a:t>
                </a:r>
                <a:r>
                  <a:rPr lang="en-US" sz="3200" dirty="0" err="1" smtClean="0"/>
                  <a:t>std</a:t>
                </a:r>
                <a:r>
                  <a:rPr lang="en-US" sz="3200" dirty="0" smtClean="0"/>
                  <a:t> error: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200" dirty="0" smtClean="0"/>
                  <a:t>   </a:t>
                </a:r>
              </a:p>
              <a:p>
                <a:endParaRPr lang="en-US" sz="3200" dirty="0" smtClean="0"/>
              </a:p>
              <a:p>
                <a:r>
                  <a:rPr lang="en-US" sz="3200" dirty="0" smtClean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3200" dirty="0" smtClean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 smtClean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endParaRPr lang="en-US" sz="3200" dirty="0" smtClean="0"/>
              </a:p>
              <a:p>
                <a:endParaRPr lang="en-US" sz="3200" dirty="0" smtClean="0"/>
              </a:p>
              <a:p>
                <a:r>
                  <a:rPr lang="en-US" sz="3200" dirty="0" smtClean="0"/>
                  <a:t>Left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32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 smtClean="0"/>
                  <a:t>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−|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endParaRPr lang="en-US" sz="3200" dirty="0" smtClean="0"/>
              </a:p>
              <a:p>
                <a:endParaRPr lang="en-US" sz="3200" dirty="0" smtClean="0"/>
              </a:p>
              <a:p>
                <a:r>
                  <a:rPr lang="en-US" sz="3200" dirty="0" smtClean="0"/>
                  <a:t>Right </a:t>
                </a:r>
                <a:r>
                  <a:rPr lang="en-US" sz="3200" dirty="0"/>
                  <a:t>tailed </a:t>
                </a:r>
                <a:r>
                  <a:rPr lang="en-US" sz="3200" dirty="0" smtClean="0"/>
                  <a:t>test: </a:t>
                </a:r>
                <a:r>
                  <a:rPr lang="en-US" sz="320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32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200" dirty="0"/>
                  <a:t> </a:t>
                </a:r>
                <a:r>
                  <a:rPr lang="en-US" sz="3200" dirty="0" smtClean="0"/>
                  <a:t>greater </a:t>
                </a:r>
                <a:r>
                  <a:rPr lang="en-US" sz="3200" dirty="0"/>
                  <a:t>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089478"/>
              </a:xfrm>
              <a:blipFill rotWithShape="0">
                <a:blip r:embed="rId2"/>
                <a:stretch>
                  <a:fillRect l="-882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56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Hypothesis testing alternate method using Z score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02123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800" dirty="0" smtClean="0"/>
                  <a:t>Significance level: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, 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, hypothesized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sample size: </a:t>
                </a:r>
                <a:r>
                  <a:rPr lang="en-US" sz="2800" i="1" dirty="0"/>
                  <a:t>n, </a:t>
                </a:r>
                <a:r>
                  <a:rPr lang="en-US" sz="2800" dirty="0"/>
                  <a:t>Population </a:t>
                </a:r>
                <a:r>
                  <a:rPr lang="en-US" sz="2800" dirty="0" err="1"/>
                  <a:t>std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dev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Standard error: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CA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CA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 smtClean="0"/>
              </a:p>
              <a:p>
                <a:pPr marL="0" indent="0">
                  <a:buNone/>
                </a:pPr>
                <a:endParaRPr lang="en-US" sz="2800" dirty="0"/>
              </a:p>
              <a:p>
                <a:r>
                  <a:rPr lang="en-US" sz="28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CA" sz="2800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Left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>
                        <a:latin typeface="Cambria Math" panose="02040503050406030204" pitchFamily="18" charset="0"/>
                      </a:rPr>
                      <m:t>Z</m:t>
                    </m:r>
                    <m:r>
                      <a:rPr lang="en-CA" sz="28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sz="2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/>
                  <a:t>less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Right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>
                        <a:latin typeface="Cambria Math" panose="02040503050406030204" pitchFamily="18" charset="0"/>
                      </a:rPr>
                      <m:t>Z</m:t>
                    </m:r>
                    <m:r>
                      <a:rPr lang="en-CA" sz="28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sz="2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 smtClean="0"/>
                  <a:t>greater </a:t>
                </a:r>
                <a:r>
                  <a:rPr lang="en-US" sz="2800" dirty="0"/>
                  <a:t>than</a:t>
                </a: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021239"/>
              </a:xfrm>
              <a:blipFill rotWithShape="0">
                <a:blip r:embed="rId2"/>
                <a:stretch>
                  <a:fillRect l="-706" t="-1699" r="-1176" b="-3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89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IBM example where we hypothesize that IQ is above 120, is a right-tailed test.</a:t>
                </a:r>
              </a:p>
              <a:p>
                <a:r>
                  <a:rPr lang="en-US" dirty="0" smtClean="0"/>
                  <a:t>H0: IQ&lt;=120, H1: IQ&gt;120</a:t>
                </a:r>
              </a:p>
              <a:p>
                <a:r>
                  <a:rPr lang="en-US" dirty="0" smtClean="0"/>
                  <a:t>We reject it if sample IQ above 120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If confidence level is 90% (alpha=0.1) and a pop </a:t>
                </a:r>
                <a:r>
                  <a:rPr lang="en-US" dirty="0" err="1" smtClean="0"/>
                  <a:t>std</a:t>
                </a:r>
                <a:r>
                  <a:rPr lang="en-US" dirty="0" smtClean="0"/>
                  <a:t> dev of 10, n=100,</a:t>
                </a:r>
              </a:p>
              <a:p>
                <a:r>
                  <a:rPr lang="en-US" dirty="0" smtClean="0"/>
                  <a:t>This means we reject if sample IQ above 120+|-1.28|*10/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r>
                  <a:rPr lang="en-US" dirty="0" smtClean="0"/>
                  <a:t>=121.28</a:t>
                </a:r>
              </a:p>
              <a:p>
                <a:r>
                  <a:rPr lang="en-US" dirty="0" smtClean="0"/>
                  <a:t>If we accept an increase in chance of type I error by increasing alpha to 0.2</a:t>
                </a:r>
              </a:p>
              <a:p>
                <a:r>
                  <a:rPr lang="en-US" dirty="0"/>
                  <a:t>Then we reject </a:t>
                </a:r>
                <a:r>
                  <a:rPr lang="en-US" dirty="0" smtClean="0"/>
                  <a:t>H0 if </a:t>
                </a:r>
                <a:r>
                  <a:rPr lang="en-US" dirty="0"/>
                  <a:t>sample IQ above 120</a:t>
                </a:r>
                <a:r>
                  <a:rPr lang="en-US" dirty="0" smtClean="0"/>
                  <a:t>+|-0.84|*</a:t>
                </a:r>
                <a:r>
                  <a:rPr lang="en-US" dirty="0"/>
                  <a:t>10/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r>
                  <a:rPr lang="en-US" dirty="0"/>
                  <a:t>=</a:t>
                </a:r>
                <a:r>
                  <a:rPr lang="en-US" dirty="0" smtClean="0"/>
                  <a:t>120.84</a:t>
                </a:r>
              </a:p>
              <a:p>
                <a:r>
                  <a:rPr lang="en-US" dirty="0" smtClean="0"/>
                  <a:t>If sample mean was 121, then we reject H0 at 80% confidence, and accept it at 90% confidence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57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of mean when population </a:t>
            </a:r>
            <a:r>
              <a:rPr lang="en-US" dirty="0" err="1"/>
              <a:t>std</a:t>
            </a:r>
            <a:r>
              <a:rPr lang="en-US" dirty="0"/>
              <a:t> dev is </a:t>
            </a:r>
            <a:r>
              <a:rPr lang="en-US" dirty="0" smtClean="0"/>
              <a:t>unknown, n&lt;100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Significance level: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, 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, hypothesized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sample size: </a:t>
                </a:r>
                <a:r>
                  <a:rPr lang="en-US" sz="2800" i="1" dirty="0"/>
                  <a:t>n, </a:t>
                </a:r>
                <a:r>
                  <a:rPr lang="en-US" sz="2800" dirty="0" smtClean="0"/>
                  <a:t>Sample </a:t>
                </a:r>
                <a:r>
                  <a:rPr lang="en-US" sz="2800" dirty="0" err="1"/>
                  <a:t>std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dev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 smtClean="0"/>
                  <a:t>, Sample standard error: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2800" dirty="0" smtClean="0"/>
                  <a:t>Left </a:t>
                </a:r>
                <a:r>
                  <a:rPr lang="en-US" sz="2800" dirty="0"/>
                  <a:t>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CA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2800" dirty="0" smtClean="0"/>
                  <a:t>Right </a:t>
                </a:r>
                <a:r>
                  <a:rPr lang="en-US" sz="2800" dirty="0"/>
                  <a:t>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CA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706" t="-1333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723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Hypothesis testing alternate method using t score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0212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800" dirty="0" smtClean="0"/>
                  <a:t>Significance level: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, 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, hypothesized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sample size: </a:t>
                </a:r>
                <a:r>
                  <a:rPr lang="en-US" sz="2800" i="1" dirty="0"/>
                  <a:t>n, </a:t>
                </a:r>
                <a:r>
                  <a:rPr lang="en-US" sz="2800" dirty="0"/>
                  <a:t>Population </a:t>
                </a:r>
                <a:r>
                  <a:rPr lang="en-US" sz="2800" dirty="0" err="1"/>
                  <a:t>std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dev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Degrees of freedom = n-1, Standard error: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CA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CA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CA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CA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CA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CA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CA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 smtClean="0"/>
              </a:p>
              <a:p>
                <a:pPr marL="0" indent="0">
                  <a:buNone/>
                </a:pPr>
                <a:endParaRPr lang="en-US" sz="2800" dirty="0"/>
              </a:p>
              <a:p>
                <a:r>
                  <a:rPr lang="en-US" sz="28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CA" sz="2800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Left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CA" sz="28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sz="2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/>
                  <a:t>less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−|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Right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CA" sz="28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sz="2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 smtClean="0"/>
                  <a:t>greater </a:t>
                </a:r>
                <a:r>
                  <a:rPr lang="en-US" sz="2800" dirty="0"/>
                  <a:t>than</a:t>
                </a: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021239"/>
              </a:xfrm>
              <a:blipFill rotWithShape="0">
                <a:blip r:embed="rId2"/>
                <a:stretch>
                  <a:fillRect l="-588" t="-1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784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 sample of 20 households have an average income of 14 lakhs with </a:t>
                </a:r>
                <a:r>
                  <a:rPr lang="en-US" dirty="0" err="1" smtClean="0"/>
                  <a:t>stdev</a:t>
                </a:r>
                <a:r>
                  <a:rPr lang="en-US" dirty="0" smtClean="0"/>
                  <a:t> 3.2 lakhs. Can we say at 20% significance that the average income is above 13 lakhs?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=14,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=3.2,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H0: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≤13</m:t>
                    </m:r>
                  </m:oMath>
                </a14:m>
                <a:r>
                  <a:rPr lang="en-US" dirty="0" smtClean="0"/>
                  <a:t>, H1: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dirty="0" smtClean="0"/>
                  <a:t>, thus right-tailed test,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Critical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 smtClean="0"/>
                  <a:t> (</a:t>
                </a:r>
                <a:r>
                  <a:rPr lang="en-US" dirty="0" err="1" smtClean="0"/>
                  <a:t>df</a:t>
                </a:r>
                <a:r>
                  <a:rPr lang="en-US" dirty="0" smtClean="0"/>
                  <a:t>=19) = 13 + 0.861*3.2/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lang="en-US" dirty="0" smtClean="0"/>
                  <a:t> = 13.616</a:t>
                </a:r>
              </a:p>
              <a:p>
                <a:r>
                  <a:rPr lang="en-US" dirty="0" smtClean="0"/>
                  <a:t>Since sample mean is above critical value, we reject H0 at significance 20%.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5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Hypothesis testing of </a:t>
            </a:r>
            <a:r>
              <a:rPr lang="en-US" dirty="0" smtClean="0"/>
              <a:t>proportion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Significance level: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Sample proportion</a:t>
                </a:r>
                <a:r>
                  <a:rPr lang="en-US" sz="2800" i="1" dirty="0" smtClean="0"/>
                  <a:t>: p,</a:t>
                </a:r>
                <a:r>
                  <a:rPr lang="en-US" sz="2800" dirty="0" smtClean="0"/>
                  <a:t> </a:t>
                </a:r>
                <a:r>
                  <a:rPr lang="en-US" sz="2800" dirty="0"/>
                  <a:t>hypothesized </a:t>
                </a:r>
                <a:r>
                  <a:rPr lang="en-US" sz="2800" dirty="0" smtClean="0"/>
                  <a:t>proportion: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sample size: </a:t>
                </a:r>
                <a:r>
                  <a:rPr lang="en-US" sz="2800" i="1" dirty="0" smtClean="0"/>
                  <a:t>n, </a:t>
                </a:r>
                <a:r>
                  <a:rPr lang="en-US" sz="2800" dirty="0" smtClean="0"/>
                  <a:t>Standard error of proportion: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US" sz="2800" b="0" i="1" dirty="0" smtClean="0"/>
              </a:p>
              <a:p>
                <a:pPr marL="0" indent="0" algn="ctr">
                  <a:buNone/>
                </a:pPr>
                <a:r>
                  <a:rPr lang="en-US" sz="2800" dirty="0" smtClean="0"/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 smtClean="0"/>
              </a:p>
              <a:p>
                <a:pPr marL="0" indent="0" algn="ctr">
                  <a:buNone/>
                </a:pPr>
                <a:endParaRPr lang="en-US" sz="2800" dirty="0"/>
              </a:p>
              <a:p>
                <a:r>
                  <a:rPr lang="en-US" sz="2800" dirty="0" smtClean="0"/>
                  <a:t>Two </a:t>
                </a:r>
                <a:r>
                  <a:rPr lang="en-US" sz="2800" dirty="0"/>
                  <a:t>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:r>
                  <a:rPr lang="en-US" sz="2800" dirty="0" smtClean="0"/>
                  <a:t>Z between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 smtClean="0"/>
                  <a:t>Left </a:t>
                </a:r>
                <a:r>
                  <a:rPr lang="en-US" sz="2800" dirty="0"/>
                  <a:t>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:r>
                  <a:rPr lang="en-US" sz="2800" dirty="0" smtClean="0"/>
                  <a:t>Z less </a:t>
                </a:r>
                <a:r>
                  <a:rPr lang="en-US" sz="2800" dirty="0"/>
                  <a:t>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r>
                  <a:rPr lang="en-US" sz="2800" dirty="0" smtClean="0"/>
                  <a:t>Right </a:t>
                </a:r>
                <a:r>
                  <a:rPr lang="en-US" sz="2800" dirty="0"/>
                  <a:t>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/>
                  <a:t> greater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706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27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95869" y="136478"/>
                <a:ext cx="11323092" cy="67215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18 out of 50 people say they use Colgate. </a:t>
                </a:r>
              </a:p>
              <a:p>
                <a:pPr marL="0" indent="0">
                  <a:buNone/>
                </a:pPr>
                <a:r>
                  <a:rPr lang="en-US" u="sng" dirty="0" smtClean="0"/>
                  <a:t>(a) Does Colgate have 20% market share at 90% confidence?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0: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𝑇𝑤𝑜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𝑡𝑎𝑖𝑙𝑒𝑑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𝑡𝑒𝑠𝑡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=1−90%=0.1,  </m:t>
                      </m:r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if Z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=±1.645;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=0.36;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∗0.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0.0566</m:t>
                      </m:r>
                    </m:oMath>
                  </m:oMathPara>
                </a14:m>
                <a:endParaRPr 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/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0.3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−0.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0566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2.827, 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Since 2.827 outside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±1.645,</m:t>
                    </m:r>
                  </m:oMath>
                </a14:m>
                <a:r>
                  <a:rPr lang="en-US" dirty="0" smtClean="0"/>
                  <a:t> reject H0. Thus, Colgate does not have 20% market share.  </a:t>
                </a:r>
              </a:p>
              <a:p>
                <a:pPr marL="0" indent="0">
                  <a:buNone/>
                </a:pPr>
                <a:r>
                  <a:rPr lang="en-US" u="sng" dirty="0" smtClean="0"/>
                  <a:t>(b) Does Colgate have a market share above 20%, at 99% confidence?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0.2,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𝑅𝑖𝑔h𝑡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𝑡𝑎𝑖𝑙𝑒𝑑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𝑡𝑒𝑠𝑡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=1−99%=0.01,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sz="2400" dirty="0"/>
                  <a:t>Right 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 greater than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0.01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=2.33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 smtClean="0"/>
                  <a:t>Z=2.827 (calculated in part (a)) </a:t>
                </a:r>
              </a:p>
              <a:p>
                <a:pPr marL="0" indent="0">
                  <a:buNone/>
                </a:pPr>
                <a:r>
                  <a:rPr lang="en-US" dirty="0"/>
                  <a:t>Since 2.827 </a:t>
                </a:r>
                <a:r>
                  <a:rPr lang="en-US" dirty="0" smtClean="0"/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bove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.33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reject H0. Thus, </a:t>
                </a:r>
                <a:r>
                  <a:rPr lang="en-US" dirty="0" smtClean="0"/>
                  <a:t>Colgate has above </a:t>
                </a:r>
                <a:r>
                  <a:rPr lang="en-US" dirty="0"/>
                  <a:t>20% market share.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95869" y="136478"/>
                <a:ext cx="11323092" cy="6721522"/>
              </a:xfrm>
              <a:blipFill rotWithShape="0">
                <a:blip r:embed="rId2"/>
                <a:stretch>
                  <a:fillRect l="-107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81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setting up a hypothesis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State your hypothesis</a:t>
            </a:r>
          </a:p>
          <a:p>
            <a:r>
              <a:rPr lang="en-US" sz="2800" dirty="0" smtClean="0"/>
              <a:t>Decide whether it is a two-tailed or one-tailed test (slide 5 table)</a:t>
            </a:r>
          </a:p>
          <a:p>
            <a:r>
              <a:rPr lang="en-US" sz="2800" dirty="0" smtClean="0"/>
              <a:t>Decide significance level, depending on the cost of a Type I error vs Type II error (will be provided in problems)</a:t>
            </a:r>
          </a:p>
          <a:p>
            <a:r>
              <a:rPr lang="en-US" sz="2800" dirty="0" smtClean="0"/>
              <a:t>Calculate the standard error of the sample statistic</a:t>
            </a:r>
          </a:p>
          <a:p>
            <a:r>
              <a:rPr lang="en-US" sz="2800" dirty="0" smtClean="0"/>
              <a:t>Decide whether to use t-table or </a:t>
            </a:r>
            <a:r>
              <a:rPr lang="en-US" sz="2800" dirty="0"/>
              <a:t>Z-table </a:t>
            </a:r>
            <a:r>
              <a:rPr lang="en-US" sz="2800" dirty="0" smtClean="0"/>
              <a:t>when determining the critical values and test statistic</a:t>
            </a:r>
          </a:p>
          <a:p>
            <a:r>
              <a:rPr lang="en-US" sz="2800" dirty="0" smtClean="0"/>
              <a:t>Compare the value of the test statistic against the critical value(s) and interpret the result.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826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9646" y="299803"/>
                <a:ext cx="11042754" cy="5719997"/>
              </a:xfrm>
            </p:spPr>
            <p:txBody>
              <a:bodyPr/>
              <a:lstStyle/>
              <a:p>
                <a:r>
                  <a:rPr lang="en-US" dirty="0" smtClean="0"/>
                  <a:t>If 32% of 200 respondents say they buy Brand A, then can we say Brand A has a market share greater than or equal to 35% at 95% confidence?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0: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≥0.35;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&lt;0.35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0.35∗0.65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</a:rPr>
                      <m:t>=0.0337</m:t>
                    </m:r>
                  </m:oMath>
                </a14:m>
                <a:endParaRPr lang="en-US" sz="2400" i="1" dirty="0"/>
              </a:p>
              <a:p>
                <a:pPr marL="0" indent="0" algn="ctr">
                  <a:buNone/>
                </a:pPr>
                <a:r>
                  <a:rPr lang="en-US" sz="2400" dirty="0"/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0.32−0.35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0.0337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=−0.89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Left-tailed test, critical value: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=−1.645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Since Z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H0 is not rejected.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9646" y="299803"/>
                <a:ext cx="11042754" cy="5719997"/>
              </a:xfrm>
              <a:blipFill rotWithShape="0">
                <a:blip r:embed="rId2"/>
                <a:stretch>
                  <a:fillRect l="-552" t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70672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627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Franklin Gothic Book</vt:lpstr>
      <vt:lpstr>Perpetua</vt:lpstr>
      <vt:lpstr>Times New Roman</vt:lpstr>
      <vt:lpstr>Wingdings 2</vt:lpstr>
      <vt:lpstr>Office Theme</vt:lpstr>
      <vt:lpstr>Equity</vt:lpstr>
      <vt:lpstr>DOM105</vt:lpstr>
      <vt:lpstr> What is a Hypothesis?</vt:lpstr>
      <vt:lpstr>Significance level</vt:lpstr>
      <vt:lpstr>Hypothesis testing errors</vt:lpstr>
      <vt:lpstr>When to use one-tailed and two-tailed tests</vt:lpstr>
      <vt:lpstr>Hypothesis testing of mean when population std dev is known or n&gt;100</vt:lpstr>
      <vt:lpstr>Hypothesis testing alternate method using Z score</vt:lpstr>
      <vt:lpstr>PowerPoint Presentation</vt:lpstr>
      <vt:lpstr>Hypothesis testing of mean when population std dev is unknown, n&lt;100</vt:lpstr>
      <vt:lpstr>Hypothesis testing alternate method using t score</vt:lpstr>
      <vt:lpstr>PowerPoint Presentation</vt:lpstr>
      <vt:lpstr>Hypothesis testing of proportion</vt:lpstr>
      <vt:lpstr>PowerPoint Presentation</vt:lpstr>
      <vt:lpstr>Steps in setting up a hypothesis test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Techniques in Business DOM101</dc:title>
  <dc:creator>Surya Majumdar</dc:creator>
  <cp:lastModifiedBy>Hp</cp:lastModifiedBy>
  <cp:revision>34</cp:revision>
  <dcterms:created xsi:type="dcterms:W3CDTF">2015-02-26T02:22:17Z</dcterms:created>
  <dcterms:modified xsi:type="dcterms:W3CDTF">2019-02-28T18:19:13Z</dcterms:modified>
</cp:coreProperties>
</file>