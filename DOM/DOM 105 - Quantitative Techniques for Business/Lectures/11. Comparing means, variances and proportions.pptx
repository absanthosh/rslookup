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70" r:id="rId6"/>
    <p:sldId id="27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13" name="Rounded Rectangle 12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2/7/2019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3909" y="1449304"/>
            <a:ext cx="12028716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3909" y="1396720"/>
            <a:ext cx="12028716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3909" y="2976649"/>
            <a:ext cx="12028716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4521651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2/7/2019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406911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10" name="Rounded Rectangle 9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952501"/>
            <a:ext cx="103632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547938"/>
            <a:ext cx="103632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2/7/2019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66800" y="6172200"/>
            <a:ext cx="5334000" cy="457200"/>
          </a:xfrm>
        </p:spPr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 flipV="1">
            <a:off x="92550" y="2376830"/>
            <a:ext cx="1201802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2195" y="2341476"/>
            <a:ext cx="12018375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1075" y="2468880"/>
            <a:ext cx="12019495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95072" y="6208776"/>
            <a:ext cx="6096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9478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2/7/2019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499872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578600" y="1447800"/>
            <a:ext cx="499872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661037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6040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2/7/2019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1219200" y="2247900"/>
            <a:ext cx="49784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6604000" y="2247900"/>
            <a:ext cx="49784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267575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2/7/2019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723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2/7/2019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903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9" name="Rounded Rectangle 8"/>
          <p:cNvSpPr/>
          <p:nvPr/>
        </p:nvSpPr>
        <p:spPr>
          <a:xfrm>
            <a:off x="85344" y="69755"/>
            <a:ext cx="12017829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219200" y="1600200"/>
            <a:ext cx="2540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2/7/2019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3962400" y="1600200"/>
            <a:ext cx="7620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703030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900550"/>
            <a:ext cx="97536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5445825"/>
            <a:ext cx="97536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2/7/2019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219200" y="6172200"/>
            <a:ext cx="5181600" cy="457200"/>
          </a:xfrm>
        </p:spPr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95072" y="6208776"/>
            <a:ext cx="6096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91076" y="4683555"/>
            <a:ext cx="1200912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1345" y="4650475"/>
            <a:ext cx="12008852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348" y="4773225"/>
            <a:ext cx="12008849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1078" y="66676"/>
            <a:ext cx="12002497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764867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2/7/2019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943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68224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274641"/>
            <a:ext cx="7416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2/7/2019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052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69646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FC506285-2E2A-4651-ADEF-5DA40834FCB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34049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696464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696464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0A13A525-B6A0-413A-9FDC-A7A6810D9E6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2780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8" name="Rounded Rectangle 7"/>
          <p:cNvSpPr/>
          <p:nvPr/>
        </p:nvSpPr>
        <p:spPr>
          <a:xfrm>
            <a:off x="85344" y="69755"/>
            <a:ext cx="12017829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103632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2/7/2019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95072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119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Session 11-12</a:t>
            </a:r>
          </a:p>
          <a:p>
            <a:r>
              <a:rPr lang="en-US" sz="3200" dirty="0" smtClean="0"/>
              <a:t>Reading: </a:t>
            </a:r>
            <a:r>
              <a:rPr lang="en-US" sz="3200" dirty="0" err="1" smtClean="0"/>
              <a:t>SfM</a:t>
            </a:r>
            <a:r>
              <a:rPr lang="en-US" sz="3200" dirty="0" smtClean="0"/>
              <a:t> Ch. 10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DOM105 2019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507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Comparing two independent population means when pop. variances are equal, using pooled-variance test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219200" y="1447800"/>
                <a:ext cx="10363200" cy="54102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 smtClean="0">
                    <a:latin typeface="Cambria Math" panose="02040503050406030204" pitchFamily="18" charset="0"/>
                  </a:rPr>
                  <a:t>2 samples, 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>
                    <a:latin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>
                    <a:latin typeface="Cambria Math" panose="02040503050406030204" pitchFamily="18" charset="0"/>
                  </a:rPr>
                  <a:t>,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>
                    <a:latin typeface="Cambria Math" panose="02040503050406030204" pitchFamily="18" charset="0"/>
                  </a:rPr>
                  <a:t>,  </a:t>
                </a:r>
                <a:r>
                  <a:rPr lang="en-US" dirty="0" err="1" smtClean="0">
                    <a:latin typeface="Cambria Math" panose="02040503050406030204" pitchFamily="18" charset="0"/>
                  </a:rPr>
                  <a:t>std</a:t>
                </a:r>
                <a:r>
                  <a:rPr lang="en-US" dirty="0" smtClean="0">
                    <a:latin typeface="Cambria Math" panose="02040503050406030204" pitchFamily="18" charset="0"/>
                  </a:rPr>
                  <a:t> </a:t>
                </a:r>
                <a:r>
                  <a:rPr lang="en-US" dirty="0" err="1" smtClean="0">
                    <a:latin typeface="Cambria Math" panose="02040503050406030204" pitchFamily="18" charset="0"/>
                  </a:rPr>
                  <a:t>dev</a:t>
                </a:r>
                <a:r>
                  <a:rPr lang="en-US" dirty="0" smtClean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 smtClean="0">
                    <a:latin typeface="Cambria Math" panose="02040503050406030204" pitchFamily="18" charset="0"/>
                  </a:rPr>
                  <a:t> The hypothesis is that the difference of two means have a certain value</a:t>
                </a:r>
                <a:endParaRPr lang="en-US" dirty="0" smtClean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𝑆𝑇𝐴𝑇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bar>
                                    <m:barPr>
                                      <m:pos m:val="top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bar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ba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bar>
                                    <m:barPr>
                                      <m:pos m:val="top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bar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ba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rad>
                        </m:den>
                      </m:f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 smtClean="0"/>
              </a:p>
              <a:p>
                <a:r>
                  <a:rPr lang="en-US" sz="2400" dirty="0"/>
                  <a:t>Two tailed test: accept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𝑆𝑇𝐴𝑇</m:t>
                        </m:r>
                      </m:sub>
                    </m:sSub>
                  </m:oMath>
                </a14:m>
                <a:r>
                  <a:rPr lang="en-US" sz="2400" dirty="0" smtClean="0"/>
                  <a:t> between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/2</m:t>
                        </m:r>
                      </m:sub>
                    </m:sSub>
                  </m:oMath>
                </a14:m>
                <a:endParaRPr lang="en-US" sz="2400" dirty="0"/>
              </a:p>
              <a:p>
                <a:r>
                  <a:rPr lang="en-US" sz="2400" dirty="0"/>
                  <a:t>Left tailed test: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𝑆𝑇𝐴𝑇</m:t>
                        </m:r>
                      </m:sub>
                    </m:sSub>
                  </m:oMath>
                </a14:m>
                <a:r>
                  <a:rPr lang="en-US" sz="2400" dirty="0" smtClean="0"/>
                  <a:t> less </a:t>
                </a:r>
                <a:r>
                  <a:rPr lang="en-US" sz="2400" dirty="0"/>
                  <a:t>than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endParaRPr lang="en-US" sz="2400" dirty="0"/>
              </a:p>
              <a:p>
                <a:r>
                  <a:rPr lang="en-US" sz="2400" dirty="0"/>
                  <a:t>Right tailed test: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𝑆𝑇𝐴𝑇</m:t>
                        </m:r>
                      </m:sub>
                    </m:sSub>
                  </m:oMath>
                </a14:m>
                <a:r>
                  <a:rPr lang="en-US" sz="2400" dirty="0" smtClean="0"/>
                  <a:t> greater </a:t>
                </a:r>
                <a:r>
                  <a:rPr lang="en-US" sz="2400" dirty="0"/>
                  <a:t>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219200" y="1447800"/>
                <a:ext cx="10363200" cy="5410200"/>
              </a:xfrm>
              <a:blipFill rotWithShape="0">
                <a:blip r:embed="rId2"/>
                <a:stretch>
                  <a:fillRect l="-1059" t="-11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7468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Confidence interval for difference of two means with equal variances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141863" y="1543334"/>
                <a:ext cx="10363200" cy="45720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 smtClean="0"/>
                  <a:t>For significance level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 smtClean="0"/>
                  <a:t>, the confidence interval for the difference of two means is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pos m:val="top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ba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pos m:val="top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ba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/2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ra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141863" y="1543334"/>
                <a:ext cx="10363200" cy="4572000"/>
              </a:xfrm>
              <a:blipFill rotWithShape="0">
                <a:blip r:embed="rId2"/>
                <a:stretch>
                  <a:fillRect l="-1059" t="-9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9672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Comparing two independent population means when variances are </a:t>
            </a:r>
            <a:r>
              <a:rPr lang="en-US" dirty="0" smtClean="0"/>
              <a:t>unequal, using separate-variance test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219200" y="1447800"/>
                <a:ext cx="10363200" cy="5280546"/>
              </a:xfrm>
            </p:spPr>
            <p:txBody>
              <a:bodyPr>
                <a:normAutofit fontScale="92500"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𝐷𝑒𝑔𝑟𝑒𝑒𝑠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𝑓𝑟𝑒𝑒𝑑𝑜𝑚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Sup>
                                        <m:sSub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Sup>
                                        <m:sSub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Sup>
                                            <m:sSub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𝑆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bSup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Sup>
                                            <m:sSub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𝑆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bSup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𝑆𝑇𝐴𝑇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bar>
                                    <m:barPr>
                                      <m:pos m:val="top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bar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ba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bar>
                                    <m:barPr>
                                      <m:pos m:val="top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bar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ba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Sup>
                                        <m:sSub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Sup>
                                        <m:sSub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rad>
                        </m:den>
                      </m:f>
                    </m:oMath>
                  </m:oMathPara>
                </a14:m>
                <a:endParaRPr lang="en-US" dirty="0" smtClean="0"/>
              </a:p>
              <a:p>
                <a:r>
                  <a:rPr lang="en-US" sz="2800" dirty="0"/>
                  <a:t>Two tailed test: accept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28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𝑆𝑇𝐴𝑇</m:t>
                        </m:r>
                      </m:sub>
                    </m:sSub>
                  </m:oMath>
                </a14:m>
                <a:r>
                  <a:rPr lang="en-US" sz="2800" dirty="0"/>
                  <a:t> between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/2</m:t>
                        </m:r>
                      </m:sub>
                    </m:sSub>
                  </m:oMath>
                </a14:m>
                <a:endParaRPr lang="en-US" sz="2800" dirty="0"/>
              </a:p>
              <a:p>
                <a:r>
                  <a:rPr lang="en-US" sz="2800" dirty="0"/>
                  <a:t>Left tailed test: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28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𝑆𝑇𝐴𝑇</m:t>
                        </m:r>
                      </m:sub>
                    </m:sSub>
                  </m:oMath>
                </a14:m>
                <a:r>
                  <a:rPr lang="en-US" sz="2800" dirty="0"/>
                  <a:t> less than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endParaRPr lang="en-US" sz="2800" dirty="0"/>
              </a:p>
              <a:p>
                <a:r>
                  <a:rPr lang="en-US" sz="2800" dirty="0"/>
                  <a:t>Right tailed test: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28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𝑆𝑇𝐴𝑇</m:t>
                        </m:r>
                      </m:sub>
                    </m:sSub>
                  </m:oMath>
                </a14:m>
                <a:r>
                  <a:rPr lang="en-US" sz="2800" dirty="0"/>
                  <a:t> greater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219200" y="1447800"/>
                <a:ext cx="10363200" cy="5280546"/>
              </a:xfrm>
              <a:blipFill rotWithShape="0">
                <a:blip r:embed="rId2"/>
                <a:stretch>
                  <a:fillRect l="-588" b="-20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8043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F-test for ratio of two variances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 smtClean="0"/>
                  <a:t>The null hypothesis is that the variances of two populations are equal with significance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 smtClean="0"/>
                  <a:t>.  </a:t>
                </a:r>
              </a:p>
              <a:p>
                <a:pPr marL="0" indent="0">
                  <a:buNone/>
                </a:pPr>
                <a:r>
                  <a:rPr lang="en-US" dirty="0" smtClean="0"/>
                  <a:t>F-test is used when both populations have very close to normal distribution.</a:t>
                </a:r>
              </a:p>
              <a:p>
                <a:pPr marL="0" indent="0">
                  <a:buNone/>
                </a:pPr>
                <a:r>
                  <a:rPr lang="en-US" dirty="0" smtClean="0"/>
                  <a:t>H0: The variances are equal</a:t>
                </a:r>
              </a:p>
              <a:p>
                <a:pPr marL="0" indent="0">
                  <a:buNone/>
                </a:pPr>
                <a:r>
                  <a:rPr lang="en-US" dirty="0" smtClean="0"/>
                  <a:t>Reject the hypothesis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𝑆𝑇𝐴𝑇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/2</m:t>
                        </m:r>
                      </m:sub>
                    </m:sSub>
                  </m:oMath>
                </a14:m>
                <a:r>
                  <a:rPr lang="en-US" dirty="0" smtClean="0"/>
                  <a:t> (Table E5)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𝑆𝑇𝐴𝑇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𝑤h𝑒𝑟𝑒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Degrees of freedom for F-table: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−1 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CA" b="0" dirty="0" smtClean="0"/>
              </a:p>
              <a:p>
                <a:pPr marL="0" indent="0">
                  <a:buNone/>
                </a:pPr>
                <a:r>
                  <a:rPr lang="en-CA" dirty="0"/>
                  <a:t>Excel command: F.INV.RT (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/2,</m:t>
                    </m:r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𝑑𝑓</m:t>
                    </m:r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1,</m:t>
                    </m:r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𝑑𝑓</m:t>
                    </m:r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2)</m:t>
                    </m:r>
                  </m:oMath>
                </a14:m>
                <a:r>
                  <a:rPr lang="en-CA" dirty="0" smtClean="0"/>
                  <a:t> or FINV(</a:t>
                </a:r>
                <a14:m>
                  <m:oMath xmlns:m="http://schemas.openxmlformats.org/officeDocument/2006/math">
                    <m:r>
                      <a:rPr lang="en-CA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/2,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𝑑𝑓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1,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𝑑𝑓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1059" t="-12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9552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89744" y="134911"/>
                <a:ext cx="11497456" cy="6265889"/>
              </a:xfrm>
            </p:spPr>
            <p:txBody>
              <a:bodyPr/>
              <a:lstStyle/>
              <a:p>
                <a:r>
                  <a:rPr lang="en-US" dirty="0" smtClean="0"/>
                  <a:t>If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=45, 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=18,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1=10, 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=5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=14,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2=25, </m:t>
                    </m:r>
                  </m:oMath>
                </a14:m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𝑑𝑜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𝑡h𝑒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𝑝𝑜𝑝𝑠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h𝑎𝑣𝑒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𝑡h𝑒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𝑠𝑎𝑚𝑒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𝑚𝑒𝑎𝑛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𝑠𝑖𝑔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5%.</m:t>
                    </m:r>
                  </m:oMath>
                </a14:m>
                <a:endParaRPr lang="en-US" b="0" dirty="0" smtClean="0"/>
              </a:p>
              <a:p>
                <a:r>
                  <a:rPr lang="en-US" dirty="0" err="1" smtClean="0"/>
                  <a:t>Fstat</a:t>
                </a:r>
                <a:r>
                  <a:rPr lang="en-US" dirty="0" smtClean="0"/>
                  <a:t> = 18/14=1.3,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=0.05</m:t>
                    </m:r>
                  </m:oMath>
                </a14:m>
                <a:endParaRPr lang="en-US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1=9,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2=24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=2.7</m:t>
                    </m:r>
                  </m:oMath>
                </a14:m>
                <a:endParaRPr lang="en-US" b="0" dirty="0" smtClean="0"/>
              </a:p>
              <a:p>
                <a:r>
                  <a:rPr lang="en-US" dirty="0" smtClean="0"/>
                  <a:t>Since F-stat less than critical value, accept H0, the variances are equal.</a:t>
                </a:r>
              </a:p>
              <a:p>
                <a:r>
                  <a:rPr lang="en-US" dirty="0" smtClean="0"/>
                  <a:t>Now, we hypothesize means are same, two tailed test,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 smtClean="0"/>
                  <a:t>=0</a:t>
                </a:r>
              </a:p>
              <a:p>
                <a:r>
                  <a:rPr lang="en-US" dirty="0" smtClean="0"/>
                  <a:t>Variances equal, use the test for equal variances.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</m:num>
                      <m:den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</a:rPr>
                      <m:t>=15.091</m:t>
                    </m:r>
                  </m:oMath>
                </a14:m>
                <a:endParaRPr lang="en-US" b="0" i="0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𝑆𝑇𝐴𝑇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bar>
                                  <m:barPr>
                                    <m:pos m:val="top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ba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bar>
                                  <m:barPr>
                                    <m:pos m:val="top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ba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</m:ra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45−52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−0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15.091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0.1+0.04</m:t>
                                </m:r>
                              </m:e>
                            </m:d>
                          </m:e>
                        </m:ra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−7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2.11274</m:t>
                            </m:r>
                          </m:e>
                        </m:ra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=−4.816</m:t>
                    </m:r>
                  </m:oMath>
                </a14:m>
                <a:endParaRPr lang="en-US" b="0" dirty="0" smtClean="0"/>
              </a:p>
              <a:p>
                <a:r>
                  <a:rPr lang="en-US" sz="2800" dirty="0"/>
                  <a:t>Two tailed test: accept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28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𝑆𝑇𝐴𝑇</m:t>
                        </m:r>
                      </m:sub>
                    </m:sSub>
                  </m:oMath>
                </a14:m>
                <a:r>
                  <a:rPr lang="en-US" sz="2800" dirty="0"/>
                  <a:t> between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f>
                          <m:f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num>
                          <m:den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𝑑𝑓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=10+25−2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=±2.04</m:t>
                    </m:r>
                  </m:oMath>
                </a14:m>
                <a:endParaRPr lang="en-US" sz="2800" b="0" dirty="0" smtClean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𝑆𝑇𝐴𝑇</m:t>
                        </m:r>
                      </m:sub>
                    </m:sSub>
                  </m:oMath>
                </a14:m>
                <a:r>
                  <a:rPr lang="en-US" b="0" dirty="0" smtClean="0"/>
                  <a:t> outside critical values, reject H0, means are not equal.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89744" y="134911"/>
                <a:ext cx="11497456" cy="6265889"/>
              </a:xfrm>
              <a:blipFill rotWithShape="0">
                <a:blip r:embed="rId2"/>
                <a:stretch>
                  <a:fillRect l="-636" t="-5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641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Comparing difference in proportion, Z-test,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219200" y="1447800"/>
                <a:ext cx="10363200" cy="5198660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𝑆𝑇𝐴𝑇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bar>
                                <m:barPr>
                                  <m:pos m:val="top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bar>
                              <m:d>
                                <m:d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bar>
                                    <m:barPr>
                                      <m:pos m:val="top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bar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bar>
                                </m:e>
                              </m:d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rad>
                        </m:den>
                      </m:f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ba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 smtClean="0"/>
              </a:p>
              <a:p>
                <a:r>
                  <a:rPr lang="en-US" sz="2800" dirty="0"/>
                  <a:t>Two tailed test: accept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2800" dirty="0"/>
                  <a:t>if Z between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/2</m:t>
                        </m:r>
                      </m:sub>
                    </m:sSub>
                  </m:oMath>
                </a14:m>
                <a:endParaRPr lang="en-US" sz="2800" dirty="0"/>
              </a:p>
              <a:p>
                <a:r>
                  <a:rPr lang="en-US" sz="2800" dirty="0"/>
                  <a:t>Left tailed test;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2800" dirty="0"/>
                  <a:t>if Z less than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−|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sz="2800" dirty="0"/>
              </a:p>
              <a:p>
                <a:r>
                  <a:rPr lang="en-US" sz="2800" dirty="0"/>
                  <a:t>Right tailed test;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2800" dirty="0"/>
                  <a:t>if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sz="2800" dirty="0"/>
                  <a:t> greater than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sz="280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219200" y="1447800"/>
                <a:ext cx="10363200" cy="5198660"/>
              </a:xfrm>
              <a:blipFill rotWithShape="0">
                <a:blip r:embed="rId2"/>
                <a:stretch>
                  <a:fillRect l="-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0053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Confidence interval for difference between two proportions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 smtClean="0"/>
                  <a:t>For significance level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 smtClean="0"/>
                  <a:t>, the confidence interval for the difference of two proportions:</a:t>
                </a:r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 smtClean="0"/>
                  <a:t> falls between the values: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/2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(1−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 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(1−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ra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1059" t="-10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0011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673</TotalTime>
  <Words>148</Words>
  <Application>Microsoft Office PowerPoint</Application>
  <PresentationFormat>Widescreen</PresentationFormat>
  <Paragraphs>54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Cambria Math</vt:lpstr>
      <vt:lpstr>Franklin Gothic Book</vt:lpstr>
      <vt:lpstr>Perpetua</vt:lpstr>
      <vt:lpstr>Wingdings 2</vt:lpstr>
      <vt:lpstr>Equity</vt:lpstr>
      <vt:lpstr>DOM105 2019</vt:lpstr>
      <vt:lpstr>Comparing two independent population means when pop. variances are equal, using pooled-variance test</vt:lpstr>
      <vt:lpstr>Confidence interval for difference of two means with equal variances</vt:lpstr>
      <vt:lpstr>Comparing two independent population means when variances are unequal, using separate-variance test</vt:lpstr>
      <vt:lpstr>F-test for ratio of two variances</vt:lpstr>
      <vt:lpstr>PowerPoint Presentation</vt:lpstr>
      <vt:lpstr>Comparing difference in proportion, Z-test, </vt:lpstr>
      <vt:lpstr>Confidence interval for difference between two proportions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Surya Majumdar</dc:creator>
  <cp:lastModifiedBy>Surya Majumdar</cp:lastModifiedBy>
  <cp:revision>26</cp:revision>
  <dcterms:created xsi:type="dcterms:W3CDTF">2015-03-10T04:55:39Z</dcterms:created>
  <dcterms:modified xsi:type="dcterms:W3CDTF">2019-02-07T04:00:30Z</dcterms:modified>
</cp:coreProperties>
</file>