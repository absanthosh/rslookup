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72" r:id="rId11"/>
    <p:sldId id="268" r:id="rId12"/>
    <p:sldId id="269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2CA09-B6D5-46DB-ACC4-62D6D61FD917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2914B-DD4E-4270-A92A-D387EA6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55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𝑑𝑜𝑒𝑠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𝑠𝑖𝑔𝑛𝑖𝑓𝑖𝑐𝑎𝑛𝑡𝑙𝑦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𝑖𝑚𝑝𝑟𝑜𝑣𝑒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𝑖𝑛𝑐𝑙𝑢𝑠𝑖𝑜𝑛</m:t>
                      </m:r>
                    </m:oMath>
                  </m:oMathPara>
                </a14:m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Variable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𝑑𝑜𝑒𝑠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𝑠𝑖𝑔𝑛𝑖𝑓𝑖𝑐𝑎𝑛𝑡𝑙𝑦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𝑖𝑚𝑝𝑟𝑜𝑣𝑒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𝑖𝑛𝑐𝑙𝑢𝑠𝑖𝑜𝑛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𝑒𝑥𝑐𝑒𝑝𝑡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𝑒𝑥𝑐𝑒𝑝𝑡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𝐴𝑙𝑙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𝑒𝑥𝑐𝑒𝑝𝑡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𝑟𝑒𝑗𝑒𝑐𝑡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i="1" dirty="0" smtClean="0"/>
                  <a:t>SSR(All x except j)</a:t>
                </a:r>
                <a:r>
                  <a:rPr lang="en-US" dirty="0" smtClean="0"/>
                  <a:t>=Value of SSR after 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 smtClean="0">
                    <a:latin typeface="Cambria Math" panose="02040503050406030204" pitchFamily="18" charset="0"/>
                  </a:rPr>
                  <a:t>𝑑𝑜𝑒𝑠 𝑛𝑜𝑡 𝑠𝑖𝑔𝑛𝑖𝑓𝑖𝑐𝑎𝑛𝑡𝑙𝑦 𝑖𝑚𝑝𝑟𝑜𝑣𝑒 𝑚𝑜𝑑𝑒𝑙 𝑜𝑛 𝑖𝑛𝑐𝑙𝑢𝑠𝑖𝑜𝑛</a:t>
                </a:r>
                <a:endParaRPr lang="en-US" dirty="0" smtClean="0"/>
              </a:p>
              <a:p>
                <a:r>
                  <a:rPr lang="en-US" i="0">
                    <a:latin typeface="Cambria Math" panose="02040503050406030204" pitchFamily="18" charset="0"/>
                  </a:rPr>
                  <a:t>𝐻_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1</a:t>
                </a:r>
                <a:r>
                  <a:rPr lang="en-US" i="0">
                    <a:latin typeface="Cambria Math" panose="02040503050406030204" pitchFamily="18" charset="0"/>
                  </a:rPr>
                  <a:t>:Variable 𝑥_𝑗  𝑑𝑜𝑒𝑠 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𝑠𝑖𝑔𝑛𝑖𝑓𝑖𝑐𝑎𝑛𝑡𝑙𝑦 𝑖𝑚𝑝𝑟𝑜𝑣𝑒</a:t>
                </a:r>
                <a:r>
                  <a:rPr lang="en-US" i="0">
                    <a:latin typeface="Cambria Math" panose="02040503050406030204" pitchFamily="18" charset="0"/>
                  </a:rPr>
                  <a:t> 𝑚𝑜𝑑𝑒𝑙 𝑜𝑛 𝑖𝑛𝑐𝑙𝑢𝑠𝑖𝑜𝑛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0" i="0" smtClean="0">
                    <a:latin typeface="Cambria Math" panose="02040503050406030204" pitchFamily="18" charset="0"/>
                  </a:rPr>
                  <a:t>𝑆𝑆𝑅(𝑥_𝑗│𝐴𝑙𝑙 𝑥 𝑒𝑥𝑐𝑒𝑝𝑡 𝑗)=𝑆𝑆𝑅−𝑆𝑆𝑅(𝐴𝑙𝑙 𝑥 𝑒𝑥𝑐𝑒𝑝𝑡 𝑗)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0" i="0" smtClean="0">
                    <a:latin typeface="Cambria Math" panose="02040503050406030204" pitchFamily="18" charset="0"/>
                  </a:rPr>
                  <a:t>𝐹=(</a:t>
                </a:r>
                <a:r>
                  <a:rPr lang="en-US" i="0">
                    <a:latin typeface="Cambria Math" panose="02040503050406030204" pitchFamily="18" charset="0"/>
                  </a:rPr>
                  <a:t>𝑆𝑆𝑅(𝑥_𝑗│𝐴𝑙𝑙 𝑥 𝑒𝑥𝑐𝑒𝑝𝑡 𝑗)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)/𝑀𝑆𝐸, 𝑑𝑓=(1,𝑛−𝑘−1),</a:t>
                </a:r>
                <a:r>
                  <a:rPr lang="en-US" i="0">
                    <a:latin typeface="Cambria Math" panose="02040503050406030204" pitchFamily="18" charset="0"/>
                  </a:rPr>
                  <a:t>𝑟𝑒𝑗𝑒𝑐𝑡〖 𝐻〗_0  𝑖𝑓 𝐹&gt;𝐹_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𝛼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i="1" dirty="0" smtClean="0"/>
                  <a:t>SSR(All x except j)</a:t>
                </a:r>
                <a:r>
                  <a:rPr lang="en-US" dirty="0" smtClean="0"/>
                  <a:t>=Value of SSR after 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2914B-DD4E-4270-A92A-D387EA6557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65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31771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0546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15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7994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5946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00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7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79991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2134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9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5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FC506285-2E2A-4651-ADEF-5DA40834FC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857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0A13A525-B6A0-413A-9FDC-A7A6810D9E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479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3/28/2019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6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Session 20-21</a:t>
            </a:r>
          </a:p>
          <a:p>
            <a:r>
              <a:rPr lang="en-US" sz="3200" dirty="0" smtClean="0"/>
              <a:t>Reading: Ch. 14.1-14.6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DOM105 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81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linear regression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Linear model with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 independent variables.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Regression coefficients in MLR are called </a:t>
                </a:r>
                <a:r>
                  <a:rPr lang="en-US" b="1" dirty="0" smtClean="0"/>
                  <a:t>net regression coefficients</a:t>
                </a:r>
                <a:r>
                  <a:rPr lang="en-US" dirty="0" smtClean="0"/>
                  <a:t> as they measure the rate of change of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 for a change in a particular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 while holding constant the other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 variables.</a:t>
                </a:r>
              </a:p>
              <a:p>
                <a:r>
                  <a:rPr lang="en-US" dirty="0" smtClean="0"/>
                  <a:t>The variable </a:t>
                </a:r>
                <a:r>
                  <a:rPr lang="en-US" i="1" dirty="0" smtClean="0"/>
                  <a:t>b</a:t>
                </a:r>
                <a:r>
                  <a:rPr lang="en-US" dirty="0" smtClean="0"/>
                  <a:t> is the estimate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. Thus: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/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/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 r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37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259307"/>
                <a:ext cx="10363200" cy="6127845"/>
              </a:xfrm>
            </p:spPr>
            <p:txBody>
              <a:bodyPr/>
              <a:lstStyle/>
              <a:p>
                <a:r>
                  <a:rPr lang="en-US" dirty="0" smtClean="0"/>
                  <a:t>Coefficient of determination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𝑆𝑆𝑅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We can adjust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to take into account no. of independent variables and the sample size.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We use the F-test to see if there actually is a linear relationship between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 and </a:t>
                </a:r>
                <a:r>
                  <a:rPr lang="en-US" i="1" dirty="0" smtClean="0"/>
                  <a:t>x</a:t>
                </a:r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(no </a:t>
                </a:r>
                <a:r>
                  <a:rPr lang="en-US" dirty="0" smtClean="0"/>
                  <a:t>linear relationship </a:t>
                </a:r>
                <a:r>
                  <a:rPr lang="en-US" dirty="0"/>
                  <a:t>between </a:t>
                </a:r>
                <a:r>
                  <a:rPr lang="en-US" i="1" dirty="0"/>
                  <a:t>x</a:t>
                </a:r>
                <a:r>
                  <a:rPr lang="en-US" dirty="0"/>
                  <a:t> and </a:t>
                </a:r>
                <a:r>
                  <a:rPr lang="en-US" i="1" dirty="0"/>
                  <a:t>y</a:t>
                </a:r>
                <a:r>
                  <a:rPr lang="en-US" dirty="0"/>
                  <a:t>), </a:t>
                </a:r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𝑙𝑒𝑎𝑠𝑡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𝑟𝑒𝑗𝑒𝑐𝑡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259307"/>
                <a:ext cx="10363200" cy="6127845"/>
              </a:xfrm>
              <a:blipFill rotWithShape="0">
                <a:blip r:embed="rId2"/>
                <a:stretch>
                  <a:fillRect l="-1059" t="-896" r="-1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47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Residual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Residuals versus predicted value chart, existence of a pattern indicates possible violation of assumption of equal variance</a:t>
            </a:r>
          </a:p>
          <a:p>
            <a:r>
              <a:rPr lang="en-US" dirty="0" smtClean="0"/>
              <a:t>Residuals versus independent variable chart, existence of patterns indicates curvilinear effect in the variable.</a:t>
            </a:r>
          </a:p>
          <a:p>
            <a:r>
              <a:rPr lang="en-US" dirty="0" smtClean="0"/>
              <a:t>Durbin-Watson test for autocorrelation is also used (formula unchanged from Simple Linear Regression)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2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T-test for slope with any one independent variable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 smtClean="0"/>
                  <a:t>Testing for slope for any one independent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US" sz="28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(no relationship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sz="2800" dirty="0" smtClean="0"/>
                  <a:t> </a:t>
                </a:r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 smtClean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T-test: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𝑆𝑆𝐸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𝑆𝑆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CA" sz="28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800" b="0" dirty="0" smtClean="0"/>
              </a:p>
              <a:p>
                <a:r>
                  <a:rPr lang="en-US" sz="2800" dirty="0" smtClean="0"/>
                  <a:t>Critical value for t-test: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sz="2800" dirty="0" smtClean="0"/>
              </a:p>
              <a:p>
                <a:r>
                  <a:rPr lang="en-US" sz="2800" dirty="0" smtClean="0"/>
                  <a:t>Confidence interval: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800" b="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706" t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27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053851" cy="9946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Partial F-test to include new independent variable in existing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59725" y="1207828"/>
                <a:ext cx="10972799" cy="565017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Determining contribution of any one independent variable with partial F-test: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Variable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𝑑𝑜𝑒𝑠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𝑠𝑖𝑔𝑛𝑖𝑓𝑖𝑐𝑎𝑛𝑡𝑙𝑦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𝑖𝑚𝑝𝑟𝑜𝑣𝑒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𝑚𝑜𝑑𝑒𝑙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𝑖𝑛𝑐𝑙𝑢𝑠𝑖𝑜𝑛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Variable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𝑑𝑜𝑒𝑠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𝑠𝑖𝑔𝑛𝑖𝑓𝑖𝑐𝑎𝑛𝑡𝑙𝑦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𝑖𝑚𝑝𝑟𝑜𝑣𝑒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𝑚𝑜𝑑𝑒𝑙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𝑖𝑛𝑐𝑙𝑢𝑠𝑖𝑜𝑛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𝑆𝑆𝑅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𝐴𝑙𝑙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𝑒𝑥𝑐𝑒𝑝𝑡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𝐴𝑙𝑙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𝑒𝑥𝑐𝑒𝑝𝑡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𝐴𝑙𝑙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𝑒𝑥𝑐𝑒𝑝𝑡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𝑀𝑆𝐸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𝑟𝑒𝑗𝑒𝑐𝑡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3200" i="1" dirty="0"/>
                  <a:t>SSR(All x except j)</a:t>
                </a:r>
                <a:r>
                  <a:rPr lang="en-US" sz="3200" dirty="0"/>
                  <a:t>=Value of SSR after removing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200" dirty="0"/>
                  <a:t> from the data.</a:t>
                </a:r>
              </a:p>
              <a:p>
                <a:r>
                  <a:rPr lang="en-US" dirty="0" smtClean="0"/>
                  <a:t>Coefficient of </a:t>
                </a:r>
                <a:r>
                  <a:rPr lang="en-US" b="1" dirty="0" smtClean="0"/>
                  <a:t>partial determination: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𝑎𝑙𝑙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𝑒𝑥𝑐𝑒𝑝𝑡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𝐴𝑙𝑙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𝑒𝑥𝑐𝑒𝑝𝑡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𝑆𝑆𝑇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𝑆𝑆𝑅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𝐴𝑙𝑙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𝑒𝑥𝑐𝑒𝑝𝑡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59725" y="1207828"/>
                <a:ext cx="10972799" cy="5650172"/>
              </a:xfrm>
              <a:blipFill rotWithShape="0">
                <a:blip r:embed="rId2"/>
                <a:stretch>
                  <a:fillRect l="-1444" t="-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59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Dummy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dummy variable is can be used to encode a categorical variable into a numerical value of either 0 and 1. A dummy variable is 0 if it does not have a characteristic, and 1 if it does. </a:t>
            </a:r>
          </a:p>
          <a:p>
            <a:r>
              <a:rPr lang="en-US" dirty="0" smtClean="0"/>
              <a:t>Thus, a categorical variable with </a:t>
            </a:r>
            <a:r>
              <a:rPr lang="en-US" i="1" dirty="0" smtClean="0"/>
              <a:t>d</a:t>
            </a:r>
            <a:r>
              <a:rPr lang="en-US" dirty="0" smtClean="0"/>
              <a:t> categories gives rise to </a:t>
            </a:r>
            <a:r>
              <a:rPr lang="en-US" i="1" dirty="0" smtClean="0"/>
              <a:t>d</a:t>
            </a:r>
            <a:r>
              <a:rPr lang="en-US" dirty="0" smtClean="0"/>
              <a:t> dummy variables. If there are only 2 categories, then we can use only one dummy, with 0 and 1 representing the two categories</a:t>
            </a:r>
            <a:r>
              <a:rPr lang="en-US" dirty="0" smtClean="0"/>
              <a:t>.</a:t>
            </a:r>
          </a:p>
          <a:p>
            <a:r>
              <a:rPr lang="en-CA" dirty="0" smtClean="0"/>
              <a:t>One can also encode a categorical variable using unique numbers if a data point belongs to only one category (0=category 1, 1= cat. 2, 2=cate. 3, etc.)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2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If the data is a person’s annual income (dependent variable) and what brand of car they own (out of 6 brands in market). Sample size 50. If the </a:t>
                </a:r>
                <a:r>
                  <a:rPr lang="en-US" dirty="0" err="1" smtClean="0"/>
                  <a:t>coeff</a:t>
                </a:r>
                <a:r>
                  <a:rPr lang="en-US" dirty="0" smtClean="0"/>
                  <a:t>. Of determination is 0.7, what is adjusted </a:t>
                </a:r>
                <a:r>
                  <a:rPr lang="en-US" dirty="0" err="1" smtClean="0"/>
                  <a:t>coeff</a:t>
                </a:r>
                <a:r>
                  <a:rPr lang="en-US" dirty="0" smtClean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=0.7,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=50,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1−0.7</m:t>
                            </m:r>
                          </m:e>
                        </m:d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50−1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50−6−1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=0.6581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32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729703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Collinearity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44577" y="1004341"/>
                <a:ext cx="10937823" cy="5491993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Collinearity occurs when two or more  independent variables are highly correlated with each other. It becomes difficult to separate the effect  of collinear variables on the dependent variable. </a:t>
                </a:r>
              </a:p>
              <a:p>
                <a:r>
                  <a:rPr lang="en-US" dirty="0" smtClean="0"/>
                  <a:t>Let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 be the coefficient of multiple determination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 is treated as the dependent variable, and all other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 are treated as independent.</a:t>
                </a:r>
              </a:p>
              <a:p>
                <a:r>
                  <a:rPr lang="en-US" dirty="0" smtClean="0"/>
                  <a:t>The </a:t>
                </a:r>
                <a:r>
                  <a:rPr lang="en-US" b="1" dirty="0" smtClean="0"/>
                  <a:t>Variance Inflationary Factor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𝑉𝐼𝐹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 smtClean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𝑉𝐼𝐹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&gt;5,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𝑜𝑟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&gt;0.8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is considered excessively collinear, and least-squared regression is inadvisable. Results can only be predicted using independent variable  values that are within previously observed ranges. </a:t>
                </a:r>
              </a:p>
              <a:p>
                <a:r>
                  <a:rPr lang="en-US" dirty="0" smtClean="0"/>
                  <a:t>The issue may be alleviated by eliminating the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with highest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𝑉𝐼𝐹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CA" dirty="0" smtClean="0"/>
                  <a:t>If there are only two </a:t>
                </a:r>
                <a:r>
                  <a:rPr lang="en-CA" i="1" dirty="0" smtClean="0"/>
                  <a:t>x</a:t>
                </a:r>
                <a:r>
                  <a:rPr lang="en-CA" dirty="0" smtClean="0"/>
                  <a:t> variables, VIF1=VIF2, so no need to do VIF for both.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44577" y="1004341"/>
                <a:ext cx="10937823" cy="5491993"/>
              </a:xfrm>
              <a:blipFill rotWithShape="0">
                <a:blip r:embed="rId2"/>
                <a:stretch>
                  <a:fillRect l="-557" t="-888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51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Model building in MLR – simple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smtClean="0"/>
              <a:t>Perform t-test for slope on remaining independent variables to see if they actually have a slope with </a:t>
            </a:r>
            <a:r>
              <a:rPr lang="en-CA" i="1" dirty="0" smtClean="0"/>
              <a:t>y</a:t>
            </a:r>
          </a:p>
          <a:p>
            <a:r>
              <a:rPr lang="en-CA" dirty="0"/>
              <a:t>Check VIF values to eliminate independent variables with high </a:t>
            </a:r>
            <a:r>
              <a:rPr lang="en-CA" dirty="0" smtClean="0"/>
              <a:t>Collinearity</a:t>
            </a:r>
          </a:p>
          <a:p>
            <a:r>
              <a:rPr lang="en-CA" dirty="0" smtClean="0"/>
              <a:t>Variables that are left after both tests are used to build the MLR model.</a:t>
            </a:r>
          </a:p>
          <a:p>
            <a:r>
              <a:rPr lang="en-CA" dirty="0" smtClean="0"/>
              <a:t>Limitation: this method creates models that are at maximum complexity (every variable that can contribute are included). This is not important when the number of possible variables is small.  </a:t>
            </a:r>
          </a:p>
          <a:p>
            <a:r>
              <a:rPr lang="en-CA" dirty="0" smtClean="0"/>
              <a:t>Using methods like stepwise regression or best-subsets, it is possible to create smaller models (using fewer variables) that are almost as good a fit as larger ones.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62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083384" cy="113570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Model building using stepwise </a:t>
            </a:r>
            <a:r>
              <a:rPr lang="en-US" dirty="0" smtClean="0"/>
              <a:t>regression </a:t>
            </a:r>
            <a:r>
              <a:rPr lang="en-US" dirty="0" smtClean="0">
                <a:solidFill>
                  <a:srgbClr val="FF0000"/>
                </a:solidFill>
              </a:rPr>
              <a:t>(not coming in tests)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54636" y="1627322"/>
                <a:ext cx="11027764" cy="439247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Use t-test to see which model with one independent variable is the best fit (highest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Then, choose a second independent variable (all tests normally at 5% sig.) which shows a positive contribution to the model with partial F-test, and has the largest contribution.</a:t>
                </a:r>
              </a:p>
              <a:p>
                <a:r>
                  <a:rPr lang="en-US" dirty="0" smtClean="0"/>
                  <a:t>Then choose a third, or a fourth, and so on, as long as the independent variables pass the test to show a positive contribution to the model.</a:t>
                </a:r>
              </a:p>
              <a:p>
                <a:r>
                  <a:rPr lang="en-CA" dirty="0" smtClean="0"/>
                  <a:t>Complexity is exponential, so only come to this method after the simpler MLR model-building has been done.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54636" y="1627322"/>
                <a:ext cx="11027764" cy="4392478"/>
              </a:xfrm>
              <a:blipFill rotWithShape="0">
                <a:blip r:embed="rId2"/>
                <a:stretch>
                  <a:fillRect l="-553" t="-971" r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811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Best-subsets approach to model </a:t>
            </a:r>
            <a:r>
              <a:rPr lang="en-US" dirty="0" smtClean="0"/>
              <a:t>building </a:t>
            </a:r>
            <a:r>
              <a:rPr lang="en-US" dirty="0" smtClean="0">
                <a:solidFill>
                  <a:srgbClr val="FF0000"/>
                </a:solidFill>
              </a:rPr>
              <a:t>(not coming in tests)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410201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Evaluate every possible combination of independent variables to choose most appropriate model.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 is the coefficient of multiple determination for the regression model containing all T parameters (dependent and independent).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 is the coefficient of determination for regression model with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 independent variables 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r>
                  <a:rPr lang="en-US" dirty="0" smtClean="0"/>
                  <a:t>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Identify those models whose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 smtClean="0"/>
                  <a:t>, these are the acceptable models, then pick the model with fewest variables.</a:t>
                </a:r>
              </a:p>
              <a:p>
                <a:r>
                  <a:rPr lang="en-CA" dirty="0"/>
                  <a:t>Complexity is exponential, so only come to this method after the simpler MLR model-building has been done</a:t>
                </a:r>
                <a:r>
                  <a:rPr lang="en-CA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410201"/>
              </a:xfrm>
              <a:blipFill rotWithShape="0">
                <a:blip r:embed="rId2"/>
                <a:stretch>
                  <a:fillRect l="-588" t="-901" r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34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Practice and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sz="3000" dirty="0" smtClean="0"/>
              <a:t>Perform VIF and t-test on the practice data Session 20-21 excel, and find the simplest model.</a:t>
            </a:r>
          </a:p>
          <a:p>
            <a:r>
              <a:rPr lang="en-CA" sz="3000" dirty="0" smtClean="0"/>
              <a:t>Quiz 2 on </a:t>
            </a:r>
            <a:r>
              <a:rPr lang="en-CA" sz="3000" smtClean="0"/>
              <a:t>Thursday April 4</a:t>
            </a:r>
            <a:endParaRPr lang="en-CA" sz="3000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970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506</Words>
  <Application>Microsoft Office PowerPoint</Application>
  <PresentationFormat>Widescreen</PresentationFormat>
  <Paragraphs>79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 Math</vt:lpstr>
      <vt:lpstr>Franklin Gothic Book</vt:lpstr>
      <vt:lpstr>Perpetua</vt:lpstr>
      <vt:lpstr>Wingdings 2</vt:lpstr>
      <vt:lpstr>Equity</vt:lpstr>
      <vt:lpstr>DOM105 2019</vt:lpstr>
      <vt:lpstr>Multiple linear regression model</vt:lpstr>
      <vt:lpstr>PowerPoint Presentation</vt:lpstr>
      <vt:lpstr>Residual testing</vt:lpstr>
      <vt:lpstr>T-test for slope with any one independent variable</vt:lpstr>
      <vt:lpstr>Partial F-test to include new independent variable in existing model</vt:lpstr>
      <vt:lpstr>Dummy variables</vt:lpstr>
      <vt:lpstr>PowerPoint Presentation</vt:lpstr>
      <vt:lpstr>Collinearity</vt:lpstr>
      <vt:lpstr>Model building in MLR – simple method</vt:lpstr>
      <vt:lpstr>Model building using stepwise regression (not coming in tests)</vt:lpstr>
      <vt:lpstr>Best-subsets approach to model building (not coming in tests)</vt:lpstr>
      <vt:lpstr>Practice and Quiz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Techniques in Management - I</dc:title>
  <dc:creator>Surya Majumdar</dc:creator>
  <cp:lastModifiedBy>Surya Majumdar</cp:lastModifiedBy>
  <cp:revision>36</cp:revision>
  <dcterms:created xsi:type="dcterms:W3CDTF">2014-08-26T04:48:20Z</dcterms:created>
  <dcterms:modified xsi:type="dcterms:W3CDTF">2019-03-28T06:38:50Z</dcterms:modified>
</cp:coreProperties>
</file>