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9" r:id="rId5"/>
    <p:sldId id="260" r:id="rId6"/>
    <p:sldId id="261" r:id="rId7"/>
    <p:sldId id="266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5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9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0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1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7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1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2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95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1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8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0450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80338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04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09115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20551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1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49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52614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574281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76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63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08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88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9AAF7-57DB-4E8D-AAC2-8FE49F601CCA}" type="datetimeFigureOut">
              <a:rPr lang="en-US" smtClean="0"/>
              <a:t>3/5/2019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01139-B833-4A1F-B71C-734769923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7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3/5/2019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6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16-17</a:t>
            </a:r>
          </a:p>
          <a:p>
            <a:r>
              <a:rPr lang="en-US" sz="3200" dirty="0" smtClean="0"/>
              <a:t>Reading: Ch. 11.1-11.2, 12.1-12.3,12.7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5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7"/>
            <a:ext cx="8229600" cy="926365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sz="3200" dirty="0"/>
              <a:t>Analysis of Variance – One 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36979" y="1201002"/>
                <a:ext cx="10372299" cy="5352198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2800" i="1" dirty="0" smtClean="0"/>
                  <a:t>c</a:t>
                </a:r>
                <a:r>
                  <a:rPr lang="en-US" altLang="en-US" sz="2800" dirty="0" smtClean="0"/>
                  <a:t> </a:t>
                </a:r>
                <a:r>
                  <a:rPr lang="en-US" altLang="en-US" sz="2800" dirty="0"/>
                  <a:t>independent normal </a:t>
                </a:r>
                <a:r>
                  <a:rPr lang="en-US" altLang="en-US" sz="2800" dirty="0" smtClean="0"/>
                  <a:t>populations, giving independent </a:t>
                </a:r>
                <a:r>
                  <a:rPr lang="en-US" altLang="en-US" sz="2800" dirty="0"/>
                  <a:t>random samples of sizes n</a:t>
                </a:r>
                <a:r>
                  <a:rPr lang="en-US" altLang="en-US" sz="2800" baseline="-10000" dirty="0"/>
                  <a:t>1</a:t>
                </a:r>
                <a:r>
                  <a:rPr lang="en-US" altLang="en-US" sz="2800" dirty="0"/>
                  <a:t>, n</a:t>
                </a:r>
                <a:r>
                  <a:rPr lang="en-US" altLang="en-US" sz="2800" baseline="-10000" dirty="0"/>
                  <a:t>2</a:t>
                </a:r>
                <a:r>
                  <a:rPr lang="en-US" altLang="en-US" sz="2800" dirty="0"/>
                  <a:t>, …, </a:t>
                </a:r>
                <a:r>
                  <a:rPr lang="en-US" altLang="en-US" sz="2800" dirty="0" err="1" smtClean="0"/>
                  <a:t>n</a:t>
                </a:r>
                <a:r>
                  <a:rPr lang="en-US" altLang="en-US" sz="2800" baseline="-10000" dirty="0" err="1" smtClean="0"/>
                  <a:t>c</a:t>
                </a:r>
                <a:r>
                  <a:rPr lang="en-US" altLang="en-US" sz="2800" dirty="0" smtClean="0"/>
                  <a:t> </a:t>
                </a:r>
              </a:p>
              <a:p>
                <a:pPr eaLnBrk="1" hangingPunct="1"/>
                <a:r>
                  <a:rPr lang="en-US" altLang="en-US" sz="2800" dirty="0" smtClean="0"/>
                  <a:t>Total </a:t>
                </a:r>
                <a:r>
                  <a:rPr lang="en-US" altLang="en-US" sz="2800" dirty="0"/>
                  <a:t>sample size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sz="2800" dirty="0" smtClean="0"/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800" dirty="0" smtClean="0"/>
                  <a:t>: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</a:t>
                </a:r>
                <a:r>
                  <a:rPr lang="en-US" altLang="en-US" sz="2800" i="1" baseline="-10000" dirty="0">
                    <a:sym typeface="Symbol" panose="05050102010706020507" pitchFamily="18" charset="2"/>
                  </a:rPr>
                  <a:t>1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= </a:t>
                </a:r>
                <a:r>
                  <a:rPr lang="en-US" altLang="en-US" sz="2800" i="1" baseline="-10000" dirty="0">
                    <a:sym typeface="Symbol" panose="05050102010706020507" pitchFamily="18" charset="2"/>
                  </a:rPr>
                  <a:t>2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= …= </a:t>
                </a:r>
                <a:r>
                  <a:rPr lang="en-US" altLang="en-US" sz="2800" i="1" dirty="0" smtClean="0">
                    <a:sym typeface="Symbol" panose="05050102010706020507" pitchFamily="18" charset="2"/>
                  </a:rPr>
                  <a:t></a:t>
                </a:r>
                <a:r>
                  <a:rPr lang="en-US" altLang="en-US" sz="2800" i="1" baseline="-10000" dirty="0" smtClean="0">
                    <a:sym typeface="Symbol" panose="05050102010706020507" pitchFamily="18" charset="2"/>
                  </a:rPr>
                  <a:t>c</a:t>
                </a:r>
                <a:r>
                  <a:rPr lang="en-US" altLang="en-US" sz="2800" dirty="0" smtClean="0">
                    <a:sym typeface="Symbol" panose="05050102010706020507" pitchFamily="18" charset="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2800" dirty="0">
                    <a:sym typeface="Symbol" panose="05050102010706020507" pitchFamily="18" charset="2"/>
                  </a:rPr>
                  <a:t>: not all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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’s are equal</a:t>
                </a:r>
              </a:p>
              <a:p>
                <a:pPr eaLnBrk="1" hangingPunct="1"/>
                <a:r>
                  <a:rPr lang="en-US" altLang="en-US" sz="2800" dirty="0">
                    <a:sym typeface="Symbol" panose="05050102010706020507" pitchFamily="18" charset="2"/>
                  </a:rPr>
                  <a:t>Level of significance = </a:t>
                </a:r>
                <a14:m>
                  <m:oMath xmlns:m="http://schemas.openxmlformats.org/officeDocument/2006/math">
                    <m:r>
                      <a:rPr lang="en-US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en-US" altLang="en-US" sz="2800" dirty="0" smtClean="0"/>
                  <a:t>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sz="2800" dirty="0"/>
                  <a:t>An extension of the two sample test for the equality of the means, it assumes common unknown </a:t>
                </a:r>
                <a:r>
                  <a:rPr lang="en-US" altLang="en-US" sz="2800" dirty="0" err="1"/>
                  <a:t>std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dev</a:t>
                </a:r>
                <a:r>
                  <a:rPr lang="en-US" altLang="en-US" sz="2800" dirty="0"/>
                  <a:t> </a:t>
                </a:r>
                <a:r>
                  <a:rPr lang="el-GR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σ</a:t>
                </a:r>
                <a:endParaRPr lang="en-US" altLang="en-US" sz="2800" dirty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Partitioning of total variation into two components:</a:t>
                </a:r>
              </a:p>
              <a:p>
                <a:pPr>
                  <a:lnSpc>
                    <a:spcPct val="90000"/>
                  </a:lnSpc>
                  <a:buNone/>
                </a:pP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	Total </a:t>
                </a:r>
                <a:r>
                  <a:rPr lang="en-US" altLang="en-US" sz="2800" dirty="0" smtClean="0">
                    <a:cs typeface="Arial" panose="020B0604020202020204" pitchFamily="34" charset="0"/>
                    <a:sym typeface="Symbol" panose="05050102010706020507" pitchFamily="18" charset="2"/>
                  </a:rPr>
                  <a:t>sum-squared error </a:t>
                </a: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SST (</a:t>
                </a:r>
                <a:r>
                  <a:rPr lang="en-US" altLang="en-US" sz="2800" i="1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df</a:t>
                </a:r>
                <a:r>
                  <a:rPr lang="en-US" altLang="en-US" sz="2800" i="1" dirty="0">
                    <a:cs typeface="Arial" panose="020B0604020202020204" pitchFamily="34" charset="0"/>
                    <a:sym typeface="Symbol" panose="05050102010706020507" pitchFamily="18" charset="2"/>
                  </a:rPr>
                  <a:t>=n-1</a:t>
                </a: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)= Among-group </a:t>
                </a:r>
                <a:r>
                  <a:rPr lang="en-US" altLang="en-US" sz="2800" dirty="0" smtClean="0">
                    <a:cs typeface="Arial" panose="020B0604020202020204" pitchFamily="34" charset="0"/>
                    <a:sym typeface="Symbol" panose="05050102010706020507" pitchFamily="18" charset="2"/>
                  </a:rPr>
                  <a:t>SS </a:t>
                </a: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+ within-group </a:t>
                </a:r>
                <a:r>
                  <a:rPr lang="en-US" altLang="en-US" sz="2800" dirty="0" smtClean="0">
                    <a:cs typeface="Arial" panose="020B0604020202020204" pitchFamily="34" charset="0"/>
                    <a:sym typeface="Symbol" panose="05050102010706020507" pitchFamily="18" charset="2"/>
                  </a:rPr>
                  <a:t>SS </a:t>
                </a: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= SSA(</a:t>
                </a:r>
                <a:r>
                  <a:rPr lang="en-US" altLang="en-US" sz="2800" i="1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df</a:t>
                </a:r>
                <a:r>
                  <a:rPr lang="en-US" altLang="en-US" sz="2800" i="1" dirty="0">
                    <a:cs typeface="Arial" panose="020B0604020202020204" pitchFamily="34" charset="0"/>
                    <a:sym typeface="Symbol" panose="05050102010706020507" pitchFamily="18" charset="2"/>
                  </a:rPr>
                  <a:t>=c-1</a:t>
                </a:r>
                <a:r>
                  <a:rPr lang="en-US" altLang="en-US" sz="2800" dirty="0">
                    <a:cs typeface="Arial" panose="020B0604020202020204" pitchFamily="34" charset="0"/>
                    <a:sym typeface="Symbol" panose="05050102010706020507" pitchFamily="18" charset="2"/>
                  </a:rPr>
                  <a:t>) +SSW(</a:t>
                </a:r>
                <a:r>
                  <a:rPr lang="en-US" altLang="en-US" sz="2800" i="1" dirty="0" err="1">
                    <a:cs typeface="Arial" panose="020B0604020202020204" pitchFamily="34" charset="0"/>
                    <a:sym typeface="Symbol" panose="05050102010706020507" pitchFamily="18" charset="2"/>
                  </a:rPr>
                  <a:t>df</a:t>
                </a:r>
                <a:r>
                  <a:rPr lang="en-US" altLang="en-US" sz="2800" i="1" dirty="0">
                    <a:cs typeface="Arial" panose="020B0604020202020204" pitchFamily="34" charset="0"/>
                    <a:sym typeface="Symbol" panose="05050102010706020507" pitchFamily="18" charset="2"/>
                  </a:rPr>
                  <a:t>=n-c</a:t>
                </a:r>
                <a:r>
                  <a:rPr lang="en-US" altLang="en-US" sz="2800" dirty="0" smtClean="0">
                    <a:cs typeface="Arial" panose="020B0604020202020204" pitchFamily="34" charset="0"/>
                    <a:sym typeface="Symbol" panose="05050102010706020507" pitchFamily="18" charset="2"/>
                  </a:rPr>
                  <a:t>)</a:t>
                </a:r>
                <a:endParaRPr lang="en-US" altLang="en-US" sz="2800" dirty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eaLnBrk="1" hangingPunct="1"/>
                <a:endParaRPr lang="en-US" altLang="en-US" sz="2800" dirty="0"/>
              </a:p>
            </p:txBody>
          </p:sp>
        </mc:Choice>
        <mc:Fallback xmlns=""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6979" y="1201002"/>
                <a:ext cx="10372299" cy="5352198"/>
              </a:xfrm>
              <a:blipFill rotWithShape="0">
                <a:blip r:embed="rId2"/>
                <a:stretch>
                  <a:fillRect l="-705" t="-1139" r="-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58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305800" cy="487362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sz="3200"/>
              <a:t>ANOVA: one-way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990601"/>
                <a:ext cx="8458200" cy="51355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̿"/>
                          <m:ctrlPr>
                            <a:rPr lang="en-US" altLang="en-US" sz="31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accPr>
                        <m:e>
                          <m: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𝑥</m:t>
                          </m:r>
                        </m:e>
                      </m:acc>
                      <m:r>
                        <a:rPr lang="en-US" altLang="en-US" sz="31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𝑐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𝑖</m:t>
                                  </m:r>
                                  <m: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𝑛</m:t>
                          </m:r>
                        </m:den>
                      </m:f>
                      <m:r>
                        <a:rPr lang="en-US" altLang="en-US" sz="31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en-US" sz="31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𝐺𝑟𝑎𝑛𝑑</m:t>
                      </m:r>
                      <m:r>
                        <a:rPr lang="en-US" altLang="en-US" sz="31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altLang="en-US" sz="3100" i="1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𝑚𝑒𝑎𝑛</m:t>
                      </m:r>
                    </m:oMath>
                  </m:oMathPara>
                </a14:m>
                <a:endParaRPr lang="en-US" altLang="en-US" sz="3100" dirty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3100" b="0" i="1" dirty="0" smtClean="0">
                  <a:latin typeface="Cambria Math" panose="02040503050406030204" pitchFamily="18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𝑆𝑆𝑇</m:t>
                      </m:r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𝑗</m:t>
                          </m:r>
                          <m: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𝑐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sz="31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31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en-US" sz="31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̿"/>
                                          <m:ctrlP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3100" b="0" dirty="0" smtClean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𝑆𝑆𝐴</m:t>
                      </m:r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𝑗</m:t>
                          </m:r>
                          <m: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en-US" sz="31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31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̿"/>
                                      <m:ctrlP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𝑤h𝑒𝑟𝑒</m:t>
                      </m:r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en-US" sz="31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lang="en-US" altLang="en-US" sz="31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31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en-US" sz="3100" b="0" dirty="0" smtClean="0"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𝑆𝑆𝑊</m:t>
                      </m:r>
                      <m:r>
                        <a:rPr lang="en-US" altLang="en-US" sz="31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𝑗</m:t>
                          </m:r>
                          <m: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en-US" sz="3100" i="1"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𝑐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𝑖</m:t>
                              </m:r>
                              <m:r>
                                <a:rPr lang="en-US" altLang="en-US" sz="31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en-US" sz="31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en-US" sz="31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en-US" sz="31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en-US" sz="31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en-US" sz="31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  <a:sym typeface="Symbol" panose="05050102010706020507" pitchFamily="18" charset="2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en-US" sz="31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sz="31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sz="31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en-US" sz="31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en-US" sz="3100" dirty="0" smtClean="0"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1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990601"/>
                <a:ext cx="8458200" cy="51355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77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305800" cy="563562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en-US" sz="3200" dirty="0" smtClean="0">
                <a:latin typeface="Times New Roman" panose="02020603050405020304" pitchFamily="18" charset="0"/>
              </a:rPr>
              <a:t>ANOVA One-way cont.</a:t>
            </a:r>
            <a:endParaRPr lang="en-US" altLang="en-US" sz="3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81200" y="884421"/>
                <a:ext cx="8229600" cy="5211763"/>
              </a:xfrm>
            </p:spPr>
            <p:txBody>
              <a:bodyPr>
                <a:normAutofit/>
              </a:bodyPr>
              <a:lstStyle/>
              <a:p>
                <a:pPr marL="660400" indent="-66040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Square terms are comprised of each of the variation terms divided by their respective degrees of freedom</a:t>
                </a:r>
              </a:p>
              <a:p>
                <a:pPr marL="660400" indent="-660400"/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MSA= SSA/(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-1); MSW = SSW/(n-c); MST=SST/(n-1)</a:t>
                </a:r>
              </a:p>
              <a:p>
                <a:pPr marL="660400" indent="-66040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 Statistic:	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= MSA/MSW</a:t>
                </a:r>
              </a:p>
              <a:p>
                <a:pPr marL="660400" indent="-66040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follows an F distribution with degrees of freedom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 -1, n-c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CA" i="1" dirty="0"/>
                  <a:t>Excel command: </a:t>
                </a:r>
                <a:r>
                  <a:rPr lang="en-CA" i="1" dirty="0" smtClean="0"/>
                  <a:t>F.INV.RT</a:t>
                </a:r>
                <a:r>
                  <a:rPr lang="en-CA" i="1" dirty="0"/>
                  <a:t>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i="1" dirty="0" smtClean="0"/>
                  <a:t>(c-1),(n-c))</a:t>
                </a:r>
                <a:endParaRPr lang="en-US" altLang="en-US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60400" indent="-66040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</a:t>
                </a:r>
                <a:r>
                  <a:rPr lang="en-US" alt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pg</a:t>
                </a: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825 Table E5</a:t>
                </a:r>
              </a:p>
              <a:p>
                <a:pPr marL="660400" indent="-660400"/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ANOVA assumes randomness, independence, normality, and equality in variation</a:t>
                </a:r>
              </a:p>
            </p:txBody>
          </p:sp>
        </mc:Choice>
        <mc:Fallback>
          <p:sp>
            <p:nvSpPr>
              <p:cNvPr id="92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81200" y="884421"/>
                <a:ext cx="8229600" cy="5211763"/>
              </a:xfrm>
              <a:blipFill rotWithShape="0">
                <a:blip r:embed="rId2"/>
                <a:stretch>
                  <a:fillRect l="-741" t="-1053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5881688" y="321874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69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Levene</a:t>
            </a:r>
            <a:r>
              <a:rPr lang="en-US" dirty="0" smtClean="0"/>
              <a:t> Test for Homogeneity in Variance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CA" dirty="0" smtClean="0">
                    <a:latin typeface="Cambria Math" panose="02040503050406030204" pitchFamily="18" charset="0"/>
                  </a:rPr>
                  <a:t>This is a test to see if the variances of multiple independent populations are equal. Only if they are equal (homogenous) can we apply the One-way ANOVA test for equality of means.</a:t>
                </a:r>
                <a:endParaRPr lang="en-US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 smtClean="0"/>
              </a:p>
              <a:p>
                <a:r>
                  <a:rPr lang="en-US" dirty="0" smtClean="0"/>
                  <a:t>First step is to calculate the absolute difference between all values and the median of the sample that the value belongs to,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Perform one-way ANOVA test on the absolute differences calculated above. Generally, a 5% level of significance is used.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3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Chi-square test for difference between </a:t>
            </a:r>
            <a:r>
              <a:rPr lang="en-US" dirty="0" smtClean="0"/>
              <a:t>more than two </a:t>
            </a:r>
            <a:r>
              <a:rPr lang="en-US" dirty="0"/>
              <a:t>proportions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Calculate overall proportion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Create a 2 x </a:t>
                </a:r>
                <a:r>
                  <a:rPr lang="en-US" i="1" dirty="0" smtClean="0"/>
                  <a:t>c </a:t>
                </a:r>
                <a:r>
                  <a:rPr lang="en-US" dirty="0" smtClean="0"/>
                  <a:t>table, with row 1 containing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and row 2 containing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these are the observed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Create a 2 x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 table of expected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 for row 1 of the table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 smtClean="0"/>
                  <a:t> and for row 2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𝑐𝑒𝑙𝑙𝑠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dirty="0"/>
                  <a:t>, check </a:t>
                </a:r>
                <a:r>
                  <a:rPr lang="en-US" dirty="0" smtClean="0"/>
                  <a:t>against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 with </a:t>
                </a:r>
                <a:r>
                  <a:rPr lang="en-US" i="1" dirty="0" err="1" smtClean="0"/>
                  <a:t>df</a:t>
                </a:r>
                <a:r>
                  <a:rPr lang="en-US" i="1" dirty="0" smtClean="0"/>
                  <a:t>=c-1</a:t>
                </a:r>
                <a:endParaRPr lang="en-US" i="1" dirty="0"/>
              </a:p>
              <a:p>
                <a:r>
                  <a:rPr lang="en-CA" i="1" dirty="0"/>
                  <a:t>Excel command: </a:t>
                </a:r>
                <a:r>
                  <a:rPr lang="en-CA" i="1" dirty="0" smtClean="0"/>
                  <a:t>CHISQ.INV.RT</a:t>
                </a:r>
                <a:r>
                  <a:rPr lang="en-CA" i="1" dirty="0"/>
                  <a:t>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i="1" dirty="0" smtClean="0"/>
                  <a:t>(c-1))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r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5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Chi-square test of independence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Used for when there are multiple categories in each group. We create a </a:t>
                </a:r>
                <a:r>
                  <a:rPr lang="en-US" i="1" dirty="0" smtClean="0"/>
                  <a:t>r </a:t>
                </a:r>
                <a:r>
                  <a:rPr lang="en-US" dirty="0" smtClean="0"/>
                  <a:t>x</a:t>
                </a:r>
                <a:r>
                  <a:rPr lang="en-US" i="1" dirty="0" smtClean="0"/>
                  <a:t> c</a:t>
                </a:r>
                <a:r>
                  <a:rPr lang="en-US" dirty="0" smtClean="0"/>
                  <a:t> contingency table, where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 is the number of categories, and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 is the number of groups. </a:t>
                </a:r>
                <a:endParaRPr lang="en-US" i="1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 smtClean="0"/>
                  <a:t> is the observed frequency in each cell (category-group combination) of the contingency table. </a:t>
                </a:r>
                <a:r>
                  <a:rPr lang="en-US" i="1" dirty="0"/>
                  <a:t>n</a:t>
                </a:r>
                <a:r>
                  <a:rPr lang="en-US" i="1" dirty="0" smtClean="0"/>
                  <a:t> = </a:t>
                </a:r>
                <a:r>
                  <a:rPr lang="en-US" dirty="0" smtClean="0"/>
                  <a:t>Sum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For each cell, expected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𝑐𝑜𝑙𝑢𝑚𝑛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𝑐𝑒𝑙𝑙𝑠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dirty="0"/>
                  <a:t>, check in table on </a:t>
                </a:r>
                <a:r>
                  <a:rPr lang="en-US" dirty="0" err="1"/>
                  <a:t>pg</a:t>
                </a:r>
                <a:r>
                  <a:rPr lang="en-US" dirty="0"/>
                  <a:t> </a:t>
                </a:r>
                <a:r>
                  <a:rPr lang="en-US" dirty="0" smtClean="0"/>
                  <a:t>824 </a:t>
                </a:r>
                <a:r>
                  <a:rPr lang="en-US" dirty="0"/>
                  <a:t>against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 with </a:t>
                </a:r>
                <a:r>
                  <a:rPr lang="en-US" i="1" dirty="0" err="1"/>
                  <a:t>df</a:t>
                </a:r>
                <a:r>
                  <a:rPr lang="en-US" i="1" dirty="0" smtClean="0"/>
                  <a:t>=(r-1)(c-1)</a:t>
                </a:r>
              </a:p>
              <a:p>
                <a:r>
                  <a:rPr lang="en-CA" i="1" dirty="0" smtClean="0"/>
                  <a:t>H0: Values are independent , reject H0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 smtClean="0"/>
                  <a:t>&gt;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i="1" dirty="0"/>
                  <a:t>, </a:t>
                </a:r>
                <a:r>
                  <a:rPr lang="en-US" i="1" dirty="0" err="1"/>
                  <a:t>df</a:t>
                </a:r>
                <a:r>
                  <a:rPr lang="en-US" i="1" dirty="0"/>
                  <a:t>=(r-1)(c-1</a:t>
                </a:r>
                <a:r>
                  <a:rPr lang="en-US" i="1" dirty="0" smtClean="0"/>
                  <a:t>)</a:t>
                </a:r>
              </a:p>
              <a:p>
                <a:r>
                  <a:rPr lang="en-CA" i="1" dirty="0" smtClean="0"/>
                  <a:t>Excel command: CHISQ.INV.RT(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 dirty="0" smtClean="0"/>
                  <a:t>, (r-1)*(c-1))</a:t>
                </a:r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80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Test for the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Used to check if the variation of a population is at the hypothesized level.</a:t>
                </a:r>
              </a:p>
              <a:p>
                <a:r>
                  <a:rPr lang="en-US" dirty="0" smtClean="0"/>
                  <a:t>Sample size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, Sample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, hypothesized pop.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2-tailed test: </a:t>
                </a:r>
              </a:p>
              <a:p>
                <a:r>
                  <a:rPr lang="en-US" dirty="0" smtClean="0"/>
                  <a:t>Accept hypothesis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, significance level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i="1" dirty="0" err="1" smtClean="0"/>
                  <a:t>df</a:t>
                </a:r>
                <a:r>
                  <a:rPr lang="en-US" i="1" dirty="0" smtClean="0"/>
                  <a:t>=n-1</a:t>
                </a:r>
              </a:p>
              <a:p>
                <a:r>
                  <a:rPr lang="en-US" dirty="0" smtClean="0"/>
                  <a:t>This test assumes the population is normally </a:t>
                </a:r>
                <a:r>
                  <a:rPr lang="en-US" dirty="0" smtClean="0"/>
                  <a:t>distributed</a:t>
                </a:r>
              </a:p>
              <a:p>
                <a:r>
                  <a:rPr lang="en-CA" i="1" dirty="0"/>
                  <a:t>Excel command: CHISQ.IN.RT(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i="1" dirty="0" smtClean="0"/>
                  <a:t>(n-1)),</a:t>
                </a:r>
                <a:r>
                  <a:rPr lang="en-CA" i="1" dirty="0" smtClean="0"/>
                  <a:t>CHISQ.INV.RT</a:t>
                </a:r>
                <a:r>
                  <a:rPr lang="en-CA" i="1" dirty="0"/>
                  <a:t>(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i="1" dirty="0" smtClean="0"/>
                  <a:t>(n-1))</a:t>
                </a:r>
                <a:endParaRPr lang="en-US" i="1" dirty="0"/>
              </a:p>
              <a:p>
                <a:endParaRPr lang="en-US" i="1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96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204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Cambria Math</vt:lpstr>
      <vt:lpstr>Franklin Gothic Book</vt:lpstr>
      <vt:lpstr>Perpetua</vt:lpstr>
      <vt:lpstr>Symbol</vt:lpstr>
      <vt:lpstr>Times New Roman</vt:lpstr>
      <vt:lpstr>Wingdings 2</vt:lpstr>
      <vt:lpstr>Office Theme</vt:lpstr>
      <vt:lpstr>Equity</vt:lpstr>
      <vt:lpstr>DOM105 2019</vt:lpstr>
      <vt:lpstr>Analysis of Variance – One Way</vt:lpstr>
      <vt:lpstr>ANOVA: one-way </vt:lpstr>
      <vt:lpstr>ANOVA One-way cont.</vt:lpstr>
      <vt:lpstr>Levene Test for Homogeneity in Variance</vt:lpstr>
      <vt:lpstr>Chi-square test for difference between more than two proportions</vt:lpstr>
      <vt:lpstr>Chi-square test of independence</vt:lpstr>
      <vt:lpstr>Chi-Square Test for the Variance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Management - I</dc:title>
  <dc:creator>Surya Majumdar</dc:creator>
  <cp:lastModifiedBy>Surya Majumdar</cp:lastModifiedBy>
  <cp:revision>62</cp:revision>
  <dcterms:created xsi:type="dcterms:W3CDTF">2014-08-20T10:41:32Z</dcterms:created>
  <dcterms:modified xsi:type="dcterms:W3CDTF">2019-03-05T06:36:22Z</dcterms:modified>
</cp:coreProperties>
</file>